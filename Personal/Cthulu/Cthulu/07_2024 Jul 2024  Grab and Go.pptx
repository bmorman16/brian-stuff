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7FFFDEB5_FD80BC11.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532" r:id="rId4"/>
  </p:sldMasterIdLst>
  <p:notesMasterIdLst>
    <p:notesMasterId r:id="rId10"/>
  </p:notesMasterIdLst>
  <p:handoutMasterIdLst>
    <p:handoutMasterId r:id="rId11"/>
  </p:handoutMasterIdLst>
  <p:sldIdLst>
    <p:sldId id="2147475101" r:id="rId5"/>
    <p:sldId id="2147475124" r:id="rId6"/>
    <p:sldId id="2147475125" r:id="rId7"/>
    <p:sldId id="2147475126" r:id="rId8"/>
    <p:sldId id="214747512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139DB8E-7BC7-411A-8E20-49B8BDE17C6A}">
          <p14:sldIdLst>
            <p14:sldId id="2147475101"/>
            <p14:sldId id="2147475124"/>
            <p14:sldId id="2147475125"/>
            <p14:sldId id="2147475126"/>
            <p14:sldId id="214747512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D73E414-0A2D-AA33-D4E5-55B83ABA2C5F}" name="Snyder (US), Christine R" initials="SR" userId="S::christine.r.snyder@boeing.com::4ff30777-5364-4585-86b1-699ebce4b810" providerId="AD"/>
  <p188:author id="{9D1A7C2D-9B3A-F8EB-B1BA-FD8C2BC15D97}" name="Johnson (US), John S" initials="JS" userId="S::john.s.johnson2@boeing.com::03bd8baf-3957-4c48-8ddc-eab9598627a3" providerId="AD"/>
  <p188:author id="{34C5E733-FAF4-3CE7-1564-AAE87F6588A6}" name="Tsukimura (US), Elizabeth A" initials="TA" userId="S::elizabeth.a.tsukimura@boeing.com::dd039088-41af-4fd8-9e05-4fd7c8a1716a" providerId="AD"/>
  <p188:author id="{F09D2FA9-6D8B-FA50-E460-861B21DA9BAD}" name="Bowen (US), Sara" initials="B(S" userId="S::sara.bowen@boeing.com::ba9982b6-0c9e-477f-85c4-29c5b5428042" providerId="AD"/>
  <p188:author id="{05E8DADC-33FB-8BA9-89A6-5F3CCAFAA711}" name="Keppler (US), Dawn M" initials="K(DM" userId="S::dawn.m.keppler@boeing.com::9a1a65fa-4408-41ad-a82b-520b8816ae0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Tsukimura (US), Elizabeth A" initials="T(EA" lastIdx="1" clrIdx="6">
    <p:extLst>
      <p:ext uri="{19B8F6BF-5375-455C-9EA6-DF929625EA0E}">
        <p15:presenceInfo xmlns:p15="http://schemas.microsoft.com/office/powerpoint/2012/main" userId="S-1-5-21-2025429265-1303643608-1417001333-715176" providerId="AD"/>
      </p:ext>
    </p:extLst>
  </p:cmAuthor>
  <p:cmAuthor id="1" name="Percy Perera" initials="PP" lastIdx="8" clrIdx="0">
    <p:extLst>
      <p:ext uri="{19B8F6BF-5375-455C-9EA6-DF929625EA0E}">
        <p15:presenceInfo xmlns:p15="http://schemas.microsoft.com/office/powerpoint/2012/main" userId="Percy Perera" providerId="None"/>
      </p:ext>
    </p:extLst>
  </p:cmAuthor>
  <p:cmAuthor id="2" name="Souza (US), Viviane G" initials="S(VG" lastIdx="4" clrIdx="1">
    <p:extLst>
      <p:ext uri="{19B8F6BF-5375-455C-9EA6-DF929625EA0E}">
        <p15:presenceInfo xmlns:p15="http://schemas.microsoft.com/office/powerpoint/2012/main" userId="S-1-5-21-1547161642-1202660629-682003330-574969" providerId="AD"/>
      </p:ext>
    </p:extLst>
  </p:cmAuthor>
  <p:cmAuthor id="3" name="Bowen, Sara" initials="BS" lastIdx="46" clrIdx="2">
    <p:extLst>
      <p:ext uri="{19B8F6BF-5375-455C-9EA6-DF929625EA0E}">
        <p15:presenceInfo xmlns:p15="http://schemas.microsoft.com/office/powerpoint/2012/main" userId="S-1-5-21-2025429265-1303643608-1417001333-2492541" providerId="AD"/>
      </p:ext>
    </p:extLst>
  </p:cmAuthor>
  <p:cmAuthor id="4" name="Wiley (US), Tarrah D" initials="W(TD" lastIdx="1" clrIdx="3">
    <p:extLst>
      <p:ext uri="{19B8F6BF-5375-455C-9EA6-DF929625EA0E}">
        <p15:presenceInfo xmlns:p15="http://schemas.microsoft.com/office/powerpoint/2012/main" userId="S-1-5-21-4204462400-332494316-4163598232-1029077" providerId="AD"/>
      </p:ext>
    </p:extLst>
  </p:cmAuthor>
  <p:cmAuthor id="5" name="Thompson (US), Emily C" initials="T(EC" lastIdx="1" clrIdx="4">
    <p:extLst>
      <p:ext uri="{19B8F6BF-5375-455C-9EA6-DF929625EA0E}">
        <p15:presenceInfo xmlns:p15="http://schemas.microsoft.com/office/powerpoint/2012/main" userId="S-1-5-21-1177238915-1303643608-1606980848-521890" providerId="AD"/>
      </p:ext>
    </p:extLst>
  </p:cmAuthor>
  <p:cmAuthor id="6" name="Hunter (US), La'Tonja R" initials="H(LR" lastIdx="2" clrIdx="5">
    <p:extLst>
      <p:ext uri="{19B8F6BF-5375-455C-9EA6-DF929625EA0E}">
        <p15:presenceInfo xmlns:p15="http://schemas.microsoft.com/office/powerpoint/2012/main" userId="S-1-5-21-2025429265-1303643608-1417001333-154890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33A1"/>
    <a:srgbClr val="002060"/>
    <a:srgbClr val="4472C4"/>
    <a:srgbClr val="93B7FF"/>
    <a:srgbClr val="0000FF"/>
    <a:srgbClr val="81BC00"/>
    <a:srgbClr val="FFA400"/>
    <a:srgbClr val="D29500"/>
    <a:srgbClr val="5B9BD5"/>
    <a:srgbClr val="EA00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3814" autoAdjust="0"/>
    <p:restoredTop sz="96201" autoAdjust="0"/>
  </p:normalViewPr>
  <p:slideViewPr>
    <p:cSldViewPr snapToGrid="0">
      <p:cViewPr varScale="1">
        <p:scale>
          <a:sx n="109" d="100"/>
          <a:sy n="109" d="100"/>
        </p:scale>
        <p:origin x="1416" y="10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commentAuthors" Target="commentAuthors.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https://boeing-my.sharepoint.us/personal/elizabeth_a_tsukimura_boeing_com/Documents/Self-ID/Presentations/Disability%20Data%20for%20July%202024%20IAN%20call.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320" b="1" i="0" u="none" strike="noStrike" kern="1200" baseline="0">
                <a:solidFill>
                  <a:schemeClr val="tx2"/>
                </a:solidFill>
                <a:latin typeface="Arial" panose="020B0604020202020204" pitchFamily="34" charset="0"/>
                <a:ea typeface="+mn-ea"/>
                <a:cs typeface="Arial" panose="020B0604020202020204" pitchFamily="34" charset="0"/>
              </a:defRPr>
            </a:pPr>
            <a:r>
              <a:rPr lang="en-US"/>
              <a:t>U.S. Disability Self-ID Participation Rates</a:t>
            </a:r>
          </a:p>
        </c:rich>
      </c:tx>
      <c:overlay val="0"/>
      <c:spPr>
        <a:noFill/>
        <a:ln>
          <a:noFill/>
        </a:ln>
        <a:effectLst/>
      </c:spPr>
      <c:txPr>
        <a:bodyPr rot="0" spcFirstLastPara="1" vertOverflow="ellipsis" vert="horz" wrap="square" anchor="ctr" anchorCtr="1"/>
        <a:lstStyle/>
        <a:p>
          <a:pPr>
            <a:defRPr sz="1320" b="1" i="0" u="none" strike="noStrike" kern="1200" baseline="0">
              <a:solidFill>
                <a:schemeClr val="tx2"/>
              </a:solidFill>
              <a:latin typeface="Arial" panose="020B0604020202020204" pitchFamily="34" charset="0"/>
              <a:ea typeface="+mn-ea"/>
              <a:cs typeface="Arial" panose="020B0604020202020204" pitchFamily="34" charset="0"/>
            </a:defRPr>
          </a:pPr>
          <a:endParaRPr lang="en-US"/>
        </a:p>
      </c:txPr>
    </c:title>
    <c:autoTitleDeleted val="0"/>
    <c:plotArea>
      <c:layout/>
      <c:barChart>
        <c:barDir val="bar"/>
        <c:grouping val="clustered"/>
        <c:varyColors val="0"/>
        <c:ser>
          <c:idx val="0"/>
          <c:order val="0"/>
          <c:tx>
            <c:strRef>
              <c:f>'Sheet 1'!$B$1</c:f>
              <c:strCache>
                <c:ptCount val="1"/>
                <c:pt idx="0">
                  <c:v>Disability</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2"/>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 1'!$A$2:$A$12</c:f>
              <c:strCache>
                <c:ptCount val="11"/>
                <c:pt idx="0">
                  <c:v>BCA (Stephanie Pope)</c:v>
                </c:pt>
                <c:pt idx="1">
                  <c:v>BDS (Ted Colbert)</c:v>
                </c:pt>
                <c:pt idx="2">
                  <c:v>BGS (Chris Raymond)</c:v>
                </c:pt>
                <c:pt idx="3">
                  <c:v>CIO (Susan Doniz)</c:v>
                </c:pt>
                <c:pt idx="4">
                  <c:v>Comms (Brian Besanceney)</c:v>
                </c:pt>
                <c:pt idx="5">
                  <c:v>ET&amp;T (Howard McKenzie)</c:v>
                </c:pt>
                <c:pt idx="6">
                  <c:v>Finance (Brian West)</c:v>
                </c:pt>
                <c:pt idx="7">
                  <c:v>Gov Ops (Ziad Ojakli)</c:v>
                </c:pt>
                <c:pt idx="8">
                  <c:v>HR (Uma Amuluru)</c:v>
                </c:pt>
                <c:pt idx="9">
                  <c:v>Law (Brett Gerry)</c:v>
                </c:pt>
                <c:pt idx="10">
                  <c:v>Sustainability (Brian Moran)</c:v>
                </c:pt>
              </c:strCache>
            </c:strRef>
          </c:cat>
          <c:val>
            <c:numRef>
              <c:f>'Sheet 1'!$B$2:$B$12</c:f>
              <c:numCache>
                <c:formatCode>0%</c:formatCode>
                <c:ptCount val="11"/>
                <c:pt idx="0">
                  <c:v>0.49</c:v>
                </c:pt>
                <c:pt idx="1">
                  <c:v>0.504</c:v>
                </c:pt>
                <c:pt idx="2">
                  <c:v>0.53500000000000003</c:v>
                </c:pt>
                <c:pt idx="3">
                  <c:v>0.46300000000000002</c:v>
                </c:pt>
                <c:pt idx="4">
                  <c:v>0.60699999999999998</c:v>
                </c:pt>
                <c:pt idx="5">
                  <c:v>0.47699999999999998</c:v>
                </c:pt>
                <c:pt idx="6">
                  <c:v>0.47299999999999998</c:v>
                </c:pt>
                <c:pt idx="7">
                  <c:v>0.53800000000000003</c:v>
                </c:pt>
                <c:pt idx="8">
                  <c:v>0.66400000000000003</c:v>
                </c:pt>
                <c:pt idx="9">
                  <c:v>0.46300000000000002</c:v>
                </c:pt>
                <c:pt idx="10">
                  <c:v>0.6</c:v>
                </c:pt>
              </c:numCache>
            </c:numRef>
          </c:val>
          <c:extLst>
            <c:ext xmlns:c16="http://schemas.microsoft.com/office/drawing/2014/chart" uri="{C3380CC4-5D6E-409C-BE32-E72D297353CC}">
              <c16:uniqueId val="{00000000-F008-496B-A645-1CB261682C29}"/>
            </c:ext>
          </c:extLst>
        </c:ser>
        <c:dLbls>
          <c:showLegendKey val="0"/>
          <c:showVal val="0"/>
          <c:showCatName val="0"/>
          <c:showSerName val="0"/>
          <c:showPercent val="0"/>
          <c:showBubbleSize val="0"/>
        </c:dLbls>
        <c:gapWidth val="100"/>
        <c:axId val="502568064"/>
        <c:axId val="645959280"/>
      </c:barChart>
      <c:catAx>
        <c:axId val="502568064"/>
        <c:scaling>
          <c:orientation val="minMax"/>
        </c:scaling>
        <c:delete val="0"/>
        <c:axPos val="l"/>
        <c:numFmt formatCode="General" sourceLinked="1"/>
        <c:majorTickMark val="out"/>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2"/>
                </a:solidFill>
                <a:latin typeface="Arial" panose="020B0604020202020204" pitchFamily="34" charset="0"/>
                <a:ea typeface="+mn-ea"/>
                <a:cs typeface="Arial" panose="020B0604020202020204" pitchFamily="34" charset="0"/>
              </a:defRPr>
            </a:pPr>
            <a:endParaRPr lang="en-US"/>
          </a:p>
        </c:txPr>
        <c:crossAx val="645959280"/>
        <c:crosses val="autoZero"/>
        <c:auto val="1"/>
        <c:lblAlgn val="ctr"/>
        <c:lblOffset val="100"/>
        <c:noMultiLvlLbl val="0"/>
      </c:catAx>
      <c:valAx>
        <c:axId val="645959280"/>
        <c:scaling>
          <c:orientation val="minMax"/>
          <c:max val="1"/>
        </c:scaling>
        <c:delete val="0"/>
        <c:axPos val="b"/>
        <c:majorGridlines>
          <c:spPr>
            <a:ln w="9525" cap="flat" cmpd="sng" algn="ctr">
              <a:solidFill>
                <a:schemeClr val="tx2">
                  <a:lumMod val="15000"/>
                  <a:lumOff val="85000"/>
                </a:schemeClr>
              </a:solidFill>
              <a:round/>
            </a:ln>
            <a:effectLst/>
          </c:spPr>
        </c:majorGridlines>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2"/>
                </a:solidFill>
                <a:latin typeface="Arial" panose="020B0604020202020204" pitchFamily="34" charset="0"/>
                <a:ea typeface="+mn-ea"/>
                <a:cs typeface="Arial" panose="020B0604020202020204" pitchFamily="34" charset="0"/>
              </a:defRPr>
            </a:pPr>
            <a:endParaRPr lang="en-US"/>
          </a:p>
        </c:txPr>
        <c:crossAx val="502568064"/>
        <c:crosses val="autoZero"/>
        <c:crossBetween val="between"/>
        <c:majorUnit val="0.1"/>
      </c:valAx>
      <c:spPr>
        <a:noFill/>
        <a:ln>
          <a:noFill/>
        </a:ln>
        <a:effectLst/>
      </c:spPr>
    </c:plotArea>
    <c:plotVisOnly val="1"/>
    <c:dispBlanksAs val="gap"/>
    <c:showDLblsOverMax val="0"/>
  </c:chart>
  <c:spPr>
    <a:noFill/>
    <a:ln>
      <a:noFill/>
    </a:ln>
    <a:effectLst/>
  </c:spPr>
  <c:txPr>
    <a:bodyPr/>
    <a:lstStyle/>
    <a:p>
      <a:pPr>
        <a:defRPr sz="1100">
          <a:latin typeface="Arial" panose="020B0604020202020204" pitchFamily="34" charset="0"/>
          <a:cs typeface="Arial" panose="020B0604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0">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omments/modernComment_7FFFDEB5_FD80BC11.xml><?xml version="1.0" encoding="utf-8"?>
<p188:cmLst xmlns:a="http://schemas.openxmlformats.org/drawingml/2006/main" xmlns:r="http://schemas.openxmlformats.org/officeDocument/2006/relationships" xmlns:p188="http://schemas.microsoft.com/office/powerpoint/2018/8/main">
  <p188:cm id="{F041C14A-2482-4707-9897-70CA34D51D82}" authorId="{BD73E414-0A2D-AA33-D4E5-55B83ABA2C5F}" status="resolved" created="2024-07-11T16:35:30.206">
    <ac:deMkLst xmlns:ac="http://schemas.microsoft.com/office/drawing/2013/main/command">
      <pc:docMk xmlns:pc="http://schemas.microsoft.com/office/powerpoint/2013/main/command"/>
      <pc:sldMk xmlns:pc="http://schemas.microsoft.com/office/powerpoint/2013/main/command" cId="1410526579" sldId="2147475113"/>
      <ac:spMk id="15" creationId="{A30DB8AF-109C-63DB-7430-DF84116526AD}"/>
    </ac:deMkLst>
    <p188:replyLst>
      <p188:reply id="{E852ECDA-BCBE-405B-8A83-E1010EBB7294}" authorId="{F09D2FA9-6D8B-FA50-E460-861B21DA9BAD}" created="2024-07-11T16:59:06.074">
        <p188:txBody>
          <a:bodyPr/>
          <a:lstStyle/>
          <a:p>
            <a:r>
              <a:rPr lang="en-US"/>
              <a:t>[@Tsukimura (US), Elizabeth A] pulled this data.  Betsy, can you confirm?  Did we increase 2 pts since we pulled data for the report?</a:t>
            </a:r>
          </a:p>
        </p188:txBody>
      </p188:reply>
      <p188:reply id="{D63DE43D-7F11-4825-8109-A04BF36D68D6}" authorId="{34C5E733-FAF4-3CE7-1564-AAE87F6588A6}" created="2024-07-11T17:17:57.778">
        <p188:txBody>
          <a:bodyPr/>
          <a:lstStyle/>
          <a:p>
            <a:r>
              <a:rPr lang="en-US"/>
              <a:t>47% was in S&amp;SI report. We went up 2 points when Shaun pulled the data on July 2. 49% is from the GEDI dashboard metrics. John will need to check with Shaun for an updated disability rate the week of 7/15. </a:t>
            </a:r>
          </a:p>
        </p188:txBody>
      </p188:reply>
      <p188:reply id="{02399213-ECD3-4EBE-B7A4-27D00D70FEAC}" authorId="{BD73E414-0A2D-AA33-D4E5-55B83ABA2C5F}" created="2024-07-11T17:32:07.127">
        <p188:txBody>
          <a:bodyPr/>
          <a:lstStyle/>
          <a:p>
            <a:r>
              <a:rPr lang="en-US"/>
              <a:t>ah ok, that makes sense. thanks for clarifying! I just wanted to make sure we can explain for any eagle eyes in the call ;) or we can decide to align the trivia to current data? I'm open...</a:t>
            </a:r>
          </a:p>
        </p188:txBody>
      </p188:reply>
      <p188:reply id="{5684B8CA-BE99-4BAD-A1A5-CC4BD5A56FB2}" authorId="{BD73E414-0A2D-AA33-D4E5-55B83ABA2C5F}" created="2024-07-11T17:35:06.175">
        <p188:txBody>
          <a:bodyPr/>
          <a:lstStyle/>
          <a:p>
            <a:r>
              <a:rPr lang="en-US"/>
              <a:t>I added a source footer to the trivia pages for now</a:t>
            </a:r>
          </a:p>
        </p188:txBody>
      </p188:reply>
    </p188:replyLst>
    <p188:txBody>
      <a:bodyPr/>
      <a:lstStyle/>
      <a:p>
        <a:r>
          <a:rPr lang="en-US"/>
          <a:t>I'm seeing 47% in the S&amp;SI report which is what I put in the trivia. Where is the 49% coming from?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8AFAC5B-D980-4BC8-A69B-0BFA9B1BEC1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6E1798D-CDB3-4A70-889A-C3C4C7B9470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75D71FB-28E1-4F4E-8025-8E8959F38579}" type="datetimeFigureOut">
              <a:rPr lang="en-US" smtClean="0"/>
              <a:t>7/17/2024</a:t>
            </a:fld>
            <a:endParaRPr lang="en-US"/>
          </a:p>
        </p:txBody>
      </p:sp>
      <p:sp>
        <p:nvSpPr>
          <p:cNvPr id="4" name="Footer Placeholder 3">
            <a:extLst>
              <a:ext uri="{FF2B5EF4-FFF2-40B4-BE49-F238E27FC236}">
                <a16:creationId xmlns:a16="http://schemas.microsoft.com/office/drawing/2014/main" id="{D86E5FD8-7F75-4038-B17D-65B72E119AE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DA260EB-7E41-43C1-AB00-10C5096A4E1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1A52B99-0123-4F1F-9291-F0F6A7FAA84C}" type="slidenum">
              <a:rPr lang="en-US" smtClean="0"/>
              <a:t>‹#›</a:t>
            </a:fld>
            <a:endParaRPr lang="en-US"/>
          </a:p>
        </p:txBody>
      </p:sp>
    </p:spTree>
    <p:extLst>
      <p:ext uri="{BB962C8B-B14F-4D97-AF65-F5344CB8AC3E}">
        <p14:creationId xmlns:p14="http://schemas.microsoft.com/office/powerpoint/2010/main" val="33406248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321364-AD81-4A69-9A06-0DC15C5BBBBB}" type="datetimeFigureOut">
              <a:rPr lang="en-US" smtClean="0"/>
              <a:t>7/17/2024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7074C0-0740-453A-BC2B-444FF06A8E97}" type="slidenum">
              <a:rPr lang="en-US" smtClean="0"/>
              <a:t>‹#›</a:t>
            </a:fld>
            <a:endParaRPr lang="en-US"/>
          </a:p>
        </p:txBody>
      </p:sp>
    </p:spTree>
    <p:extLst>
      <p:ext uri="{BB962C8B-B14F-4D97-AF65-F5344CB8AC3E}">
        <p14:creationId xmlns:p14="http://schemas.microsoft.com/office/powerpoint/2010/main" val="3132223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boeing.com/content/dam/boeing/boeingdotcom/sustainability/pdf/2024-boeing-sustainability-socialImpact-report.pdf?v=0710"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projectsearch.us/" TargetMode="External"/><Relationship Id="rId7" Type="http://schemas.openxmlformats.org/officeDocument/2006/relationships/hyperlink" Target="https://onfirstup.com/boeing/BNN/contents/38231702"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collab2.web.boeing.com/sites/BRGSharePoint/_layouts/15/FormServer.aspx?XmlLocation=/sites/BRGSharePoint/InfoPath/BRG+Membership.xml&amp;ClientInstalled=true&amp;DefaultItemOpen=1&amp;Source=https://collab2.web.boeing.com/sites/BRGSharePoint/SitePages/Home.aspx" TargetMode="External"/><Relationship Id="rId5" Type="http://schemas.openxmlformats.org/officeDocument/2006/relationships/hyperlink" Target="https://insite.web.boeing.com/culture/viewGroup.do?groupId=200927" TargetMode="External"/><Relationship Id="rId4" Type="http://schemas.openxmlformats.org/officeDocument/2006/relationships/hyperlink" Target="https://www.bestbuddies.org/"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sso-support.web.boeing.com:2016/redirect.html?URL=https://csdms.web.boeing.com/dmswsso/getdoc?number=1540-24-01186&amp;status=Released"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degreed.com/pathway/49elkmnwp5?orgsso=boeing" TargetMode="External"/><Relationship Id="rId5" Type="http://schemas.openxmlformats.org/officeDocument/2006/relationships/hyperlink" Target="https://degreed.com/articles/q3-team-talk-resources?d=42421340&amp;inputtype=article&amp;orgsso=boeing&amp;inputType=Article" TargetMode="External"/><Relationship Id="rId4" Type="http://schemas.openxmlformats.org/officeDocument/2006/relationships/hyperlink" Target="https://degreed.com/view/Course/38710854?newWindow=true"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39F009B-AA83-4291-81BE-194F11CE1901}" type="slidenum">
              <a:rPr lang="en-US" smtClean="0"/>
              <a:pPr/>
              <a:t>1</a:t>
            </a:fld>
            <a:endParaRPr lang="en-US"/>
          </a:p>
        </p:txBody>
      </p:sp>
    </p:spTree>
    <p:extLst>
      <p:ext uri="{BB962C8B-B14F-4D97-AF65-F5344CB8AC3E}">
        <p14:creationId xmlns:p14="http://schemas.microsoft.com/office/powerpoint/2010/main" val="2686967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39F009B-AA83-4291-81BE-194F11CE1901}" type="slidenum">
              <a:rPr lang="en-US" smtClean="0"/>
              <a:pPr/>
              <a:t>2</a:t>
            </a:fld>
            <a:endParaRPr lang="en-US"/>
          </a:p>
        </p:txBody>
      </p:sp>
    </p:spTree>
    <p:extLst>
      <p:ext uri="{BB962C8B-B14F-4D97-AF65-F5344CB8AC3E}">
        <p14:creationId xmlns:p14="http://schemas.microsoft.com/office/powerpoint/2010/main" val="12641707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Ways to share this with your network: </a:t>
            </a:r>
            <a:endParaRPr lang="en-US" dirty="0"/>
          </a:p>
          <a:p>
            <a:endParaRPr lang="en-US" dirty="0"/>
          </a:p>
          <a:p>
            <a:pPr marL="285750" indent="-285750">
              <a:buFont typeface="Arial,Sans-Serif"/>
              <a:buChar char="•"/>
            </a:pPr>
            <a:r>
              <a:rPr lang="en-US" b="1" dirty="0"/>
              <a:t>2 minutes or less</a:t>
            </a:r>
            <a:r>
              <a:rPr lang="en-US" dirty="0"/>
              <a:t> : Forward the self ID links to your network and encourage them to Self ID</a:t>
            </a:r>
            <a:endParaRPr lang="en-US" dirty="0">
              <a:ea typeface="Calibri"/>
              <a:cs typeface="Calibri"/>
            </a:endParaRPr>
          </a:p>
          <a:p>
            <a:pPr marL="285750" indent="-285750">
              <a:buFont typeface="Arial,Sans-Serif"/>
              <a:buChar char="•"/>
            </a:pPr>
            <a:r>
              <a:rPr lang="en-US" b="1" dirty="0"/>
              <a:t>5 minutes: </a:t>
            </a:r>
            <a:r>
              <a:rPr lang="en-US" dirty="0"/>
              <a:t>Share this slide with your network in a team meeting or standup as a slide or handout. Talk about your key takeaway (s) from listening to the segment or reading about this story. </a:t>
            </a:r>
          </a:p>
          <a:p>
            <a:pPr marL="285750" indent="-285750">
              <a:buFont typeface="Arial,Sans-Serif"/>
              <a:buChar char="•"/>
            </a:pPr>
            <a:r>
              <a:rPr lang="en-US" b="1" dirty="0"/>
              <a:t>10-15 minutes</a:t>
            </a:r>
            <a:r>
              <a:rPr lang="en-US" dirty="0"/>
              <a:t>: After the Call Resources come out share this portion of the July Call as a video in an existing team meeting. Talk with them about why it is important to self ID.</a:t>
            </a:r>
            <a:endParaRPr lang="en-US" dirty="0">
              <a:ea typeface="Calibri"/>
              <a:cs typeface="Calibri"/>
            </a:endParaRPr>
          </a:p>
          <a:p>
            <a:pPr marL="285750" indent="-285750">
              <a:buFont typeface="Arial"/>
              <a:buChar char="•"/>
            </a:pPr>
            <a:r>
              <a:rPr lang="en-US" b="1" dirty="0"/>
              <a:t>Go Deeper</a:t>
            </a:r>
            <a:r>
              <a:rPr lang="en-US" dirty="0"/>
              <a:t>:  Look ate the Sustainability and Social Impact Report : Read and Share : Sustainability &amp; Social Impact Report : </a:t>
            </a:r>
            <a:r>
              <a:rPr lang="en-US" dirty="0">
                <a:hlinkClick r:id="rId3"/>
              </a:rPr>
              <a:t>https://www.boeing.com/content/dam/boeing/boeingdotcom/sustainability/pdf/2024-boeing-sustainability-socialImpact-report.pdf?v=0710</a:t>
            </a:r>
            <a:r>
              <a:rPr lang="en-US" dirty="0"/>
              <a:t> ; Consider all the programs that are enabled or could be created to serve you and your teammates if we had more information on the identities of our Boeing teammates. Help others see the why behind self ID. </a:t>
            </a:r>
            <a:endParaRPr lang="en-US" dirty="0">
              <a:ea typeface="Calibri"/>
              <a:cs typeface="Calibri"/>
            </a:endParaRPr>
          </a:p>
          <a:p>
            <a:pPr marL="285750" indent="-285750">
              <a:buFont typeface="Arial,Sans-Serif"/>
              <a:buChar char="•"/>
            </a:pPr>
            <a:endParaRPr lang="en-US" dirty="0">
              <a:ea typeface="Calibri"/>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9F009B-AA83-4291-81BE-194F11CE19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32135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dirty="0">
                <a:latin typeface="Calibri"/>
                <a:ea typeface="Calibri"/>
                <a:cs typeface="Calibri"/>
              </a:rPr>
              <a:t>Ways to share this with your network: </a:t>
            </a:r>
          </a:p>
          <a:p>
            <a:endParaRPr lang="en-US" sz="1800" dirty="0">
              <a:latin typeface="Calibri"/>
              <a:ea typeface="Calibri"/>
              <a:cs typeface="Calibri"/>
            </a:endParaRPr>
          </a:p>
          <a:p>
            <a:pPr marL="285750" indent="-285750">
              <a:buFont typeface="Arial"/>
              <a:buChar char="•"/>
            </a:pPr>
            <a:r>
              <a:rPr lang="en-US" sz="1800" b="1" dirty="0">
                <a:latin typeface="Calibri"/>
                <a:ea typeface="Calibri"/>
                <a:cs typeface="Calibri"/>
              </a:rPr>
              <a:t>2 minutes or less</a:t>
            </a:r>
            <a:r>
              <a:rPr lang="en-US" sz="1800" dirty="0">
                <a:latin typeface="Calibri"/>
                <a:ea typeface="Calibri"/>
                <a:cs typeface="Calibri"/>
              </a:rPr>
              <a:t> : Forward the article to your network : </a:t>
            </a:r>
            <a:r>
              <a:rPr lang="en-US" dirty="0"/>
              <a:t>The BNN article : https://onfirstup.com/boeing/BNN/contents/38482168</a:t>
            </a:r>
            <a:endParaRPr lang="en-US" sz="1800" dirty="0">
              <a:latin typeface="Calibri"/>
              <a:ea typeface="Calibri"/>
              <a:cs typeface="Calibri"/>
            </a:endParaRPr>
          </a:p>
          <a:p>
            <a:pPr marL="285750" indent="-285750">
              <a:buFont typeface="Arial"/>
              <a:buChar char="•"/>
            </a:pPr>
            <a:r>
              <a:rPr lang="en-US" sz="1800" b="1" dirty="0">
                <a:latin typeface="Calibri"/>
                <a:ea typeface="Calibri"/>
                <a:cs typeface="Calibri"/>
              </a:rPr>
              <a:t>5 minutes: </a:t>
            </a:r>
            <a:r>
              <a:rPr lang="en-US" sz="1800" dirty="0">
                <a:latin typeface="Calibri"/>
                <a:ea typeface="Calibri"/>
                <a:cs typeface="Calibri"/>
              </a:rPr>
              <a:t>Share this slide with your network in a team meeting or standup as a slide or handout. Talk about your key takeaway (s) from listening to the segment or reading about this story. </a:t>
            </a:r>
          </a:p>
          <a:p>
            <a:pPr marL="285750" indent="-285750">
              <a:buFont typeface="Arial"/>
              <a:buChar char="•"/>
            </a:pPr>
            <a:r>
              <a:rPr lang="en-US" sz="1800" b="1" dirty="0">
                <a:latin typeface="Calibri"/>
                <a:ea typeface="Calibri"/>
                <a:cs typeface="Calibri"/>
              </a:rPr>
              <a:t>10-15 minutes</a:t>
            </a:r>
            <a:r>
              <a:rPr lang="en-US" sz="1800" dirty="0">
                <a:latin typeface="Calibri"/>
                <a:ea typeface="Calibri"/>
                <a:cs typeface="Calibri"/>
              </a:rPr>
              <a:t>: After the Call Resources come out share this portion of the July Call as a video in an existing team meeting</a:t>
            </a:r>
            <a:endParaRPr lang="en-US"/>
          </a:p>
          <a:p>
            <a:pPr marL="285750" indent="-285750">
              <a:buFont typeface="Arial"/>
              <a:buChar char="•"/>
            </a:pPr>
            <a:r>
              <a:rPr lang="en-US" sz="1800" b="1" dirty="0">
                <a:latin typeface="Calibri"/>
                <a:ea typeface="Calibri"/>
                <a:cs typeface="Calibri"/>
              </a:rPr>
              <a:t>Go Deeper</a:t>
            </a:r>
            <a:r>
              <a:rPr lang="en-US" sz="1800" dirty="0">
                <a:latin typeface="Calibri"/>
                <a:ea typeface="Calibri"/>
                <a:cs typeface="Calibri"/>
              </a:rPr>
              <a:t>: research Project SEARCH using the resources below, learn about what your organization is doing to promote </a:t>
            </a:r>
            <a:r>
              <a:rPr lang="en-US" sz="1800" dirty="0" err="1">
                <a:latin typeface="Calibri"/>
                <a:ea typeface="Calibri"/>
                <a:cs typeface="Calibri"/>
              </a:rPr>
              <a:t>undertsanding</a:t>
            </a:r>
            <a:r>
              <a:rPr lang="en-US" sz="1800" dirty="0">
                <a:latin typeface="Calibri"/>
                <a:ea typeface="Calibri"/>
                <a:cs typeface="Calibri"/>
              </a:rPr>
              <a:t> of </a:t>
            </a:r>
            <a:r>
              <a:rPr lang="en-US" sz="1800" dirty="0" err="1">
                <a:latin typeface="Calibri"/>
                <a:ea typeface="Calibri"/>
                <a:cs typeface="Calibri"/>
              </a:rPr>
              <a:t>neurodoveristy</a:t>
            </a:r>
            <a:r>
              <a:rPr lang="en-US" sz="1800" dirty="0">
                <a:latin typeface="Calibri"/>
                <a:ea typeface="Calibri"/>
                <a:cs typeface="Calibri"/>
              </a:rPr>
              <a:t> and employ persons with disabilities. Seek ways to advocate for and promote disability inclusion in your sphere of influence. </a:t>
            </a:r>
          </a:p>
          <a:p>
            <a:endParaRPr lang="en-US" sz="1800">
              <a:latin typeface="Calibri" panose="020F0502020204030204" pitchFamily="34" charset="0"/>
              <a:ea typeface="Calibri" panose="020F0502020204030204" pitchFamily="34" charset="0"/>
              <a:cs typeface="Calibri" panose="020F0502020204030204" pitchFamily="34" charset="0"/>
            </a:endParaRPr>
          </a:p>
          <a:p>
            <a:r>
              <a:rPr lang="en-US" sz="2800" b="1" dirty="0">
                <a:solidFill>
                  <a:srgbClr val="000000"/>
                </a:solidFill>
                <a:latin typeface="Arial"/>
                <a:cs typeface="Arial"/>
              </a:rPr>
              <a:t>Go Deeper: </a:t>
            </a:r>
          </a:p>
          <a:p>
            <a:endParaRPr lang="en-US" sz="2800" b="1" dirty="0">
              <a:solidFill>
                <a:srgbClr val="000000"/>
              </a:solidFill>
              <a:latin typeface="Arial"/>
              <a:cs typeface="Arial"/>
            </a:endParaRPr>
          </a:p>
          <a:p>
            <a:pPr algn="l"/>
            <a:r>
              <a:rPr lang="en-US" sz="2800" b="1" i="0" dirty="0">
                <a:solidFill>
                  <a:srgbClr val="000000"/>
                </a:solidFill>
                <a:effectLst/>
                <a:latin typeface="Arial"/>
                <a:cs typeface="Arial"/>
              </a:rPr>
              <a:t>The big picture: </a:t>
            </a:r>
            <a:r>
              <a:rPr lang="en-US" sz="2800" b="0" i="0" dirty="0">
                <a:solidFill>
                  <a:srgbClr val="000000"/>
                </a:solidFill>
                <a:effectLst/>
                <a:latin typeface="Arial"/>
                <a:cs typeface="Arial"/>
              </a:rPr>
              <a:t>The nine-month program is a total workplace immersion that facilitates a seamless combination of classroom instruction, career exploration and hands-on training through worksite rotations.  </a:t>
            </a:r>
            <a:endParaRPr lang="en-US"/>
          </a:p>
          <a:p>
            <a:pPr algn="l" rtl="0"/>
            <a:r>
              <a:rPr lang="en-US" sz="2800" b="0" i="0" dirty="0">
                <a:solidFill>
                  <a:srgbClr val="000000"/>
                </a:solidFill>
                <a:effectLst/>
                <a:latin typeface="Arial"/>
                <a:cs typeface="Arial"/>
              </a:rPr>
              <a:t>Interns supported material handling and 5S efforts in Operations and completed three 10-week rotations in different areas. Tasks included:</a:t>
            </a:r>
          </a:p>
          <a:p>
            <a:pPr algn="l" rtl="0">
              <a:buFont typeface="Arial" panose="020B0604020202020204" pitchFamily="34" charset="0"/>
              <a:buChar char="•"/>
            </a:pPr>
            <a:r>
              <a:rPr lang="en-US" sz="2800" b="0" i="0" dirty="0">
                <a:solidFill>
                  <a:srgbClr val="000000"/>
                </a:solidFill>
                <a:effectLst/>
                <a:latin typeface="Arial"/>
                <a:cs typeface="Arial"/>
              </a:rPr>
              <a:t>Sorting and packing customer purchase orders</a:t>
            </a:r>
          </a:p>
          <a:p>
            <a:pPr algn="l" rtl="0">
              <a:buFont typeface="Arial" panose="020B0604020202020204" pitchFamily="34" charset="0"/>
              <a:buChar char="•"/>
            </a:pPr>
            <a:r>
              <a:rPr lang="en-US" sz="2800" b="0" i="0" dirty="0">
                <a:solidFill>
                  <a:srgbClr val="000000"/>
                </a:solidFill>
                <a:effectLst/>
                <a:latin typeface="Arial"/>
                <a:cs typeface="Arial"/>
              </a:rPr>
              <a:t>Unloading purchase orders from delivery trucks</a:t>
            </a:r>
          </a:p>
          <a:p>
            <a:pPr algn="l" rtl="0">
              <a:buFont typeface="Arial" panose="020B0604020202020204" pitchFamily="34" charset="0"/>
              <a:buChar char="•"/>
            </a:pPr>
            <a:r>
              <a:rPr lang="en-US" sz="2800" b="0" i="0" dirty="0">
                <a:solidFill>
                  <a:srgbClr val="000000"/>
                </a:solidFill>
                <a:effectLst/>
                <a:latin typeface="Arial"/>
                <a:cs typeface="Arial"/>
              </a:rPr>
              <a:t>Organizing boxes on shelves and repacking damaged or bulky boxes</a:t>
            </a:r>
          </a:p>
          <a:p>
            <a:pPr algn="l" rtl="0">
              <a:buFont typeface="Arial" panose="020B0604020202020204" pitchFamily="34" charset="0"/>
              <a:buChar char="•"/>
            </a:pPr>
            <a:r>
              <a:rPr lang="en-US" sz="2800" b="0" i="0" dirty="0">
                <a:solidFill>
                  <a:srgbClr val="000000"/>
                </a:solidFill>
                <a:effectLst/>
                <a:latin typeface="Arial"/>
                <a:cs typeface="Arial"/>
              </a:rPr>
              <a:t>Scanning product into bin locations</a:t>
            </a:r>
          </a:p>
          <a:p>
            <a:pPr algn="l" rtl="0">
              <a:buFont typeface="Arial" panose="020B0604020202020204" pitchFamily="34" charset="0"/>
              <a:buChar char="•"/>
            </a:pPr>
            <a:r>
              <a:rPr lang="en-US" sz="2800" b="0" i="0" dirty="0">
                <a:solidFill>
                  <a:srgbClr val="000000"/>
                </a:solidFill>
                <a:effectLst/>
                <a:latin typeface="Arial"/>
                <a:cs typeface="Arial"/>
              </a:rPr>
              <a:t>Sorting and scanning orders out of the pick tower</a:t>
            </a:r>
          </a:p>
          <a:p>
            <a:pPr algn="l" rtl="0"/>
            <a:r>
              <a:rPr lang="en-US" sz="2800" b="0" i="0" dirty="0">
                <a:solidFill>
                  <a:srgbClr val="000000"/>
                </a:solidFill>
                <a:effectLst/>
                <a:latin typeface="Arial"/>
                <a:cs typeface="Arial"/>
              </a:rPr>
              <a:t>“What I have learned at Project SEARCH and Boeing has been important and has made me wish for more out of my future. My plans and goals are bigger than when I began here,” Ramos said. “I now feel like I can do anything and be a good employee. I still can't even believe how far I have come to be completing an internship in one of the biggest companies in the world. I will be forever grateful for this experience.”</a:t>
            </a:r>
          </a:p>
          <a:p>
            <a:pPr algn="l" rtl="0"/>
            <a:r>
              <a:rPr lang="en-US" sz="2800" b="0" i="0" dirty="0">
                <a:solidFill>
                  <a:srgbClr val="000000"/>
                </a:solidFill>
                <a:effectLst/>
                <a:latin typeface="Arial"/>
                <a:cs typeface="Arial"/>
              </a:rPr>
              <a:t>Another intern, </a:t>
            </a:r>
            <a:r>
              <a:rPr lang="en-US" sz="2800" b="0" i="0" dirty="0" err="1">
                <a:solidFill>
                  <a:srgbClr val="000000"/>
                </a:solidFill>
                <a:effectLst/>
                <a:latin typeface="Arial"/>
                <a:cs typeface="Arial"/>
              </a:rPr>
              <a:t>Tamique</a:t>
            </a:r>
            <a:r>
              <a:rPr lang="en-US" sz="2800" b="0" i="0" dirty="0">
                <a:solidFill>
                  <a:srgbClr val="000000"/>
                </a:solidFill>
                <a:effectLst/>
                <a:latin typeface="Arial"/>
                <a:cs typeface="Arial"/>
              </a:rPr>
              <a:t> Malcom, is also embarking on her professional career, working full time on Sud’s team. Like Ramos, she’s also taking the next steps to become more independent by getting her driver’s license.</a:t>
            </a:r>
          </a:p>
          <a:p>
            <a:pPr algn="l" rtl="0"/>
            <a:r>
              <a:rPr lang="en-US" sz="2800" b="0" i="0" dirty="0">
                <a:solidFill>
                  <a:srgbClr val="000000"/>
                </a:solidFill>
                <a:effectLst/>
                <a:latin typeface="Arial"/>
                <a:cs typeface="Arial"/>
              </a:rPr>
              <a:t>The Boeing Distribution team is making plans to expand the program next year and offer more internship opportunities.</a:t>
            </a:r>
          </a:p>
          <a:p>
            <a:pPr algn="l" rtl="0"/>
            <a:r>
              <a:rPr lang="en-US" sz="2800" b="1" i="0" dirty="0">
                <a:solidFill>
                  <a:srgbClr val="000000"/>
                </a:solidFill>
                <a:effectLst/>
                <a:latin typeface="Arial"/>
                <a:cs typeface="Arial"/>
              </a:rPr>
              <a:t>Go deeper:</a:t>
            </a:r>
            <a:endParaRPr lang="en-US" sz="2800" b="0" i="0" dirty="0">
              <a:solidFill>
                <a:srgbClr val="000000"/>
              </a:solidFill>
              <a:effectLst/>
              <a:latin typeface="Arial"/>
              <a:cs typeface="Arial"/>
            </a:endParaRPr>
          </a:p>
          <a:p>
            <a:pPr algn="l" rtl="0">
              <a:buFont typeface="Arial" panose="020B0604020202020204" pitchFamily="34" charset="0"/>
              <a:buChar char="•"/>
            </a:pPr>
            <a:r>
              <a:rPr lang="en-US" sz="2800" b="0" i="0" dirty="0">
                <a:solidFill>
                  <a:srgbClr val="000000"/>
                </a:solidFill>
                <a:effectLst/>
                <a:latin typeface="Arial"/>
                <a:cs typeface="Arial"/>
              </a:rPr>
              <a:t>This </a:t>
            </a:r>
            <a:r>
              <a:rPr lang="en-US" sz="2800" b="0" i="0" dirty="0">
                <a:solidFill>
                  <a:srgbClr val="03A4FF"/>
                </a:solidFill>
                <a:effectLst/>
                <a:latin typeface="Arial"/>
                <a:cs typeface="Arial"/>
                <a:hlinkClick r:id="rId3"/>
              </a:rPr>
              <a:t>Project SEARCH</a:t>
            </a:r>
            <a:r>
              <a:rPr lang="en-US" sz="2800" b="0" i="0" dirty="0">
                <a:solidFill>
                  <a:srgbClr val="000000"/>
                </a:solidFill>
                <a:effectLst/>
                <a:latin typeface="Arial"/>
                <a:cs typeface="Arial"/>
              </a:rPr>
              <a:t> program is a partnership between the Miami-Dade County Public Schools, Best Buddies International and Boeing. </a:t>
            </a:r>
          </a:p>
          <a:p>
            <a:pPr algn="l" rtl="0">
              <a:buFont typeface="Arial" panose="020B0604020202020204" pitchFamily="34" charset="0"/>
              <a:buChar char="•"/>
            </a:pPr>
            <a:r>
              <a:rPr lang="en-US" sz="2800" b="0" i="0" dirty="0">
                <a:solidFill>
                  <a:srgbClr val="03A4FF"/>
                </a:solidFill>
                <a:effectLst/>
                <a:latin typeface="Arial"/>
                <a:cs typeface="Arial"/>
                <a:hlinkClick r:id="rId4"/>
              </a:rPr>
              <a:t>Best Buddies</a:t>
            </a:r>
            <a:r>
              <a:rPr lang="en-US" sz="2800" b="0" i="0" dirty="0">
                <a:solidFill>
                  <a:srgbClr val="000000"/>
                </a:solidFill>
                <a:effectLst/>
                <a:latin typeface="Arial"/>
                <a:cs typeface="Arial"/>
              </a:rPr>
              <a:t> is a non-profit organization dedicated to ending the social, physical and economic isolation of the 200 million people with intellectual and developmental disabilities.                                                 </a:t>
            </a:r>
          </a:p>
          <a:p>
            <a:pPr algn="l" rtl="0">
              <a:buFont typeface="Arial" panose="020B0604020202020204" pitchFamily="34" charset="0"/>
              <a:buChar char="•"/>
            </a:pPr>
            <a:r>
              <a:rPr lang="en-US" sz="2800" b="0" i="0" dirty="0">
                <a:solidFill>
                  <a:srgbClr val="000000"/>
                </a:solidFill>
                <a:effectLst/>
                <a:latin typeface="Arial"/>
                <a:cs typeface="Arial"/>
              </a:rPr>
              <a:t>Learn more about the</a:t>
            </a:r>
            <a:r>
              <a:rPr lang="en-US" sz="2800" b="0" i="0" dirty="0">
                <a:solidFill>
                  <a:srgbClr val="03A4FF"/>
                </a:solidFill>
                <a:effectLst/>
                <a:latin typeface="Arial"/>
                <a:cs typeface="Arial"/>
                <a:hlinkClick r:id="rId5"/>
              </a:rPr>
              <a:t> Boeing Employees Ability Awareness Association BRG</a:t>
            </a:r>
            <a:r>
              <a:rPr lang="en-US" sz="2800" b="0" i="0" dirty="0">
                <a:solidFill>
                  <a:srgbClr val="000000"/>
                </a:solidFill>
                <a:effectLst/>
                <a:latin typeface="Arial"/>
                <a:cs typeface="Arial"/>
              </a:rPr>
              <a:t> and </a:t>
            </a:r>
            <a:r>
              <a:rPr lang="en-US" sz="2800" b="0" i="0" dirty="0">
                <a:solidFill>
                  <a:srgbClr val="03A4FF"/>
                </a:solidFill>
                <a:effectLst/>
                <a:latin typeface="Arial"/>
                <a:cs typeface="Arial"/>
                <a:hlinkClick r:id="rId6"/>
              </a:rPr>
              <a:t>become a member</a:t>
            </a:r>
            <a:r>
              <a:rPr lang="en-US" sz="2800" b="0" i="0" dirty="0">
                <a:solidFill>
                  <a:srgbClr val="000000"/>
                </a:solidFill>
                <a:effectLst/>
                <a:latin typeface="Arial"/>
                <a:cs typeface="Arial"/>
              </a:rPr>
              <a:t>.</a:t>
            </a:r>
          </a:p>
          <a:p>
            <a:pPr algn="l" rtl="0">
              <a:buFont typeface="Arial" panose="020B0604020202020204" pitchFamily="34" charset="0"/>
              <a:buChar char="•"/>
            </a:pPr>
            <a:r>
              <a:rPr lang="en-US" sz="2800" b="0" i="0" dirty="0">
                <a:solidFill>
                  <a:srgbClr val="03A4FF"/>
                </a:solidFill>
                <a:effectLst/>
                <a:latin typeface="Arial"/>
                <a:cs typeface="Arial"/>
                <a:hlinkClick r:id="rId7"/>
              </a:rPr>
              <a:t>Read the BNN</a:t>
            </a:r>
            <a:r>
              <a:rPr lang="en-US" sz="2800" b="0" i="0" dirty="0">
                <a:solidFill>
                  <a:srgbClr val="000000"/>
                </a:solidFill>
                <a:effectLst/>
                <a:latin typeface="Arial"/>
                <a:cs typeface="Arial"/>
              </a:rPr>
              <a:t> about how Boeing recently ranked #9 on the Fair360 (formerly Diversity Inc.) list of Top 50 companies for diversity and #7 on the list for Individuals with Disabilities.</a:t>
            </a:r>
          </a:p>
          <a:p>
            <a:pPr algn="l" rtl="0">
              <a:buFont typeface="Arial" panose="020B0604020202020204" pitchFamily="34" charset="0"/>
              <a:buChar char="•"/>
            </a:pPr>
            <a:endParaRPr lang="en-US" sz="2800" b="0" i="0">
              <a:solidFill>
                <a:srgbClr val="000000"/>
              </a:solidFill>
              <a:effectLst/>
              <a:latin typeface="Arial" panose="020B0604020202020204" pitchFamily="34" charset="0"/>
            </a:endParaRPr>
          </a:p>
          <a:p>
            <a:pPr algn="l" rtl="0">
              <a:buFont typeface="Arial" panose="020B0604020202020204" pitchFamily="34" charset="0"/>
              <a:buChar char="•"/>
            </a:pPr>
            <a:r>
              <a:rPr lang="en-US" sz="2800" b="0" i="0" dirty="0">
                <a:solidFill>
                  <a:srgbClr val="000000"/>
                </a:solidFill>
                <a:effectLst/>
                <a:latin typeface="Arial"/>
                <a:cs typeface="Arial"/>
              </a:rPr>
              <a:t>More detail :</a:t>
            </a:r>
          </a:p>
          <a:p>
            <a:pPr algn="l" rtl="0">
              <a:buFont typeface="Arial" panose="020B0604020202020204" pitchFamily="34" charset="0"/>
              <a:buChar char="•"/>
            </a:pPr>
            <a:endParaRPr lang="en-US" sz="2800" b="0" i="0">
              <a:solidFill>
                <a:srgbClr val="000000"/>
              </a:solidFill>
              <a:effectLst/>
              <a:latin typeface="Arial" panose="020B0604020202020204" pitchFamily="34" charset="0"/>
            </a:endParaRPr>
          </a:p>
          <a:p>
            <a:pPr algn="l" rtl="0">
              <a:buFont typeface="Arial" panose="020B0604020202020204" pitchFamily="34" charset="0"/>
              <a:buChar char="•"/>
            </a:pPr>
            <a:r>
              <a:rPr lang="en-US" sz="2800" dirty="0">
                <a:solidFill>
                  <a:srgbClr val="013282"/>
                </a:solidFill>
              </a:rPr>
              <a:t>Experiences &amp; Takeaways</a:t>
            </a:r>
            <a:endParaRPr lang="en-US" sz="2800" b="0" i="0" dirty="0">
              <a:solidFill>
                <a:srgbClr val="000000"/>
              </a:solidFill>
              <a:effectLst/>
              <a:latin typeface="Arial" panose="020B0604020202020204" pitchFamily="34" charset="0"/>
            </a:endParaRPr>
          </a:p>
          <a:p>
            <a:pPr algn="l" rtl="0">
              <a:buFont typeface="Arial" panose="020B0604020202020204" pitchFamily="34" charset="0"/>
              <a:buChar char="•"/>
            </a:pPr>
            <a:endParaRPr lang="en-US" sz="2800" b="0" i="0">
              <a:solidFill>
                <a:srgbClr val="000000"/>
              </a:solidFill>
              <a:effectLst/>
              <a:latin typeface="Arial" panose="020B0604020202020204" pitchFamily="34" charset="0"/>
            </a:endParaRPr>
          </a:p>
          <a:p>
            <a:pPr algn="l"/>
            <a:r>
              <a:rPr lang="en-US" sz="4800" dirty="0"/>
              <a:t>Scanning items</a:t>
            </a:r>
            <a:endParaRPr lang="en-US" sz="4800" dirty="0">
              <a:ea typeface="Calibri"/>
              <a:cs typeface="Calibri"/>
            </a:endParaRPr>
          </a:p>
          <a:p>
            <a:pPr algn="l"/>
            <a:r>
              <a:rPr lang="en-US" sz="4800" dirty="0"/>
              <a:t>Quantity verification</a:t>
            </a:r>
            <a:endParaRPr lang="en-US" sz="4800" dirty="0">
              <a:ea typeface="Calibri"/>
              <a:cs typeface="Calibri"/>
            </a:endParaRPr>
          </a:p>
          <a:p>
            <a:pPr algn="l"/>
            <a:r>
              <a:rPr lang="en-US" sz="4800" dirty="0"/>
              <a:t>Prioritizing dates/work/AOG</a:t>
            </a:r>
            <a:endParaRPr lang="en-US" sz="4800" dirty="0">
              <a:ea typeface="Calibri"/>
              <a:cs typeface="Calibri"/>
            </a:endParaRPr>
          </a:p>
          <a:p>
            <a:pPr algn="l"/>
            <a:r>
              <a:rPr lang="en-US" sz="4800" dirty="0"/>
              <a:t>Time management skills</a:t>
            </a:r>
            <a:endParaRPr lang="en-US" sz="4800" dirty="0">
              <a:ea typeface="Calibri"/>
              <a:cs typeface="Calibri"/>
            </a:endParaRPr>
          </a:p>
          <a:p>
            <a:pPr algn="l"/>
            <a:r>
              <a:rPr lang="en-US" sz="4800" dirty="0"/>
              <a:t>Handling different materials</a:t>
            </a:r>
            <a:endParaRPr lang="en-US" sz="4800" dirty="0">
              <a:ea typeface="Calibri"/>
              <a:cs typeface="Calibri"/>
            </a:endParaRPr>
          </a:p>
          <a:p>
            <a:pPr algn="l"/>
            <a:r>
              <a:rPr lang="en-US" sz="4800" dirty="0"/>
              <a:t>Packaging items</a:t>
            </a:r>
            <a:endParaRPr lang="en-US" sz="4800" dirty="0">
              <a:ea typeface="Calibri"/>
              <a:cs typeface="Calibri"/>
            </a:endParaRPr>
          </a:p>
          <a:p>
            <a:pPr algn="l"/>
            <a:r>
              <a:rPr lang="en-US" sz="4800" dirty="0"/>
              <a:t>Worked in 2-3 departments</a:t>
            </a:r>
            <a:endParaRPr lang="en-US" sz="4800" dirty="0">
              <a:ea typeface="Calibri"/>
              <a:cs typeface="Calibri"/>
            </a:endParaRPr>
          </a:p>
          <a:p>
            <a:r>
              <a:rPr lang="en-US" sz="4800" dirty="0"/>
              <a:t>Consistently clocking in and out </a:t>
            </a:r>
          </a:p>
          <a:p>
            <a:endParaRPr lang="en-US" sz="4800">
              <a:ea typeface="Calibri" panose="020F0502020204030204"/>
              <a:cs typeface="Calibri" panose="020F0502020204030204"/>
            </a:endParaRPr>
          </a:p>
          <a:p>
            <a:pPr algn="l"/>
            <a:r>
              <a:rPr lang="en-US" sz="8000" dirty="0"/>
              <a:t>Calling out sick responsibly</a:t>
            </a:r>
            <a:endParaRPr lang="en-US" sz="8000" dirty="0">
              <a:ea typeface="Calibri"/>
              <a:cs typeface="Calibri"/>
            </a:endParaRPr>
          </a:p>
          <a:p>
            <a:pPr algn="l"/>
            <a:r>
              <a:rPr lang="en-US" sz="8000" dirty="0"/>
              <a:t>Navigating Dayforce</a:t>
            </a:r>
            <a:endParaRPr lang="en-US" sz="8000" dirty="0">
              <a:ea typeface="Calibri"/>
              <a:cs typeface="Calibri"/>
            </a:endParaRPr>
          </a:p>
          <a:p>
            <a:pPr algn="l"/>
            <a:r>
              <a:rPr lang="en-US" sz="8000" dirty="0"/>
              <a:t>Responsible for Boeing ID</a:t>
            </a:r>
            <a:endParaRPr lang="en-US" sz="8000" dirty="0">
              <a:ea typeface="Calibri"/>
              <a:cs typeface="Calibri"/>
            </a:endParaRPr>
          </a:p>
          <a:p>
            <a:r>
              <a:rPr lang="en-US" sz="8000" dirty="0"/>
              <a:t>CPR Certification </a:t>
            </a:r>
          </a:p>
          <a:p>
            <a:pPr algn="l"/>
            <a:r>
              <a:rPr lang="en-US" sz="8000" dirty="0"/>
              <a:t>Booking their transportation </a:t>
            </a:r>
          </a:p>
          <a:p>
            <a:pPr algn="l"/>
            <a:r>
              <a:rPr lang="en-US" sz="8000" dirty="0"/>
              <a:t>Making different size boxes</a:t>
            </a:r>
            <a:endParaRPr lang="en-US" sz="8000" dirty="0">
              <a:ea typeface="Calibri"/>
              <a:cs typeface="Calibri"/>
            </a:endParaRPr>
          </a:p>
          <a:p>
            <a:pPr algn="l"/>
            <a:r>
              <a:rPr lang="en-US" sz="8000" dirty="0"/>
              <a:t>Using 2 scales</a:t>
            </a:r>
            <a:endParaRPr lang="en-US" sz="8000" dirty="0">
              <a:ea typeface="Calibri"/>
              <a:cs typeface="Calibri"/>
            </a:endParaRPr>
          </a:p>
          <a:p>
            <a:pPr algn="l"/>
            <a:r>
              <a:rPr lang="en-US" sz="8000" dirty="0"/>
              <a:t>Change tape and add water to tape machines</a:t>
            </a:r>
            <a:endParaRPr lang="en-US" sz="8000" dirty="0">
              <a:ea typeface="Calibri"/>
              <a:cs typeface="Calibri"/>
            </a:endParaRPr>
          </a:p>
          <a:p>
            <a:pPr algn="ctr"/>
            <a:endParaRPr lang="en-US" sz="4800"/>
          </a:p>
          <a:p>
            <a:pPr>
              <a:buFont typeface="Arial" panose="020B0604020202020204" pitchFamily="34" charset="0"/>
              <a:buChar char="•"/>
              <a:defRPr/>
            </a:pPr>
            <a:r>
              <a:rPr lang="en-US" sz="4000" i="1" dirty="0">
                <a:effectLst/>
                <a:latin typeface="Arial"/>
                <a:ea typeface="Arial" panose="020B0604020202020204" pitchFamily="34" charset="0"/>
                <a:cs typeface="Arial"/>
              </a:rPr>
              <a:t>Students trained and worked in different departments depending on their abilities and skills, and preferences.</a:t>
            </a:r>
            <a:r>
              <a:rPr lang="en-US" sz="4000" i="1" dirty="0">
                <a:latin typeface="Arial"/>
                <a:ea typeface="Arial" panose="020B0604020202020204" pitchFamily="34" charset="0"/>
                <a:cs typeface="Arial"/>
              </a:rPr>
              <a:t> </a:t>
            </a:r>
            <a:endParaRPr lang="en-US" sz="4000" i="1" dirty="0">
              <a:effectLst/>
              <a:latin typeface="Arial" panose="020B0604020202020204" pitchFamily="34" charset="0"/>
              <a:ea typeface="Arial" panose="020B0604020202020204" pitchFamily="34" charset="0"/>
              <a:cs typeface="Arial"/>
            </a:endParaRPr>
          </a:p>
          <a:p>
            <a:pPr algn="l" rtl="0">
              <a:buFont typeface="Arial" panose="020B0604020202020204" pitchFamily="34" charset="0"/>
              <a:buChar char="•"/>
            </a:pPr>
            <a:r>
              <a:rPr lang="en-US" sz="2800" b="1" dirty="0">
                <a:solidFill>
                  <a:srgbClr val="013282"/>
                </a:solidFill>
              </a:rPr>
              <a:t>Receiving</a:t>
            </a:r>
            <a:endParaRPr lang="en-US" sz="2800" b="0" i="0" dirty="0">
              <a:solidFill>
                <a:srgbClr val="000000"/>
              </a:solidFill>
              <a:effectLst/>
              <a:latin typeface="Arial" panose="020B0604020202020204" pitchFamily="34" charset="0"/>
            </a:endParaRPr>
          </a:p>
          <a:p>
            <a:pPr algn="l" rtl="0">
              <a:buFont typeface="Arial" panose="020B0604020202020204" pitchFamily="34" charset="0"/>
              <a:buChar char="•"/>
            </a:pPr>
            <a:r>
              <a:rPr lang="en-US" sz="2800" b="1" dirty="0">
                <a:solidFill>
                  <a:srgbClr val="013282"/>
                </a:solidFill>
              </a:rPr>
              <a:t>Anchoring</a:t>
            </a:r>
            <a:endParaRPr lang="en-US" sz="2800" b="0" i="0" dirty="0">
              <a:solidFill>
                <a:srgbClr val="000000"/>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b="1" dirty="0">
                <a:solidFill>
                  <a:srgbClr val="013282"/>
                </a:solidFill>
              </a:rPr>
              <a:t>Pick Tower</a:t>
            </a:r>
            <a:endParaRPr lang="en-US" sz="2800" b="1" dirty="0">
              <a:solidFill>
                <a:srgbClr val="013282"/>
              </a:solidFill>
              <a:ea typeface="Calibri"/>
              <a:cs typeface="Calibri"/>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b="1" dirty="0">
                <a:solidFill>
                  <a:srgbClr val="013282"/>
                </a:solidFill>
              </a:rPr>
              <a:t>VAS</a:t>
            </a:r>
            <a:endParaRPr lang="en-US" sz="2800" b="1" dirty="0">
              <a:solidFill>
                <a:srgbClr val="013282"/>
              </a:solidFill>
              <a:ea typeface="Calibri"/>
              <a:cs typeface="Calibri"/>
            </a:endParaRPr>
          </a:p>
          <a:p>
            <a:pPr algn="l" rtl="0">
              <a:buFont typeface="Arial" panose="020B0604020202020204" pitchFamily="34" charset="0"/>
              <a:buChar char="•"/>
            </a:pPr>
            <a:endParaRPr lang="en-US" sz="2800" b="0" i="0">
              <a:solidFill>
                <a:srgbClr val="000000"/>
              </a:solidFill>
              <a:effectLst/>
              <a:latin typeface="Arial" panose="020B0604020202020204" pitchFamily="34" charset="0"/>
            </a:endParaRPr>
          </a:p>
          <a:p>
            <a:pPr marL="0" marR="0">
              <a:spcBef>
                <a:spcPts val="0"/>
              </a:spcBef>
              <a:spcAft>
                <a:spcPts val="0"/>
              </a:spcAft>
            </a:pPr>
            <a:endParaRPr lang="en-US" sz="1800">
              <a:effectLst/>
              <a:latin typeface="Calibri" panose="020F050202020403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fld id="{739F009B-AA83-4291-81BE-194F11CE1901}" type="slidenum">
              <a:rPr lang="en-US" smtClean="0"/>
              <a:pPr/>
              <a:t>4</a:t>
            </a:fld>
            <a:endParaRPr lang="en-US"/>
          </a:p>
        </p:txBody>
      </p:sp>
    </p:spTree>
    <p:extLst>
      <p:ext uri="{BB962C8B-B14F-4D97-AF65-F5344CB8AC3E}">
        <p14:creationId xmlns:p14="http://schemas.microsoft.com/office/powerpoint/2010/main" val="13255696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Add this nudge and link to your email signature</a:t>
            </a:r>
            <a:r>
              <a:rPr lang="en-US" b="1" baseline="0" dirty="0"/>
              <a:t>:</a:t>
            </a:r>
          </a:p>
          <a:p>
            <a:r>
              <a:rPr lang="en-US" baseline="0" dirty="0">
                <a:hlinkClick r:id="rId3"/>
              </a:rPr>
              <a:t>Small actions matter:</a:t>
            </a:r>
            <a:r>
              <a:rPr lang="en-US" dirty="0">
                <a:hlinkClick r:id="rId3"/>
              </a:rPr>
              <a:t> </a:t>
            </a:r>
            <a:r>
              <a:rPr lang="en-US" baseline="0" dirty="0">
                <a:hlinkClick r:id="rId3"/>
              </a:rPr>
              <a:t> Get connected, curious, and candid.</a:t>
            </a:r>
            <a:endParaRPr lang="en-US" dirty="0">
              <a:ea typeface="Calibri"/>
              <a:cs typeface="Calibri"/>
              <a:hlinkClick r:id="rId3"/>
            </a:endParaRPr>
          </a:p>
          <a:p>
            <a:r>
              <a:rPr lang="en-US" dirty="0">
                <a:ea typeface="Calibri"/>
                <a:cs typeface="Calibri"/>
              </a:rPr>
              <a:t>Link the 1 page tip sheet with this link : </a:t>
            </a:r>
            <a:r>
              <a:rPr lang="en-US" dirty="0">
                <a:hlinkClick r:id="rId3"/>
              </a:rPr>
              <a:t>https://wsso-support.web.boeing.com:2016/redirect.html?URL=https://csdms.web.boeing.com/dmswsso/getdoc?number=1540-24-01186&amp;status=Released</a:t>
            </a:r>
          </a:p>
          <a:p>
            <a:endParaRPr lang="en-US" dirty="0"/>
          </a:p>
          <a:p>
            <a:endParaRPr lang="en-US" dirty="0"/>
          </a:p>
          <a:p>
            <a:r>
              <a:rPr lang="en-US" b="1" dirty="0"/>
              <a:t>Ways to share this with your network: </a:t>
            </a:r>
            <a:endParaRPr lang="en-US" dirty="0"/>
          </a:p>
          <a:p>
            <a:endParaRPr lang="en-US" dirty="0"/>
          </a:p>
          <a:p>
            <a:pPr marL="285750" indent="-285750">
              <a:buFont typeface="Arial,Sans-Serif"/>
              <a:buChar char="•"/>
            </a:pPr>
            <a:r>
              <a:rPr lang="en-US" b="1" dirty="0"/>
              <a:t>5 minutes: </a:t>
            </a:r>
            <a:r>
              <a:rPr lang="en-US" dirty="0"/>
              <a:t>Share this slide and/or the tip sheet with your network in a team meeting or standup as a slide (or handout.)  Talk about your key takeaway (s) from listening to the segment or reading about this story. </a:t>
            </a:r>
            <a:endParaRPr lang="en-US" dirty="0">
              <a:ea typeface="Calibri"/>
              <a:cs typeface="Calibri"/>
            </a:endParaRPr>
          </a:p>
          <a:p>
            <a:pPr marL="285750" indent="-285750">
              <a:buFont typeface="Arial,Sans-Serif"/>
              <a:buChar char="•"/>
            </a:pPr>
            <a:r>
              <a:rPr lang="en-US" b="1" dirty="0"/>
              <a:t>10-15 minutes</a:t>
            </a:r>
            <a:r>
              <a:rPr lang="en-US" dirty="0"/>
              <a:t>: Using the tip sheet and the Team Talks Guide – discuss with your teams one or more of the questions on the slide</a:t>
            </a:r>
          </a:p>
          <a:p>
            <a:pPr marL="285750" indent="-285750">
              <a:buFont typeface="Arial,Sans-Serif"/>
              <a:buChar char="•"/>
            </a:pPr>
            <a:r>
              <a:rPr lang="en-US" b="1" dirty="0"/>
              <a:t>Go Deeper</a:t>
            </a:r>
            <a:r>
              <a:rPr lang="en-US" dirty="0"/>
              <a:t>:  Review our past discussion guide  </a:t>
            </a:r>
            <a:r>
              <a:rPr lang="en-US" dirty="0">
                <a:hlinkClick r:id="rId4"/>
              </a:rPr>
              <a:t>“It's About the Little Things”</a:t>
            </a:r>
            <a:r>
              <a:rPr lang="en-US" dirty="0"/>
              <a:t> ; practice the seek, speak, &amp; listen habits and engage in deeper conversations </a:t>
            </a:r>
            <a:endParaRPr lang="en-US" dirty="0">
              <a:ea typeface="Calibri" panose="020F0502020204030204"/>
              <a:cs typeface="Calibri" panose="020F0502020204030204"/>
            </a:endParaRPr>
          </a:p>
          <a:p>
            <a:pPr marL="285750" indent="-285750">
              <a:buFont typeface="Arial,Sans-Serif"/>
              <a:buChar char="•"/>
            </a:pPr>
            <a:endParaRPr lang="en-US" dirty="0">
              <a:ea typeface="Calibri" panose="020F0502020204030204"/>
              <a:cs typeface="Calibri" panose="020F0502020204030204"/>
            </a:endParaRPr>
          </a:p>
          <a:p>
            <a:r>
              <a:rPr lang="en-US" dirty="0">
                <a:ea typeface="Calibri" panose="020F0502020204030204"/>
                <a:cs typeface="Calibri" panose="020F0502020204030204"/>
              </a:rPr>
              <a:t>Seek, Speak, &amp; Listen Website : </a:t>
            </a:r>
            <a:r>
              <a:rPr lang="en-US" dirty="0"/>
              <a:t>https://seekspeaklisten.bcs.boeing.com</a:t>
            </a: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r>
              <a:rPr lang="en-US" dirty="0"/>
              <a:t>3Q Team Talk Resources : </a:t>
            </a:r>
            <a:r>
              <a:rPr lang="en-US" dirty="0">
                <a:hlinkClick r:id="rId5"/>
              </a:rPr>
              <a:t>https://degreed.com/articles/q3-team-talk-resources?d=42421340&amp;inputtype=article&amp;orgsso=boeing&amp;inputType=Article</a:t>
            </a:r>
            <a:endParaRPr lang="en-US"/>
          </a:p>
          <a:p>
            <a:r>
              <a:rPr lang="en-US" dirty="0"/>
              <a:t> </a:t>
            </a:r>
            <a:endParaRPr lang="en-US" dirty="0">
              <a:ea typeface="Calibri"/>
              <a:cs typeface="Calibri"/>
            </a:endParaRPr>
          </a:p>
          <a:p>
            <a:r>
              <a:rPr lang="en-US" dirty="0"/>
              <a:t>Inclusive Habits Tip Sheet : </a:t>
            </a:r>
            <a:r>
              <a:rPr lang="en-US" dirty="0">
                <a:hlinkClick r:id="rId3"/>
              </a:rPr>
              <a:t>https://wsso-support.web.boeing.com:2016/redirect.html?URL=https://csdms.web.boeing.com/dmswsso/getdoc?number=1540-24-01186&amp;status=Released</a:t>
            </a:r>
            <a:endParaRPr lang="en-US"/>
          </a:p>
          <a:p>
            <a:r>
              <a:rPr lang="en-US" dirty="0"/>
              <a:t> </a:t>
            </a:r>
            <a:endParaRPr lang="en-US" dirty="0">
              <a:ea typeface="Calibri"/>
              <a:cs typeface="Calibri"/>
            </a:endParaRPr>
          </a:p>
          <a:p>
            <a:r>
              <a:rPr lang="en-US" dirty="0"/>
              <a:t>2024 Inclusion Ambassador Guides, Decks, Resources and Recordings : </a:t>
            </a:r>
            <a:r>
              <a:rPr lang="en-US" dirty="0">
                <a:hlinkClick r:id="rId6"/>
              </a:rPr>
              <a:t>https://degreed.com/pathway/49elkmnwp5?orgsso=boeing</a:t>
            </a:r>
            <a:endParaRPr lang="en-US" dirty="0"/>
          </a:p>
          <a:p>
            <a:endParaRPr lang="en-US" dirty="0"/>
          </a:p>
          <a:p>
            <a:endParaRPr lang="en-US" dirty="0"/>
          </a:p>
          <a:p>
            <a:endParaRPr lang="en-US" baseline="0" dirty="0">
              <a:ea typeface="Calibri"/>
              <a:cs typeface="Calibri"/>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b="1"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a:ea typeface="Calibri" panose="020F0502020204030204"/>
              <a:cs typeface="Calibri" panose="020F0502020204030204"/>
            </a:endParaRPr>
          </a:p>
          <a:p>
            <a:endParaRPr lang="en-US">
              <a:ea typeface="Calibri" panose="020F0502020204030204"/>
              <a:cs typeface="Calibri" panose="020F0502020204030204"/>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BB4384E-DFE0-4408-97B2-A92C6ED7338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08278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0493A-F037-4BF4-B758-3831EF15291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18E4BBC-8B41-456D-8DA5-648BDE2404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EF1DF56-65E0-40FF-8638-1ED79A4074F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AA38A85-0BC7-4310-B945-F896EC0D7C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249A31-32CA-41AD-BC0B-C9F5133457C1}"/>
              </a:ext>
            </a:extLst>
          </p:cNvPr>
          <p:cNvSpPr>
            <a:spLocks noGrp="1"/>
          </p:cNvSpPr>
          <p:nvPr>
            <p:ph type="sldNum" sz="quarter" idx="12"/>
          </p:nvPr>
        </p:nvSpPr>
        <p:spPr/>
        <p:txBody>
          <a:bodyPr/>
          <a:lstStyle/>
          <a:p>
            <a:fld id="{003EDADE-89CF-4A6C-8161-E3A44FA08975}" type="slidenum">
              <a:rPr lang="en-US" smtClean="0"/>
              <a:t>‹#›</a:t>
            </a:fld>
            <a:endParaRPr lang="en-US"/>
          </a:p>
        </p:txBody>
      </p:sp>
      <p:pic>
        <p:nvPicPr>
          <p:cNvPr id="7" name="Picture 6">
            <a:extLst>
              <a:ext uri="{FF2B5EF4-FFF2-40B4-BE49-F238E27FC236}">
                <a16:creationId xmlns:a16="http://schemas.microsoft.com/office/drawing/2014/main" id="{4D9675F7-7FDC-4137-916B-F0FA6B96ED8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070621" y="4624084"/>
            <a:ext cx="2800185" cy="2201672"/>
          </a:xfrm>
          <a:prstGeom prst="rect">
            <a:avLst/>
          </a:prstGeom>
        </p:spPr>
      </p:pic>
    </p:spTree>
    <p:extLst>
      <p:ext uri="{BB962C8B-B14F-4D97-AF65-F5344CB8AC3E}">
        <p14:creationId xmlns:p14="http://schemas.microsoft.com/office/powerpoint/2010/main" val="310758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204DA-B23C-4627-A227-AB8C9F1E08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8EA105-9C76-492F-BA12-EDFC29D146D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8BB068-9DF6-4C39-A55D-87B9081462E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F44219A-535B-4DB7-9569-800F9CC844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149AA7-96C2-4EC9-A0F6-F8BD6F9FDF47}"/>
              </a:ext>
            </a:extLst>
          </p:cNvPr>
          <p:cNvSpPr>
            <a:spLocks noGrp="1"/>
          </p:cNvSpPr>
          <p:nvPr>
            <p:ph type="sldNum" sz="quarter" idx="12"/>
          </p:nvPr>
        </p:nvSpPr>
        <p:spPr/>
        <p:txBody>
          <a:bodyPr/>
          <a:lstStyle/>
          <a:p>
            <a:fld id="{003EDADE-89CF-4A6C-8161-E3A44FA08975}" type="slidenum">
              <a:rPr lang="en-US" smtClean="0"/>
              <a:pPr/>
              <a:t>‹#›</a:t>
            </a:fld>
            <a:endParaRPr lang="en-US"/>
          </a:p>
        </p:txBody>
      </p:sp>
    </p:spTree>
    <p:extLst>
      <p:ext uri="{BB962C8B-B14F-4D97-AF65-F5344CB8AC3E}">
        <p14:creationId xmlns:p14="http://schemas.microsoft.com/office/powerpoint/2010/main" val="2676141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09E29-10C8-4AC8-A219-F0FAF3D293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61078C-EB01-4B4E-9DB2-B3C89056AE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279B024-198B-4DA6-A369-A291CA86E5D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ADDAFF8-E317-4191-8A24-875B2F5AED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580554-E69B-4668-9040-53931D6A6744}"/>
              </a:ext>
            </a:extLst>
          </p:cNvPr>
          <p:cNvSpPr>
            <a:spLocks noGrp="1"/>
          </p:cNvSpPr>
          <p:nvPr>
            <p:ph type="sldNum" sz="quarter" idx="12"/>
          </p:nvPr>
        </p:nvSpPr>
        <p:spPr/>
        <p:txBody>
          <a:bodyPr/>
          <a:lstStyle/>
          <a:p>
            <a:fld id="{003EDADE-89CF-4A6C-8161-E3A44FA08975}" type="slidenum">
              <a:rPr lang="en-US" smtClean="0"/>
              <a:t>‹#›</a:t>
            </a:fld>
            <a:endParaRPr lang="en-US"/>
          </a:p>
        </p:txBody>
      </p:sp>
    </p:spTree>
    <p:extLst>
      <p:ext uri="{BB962C8B-B14F-4D97-AF65-F5344CB8AC3E}">
        <p14:creationId xmlns:p14="http://schemas.microsoft.com/office/powerpoint/2010/main" val="3118879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D4763-46F0-4055-B50F-F59A6536F6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975896-8D24-451E-942F-C1D503915A7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7D8CF7-905B-4472-A900-4C1F080C4DC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BF194E2-0B77-4B72-9B05-600CADBF7C8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C4980CC7-F0EB-4C36-BB6F-E794AE96CD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5F12AD-5F91-4C12-B2EB-2C6E2E426698}"/>
              </a:ext>
            </a:extLst>
          </p:cNvPr>
          <p:cNvSpPr>
            <a:spLocks noGrp="1"/>
          </p:cNvSpPr>
          <p:nvPr>
            <p:ph type="sldNum" sz="quarter" idx="12"/>
          </p:nvPr>
        </p:nvSpPr>
        <p:spPr/>
        <p:txBody>
          <a:bodyPr/>
          <a:lstStyle/>
          <a:p>
            <a:fld id="{003EDADE-89CF-4A6C-8161-E3A44FA08975}" type="slidenum">
              <a:rPr lang="en-US" smtClean="0"/>
              <a:t>‹#›</a:t>
            </a:fld>
            <a:endParaRPr lang="en-US"/>
          </a:p>
        </p:txBody>
      </p:sp>
    </p:spTree>
    <p:extLst>
      <p:ext uri="{BB962C8B-B14F-4D97-AF65-F5344CB8AC3E}">
        <p14:creationId xmlns:p14="http://schemas.microsoft.com/office/powerpoint/2010/main" val="3811150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07088-ED0D-4CD2-9496-C6E0D46E9B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021F6D-D083-421E-8785-1F6704779F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F37AC23-B1A9-4C6B-A5C8-C7631AED8DC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A50B55-4329-44A2-B810-E448C94FB0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DA8D5A0-537C-4EC9-AA1C-680EDD9D733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3D051CE-CD03-4A6C-9227-F1B77DBE1325}"/>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342634AE-9D37-45A3-956F-F7060C83DB6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98B999D-A738-4DA5-9B13-ED867E82268A}"/>
              </a:ext>
            </a:extLst>
          </p:cNvPr>
          <p:cNvSpPr>
            <a:spLocks noGrp="1"/>
          </p:cNvSpPr>
          <p:nvPr>
            <p:ph type="sldNum" sz="quarter" idx="12"/>
          </p:nvPr>
        </p:nvSpPr>
        <p:spPr/>
        <p:txBody>
          <a:bodyPr/>
          <a:lstStyle/>
          <a:p>
            <a:fld id="{003EDADE-89CF-4A6C-8161-E3A44FA08975}" type="slidenum">
              <a:rPr lang="en-US" smtClean="0"/>
              <a:t>‹#›</a:t>
            </a:fld>
            <a:endParaRPr lang="en-US"/>
          </a:p>
        </p:txBody>
      </p:sp>
    </p:spTree>
    <p:extLst>
      <p:ext uri="{BB962C8B-B14F-4D97-AF65-F5344CB8AC3E}">
        <p14:creationId xmlns:p14="http://schemas.microsoft.com/office/powerpoint/2010/main" val="4046793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DDE9D-6CF5-4587-8848-60766498DF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1787DCD-6777-4377-AAAA-FAA908562E65}"/>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C767A4DD-4CD3-462A-8664-6EEB8EACE91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F518AAA-D169-4B94-9952-36132DF8D67D}"/>
              </a:ext>
            </a:extLst>
          </p:cNvPr>
          <p:cNvSpPr>
            <a:spLocks noGrp="1"/>
          </p:cNvSpPr>
          <p:nvPr>
            <p:ph type="sldNum" sz="quarter" idx="12"/>
          </p:nvPr>
        </p:nvSpPr>
        <p:spPr/>
        <p:txBody>
          <a:bodyPr/>
          <a:lstStyle/>
          <a:p>
            <a:fld id="{003EDADE-89CF-4A6C-8161-E3A44FA08975}" type="slidenum">
              <a:rPr lang="en-US" smtClean="0"/>
              <a:t>‹#›</a:t>
            </a:fld>
            <a:endParaRPr lang="en-US"/>
          </a:p>
        </p:txBody>
      </p:sp>
    </p:spTree>
    <p:extLst>
      <p:ext uri="{BB962C8B-B14F-4D97-AF65-F5344CB8AC3E}">
        <p14:creationId xmlns:p14="http://schemas.microsoft.com/office/powerpoint/2010/main" val="3393341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3FB56F-389A-4F0C-A266-E9171B6C3948}"/>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54E8370D-A8E6-4202-A2FF-850C5C8A12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15EB857-20C7-45CF-A91B-3510F0DBE529}"/>
              </a:ext>
            </a:extLst>
          </p:cNvPr>
          <p:cNvSpPr>
            <a:spLocks noGrp="1"/>
          </p:cNvSpPr>
          <p:nvPr>
            <p:ph type="sldNum" sz="quarter" idx="12"/>
          </p:nvPr>
        </p:nvSpPr>
        <p:spPr/>
        <p:txBody>
          <a:bodyPr/>
          <a:lstStyle/>
          <a:p>
            <a:fld id="{003EDADE-89CF-4A6C-8161-E3A44FA08975}" type="slidenum">
              <a:rPr lang="en-US" smtClean="0"/>
              <a:t>‹#›</a:t>
            </a:fld>
            <a:endParaRPr lang="en-US"/>
          </a:p>
        </p:txBody>
      </p:sp>
    </p:spTree>
    <p:extLst>
      <p:ext uri="{BB962C8B-B14F-4D97-AF65-F5344CB8AC3E}">
        <p14:creationId xmlns:p14="http://schemas.microsoft.com/office/powerpoint/2010/main" val="2544308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DFAFA-3701-4293-94F1-DEE45F0CD8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F4D44B6-E1DE-43F9-A79C-88A7944F37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FE0BA6-4D41-4E3C-8CD8-FBFA63311D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4CD3E5E-123C-4B88-84BF-E2908A76138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5B967BB3-A1E7-48E0-8289-592C164F7C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615CD2-F3E5-4785-9B76-FEC03485410F}"/>
              </a:ext>
            </a:extLst>
          </p:cNvPr>
          <p:cNvSpPr>
            <a:spLocks noGrp="1"/>
          </p:cNvSpPr>
          <p:nvPr>
            <p:ph type="sldNum" sz="quarter" idx="12"/>
          </p:nvPr>
        </p:nvSpPr>
        <p:spPr/>
        <p:txBody>
          <a:bodyPr/>
          <a:lstStyle/>
          <a:p>
            <a:fld id="{003EDADE-89CF-4A6C-8161-E3A44FA08975}" type="slidenum">
              <a:rPr lang="en-US" smtClean="0"/>
              <a:t>‹#›</a:t>
            </a:fld>
            <a:endParaRPr lang="en-US"/>
          </a:p>
        </p:txBody>
      </p:sp>
    </p:spTree>
    <p:extLst>
      <p:ext uri="{BB962C8B-B14F-4D97-AF65-F5344CB8AC3E}">
        <p14:creationId xmlns:p14="http://schemas.microsoft.com/office/powerpoint/2010/main" val="2324095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3B50C-A8FB-4260-BABA-C0E51F6C21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533C92-D7DC-4F97-AF6D-D8886C9287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A47BBBF-EAEA-4452-8DD9-AF8A306DC8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BD1EA93-6716-45A9-84E9-F4CDFDD9A6A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BEC9B5D-C42B-4BD3-AACC-B06D24AF11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CB60D9-FA9B-41A3-83CB-F88CD37D3CA7}"/>
              </a:ext>
            </a:extLst>
          </p:cNvPr>
          <p:cNvSpPr>
            <a:spLocks noGrp="1"/>
          </p:cNvSpPr>
          <p:nvPr>
            <p:ph type="sldNum" sz="quarter" idx="12"/>
          </p:nvPr>
        </p:nvSpPr>
        <p:spPr/>
        <p:txBody>
          <a:bodyPr/>
          <a:lstStyle/>
          <a:p>
            <a:fld id="{003EDADE-89CF-4A6C-8161-E3A44FA08975}" type="slidenum">
              <a:rPr lang="en-US" smtClean="0"/>
              <a:t>‹#›</a:t>
            </a:fld>
            <a:endParaRPr lang="en-US"/>
          </a:p>
        </p:txBody>
      </p:sp>
    </p:spTree>
    <p:extLst>
      <p:ext uri="{BB962C8B-B14F-4D97-AF65-F5344CB8AC3E}">
        <p14:creationId xmlns:p14="http://schemas.microsoft.com/office/powerpoint/2010/main" val="2885556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1D534-0BB8-4F2D-B03E-9D5E1E9DA8B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5885EBE-01A3-44ED-98EF-763C63DF418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F7975D-0B4A-4EF0-9173-AB747E3D1A1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F1507F1-B6AF-46C2-A3EE-6A77977585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DE746D-E795-4D1F-B67A-B355B2806565}"/>
              </a:ext>
            </a:extLst>
          </p:cNvPr>
          <p:cNvSpPr>
            <a:spLocks noGrp="1"/>
          </p:cNvSpPr>
          <p:nvPr>
            <p:ph type="sldNum" sz="quarter" idx="12"/>
          </p:nvPr>
        </p:nvSpPr>
        <p:spPr/>
        <p:txBody>
          <a:bodyPr/>
          <a:lstStyle/>
          <a:p>
            <a:fld id="{003EDADE-89CF-4A6C-8161-E3A44FA08975}" type="slidenum">
              <a:rPr lang="en-US" smtClean="0"/>
              <a:t>‹#›</a:t>
            </a:fld>
            <a:endParaRPr lang="en-US"/>
          </a:p>
        </p:txBody>
      </p:sp>
    </p:spTree>
    <p:extLst>
      <p:ext uri="{BB962C8B-B14F-4D97-AF65-F5344CB8AC3E}">
        <p14:creationId xmlns:p14="http://schemas.microsoft.com/office/powerpoint/2010/main" val="3244734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1DB86C-4845-47AC-B871-C832D4F074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4CFBEDB-C024-4B33-BDF5-CA399479038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6E7A81-D0F8-4F24-8BB8-1DBEC3C0CED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24AC281-0ABF-4BF1-A68D-896A1AC373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585847-FAD3-4F07-AD29-B74042A0E007}"/>
              </a:ext>
            </a:extLst>
          </p:cNvPr>
          <p:cNvSpPr>
            <a:spLocks noGrp="1"/>
          </p:cNvSpPr>
          <p:nvPr>
            <p:ph type="sldNum" sz="quarter" idx="12"/>
          </p:nvPr>
        </p:nvSpPr>
        <p:spPr/>
        <p:txBody>
          <a:bodyPr/>
          <a:lstStyle/>
          <a:p>
            <a:fld id="{003EDADE-89CF-4A6C-8161-E3A44FA08975}" type="slidenum">
              <a:rPr lang="en-US" smtClean="0"/>
              <a:t>‹#›</a:t>
            </a:fld>
            <a:endParaRPr lang="en-US"/>
          </a:p>
        </p:txBody>
      </p:sp>
    </p:spTree>
    <p:extLst>
      <p:ext uri="{BB962C8B-B14F-4D97-AF65-F5344CB8AC3E}">
        <p14:creationId xmlns:p14="http://schemas.microsoft.com/office/powerpoint/2010/main" val="458442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1E2BDDB-B020-4FCB-BB5C-CE3863665410}"/>
              </a:ext>
            </a:extLst>
          </p:cNvPr>
          <p:cNvSpPr/>
          <p:nvPr userDrawn="1"/>
        </p:nvSpPr>
        <p:spPr>
          <a:xfrm>
            <a:off x="0" y="0"/>
            <a:ext cx="12192000" cy="6858000"/>
          </a:xfrm>
          <a:prstGeom prst="rect">
            <a:avLst/>
          </a:prstGeom>
          <a:solidFill>
            <a:srgbClr val="0033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latin typeface="Arial" panose="020B0604020202020204" pitchFamily="34" charset="0"/>
              <a:cs typeface="Arial" panose="020B0604020202020204" pitchFamily="34" charset="0"/>
            </a:endParaRPr>
          </a:p>
        </p:txBody>
      </p:sp>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862793" y="2907323"/>
            <a:ext cx="4466414" cy="1043354"/>
          </a:xfrm>
          <a:prstGeom prst="rect">
            <a:avLst/>
          </a:prstGeom>
        </p:spPr>
      </p:pic>
      <p:sp>
        <p:nvSpPr>
          <p:cNvPr id="2" name="Rectangle 5">
            <a:extLst>
              <a:ext uri="{FF2B5EF4-FFF2-40B4-BE49-F238E27FC236}">
                <a16:creationId xmlns:a16="http://schemas.microsoft.com/office/drawing/2014/main" id="{A9B2A6F0-AB3F-1BD6-CBFD-31B117D3A297}"/>
              </a:ext>
            </a:extLst>
          </p:cNvPr>
          <p:cNvSpPr>
            <a:spLocks noChangeArrowheads="1"/>
          </p:cNvSpPr>
          <p:nvPr userDrawn="1"/>
        </p:nvSpPr>
        <p:spPr bwMode="auto">
          <a:xfrm>
            <a:off x="457200" y="6493880"/>
            <a:ext cx="2753783" cy="123111"/>
          </a:xfrm>
          <a:prstGeom prst="rect">
            <a:avLst/>
          </a:prstGeom>
          <a:noFill/>
          <a:ln w="12700">
            <a:noFill/>
            <a:miter lim="800000"/>
            <a:headEnd type="none" w="sm" len="sm"/>
            <a:tailEnd type="none" w="sm" len="sm"/>
          </a:ln>
          <a:effectLst/>
        </p:spPr>
        <p:txBody>
          <a:bodyPr lIns="0" tIns="0" rIns="0" bIns="0" anchor="ctr" anchorCtr="0">
            <a:spAutoFit/>
          </a:bodyPr>
          <a:lstStyle/>
          <a:p>
            <a:pPr defTabSz="820738" eaLnBrk="0" hangingPunct="0"/>
            <a:r>
              <a:rPr lang="en-US" sz="800">
                <a:solidFill>
                  <a:schemeClr val="bg1"/>
                </a:solidFill>
              </a:rPr>
              <a:t>Copyright © 2024 Boeing. All rights reserved.</a:t>
            </a:r>
          </a:p>
        </p:txBody>
      </p:sp>
    </p:spTree>
    <p:extLst>
      <p:ext uri="{BB962C8B-B14F-4D97-AF65-F5344CB8AC3E}">
        <p14:creationId xmlns:p14="http://schemas.microsoft.com/office/powerpoint/2010/main" val="35236763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opics / Agenda">
    <p:spTree>
      <p:nvGrpSpPr>
        <p:cNvPr id="1" name=""/>
        <p:cNvGrpSpPr/>
        <p:nvPr/>
      </p:nvGrpSpPr>
      <p:grpSpPr>
        <a:xfrm>
          <a:off x="0" y="0"/>
          <a:ext cx="0" cy="0"/>
          <a:chOff x="0" y="0"/>
          <a:chExt cx="0" cy="0"/>
        </a:xfrm>
      </p:grpSpPr>
      <p:sp>
        <p:nvSpPr>
          <p:cNvPr id="4106" name="Rectangle 10"/>
          <p:cNvSpPr>
            <a:spLocks noGrp="1" noChangeArrowheads="1"/>
          </p:cNvSpPr>
          <p:nvPr>
            <p:ph type="subTitle" idx="1" hasCustomPrompt="1"/>
          </p:nvPr>
        </p:nvSpPr>
        <p:spPr>
          <a:xfrm>
            <a:off x="403330" y="1119537"/>
            <a:ext cx="6834379" cy="249299"/>
          </a:xfrm>
        </p:spPr>
        <p:txBody>
          <a:bodyPr/>
          <a:lstStyle>
            <a:lvl1pPr marL="0" indent="0">
              <a:spcBef>
                <a:spcPct val="0"/>
              </a:spcBef>
              <a:buFont typeface="Wingdings" pitchFamily="2" charset="2"/>
              <a:buNone/>
              <a:defRPr sz="1800" b="0" cap="all" baseline="0">
                <a:solidFill>
                  <a:srgbClr val="5C0F8C"/>
                </a:solidFill>
              </a:defRPr>
            </a:lvl1pPr>
          </a:lstStyle>
          <a:p>
            <a:r>
              <a:rPr lang="en-US"/>
              <a:t>Click to add subtitle</a:t>
            </a:r>
          </a:p>
        </p:txBody>
      </p:sp>
      <p:sp>
        <p:nvSpPr>
          <p:cNvPr id="4107" name="Rectangle 11"/>
          <p:cNvSpPr>
            <a:spLocks noGrp="1" noChangeArrowheads="1"/>
          </p:cNvSpPr>
          <p:nvPr>
            <p:ph type="ftr" sz="quarter" idx="3"/>
          </p:nvPr>
        </p:nvSpPr>
        <p:spPr>
          <a:xfrm>
            <a:off x="3962401" y="6394450"/>
            <a:ext cx="4267200" cy="374650"/>
          </a:xfrm>
          <a:prstGeom prst="rect">
            <a:avLst/>
          </a:prstGeom>
        </p:spPr>
        <p:txBody>
          <a:bodyPr/>
          <a:lstStyle>
            <a:lvl1pPr>
              <a:defRPr>
                <a:solidFill>
                  <a:srgbClr val="A3AAAE"/>
                </a:solidFill>
              </a:defRPr>
            </a:lvl1pPr>
          </a:lstStyle>
          <a:p>
            <a:endParaRPr lang="en-US"/>
          </a:p>
        </p:txBody>
      </p:sp>
      <p:sp>
        <p:nvSpPr>
          <p:cNvPr id="65" name="Rectangle 30"/>
          <p:cNvSpPr>
            <a:spLocks noGrp="1" noChangeArrowheads="1"/>
          </p:cNvSpPr>
          <p:nvPr userDrawn="1">
            <p:ph type="ctrTitle" sz="quarter" hasCustomPrompt="1"/>
          </p:nvPr>
        </p:nvSpPr>
        <p:spPr>
          <a:xfrm>
            <a:off x="289001" y="425815"/>
            <a:ext cx="6948709" cy="674491"/>
          </a:xfrm>
          <a:prstGeom prst="rect">
            <a:avLst/>
          </a:prstGeom>
          <a:ln algn="ctr"/>
        </p:spPr>
        <p:txBody>
          <a:bodyPr lIns="91436" tIns="45719" rIns="91436" bIns="45719" anchor="b"/>
          <a:lstStyle>
            <a:lvl1pPr algn="l">
              <a:defRPr sz="4800" b="0" i="0">
                <a:solidFill>
                  <a:srgbClr val="009BDF"/>
                </a:solidFill>
                <a:latin typeface="Arial" panose="020B0604020202020204" pitchFamily="34" charset="0"/>
                <a:cs typeface="Arial" panose="020B0604020202020204" pitchFamily="34" charset="0"/>
              </a:defRPr>
            </a:lvl1pPr>
          </a:lstStyle>
          <a:p>
            <a:r>
              <a:rPr lang="en-US"/>
              <a:t>Click to edit title</a:t>
            </a:r>
          </a:p>
        </p:txBody>
      </p:sp>
      <p:sp>
        <p:nvSpPr>
          <p:cNvPr id="3" name="Text Placeholder 2">
            <a:extLst>
              <a:ext uri="{FF2B5EF4-FFF2-40B4-BE49-F238E27FC236}">
                <a16:creationId xmlns:a16="http://schemas.microsoft.com/office/drawing/2014/main" id="{93FD1B68-8B10-B145-8053-62EEFA036FFE}"/>
              </a:ext>
            </a:extLst>
          </p:cNvPr>
          <p:cNvSpPr>
            <a:spLocks noGrp="1"/>
          </p:cNvSpPr>
          <p:nvPr>
            <p:ph type="body" sz="quarter" idx="10" hasCustomPrompt="1"/>
          </p:nvPr>
        </p:nvSpPr>
        <p:spPr>
          <a:xfrm>
            <a:off x="1168529" y="2113055"/>
            <a:ext cx="8039653" cy="332399"/>
          </a:xfrm>
        </p:spPr>
        <p:txBody>
          <a:bodyPr anchor="ctr"/>
          <a:lstStyle>
            <a:lvl1pPr marL="0" indent="0" algn="l">
              <a:buNone/>
              <a:defRPr sz="2400">
                <a:solidFill>
                  <a:srgbClr val="5B6770"/>
                </a:solidFill>
              </a:defRPr>
            </a:lvl1pPr>
            <a:lvl2pPr marL="171450" indent="0">
              <a:buNone/>
              <a:defRPr/>
            </a:lvl2pPr>
            <a:lvl3pPr marL="441325" indent="0">
              <a:buNone/>
              <a:defRPr/>
            </a:lvl3pPr>
            <a:lvl4pPr marL="628650" indent="0">
              <a:buNone/>
              <a:defRPr/>
            </a:lvl4pPr>
            <a:lvl5pPr marL="793750" indent="0">
              <a:buNone/>
              <a:defRPr/>
            </a:lvl5pPr>
          </a:lstStyle>
          <a:p>
            <a:pPr lvl="0"/>
            <a:r>
              <a:rPr lang="en-US"/>
              <a:t>Click to add topic title</a:t>
            </a:r>
          </a:p>
        </p:txBody>
      </p:sp>
      <p:sp>
        <p:nvSpPr>
          <p:cNvPr id="14" name="Text Placeholder 2">
            <a:extLst>
              <a:ext uri="{FF2B5EF4-FFF2-40B4-BE49-F238E27FC236}">
                <a16:creationId xmlns:a16="http://schemas.microsoft.com/office/drawing/2014/main" id="{531BE999-1049-1B4B-83F0-5816A70B31FE}"/>
              </a:ext>
            </a:extLst>
          </p:cNvPr>
          <p:cNvSpPr>
            <a:spLocks noGrp="1"/>
          </p:cNvSpPr>
          <p:nvPr>
            <p:ph type="body" sz="quarter" idx="11" hasCustomPrompt="1"/>
          </p:nvPr>
        </p:nvSpPr>
        <p:spPr>
          <a:xfrm>
            <a:off x="1168529" y="2685822"/>
            <a:ext cx="8039653" cy="332399"/>
          </a:xfrm>
        </p:spPr>
        <p:txBody>
          <a:bodyPr anchor="ctr"/>
          <a:lstStyle>
            <a:lvl1pPr marL="0" indent="0" algn="l">
              <a:buNone/>
              <a:defRPr sz="2400">
                <a:solidFill>
                  <a:srgbClr val="5B6770"/>
                </a:solidFill>
              </a:defRPr>
            </a:lvl1pPr>
            <a:lvl2pPr marL="171450" indent="0">
              <a:buNone/>
              <a:defRPr/>
            </a:lvl2pPr>
            <a:lvl3pPr marL="441325" indent="0">
              <a:buNone/>
              <a:defRPr/>
            </a:lvl3pPr>
            <a:lvl4pPr marL="628650" indent="0">
              <a:buNone/>
              <a:defRPr/>
            </a:lvl4pPr>
            <a:lvl5pPr marL="793750" indent="0">
              <a:buNone/>
              <a:defRPr/>
            </a:lvl5pPr>
          </a:lstStyle>
          <a:p>
            <a:pPr lvl="0"/>
            <a:r>
              <a:rPr lang="en-US"/>
              <a:t>Click to add topic title</a:t>
            </a:r>
          </a:p>
        </p:txBody>
      </p:sp>
      <p:sp>
        <p:nvSpPr>
          <p:cNvPr id="13" name="Text Placeholder 2">
            <a:extLst>
              <a:ext uri="{FF2B5EF4-FFF2-40B4-BE49-F238E27FC236}">
                <a16:creationId xmlns:a16="http://schemas.microsoft.com/office/drawing/2014/main" id="{5EFAD1C9-14ED-7446-8F35-47F78AA51F95}"/>
              </a:ext>
            </a:extLst>
          </p:cNvPr>
          <p:cNvSpPr>
            <a:spLocks noGrp="1"/>
          </p:cNvSpPr>
          <p:nvPr>
            <p:ph type="body" sz="quarter" idx="12" hasCustomPrompt="1"/>
          </p:nvPr>
        </p:nvSpPr>
        <p:spPr>
          <a:xfrm>
            <a:off x="1168529" y="3258589"/>
            <a:ext cx="8039653" cy="332399"/>
          </a:xfrm>
        </p:spPr>
        <p:txBody>
          <a:bodyPr anchor="ctr"/>
          <a:lstStyle>
            <a:lvl1pPr marL="0" indent="0" algn="l">
              <a:buNone/>
              <a:defRPr sz="2400">
                <a:solidFill>
                  <a:srgbClr val="5B6770"/>
                </a:solidFill>
              </a:defRPr>
            </a:lvl1pPr>
            <a:lvl2pPr marL="171450" indent="0">
              <a:buNone/>
              <a:defRPr/>
            </a:lvl2pPr>
            <a:lvl3pPr marL="441325" indent="0">
              <a:buNone/>
              <a:defRPr/>
            </a:lvl3pPr>
            <a:lvl4pPr marL="628650" indent="0">
              <a:buNone/>
              <a:defRPr/>
            </a:lvl4pPr>
            <a:lvl5pPr marL="793750" indent="0">
              <a:buNone/>
              <a:defRPr/>
            </a:lvl5pPr>
          </a:lstStyle>
          <a:p>
            <a:pPr lvl="0"/>
            <a:r>
              <a:rPr lang="en-US"/>
              <a:t>Click to add topic title</a:t>
            </a:r>
          </a:p>
        </p:txBody>
      </p:sp>
      <p:sp>
        <p:nvSpPr>
          <p:cNvPr id="31" name="Rectangle 7">
            <a:extLst>
              <a:ext uri="{FF2B5EF4-FFF2-40B4-BE49-F238E27FC236}">
                <a16:creationId xmlns:a16="http://schemas.microsoft.com/office/drawing/2014/main" id="{CC209831-E1C1-214E-800D-1A24A6F4CE13}"/>
              </a:ext>
            </a:extLst>
          </p:cNvPr>
          <p:cNvSpPr>
            <a:spLocks noGrp="1" noChangeArrowheads="1"/>
          </p:cNvSpPr>
          <p:nvPr>
            <p:ph type="sldNum" sz="quarter" idx="4"/>
          </p:nvPr>
        </p:nvSpPr>
        <p:spPr bwMode="auto">
          <a:xfrm>
            <a:off x="9398240"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600">
                <a:solidFill>
                  <a:schemeClr val="bg1">
                    <a:lumMod val="50000"/>
                  </a:schemeClr>
                </a:solidFill>
              </a:defRPr>
            </a:lvl1pPr>
          </a:lstStyle>
          <a:p>
            <a:r>
              <a:rPr lang="en-US" sz="700"/>
              <a:t>Global Equity, Diversity &amp; Inclusion  </a:t>
            </a:r>
            <a:fld id="{689318A1-174D-4DEE-8106-03A37B9BCF15}" type="slidenum">
              <a:rPr lang="en-US" sz="900" smtClean="0">
                <a:solidFill>
                  <a:srgbClr val="009BDF"/>
                </a:solidFill>
              </a:rPr>
              <a:pPr/>
              <a:t>‹#›</a:t>
            </a:fld>
            <a:endParaRPr lang="en-US" sz="900">
              <a:solidFill>
                <a:srgbClr val="009BDF"/>
              </a:solidFill>
            </a:endParaRPr>
          </a:p>
        </p:txBody>
      </p:sp>
    </p:spTree>
    <p:extLst>
      <p:ext uri="{BB962C8B-B14F-4D97-AF65-F5344CB8AC3E}">
        <p14:creationId xmlns:p14="http://schemas.microsoft.com/office/powerpoint/2010/main" val="1020760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Inside_Page_HeaderBar_1Conten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48FFE6E1-85EB-9E42-824B-7CC9267ED8B9}" type="slidenum">
              <a:rPr lang="en-US" smtClean="0"/>
              <a:pPr/>
              <a:t>‹#›</a:t>
            </a:fld>
            <a:endParaRPr lang="en-US"/>
          </a:p>
        </p:txBody>
      </p:sp>
      <p:pic>
        <p:nvPicPr>
          <p:cNvPr id="4" name="Picture 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533400"/>
          </a:xfrm>
          <a:prstGeom prst="rect">
            <a:avLst/>
          </a:prstGeom>
        </p:spPr>
      </p:pic>
      <p:sp>
        <p:nvSpPr>
          <p:cNvPr id="7" name="Content Placeholder 2">
            <a:extLst>
              <a:ext uri="{FF2B5EF4-FFF2-40B4-BE49-F238E27FC236}">
                <a16:creationId xmlns:a16="http://schemas.microsoft.com/office/drawing/2014/main" id="{BA49E8DD-FF81-1940-903D-167F491627D1}"/>
              </a:ext>
            </a:extLst>
          </p:cNvPr>
          <p:cNvSpPr>
            <a:spLocks noGrp="1"/>
          </p:cNvSpPr>
          <p:nvPr>
            <p:ph idx="1" hasCustomPrompt="1"/>
          </p:nvPr>
        </p:nvSpPr>
        <p:spPr>
          <a:xfrm>
            <a:off x="457484" y="1432908"/>
            <a:ext cx="10980835" cy="1477328"/>
          </a:xfrm>
        </p:spPr>
        <p:txBody>
          <a:bodyPr/>
          <a:lstStyle>
            <a:lvl1pPr marL="169863" indent="-169863">
              <a:lnSpc>
                <a:spcPct val="100000"/>
              </a:lnSpc>
              <a:buFont typeface="Wingdings" pitchFamily="2" charset="2"/>
              <a:buChar char="§"/>
              <a:defRPr sz="1800">
                <a:solidFill>
                  <a:srgbClr val="5B6770"/>
                </a:solidFill>
              </a:defRPr>
            </a:lvl1pPr>
            <a:lvl2pPr marL="376238" indent="-204788">
              <a:lnSpc>
                <a:spcPct val="100000"/>
              </a:lnSpc>
              <a:buFont typeface="Wingdings" pitchFamily="2" charset="2"/>
              <a:buChar char="§"/>
              <a:defRPr sz="1600">
                <a:solidFill>
                  <a:srgbClr val="5B6770"/>
                </a:solidFill>
              </a:defRPr>
            </a:lvl2pPr>
            <a:lvl3pPr marL="627063" indent="-185738">
              <a:lnSpc>
                <a:spcPct val="100000"/>
              </a:lnSpc>
              <a:buFont typeface="Wingdings" pitchFamily="2" charset="2"/>
              <a:buChar char="§"/>
              <a:defRPr sz="1600">
                <a:solidFill>
                  <a:srgbClr val="5B6770"/>
                </a:solidFill>
              </a:defRPr>
            </a:lvl3pPr>
            <a:lvl4pPr marL="792163" indent="-163513">
              <a:lnSpc>
                <a:spcPct val="100000"/>
              </a:lnSpc>
              <a:buFont typeface="Wingdings" pitchFamily="2" charset="2"/>
              <a:buChar char="§"/>
              <a:defRPr sz="1400">
                <a:solidFill>
                  <a:srgbClr val="5B6770"/>
                </a:solidFill>
              </a:defRPr>
            </a:lvl4pPr>
            <a:lvl5pPr marL="957263" indent="-163513">
              <a:lnSpc>
                <a:spcPct val="100000"/>
              </a:lnSpc>
              <a:buFont typeface="Wingdings" pitchFamily="2" charset="2"/>
              <a:buChar char="§"/>
              <a:defRPr sz="1400">
                <a:solidFill>
                  <a:srgbClr val="5B6770"/>
                </a:solidFill>
              </a:defRPr>
            </a:lvl5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11" name="Text Placeholder 11">
            <a:extLst>
              <a:ext uri="{FF2B5EF4-FFF2-40B4-BE49-F238E27FC236}">
                <a16:creationId xmlns:a16="http://schemas.microsoft.com/office/drawing/2014/main" id="{8D37AAF8-24EE-0342-993F-8BF332F0E0E3}"/>
              </a:ext>
            </a:extLst>
          </p:cNvPr>
          <p:cNvSpPr>
            <a:spLocks noGrp="1"/>
          </p:cNvSpPr>
          <p:nvPr>
            <p:ph type="body" sz="quarter" idx="13"/>
          </p:nvPr>
        </p:nvSpPr>
        <p:spPr>
          <a:xfrm>
            <a:off x="466628" y="188083"/>
            <a:ext cx="7772400" cy="193899"/>
          </a:xfrm>
        </p:spPr>
        <p:txBody>
          <a:bodyPr anchor="ctr" anchorCtr="0"/>
          <a:lstStyle>
            <a:lvl1pPr marL="0" indent="0">
              <a:buNone/>
              <a:defRPr sz="1400">
                <a:solidFill>
                  <a:schemeClr val="bg1"/>
                </a:solidFill>
              </a:defRPr>
            </a:lvl1pPr>
          </a:lstStyle>
          <a:p>
            <a:pPr lvl="0"/>
            <a:r>
              <a:rPr lang="en-US"/>
              <a:t>Click to edit Master text styles</a:t>
            </a:r>
          </a:p>
        </p:txBody>
      </p:sp>
      <p:sp>
        <p:nvSpPr>
          <p:cNvPr id="10" name="Title 1">
            <a:extLst>
              <a:ext uri="{FF2B5EF4-FFF2-40B4-BE49-F238E27FC236}">
                <a16:creationId xmlns:a16="http://schemas.microsoft.com/office/drawing/2014/main" id="{101AB674-AA43-3C41-A5B8-C461D1785485}"/>
              </a:ext>
            </a:extLst>
          </p:cNvPr>
          <p:cNvSpPr>
            <a:spLocks noGrp="1"/>
          </p:cNvSpPr>
          <p:nvPr>
            <p:ph type="title"/>
          </p:nvPr>
        </p:nvSpPr>
        <p:spPr>
          <a:xfrm>
            <a:off x="466628" y="952500"/>
            <a:ext cx="10976889" cy="304699"/>
          </a:xfrm>
        </p:spPr>
        <p:txBody>
          <a:bodyPr/>
          <a:lstStyle>
            <a:lvl1pPr>
              <a:defRPr sz="2200">
                <a:solidFill>
                  <a:srgbClr val="5B6770"/>
                </a:solidFill>
              </a:defRPr>
            </a:lvl1pPr>
          </a:lstStyle>
          <a:p>
            <a:r>
              <a:rPr lang="en-US"/>
              <a:t>Click to edit Master title style</a:t>
            </a:r>
          </a:p>
        </p:txBody>
      </p:sp>
      <p:sp>
        <p:nvSpPr>
          <p:cNvPr id="12" name="Text Placeholder 3">
            <a:extLst>
              <a:ext uri="{FF2B5EF4-FFF2-40B4-BE49-F238E27FC236}">
                <a16:creationId xmlns:a16="http://schemas.microsoft.com/office/drawing/2014/main" id="{5CEB4F12-802E-D643-81B6-02F8AAD3A281}"/>
              </a:ext>
            </a:extLst>
          </p:cNvPr>
          <p:cNvSpPr>
            <a:spLocks noGrp="1"/>
          </p:cNvSpPr>
          <p:nvPr>
            <p:ph type="body" sz="quarter" idx="14" hasCustomPrompt="1"/>
          </p:nvPr>
        </p:nvSpPr>
        <p:spPr>
          <a:xfrm>
            <a:off x="5672137" y="188083"/>
            <a:ext cx="6024563" cy="215444"/>
          </a:xfrm>
        </p:spPr>
        <p:txBody>
          <a:bodyPr/>
          <a:lstStyle>
            <a:lvl1pPr marL="0" indent="0" algn="r">
              <a:buNone/>
              <a:defRPr sz="1400">
                <a:solidFill>
                  <a:schemeClr val="bg1"/>
                </a:solidFill>
              </a:defRPr>
            </a:lvl1pPr>
            <a:lvl2pPr marL="171450" indent="0" algn="r">
              <a:buNone/>
              <a:defRPr/>
            </a:lvl2pPr>
            <a:lvl3pPr marL="441325" indent="0" algn="r">
              <a:buNone/>
              <a:defRPr/>
            </a:lvl3pPr>
            <a:lvl4pPr marL="628650" indent="0" algn="r">
              <a:buNone/>
              <a:defRPr/>
            </a:lvl4pPr>
            <a:lvl5pPr marL="793750" indent="0" algn="r">
              <a:buNone/>
              <a:defRPr/>
            </a:lvl5pPr>
          </a:lstStyle>
          <a:p>
            <a:pPr lvl="0"/>
            <a:r>
              <a:rPr lang="en-US"/>
              <a:t>Human Resources</a:t>
            </a:r>
          </a:p>
        </p:txBody>
      </p:sp>
    </p:spTree>
    <p:extLst>
      <p:ext uri="{BB962C8B-B14F-4D97-AF65-F5344CB8AC3E}">
        <p14:creationId xmlns:p14="http://schemas.microsoft.com/office/powerpoint/2010/main" val="702709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1_Content - DARK -X">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F48F13F-C33F-DDD5-D437-93B87D6BFAE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1999" cy="6858000"/>
          </a:xfrm>
          <a:prstGeom prst="rect">
            <a:avLst/>
          </a:prstGeom>
        </p:spPr>
      </p:pic>
      <p:sp>
        <p:nvSpPr>
          <p:cNvPr id="6" name="Rectangle 5">
            <a:extLst>
              <a:ext uri="{FF2B5EF4-FFF2-40B4-BE49-F238E27FC236}">
                <a16:creationId xmlns:a16="http://schemas.microsoft.com/office/drawing/2014/main" id="{A0493CF2-5A59-61D2-00C4-7A0E99653501}"/>
              </a:ext>
            </a:extLst>
          </p:cNvPr>
          <p:cNvSpPr/>
          <p:nvPr userDrawn="1"/>
        </p:nvSpPr>
        <p:spPr>
          <a:xfrm flipV="1">
            <a:off x="0" y="0"/>
            <a:ext cx="12192000" cy="6858000"/>
          </a:xfrm>
          <a:prstGeom prst="rect">
            <a:avLst/>
          </a:prstGeom>
          <a:gradFill>
            <a:gsLst>
              <a:gs pos="95000">
                <a:schemeClr val="tx2">
                  <a:alpha val="35227"/>
                </a:schemeClr>
              </a:gs>
              <a:gs pos="51000">
                <a:srgbClr val="009BDF">
                  <a:alpha val="84000"/>
                </a:srgbClr>
              </a:gs>
              <a:gs pos="1000">
                <a:srgbClr val="008BAC">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solidFill>
                <a:srgbClr val="FFFFFF"/>
              </a:solidFill>
            </a:endParaRPr>
          </a:p>
        </p:txBody>
      </p:sp>
      <p:sp>
        <p:nvSpPr>
          <p:cNvPr id="20" name="Rectangle 5">
            <a:extLst>
              <a:ext uri="{FF2B5EF4-FFF2-40B4-BE49-F238E27FC236}">
                <a16:creationId xmlns:a16="http://schemas.microsoft.com/office/drawing/2014/main" id="{A295CF1D-462B-7F4B-B91A-B91EEFBCF534}"/>
              </a:ext>
            </a:extLst>
          </p:cNvPr>
          <p:cNvSpPr>
            <a:spLocks noChangeArrowheads="1"/>
          </p:cNvSpPr>
          <p:nvPr userDrawn="1"/>
        </p:nvSpPr>
        <p:spPr bwMode="auto">
          <a:xfrm>
            <a:off x="146096" y="6679827"/>
            <a:ext cx="2753783" cy="110798"/>
          </a:xfrm>
          <a:prstGeom prst="rect">
            <a:avLst/>
          </a:prstGeom>
          <a:noFill/>
          <a:ln w="12700">
            <a:noFill/>
            <a:miter lim="800000"/>
            <a:headEnd type="none" w="sm" len="sm"/>
            <a:tailEnd type="none" w="sm" len="sm"/>
          </a:ln>
          <a:effectLst/>
        </p:spPr>
        <p:txBody>
          <a:bodyPr lIns="9143" tIns="9143" rIns="9143" bIns="9143" anchor="b">
            <a:spAutoFit/>
          </a:bodyPr>
          <a:lstStyle/>
          <a:p>
            <a:pPr defTabSz="820573" eaLnBrk="0" fontAlgn="auto" hangingPunct="0">
              <a:spcBef>
                <a:spcPts val="0"/>
              </a:spcBef>
              <a:spcAft>
                <a:spcPts val="0"/>
              </a:spcAft>
            </a:pPr>
            <a:r>
              <a:rPr lang="en-US" sz="600">
                <a:solidFill>
                  <a:schemeClr val="bg1"/>
                </a:solidFill>
                <a:latin typeface="Arial"/>
              </a:rPr>
              <a:t>Copyright © 2024 Boeing. All rights reserved.</a:t>
            </a:r>
          </a:p>
        </p:txBody>
      </p:sp>
      <p:sp>
        <p:nvSpPr>
          <p:cNvPr id="2" name="Footer Placeholder 82">
            <a:extLst>
              <a:ext uri="{FF2B5EF4-FFF2-40B4-BE49-F238E27FC236}">
                <a16:creationId xmlns:a16="http://schemas.microsoft.com/office/drawing/2014/main" id="{A5641A32-BCE8-4F18-3B35-5CA3D2A7E308}"/>
              </a:ext>
            </a:extLst>
          </p:cNvPr>
          <p:cNvSpPr txBox="1">
            <a:spLocks/>
          </p:cNvSpPr>
          <p:nvPr userDrawn="1"/>
        </p:nvSpPr>
        <p:spPr bwMode="auto">
          <a:xfrm>
            <a:off x="3971405" y="6614755"/>
            <a:ext cx="4267200" cy="159454"/>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600">
                <a:solidFill>
                  <a:schemeClr val="bg1"/>
                </a:solidFill>
              </a:rPr>
              <a:t>BOEING PROPRIETARY</a:t>
            </a:r>
          </a:p>
        </p:txBody>
      </p:sp>
      <p:sp>
        <p:nvSpPr>
          <p:cNvPr id="3" name="Rectangle 2">
            <a:extLst>
              <a:ext uri="{FF2B5EF4-FFF2-40B4-BE49-F238E27FC236}">
                <a16:creationId xmlns:a16="http://schemas.microsoft.com/office/drawing/2014/main" id="{99ED4666-F3F6-8679-C263-DB359EE9F319}"/>
              </a:ext>
            </a:extLst>
          </p:cNvPr>
          <p:cNvSpPr/>
          <p:nvPr userDrawn="1"/>
        </p:nvSpPr>
        <p:spPr>
          <a:xfrm>
            <a:off x="0" y="798897"/>
            <a:ext cx="12192000" cy="5784783"/>
          </a:xfrm>
          <a:prstGeom prst="rect">
            <a:avLst/>
          </a:prstGeom>
          <a:solidFill>
            <a:schemeClr val="bg1">
              <a:alpha val="9433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E109D177-11B3-4F01-4A26-766DACC997AD}"/>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45994" y="250863"/>
            <a:ext cx="1762557" cy="402579"/>
          </a:xfrm>
          <a:prstGeom prst="rect">
            <a:avLst/>
          </a:prstGeom>
        </p:spPr>
      </p:pic>
      <p:sp>
        <p:nvSpPr>
          <p:cNvPr id="8" name="TextBox 7">
            <a:extLst>
              <a:ext uri="{FF2B5EF4-FFF2-40B4-BE49-F238E27FC236}">
                <a16:creationId xmlns:a16="http://schemas.microsoft.com/office/drawing/2014/main" id="{990484EC-A740-32D2-1CCF-9CC696D4B0F3}"/>
              </a:ext>
            </a:extLst>
          </p:cNvPr>
          <p:cNvSpPr txBox="1"/>
          <p:nvPr userDrawn="1"/>
        </p:nvSpPr>
        <p:spPr>
          <a:xfrm>
            <a:off x="11820082" y="6638483"/>
            <a:ext cx="371918" cy="169277"/>
          </a:xfrm>
          <a:prstGeom prst="rect">
            <a:avLst/>
          </a:prstGeom>
          <a:noFill/>
        </p:spPr>
        <p:txBody>
          <a:bodyPr wrap="square" rtlCol="0">
            <a:spAutoFit/>
          </a:bodyPr>
          <a:lstStyle/>
          <a:p>
            <a:pPr algn="r"/>
            <a:fld id="{FD0176F6-1CE2-264E-A03B-5F84913EA80F}" type="slidenum">
              <a:rPr lang="en-US" sz="500" smtClean="0">
                <a:solidFill>
                  <a:schemeClr val="bg1"/>
                </a:solidFill>
              </a:rPr>
              <a:pPr algn="r"/>
              <a:t>‹#›</a:t>
            </a:fld>
            <a:endParaRPr lang="en-US" sz="500">
              <a:solidFill>
                <a:schemeClr val="bg1"/>
              </a:solidFill>
            </a:endParaRPr>
          </a:p>
        </p:txBody>
      </p:sp>
      <p:sp>
        <p:nvSpPr>
          <p:cNvPr id="10" name="Text Placeholder 9">
            <a:extLst>
              <a:ext uri="{FF2B5EF4-FFF2-40B4-BE49-F238E27FC236}">
                <a16:creationId xmlns:a16="http://schemas.microsoft.com/office/drawing/2014/main" id="{CD367D14-4EC2-D0F0-E160-8D7DFDB45E53}"/>
              </a:ext>
            </a:extLst>
          </p:cNvPr>
          <p:cNvSpPr>
            <a:spLocks noGrp="1"/>
          </p:cNvSpPr>
          <p:nvPr>
            <p:ph type="body" sz="quarter" idx="10" hasCustomPrompt="1"/>
          </p:nvPr>
        </p:nvSpPr>
        <p:spPr>
          <a:xfrm>
            <a:off x="333953" y="1721991"/>
            <a:ext cx="11639307" cy="2000155"/>
          </a:xfrm>
          <a:prstGeom prst="rect">
            <a:avLst/>
          </a:prstGeom>
        </p:spPr>
        <p:txBody>
          <a:bodyPr/>
          <a:lstStyle>
            <a:lvl1pPr marL="169858" indent="-169858">
              <a:buFont typeface="Arial" panose="020B0604020202020204" pitchFamily="34" charset="0"/>
              <a:buChar char="•"/>
              <a:defRPr>
                <a:solidFill>
                  <a:schemeClr val="tx1"/>
                </a:solidFill>
              </a:defRPr>
            </a:lvl1pPr>
            <a:lvl2pPr marL="376229" indent="-204783">
              <a:buFont typeface="Arial" panose="020B0604020202020204" pitchFamily="34" charset="0"/>
              <a:buChar cha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slide content bullets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AAA95DFB-F018-A19B-A1C7-E97300F26D5D}"/>
              </a:ext>
            </a:extLst>
          </p:cNvPr>
          <p:cNvSpPr>
            <a:spLocks noGrp="1"/>
          </p:cNvSpPr>
          <p:nvPr>
            <p:ph type="body" sz="quarter" idx="11" hasCustomPrompt="1"/>
          </p:nvPr>
        </p:nvSpPr>
        <p:spPr>
          <a:xfrm>
            <a:off x="322822" y="1140182"/>
            <a:ext cx="11639681" cy="473466"/>
          </a:xfrm>
          <a:prstGeom prst="rect">
            <a:avLst/>
          </a:prstGeom>
        </p:spPr>
        <p:txBody>
          <a:bodyPr/>
          <a:lstStyle>
            <a:lvl1pPr marL="0" indent="0">
              <a:buFont typeface="Arial" panose="020B0604020202020204" pitchFamily="34" charset="0"/>
              <a:buNone/>
              <a:defRPr sz="2400" b="1">
                <a:solidFill>
                  <a:schemeClr val="tx2"/>
                </a:solidFill>
              </a:defRPr>
            </a:lvl1pPr>
          </a:lstStyle>
          <a:p>
            <a:pPr lvl="0"/>
            <a:r>
              <a:rPr lang="en-US"/>
              <a:t>Click to edit (slide header)</a:t>
            </a:r>
          </a:p>
        </p:txBody>
      </p:sp>
    </p:spTree>
    <p:extLst>
      <p:ext uri="{BB962C8B-B14F-4D97-AF65-F5344CB8AC3E}">
        <p14:creationId xmlns:p14="http://schemas.microsoft.com/office/powerpoint/2010/main" val="3880577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Qua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F48F13F-C33F-DDD5-D437-93B87D6BFAE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1999" cy="6858000"/>
          </a:xfrm>
          <a:prstGeom prst="rect">
            <a:avLst/>
          </a:prstGeom>
        </p:spPr>
      </p:pic>
      <p:sp>
        <p:nvSpPr>
          <p:cNvPr id="6" name="Rectangle 5">
            <a:extLst>
              <a:ext uri="{FF2B5EF4-FFF2-40B4-BE49-F238E27FC236}">
                <a16:creationId xmlns:a16="http://schemas.microsoft.com/office/drawing/2014/main" id="{A0493CF2-5A59-61D2-00C4-7A0E99653501}"/>
              </a:ext>
            </a:extLst>
          </p:cNvPr>
          <p:cNvSpPr/>
          <p:nvPr userDrawn="1"/>
        </p:nvSpPr>
        <p:spPr>
          <a:xfrm flipV="1">
            <a:off x="0" y="8795"/>
            <a:ext cx="12192000" cy="6858000"/>
          </a:xfrm>
          <a:prstGeom prst="rect">
            <a:avLst/>
          </a:prstGeom>
          <a:gradFill>
            <a:gsLst>
              <a:gs pos="95000">
                <a:schemeClr val="tx2">
                  <a:alpha val="35227"/>
                </a:schemeClr>
              </a:gs>
              <a:gs pos="51000">
                <a:srgbClr val="009BDF">
                  <a:alpha val="84000"/>
                </a:srgbClr>
              </a:gs>
              <a:gs pos="1000">
                <a:srgbClr val="008BAC">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solidFill>
                <a:srgbClr val="FFFFFF"/>
              </a:solidFill>
            </a:endParaRPr>
          </a:p>
        </p:txBody>
      </p:sp>
      <p:sp>
        <p:nvSpPr>
          <p:cNvPr id="20" name="Rectangle 5">
            <a:extLst>
              <a:ext uri="{FF2B5EF4-FFF2-40B4-BE49-F238E27FC236}">
                <a16:creationId xmlns:a16="http://schemas.microsoft.com/office/drawing/2014/main" id="{A295CF1D-462B-7F4B-B91A-B91EEFBCF534}"/>
              </a:ext>
            </a:extLst>
          </p:cNvPr>
          <p:cNvSpPr>
            <a:spLocks noChangeArrowheads="1"/>
          </p:cNvSpPr>
          <p:nvPr userDrawn="1"/>
        </p:nvSpPr>
        <p:spPr bwMode="auto">
          <a:xfrm>
            <a:off x="146096" y="6679827"/>
            <a:ext cx="2753783" cy="110798"/>
          </a:xfrm>
          <a:prstGeom prst="rect">
            <a:avLst/>
          </a:prstGeom>
          <a:noFill/>
          <a:ln w="12700">
            <a:noFill/>
            <a:miter lim="800000"/>
            <a:headEnd type="none" w="sm" len="sm"/>
            <a:tailEnd type="none" w="sm" len="sm"/>
          </a:ln>
          <a:effectLst/>
        </p:spPr>
        <p:txBody>
          <a:bodyPr lIns="9143" tIns="9143" rIns="9143" bIns="9143" anchor="b">
            <a:spAutoFit/>
          </a:bodyPr>
          <a:lstStyle/>
          <a:p>
            <a:pPr defTabSz="820573" eaLnBrk="0" fontAlgn="auto" hangingPunct="0">
              <a:spcBef>
                <a:spcPts val="0"/>
              </a:spcBef>
              <a:spcAft>
                <a:spcPts val="0"/>
              </a:spcAft>
            </a:pPr>
            <a:r>
              <a:rPr lang="en-US" sz="600">
                <a:solidFill>
                  <a:schemeClr val="bg1"/>
                </a:solidFill>
                <a:latin typeface="Arial"/>
              </a:rPr>
              <a:t>Copyright © 2024 Boeing. All rights reserved.</a:t>
            </a:r>
          </a:p>
        </p:txBody>
      </p:sp>
      <p:sp>
        <p:nvSpPr>
          <p:cNvPr id="25" name="TextBox 24">
            <a:extLst>
              <a:ext uri="{FF2B5EF4-FFF2-40B4-BE49-F238E27FC236}">
                <a16:creationId xmlns:a16="http://schemas.microsoft.com/office/drawing/2014/main" id="{09FBB57E-6014-A175-3DA2-C485A8DDAC4B}"/>
              </a:ext>
            </a:extLst>
          </p:cNvPr>
          <p:cNvSpPr txBox="1"/>
          <p:nvPr userDrawn="1"/>
        </p:nvSpPr>
        <p:spPr>
          <a:xfrm>
            <a:off x="8778802" y="6592529"/>
            <a:ext cx="3080084" cy="246221"/>
          </a:xfrm>
          <a:prstGeom prst="rect">
            <a:avLst/>
          </a:prstGeom>
          <a:noFill/>
        </p:spPr>
        <p:txBody>
          <a:bodyPr wrap="square" rtlCol="0">
            <a:spAutoFit/>
          </a:bodyPr>
          <a:lstStyle/>
          <a:p>
            <a:pPr algn="r"/>
            <a:r>
              <a:rPr lang="en-US" sz="1000">
                <a:solidFill>
                  <a:schemeClr val="bg1"/>
                </a:solidFill>
                <a:latin typeface="Arial" panose="020B0604020202020204" pitchFamily="34" charset="0"/>
                <a:cs typeface="Arial" panose="020B0604020202020204" pitchFamily="34" charset="0"/>
              </a:rPr>
              <a:t>Human</a:t>
            </a:r>
            <a:r>
              <a:rPr lang="en-US" sz="1000">
                <a:solidFill>
                  <a:schemeClr val="bg1"/>
                </a:solidFill>
              </a:rPr>
              <a:t> Resources</a:t>
            </a:r>
            <a:endParaRPr lang="en-US" sz="1000" b="1">
              <a:solidFill>
                <a:schemeClr val="bg1"/>
              </a:solidFill>
            </a:endParaRPr>
          </a:p>
        </p:txBody>
      </p:sp>
      <p:sp>
        <p:nvSpPr>
          <p:cNvPr id="2" name="Footer Placeholder 82">
            <a:extLst>
              <a:ext uri="{FF2B5EF4-FFF2-40B4-BE49-F238E27FC236}">
                <a16:creationId xmlns:a16="http://schemas.microsoft.com/office/drawing/2014/main" id="{A5641A32-BCE8-4F18-3B35-5CA3D2A7E308}"/>
              </a:ext>
            </a:extLst>
          </p:cNvPr>
          <p:cNvSpPr txBox="1">
            <a:spLocks/>
          </p:cNvSpPr>
          <p:nvPr userDrawn="1"/>
        </p:nvSpPr>
        <p:spPr bwMode="auto">
          <a:xfrm>
            <a:off x="3971405" y="6614755"/>
            <a:ext cx="4267200" cy="159454"/>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600">
                <a:solidFill>
                  <a:schemeClr val="bg1"/>
                </a:solidFill>
              </a:rPr>
              <a:t>BOEING PROPRIETARY</a:t>
            </a:r>
          </a:p>
        </p:txBody>
      </p:sp>
      <p:sp>
        <p:nvSpPr>
          <p:cNvPr id="3" name="Rectangle 2">
            <a:extLst>
              <a:ext uri="{FF2B5EF4-FFF2-40B4-BE49-F238E27FC236}">
                <a16:creationId xmlns:a16="http://schemas.microsoft.com/office/drawing/2014/main" id="{99ED4666-F3F6-8679-C263-DB359EE9F319}"/>
              </a:ext>
            </a:extLst>
          </p:cNvPr>
          <p:cNvSpPr/>
          <p:nvPr userDrawn="1"/>
        </p:nvSpPr>
        <p:spPr>
          <a:xfrm>
            <a:off x="0" y="791994"/>
            <a:ext cx="12192000" cy="5784783"/>
          </a:xfrm>
          <a:prstGeom prst="rect">
            <a:avLst/>
          </a:prstGeom>
          <a:solidFill>
            <a:schemeClr val="bg1">
              <a:alpha val="9433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E109D177-11B3-4F01-4A26-766DACC997AD}"/>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45994" y="250863"/>
            <a:ext cx="1762557" cy="402579"/>
          </a:xfrm>
          <a:prstGeom prst="rect">
            <a:avLst/>
          </a:prstGeom>
        </p:spPr>
      </p:pic>
      <p:sp>
        <p:nvSpPr>
          <p:cNvPr id="7" name="Title 6">
            <a:extLst>
              <a:ext uri="{FF2B5EF4-FFF2-40B4-BE49-F238E27FC236}">
                <a16:creationId xmlns:a16="http://schemas.microsoft.com/office/drawing/2014/main" id="{366467D9-E0E3-F0E2-7638-192E5046E3E5}"/>
              </a:ext>
            </a:extLst>
          </p:cNvPr>
          <p:cNvSpPr>
            <a:spLocks noGrp="1"/>
          </p:cNvSpPr>
          <p:nvPr>
            <p:ph type="title" hasCustomPrompt="1"/>
          </p:nvPr>
        </p:nvSpPr>
        <p:spPr>
          <a:xfrm>
            <a:off x="3835216" y="260577"/>
            <a:ext cx="8156691" cy="332187"/>
          </a:xfrm>
          <a:prstGeom prst="rect">
            <a:avLst/>
          </a:prstGeom>
        </p:spPr>
        <p:txBody>
          <a:bodyPr>
            <a:noAutofit/>
          </a:bodyPr>
          <a:lstStyle>
            <a:lvl1pPr algn="r">
              <a:defRPr sz="2400" b="1">
                <a:solidFill>
                  <a:schemeClr val="bg1"/>
                </a:solidFill>
              </a:defRPr>
            </a:lvl1pPr>
          </a:lstStyle>
          <a:p>
            <a:r>
              <a:rPr lang="en-US"/>
              <a:t>Click to edit slide title</a:t>
            </a:r>
          </a:p>
        </p:txBody>
      </p:sp>
      <p:sp>
        <p:nvSpPr>
          <p:cNvPr id="8" name="TextBox 7">
            <a:extLst>
              <a:ext uri="{FF2B5EF4-FFF2-40B4-BE49-F238E27FC236}">
                <a16:creationId xmlns:a16="http://schemas.microsoft.com/office/drawing/2014/main" id="{990484EC-A740-32D2-1CCF-9CC696D4B0F3}"/>
              </a:ext>
            </a:extLst>
          </p:cNvPr>
          <p:cNvSpPr txBox="1"/>
          <p:nvPr userDrawn="1"/>
        </p:nvSpPr>
        <p:spPr>
          <a:xfrm>
            <a:off x="11820082" y="6638483"/>
            <a:ext cx="371918" cy="169277"/>
          </a:xfrm>
          <a:prstGeom prst="rect">
            <a:avLst/>
          </a:prstGeom>
          <a:noFill/>
        </p:spPr>
        <p:txBody>
          <a:bodyPr wrap="square" rtlCol="0">
            <a:spAutoFit/>
          </a:bodyPr>
          <a:lstStyle/>
          <a:p>
            <a:pPr algn="r"/>
            <a:fld id="{FD0176F6-1CE2-264E-A03B-5F84913EA80F}" type="slidenum">
              <a:rPr lang="en-US" sz="500" smtClean="0">
                <a:solidFill>
                  <a:schemeClr val="bg1"/>
                </a:solidFill>
                <a:latin typeface="Arial" panose="020B0604020202020204" pitchFamily="34" charset="0"/>
                <a:cs typeface="Arial" panose="020B0604020202020204" pitchFamily="34" charset="0"/>
              </a:rPr>
              <a:pPr algn="r"/>
              <a:t>‹#›</a:t>
            </a:fld>
            <a:endParaRPr lang="en-US" sz="500">
              <a:solidFill>
                <a:schemeClr val="bg1"/>
              </a:solidFill>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CD367D14-4EC2-D0F0-E160-8D7DFDB45E53}"/>
              </a:ext>
            </a:extLst>
          </p:cNvPr>
          <p:cNvSpPr>
            <a:spLocks noGrp="1"/>
          </p:cNvSpPr>
          <p:nvPr>
            <p:ph type="body" sz="quarter" idx="10" hasCustomPrompt="1"/>
          </p:nvPr>
        </p:nvSpPr>
        <p:spPr>
          <a:xfrm>
            <a:off x="307774" y="1185664"/>
            <a:ext cx="5451385" cy="2468880"/>
          </a:xfrm>
          <a:prstGeom prst="rect">
            <a:avLst/>
          </a:prstGeom>
        </p:spPr>
        <p:txBody>
          <a:bodyPr/>
          <a:lstStyle>
            <a:lvl1pPr marL="169858" indent="-169858">
              <a:buFont typeface="Arial" panose="020B0604020202020204" pitchFamily="34" charset="0"/>
              <a:buChar char="•"/>
              <a:defRPr>
                <a:solidFill>
                  <a:schemeClr val="tx1"/>
                </a:solidFill>
              </a:defRPr>
            </a:lvl1pPr>
            <a:lvl2pPr marL="376229" indent="-204783">
              <a:buFont typeface="Arial" panose="020B0604020202020204" pitchFamily="34" charset="0"/>
              <a:buChar cha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slide content bullets</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a:extLst>
              <a:ext uri="{FF2B5EF4-FFF2-40B4-BE49-F238E27FC236}">
                <a16:creationId xmlns:a16="http://schemas.microsoft.com/office/drawing/2014/main" id="{F812AC39-EC1A-7ADF-DB06-285D62BA6C30}"/>
              </a:ext>
            </a:extLst>
          </p:cNvPr>
          <p:cNvCxnSpPr>
            <a:endCxn id="3" idx="2"/>
          </p:cNvCxnSpPr>
          <p:nvPr userDrawn="1"/>
        </p:nvCxnSpPr>
        <p:spPr>
          <a:xfrm flipH="1">
            <a:off x="6096000" y="783145"/>
            <a:ext cx="23290" cy="57936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400F9B4-EE36-5711-08D3-3A0E30665E19}"/>
              </a:ext>
            </a:extLst>
          </p:cNvPr>
          <p:cNvCxnSpPr>
            <a:stCxn id="3" idx="1"/>
            <a:endCxn id="3" idx="3"/>
          </p:cNvCxnSpPr>
          <p:nvPr userDrawn="1"/>
        </p:nvCxnSpPr>
        <p:spPr>
          <a:xfrm>
            <a:off x="0" y="3684386"/>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 Placeholder 2">
            <a:extLst>
              <a:ext uri="{FF2B5EF4-FFF2-40B4-BE49-F238E27FC236}">
                <a16:creationId xmlns:a16="http://schemas.microsoft.com/office/drawing/2014/main" id="{7CFC76EC-E04D-8AAB-2095-9955C7B4E35B}"/>
              </a:ext>
            </a:extLst>
          </p:cNvPr>
          <p:cNvSpPr>
            <a:spLocks noGrp="1"/>
          </p:cNvSpPr>
          <p:nvPr>
            <p:ph type="body" idx="1" hasCustomPrompt="1"/>
          </p:nvPr>
        </p:nvSpPr>
        <p:spPr>
          <a:xfrm>
            <a:off x="454573" y="794012"/>
            <a:ext cx="5157787" cy="457200"/>
          </a:xfrm>
        </p:spPr>
        <p:txBody>
          <a:bodyPr anchor="t" anchorCtr="1"/>
          <a:lstStyle>
            <a:lvl1pPr marL="0" indent="0">
              <a:buNone/>
              <a:defRPr sz="2400" b="1" u="sng"/>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Text Placeholder 9">
            <a:extLst>
              <a:ext uri="{FF2B5EF4-FFF2-40B4-BE49-F238E27FC236}">
                <a16:creationId xmlns:a16="http://schemas.microsoft.com/office/drawing/2014/main" id="{6E394E7E-6978-1BDD-E78A-5B96DE8D0344}"/>
              </a:ext>
            </a:extLst>
          </p:cNvPr>
          <p:cNvSpPr>
            <a:spLocks noGrp="1"/>
          </p:cNvSpPr>
          <p:nvPr>
            <p:ph type="body" sz="quarter" idx="11" hasCustomPrompt="1"/>
          </p:nvPr>
        </p:nvSpPr>
        <p:spPr>
          <a:xfrm>
            <a:off x="6380483" y="1177528"/>
            <a:ext cx="5451385" cy="2468880"/>
          </a:xfrm>
          <a:prstGeom prst="rect">
            <a:avLst/>
          </a:prstGeom>
        </p:spPr>
        <p:txBody>
          <a:bodyPr/>
          <a:lstStyle>
            <a:lvl1pPr marL="169858" indent="-169858">
              <a:buFont typeface="Arial" panose="020B0604020202020204" pitchFamily="34" charset="0"/>
              <a:buChar char="•"/>
              <a:defRPr>
                <a:solidFill>
                  <a:schemeClr val="tx1"/>
                </a:solidFill>
              </a:defRPr>
            </a:lvl1pPr>
            <a:lvl2pPr marL="376229" indent="-204783">
              <a:buFont typeface="Arial" panose="020B0604020202020204" pitchFamily="34" charset="0"/>
              <a:buChar cha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slide content bullets</a:t>
            </a:r>
          </a:p>
          <a:p>
            <a:pPr lvl="1"/>
            <a:r>
              <a:rPr lang="en-US"/>
              <a:t>Second level</a:t>
            </a:r>
          </a:p>
          <a:p>
            <a:pPr lvl="2"/>
            <a:r>
              <a:rPr lang="en-US"/>
              <a:t>Third level</a:t>
            </a:r>
          </a:p>
          <a:p>
            <a:pPr lvl="3"/>
            <a:r>
              <a:rPr lang="en-US"/>
              <a:t>Fourth level</a:t>
            </a:r>
          </a:p>
          <a:p>
            <a:pPr lvl="4"/>
            <a:r>
              <a:rPr lang="en-US"/>
              <a:t>Fifth level</a:t>
            </a:r>
          </a:p>
        </p:txBody>
      </p:sp>
      <p:sp>
        <p:nvSpPr>
          <p:cNvPr id="24" name="Text Placeholder 2">
            <a:extLst>
              <a:ext uri="{FF2B5EF4-FFF2-40B4-BE49-F238E27FC236}">
                <a16:creationId xmlns:a16="http://schemas.microsoft.com/office/drawing/2014/main" id="{1BF65113-BCA3-0330-7AC8-19CBC7A21568}"/>
              </a:ext>
            </a:extLst>
          </p:cNvPr>
          <p:cNvSpPr>
            <a:spLocks noGrp="1"/>
          </p:cNvSpPr>
          <p:nvPr>
            <p:ph type="body" idx="12" hasCustomPrompt="1"/>
          </p:nvPr>
        </p:nvSpPr>
        <p:spPr>
          <a:xfrm>
            <a:off x="6527282" y="785876"/>
            <a:ext cx="5157787" cy="457200"/>
          </a:xfrm>
        </p:spPr>
        <p:txBody>
          <a:bodyPr anchor="t" anchorCtr="1"/>
          <a:lstStyle>
            <a:lvl1pPr marL="0" indent="0">
              <a:buNone/>
              <a:defRPr sz="2400" b="1" u="sng"/>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Text Placeholder 9">
            <a:extLst>
              <a:ext uri="{FF2B5EF4-FFF2-40B4-BE49-F238E27FC236}">
                <a16:creationId xmlns:a16="http://schemas.microsoft.com/office/drawing/2014/main" id="{20102F9F-1B30-4AAE-72EB-B39A8671CE89}"/>
              </a:ext>
            </a:extLst>
          </p:cNvPr>
          <p:cNvSpPr>
            <a:spLocks noGrp="1"/>
          </p:cNvSpPr>
          <p:nvPr>
            <p:ph type="body" sz="quarter" idx="13" hasCustomPrompt="1"/>
          </p:nvPr>
        </p:nvSpPr>
        <p:spPr>
          <a:xfrm>
            <a:off x="307774" y="4117969"/>
            <a:ext cx="5451385" cy="2468880"/>
          </a:xfrm>
          <a:prstGeom prst="rect">
            <a:avLst/>
          </a:prstGeom>
        </p:spPr>
        <p:txBody>
          <a:bodyPr/>
          <a:lstStyle>
            <a:lvl1pPr marL="169858" indent="-169858">
              <a:buFont typeface="Arial" panose="020B0604020202020204" pitchFamily="34" charset="0"/>
              <a:buChar char="•"/>
              <a:defRPr>
                <a:solidFill>
                  <a:schemeClr val="tx1"/>
                </a:solidFill>
              </a:defRPr>
            </a:lvl1pPr>
            <a:lvl2pPr marL="376229" indent="-204783">
              <a:buFont typeface="Arial" panose="020B0604020202020204" pitchFamily="34" charset="0"/>
              <a:buChar cha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slide content bullets</a:t>
            </a:r>
          </a:p>
          <a:p>
            <a:pPr lvl="1"/>
            <a:r>
              <a:rPr lang="en-US"/>
              <a:t>Second level</a:t>
            </a:r>
          </a:p>
          <a:p>
            <a:pPr lvl="2"/>
            <a:r>
              <a:rPr lang="en-US"/>
              <a:t>Third level</a:t>
            </a:r>
          </a:p>
          <a:p>
            <a:pPr lvl="3"/>
            <a:r>
              <a:rPr lang="en-US"/>
              <a:t>Fourth level</a:t>
            </a:r>
          </a:p>
          <a:p>
            <a:pPr lvl="4"/>
            <a:r>
              <a:rPr lang="en-US"/>
              <a:t>Fifth level</a:t>
            </a:r>
          </a:p>
        </p:txBody>
      </p:sp>
      <p:sp>
        <p:nvSpPr>
          <p:cNvPr id="27" name="Text Placeholder 2">
            <a:extLst>
              <a:ext uri="{FF2B5EF4-FFF2-40B4-BE49-F238E27FC236}">
                <a16:creationId xmlns:a16="http://schemas.microsoft.com/office/drawing/2014/main" id="{3A0648D9-272D-009F-C6A5-68A513366101}"/>
              </a:ext>
            </a:extLst>
          </p:cNvPr>
          <p:cNvSpPr>
            <a:spLocks noGrp="1"/>
          </p:cNvSpPr>
          <p:nvPr>
            <p:ph type="body" idx="14" hasCustomPrompt="1"/>
          </p:nvPr>
        </p:nvSpPr>
        <p:spPr>
          <a:xfrm>
            <a:off x="454573" y="3726317"/>
            <a:ext cx="5157787" cy="457200"/>
          </a:xfrm>
        </p:spPr>
        <p:txBody>
          <a:bodyPr anchor="t" anchorCtr="1"/>
          <a:lstStyle>
            <a:lvl1pPr marL="0" indent="0">
              <a:buNone/>
              <a:defRPr sz="2400" b="1" u="sng"/>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8" name="Text Placeholder 9">
            <a:extLst>
              <a:ext uri="{FF2B5EF4-FFF2-40B4-BE49-F238E27FC236}">
                <a16:creationId xmlns:a16="http://schemas.microsoft.com/office/drawing/2014/main" id="{B87FC2E2-D4FA-3CFE-E28B-A59EC1E394FF}"/>
              </a:ext>
            </a:extLst>
          </p:cNvPr>
          <p:cNvSpPr>
            <a:spLocks noGrp="1"/>
          </p:cNvSpPr>
          <p:nvPr>
            <p:ph type="body" sz="quarter" idx="15" hasCustomPrompt="1"/>
          </p:nvPr>
        </p:nvSpPr>
        <p:spPr>
          <a:xfrm>
            <a:off x="6380483" y="4109833"/>
            <a:ext cx="5451385" cy="2468880"/>
          </a:xfrm>
          <a:prstGeom prst="rect">
            <a:avLst/>
          </a:prstGeom>
        </p:spPr>
        <p:txBody>
          <a:bodyPr/>
          <a:lstStyle>
            <a:lvl1pPr marL="169858" indent="-169858">
              <a:buFont typeface="Arial" panose="020B0604020202020204" pitchFamily="34" charset="0"/>
              <a:buChar char="•"/>
              <a:defRPr>
                <a:solidFill>
                  <a:schemeClr val="tx1"/>
                </a:solidFill>
              </a:defRPr>
            </a:lvl1pPr>
            <a:lvl2pPr marL="376229" indent="-204783">
              <a:buFont typeface="Arial" panose="020B0604020202020204" pitchFamily="34" charset="0"/>
              <a:buChar cha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slide content bullets</a:t>
            </a:r>
          </a:p>
          <a:p>
            <a:pPr lvl="1"/>
            <a:r>
              <a:rPr lang="en-US"/>
              <a:t>Second level</a:t>
            </a:r>
          </a:p>
          <a:p>
            <a:pPr lvl="2"/>
            <a:r>
              <a:rPr lang="en-US"/>
              <a:t>Third level</a:t>
            </a:r>
          </a:p>
          <a:p>
            <a:pPr lvl="3"/>
            <a:r>
              <a:rPr lang="en-US"/>
              <a:t>Fourth level</a:t>
            </a:r>
          </a:p>
          <a:p>
            <a:pPr lvl="4"/>
            <a:r>
              <a:rPr lang="en-US"/>
              <a:t>Fifth level</a:t>
            </a:r>
          </a:p>
        </p:txBody>
      </p:sp>
      <p:sp>
        <p:nvSpPr>
          <p:cNvPr id="29" name="Text Placeholder 2">
            <a:extLst>
              <a:ext uri="{FF2B5EF4-FFF2-40B4-BE49-F238E27FC236}">
                <a16:creationId xmlns:a16="http://schemas.microsoft.com/office/drawing/2014/main" id="{59C4CB53-2E50-E732-FBB3-5E99DED8EC16}"/>
              </a:ext>
            </a:extLst>
          </p:cNvPr>
          <p:cNvSpPr>
            <a:spLocks noGrp="1"/>
          </p:cNvSpPr>
          <p:nvPr>
            <p:ph type="body" idx="16" hasCustomPrompt="1"/>
          </p:nvPr>
        </p:nvSpPr>
        <p:spPr>
          <a:xfrm>
            <a:off x="6527282" y="3718181"/>
            <a:ext cx="5157787" cy="457200"/>
          </a:xfrm>
        </p:spPr>
        <p:txBody>
          <a:bodyPr anchor="t" anchorCtr="1"/>
          <a:lstStyle>
            <a:lvl1pPr marL="0" indent="0">
              <a:buNone/>
              <a:defRPr sz="2400" b="1" u="sng"/>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Tree>
    <p:extLst>
      <p:ext uri="{BB962C8B-B14F-4D97-AF65-F5344CB8AC3E}">
        <p14:creationId xmlns:p14="http://schemas.microsoft.com/office/powerpoint/2010/main" val="27442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A34B9A-BE72-4AF8-AAE1-B64B843041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EADD4BE-E10B-4A7B-8894-45E6FCDD73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91F7AC-4AE6-451C-B8F4-2DE9CF4702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5" name="Footer Placeholder 4">
            <a:extLst>
              <a:ext uri="{FF2B5EF4-FFF2-40B4-BE49-F238E27FC236}">
                <a16:creationId xmlns:a16="http://schemas.microsoft.com/office/drawing/2014/main" id="{318F40C2-8C58-4D2E-A884-780511D9C9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2D07907C-A592-4A72-8B97-61F90316E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003EDADE-89CF-4A6C-8161-E3A44FA08975}" type="slidenum">
              <a:rPr lang="en-US" smtClean="0"/>
              <a:pPr/>
              <a:t>‹#›</a:t>
            </a:fld>
            <a:endParaRPr lang="en-US"/>
          </a:p>
        </p:txBody>
      </p:sp>
      <p:sp>
        <p:nvSpPr>
          <p:cNvPr id="7" name="Rectangle 6">
            <a:extLst>
              <a:ext uri="{FF2B5EF4-FFF2-40B4-BE49-F238E27FC236}">
                <a16:creationId xmlns:a16="http://schemas.microsoft.com/office/drawing/2014/main" id="{E4BCB670-6291-477B-BAAD-43F4400A6FD9}"/>
              </a:ext>
            </a:extLst>
          </p:cNvPr>
          <p:cNvSpPr/>
          <p:nvPr userDrawn="1"/>
        </p:nvSpPr>
        <p:spPr>
          <a:xfrm>
            <a:off x="0" y="-1"/>
            <a:ext cx="12192000" cy="457200"/>
          </a:xfrm>
          <a:prstGeom prst="rect">
            <a:avLst/>
          </a:prstGeom>
          <a:solidFill>
            <a:srgbClr val="0033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b="1">
                <a:latin typeface="Arial" panose="020B0604020202020204" pitchFamily="34" charset="0"/>
                <a:cs typeface="Arial" panose="020B0604020202020204" pitchFamily="34" charset="0"/>
              </a:rPr>
              <a:t>HR</a:t>
            </a:r>
            <a:r>
              <a:rPr lang="en-US">
                <a:latin typeface="Arial" panose="020B0604020202020204" pitchFamily="34" charset="0"/>
                <a:cs typeface="Arial" panose="020B0604020202020204" pitchFamily="34" charset="0"/>
              </a:rPr>
              <a:t> | Global Equity,</a:t>
            </a:r>
            <a:r>
              <a:rPr lang="en-US" baseline="0">
                <a:latin typeface="Arial" panose="020B0604020202020204" pitchFamily="34" charset="0"/>
                <a:cs typeface="Arial" panose="020B0604020202020204" pitchFamily="34" charset="0"/>
              </a:rPr>
              <a:t> Diversity &amp; Inclusion</a:t>
            </a:r>
            <a:endParaRPr lang="en-US">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D086B6AE-F991-4804-BAA5-717901C98E5F}"/>
              </a:ext>
            </a:extLst>
          </p:cNvPr>
          <p:cNvPicPr>
            <a:picLocks noChangeAspect="1"/>
          </p:cNvPicPr>
          <p:nvPr userDrawn="1"/>
        </p:nvPicPr>
        <p:blipFill>
          <a:blip r:embed="rId18" cstate="email">
            <a:extLst>
              <a:ext uri="{28A0092B-C50C-407E-A947-70E740481C1C}">
                <a14:useLocalDpi xmlns:a14="http://schemas.microsoft.com/office/drawing/2010/main"/>
              </a:ext>
            </a:extLst>
          </a:blip>
          <a:stretch>
            <a:fillRect/>
          </a:stretch>
        </p:blipFill>
        <p:spPr>
          <a:xfrm>
            <a:off x="99483" y="78453"/>
            <a:ext cx="1319742" cy="308292"/>
          </a:xfrm>
          <a:prstGeom prst="rect">
            <a:avLst/>
          </a:prstGeom>
        </p:spPr>
      </p:pic>
      <p:sp>
        <p:nvSpPr>
          <p:cNvPr id="9" name="TextBox 8">
            <a:extLst>
              <a:ext uri="{FF2B5EF4-FFF2-40B4-BE49-F238E27FC236}">
                <a16:creationId xmlns:a16="http://schemas.microsoft.com/office/drawing/2014/main" id="{39BD3ACD-53AC-415C-A6B0-14743DA796DC}"/>
              </a:ext>
            </a:extLst>
          </p:cNvPr>
          <p:cNvSpPr txBox="1"/>
          <p:nvPr userDrawn="1"/>
        </p:nvSpPr>
        <p:spPr>
          <a:xfrm>
            <a:off x="49878" y="6588790"/>
            <a:ext cx="3286126" cy="215444"/>
          </a:xfrm>
          <a:prstGeom prst="rect">
            <a:avLst/>
          </a:prstGeom>
          <a:noFill/>
        </p:spPr>
        <p:txBody>
          <a:bodyPr wrap="square" rIns="9144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33A1"/>
                </a:solidFill>
                <a:effectLst/>
                <a:uLnTx/>
                <a:uFillTx/>
                <a:latin typeface="Arial" panose="020B0604020202020204" pitchFamily="34" charset="0"/>
                <a:cs typeface="Arial" panose="020B0604020202020204" pitchFamily="34" charset="0"/>
              </a:rPr>
              <a:t>Copyright 2024 @ Boeing. All rights reserved.  Boeing Proprietary</a:t>
            </a:r>
            <a:endParaRPr kumimoji="0" lang="en-US" sz="1200" b="0" i="0" u="none" strike="noStrike" kern="1200" cap="none" spc="0" normalizeH="0" baseline="0" noProof="0">
              <a:ln>
                <a:noFill/>
              </a:ln>
              <a:solidFill>
                <a:srgbClr val="0033A1"/>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76736241"/>
      </p:ext>
    </p:extLst>
  </p:cSld>
  <p:clrMap bg1="lt1" tx1="dk1" bg2="lt2" tx2="dk2" accent1="accent1" accent2="accent2" accent3="accent3" accent4="accent4" accent5="accent5" accent6="accent6" hlink="hlink" folHlink="folHlink"/>
  <p:sldLayoutIdLst>
    <p:sldLayoutId id="2147484533" r:id="rId1"/>
    <p:sldLayoutId id="2147484534" r:id="rId2"/>
    <p:sldLayoutId id="2147484535" r:id="rId3"/>
    <p:sldLayoutId id="2147484536" r:id="rId4"/>
    <p:sldLayoutId id="2147484537" r:id="rId5"/>
    <p:sldLayoutId id="2147484538" r:id="rId6"/>
    <p:sldLayoutId id="2147484539" r:id="rId7"/>
    <p:sldLayoutId id="2147484540" r:id="rId8"/>
    <p:sldLayoutId id="2147484541" r:id="rId9"/>
    <p:sldLayoutId id="2147484542" r:id="rId10"/>
    <p:sldLayoutId id="2147484543" r:id="rId11"/>
    <p:sldLayoutId id="2147484138" r:id="rId12"/>
    <p:sldLayoutId id="2147484246" r:id="rId13"/>
    <p:sldLayoutId id="2147484555" r:id="rId14"/>
    <p:sldLayoutId id="2147484556" r:id="rId15"/>
    <p:sldLayoutId id="2147484563" r:id="rId16"/>
  </p:sldLayoutIdLst>
  <p:hf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sv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microsoft.com/office/2018/10/relationships/comments" Target="../comments/modernComment_7FFFDEB5_FD80BC11.xml"/><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chart" Target="../charts/char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14.xml"/><Relationship Id="rId5" Type="http://schemas.openxmlformats.org/officeDocument/2006/relationships/image" Target="../media/image16.sv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hyperlink" Target="https://degreed.com/view/Course/38710854?newWindow=true" TargetMode="External"/><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hyperlink" Target="https://degreed.com/view/Article/33251970?newWindow=true" TargetMode="External"/><Relationship Id="rId4" Type="http://schemas.openxmlformats.org/officeDocument/2006/relationships/image" Target="../media/image1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7" descr="Boeing_white_standard">
            <a:extLst>
              <a:ext uri="{FF2B5EF4-FFF2-40B4-BE49-F238E27FC236}">
                <a16:creationId xmlns:a16="http://schemas.microsoft.com/office/drawing/2014/main" id="{557923C0-F43D-0734-8FB1-F8997E6C196B}"/>
              </a:ext>
            </a:extLst>
          </p:cNvPr>
          <p:cNvPicPr>
            <a:picLocks noChangeAspect="1" noChangeArrowheads="1"/>
          </p:cNvPicPr>
          <p:nvPr/>
        </p:nvPicPr>
        <p:blipFill>
          <a:blip r:embed="rId3" cstate="print"/>
          <a:srcRect/>
          <a:stretch>
            <a:fillRect/>
          </a:stretch>
        </p:blipFill>
        <p:spPr bwMode="auto">
          <a:xfrm>
            <a:off x="285701" y="85725"/>
            <a:ext cx="1855788" cy="447675"/>
          </a:xfrm>
          <a:prstGeom prst="rect">
            <a:avLst/>
          </a:prstGeom>
          <a:noFill/>
        </p:spPr>
      </p:pic>
      <p:pic>
        <p:nvPicPr>
          <p:cNvPr id="2" name="Graphic 1" descr="Key">
            <a:extLst>
              <a:ext uri="{FF2B5EF4-FFF2-40B4-BE49-F238E27FC236}">
                <a16:creationId xmlns:a16="http://schemas.microsoft.com/office/drawing/2014/main" id="{7C7D8D98-44BD-BB71-D11B-2EB188CDE1C8}"/>
              </a:ext>
            </a:extLst>
          </p:cNvPr>
          <p:cNvPicPr>
            <a:picLocks noChangeAspect="1"/>
          </p:cNvPicPr>
          <p:nvPr/>
        </p:nvPicPr>
        <p:blipFill>
          <a:blip r:embed="rId4">
            <a:duotone>
              <a:schemeClr val="accent5">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94528" y="3238331"/>
            <a:ext cx="914400" cy="914400"/>
          </a:xfrm>
          <a:prstGeom prst="rect">
            <a:avLst/>
          </a:prstGeom>
        </p:spPr>
      </p:pic>
      <p:pic>
        <p:nvPicPr>
          <p:cNvPr id="3" name="Graphic 2" descr="Heart lock">
            <a:extLst>
              <a:ext uri="{FF2B5EF4-FFF2-40B4-BE49-F238E27FC236}">
                <a16:creationId xmlns:a16="http://schemas.microsoft.com/office/drawing/2014/main" id="{AF3BB5F8-6804-34CC-3171-058022355917}"/>
              </a:ext>
            </a:extLst>
          </p:cNvPr>
          <p:cNvPicPr>
            <a:picLocks noChangeAspect="1"/>
          </p:cNvPicPr>
          <p:nvPr/>
        </p:nvPicPr>
        <p:blipFill>
          <a:blip r:embed="rId6">
            <a:duotone>
              <a:schemeClr val="accent5">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81212" y="2551428"/>
            <a:ext cx="1755143" cy="1755143"/>
          </a:xfrm>
          <a:prstGeom prst="rect">
            <a:avLst/>
          </a:prstGeom>
        </p:spPr>
      </p:pic>
      <p:sp>
        <p:nvSpPr>
          <p:cNvPr id="5" name="TextBox 4">
            <a:extLst>
              <a:ext uri="{FF2B5EF4-FFF2-40B4-BE49-F238E27FC236}">
                <a16:creationId xmlns:a16="http://schemas.microsoft.com/office/drawing/2014/main" id="{AE26EC49-74B1-C5DA-35CE-5D343B4E7DEE}"/>
              </a:ext>
            </a:extLst>
          </p:cNvPr>
          <p:cNvSpPr txBox="1"/>
          <p:nvPr/>
        </p:nvSpPr>
        <p:spPr>
          <a:xfrm>
            <a:off x="5843986" y="4613511"/>
            <a:ext cx="4900563" cy="923330"/>
          </a:xfrm>
          <a:prstGeom prst="rect">
            <a:avLst/>
          </a:prstGeom>
          <a:solidFill>
            <a:srgbClr val="0033A1"/>
          </a:solidFill>
        </p:spPr>
        <p:txBody>
          <a:bodyPr wrap="square" rtlCol="0" anchor="t">
            <a:spAutoFit/>
          </a:bodyPr>
          <a:lstStyle/>
          <a:p>
            <a:r>
              <a:rPr lang="en-US" sz="5400" b="1">
                <a:solidFill>
                  <a:schemeClr val="bg1"/>
                </a:solidFill>
                <a:latin typeface="Arial" panose="020B0604020202020204" pitchFamily="34" charset="0"/>
                <a:cs typeface="Arial" panose="020B0604020202020204" pitchFamily="34" charset="0"/>
              </a:rPr>
              <a:t>Grab &amp; Go Kit</a:t>
            </a:r>
          </a:p>
        </p:txBody>
      </p:sp>
      <p:sp>
        <p:nvSpPr>
          <p:cNvPr id="8" name="TextBox 7">
            <a:extLst>
              <a:ext uri="{FF2B5EF4-FFF2-40B4-BE49-F238E27FC236}">
                <a16:creationId xmlns:a16="http://schemas.microsoft.com/office/drawing/2014/main" id="{0A5B9D0A-E89F-F70C-4802-C71DE2F502FB}"/>
              </a:ext>
            </a:extLst>
          </p:cNvPr>
          <p:cNvSpPr txBox="1"/>
          <p:nvPr/>
        </p:nvSpPr>
        <p:spPr>
          <a:xfrm rot="19616258">
            <a:off x="1087853" y="1059834"/>
            <a:ext cx="4349425" cy="2585323"/>
          </a:xfrm>
          <a:prstGeom prst="rect">
            <a:avLst/>
          </a:prstGeom>
          <a:noFill/>
        </p:spPr>
        <p:txBody>
          <a:bodyPr wrap="square" rtlCol="0">
            <a:spAutoFit/>
          </a:bodyPr>
          <a:lstStyle/>
          <a:p>
            <a:r>
              <a:rPr lang="en-US" sz="5400" b="1">
                <a:latin typeface="Arial" panose="020B0604020202020204" pitchFamily="34" charset="0"/>
                <a:cs typeface="Arial" panose="020B0604020202020204" pitchFamily="34" charset="0"/>
              </a:rPr>
              <a:t>Your</a:t>
            </a:r>
          </a:p>
          <a:p>
            <a:r>
              <a:rPr lang="en-US" sz="5400" b="1">
                <a:latin typeface="Arial" panose="020B0604020202020204" pitchFamily="34" charset="0"/>
                <a:cs typeface="Arial" panose="020B0604020202020204" pitchFamily="34" charset="0"/>
              </a:rPr>
              <a:t>Inclusion</a:t>
            </a:r>
          </a:p>
          <a:p>
            <a:r>
              <a:rPr lang="en-US" sz="5400" b="1">
                <a:latin typeface="Arial" panose="020B0604020202020204" pitchFamily="34" charset="0"/>
                <a:cs typeface="Arial" panose="020B0604020202020204" pitchFamily="34" charset="0"/>
              </a:rPr>
              <a:t>Ambassador</a:t>
            </a:r>
          </a:p>
        </p:txBody>
      </p:sp>
      <p:sp>
        <p:nvSpPr>
          <p:cNvPr id="6" name="Slide Number Placeholder 5">
            <a:extLst>
              <a:ext uri="{FF2B5EF4-FFF2-40B4-BE49-F238E27FC236}">
                <a16:creationId xmlns:a16="http://schemas.microsoft.com/office/drawing/2014/main" id="{D1AA4700-5C66-A0A1-B326-9C4A51891FC8}"/>
              </a:ext>
            </a:extLst>
          </p:cNvPr>
          <p:cNvSpPr>
            <a:spLocks noGrp="1"/>
          </p:cNvSpPr>
          <p:nvPr>
            <p:ph type="sldNum" sz="quarter" idx="10"/>
          </p:nvPr>
        </p:nvSpPr>
        <p:spPr/>
        <p:txBody>
          <a:bodyPr/>
          <a:lstStyle/>
          <a:p>
            <a:fld id="{48FFE6E1-85EB-9E42-824B-7CC9267ED8B9}" type="slidenum">
              <a:rPr lang="en-US" smtClean="0"/>
              <a:pPr/>
              <a:t>1</a:t>
            </a:fld>
            <a:endParaRPr lang="en-US"/>
          </a:p>
        </p:txBody>
      </p:sp>
    </p:spTree>
    <p:extLst>
      <p:ext uri="{BB962C8B-B14F-4D97-AF65-F5344CB8AC3E}">
        <p14:creationId xmlns:p14="http://schemas.microsoft.com/office/powerpoint/2010/main" val="2160970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7">
            <a:extLst>
              <a:ext uri="{FF2B5EF4-FFF2-40B4-BE49-F238E27FC236}">
                <a16:creationId xmlns:a16="http://schemas.microsoft.com/office/drawing/2014/main" id="{E022F1CF-DACA-39C3-D9BE-D4D0F5D475E7}"/>
              </a:ext>
            </a:extLst>
          </p:cNvPr>
          <p:cNvSpPr>
            <a:spLocks noGrp="1"/>
          </p:cNvSpPr>
          <p:nvPr>
            <p:ph type="title"/>
          </p:nvPr>
        </p:nvSpPr>
        <p:spPr>
          <a:xfrm>
            <a:off x="467611" y="664790"/>
            <a:ext cx="11430000" cy="486788"/>
          </a:xfrm>
        </p:spPr>
        <p:txBody>
          <a:bodyPr>
            <a:noAutofit/>
          </a:bodyPr>
          <a:lstStyle/>
          <a:p>
            <a:r>
              <a:rPr lang="en-US" sz="2800" b="1" dirty="0">
                <a:solidFill>
                  <a:srgbClr val="0033A1"/>
                </a:solidFill>
                <a:latin typeface="Arial"/>
                <a:cs typeface="Arial"/>
              </a:rPr>
              <a:t>Big Things to Keep the Conversation Going</a:t>
            </a:r>
            <a:endParaRPr lang="en-US" sz="2800" b="1" dirty="0">
              <a:solidFill>
                <a:srgbClr val="0033A1"/>
              </a:solidFill>
            </a:endParaRPr>
          </a:p>
        </p:txBody>
      </p:sp>
      <p:sp>
        <p:nvSpPr>
          <p:cNvPr id="6" name="Text Placeholder 15">
            <a:extLst>
              <a:ext uri="{FF2B5EF4-FFF2-40B4-BE49-F238E27FC236}">
                <a16:creationId xmlns:a16="http://schemas.microsoft.com/office/drawing/2014/main" id="{0461FEFF-55CF-7DD7-9237-FF0141B7CB70}"/>
              </a:ext>
            </a:extLst>
          </p:cNvPr>
          <p:cNvSpPr txBox="1">
            <a:spLocks/>
          </p:cNvSpPr>
          <p:nvPr/>
        </p:nvSpPr>
        <p:spPr>
          <a:xfrm>
            <a:off x="944463" y="5426048"/>
            <a:ext cx="10303071" cy="486788"/>
          </a:xfrm>
          <a:prstGeom prst="rect">
            <a:avLst/>
          </a:prstGeom>
        </p:spPr>
        <p:txBody>
          <a:bodyPr vert="horz" lIns="91440" tIns="91440" rIns="91440" bIns="9144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rgbClr val="5B6770"/>
                </a:solidFill>
                <a:latin typeface="Arial" panose="020B0604020202020204" pitchFamily="34" charset="0"/>
                <a:ea typeface="+mn-ea"/>
                <a:cs typeface="Arial" panose="020B0604020202020204" pitchFamily="34" charset="0"/>
              </a:defRPr>
            </a:lvl1pPr>
            <a:lvl2pPr marL="17145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2pPr>
            <a:lvl3pPr marL="441325"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3pPr>
            <a:lvl4pPr marL="62865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4pPr>
            <a:lvl5pPr marL="79375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b="1">
              <a:solidFill>
                <a:srgbClr val="000000"/>
              </a:solidFill>
            </a:endParaRPr>
          </a:p>
        </p:txBody>
      </p:sp>
      <p:sp>
        <p:nvSpPr>
          <p:cNvPr id="7" name="Text Placeholder 15">
            <a:extLst>
              <a:ext uri="{FF2B5EF4-FFF2-40B4-BE49-F238E27FC236}">
                <a16:creationId xmlns:a16="http://schemas.microsoft.com/office/drawing/2014/main" id="{83C969AD-ACEF-DBCD-0892-78D375F8C680}"/>
              </a:ext>
            </a:extLst>
          </p:cNvPr>
          <p:cNvSpPr txBox="1">
            <a:spLocks/>
          </p:cNvSpPr>
          <p:nvPr/>
        </p:nvSpPr>
        <p:spPr>
          <a:xfrm>
            <a:off x="944463" y="1166528"/>
            <a:ext cx="7701451" cy="486788"/>
          </a:xfrm>
          <a:prstGeom prst="rect">
            <a:avLst/>
          </a:prstGeom>
        </p:spPr>
        <p:txBody>
          <a:bodyPr vert="horz" lIns="91440" tIns="91440" rIns="91440" bIns="9144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rgbClr val="5B6770"/>
                </a:solidFill>
                <a:latin typeface="Arial" panose="020B0604020202020204" pitchFamily="34" charset="0"/>
                <a:ea typeface="+mn-ea"/>
                <a:cs typeface="Arial" panose="020B0604020202020204" pitchFamily="34" charset="0"/>
              </a:defRPr>
            </a:lvl1pPr>
            <a:lvl2pPr marL="17145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2pPr>
            <a:lvl3pPr marL="441325"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3pPr>
            <a:lvl4pPr marL="62865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4pPr>
            <a:lvl5pPr marL="79375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b="1">
              <a:solidFill>
                <a:srgbClr val="000000"/>
              </a:solidFill>
            </a:endParaRPr>
          </a:p>
        </p:txBody>
      </p:sp>
      <p:pic>
        <p:nvPicPr>
          <p:cNvPr id="10" name="Picture 2">
            <a:extLst>
              <a:ext uri="{FF2B5EF4-FFF2-40B4-BE49-F238E27FC236}">
                <a16:creationId xmlns:a16="http://schemas.microsoft.com/office/drawing/2014/main" id="{DB44F6BE-5274-77AC-820D-5747F0FDB74A}"/>
              </a:ext>
            </a:extLst>
          </p:cNvPr>
          <p:cNvPicPr>
            <a:picLocks noChangeAspect="1"/>
          </p:cNvPicPr>
          <p:nvPr/>
        </p:nvPicPr>
        <p:blipFill>
          <a:blip r:embed="rId3"/>
          <a:stretch>
            <a:fillRect/>
          </a:stretch>
        </p:blipFill>
        <p:spPr>
          <a:xfrm>
            <a:off x="463473" y="1589146"/>
            <a:ext cx="1377351" cy="1163671"/>
          </a:xfrm>
          <a:prstGeom prst="rect">
            <a:avLst/>
          </a:prstGeom>
        </p:spPr>
      </p:pic>
      <p:pic>
        <p:nvPicPr>
          <p:cNvPr id="11" name="Picture 2">
            <a:extLst>
              <a:ext uri="{FF2B5EF4-FFF2-40B4-BE49-F238E27FC236}">
                <a16:creationId xmlns:a16="http://schemas.microsoft.com/office/drawing/2014/main" id="{85CAAE1E-4C68-B70C-444E-56EBA1A26791}"/>
              </a:ext>
            </a:extLst>
          </p:cNvPr>
          <p:cNvPicPr>
            <a:picLocks noChangeAspect="1"/>
          </p:cNvPicPr>
          <p:nvPr/>
        </p:nvPicPr>
        <p:blipFill>
          <a:blip r:embed="rId3"/>
          <a:stretch>
            <a:fillRect/>
          </a:stretch>
        </p:blipFill>
        <p:spPr>
          <a:xfrm>
            <a:off x="463472" y="3070013"/>
            <a:ext cx="1377351" cy="1163671"/>
          </a:xfrm>
          <a:prstGeom prst="rect">
            <a:avLst/>
          </a:prstGeom>
        </p:spPr>
      </p:pic>
      <p:pic>
        <p:nvPicPr>
          <p:cNvPr id="12" name="Picture 2">
            <a:extLst>
              <a:ext uri="{FF2B5EF4-FFF2-40B4-BE49-F238E27FC236}">
                <a16:creationId xmlns:a16="http://schemas.microsoft.com/office/drawing/2014/main" id="{F7A2404F-0ABE-B804-CDFA-1F0ACE87529D}"/>
              </a:ext>
            </a:extLst>
          </p:cNvPr>
          <p:cNvPicPr>
            <a:picLocks noChangeAspect="1"/>
          </p:cNvPicPr>
          <p:nvPr/>
        </p:nvPicPr>
        <p:blipFill>
          <a:blip r:embed="rId3"/>
          <a:stretch>
            <a:fillRect/>
          </a:stretch>
        </p:blipFill>
        <p:spPr>
          <a:xfrm>
            <a:off x="463471" y="4550880"/>
            <a:ext cx="1377351" cy="1163671"/>
          </a:xfrm>
          <a:prstGeom prst="rect">
            <a:avLst/>
          </a:prstGeom>
        </p:spPr>
      </p:pic>
      <p:pic>
        <p:nvPicPr>
          <p:cNvPr id="18" name="Picture 47" descr="Boeing_white_standard">
            <a:extLst>
              <a:ext uri="{FF2B5EF4-FFF2-40B4-BE49-F238E27FC236}">
                <a16:creationId xmlns:a16="http://schemas.microsoft.com/office/drawing/2014/main" id="{F1278DC5-EE0F-1B1A-22DF-7DDEA9BC4879}"/>
              </a:ext>
            </a:extLst>
          </p:cNvPr>
          <p:cNvPicPr>
            <a:picLocks noChangeAspect="1" noChangeArrowheads="1"/>
          </p:cNvPicPr>
          <p:nvPr/>
        </p:nvPicPr>
        <p:blipFill>
          <a:blip r:embed="rId4" cstate="print"/>
          <a:srcRect/>
          <a:stretch>
            <a:fillRect/>
          </a:stretch>
        </p:blipFill>
        <p:spPr bwMode="auto">
          <a:xfrm>
            <a:off x="285701" y="85725"/>
            <a:ext cx="1855788" cy="447675"/>
          </a:xfrm>
          <a:prstGeom prst="rect">
            <a:avLst/>
          </a:prstGeom>
          <a:noFill/>
        </p:spPr>
      </p:pic>
      <p:sp>
        <p:nvSpPr>
          <p:cNvPr id="3" name="Content Placeholder 5">
            <a:extLst>
              <a:ext uri="{FF2B5EF4-FFF2-40B4-BE49-F238E27FC236}">
                <a16:creationId xmlns:a16="http://schemas.microsoft.com/office/drawing/2014/main" id="{36A0AB81-2D4D-63F6-2500-2CA857A6866C}"/>
              </a:ext>
            </a:extLst>
          </p:cNvPr>
          <p:cNvSpPr txBox="1">
            <a:spLocks/>
          </p:cNvSpPr>
          <p:nvPr/>
        </p:nvSpPr>
        <p:spPr>
          <a:xfrm>
            <a:off x="1892031" y="1901559"/>
            <a:ext cx="9423669" cy="52677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b="1">
                <a:solidFill>
                  <a:srgbClr val="000000"/>
                </a:solidFill>
                <a:latin typeface="Arial"/>
                <a:cs typeface="Arial"/>
              </a:rPr>
              <a:t>Self-Identify: Your Identity Matters</a:t>
            </a:r>
            <a:br>
              <a:rPr lang="en-US" b="1">
                <a:latin typeface="Arial"/>
                <a:cs typeface="Arial"/>
              </a:rPr>
            </a:br>
            <a:r>
              <a:rPr lang="en-US">
                <a:latin typeface="Arial"/>
                <a:cs typeface="Calibri"/>
              </a:rPr>
              <a:t>Self-ID is quick and confidential</a:t>
            </a:r>
            <a:endParaRPr lang="en-US" sz="1200">
              <a:latin typeface="Calibri"/>
              <a:cs typeface="Calibri"/>
            </a:endParaRPr>
          </a:p>
        </p:txBody>
      </p:sp>
      <p:sp>
        <p:nvSpPr>
          <p:cNvPr id="4" name="TextBox 3">
            <a:extLst>
              <a:ext uri="{FF2B5EF4-FFF2-40B4-BE49-F238E27FC236}">
                <a16:creationId xmlns:a16="http://schemas.microsoft.com/office/drawing/2014/main" id="{84AB422A-B7B1-4B91-30A8-087FC75D33E9}"/>
              </a:ext>
            </a:extLst>
          </p:cNvPr>
          <p:cNvSpPr txBox="1"/>
          <p:nvPr/>
        </p:nvSpPr>
        <p:spPr>
          <a:xfrm>
            <a:off x="1892031" y="4837368"/>
            <a:ext cx="10005580" cy="1107996"/>
          </a:xfrm>
          <a:prstGeom prst="rect">
            <a:avLst/>
          </a:prstGeom>
          <a:noFill/>
        </p:spPr>
        <p:txBody>
          <a:bodyPr wrap="square" lIns="91440" tIns="45720" rIns="91440" bIns="45720" rtlCol="0" anchor="t">
            <a:spAutoFit/>
          </a:bodyPr>
          <a:lstStyle/>
          <a:p>
            <a:pPr>
              <a:defRPr/>
            </a:pPr>
            <a:r>
              <a:rPr lang="en-US" sz="2400" b="1">
                <a:solidFill>
                  <a:srgbClr val="000000"/>
                </a:solidFill>
                <a:latin typeface="Arial"/>
                <a:cs typeface="Arial"/>
              </a:rPr>
              <a:t>Practice: Inclusive Habits </a:t>
            </a:r>
            <a:endParaRPr lang="en-US" sz="2400" b="1">
              <a:solidFill>
                <a:srgbClr val="FF0000"/>
              </a:solidFill>
              <a:latin typeface="Arial"/>
              <a:cs typeface="Arial"/>
            </a:endParaRPr>
          </a:p>
          <a:p>
            <a:pPr>
              <a:defRPr/>
            </a:pPr>
            <a:r>
              <a:rPr lang="en-US" sz="2400">
                <a:solidFill>
                  <a:srgbClr val="000000"/>
                </a:solidFill>
                <a:latin typeface="Arial"/>
                <a:cs typeface="Arial"/>
              </a:rPr>
              <a:t>Use the Inclusive Habits Team Talk to start a conversation</a:t>
            </a:r>
          </a:p>
          <a:p>
            <a:pPr>
              <a:defRPr/>
            </a:pPr>
            <a:endParaRPr lang="en-US">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FC51C5E-EBBE-55F1-992D-1D3C7AC08077}"/>
              </a:ext>
            </a:extLst>
          </p:cNvPr>
          <p:cNvSpPr txBox="1"/>
          <p:nvPr/>
        </p:nvSpPr>
        <p:spPr>
          <a:xfrm>
            <a:off x="1892031" y="3368005"/>
            <a:ext cx="10116461" cy="830997"/>
          </a:xfrm>
          <a:prstGeom prst="rect">
            <a:avLst/>
          </a:prstGeom>
          <a:noFill/>
        </p:spPr>
        <p:txBody>
          <a:bodyPr wrap="square" lIns="91440" tIns="45720" rIns="91440" bIns="45720" rtlCol="0" anchor="t">
            <a:spAutoFit/>
          </a:bodyPr>
          <a:lstStyle/>
          <a:p>
            <a:pPr>
              <a:defRPr/>
            </a:pPr>
            <a:r>
              <a:rPr lang="en-US" sz="2400" b="1">
                <a:solidFill>
                  <a:srgbClr val="000000"/>
                </a:solidFill>
                <a:latin typeface="Arial"/>
                <a:cs typeface="Arial"/>
              </a:rPr>
              <a:t>Inspire: Project Search Ambassadors in Action</a:t>
            </a:r>
            <a:endParaRPr lang="en-US" sz="2400" noProof="0">
              <a:solidFill>
                <a:srgbClr val="000000"/>
              </a:solidFill>
              <a:latin typeface="Arial"/>
              <a:cs typeface="Arial"/>
            </a:endParaRPr>
          </a:p>
          <a:p>
            <a:pPr>
              <a:defRPr/>
            </a:pPr>
            <a:r>
              <a:rPr lang="en-US" sz="2400">
                <a:solidFill>
                  <a:srgbClr val="000000"/>
                </a:solidFill>
                <a:latin typeface="Arial"/>
                <a:cs typeface="Arial"/>
              </a:rPr>
              <a:t>Hear from teammates who are making a difference</a:t>
            </a:r>
            <a:endParaRPr lang="en-US"/>
          </a:p>
        </p:txBody>
      </p:sp>
      <p:sp>
        <p:nvSpPr>
          <p:cNvPr id="2" name="Slide Number Placeholder 1">
            <a:extLst>
              <a:ext uri="{FF2B5EF4-FFF2-40B4-BE49-F238E27FC236}">
                <a16:creationId xmlns:a16="http://schemas.microsoft.com/office/drawing/2014/main" id="{DA0EA868-A039-D2F1-31B7-5F38407E53D4}"/>
              </a:ext>
            </a:extLst>
          </p:cNvPr>
          <p:cNvSpPr>
            <a:spLocks noGrp="1"/>
          </p:cNvSpPr>
          <p:nvPr>
            <p:ph type="sldNum" sz="quarter" idx="10"/>
          </p:nvPr>
        </p:nvSpPr>
        <p:spPr/>
        <p:txBody>
          <a:bodyPr/>
          <a:lstStyle/>
          <a:p>
            <a:fld id="{48FFE6E1-85EB-9E42-824B-7CC9267ED8B9}" type="slidenum">
              <a:rPr lang="en-US" smtClean="0"/>
              <a:pPr/>
              <a:t>2</a:t>
            </a:fld>
            <a:endParaRPr lang="en-US"/>
          </a:p>
        </p:txBody>
      </p:sp>
    </p:spTree>
    <p:extLst>
      <p:ext uri="{BB962C8B-B14F-4D97-AF65-F5344CB8AC3E}">
        <p14:creationId xmlns:p14="http://schemas.microsoft.com/office/powerpoint/2010/main" val="3744073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anim calcmode="lin" valueType="num">
                                      <p:cBhvr>
                                        <p:cTn id="32" dur="1000" fill="hold"/>
                                        <p:tgtEl>
                                          <p:spTgt spid="12"/>
                                        </p:tgtEl>
                                        <p:attrNameLst>
                                          <p:attrName>ppt_x</p:attrName>
                                        </p:attrNameLst>
                                      </p:cBhvr>
                                      <p:tavLst>
                                        <p:tav tm="0">
                                          <p:val>
                                            <p:strVal val="#ppt_x"/>
                                          </p:val>
                                        </p:tav>
                                        <p:tav tm="100000">
                                          <p:val>
                                            <p:strVal val="#ppt_x"/>
                                          </p:val>
                                        </p:tav>
                                      </p:tavLst>
                                    </p:anim>
                                    <p:anim calcmode="lin" valueType="num">
                                      <p:cBhvr>
                                        <p:cTn id="33" dur="1000" fill="hold"/>
                                        <p:tgtEl>
                                          <p:spTgt spid="12"/>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fade">
                                      <p:cBhvr>
                                        <p:cTn id="36" dur="1000"/>
                                        <p:tgtEl>
                                          <p:spTgt spid="4"/>
                                        </p:tgtEl>
                                      </p:cBhvr>
                                    </p:animEffect>
                                    <p:anim calcmode="lin" valueType="num">
                                      <p:cBhvr>
                                        <p:cTn id="37" dur="1000" fill="hold"/>
                                        <p:tgtEl>
                                          <p:spTgt spid="4"/>
                                        </p:tgtEl>
                                        <p:attrNameLst>
                                          <p:attrName>ppt_x</p:attrName>
                                        </p:attrNameLst>
                                      </p:cBhvr>
                                      <p:tavLst>
                                        <p:tav tm="0">
                                          <p:val>
                                            <p:strVal val="#ppt_x"/>
                                          </p:val>
                                        </p:tav>
                                        <p:tav tm="100000">
                                          <p:val>
                                            <p:strVal val="#ppt_x"/>
                                          </p:val>
                                        </p:tav>
                                      </p:tavLst>
                                    </p:anim>
                                    <p:anim calcmode="lin" valueType="num">
                                      <p:cBhvr>
                                        <p:cTn id="3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7">
            <a:extLst>
              <a:ext uri="{FF2B5EF4-FFF2-40B4-BE49-F238E27FC236}">
                <a16:creationId xmlns:a16="http://schemas.microsoft.com/office/drawing/2014/main" id="{E022F1CF-DACA-39C3-D9BE-D4D0F5D475E7}"/>
              </a:ext>
            </a:extLst>
          </p:cNvPr>
          <p:cNvSpPr>
            <a:spLocks noGrp="1"/>
          </p:cNvSpPr>
          <p:nvPr>
            <p:ph type="title"/>
          </p:nvPr>
        </p:nvSpPr>
        <p:spPr>
          <a:xfrm>
            <a:off x="467611" y="664790"/>
            <a:ext cx="11430000" cy="486788"/>
          </a:xfrm>
        </p:spPr>
        <p:txBody>
          <a:bodyPr>
            <a:noAutofit/>
          </a:bodyPr>
          <a:lstStyle/>
          <a:p>
            <a:r>
              <a:rPr lang="en-US" sz="2800" b="1">
                <a:solidFill>
                  <a:srgbClr val="0033A1"/>
                </a:solidFill>
              </a:rPr>
              <a:t>Disability Self-ID (US Employees)</a:t>
            </a:r>
          </a:p>
        </p:txBody>
      </p:sp>
      <p:pic>
        <p:nvPicPr>
          <p:cNvPr id="18" name="Picture 47" descr="Boeing_white_standard">
            <a:extLst>
              <a:ext uri="{FF2B5EF4-FFF2-40B4-BE49-F238E27FC236}">
                <a16:creationId xmlns:a16="http://schemas.microsoft.com/office/drawing/2014/main" id="{F1278DC5-EE0F-1B1A-22DF-7DDEA9BC4879}"/>
              </a:ext>
            </a:extLst>
          </p:cNvPr>
          <p:cNvPicPr>
            <a:picLocks noChangeAspect="1" noChangeArrowheads="1"/>
          </p:cNvPicPr>
          <p:nvPr/>
        </p:nvPicPr>
        <p:blipFill>
          <a:blip r:embed="rId4" cstate="print"/>
          <a:srcRect/>
          <a:stretch>
            <a:fillRect/>
          </a:stretch>
        </p:blipFill>
        <p:spPr bwMode="auto">
          <a:xfrm>
            <a:off x="285701" y="85725"/>
            <a:ext cx="1855788" cy="447675"/>
          </a:xfrm>
          <a:prstGeom prst="rect">
            <a:avLst/>
          </a:prstGeom>
          <a:noFill/>
        </p:spPr>
      </p:pic>
      <p:sp>
        <p:nvSpPr>
          <p:cNvPr id="2" name="Slide Number Placeholder 1">
            <a:extLst>
              <a:ext uri="{FF2B5EF4-FFF2-40B4-BE49-F238E27FC236}">
                <a16:creationId xmlns:a16="http://schemas.microsoft.com/office/drawing/2014/main" id="{DA0EA868-A039-D2F1-31B7-5F38407E53D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FFE6E1-85EB-9E42-824B-7CC9267ED8B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Arial" panose="020B0604020202020204" pitchFamily="34" charset="0"/>
            </a:endParaRPr>
          </a:p>
        </p:txBody>
      </p:sp>
      <p:sp>
        <p:nvSpPr>
          <p:cNvPr id="13" name="TextBox 12">
            <a:extLst>
              <a:ext uri="{FF2B5EF4-FFF2-40B4-BE49-F238E27FC236}">
                <a16:creationId xmlns:a16="http://schemas.microsoft.com/office/drawing/2014/main" id="{0C3DC5CE-2040-356B-BB87-FA13A14AA81E}"/>
              </a:ext>
            </a:extLst>
          </p:cNvPr>
          <p:cNvSpPr txBox="1"/>
          <p:nvPr/>
        </p:nvSpPr>
        <p:spPr>
          <a:xfrm>
            <a:off x="5582577" y="6427932"/>
            <a:ext cx="2411292" cy="261610"/>
          </a:xfrm>
          <a:prstGeom prst="rect">
            <a:avLst/>
          </a:prstGeom>
          <a:noFill/>
        </p:spPr>
        <p:txBody>
          <a:bodyPr wrap="square" rtlCol="0">
            <a:spAutoFit/>
          </a:bodyPr>
          <a:lstStyle/>
          <a:p>
            <a:r>
              <a:rPr lang="en-US" sz="1100">
                <a:latin typeface="Arial" panose="020B0604020202020204" pitchFamily="34" charset="0"/>
                <a:cs typeface="Arial" panose="020B0604020202020204" pitchFamily="34" charset="0"/>
              </a:rPr>
              <a:t>Source: Workday as of July 2, 2024</a:t>
            </a:r>
          </a:p>
        </p:txBody>
      </p:sp>
      <p:sp>
        <p:nvSpPr>
          <p:cNvPr id="15" name="TextBox 14">
            <a:extLst>
              <a:ext uri="{FF2B5EF4-FFF2-40B4-BE49-F238E27FC236}">
                <a16:creationId xmlns:a16="http://schemas.microsoft.com/office/drawing/2014/main" id="{A30DB8AF-109C-63DB-7430-DF84116526AD}"/>
              </a:ext>
            </a:extLst>
          </p:cNvPr>
          <p:cNvSpPr txBox="1"/>
          <p:nvPr/>
        </p:nvSpPr>
        <p:spPr>
          <a:xfrm>
            <a:off x="469539" y="1911934"/>
            <a:ext cx="1966100" cy="1015663"/>
          </a:xfrm>
          <a:prstGeom prst="rect">
            <a:avLst/>
          </a:prstGeom>
          <a:noFill/>
        </p:spPr>
        <p:txBody>
          <a:bodyPr wrap="square" rtlCol="0">
            <a:spAutoFit/>
          </a:bodyPr>
          <a:lstStyle/>
          <a:p>
            <a:r>
              <a:rPr lang="en-US" sz="6000">
                <a:solidFill>
                  <a:srgbClr val="0033A1"/>
                </a:solidFill>
                <a:latin typeface="Arial" panose="020B0604020202020204" pitchFamily="34" charset="0"/>
                <a:cs typeface="Arial" panose="020B0604020202020204" pitchFamily="34" charset="0"/>
              </a:rPr>
              <a:t>49%</a:t>
            </a:r>
          </a:p>
        </p:txBody>
      </p:sp>
      <p:sp>
        <p:nvSpPr>
          <p:cNvPr id="16" name="TextBox 15">
            <a:extLst>
              <a:ext uri="{FF2B5EF4-FFF2-40B4-BE49-F238E27FC236}">
                <a16:creationId xmlns:a16="http://schemas.microsoft.com/office/drawing/2014/main" id="{CEB5D777-F0CB-8AE1-C6BB-E9B024355C4F}"/>
              </a:ext>
            </a:extLst>
          </p:cNvPr>
          <p:cNvSpPr txBox="1"/>
          <p:nvPr/>
        </p:nvSpPr>
        <p:spPr>
          <a:xfrm>
            <a:off x="2278966" y="2117711"/>
            <a:ext cx="2110154" cy="646331"/>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Overall US Self-ID participation rate</a:t>
            </a:r>
          </a:p>
        </p:txBody>
      </p:sp>
      <p:sp>
        <p:nvSpPr>
          <p:cNvPr id="17" name="TextBox 16">
            <a:extLst>
              <a:ext uri="{FF2B5EF4-FFF2-40B4-BE49-F238E27FC236}">
                <a16:creationId xmlns:a16="http://schemas.microsoft.com/office/drawing/2014/main" id="{D11DD98C-37A3-3D6A-E7EC-78F7AD54D238}"/>
              </a:ext>
            </a:extLst>
          </p:cNvPr>
          <p:cNvSpPr txBox="1"/>
          <p:nvPr/>
        </p:nvSpPr>
        <p:spPr>
          <a:xfrm>
            <a:off x="469539" y="4336947"/>
            <a:ext cx="1966100" cy="1015663"/>
          </a:xfrm>
          <a:prstGeom prst="rect">
            <a:avLst/>
          </a:prstGeom>
          <a:noFill/>
        </p:spPr>
        <p:txBody>
          <a:bodyPr wrap="square" rtlCol="0">
            <a:spAutoFit/>
          </a:bodyPr>
          <a:lstStyle/>
          <a:p>
            <a:r>
              <a:rPr lang="en-US" sz="6000">
                <a:solidFill>
                  <a:srgbClr val="0033A1"/>
                </a:solidFill>
                <a:latin typeface="Arial" panose="020B0604020202020204" pitchFamily="34" charset="0"/>
                <a:cs typeface="Arial" panose="020B0604020202020204" pitchFamily="34" charset="0"/>
              </a:rPr>
              <a:t>8.1%</a:t>
            </a:r>
          </a:p>
        </p:txBody>
      </p:sp>
      <p:sp>
        <p:nvSpPr>
          <p:cNvPr id="19" name="TextBox 18">
            <a:extLst>
              <a:ext uri="{FF2B5EF4-FFF2-40B4-BE49-F238E27FC236}">
                <a16:creationId xmlns:a16="http://schemas.microsoft.com/office/drawing/2014/main" id="{1BE15A93-DC14-C838-40B8-7F2EB90345D0}"/>
              </a:ext>
            </a:extLst>
          </p:cNvPr>
          <p:cNvSpPr txBox="1"/>
          <p:nvPr/>
        </p:nvSpPr>
        <p:spPr>
          <a:xfrm>
            <a:off x="2300019" y="4601144"/>
            <a:ext cx="2110154" cy="646331"/>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Self-ID as having a disability </a:t>
            </a:r>
          </a:p>
        </p:txBody>
      </p:sp>
      <p:graphicFrame>
        <p:nvGraphicFramePr>
          <p:cNvPr id="3" name="Chart 2">
            <a:extLst>
              <a:ext uri="{FF2B5EF4-FFF2-40B4-BE49-F238E27FC236}">
                <a16:creationId xmlns:a16="http://schemas.microsoft.com/office/drawing/2014/main" id="{C6D72759-F7E3-AE12-D341-E4AB6597F7E1}"/>
              </a:ext>
            </a:extLst>
          </p:cNvPr>
          <p:cNvGraphicFramePr>
            <a:graphicFrameLocks/>
          </p:cNvGraphicFramePr>
          <p:nvPr/>
        </p:nvGraphicFramePr>
        <p:xfrm>
          <a:off x="5239140" y="1166528"/>
          <a:ext cx="6813547" cy="5260819"/>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253072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531EA320-96CC-49A0-B778-6852EE0B6416}"/>
              </a:ext>
            </a:extLst>
          </p:cNvPr>
          <p:cNvSpPr txBox="1">
            <a:spLocks/>
          </p:cNvSpPr>
          <p:nvPr/>
        </p:nvSpPr>
        <p:spPr bwMode="auto">
          <a:xfrm>
            <a:off x="760930" y="1859178"/>
            <a:ext cx="3870913" cy="2210073"/>
          </a:xfrm>
          <a:prstGeom prst="rect">
            <a:avLst/>
          </a:prstGeom>
        </p:spPr>
        <p:txBody>
          <a:bodyPr vert="horz" lIns="91440" tIns="45720" rIns="91440" bIns="45720" numCol="1" rtlCol="0" anchor="b" anchorCtr="0" compatLnSpc="1">
            <a:prstTxWarp prst="textNoShape">
              <a:avLst/>
            </a:prstTxWarp>
            <a:normAutofit fontScale="25000" lnSpcReduction="20000"/>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pPr defTabSz="914400">
              <a:spcAft>
                <a:spcPts val="600"/>
              </a:spcAft>
            </a:pPr>
            <a:r>
              <a:rPr lang="en-US" sz="17600">
                <a:solidFill>
                  <a:schemeClr val="tx1"/>
                </a:solidFill>
                <a:latin typeface="Arial"/>
                <a:ea typeface="+mj-ea"/>
                <a:cs typeface="Arial"/>
              </a:rPr>
              <a:t>Project Search</a:t>
            </a:r>
          </a:p>
          <a:p>
            <a:pPr defTabSz="914400">
              <a:spcAft>
                <a:spcPts val="600"/>
              </a:spcAft>
            </a:pPr>
            <a:endParaRPr lang="en-US" sz="9600" b="1">
              <a:solidFill>
                <a:srgbClr val="000000"/>
              </a:solidFill>
              <a:latin typeface="Arial"/>
              <a:ea typeface="+mn-ea"/>
              <a:cs typeface="Arial"/>
            </a:endParaRPr>
          </a:p>
          <a:p>
            <a:pPr defTabSz="914400">
              <a:spcAft>
                <a:spcPts val="600"/>
              </a:spcAft>
            </a:pPr>
            <a:r>
              <a:rPr lang="en-US" sz="7200" b="1">
                <a:solidFill>
                  <a:srgbClr val="0033A1"/>
                </a:solidFill>
                <a:latin typeface="Arial" panose="020B0604020202020204" pitchFamily="34" charset="0"/>
                <a:ea typeface="+mn-ea"/>
                <a:cs typeface="Arial" panose="020B0604020202020204" pitchFamily="34" charset="0"/>
              </a:rPr>
              <a:t>Pairs individuals with intellectual and developmental disabilities with business internships. </a:t>
            </a:r>
          </a:p>
          <a:p>
            <a:pPr defTabSz="914400">
              <a:spcAft>
                <a:spcPts val="600"/>
              </a:spcAft>
            </a:pPr>
            <a:endParaRPr lang="en-US" sz="7200" b="1">
              <a:solidFill>
                <a:srgbClr val="0033A1"/>
              </a:solidFill>
              <a:latin typeface="Arial" panose="020B0604020202020204" pitchFamily="34" charset="0"/>
              <a:ea typeface="+mn-ea"/>
              <a:cs typeface="Arial" panose="020B0604020202020204" pitchFamily="34" charset="0"/>
            </a:endParaRPr>
          </a:p>
          <a:p>
            <a:pPr defTabSz="914400">
              <a:spcAft>
                <a:spcPts val="600"/>
              </a:spcAft>
            </a:pPr>
            <a:r>
              <a:rPr lang="en-US" sz="7200" b="1">
                <a:solidFill>
                  <a:srgbClr val="0033A1"/>
                </a:solidFill>
                <a:latin typeface="Arial"/>
                <a:ea typeface="+mn-ea"/>
                <a:cs typeface="Arial"/>
              </a:rPr>
              <a:t>      valuable skills</a:t>
            </a:r>
            <a:endParaRPr lang="en-US" sz="7200" b="1">
              <a:solidFill>
                <a:srgbClr val="0033A1"/>
              </a:solidFill>
              <a:latin typeface="Arial" panose="020B0604020202020204" pitchFamily="34" charset="0"/>
              <a:ea typeface="+mn-ea"/>
              <a:cs typeface="Arial" panose="020B0604020202020204" pitchFamily="34" charset="0"/>
            </a:endParaRPr>
          </a:p>
          <a:p>
            <a:pPr defTabSz="914400">
              <a:spcAft>
                <a:spcPts val="600"/>
              </a:spcAft>
            </a:pPr>
            <a:endParaRPr lang="en-US" sz="7200" b="1">
              <a:solidFill>
                <a:srgbClr val="0033A1"/>
              </a:solidFill>
              <a:latin typeface="Arial"/>
              <a:ea typeface="+mn-ea"/>
              <a:cs typeface="Arial"/>
            </a:endParaRPr>
          </a:p>
          <a:p>
            <a:pPr defTabSz="914400">
              <a:spcAft>
                <a:spcPts val="600"/>
              </a:spcAft>
            </a:pPr>
            <a:r>
              <a:rPr lang="en-US" sz="7200" b="1">
                <a:solidFill>
                  <a:srgbClr val="0033A1"/>
                </a:solidFill>
                <a:latin typeface="Arial"/>
                <a:ea typeface="+mn-ea"/>
                <a:cs typeface="Arial"/>
              </a:rPr>
              <a:t>      overcome social, physical,            and economic isolation</a:t>
            </a:r>
            <a:endParaRPr lang="en-US" sz="7200" b="1">
              <a:solidFill>
                <a:srgbClr val="0033A1"/>
              </a:solidFill>
              <a:latin typeface="Arial" panose="020B0604020202020204" pitchFamily="34" charset="0"/>
              <a:ea typeface="+mn-ea"/>
              <a:cs typeface="Arial" panose="020B0604020202020204" pitchFamily="34" charset="0"/>
            </a:endParaRPr>
          </a:p>
          <a:p>
            <a:pPr defTabSz="914400">
              <a:spcAft>
                <a:spcPts val="600"/>
              </a:spcAft>
            </a:pPr>
            <a:endParaRPr lang="en-US" sz="7200" b="1">
              <a:solidFill>
                <a:srgbClr val="0033A1"/>
              </a:solidFill>
              <a:latin typeface="Arial" panose="020B0604020202020204" pitchFamily="34" charset="0"/>
              <a:ea typeface="+mn-ea"/>
              <a:cs typeface="Arial" panose="020B0604020202020204" pitchFamily="34" charset="0"/>
            </a:endParaRPr>
          </a:p>
          <a:p>
            <a:pPr defTabSz="914400">
              <a:spcAft>
                <a:spcPts val="600"/>
              </a:spcAft>
            </a:pPr>
            <a:endParaRPr lang="en-US" sz="2000" b="1" kern="0">
              <a:solidFill>
                <a:srgbClr val="25227D"/>
              </a:solidFill>
              <a:cs typeface="Arial"/>
            </a:endParaRPr>
          </a:p>
          <a:p>
            <a:pPr defTabSz="914400">
              <a:spcAft>
                <a:spcPts val="600"/>
              </a:spcAft>
            </a:pPr>
            <a:endParaRPr lang="en-US" sz="2000" b="1" kern="0">
              <a:solidFill>
                <a:srgbClr val="25227D"/>
              </a:solidFill>
              <a:cs typeface="Arial"/>
            </a:endParaRPr>
          </a:p>
        </p:txBody>
      </p:sp>
      <p:sp>
        <p:nvSpPr>
          <p:cNvPr id="46"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8A650FDA-45E3-6F61-FAE1-699A0BBD41DA}"/>
              </a:ext>
            </a:extLst>
          </p:cNvPr>
          <p:cNvPicPr>
            <a:picLocks noChangeAspect="1"/>
          </p:cNvPicPr>
          <p:nvPr/>
        </p:nvPicPr>
        <p:blipFill rotWithShape="1">
          <a:blip r:embed="rId3"/>
          <a:srcRect l="5700" t="-375" r="21528" b="8750"/>
          <a:stretch/>
        </p:blipFill>
        <p:spPr>
          <a:xfrm>
            <a:off x="4631843" y="-25803"/>
            <a:ext cx="7560707" cy="6917142"/>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5" name="TextBox 4">
            <a:extLst>
              <a:ext uri="{FF2B5EF4-FFF2-40B4-BE49-F238E27FC236}">
                <a16:creationId xmlns:a16="http://schemas.microsoft.com/office/drawing/2014/main" id="{0A1B2318-75CE-191A-CF5C-48B65D09C761}"/>
              </a:ext>
            </a:extLst>
          </p:cNvPr>
          <p:cNvSpPr txBox="1"/>
          <p:nvPr/>
        </p:nvSpPr>
        <p:spPr>
          <a:xfrm>
            <a:off x="760930" y="4627115"/>
            <a:ext cx="4208112" cy="2031325"/>
          </a:xfrm>
          <a:prstGeom prst="rect">
            <a:avLst/>
          </a:prstGeom>
          <a:noFill/>
        </p:spPr>
        <p:txBody>
          <a:bodyPr wrap="square" rtlCol="0">
            <a:spAutoFit/>
          </a:bodyPr>
          <a:lstStyle/>
          <a:p>
            <a:r>
              <a:rPr lang="en-US" b="1">
                <a:solidFill>
                  <a:srgbClr val="0033A1"/>
                </a:solidFill>
                <a:latin typeface="Arial" panose="020B0604020202020204" pitchFamily="34" charset="0"/>
                <a:cs typeface="Arial" panose="020B0604020202020204" pitchFamily="34" charset="0"/>
              </a:rPr>
              <a:t>“When I first got here to Boeing, everything was new, scary and a little hard,” Ramos said. </a:t>
            </a:r>
          </a:p>
          <a:p>
            <a:r>
              <a:rPr lang="en-US" b="1">
                <a:solidFill>
                  <a:srgbClr val="0033A1"/>
                </a:solidFill>
                <a:latin typeface="Arial" panose="020B0604020202020204" pitchFamily="34" charset="0"/>
                <a:cs typeface="Arial" panose="020B0604020202020204" pitchFamily="34" charset="0"/>
              </a:rPr>
              <a:t>“Eventually things got easier, and I began to learn a lot. Before I knew it, I loved coming to work here.”</a:t>
            </a:r>
          </a:p>
          <a:p>
            <a:endParaRPr lang="en-US"/>
          </a:p>
        </p:txBody>
      </p:sp>
      <p:pic>
        <p:nvPicPr>
          <p:cNvPr id="3" name="Graphic 2" descr="Arrow: Slight curve with solid fill">
            <a:extLst>
              <a:ext uri="{FF2B5EF4-FFF2-40B4-BE49-F238E27FC236}">
                <a16:creationId xmlns:a16="http://schemas.microsoft.com/office/drawing/2014/main" id="{50DDBC9B-81ED-A162-3682-A8B6A1EAE1F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5994" y="2482755"/>
            <a:ext cx="482221" cy="482221"/>
          </a:xfrm>
          <a:prstGeom prst="rect">
            <a:avLst/>
          </a:prstGeom>
        </p:spPr>
      </p:pic>
      <p:pic>
        <p:nvPicPr>
          <p:cNvPr id="4" name="Graphic 3" descr="Arrow: Slight curve with solid fill">
            <a:extLst>
              <a:ext uri="{FF2B5EF4-FFF2-40B4-BE49-F238E27FC236}">
                <a16:creationId xmlns:a16="http://schemas.microsoft.com/office/drawing/2014/main" id="{578FC18B-1B73-22C8-AE38-5838A568141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5993" y="3017292"/>
            <a:ext cx="482221" cy="482221"/>
          </a:xfrm>
          <a:prstGeom prst="rect">
            <a:avLst/>
          </a:prstGeom>
        </p:spPr>
      </p:pic>
    </p:spTree>
    <p:extLst>
      <p:ext uri="{BB962C8B-B14F-4D97-AF65-F5344CB8AC3E}">
        <p14:creationId xmlns:p14="http://schemas.microsoft.com/office/powerpoint/2010/main" val="2264549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7CFD2189-7EAD-47A6-B7A8-9A136F0E410A}"/>
              </a:ext>
            </a:extLst>
          </p:cNvPr>
          <p:cNvSpPr txBox="1"/>
          <p:nvPr/>
        </p:nvSpPr>
        <p:spPr>
          <a:xfrm>
            <a:off x="10887660" y="602627"/>
            <a:ext cx="1147584" cy="369332"/>
          </a:xfrm>
          <a:prstGeom prst="rect">
            <a:avLst/>
          </a:prstGeom>
          <a:noFill/>
        </p:spPr>
        <p:txBody>
          <a:bodyPr wrap="square" rtlCol="0">
            <a:spAutoFit/>
          </a:bodyPr>
          <a:lstStyle/>
          <a:p>
            <a:r>
              <a:rPr lang="en-US">
                <a:solidFill>
                  <a:srgbClr val="0033A1"/>
                </a:solidFill>
              </a:rPr>
              <a:t>5-10 min</a:t>
            </a:r>
          </a:p>
        </p:txBody>
      </p:sp>
      <p:pic>
        <p:nvPicPr>
          <p:cNvPr id="12" name="Graphic 11">
            <a:extLst>
              <a:ext uri="{FF2B5EF4-FFF2-40B4-BE49-F238E27FC236}">
                <a16:creationId xmlns:a16="http://schemas.microsoft.com/office/drawing/2014/main" id="{8535BA10-2A7B-4ACB-B53E-C37AF937046A}"/>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60620" y="554770"/>
            <a:ext cx="465047" cy="465047"/>
          </a:xfrm>
          <a:prstGeom prst="rect">
            <a:avLst/>
          </a:prstGeom>
        </p:spPr>
      </p:pic>
      <p:sp>
        <p:nvSpPr>
          <p:cNvPr id="16" name="TextBox 15">
            <a:extLst>
              <a:ext uri="{FF2B5EF4-FFF2-40B4-BE49-F238E27FC236}">
                <a16:creationId xmlns:a16="http://schemas.microsoft.com/office/drawing/2014/main" id="{A9E66DF5-DDA3-42B0-B2F9-70D2434C74A2}"/>
              </a:ext>
            </a:extLst>
          </p:cNvPr>
          <p:cNvSpPr txBox="1"/>
          <p:nvPr/>
        </p:nvSpPr>
        <p:spPr>
          <a:xfrm>
            <a:off x="382489" y="3029383"/>
            <a:ext cx="7724521" cy="2031325"/>
          </a:xfrm>
          <a:prstGeom prst="rect">
            <a:avLst/>
          </a:prstGeom>
          <a:noFill/>
        </p:spPr>
        <p:txBody>
          <a:bodyPr wrap="square" rtlCol="0">
            <a:spAutoFit/>
          </a:bodyPr>
          <a:lstStyle/>
          <a:p>
            <a:r>
              <a:rPr lang="en-US"/>
              <a:t>2) As a team, </a:t>
            </a:r>
            <a:r>
              <a:rPr lang="en-US" b="1"/>
              <a:t>discuss</a:t>
            </a:r>
            <a:r>
              <a:rPr lang="en-US"/>
              <a:t>: </a:t>
            </a:r>
          </a:p>
          <a:p>
            <a:pPr marL="742950" lvl="1" indent="-285750">
              <a:buFont typeface="Arial" panose="020B0604020202020204" pitchFamily="34" charset="0"/>
              <a:buChar char="•"/>
            </a:pPr>
            <a:r>
              <a:rPr lang="en-US"/>
              <a:t>Share a time when someone sought your input. What effect did it have on you? What about a time when you were left out of an important decision? </a:t>
            </a:r>
          </a:p>
          <a:p>
            <a:pPr marL="742950" lvl="1" indent="-285750">
              <a:buFont typeface="Arial" panose="020B0604020202020204" pitchFamily="34" charset="0"/>
              <a:buChar char="•"/>
            </a:pPr>
            <a:r>
              <a:rPr lang="en-US"/>
              <a:t>What actions by others have made you feel like you trust and respect each other?  </a:t>
            </a:r>
          </a:p>
          <a:p>
            <a:pPr marL="742950" lvl="1" indent="-285750">
              <a:buFont typeface="Arial" panose="020B0604020202020204" pitchFamily="34" charset="0"/>
              <a:buChar char="•"/>
            </a:pPr>
            <a:r>
              <a:rPr lang="en-US"/>
              <a:t>How do such actions impact the quality of our work?  </a:t>
            </a:r>
          </a:p>
        </p:txBody>
      </p:sp>
      <p:sp>
        <p:nvSpPr>
          <p:cNvPr id="7" name="TextBox 6">
            <a:extLst>
              <a:ext uri="{FF2B5EF4-FFF2-40B4-BE49-F238E27FC236}">
                <a16:creationId xmlns:a16="http://schemas.microsoft.com/office/drawing/2014/main" id="{2BCB3E61-9A6C-4AC8-BEA2-221C54DEA1E9}"/>
              </a:ext>
            </a:extLst>
          </p:cNvPr>
          <p:cNvSpPr txBox="1"/>
          <p:nvPr/>
        </p:nvSpPr>
        <p:spPr>
          <a:xfrm>
            <a:off x="382489" y="2302105"/>
            <a:ext cx="7266155" cy="923330"/>
          </a:xfrm>
          <a:prstGeom prst="rect">
            <a:avLst/>
          </a:prstGeom>
          <a:noFill/>
        </p:spPr>
        <p:txBody>
          <a:bodyPr wrap="square" rtlCol="0">
            <a:spAutoFit/>
          </a:bodyPr>
          <a:lstStyle/>
          <a:p>
            <a:pPr marL="342900" indent="-342900">
              <a:buAutoNum type="arabicParenR"/>
            </a:pPr>
            <a:r>
              <a:rPr lang="en-US"/>
              <a:t>Click the image, then click open (or save as) to </a:t>
            </a:r>
            <a:r>
              <a:rPr lang="en-US" b="1"/>
              <a:t>view or save the 1-page tip sheet</a:t>
            </a:r>
          </a:p>
          <a:p>
            <a:endParaRPr lang="en-US" b="1"/>
          </a:p>
        </p:txBody>
      </p:sp>
      <p:sp>
        <p:nvSpPr>
          <p:cNvPr id="18" name="Title 17">
            <a:extLst>
              <a:ext uri="{FF2B5EF4-FFF2-40B4-BE49-F238E27FC236}">
                <a16:creationId xmlns:a16="http://schemas.microsoft.com/office/drawing/2014/main" id="{37B2714D-9D25-9143-9BD2-EBF683008AEA}"/>
              </a:ext>
            </a:extLst>
          </p:cNvPr>
          <p:cNvSpPr>
            <a:spLocks noGrp="1"/>
          </p:cNvSpPr>
          <p:nvPr>
            <p:ph type="title"/>
          </p:nvPr>
        </p:nvSpPr>
        <p:spPr>
          <a:xfrm>
            <a:off x="469078" y="665511"/>
            <a:ext cx="11427023" cy="486661"/>
          </a:xfrm>
        </p:spPr>
        <p:txBody>
          <a:bodyPr>
            <a:normAutofit fontScale="90000"/>
          </a:bodyPr>
          <a:lstStyle/>
          <a:p>
            <a:r>
              <a:rPr lang="en-US" sz="3100"/>
              <a:t>SS&amp;L Easy Share – Inclusive Habits</a:t>
            </a:r>
          </a:p>
        </p:txBody>
      </p:sp>
      <p:pic>
        <p:nvPicPr>
          <p:cNvPr id="10" name="Picture 9">
            <a:hlinkClick r:id="rId5"/>
            <a:extLst>
              <a:ext uri="{FF2B5EF4-FFF2-40B4-BE49-F238E27FC236}">
                <a16:creationId xmlns:a16="http://schemas.microsoft.com/office/drawing/2014/main" id="{34B38A57-F937-6F15-991B-8B9AB7E94EF6}"/>
              </a:ext>
            </a:extLst>
          </p:cNvPr>
          <p:cNvPicPr>
            <a:picLocks noChangeAspect="1"/>
          </p:cNvPicPr>
          <p:nvPr/>
        </p:nvPicPr>
        <p:blipFill>
          <a:blip r:embed="rId6"/>
          <a:stretch>
            <a:fillRect/>
          </a:stretch>
        </p:blipFill>
        <p:spPr>
          <a:xfrm>
            <a:off x="8107009" y="1352508"/>
            <a:ext cx="3866242" cy="5052246"/>
          </a:xfrm>
          <a:prstGeom prst="rect">
            <a:avLst/>
          </a:prstGeom>
          <a:ln>
            <a:solidFill>
              <a:schemeClr val="tx1"/>
            </a:solidFill>
          </a:ln>
          <a:effectLst>
            <a:outerShdw blurRad="50800" dist="38100" dir="2700000" algn="tl" rotWithShape="0">
              <a:prstClr val="black">
                <a:alpha val="40000"/>
              </a:prstClr>
            </a:outerShdw>
          </a:effectLst>
        </p:spPr>
      </p:pic>
      <p:grpSp>
        <p:nvGrpSpPr>
          <p:cNvPr id="13" name="Group 12">
            <a:extLst>
              <a:ext uri="{FF2B5EF4-FFF2-40B4-BE49-F238E27FC236}">
                <a16:creationId xmlns:a16="http://schemas.microsoft.com/office/drawing/2014/main" id="{18A6FAAB-88FD-26BD-9286-F223D40A9E22}"/>
              </a:ext>
            </a:extLst>
          </p:cNvPr>
          <p:cNvGrpSpPr/>
          <p:nvPr/>
        </p:nvGrpSpPr>
        <p:grpSpPr>
          <a:xfrm>
            <a:off x="1328158" y="1408698"/>
            <a:ext cx="3249264" cy="756587"/>
            <a:chOff x="592280" y="1652255"/>
            <a:chExt cx="3249264" cy="756587"/>
          </a:xfrm>
        </p:grpSpPr>
        <p:sp>
          <p:nvSpPr>
            <p:cNvPr id="14" name="TextBox 13">
              <a:extLst>
                <a:ext uri="{FF2B5EF4-FFF2-40B4-BE49-F238E27FC236}">
                  <a16:creationId xmlns:a16="http://schemas.microsoft.com/office/drawing/2014/main" id="{34F798FB-973E-7E32-251A-B7DC6659D0D3}"/>
                </a:ext>
              </a:extLst>
            </p:cNvPr>
            <p:cNvSpPr txBox="1"/>
            <p:nvPr/>
          </p:nvSpPr>
          <p:spPr>
            <a:xfrm>
              <a:off x="592280" y="2028702"/>
              <a:ext cx="3249264" cy="380140"/>
            </a:xfrm>
            <a:prstGeom prst="rect">
              <a:avLst/>
            </a:prstGeom>
            <a:noFill/>
          </p:spPr>
          <p:txBody>
            <a:bodyPr wrap="square" rtlCol="0">
              <a:spAutoFit/>
            </a:bodyPr>
            <a:lstStyle/>
            <a:p>
              <a:pPr algn="ctr"/>
              <a:r>
                <a:rPr lang="en-US" b="1">
                  <a:solidFill>
                    <a:srgbClr val="0033A1"/>
                  </a:solidFill>
                </a:rPr>
                <a:t>Q3 2024 Inclusion by All</a:t>
              </a:r>
            </a:p>
          </p:txBody>
        </p:sp>
        <p:sp>
          <p:nvSpPr>
            <p:cNvPr id="17" name="TextBox 16">
              <a:extLst>
                <a:ext uri="{FF2B5EF4-FFF2-40B4-BE49-F238E27FC236}">
                  <a16:creationId xmlns:a16="http://schemas.microsoft.com/office/drawing/2014/main" id="{87B237B2-D1B4-0BBD-13C0-01675B56615B}"/>
                </a:ext>
              </a:extLst>
            </p:cNvPr>
            <p:cNvSpPr txBox="1"/>
            <p:nvPr/>
          </p:nvSpPr>
          <p:spPr>
            <a:xfrm>
              <a:off x="1031068" y="1652255"/>
              <a:ext cx="2371687" cy="400110"/>
            </a:xfrm>
            <a:prstGeom prst="rect">
              <a:avLst/>
            </a:prstGeom>
            <a:noFill/>
          </p:spPr>
          <p:txBody>
            <a:bodyPr wrap="square" rtlCol="0">
              <a:spAutoFit/>
            </a:bodyPr>
            <a:lstStyle/>
            <a:p>
              <a:pPr algn="ctr">
                <a:defRPr/>
              </a:pPr>
              <a:r>
                <a:rPr lang="en-US" sz="2000" b="1" kern="0">
                  <a:solidFill>
                    <a:srgbClr val="0039A6"/>
                  </a:solidFill>
                </a:rPr>
                <a:t>Team Talks</a:t>
              </a:r>
            </a:p>
          </p:txBody>
        </p:sp>
      </p:grpSp>
      <p:pic>
        <p:nvPicPr>
          <p:cNvPr id="19" name="Picture 18">
            <a:extLst>
              <a:ext uri="{FF2B5EF4-FFF2-40B4-BE49-F238E27FC236}">
                <a16:creationId xmlns:a16="http://schemas.microsoft.com/office/drawing/2014/main" id="{7ACD74F2-D0B1-5425-854A-A941CAE54264}"/>
              </a:ext>
            </a:extLst>
          </p:cNvPr>
          <p:cNvPicPr>
            <a:picLocks noChangeAspect="1"/>
          </p:cNvPicPr>
          <p:nvPr/>
        </p:nvPicPr>
        <p:blipFill>
          <a:blip r:embed="rId7"/>
          <a:stretch>
            <a:fillRect/>
          </a:stretch>
        </p:blipFill>
        <p:spPr>
          <a:xfrm>
            <a:off x="4281579" y="1390404"/>
            <a:ext cx="591684" cy="676210"/>
          </a:xfrm>
          <a:prstGeom prst="rect">
            <a:avLst/>
          </a:prstGeom>
        </p:spPr>
      </p:pic>
      <p:sp>
        <p:nvSpPr>
          <p:cNvPr id="21" name="TextBox 20">
            <a:extLst>
              <a:ext uri="{FF2B5EF4-FFF2-40B4-BE49-F238E27FC236}">
                <a16:creationId xmlns:a16="http://schemas.microsoft.com/office/drawing/2014/main" id="{C51C82A9-34BF-E3AE-8448-E9EB15CD45ED}"/>
              </a:ext>
            </a:extLst>
          </p:cNvPr>
          <p:cNvSpPr txBox="1"/>
          <p:nvPr/>
        </p:nvSpPr>
        <p:spPr>
          <a:xfrm>
            <a:off x="382490" y="4864902"/>
            <a:ext cx="7724521" cy="1200329"/>
          </a:xfrm>
          <a:prstGeom prst="rect">
            <a:avLst/>
          </a:prstGeom>
          <a:noFill/>
        </p:spPr>
        <p:txBody>
          <a:bodyPr wrap="square">
            <a:spAutoFit/>
          </a:bodyPr>
          <a:lstStyle/>
          <a:p>
            <a:endParaRPr lang="en-US"/>
          </a:p>
          <a:p>
            <a:pPr marL="225425" indent="-225425"/>
            <a:r>
              <a:rPr lang="en-US"/>
              <a:t>3) </a:t>
            </a:r>
            <a:r>
              <a:rPr lang="en-US" b="1"/>
              <a:t>Commit to action</a:t>
            </a:r>
            <a:r>
              <a:rPr lang="en-US"/>
              <a:t>: Pick one or two actions from the poster to commit to practicing both individually and as a team.</a:t>
            </a:r>
          </a:p>
          <a:p>
            <a:r>
              <a:rPr lang="en-US"/>
              <a:t>4) </a:t>
            </a:r>
            <a:r>
              <a:rPr lang="en-US" b="1"/>
              <a:t>Go Deeper</a:t>
            </a:r>
            <a:r>
              <a:rPr lang="en-US"/>
              <a:t>:  Review our past discussion guide  </a:t>
            </a:r>
            <a:r>
              <a:rPr lang="en-US">
                <a:hlinkClick r:id="rId8"/>
              </a:rPr>
              <a:t>“It's About the Little Things”</a:t>
            </a:r>
            <a:endParaRPr lang="en-US"/>
          </a:p>
        </p:txBody>
      </p:sp>
    </p:spTree>
    <p:extLst>
      <p:ext uri="{BB962C8B-B14F-4D97-AF65-F5344CB8AC3E}">
        <p14:creationId xmlns:p14="http://schemas.microsoft.com/office/powerpoint/2010/main" val="1386518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f5e0b4d3-0696-4af4-a0c7-1430cae4156f">
      <UserInfo>
        <DisplayName>El Kha, SoniaN</DisplayName>
        <AccountId>44</AccountId>
        <AccountType/>
      </UserInfo>
      <UserInfo>
        <DisplayName>ZZSamaroo, Diane</DisplayName>
        <AccountId>47</AccountId>
        <AccountType/>
      </UserInfo>
      <UserInfo>
        <DisplayName>Avasthi, Ruchika</DisplayName>
        <AccountId>42</AccountId>
        <AccountType/>
      </UserInfo>
      <UserInfo>
        <DisplayName>Reed (US), Mary Beth</DisplayName>
        <AccountId>86</AccountId>
        <AccountType/>
      </UserInfo>
      <UserInfo>
        <DisplayName>Althauser (US), Elizabeth A</DisplayName>
        <AccountId>87</AccountId>
        <AccountType/>
      </UserInfo>
      <UserInfo>
        <DisplayName>Garcia (US), Stephanie L</DisplayName>
        <AccountId>88</AccountId>
        <AccountType/>
      </UserInfo>
      <UserInfo>
        <DisplayName>Parker (US), Sandra L</DisplayName>
        <AccountId>33</AccountId>
        <AccountType/>
      </UserInfo>
    </SharedWithUsers>
    <lcf76f155ced4ddcb4097134ff3c332f xmlns="599b17bc-daf0-4717-9425-56650c9add43">
      <Terms xmlns="http://schemas.microsoft.com/office/infopath/2007/PartnerControls"/>
    </lcf76f155ced4ddcb4097134ff3c332f>
    <TaxCatchAll xmlns="f5e0b4d3-0696-4af4-a0c7-1430cae4156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02A7A2C775F00429384356610C9D53D" ma:contentTypeVersion="13" ma:contentTypeDescription="Create a new document." ma:contentTypeScope="" ma:versionID="e3188c739a0a5e382cf68087abd4dca0">
  <xsd:schema xmlns:xsd="http://www.w3.org/2001/XMLSchema" xmlns:xs="http://www.w3.org/2001/XMLSchema" xmlns:p="http://schemas.microsoft.com/office/2006/metadata/properties" xmlns:ns2="599b17bc-daf0-4717-9425-56650c9add43" xmlns:ns3="f5e0b4d3-0696-4af4-a0c7-1430cae4156f" targetNamespace="http://schemas.microsoft.com/office/2006/metadata/properties" ma:root="true" ma:fieldsID="98e8fc91ad6131f307f99554eb453422" ns2:_="" ns3:_="">
    <xsd:import namespace="599b17bc-daf0-4717-9425-56650c9add43"/>
    <xsd:import namespace="f5e0b4d3-0696-4af4-a0c7-1430cae4156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9b17bc-daf0-4717-9425-56650c9add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069de23d-3fb2-4419-b1d3-a00954dfaf38"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5e0b4d3-0696-4af4-a0c7-1430cae4156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58390c8-0338-49f2-a155-c6c0f51de439}" ma:internalName="TaxCatchAll" ma:showField="CatchAllData" ma:web="f5e0b4d3-0696-4af4-a0c7-1430cae4156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CCD639B-A07B-4873-8A12-204BC6CA76DB}">
  <ds:schemaRefs>
    <ds:schemaRef ds:uri="06180d43-de4c-46a4-a48c-630d8a7afdf2"/>
    <ds:schemaRef ds:uri="1d60afc6-53e5-4a57-be28-db9e65e0b4a0"/>
    <ds:schemaRef ds:uri="599b17bc-daf0-4717-9425-56650c9add43"/>
    <ds:schemaRef ds:uri="f5e0b4d3-0696-4af4-a0c7-1430cae4156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9AE09B2-24F4-4F32-AD6F-88721705A650}">
  <ds:schemaRefs>
    <ds:schemaRef ds:uri="http://schemas.microsoft.com/sharepoint/v3/contenttype/forms"/>
  </ds:schemaRefs>
</ds:datastoreItem>
</file>

<file path=customXml/itemProps3.xml><?xml version="1.0" encoding="utf-8"?>
<ds:datastoreItem xmlns:ds="http://schemas.openxmlformats.org/officeDocument/2006/customXml" ds:itemID="{61B5BEFC-E2EA-42DA-9813-2C7605CCF3EE}">
  <ds:schemaRefs>
    <ds:schemaRef ds:uri="599b17bc-daf0-4717-9425-56650c9add43"/>
    <ds:schemaRef ds:uri="f5e0b4d3-0696-4af4-a0c7-1430cae4156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2021 GEDI Template</Template>
  <TotalTime>246</TotalTime>
  <Words>1378</Words>
  <Application>Microsoft Office PowerPoint</Application>
  <PresentationFormat>Widescreen</PresentationFormat>
  <Paragraphs>134</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Arial,Sans-Serif</vt:lpstr>
      <vt:lpstr>Calibri</vt:lpstr>
      <vt:lpstr>Wingdings</vt:lpstr>
      <vt:lpstr>Office Theme</vt:lpstr>
      <vt:lpstr>PowerPoint Presentation</vt:lpstr>
      <vt:lpstr>Big Things to Keep the Conversation Going</vt:lpstr>
      <vt:lpstr>Disability Self-ID (US Employees)</vt:lpstr>
      <vt:lpstr>PowerPoint Presentation</vt:lpstr>
      <vt:lpstr>SS&amp;L Easy Share – Inclusive Habits</vt:lpstr>
    </vt:vector>
  </TitlesOfParts>
  <Company>The Boeing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Percy Perera</dc:creator>
  <cp:lastModifiedBy>Dominguez (US), Ramona D</cp:lastModifiedBy>
  <cp:revision>178</cp:revision>
  <dcterms:created xsi:type="dcterms:W3CDTF">2021-12-07T20:41:45Z</dcterms:created>
  <dcterms:modified xsi:type="dcterms:W3CDTF">2024-07-17T19:02:27Z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0x010100802A7A2C775F00429384356610C9D53D</vt:lpwstr>
  </property>
  <property fmtid="{D5CDD505-2E9C-101B-9397-08002B2CF9AE}" pid="3" name="MediaServiceImageTags">
    <vt:lpwstr/>
  </property>
</Properties>
</file>