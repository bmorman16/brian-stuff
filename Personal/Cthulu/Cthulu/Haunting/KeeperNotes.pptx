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7" r:id="rId10"/>
    <p:sldId id="266" r:id="rId11"/>
    <p:sldId id="268" r:id="rId12"/>
    <p:sldId id="263" r:id="rId13"/>
    <p:sldId id="26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BA4D-DA31-5970-3230-6F2F2BC68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C3409-026A-6A6B-9218-90B09EE2B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493DA-128E-6AE8-8381-1C42E30C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44D2-283D-CBDF-EFF1-3DAF53CE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B0DBB-30BC-DFAA-EF91-35DE865C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70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9D03-7348-D9D7-0CB8-EB8D048A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83820-4053-DE2D-3A21-508F1B2DA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E013-157A-8E42-0898-367CACBA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2B6C8-B6B7-4AC8-B6D3-79C774BA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01EA5-494D-D81C-E5D1-8FB600EC0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4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8197-010D-583F-A180-1C732672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D19B2-BF14-27B9-F3F3-7CBD224AE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F1B57-822A-20E0-8459-EA45EC37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D0E96-F29E-40C6-BBEB-44BBCEB0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3C099-44F5-3D6F-E6B9-1583DB8E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8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F72F4-6609-7B21-23C0-82A2E7FE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6DE8-95B0-9268-FF98-37AE02E7D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A4A38-A1CE-65E8-A00E-F2A4E7654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A7B22-07D9-13ED-2574-E5C981DF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A926D-26E3-9489-30F1-489416252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6C997-7284-4D7C-39B4-1F40EBA0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5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88D6-D1C2-2FA7-EDC0-10CAC9986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F3C4E-74D5-DDBA-934D-048477C44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0F59B-34A1-62B2-93C0-80F04409F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4B375-9F3C-5708-3390-1AD4DCC3D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ADF79-F905-45AE-4108-2E76CB7B5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F5C0FF-B2DD-8E2B-07FB-76AA7B86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37E46-7843-CC3C-16E4-844CBF097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CC840C-F75E-BE64-8F18-79A72A1B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9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CFEC-618B-DEB5-1BDC-0DBC099F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60B46-4CBA-4E42-90F9-9BFE5B975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4BB14-843F-0391-E1B3-B2482C5C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C541D-9F55-F73E-D0CA-76F40D0D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9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68692-CD5B-4830-2FB6-24E0449B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F8C1E-DDAF-9DAD-6DEC-B0550207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136D4-5C88-08E0-031B-AB6A0BD5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5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AB73-1B85-9587-DE68-3937C004D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42209-F18A-E55E-6783-D7569A41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A6A95-7175-0D43-1384-EA9F1E8D6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37525-11EA-1F57-0D31-F1AEB4FB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9870F-FD8B-EAC0-F781-C020649A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8747C-75B6-C7DB-3D11-C30CB4C9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BA048-C207-E75C-FADE-E6AEADF8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C42C5-F6DF-4818-DD25-37055AFA9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E1F2E-787D-7A8B-C1FD-80332E997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97291-F741-C02B-74A9-E44A4DEC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480AD-7DEB-9BB5-83DB-A980315E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2E726-E0A9-83E5-4DAA-16AEBCB9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6FF6-7542-0C0D-02B5-B28D1AF2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4E9BE-9C9B-371B-EA43-ECF6AA333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2D5BC-1B19-785C-3335-C4C850F5A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57B9A-EC08-5662-3034-B1B76865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14FB2-D157-AB51-8200-2DD6783B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3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80281-6599-22F1-C6AF-0DB120A3D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5F17D-51F5-EA2B-48D9-1CF495909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0F319-086A-84B0-27A0-DB0AECB63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FDD09-A955-72A3-CD3D-75B0C8C5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19554-BCEE-FDF1-7E71-64C06949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0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7F3879-EA6C-FF68-D2C6-53E63F698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3DC88-ECF5-185F-47F5-AE115990E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490B4-3958-68FF-E228-D2B8898B3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BD0E4-C9A4-40C4-908A-0C0632C72593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952E4-B041-BC3C-3128-FC4079F34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B8C0B-8772-DE81-6AEB-BF85CF5AD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E45C9-AD3B-4B8F-8DFD-BBE0CE52A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4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fi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f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2A8D-5788-773B-53A5-4E05ECD23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752"/>
            <a:ext cx="4572000" cy="1091448"/>
          </a:xfrm>
        </p:spPr>
        <p:txBody>
          <a:bodyPr>
            <a:normAutofit fontScale="90000"/>
          </a:bodyPr>
          <a:lstStyle/>
          <a:p>
            <a:r>
              <a:rPr lang="en-US" dirty="0"/>
              <a:t>The Crew’s office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09A68-64B0-7F07-A1B6-44448CD38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03094" y="1773238"/>
            <a:ext cx="5056094" cy="4576010"/>
          </a:xfrm>
        </p:spPr>
        <p:txBody>
          <a:bodyPr/>
          <a:lstStyle/>
          <a:p>
            <a:r>
              <a:rPr lang="en-US" dirty="0"/>
              <a:t>Conrad Knott enters the office. </a:t>
            </a:r>
          </a:p>
          <a:p>
            <a:r>
              <a:rPr lang="en-US" dirty="0"/>
              <a:t>Ask for crew help to investigate his new property. </a:t>
            </a:r>
          </a:p>
          <a:p>
            <a:r>
              <a:rPr lang="en-US" dirty="0"/>
              <a:t>He had one renter and they ran out.  The Macario family.  </a:t>
            </a:r>
          </a:p>
          <a:p>
            <a:r>
              <a:rPr lang="en-US" dirty="0"/>
              <a:t>Ill pay $20 a day.</a:t>
            </a:r>
          </a:p>
          <a:p>
            <a:pPr marL="457200" indent="-457200">
              <a:buAutoNum type="arabicParenR"/>
            </a:pPr>
            <a:r>
              <a:rPr lang="en-US" dirty="0"/>
              <a:t>Boston Globe offices for newspaper</a:t>
            </a:r>
          </a:p>
          <a:p>
            <a:pPr marL="457200" indent="-457200">
              <a:buAutoNum type="arabicParenR"/>
            </a:pPr>
            <a:r>
              <a:rPr lang="en-US" dirty="0"/>
              <a:t>Central Library for general research</a:t>
            </a:r>
          </a:p>
          <a:p>
            <a:pPr marL="457200" indent="-457200">
              <a:buAutoNum type="arabicParenR"/>
            </a:pPr>
            <a:r>
              <a:rPr lang="en-US" dirty="0"/>
              <a:t>Hall of Records – house info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31FE9C-2707-6B62-38A5-329F12FC5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C9F32B-6BAC-B19B-1E84-A43E9D0FD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758" y="1054476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1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A3AA-A52C-0547-4575-CB99ADBE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Handout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3D6F2-88B2-5D75-7540-032526D36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163" y="365125"/>
            <a:ext cx="6055393" cy="619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6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999E-E472-49A5-F526-75D4D7E1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72326" cy="1325563"/>
          </a:xfrm>
        </p:spPr>
        <p:txBody>
          <a:bodyPr/>
          <a:lstStyle/>
          <a:p>
            <a:r>
              <a:rPr lang="en-US" dirty="0"/>
              <a:t>Boston Globe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7CEAA-2687-F93A-75CC-24EE4D81B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353" y="0"/>
            <a:ext cx="6858000" cy="6858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C753E4-14B9-48EA-6B22-EABAC1828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825" y="192154"/>
            <a:ext cx="2301175" cy="2301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D0C565-AD08-C009-DE87-09F08A433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475" y="2493329"/>
            <a:ext cx="2295525" cy="2295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078069-A3F5-A682-3774-FBDB0C7EB28F}"/>
              </a:ext>
            </a:extLst>
          </p:cNvPr>
          <p:cNvSpPr txBox="1"/>
          <p:nvPr/>
        </p:nvSpPr>
        <p:spPr>
          <a:xfrm>
            <a:off x="674703" y="2015231"/>
            <a:ext cx="48179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Ruth Blake secretary – reference the morgue may</a:t>
            </a:r>
          </a:p>
          <a:p>
            <a:r>
              <a:rPr lang="en-US" dirty="0"/>
              <a:t>Mention they have nothing older than 1878 fire</a:t>
            </a:r>
          </a:p>
          <a:p>
            <a:r>
              <a:rPr lang="en-US" dirty="0"/>
              <a:t>Arty Wilmott editor – power tripping editor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C00F88-5F23-A0D3-4F94-7F0AA719F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653" y="3318445"/>
            <a:ext cx="32004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339D-83FE-708A-5510-731C9897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Library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025A2-B6A3-C1EC-76BC-D7CE553C0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606" y="0"/>
            <a:ext cx="6162394" cy="61623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36E36D-F4D8-7706-3D79-2E1B9B196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365125"/>
            <a:ext cx="6414362" cy="2252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BB7EEC-6472-5FE7-6904-4BFF87A04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2859741"/>
            <a:ext cx="3200400" cy="1066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22E130-BD86-0E57-407F-7651237E5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5481637"/>
            <a:ext cx="3219450" cy="790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35E7FB-8A57-AC99-C78F-BDBEB80D7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" y="4063392"/>
            <a:ext cx="32004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33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A479-58C7-3CFD-9D65-33C62039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 of Records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3371E-0C46-2F2A-3DA6-25EEC5F8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35133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6C9BC8-1836-FAE1-69E2-D9925459D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321" y="1690688"/>
            <a:ext cx="5674696" cy="26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91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3EE9-B216-C175-EE77-705D0035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31700A-BE3A-7CBE-883D-5B689B7A3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7695" y="1876091"/>
            <a:ext cx="4926948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4F1BA5-7B64-5245-C940-7C576D544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373" y="595146"/>
            <a:ext cx="3684089" cy="23764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DD8F57-555B-199A-DEE2-9D6226604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67" y="3554162"/>
            <a:ext cx="6094420" cy="293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9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73DD4-5D59-D624-9D58-76BA2A55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Police Station and Higher Courts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667AC8-D6E2-2DAE-4B2F-485A5877A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831" y="1587500"/>
            <a:ext cx="435133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C997D0-61E0-3287-E210-658904C6C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25" y="1323974"/>
            <a:ext cx="30003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08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4901-78A8-F9D8-B600-EE4384E4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Neighborhood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72109-78B6-CDDB-1868-F6438EE1B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178" y="0"/>
            <a:ext cx="435133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5B01D-8CC0-0355-A23F-9474AE162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465" y="2285026"/>
            <a:ext cx="3938337" cy="3938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D2DDEC-B314-D2FF-08C6-99C87FC45C62}"/>
              </a:ext>
            </a:extLst>
          </p:cNvPr>
          <p:cNvSpPr txBox="1"/>
          <p:nvPr/>
        </p:nvSpPr>
        <p:spPr>
          <a:xfrm>
            <a:off x="543697" y="1878227"/>
            <a:ext cx="5165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Mr</a:t>
            </a:r>
            <a:r>
              <a:rPr lang="en-US" dirty="0"/>
              <a:t> Don Dooley wants a bribe roll credit or try other stuff.  If they bribe well go heavy on lies.</a:t>
            </a:r>
          </a:p>
          <a:p>
            <a:endParaRPr lang="en-US" dirty="0"/>
          </a:p>
          <a:p>
            <a:r>
              <a:rPr lang="en-US" dirty="0"/>
              <a:t>- Macario family moved in a few years back</a:t>
            </a:r>
          </a:p>
          <a:p>
            <a:r>
              <a:rPr lang="en-US" dirty="0"/>
              <a:t>Dad had a serious accident and went mad – a haunting with burning eyes</a:t>
            </a:r>
          </a:p>
          <a:p>
            <a:r>
              <a:rPr lang="en-US" dirty="0"/>
              <a:t>A month later the lady went mad too</a:t>
            </a:r>
          </a:p>
          <a:p>
            <a:r>
              <a:rPr lang="en-US" dirty="0"/>
              <a:t>Both are in Roxbury sanitorium</a:t>
            </a:r>
          </a:p>
          <a:p>
            <a:r>
              <a:rPr lang="en-US" dirty="0"/>
              <a:t>Kids were taken to live in </a:t>
            </a:r>
            <a:r>
              <a:rPr lang="en-US" dirty="0" err="1"/>
              <a:t>baltimore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36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7501-4D73-BAAF-FCE0-E1DF29C0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Roxbury Sanitarium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8E75C-60F4-E6C1-71A8-7C1081757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2789" cy="4351338"/>
          </a:xfrm>
        </p:spPr>
        <p:txBody>
          <a:bodyPr/>
          <a:lstStyle/>
          <a:p>
            <a:r>
              <a:rPr lang="en-US" dirty="0"/>
              <a:t>Vittorio is crazy holding bible – throws it open “By his own weapon is the devil bested”</a:t>
            </a:r>
          </a:p>
          <a:p>
            <a:r>
              <a:rPr lang="en-US" dirty="0"/>
              <a:t>Gabriela is kind – presence leans over her throws things and hated husband</a:t>
            </a:r>
          </a:p>
          <a:p>
            <a:r>
              <a:rPr lang="en-US" dirty="0"/>
              <a:t>Kids complain of nightmares of a man with burning eyes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1C4A3-E2E9-D60E-6800-866E801DA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523" y="-23812"/>
            <a:ext cx="3429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586E2B-FE37-A00E-DC81-A8DBC083C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013" y="3743325"/>
            <a:ext cx="2724150" cy="2724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5DD8AD-D1C4-06D4-912F-E13183A64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850" y="3743325"/>
            <a:ext cx="27241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4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F05F-7F99-0558-2E71-71AE7178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7" y="126284"/>
            <a:ext cx="5835316" cy="1325563"/>
          </a:xfrm>
        </p:spPr>
        <p:txBody>
          <a:bodyPr/>
          <a:lstStyle/>
          <a:p>
            <a:r>
              <a:rPr lang="en-US" dirty="0"/>
              <a:t>Chapel of Contemplation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9753D1-3DE3-2674-547A-30A5CE37C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3" y="924865"/>
            <a:ext cx="435133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C8B76B-6B2B-3A76-AC5B-EB7FB9485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835" y="5167313"/>
            <a:ext cx="1485900" cy="1304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64F7E3-4E57-5CA5-0408-1715AE679BD3}"/>
              </a:ext>
            </a:extLst>
          </p:cNvPr>
          <p:cNvSpPr txBox="1"/>
          <p:nvPr/>
        </p:nvSpPr>
        <p:spPr>
          <a:xfrm>
            <a:off x="543062" y="1690687"/>
            <a:ext cx="3071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nearing the building feel burning headaches setting in.</a:t>
            </a:r>
          </a:p>
          <a:p>
            <a:r>
              <a:rPr lang="en-US" dirty="0"/>
              <a:t>Floorboards feel week.  Luck roll – failures make a jump roll to not fall 10ft.  Falling is 1d6 damage.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7A8FB1-BE6F-4234-B035-41796C588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2" y="3100534"/>
            <a:ext cx="5747864" cy="18829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0D20FD-49F8-0744-ACC8-73F205B269BA}"/>
              </a:ext>
            </a:extLst>
          </p:cNvPr>
          <p:cNvSpPr txBox="1"/>
          <p:nvPr/>
        </p:nvSpPr>
        <p:spPr>
          <a:xfrm>
            <a:off x="6351895" y="175951"/>
            <a:ext cx="563155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Make a spot hidden find journal of cult activities </a:t>
            </a:r>
            <a:r>
              <a:rPr lang="en-US" sz="1800" b="0" i="1" u="none" strike="noStrike" baseline="0" dirty="0">
                <a:latin typeface="ACaslonPro-Italic"/>
              </a:rPr>
              <a:t>The musty old journal falls to pieces as you turn the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pages, but the name Walter Corbitt catches your eye.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An entry records that Walter Corbitt was buried in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the basement of his house, “In accordance with his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wishes and with the wishes of that one who waits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in the dark”.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Alongside the journal is an enormous volume,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handwritten in Latin, but so rotten and worm-eaten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that whole sections no longer can be understood.”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The tome is a copy of the </a:t>
            </a:r>
            <a:r>
              <a:rPr lang="en-US" sz="1800" b="0" i="1" u="none" strike="noStrike" baseline="0" dirty="0">
                <a:latin typeface="ACaslonPro-Italic"/>
              </a:rPr>
              <a:t>Liber </a:t>
            </a:r>
            <a:r>
              <a:rPr lang="en-US" sz="1800" b="0" i="1" u="none" strike="noStrike" baseline="0" dirty="0" err="1">
                <a:latin typeface="ACaslonPro-Italic"/>
              </a:rPr>
              <a:t>Ivonis</a:t>
            </a:r>
            <a:r>
              <a:rPr lang="en-US" sz="1800" b="0" i="0" u="none" strike="noStrike" baseline="0" dirty="0">
                <a:latin typeface="ACaslonPro-Regular"/>
              </a:rPr>
              <a:t>. A cursory look at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book will show that it is in Latin and deals with matters of an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occult nature. An initial reading of this book (requiring either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a </a:t>
            </a:r>
            <a:r>
              <a:rPr lang="en-US" sz="1800" b="1" i="0" u="none" strike="noStrike" baseline="0" dirty="0">
                <a:latin typeface="ACaslonPro-Bold"/>
              </a:rPr>
              <a:t>Read Latin </a:t>
            </a:r>
            <a:r>
              <a:rPr lang="en-US" sz="1800" b="0" i="0" u="none" strike="noStrike" baseline="0" dirty="0">
                <a:latin typeface="ACaslonPro-Regular"/>
              </a:rPr>
              <a:t>skill of 50% or more, or a successful </a:t>
            </a:r>
            <a:r>
              <a:rPr lang="en-US" sz="1800" b="1" i="0" u="none" strike="noStrike" baseline="0" dirty="0">
                <a:latin typeface="ACaslonPro-Bold"/>
              </a:rPr>
              <a:t>Read Latin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roll) will take a minimum of three hours. If an investigator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takes the time to do this then have that investigator gain 2%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Cthulhu Mythos knowledge (and reduce Maximum Sanity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by the same amount, from 99 to 97).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7BA7-8978-F429-2123-1BF4BC40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Corbitt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7B72C-FA8D-EB81-E96E-B24CD1A3D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0169" cy="4351338"/>
          </a:xfrm>
        </p:spPr>
        <p:txBody>
          <a:bodyPr/>
          <a:lstStyle/>
          <a:p>
            <a:r>
              <a:rPr lang="en-US" dirty="0"/>
              <a:t>Front door is locked windows are nailed shut and coal shoot is boarded up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FA58CBD-E1DE-4AAB-0E74-C2B3FC2B6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178" y="0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11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04E88-5489-FC56-14C3-F22F618C7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map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ED6C156-5A64-96EF-2A28-E534745E7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378" y="1690688"/>
            <a:ext cx="2624043" cy="4351338"/>
          </a:xfrm>
        </p:spPr>
      </p:pic>
    </p:spTree>
    <p:extLst>
      <p:ext uri="{BB962C8B-B14F-4D97-AF65-F5344CB8AC3E}">
        <p14:creationId xmlns:p14="http://schemas.microsoft.com/office/powerpoint/2010/main" val="558315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6814-1E78-0818-8B61-77AFC423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18AF4-EA6F-8B1C-9723-D94394584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0184" y="4316017"/>
            <a:ext cx="6877050" cy="3705225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2C365C4-C24B-E1D3-3602-2C9AF453C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464146"/>
            <a:ext cx="2924175" cy="375285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69616B5-9139-1146-E149-4F10246B5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75" y="162322"/>
            <a:ext cx="63817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0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256A-4026-6C29-AC0D-7D1DB745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floor – room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2C2C2-3C8A-9720-B129-579CBDFA8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87779" cy="4351338"/>
          </a:xfrm>
        </p:spPr>
        <p:txBody>
          <a:bodyPr/>
          <a:lstStyle/>
          <a:p>
            <a:r>
              <a:rPr lang="en-US" dirty="0"/>
              <a:t>Roll </a:t>
            </a:r>
            <a:r>
              <a:rPr lang="en-US" dirty="0" err="1"/>
              <a:t>corbitts</a:t>
            </a:r>
            <a:r>
              <a:rPr lang="en-US" dirty="0"/>
              <a:t> magic and a sudden stench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69928D-8A35-9ABE-34C9-41BC2C4F2483}"/>
              </a:ext>
            </a:extLst>
          </p:cNvPr>
          <p:cNvSpPr txBox="1"/>
          <p:nvPr/>
        </p:nvSpPr>
        <p:spPr>
          <a:xfrm>
            <a:off x="5325979" y="1375649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u="none" strike="noStrike" baseline="0" dirty="0">
                <a:latin typeface="ACaslonPro-Italic"/>
              </a:rPr>
              <a:t>The room is filled with boxes and junk, such as rusted water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tanks and old bicycles. At the right end of the room is a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cupboard, boarded shut.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If the cupboard is wrenched open, three bound books are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found within—the diaries of a certain W. Corbitt, a former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inhabitant of the house, as the address on the flyleaf of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volume one testifies.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The </a:t>
            </a:r>
            <a:r>
              <a:rPr lang="en-US" sz="1800" b="0" i="1" u="none" strike="noStrike" baseline="0" dirty="0">
                <a:latin typeface="ACaslonPro-Italic"/>
              </a:rPr>
              <a:t>Corbitt Diaries </a:t>
            </a:r>
            <a:r>
              <a:rPr lang="en-US" sz="1800" b="0" i="0" u="none" strike="noStrike" baseline="0" dirty="0">
                <a:latin typeface="ACaslonPro-Regular"/>
              </a:rPr>
              <a:t>are in English, though sometimes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strangely phrased. The three volumes take a total of two days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to read, adding +4 to Cthulhu Mythos skill and losing 1D4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Sanity points.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The diaries describe Corbitt’s various occult experiments,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including the summoning of some unearthly spirit and other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magic, and clearly describe a spell entitled “Call Forth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Opener of Ways” (an alternative title for the spell </a:t>
            </a:r>
            <a:r>
              <a:rPr lang="en-US" sz="1800" b="1" i="0" u="none" strike="noStrike" baseline="0" dirty="0">
                <a:latin typeface="ACaslonPro-Bold"/>
              </a:rPr>
              <a:t>Summon</a:t>
            </a:r>
          </a:p>
          <a:p>
            <a:pPr algn="l"/>
            <a:r>
              <a:rPr lang="en-US" sz="1800" b="1" i="0" u="none" strike="noStrike" baseline="0" dirty="0">
                <a:latin typeface="ACaslonPro-Bold"/>
              </a:rPr>
              <a:t>/ Bind Dimensional </a:t>
            </a:r>
            <a:r>
              <a:rPr lang="en-US" sz="1800" b="1" i="0" u="none" strike="noStrike" baseline="0" dirty="0" err="1">
                <a:latin typeface="ACaslonPro-Bold"/>
              </a:rPr>
              <a:t>Shambler</a:t>
            </a:r>
            <a:r>
              <a:rPr lang="en-US" sz="1800" b="0" i="0" u="none" strike="noStrike" baseline="0" dirty="0">
                <a:latin typeface="ACaslonPro-Regular"/>
              </a:rPr>
              <a:t>). No other spells exist in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diaries. The spell takes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ACAB3F-D891-CE86-5C3D-2C0D2CEEA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040312"/>
            <a:ext cx="3452563" cy="345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4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8531-654B-6108-1731-E7CCA1B3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floor room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B5116-41C8-5248-301A-03309199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wood burning fireplace shows someone has been in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75320-2C9C-F8B8-6889-0AAA05B67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753" y="2988286"/>
            <a:ext cx="3188677" cy="318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1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CE34-82E4-1C89-EEC6-8B416AB9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 3 mud room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CF945-440C-7746-4A3E-4F54D1285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Blood drips from the ceiling play on drowning fear as room shuts behind.  Make a roll to escape or risk drowning.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2C38B-148F-5659-C04B-36C6CCA2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708" y="3100754"/>
            <a:ext cx="3587261" cy="358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65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4E15-4A1A-E933-FE8B-C8D875BC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 4 and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9040F-985F-CCB2-81EC-3465F4382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1" u="none" strike="noStrike" baseline="0" dirty="0">
                <a:latin typeface="ACaslonPro-Italic"/>
              </a:rPr>
              <a:t>This room contains conventional furnishings: a radio, couch,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stuffed chairs, and shelves laden with gewgaws. You cannot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help but notice the unusual quantities of crosses, images of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the Virgin and other Catholic artifacts.</a:t>
            </a:r>
          </a:p>
          <a:p>
            <a:pPr algn="l"/>
            <a:endParaRPr lang="en-US" sz="1800" i="1" dirty="0">
              <a:latin typeface="ACaslonPro-Italic"/>
            </a:endParaRPr>
          </a:p>
          <a:p>
            <a:pPr algn="l"/>
            <a:r>
              <a:rPr lang="en-US" sz="1800" i="1" dirty="0">
                <a:latin typeface="ACaslonPro-Italic"/>
              </a:rPr>
              <a:t>Room 5 dining room three places are set and unused rice soup is rotten in the tureen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A90C15-6F62-9233-3C09-78B88DB18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15" y="23446"/>
            <a:ext cx="2930769" cy="29307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B9B86E-9131-DD06-1C71-2B36D4640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15" y="3089152"/>
            <a:ext cx="3903785" cy="390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1385-855A-2940-3B5B-803CD51E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 6 kitchen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6D6C6-CFDB-0CE4-03BC-D22A25E9B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ACaslonPro-Regular"/>
              </a:rPr>
              <a:t>A conventional kitchen, with icebox, wood-fed stove and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oven, plus a meager larder. Some of the foodstuffs may be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edible—there is canned soup and meat, rice kernels, several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pastas, and a few bottles of homemade wine. The produce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which has not spoiled has been eaten by rats, judging by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spoor left behind.</a:t>
            </a:r>
          </a:p>
          <a:p>
            <a:pPr algn="l"/>
            <a:r>
              <a:rPr lang="en-US" sz="1800" dirty="0">
                <a:latin typeface="ACaslonPro-Regular"/>
              </a:rPr>
              <a:t>A small locked box in the corner contains bread.  Its not sliced but if Tim sees it </a:t>
            </a:r>
            <a:r>
              <a:rPr lang="en-US" sz="1800" dirty="0" err="1">
                <a:latin typeface="ACaslonPro-Regular"/>
              </a:rPr>
              <a:t>it</a:t>
            </a:r>
            <a:r>
              <a:rPr lang="en-US" sz="1800" dirty="0">
                <a:latin typeface="ACaslonPro-Regular"/>
              </a:rPr>
              <a:t> will be D3 sanity check.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There is also a </a:t>
            </a:r>
            <a:r>
              <a:rPr lang="en-US" sz="1800" dirty="0">
                <a:latin typeface="ACaslonPro-Regular"/>
              </a:rPr>
              <a:t>small fuse box in the corner </a:t>
            </a:r>
            <a:endParaRPr lang="en-US" sz="1800" b="0" i="0" u="none" strike="noStrike" baseline="0" dirty="0">
              <a:latin typeface="ACaslonPro-Regular"/>
            </a:endParaRPr>
          </a:p>
          <a:p>
            <a:pPr algn="l"/>
            <a:endParaRPr lang="en-US" sz="1800" dirty="0">
              <a:latin typeface="ACaslonPro-Regular"/>
            </a:endParaRPr>
          </a:p>
          <a:p>
            <a:pPr algn="l"/>
            <a:r>
              <a:rPr lang="en-US" sz="1800" dirty="0">
                <a:latin typeface="ACaslonPro-Regular"/>
              </a:rPr>
              <a:t>Opening fridge will find blood drained rats.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17EAC-0047-E434-29F1-8DBD2C7CB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661" y="-484982"/>
            <a:ext cx="4351339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73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A08D-A1AD-CF7C-8349-FDAFAC00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Basement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ECB3B-BB85-FFE2-5D99-7CED2E44A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1800" b="0" i="0" u="none" strike="noStrike" baseline="0" dirty="0">
                <a:latin typeface="ACaslonPro-Regular"/>
              </a:rPr>
              <a:t>Corbitt has turned off the electricity to the basement at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fuse box upstairs in the kitchen—if the investigators turn it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back on, Corbitt can switch it off again when it best suits him.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The stairs are perilous; all the more so because Corbitt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can make them move. One at a time, ask each investigator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descending the stairs to make a </a:t>
            </a:r>
            <a:r>
              <a:rPr lang="en-US" sz="1800" b="1" i="0" u="none" strike="noStrike" baseline="0" dirty="0">
                <a:latin typeface="ACaslonPro-Bold"/>
              </a:rPr>
              <a:t>DEX </a:t>
            </a:r>
            <a:r>
              <a:rPr lang="en-US" sz="1800" b="0" i="0" u="none" strike="noStrike" baseline="0" dirty="0">
                <a:latin typeface="ACaslonPro-Regular"/>
              </a:rPr>
              <a:t>or </a:t>
            </a:r>
            <a:r>
              <a:rPr lang="en-US" sz="1800" b="1" i="0" u="none" strike="noStrike" baseline="0" dirty="0">
                <a:latin typeface="ACaslonPro-Bold"/>
              </a:rPr>
              <a:t>Climb </a:t>
            </a:r>
            <a:r>
              <a:rPr lang="en-US" sz="1800" b="0" i="0" u="none" strike="noStrike" baseline="0" dirty="0">
                <a:latin typeface="ACaslonPro-Regular"/>
              </a:rPr>
              <a:t>roll. Treat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this as a Combined roll: the players should roll dice once and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compare the result with their </a:t>
            </a:r>
            <a:r>
              <a:rPr lang="en-US" sz="1800" b="1" i="0" u="none" strike="noStrike" baseline="0" dirty="0">
                <a:latin typeface="ACaslonPro-Bold"/>
              </a:rPr>
              <a:t>DEX </a:t>
            </a:r>
            <a:r>
              <a:rPr lang="en-US" sz="1800" b="0" i="0" u="none" strike="noStrike" baseline="0" dirty="0">
                <a:latin typeface="ACaslonPro-Regular"/>
              </a:rPr>
              <a:t>and </a:t>
            </a:r>
            <a:r>
              <a:rPr lang="en-US" sz="1800" b="1" i="0" u="none" strike="noStrike" baseline="0" dirty="0">
                <a:latin typeface="ACaslonPro-Bold"/>
              </a:rPr>
              <a:t>Climb </a:t>
            </a:r>
            <a:r>
              <a:rPr lang="en-US" sz="1800" b="0" i="0" u="none" strike="noStrike" baseline="0" dirty="0">
                <a:latin typeface="ACaslonPro-Regular"/>
              </a:rPr>
              <a:t>skills. Rolling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equal to or below one of these values counts as a success.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Anyone failing the </a:t>
            </a:r>
            <a:r>
              <a:rPr lang="en-US" sz="1800" b="1" i="0" u="none" strike="noStrike" baseline="0" dirty="0">
                <a:latin typeface="ACaslonPro-Bold"/>
              </a:rPr>
              <a:t>DEX / Climb </a:t>
            </a:r>
            <a:r>
              <a:rPr lang="en-US" sz="1800" b="0" i="0" u="none" strike="noStrike" baseline="0" dirty="0">
                <a:latin typeface="ACaslonPro-Regular"/>
              </a:rPr>
              <a:t>roll should be told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that the stairs are too dangerous and that to go further risks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injury. They now have a choice: remain upstairs or Push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roll and risk falling. Failing the Pushed roll will result in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loss of </a:t>
            </a:r>
            <a:r>
              <a:rPr lang="en-US" sz="1800" b="1" i="0" u="none" strike="noStrike" baseline="0" dirty="0">
                <a:latin typeface="ACaslonPro-Bold"/>
              </a:rPr>
              <a:t>1D6 </a:t>
            </a:r>
            <a:r>
              <a:rPr lang="en-US" sz="1800" b="0" i="0" u="none" strike="noStrike" baseline="0" dirty="0">
                <a:latin typeface="ACaslonPro-Regular"/>
              </a:rPr>
              <a:t>hit points as the investigator slips and crashes to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the basement floor.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9D006-AA2B-3A33-10D1-DEBE5D8CBC30}"/>
              </a:ext>
            </a:extLst>
          </p:cNvPr>
          <p:cNvSpPr txBox="1"/>
          <p:nvPr/>
        </p:nvSpPr>
        <p:spPr>
          <a:xfrm rot="10800000" flipH="1" flipV="1">
            <a:off x="7326935" y="1481438"/>
            <a:ext cx="402686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>
                <a:latin typeface="ACaslonPro-Regular"/>
              </a:rPr>
              <a:t>Tell the players that in this smallish room are scattered</a:t>
            </a:r>
          </a:p>
          <a:p>
            <a:pPr algn="l"/>
            <a:r>
              <a:rPr lang="en-US" sz="1800" b="0" i="0" u="none" strike="noStrike" baseline="0">
                <a:latin typeface="ACaslonPro-Regular"/>
              </a:rPr>
              <a:t>tools, pipe, a trash can lid, lumber, nails, screws, and so</a:t>
            </a:r>
          </a:p>
          <a:p>
            <a:pPr algn="l"/>
            <a:r>
              <a:rPr lang="en-US" sz="1800" b="0" i="0" u="none" strike="noStrike" baseline="0">
                <a:latin typeface="ACaslonPro-Regular"/>
              </a:rPr>
              <a:t>forth. If an investigator searches through the mess, ask the</a:t>
            </a:r>
          </a:p>
          <a:p>
            <a:pPr algn="l"/>
            <a:r>
              <a:rPr lang="en-US" sz="1800" b="0" i="0" u="none" strike="noStrike" baseline="0">
                <a:latin typeface="ACaslonPro-Regular"/>
              </a:rPr>
              <a:t>player to make a </a:t>
            </a:r>
            <a:r>
              <a:rPr lang="en-US" sz="1800" b="1" i="0" u="none" strike="noStrike" baseline="0">
                <a:latin typeface="ACaslonPro-Bold"/>
              </a:rPr>
              <a:t>Spot Hidden </a:t>
            </a:r>
            <a:r>
              <a:rPr lang="en-US" sz="1800" b="0" i="0" u="none" strike="noStrike" baseline="0">
                <a:latin typeface="ACaslonPro-Regular"/>
              </a:rPr>
              <a:t>roll. Treat this as an Obscure</a:t>
            </a:r>
          </a:p>
          <a:p>
            <a:pPr algn="l"/>
            <a:r>
              <a:rPr lang="en-US" sz="1800" b="0" i="0" u="none" strike="noStrike" baseline="0">
                <a:latin typeface="ACaslonPro-Regular"/>
              </a:rPr>
              <a:t>Clue (don’t give the clue out if the player fails the roll). The</a:t>
            </a:r>
          </a:p>
          <a:p>
            <a:pPr algn="l"/>
            <a:r>
              <a:rPr lang="en-US" sz="1800" b="0" i="0" u="none" strike="noStrike" baseline="0">
                <a:latin typeface="ACaslonPro-Regular"/>
              </a:rPr>
              <a:t>player might Push the roll by taking time to conduct a more</a:t>
            </a:r>
          </a:p>
          <a:p>
            <a:pPr algn="l"/>
            <a:r>
              <a:rPr lang="en-US" sz="1800" b="0" i="0" u="none" strike="noStrike" baseline="0">
                <a:latin typeface="ACaslonPro-Regular"/>
              </a:rPr>
              <a:t>thorough search. You can foreshadow the consequence of</a:t>
            </a:r>
          </a:p>
          <a:p>
            <a:pPr algn="l"/>
            <a:r>
              <a:rPr lang="en-US" sz="1800" b="0" i="0" u="none" strike="noStrike" baseline="0">
                <a:latin typeface="ACaslonPro-Regular"/>
              </a:rPr>
              <a:t>failure by pointing out the many sharp things among the</a:t>
            </a:r>
          </a:p>
          <a:p>
            <a:pPr algn="l"/>
            <a:r>
              <a:rPr lang="en-US" sz="1800" b="0" i="0" u="none" strike="noStrike" baseline="0">
                <a:latin typeface="ACaslonPro-Regular"/>
              </a:rPr>
              <a:t>mess and the risk of injury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68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09BF-537F-2464-4C82-85BC74DE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Basement storage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C2FE-7D23-6246-16E2-4C439DC1E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ACaslonPro-Regular"/>
              </a:rPr>
              <a:t>With a successful </a:t>
            </a:r>
            <a:r>
              <a:rPr lang="en-US" sz="1800" b="1" i="0" u="none" strike="noStrike" baseline="0" dirty="0">
                <a:latin typeface="ACaslonPro-Bold"/>
              </a:rPr>
              <a:t>Spot Hidden </a:t>
            </a:r>
            <a:r>
              <a:rPr lang="en-US" sz="1800" b="0" i="0" u="none" strike="noStrike" baseline="0" dirty="0">
                <a:latin typeface="ACaslonPro-Regular"/>
              </a:rPr>
              <a:t>roll, the investigator finds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Corbitt’s knife (see </a:t>
            </a:r>
            <a:r>
              <a:rPr lang="en-US" sz="1800" b="1" i="0" u="none" strike="noStrike" baseline="0" dirty="0">
                <a:latin typeface="ACaslonPro-Bold"/>
              </a:rPr>
              <a:t>The Floating Knife</a:t>
            </a:r>
            <a:r>
              <a:rPr lang="en-US" sz="1800" b="0" i="0" u="none" strike="noStrike" baseline="0" dirty="0">
                <a:latin typeface="ACaslonPro-Regular"/>
              </a:rPr>
              <a:t>) and may pick it up.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Once picked up, the knife will try to wrest itself free from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investigator’s grasp and attack the investigator (see </a:t>
            </a:r>
            <a:r>
              <a:rPr lang="en-US" sz="1800" b="1" i="0" u="none" strike="noStrike" baseline="0" dirty="0">
                <a:latin typeface="ACaslonPro-Bold"/>
              </a:rPr>
              <a:t>Having</a:t>
            </a:r>
          </a:p>
          <a:p>
            <a:pPr algn="l"/>
            <a:r>
              <a:rPr lang="en-US" sz="1800" b="1" i="0" u="none" strike="noStrike" baseline="0" dirty="0">
                <a:latin typeface="ACaslonPro-Bold"/>
              </a:rPr>
              <a:t>Hold of the Knife</a:t>
            </a:r>
            <a:r>
              <a:rPr lang="en-US" sz="1800" b="0" i="0" u="none" strike="noStrike" baseline="0" dirty="0">
                <a:latin typeface="ACaslonPro-Regular"/>
              </a:rPr>
              <a:t>).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If the player fails the Pushed </a:t>
            </a:r>
            <a:r>
              <a:rPr lang="en-US" sz="1800" b="1" i="0" u="none" strike="noStrike" baseline="0" dirty="0">
                <a:latin typeface="ACaslonPro-Bold"/>
              </a:rPr>
              <a:t>Spot Hidden </a:t>
            </a:r>
            <a:r>
              <a:rPr lang="en-US" sz="1800" b="0" i="0" u="none" strike="noStrike" baseline="0" dirty="0">
                <a:latin typeface="ACaslonPro-Regular"/>
              </a:rPr>
              <a:t>roll, the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unaware investigator catches a hand on the possessed knife</a:t>
            </a:r>
          </a:p>
          <a:p>
            <a:pPr algn="l"/>
            <a:r>
              <a:rPr lang="en-US" sz="1800" b="0" i="0" u="none" strike="noStrike" baseline="0" dirty="0">
                <a:latin typeface="ACaslonPro-Regular"/>
              </a:rPr>
              <a:t>and it slashes him or her for </a:t>
            </a:r>
            <a:r>
              <a:rPr lang="en-US" sz="1800" b="1" i="0" u="none" strike="noStrike" baseline="0" dirty="0">
                <a:latin typeface="ACaslonPro-Bold"/>
              </a:rPr>
              <a:t>1D4+2 </a:t>
            </a:r>
            <a:r>
              <a:rPr lang="en-US" sz="1800" b="0" i="0" u="none" strike="noStrike" baseline="0" dirty="0">
                <a:latin typeface="ACaslonPro-Regular"/>
              </a:rPr>
              <a:t>hit points of damage.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6F9DE-1FA2-221F-CC4E-B99F16395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81037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15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B04F-1817-421F-FA76-9C13BEEB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Knife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11440-CFB4-022A-F659-6A82DC4AD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Weapon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: Floating magical dagger. See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The Floating Knife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(see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page 23). Spending a Magic point to cause the dagger to attack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for 1 round counts as Corbitt’s combat action for the round.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Fighting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50% (Hard 25%/Extreme10%), damage 1D3 +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damage bonus(1D4) + possible infection (see above).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Dodge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17% (Hard 8%/Extreme 3%).</a:t>
            </a:r>
          </a:p>
          <a:p>
            <a:pPr algn="l"/>
            <a:r>
              <a:rPr lang="en-US" sz="1800" b="1" i="1" u="none" strike="noStrike" baseline="0" dirty="0">
                <a:solidFill>
                  <a:srgbClr val="525B3A"/>
                </a:solidFill>
                <a:latin typeface="ACaslonPro-BoldItalic"/>
              </a:rPr>
              <a:t>Skills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Cthulhu Mythos 17%, Intimidate 64%, Listen 60%, Sleight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of hand 30%, Stealth 72%.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62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362B-FB20-E9CD-67D7-B19917B4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Basement storage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34D42-D322-6324-7B4A-46AFE99D3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443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Coal shoot is nailed shut and some boards in here are hollow</a:t>
            </a:r>
          </a:p>
          <a:p>
            <a:r>
              <a:rPr lang="en-US" dirty="0"/>
              <a:t>Removing these exposes a crawl space that smells. If they crawl right in without care get attached by 10 rats.</a:t>
            </a:r>
          </a:p>
          <a:p>
            <a:r>
              <a:rPr lang="en-US" dirty="0"/>
              <a:t>A wall says “Chapel of Contemplation”</a:t>
            </a:r>
          </a:p>
          <a:p>
            <a:r>
              <a:rPr lang="en-US" dirty="0"/>
              <a:t>Slow movers get cast dominate on them.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C2155-B715-93BB-B45F-4BC6BDF2BED6}"/>
              </a:ext>
            </a:extLst>
          </p:cNvPr>
          <p:cNvSpPr txBox="1"/>
          <p:nvPr/>
        </p:nvSpPr>
        <p:spPr>
          <a:xfrm>
            <a:off x="5839326" y="1027906"/>
            <a:ext cx="60960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solidFill>
                  <a:srgbClr val="525B3A"/>
                </a:solidFill>
                <a:latin typeface="ACaslonPro-Bold"/>
              </a:rPr>
              <a:t>RAT PACK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STR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35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CON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55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SIZ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35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POW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50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DEX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70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HP: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9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Average Damage Bonus: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-1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Average Build: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-1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Move: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9</a:t>
            </a:r>
          </a:p>
          <a:p>
            <a:pPr algn="l"/>
            <a:r>
              <a:rPr lang="en-US" sz="1800" b="1" i="1" u="none" strike="noStrike" baseline="0" dirty="0">
                <a:solidFill>
                  <a:srgbClr val="525B3A"/>
                </a:solidFill>
                <a:latin typeface="ACaslonPro-BoldItalic"/>
              </a:rPr>
              <a:t>Combat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Attacks per round: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1.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Fighting attacks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: Rats attack with teeth and claws.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Overwhelm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(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fighting maneuver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): As a pack they may assault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and overwhelm an individual using the Fighting maneuver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rules, because of their numbers they gain one bonus die on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the attack. Such an attack would involve swarming over the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target, biting, and scratching as they do so.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Fighting 40% (Hard 20/Extreme 8), damage 1D3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Overwhelm (fighting maneuver) damage 2D6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510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5A9E-E2F7-8645-9A85-66098FA1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Corbitts</a:t>
            </a:r>
            <a:r>
              <a:rPr lang="en-US" dirty="0"/>
              <a:t> hiding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06381-291C-B62E-CBF9-41D64D4C8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1" u="none" strike="noStrike" baseline="0" dirty="0">
                <a:latin typeface="ACaslonPro-Italic"/>
              </a:rPr>
              <a:t>Lying motionless and seemingly dead on a pallet in the</a:t>
            </a:r>
          </a:p>
          <a:p>
            <a:pPr algn="l"/>
            <a:r>
              <a:rPr lang="en-US" sz="1800" b="0" i="1" u="none" strike="noStrike" baseline="0" dirty="0" err="1">
                <a:latin typeface="ACaslonPro-Italic"/>
              </a:rPr>
              <a:t>centre</a:t>
            </a:r>
            <a:r>
              <a:rPr lang="en-US" sz="1800" b="0" i="1" u="none" strike="noStrike" baseline="0" dirty="0">
                <a:latin typeface="ACaslonPro-Italic"/>
              </a:rPr>
              <a:t> of the room is a drawn, wooden-looking, wizened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figure of some six-feet. Skinny and naked, with ghastly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wide-flaring, saucer-like eyes and a nose like a knife blade.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Some sort of chain rests around his neck. He has lost all hair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and his shrunken gums make his teeth look very long. From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him comes a sharp, sweet, churning scent, like rotten corn.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The floor is earthen and there is a table in the southwest</a:t>
            </a:r>
          </a:p>
          <a:p>
            <a:pPr algn="l"/>
            <a:r>
              <a:rPr lang="en-US" sz="1800" b="0" i="1" u="none" strike="noStrike" baseline="0" dirty="0">
                <a:latin typeface="ACaslonPro-Italic"/>
              </a:rPr>
              <a:t>corner with some curled papers on it.</a:t>
            </a:r>
          </a:p>
          <a:p>
            <a:pPr algn="l"/>
            <a:r>
              <a:rPr lang="en-US" sz="1800" i="1" dirty="0">
                <a:latin typeface="ACaslonPro-Italic"/>
              </a:rPr>
              <a:t>Corbitt stands 1D8 sanity roll if loss &gt;5 make intelligence.  If failed go insane roll on bouts of madness table.</a:t>
            </a:r>
          </a:p>
          <a:p>
            <a:pPr algn="l"/>
            <a:r>
              <a:rPr lang="en-US" sz="1800" i="1" dirty="0">
                <a:latin typeface="ACaslonPro-Italic"/>
              </a:rPr>
              <a:t>Fight Corbitt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15D3B-FB32-0ADD-9AFE-396972F6B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596" y="681037"/>
            <a:ext cx="4746394" cy="333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19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F125-B4C5-BACD-A511-6BA246AD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Corbitt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A630-5F54-1718-4670-15917DDE8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 dirty="0">
                <a:solidFill>
                  <a:srgbClr val="525B3A"/>
                </a:solidFill>
                <a:latin typeface="ACaslonPro-Bold"/>
              </a:rPr>
              <a:t>Walter Corbitt, Undead Fiend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STR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90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CON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115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SIZ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55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INT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80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POW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90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DEX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35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APP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05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EDU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80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SAN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: 0 (ignore Sanity costs for spells)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HP: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16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Damage bonus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: +1D4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Build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: 1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Move: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8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Magic points: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18 (if spent, recover 1 per hour)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2A1BF-DB75-514F-7374-7EA16F82F6F9}"/>
              </a:ext>
            </a:extLst>
          </p:cNvPr>
          <p:cNvSpPr txBox="1"/>
          <p:nvPr/>
        </p:nvSpPr>
        <p:spPr>
          <a:xfrm>
            <a:off x="6593305" y="212735"/>
            <a:ext cx="5325979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525B3A"/>
                </a:solidFill>
                <a:latin typeface="ACaslonPro-Bold"/>
              </a:rPr>
              <a:t>Corbitt’s Spells</a:t>
            </a:r>
          </a:p>
          <a:p>
            <a:pPr algn="l"/>
            <a:r>
              <a:rPr lang="en-US" sz="1400" b="1" i="0" u="none" strike="noStrike" baseline="0" dirty="0">
                <a:solidFill>
                  <a:srgbClr val="000000"/>
                </a:solidFill>
                <a:latin typeface="ACaslonPro-Bold"/>
              </a:rPr>
              <a:t>DOMINATE </a:t>
            </a:r>
            <a:r>
              <a:rPr lang="en-US" sz="1400" b="1" i="1" u="none" strike="noStrike" baseline="0" dirty="0">
                <a:solidFill>
                  <a:srgbClr val="000000"/>
                </a:solidFill>
                <a:latin typeface="ACaslonPro-BoldItalic"/>
              </a:rPr>
              <a:t>(Corbitt’s variant)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ACaslonPro-Bold"/>
              </a:rPr>
              <a:t>: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Costs Corbitt 1 Magic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point and takes one round to cast.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With his version of the Dominate spell, Corbitt can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mentally cloud the mind of one investigator at a time, as long as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the target is physically in the Corbitt house. The player should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make an opposed 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ACaslonPro-Bold"/>
              </a:rPr>
              <a:t>POW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roll versus Corbitt’s 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ACaslonPro-Bold"/>
              </a:rPr>
              <a:t>POW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of 90.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If Corbitt succeeds, the target is in a daze for 1D6+1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combat rounds. While in this dazed state, the victim is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subject to telepathic commands from Corbitt. These may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take the form of subtle and creepy hallucinations or direct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commands at the Keeper’s discretion. He or she will not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commit suicidal acts, though homicidal, idiotic, or reckless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acts (such as trying to swallow a butcher’s knife) might be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attempted. Waking, the victim will not recall what happened.</a:t>
            </a:r>
          </a:p>
          <a:p>
            <a:pPr algn="l"/>
            <a:r>
              <a:rPr lang="en-US" sz="1400" b="1" i="0" u="none" strike="noStrike" baseline="0" dirty="0">
                <a:solidFill>
                  <a:srgbClr val="000000"/>
                </a:solidFill>
                <a:latin typeface="ACaslonPro-Bold"/>
              </a:rPr>
              <a:t>FLESH WARD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: Corbitt will already have cast this spell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before the investigators get to him, to provide himself with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armor (see </a:t>
            </a:r>
            <a:r>
              <a:rPr lang="en-US" sz="1400" b="0" i="1" u="none" strike="noStrike" baseline="0" dirty="0">
                <a:solidFill>
                  <a:srgbClr val="000000"/>
                </a:solidFill>
                <a:latin typeface="ACaslonPro-Italic"/>
              </a:rPr>
              <a:t>Armor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above).</a:t>
            </a:r>
          </a:p>
          <a:p>
            <a:pPr algn="l"/>
            <a:r>
              <a:rPr lang="en-US" sz="1400" b="1" i="0" u="none" strike="noStrike" baseline="0" dirty="0">
                <a:solidFill>
                  <a:srgbClr val="000000"/>
                </a:solidFill>
                <a:latin typeface="ACaslonPro-Bold"/>
              </a:rPr>
              <a:t>• Cost: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variable magic points</a:t>
            </a:r>
          </a:p>
          <a:p>
            <a:pPr algn="l"/>
            <a:r>
              <a:rPr lang="en-US" sz="1400" b="1" i="0" u="none" strike="noStrike" baseline="0" dirty="0">
                <a:solidFill>
                  <a:srgbClr val="000000"/>
                </a:solidFill>
                <a:latin typeface="ACaslonPro-Bold"/>
              </a:rPr>
              <a:t>• Casting Time: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5 rounds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Grants protection against physical attack. Each magic point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spent gives the caster or the chosen target 1D6 points of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armor against non-magical attacks. This protection wears off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as it blocks damage. For example, if a character has 12 points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of Flesh Ward as armor and suffers 8 points of damage, the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character suffers no damage but the Flesh Ward is reduced to 4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points. The spell lasts 24 hours or until the protection is used up.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Once cast, the spell may not be reinforced with further magic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  <a:latin typeface="ACaslonPro-Regular"/>
              </a:rPr>
              <a:t>points, nor recast until the old spell’s protection has been used up.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34670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DC03-1ED0-8F10-F9FE-0C7B3555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8B7C7-C797-AF4B-A7BA-563BFDE58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sz="1800" b="1" i="1" u="none" strike="noStrike" baseline="0" dirty="0">
                <a:solidFill>
                  <a:srgbClr val="525B3A"/>
                </a:solidFill>
                <a:latin typeface="ACaslonPro-BoldItalic"/>
              </a:rPr>
              <a:t>Combat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Attacks per round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: 1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Fighting attacks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: When animated, Corbitt is able to make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all regular attacks (kick, punch, etc.). Being wounded by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Corbitt’s clawed fingernails risks serious disease; if he lands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a successful attack upon an investigator, a Luck roll should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be made. If it is failed, the investigator has been raked by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Corbitt’s claws and a day later the victim becomes delirious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and must make a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CON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roll: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• Failure: Delirium lasts 1D10 days; lose 1D10 CON.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• Success: Delirium lasts 1D6 days; no further CON loss.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• Repeat the procedure until the investigator recovers or dies.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CON lost does not regenerate.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0D887-784E-1601-FDD8-ECDF46514D16}"/>
              </a:ext>
            </a:extLst>
          </p:cNvPr>
          <p:cNvSpPr txBox="1"/>
          <p:nvPr/>
        </p:nvSpPr>
        <p:spPr>
          <a:xfrm>
            <a:off x="6609347" y="2016135"/>
            <a:ext cx="51655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Weapon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: Floating magical dagger. See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The Floating Knife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(see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page 23). Spending a Magic point to cause the dagger to attack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for 1 round counts as Corbitt’s combat action for the round.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Fighting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50% (Hard 25%/Extreme10%), damage 1D3 +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damage bonus(1D4) + possible infection (see above).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ACaslonPro-Bold"/>
              </a:rPr>
              <a:t>Dodge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17% (Hard 8%/Extreme 3%).</a:t>
            </a:r>
          </a:p>
          <a:p>
            <a:pPr algn="l"/>
            <a:r>
              <a:rPr lang="en-US" sz="1800" b="1" i="1" u="none" strike="noStrike" baseline="0" dirty="0">
                <a:solidFill>
                  <a:srgbClr val="525B3A"/>
                </a:solidFill>
                <a:latin typeface="ACaslonPro-BoldItalic"/>
              </a:rPr>
              <a:t>Skills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Cthulhu Mythos 17%, Intimidate 64%, Listen 60%, Sleight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ACaslonPro-Regular"/>
              </a:rPr>
              <a:t>of hand 30%, Stealth 72%.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405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2323</TotalTime>
  <Words>2185</Words>
  <Application>Microsoft Office PowerPoint</Application>
  <PresentationFormat>Widescreen</PresentationFormat>
  <Paragraphs>230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ACaslonPro-Bold</vt:lpstr>
      <vt:lpstr>ACaslonPro-BoldItalic</vt:lpstr>
      <vt:lpstr>ACaslonPro-Italic</vt:lpstr>
      <vt:lpstr>ACaslonPro-Regular</vt:lpstr>
      <vt:lpstr>Arial</vt:lpstr>
      <vt:lpstr>Calibri</vt:lpstr>
      <vt:lpstr>Calibri Light</vt:lpstr>
      <vt:lpstr>Office Theme</vt:lpstr>
      <vt:lpstr>The Crew’s office</vt:lpstr>
      <vt:lpstr>Handout 1</vt:lpstr>
      <vt:lpstr>Boston Globe</vt:lpstr>
      <vt:lpstr>Central Library </vt:lpstr>
      <vt:lpstr>Hall of Records</vt:lpstr>
      <vt:lpstr>PowerPoint Presentation</vt:lpstr>
      <vt:lpstr>Central Police Station and Higher Courts</vt:lpstr>
      <vt:lpstr>The Neighborhood</vt:lpstr>
      <vt:lpstr>Roxbury Sanitarium</vt:lpstr>
      <vt:lpstr>Chapel of Contemplation</vt:lpstr>
      <vt:lpstr>Corbitt place</vt:lpstr>
      <vt:lpstr>My map</vt:lpstr>
      <vt:lpstr>PowerPoint Presentation</vt:lpstr>
      <vt:lpstr>Ground floor – room 1</vt:lpstr>
      <vt:lpstr>Ground floor room 2 </vt:lpstr>
      <vt:lpstr>Room 3 mud room  </vt:lpstr>
      <vt:lpstr>Room 4 and 5</vt:lpstr>
      <vt:lpstr>Room 6 kitchen</vt:lpstr>
      <vt:lpstr>Basement Storage</vt:lpstr>
      <vt:lpstr>Basement storage 2</vt:lpstr>
      <vt:lpstr>Floating Knife</vt:lpstr>
      <vt:lpstr>Basement storage 2</vt:lpstr>
      <vt:lpstr>Corbitts hiding place</vt:lpstr>
      <vt:lpstr>Corbitt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Crew’s office</dc:title>
  <dc:creator>Morman (US), Brian J</dc:creator>
  <cp:lastModifiedBy>Morman (US), Brian J</cp:lastModifiedBy>
  <cp:revision>12</cp:revision>
  <dcterms:created xsi:type="dcterms:W3CDTF">2024-07-10T01:16:05Z</dcterms:created>
  <dcterms:modified xsi:type="dcterms:W3CDTF">2024-07-12T12:14:09Z</dcterms:modified>
</cp:coreProperties>
</file>