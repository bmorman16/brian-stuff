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1"/>
  </p:notesMasterIdLst>
  <p:sldIdLst>
    <p:sldId id="305" r:id="rId2"/>
    <p:sldId id="396" r:id="rId3"/>
    <p:sldId id="393" r:id="rId4"/>
    <p:sldId id="389" r:id="rId5"/>
    <p:sldId id="390" r:id="rId6"/>
    <p:sldId id="391" r:id="rId7"/>
    <p:sldId id="392" r:id="rId8"/>
    <p:sldId id="483" r:id="rId9"/>
    <p:sldId id="470" r:id="rId10"/>
    <p:sldId id="334" r:id="rId11"/>
    <p:sldId id="308" r:id="rId12"/>
    <p:sldId id="309" r:id="rId13"/>
    <p:sldId id="311" r:id="rId14"/>
    <p:sldId id="340" r:id="rId15"/>
    <p:sldId id="341" r:id="rId16"/>
    <p:sldId id="342" r:id="rId17"/>
    <p:sldId id="343" r:id="rId18"/>
    <p:sldId id="344" r:id="rId19"/>
    <p:sldId id="476" r:id="rId20"/>
    <p:sldId id="313" r:id="rId21"/>
    <p:sldId id="314" r:id="rId22"/>
    <p:sldId id="315" r:id="rId23"/>
    <p:sldId id="316" r:id="rId24"/>
    <p:sldId id="317" r:id="rId25"/>
    <p:sldId id="319" r:id="rId26"/>
    <p:sldId id="320" r:id="rId27"/>
    <p:sldId id="321" r:id="rId28"/>
    <p:sldId id="322" r:id="rId29"/>
    <p:sldId id="323" r:id="rId30"/>
    <p:sldId id="324" r:id="rId31"/>
    <p:sldId id="325" r:id="rId32"/>
    <p:sldId id="326" r:id="rId33"/>
    <p:sldId id="327" r:id="rId34"/>
    <p:sldId id="429" r:id="rId35"/>
    <p:sldId id="437" r:id="rId36"/>
    <p:sldId id="438" r:id="rId37"/>
    <p:sldId id="328" r:id="rId38"/>
    <p:sldId id="330" r:id="rId39"/>
    <p:sldId id="332" r:id="rId40"/>
    <p:sldId id="478" r:id="rId41"/>
    <p:sldId id="347" r:id="rId42"/>
    <p:sldId id="345" r:id="rId43"/>
    <p:sldId id="348" r:id="rId44"/>
    <p:sldId id="349" r:id="rId45"/>
    <p:sldId id="346" r:id="rId46"/>
    <p:sldId id="350" r:id="rId47"/>
    <p:sldId id="351" r:id="rId48"/>
    <p:sldId id="352" r:id="rId49"/>
    <p:sldId id="353" r:id="rId50"/>
    <p:sldId id="354" r:id="rId51"/>
    <p:sldId id="355" r:id="rId52"/>
    <p:sldId id="357" r:id="rId53"/>
    <p:sldId id="358" r:id="rId54"/>
    <p:sldId id="359" r:id="rId55"/>
    <p:sldId id="360" r:id="rId56"/>
    <p:sldId id="361" r:id="rId57"/>
    <p:sldId id="362" r:id="rId58"/>
    <p:sldId id="363" r:id="rId59"/>
    <p:sldId id="364" r:id="rId60"/>
    <p:sldId id="365" r:id="rId61"/>
    <p:sldId id="366" r:id="rId62"/>
    <p:sldId id="367" r:id="rId63"/>
    <p:sldId id="368" r:id="rId64"/>
    <p:sldId id="369" r:id="rId65"/>
    <p:sldId id="384" r:id="rId66"/>
    <p:sldId id="370" r:id="rId67"/>
    <p:sldId id="371" r:id="rId68"/>
    <p:sldId id="372" r:id="rId69"/>
    <p:sldId id="373" r:id="rId70"/>
    <p:sldId id="374" r:id="rId71"/>
    <p:sldId id="375" r:id="rId72"/>
    <p:sldId id="376" r:id="rId73"/>
    <p:sldId id="377" r:id="rId74"/>
    <p:sldId id="378" r:id="rId75"/>
    <p:sldId id="379" r:id="rId76"/>
    <p:sldId id="380" r:id="rId77"/>
    <p:sldId id="381" r:id="rId78"/>
    <p:sldId id="382" r:id="rId79"/>
    <p:sldId id="383" r:id="rId8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35" autoAdjust="0"/>
    <p:restoredTop sz="94622"/>
  </p:normalViewPr>
  <p:slideViewPr>
    <p:cSldViewPr>
      <p:cViewPr varScale="1">
        <p:scale>
          <a:sx n="96" d="100"/>
          <a:sy n="96" d="100"/>
        </p:scale>
        <p:origin x="1712" y="17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B1961F7-EFAC-5741-8974-C79A45172DFE}" type="datetimeFigureOut">
              <a:rPr lang="en-US" smtClean="0"/>
              <a:t>1/9/24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45D6EF6-6A76-814C-80A3-7A694D316E7D}" type="slidenum">
              <a:rPr lang="en-US" smtClean="0"/>
              <a:t>‹#›</a:t>
            </a:fld>
            <a:endParaRPr lang="en-US" dirty="0"/>
          </a:p>
        </p:txBody>
      </p:sp>
    </p:spTree>
    <p:extLst>
      <p:ext uri="{BB962C8B-B14F-4D97-AF65-F5344CB8AC3E}">
        <p14:creationId xmlns:p14="http://schemas.microsoft.com/office/powerpoint/2010/main" val="1630285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DA59C18-7BC9-0C4F-8D59-4B790CDBA3D8}" type="slidenum">
              <a:rPr lang="en-US"/>
              <a:pPr>
                <a:defRPr/>
              </a:pPr>
              <a:t>13</a:t>
            </a:fld>
            <a:endParaRPr lang="en-US" dirty="0"/>
          </a:p>
        </p:txBody>
      </p:sp>
      <p:sp>
        <p:nvSpPr>
          <p:cNvPr id="6451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64515" name="Rectangle 3"/>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12DAFD7-B41B-334B-97C2-E9991888D87F}" type="slidenum">
              <a:rPr lang="en-US"/>
              <a:pPr>
                <a:defRPr/>
              </a:pPr>
              <a:t>20</a:t>
            </a:fld>
            <a:endParaRPr lang="en-US" dirty="0"/>
          </a:p>
        </p:txBody>
      </p:sp>
      <p:sp>
        <p:nvSpPr>
          <p:cNvPr id="8089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80899" name="Rectangle 3"/>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3E7B25F-DD9B-2F43-9D47-9ECDA16BD36A}" type="slidenum">
              <a:rPr lang="en-US"/>
              <a:pPr>
                <a:defRPr/>
              </a:pPr>
              <a:t>24</a:t>
            </a:fld>
            <a:endParaRPr lang="en-US" dirty="0"/>
          </a:p>
        </p:txBody>
      </p:sp>
      <p:sp>
        <p:nvSpPr>
          <p:cNvPr id="9523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5235" name="Rectangle 3"/>
          <p:cNvSpPr>
            <a:spLocks noGrp="1" noChangeArrowheads="1"/>
          </p:cNvSpPr>
          <p:nvPr>
            <p:ph type="body" idx="1"/>
          </p:nvPr>
        </p:nvSpPr>
        <p:spPr>
          <a:xfrm>
            <a:off x="914400" y="4343400"/>
            <a:ext cx="5029200" cy="4114800"/>
          </a:xfrm>
        </p:spPr>
        <p:txBody>
          <a:bodyPr/>
          <a:lstStyle/>
          <a:p>
            <a:pPr eaLnBrk="1" hangingPunct="1">
              <a:defRPr/>
            </a:pPr>
            <a:endParaRPr lang="en-US" dirty="0">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2B5AEC9-376E-2444-9E12-4448DB616FE4}" type="slidenum">
              <a:rPr lang="en-US"/>
              <a:pPr>
                <a:defRPr/>
              </a:pPr>
              <a:t>25</a:t>
            </a:fld>
            <a:endParaRPr lang="en-US" dirty="0"/>
          </a:p>
        </p:txBody>
      </p:sp>
      <p:sp>
        <p:nvSpPr>
          <p:cNvPr id="8192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81923" name="Rectangle 3"/>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D6D376F-E28C-2447-A96F-A07AC8E8C93E}" type="slidenum">
              <a:rPr lang="en-US"/>
              <a:pPr>
                <a:defRPr/>
              </a:pPr>
              <a:t>26</a:t>
            </a:fld>
            <a:endParaRPr lang="en-US" dirty="0"/>
          </a:p>
        </p:txBody>
      </p:sp>
      <p:sp>
        <p:nvSpPr>
          <p:cNvPr id="849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84995" name="Rectangle 3"/>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945A828-9172-5C46-A533-13A6BE76410A}" type="slidenum">
              <a:rPr lang="en-US"/>
              <a:pPr>
                <a:defRPr/>
              </a:pPr>
              <a:t>29</a:t>
            </a:fld>
            <a:endParaRPr lang="en-US" dirty="0"/>
          </a:p>
        </p:txBody>
      </p:sp>
      <p:sp>
        <p:nvSpPr>
          <p:cNvPr id="13414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34147" name="Rectangle 3"/>
          <p:cNvSpPr>
            <a:spLocks noGrp="1" noChangeArrowheads="1"/>
          </p:cNvSpPr>
          <p:nvPr>
            <p:ph type="body" idx="1"/>
          </p:nvPr>
        </p:nvSpPr>
        <p:spPr>
          <a:xfrm>
            <a:off x="914400" y="4343400"/>
            <a:ext cx="5029200" cy="4114800"/>
          </a:xfrm>
        </p:spPr>
        <p:txBody>
          <a:bodyPr/>
          <a:lstStyle/>
          <a:p>
            <a:pPr eaLnBrk="1" hangingPunct="1">
              <a:defRPr/>
            </a:pPr>
            <a:endParaRPr lang="en-US" dirty="0">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1260A66-EFD6-3845-B14D-57427841D344}" type="slidenum">
              <a:rPr lang="en-US"/>
              <a:pPr>
                <a:defRPr/>
              </a:pPr>
              <a:t>30</a:t>
            </a:fld>
            <a:endParaRPr lang="en-US" dirty="0"/>
          </a:p>
        </p:txBody>
      </p:sp>
      <p:sp>
        <p:nvSpPr>
          <p:cNvPr id="1361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36195" name="Rectangle 3"/>
          <p:cNvSpPr>
            <a:spLocks noGrp="1" noChangeArrowheads="1"/>
          </p:cNvSpPr>
          <p:nvPr>
            <p:ph type="body" idx="1"/>
          </p:nvPr>
        </p:nvSpPr>
        <p:spPr>
          <a:xfrm>
            <a:off x="914400" y="4343400"/>
            <a:ext cx="5029200" cy="4114800"/>
          </a:xfrm>
        </p:spPr>
        <p:txBody>
          <a:bodyPr/>
          <a:lstStyle/>
          <a:p>
            <a:pPr eaLnBrk="1" hangingPunct="1">
              <a:defRPr/>
            </a:pPr>
            <a:endParaRPr lang="en-US" dirty="0">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ADBE04A-C81E-D04F-9DE0-D359BD57BE33}" type="slidenum">
              <a:rPr lang="en-US"/>
              <a:pPr>
                <a:defRPr/>
              </a:pPr>
              <a:t>31</a:t>
            </a:fld>
            <a:endParaRPr lang="en-US" dirty="0"/>
          </a:p>
        </p:txBody>
      </p:sp>
      <p:sp>
        <p:nvSpPr>
          <p:cNvPr id="1382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38243" name="Rectangle 3"/>
          <p:cNvSpPr>
            <a:spLocks noGrp="1" noChangeArrowheads="1"/>
          </p:cNvSpPr>
          <p:nvPr>
            <p:ph type="body" idx="1"/>
          </p:nvPr>
        </p:nvSpPr>
        <p:spPr>
          <a:xfrm>
            <a:off x="914400" y="4343400"/>
            <a:ext cx="5029200" cy="4114800"/>
          </a:xfrm>
        </p:spPr>
        <p:txBody>
          <a:bodyPr/>
          <a:lstStyle/>
          <a:p>
            <a:pPr eaLnBrk="1" hangingPunct="1">
              <a:defRPr/>
            </a:pPr>
            <a:endParaRPr lang="en-US" dirty="0">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B8288E7-9E46-5D48-9A36-A81ACE0E1BB0}" type="slidenum">
              <a:rPr lang="en-US"/>
              <a:pPr>
                <a:defRPr/>
              </a:pPr>
              <a:t>32</a:t>
            </a:fld>
            <a:endParaRPr lang="en-US" dirty="0"/>
          </a:p>
        </p:txBody>
      </p:sp>
      <p:sp>
        <p:nvSpPr>
          <p:cNvPr id="14029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40291" name="Rectangle 3"/>
          <p:cNvSpPr>
            <a:spLocks noGrp="1" noChangeArrowheads="1"/>
          </p:cNvSpPr>
          <p:nvPr>
            <p:ph type="body" idx="1"/>
          </p:nvPr>
        </p:nvSpPr>
        <p:spPr>
          <a:xfrm>
            <a:off x="914400" y="4343400"/>
            <a:ext cx="5029200" cy="4114800"/>
          </a:xfrm>
        </p:spPr>
        <p:txBody>
          <a:bodyPr/>
          <a:lstStyle/>
          <a:p>
            <a:pPr eaLnBrk="1" hangingPunct="1">
              <a:defRPr/>
            </a:pPr>
            <a:endParaRPr lang="en-US" dirty="0">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E1D47EA-0718-D645-9537-8586400A6E57}" type="slidenum">
              <a:rPr lang="en-US"/>
              <a:pPr>
                <a:defRPr/>
              </a:pPr>
              <a:t>33</a:t>
            </a:fld>
            <a:endParaRPr lang="en-US" dirty="0"/>
          </a:p>
        </p:txBody>
      </p:sp>
      <p:sp>
        <p:nvSpPr>
          <p:cNvPr id="14233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42339" name="Rectangle 3"/>
          <p:cNvSpPr>
            <a:spLocks noGrp="1" noChangeArrowheads="1"/>
          </p:cNvSpPr>
          <p:nvPr>
            <p:ph type="body" idx="1"/>
          </p:nvPr>
        </p:nvSpPr>
        <p:spPr>
          <a:xfrm>
            <a:off x="914400" y="4343400"/>
            <a:ext cx="5029200" cy="4114800"/>
          </a:xfrm>
        </p:spPr>
        <p:txBody>
          <a:bodyPr/>
          <a:lstStyle/>
          <a:p>
            <a:pPr eaLnBrk="1" hangingPunct="1">
              <a:defRPr/>
            </a:pPr>
            <a:endParaRPr lang="en-US" dirty="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1345A30A-B24F-4BEC-9F61-3CC36061A085}" type="datetimeFigureOut">
              <a:rPr lang="en-US"/>
              <a:pPr>
                <a:defRPr/>
              </a:pPr>
              <a:t>1/9/24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5AD9E44-7694-4447-B495-06D6C752A2F5}"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93C0E71-AB20-4693-9C0A-B5BD10B43D6D}" type="datetimeFigureOut">
              <a:rPr lang="en-US"/>
              <a:pPr>
                <a:defRPr/>
              </a:pPr>
              <a:t>1/9/24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F447DBA-93B0-4FA8-AD2A-E9E8341653B2}"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0F1C575D-1EF9-4341-A35A-5C7F7AC7BDEB}" type="datetimeFigureOut">
              <a:rPr lang="en-US"/>
              <a:pPr>
                <a:defRPr/>
              </a:pPr>
              <a:t>1/9/24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A178FE3-FC81-4A38-A5D7-A75AD93CCB0B}"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7AFEC9A2-3C21-4EF0-9DBF-D12E7BA5A478}" type="datetimeFigureOut">
              <a:rPr lang="en-US"/>
              <a:pPr>
                <a:defRPr/>
              </a:pPr>
              <a:t>1/9/24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D3CADF61-68DD-495F-AB4D-FEB3827AD5B8}"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3A0F1D6-5FFC-4410-B7F6-166312780826}" type="datetimeFigureOut">
              <a:rPr lang="en-US"/>
              <a:pPr>
                <a:defRPr/>
              </a:pPr>
              <a:t>1/9/24</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FF99DE0-1A13-469F-B0F3-9855D2FAC738}"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C0C7F30A-4EF4-4CC8-AB9C-417EAA6F41CD}" type="datetimeFigureOut">
              <a:rPr lang="en-US"/>
              <a:pPr>
                <a:defRPr/>
              </a:pPr>
              <a:t>1/9/24</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99AAA22E-7C78-45BB-B6A7-4C061B703F5B}"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7B08261-8375-4FA8-9423-0F5E2207E71C}" type="datetimeFigureOut">
              <a:rPr lang="en-US"/>
              <a:pPr>
                <a:defRPr/>
              </a:pPr>
              <a:t>1/9/24</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8BAFF1B2-E9B1-4004-9708-78C2B7362AB4}"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28FEE99-B812-4697-B68C-78A916A8ED5E}" type="datetimeFigureOut">
              <a:rPr lang="en-US"/>
              <a:pPr>
                <a:defRPr/>
              </a:pPr>
              <a:t>1/9/24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AB5F5980-8EE4-44E3-9C35-AA67302AABA8}"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BDC0976-BD35-48DB-949E-15FECE4A5694}" type="datetimeFigureOut">
              <a:rPr lang="en-US"/>
              <a:pPr>
                <a:defRPr/>
              </a:pPr>
              <a:t>1/9/24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1D69D979-F0F9-4187-A4C6-706966529DD8}"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DFE8E78-DC1D-4258-9DAC-8AA07C31D5A9}" type="datetimeFigureOut">
              <a:rPr lang="en-US"/>
              <a:pPr>
                <a:defRPr/>
              </a:pPr>
              <a:t>1/9/24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B1B436C-4682-4DA6-AA97-E7BBAC4A9B29}"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62C3D61-30FD-4010-9ABE-3D4B49E978EF}" type="datetimeFigureOut">
              <a:rPr lang="en-US"/>
              <a:pPr>
                <a:defRPr/>
              </a:pPr>
              <a:t>1/9/24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B94FA5C-0739-446C-AEFD-142D361ACE07}"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a:t>Click to edit Master title style</a:t>
            </a:r>
          </a:p>
        </p:txBody>
      </p:sp>
      <p:sp>
        <p:nvSpPr>
          <p:cNvPr id="3" name="Chart Placeholder 2"/>
          <p:cNvSpPr>
            <a:spLocks noGrp="1"/>
          </p:cNvSpPr>
          <p:nvPr>
            <p:ph type="chart" idx="1"/>
          </p:nvPr>
        </p:nvSpPr>
        <p:spPr>
          <a:xfrm>
            <a:off x="457200" y="1600200"/>
            <a:ext cx="8229600" cy="4525963"/>
          </a:xfrm>
        </p:spPr>
        <p:txBody>
          <a:bodyPr/>
          <a:lstStyle/>
          <a:p>
            <a:pPr lvl="0"/>
            <a:endParaRPr lang="en-US" noProof="0" dirty="0"/>
          </a:p>
        </p:txBody>
      </p:sp>
      <p:sp>
        <p:nvSpPr>
          <p:cNvPr id="4" name="Rectangle 4"/>
          <p:cNvSpPr>
            <a:spLocks noGrp="1" noChangeArrowheads="1"/>
          </p:cNvSpPr>
          <p:nvPr>
            <p:ph type="dt" sz="half" idx="10"/>
          </p:nvPr>
        </p:nvSpPr>
        <p:spPr>
          <a:ln/>
        </p:spPr>
        <p:txBody>
          <a:bodyPr/>
          <a:lstStyle>
            <a:lvl1pPr>
              <a:defRPr/>
            </a:lvl1pPr>
          </a:lstStyle>
          <a:p>
            <a:pPr>
              <a:defRPr/>
            </a:pPr>
            <a:r>
              <a:rPr lang="en-US" dirty="0"/>
              <a:t>Oct. 13, 2006</a:t>
            </a:r>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Alan Krueger</a:t>
            </a:r>
          </a:p>
          <a:p>
            <a:pPr>
              <a:defRPr/>
            </a:pPr>
            <a:endParaRPr lang="en-US" dirty="0"/>
          </a:p>
        </p:txBody>
      </p:sp>
    </p:spTree>
    <p:extLst>
      <p:ext uri="{BB962C8B-B14F-4D97-AF65-F5344CB8AC3E}">
        <p14:creationId xmlns:p14="http://schemas.microsoft.com/office/powerpoint/2010/main" val="3333589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0600DB9B-CAA5-40BB-A8F4-35DEF3BF9AD2}" type="datetimeFigureOut">
              <a:rPr lang="en-US"/>
              <a:pPr>
                <a:defRPr/>
              </a:pPr>
              <a:t>1/9/24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03A3DE2-D863-4659-9A2C-B6A00FC9E313}"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hyperlink" Target="http://images.google.com/imgres?imgurl=http://www.rtclark.com/images/MST-VISA%20Card%20Sign.jpg&amp;imgrefurl=http://www.rtclark.com/RTCWEBPAGE/Page%20Bodies/HomePageBody.htm&amp;h=660&amp;w=508&amp;sz=30&amp;hl=en&amp;start=4&amp;tbnid=RJXDEcGqY5MmvM:&amp;tbnh=138&amp;tbnw=106&amp;prev=/images?q=visa+card&amp;svnum=10&amp;hl=en&amp;lr="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hyperlink" Target="http://images.google.com/imgres?imgurl=http://www.moviequotequiz.com/reviews/MyCousinVinnyBig.gif&amp;imgrefurl=http://www.moviequotequiz.com/reviews/mycousinvinny.html&amp;h=475&amp;w=263&amp;sz=111&amp;hl=en&amp;start=1&amp;tbnid=dGJBrxjVX4RxnM:&amp;tbnh=129&amp;tbnw=71&amp;prev=/images?q=my+cousin+vinny&amp;svnum=10&amp;hl=en&amp;lr="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hyperlink" Target="http://images.google.com/imgres?imgurl=http://history.sandiego.edu/gen/images3/schindler1.jpg&amp;imgrefurl=http://history.sandiego.edu/gen/filmnotes/schindler.html&amp;h=527&amp;w=350&amp;sz=58&amp;hl=en&amp;start=1&amp;tbnid=b4WC1NDknxahoM:&amp;tbnh=132&amp;tbnw=88&amp;prev=/images?q=schindler's+list&amp;svnum=10&amp;hl=en&amp;lr=" TargetMode="External"/><Relationship Id="rId4" Type="http://schemas.openxmlformats.org/officeDocument/2006/relationships/image" Target="../media/image14.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685800" y="990600"/>
            <a:ext cx="7772400" cy="1470025"/>
          </a:xfrm>
        </p:spPr>
        <p:txBody>
          <a:bodyPr/>
          <a:lstStyle/>
          <a:p>
            <a:pPr eaLnBrk="1" hangingPunct="1"/>
            <a:r>
              <a:rPr lang="en-US" dirty="0">
                <a:cs typeface="Times New Roman" pitchFamily="18" charset="0"/>
              </a:rPr>
              <a:t>“Nudging” Entrepreneurship</a:t>
            </a:r>
            <a:br>
              <a:rPr lang="en-US" dirty="0">
                <a:cs typeface="Times New Roman" pitchFamily="18" charset="0"/>
              </a:rPr>
            </a:br>
            <a:endParaRPr lang="en-US" sz="3200" dirty="0">
              <a:cs typeface="Times New Roman" pitchFamily="18" charset="0"/>
            </a:endParaRPr>
          </a:p>
        </p:txBody>
      </p:sp>
      <p:sp>
        <p:nvSpPr>
          <p:cNvPr id="3" name="Subtitle 2"/>
          <p:cNvSpPr>
            <a:spLocks noGrp="1"/>
          </p:cNvSpPr>
          <p:nvPr>
            <p:ph type="subTitle" idx="1"/>
          </p:nvPr>
        </p:nvSpPr>
        <p:spPr>
          <a:xfrm>
            <a:off x="1371600" y="3886200"/>
            <a:ext cx="6477000" cy="1752600"/>
          </a:xfrm>
        </p:spPr>
        <p:txBody>
          <a:bodyPr rtlCol="0">
            <a:normAutofit fontScale="62500" lnSpcReduction="20000"/>
          </a:bodyPr>
          <a:lstStyle/>
          <a:p>
            <a:pPr eaLnBrk="1" fontAlgn="auto" hangingPunct="1">
              <a:spcAft>
                <a:spcPts val="0"/>
              </a:spcAft>
              <a:buFont typeface="Arial" pitchFamily="34" charset="0"/>
              <a:buNone/>
              <a:defRPr/>
            </a:pPr>
            <a:r>
              <a:rPr lang="en-US" sz="4000" b="1" dirty="0">
                <a:cs typeface="Times New Roman" pitchFamily="18" charset="0"/>
              </a:rPr>
              <a:t>Prof. Barton Hamilton</a:t>
            </a:r>
          </a:p>
          <a:p>
            <a:pPr eaLnBrk="1" fontAlgn="auto" hangingPunct="1">
              <a:spcAft>
                <a:spcPts val="0"/>
              </a:spcAft>
              <a:buFont typeface="Arial" pitchFamily="34" charset="0"/>
              <a:buNone/>
              <a:defRPr/>
            </a:pPr>
            <a:r>
              <a:rPr lang="en-US" sz="4000" b="1" dirty="0">
                <a:cs typeface="Times New Roman" pitchFamily="18" charset="0"/>
              </a:rPr>
              <a:t>Robert Brookings Smith Distinguished Professor of Entrepreneurship</a:t>
            </a:r>
          </a:p>
          <a:p>
            <a:pPr eaLnBrk="1" fontAlgn="auto" hangingPunct="1">
              <a:spcAft>
                <a:spcPts val="0"/>
              </a:spcAft>
              <a:buFont typeface="Arial" pitchFamily="34" charset="0"/>
              <a:buNone/>
              <a:defRPr/>
            </a:pPr>
            <a:r>
              <a:rPr lang="en-US" sz="4000" b="1" dirty="0">
                <a:cs typeface="Times New Roman" pitchFamily="18" charset="0"/>
              </a:rPr>
              <a:t>Olin Business School</a:t>
            </a:r>
            <a:br>
              <a:rPr lang="en-US" sz="4000" b="1" dirty="0">
                <a:cs typeface="Times New Roman" pitchFamily="18" charset="0"/>
              </a:rPr>
            </a:br>
            <a:endParaRPr lang="en-US" dirty="0">
              <a:solidFill>
                <a:schemeClr val="tx1"/>
              </a:solidFill>
            </a:endParaRPr>
          </a:p>
        </p:txBody>
      </p:sp>
      <p:sp>
        <p:nvSpPr>
          <p:cNvPr id="6" name="Slide Number Placeholder 5"/>
          <p:cNvSpPr>
            <a:spLocks noGrp="1"/>
          </p:cNvSpPr>
          <p:nvPr>
            <p:ph type="sldNum" sz="quarter" idx="12"/>
          </p:nvPr>
        </p:nvSpPr>
        <p:spPr/>
        <p:txBody>
          <a:bodyPr/>
          <a:lstStyle/>
          <a:p>
            <a:pPr>
              <a:defRPr/>
            </a:pPr>
            <a:fld id="{B05B572B-65B4-4E38-BE1C-530B0D7D5529}" type="slidenum">
              <a:rPr lang="en-US"/>
              <a:pPr>
                <a:defRPr/>
              </a:pPr>
              <a:t>1</a:t>
            </a:fld>
            <a:endParaRPr lang="en-US" dirty="0"/>
          </a:p>
        </p:txBody>
      </p:sp>
      <p:sp>
        <p:nvSpPr>
          <p:cNvPr id="2" name="TextBox 1"/>
          <p:cNvSpPr txBox="1"/>
          <p:nvPr/>
        </p:nvSpPr>
        <p:spPr>
          <a:xfrm>
            <a:off x="2087563" y="6699250"/>
            <a:ext cx="184666" cy="369332"/>
          </a:xfrm>
          <a:prstGeom prst="rect">
            <a:avLst/>
          </a:prstGeom>
          <a:noFill/>
        </p:spPr>
        <p:txBody>
          <a:bodyPr wrap="none" rtlCol="0">
            <a:spAutoFit/>
          </a:bodyPr>
          <a:lstStyle/>
          <a:p>
            <a:endParaRPr lang="en-US" dirty="0"/>
          </a:p>
        </p:txBody>
      </p:sp>
      <p:sp>
        <p:nvSpPr>
          <p:cNvPr id="4" name="TextBox 3"/>
          <p:cNvSpPr txBox="1"/>
          <p:nvPr/>
        </p:nvSpPr>
        <p:spPr>
          <a:xfrm>
            <a:off x="8509000" y="6532563"/>
            <a:ext cx="184666" cy="369332"/>
          </a:xfrm>
          <a:prstGeom prst="rect">
            <a:avLst/>
          </a:prstGeom>
          <a:noFill/>
        </p:spPr>
        <p:txBody>
          <a:bodyPr wrap="none" rtlCol="0">
            <a:sp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Recent Bestselling Business Books</a:t>
            </a:r>
          </a:p>
        </p:txBody>
      </p:sp>
      <p:pic>
        <p:nvPicPr>
          <p:cNvPr id="5" name="Content Placeholder 4" descr="Nudge.jpg"/>
          <p:cNvPicPr>
            <a:picLocks noGrp="1" noChangeAspect="1"/>
          </p:cNvPicPr>
          <p:nvPr>
            <p:ph sz="half" idx="1"/>
          </p:nvPr>
        </p:nvPicPr>
        <p:blipFill>
          <a:blip r:embed="rId2">
            <a:extLst>
              <a:ext uri="{28A0092B-C50C-407E-A947-70E740481C1C}">
                <a14:useLocalDpi xmlns:a14="http://schemas.microsoft.com/office/drawing/2010/main" val="0"/>
              </a:ext>
            </a:extLst>
          </a:blip>
          <a:srcRect l="-18429" r="-18429"/>
          <a:stretch>
            <a:fillRect/>
          </a:stretch>
        </p:blipFill>
        <p:spPr/>
      </p:pic>
      <p:pic>
        <p:nvPicPr>
          <p:cNvPr id="6" name="Content Placeholder 5" descr="Kahneman.jpg"/>
          <p:cNvPicPr>
            <a:picLocks noGrp="1" noChangeAspect="1"/>
          </p:cNvPicPr>
          <p:nvPr>
            <p:ph sz="half" idx="2"/>
          </p:nvPr>
        </p:nvPicPr>
        <p:blipFill>
          <a:blip r:embed="rId3">
            <a:extLst>
              <a:ext uri="{28A0092B-C50C-407E-A947-70E740481C1C}">
                <a14:useLocalDpi xmlns:a14="http://schemas.microsoft.com/office/drawing/2010/main" val="0"/>
              </a:ext>
            </a:extLst>
          </a:blip>
          <a:srcRect l="-16790" r="-16790"/>
          <a:stretch>
            <a:fillRect/>
          </a:stretch>
        </p:blipFill>
        <p:spPr/>
      </p:pic>
    </p:spTree>
    <p:extLst>
      <p:ext uri="{BB962C8B-B14F-4D97-AF65-F5344CB8AC3E}">
        <p14:creationId xmlns:p14="http://schemas.microsoft.com/office/powerpoint/2010/main" val="3134345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 for Today</a:t>
            </a:r>
          </a:p>
        </p:txBody>
      </p:sp>
      <p:sp>
        <p:nvSpPr>
          <p:cNvPr id="3" name="Content Placeholder 2"/>
          <p:cNvSpPr>
            <a:spLocks noGrp="1"/>
          </p:cNvSpPr>
          <p:nvPr>
            <p:ph idx="1"/>
          </p:nvPr>
        </p:nvSpPr>
        <p:spPr/>
        <p:txBody>
          <a:bodyPr/>
          <a:lstStyle/>
          <a:p>
            <a:r>
              <a:rPr lang="en-US" sz="2800" dirty="0"/>
              <a:t>How can a startup improve the odds of success?</a:t>
            </a:r>
          </a:p>
          <a:p>
            <a:r>
              <a:rPr lang="en-US" sz="2800" dirty="0"/>
              <a:t>What insights can we gain from behavioral economics?</a:t>
            </a:r>
          </a:p>
          <a:p>
            <a:pPr lvl="1"/>
            <a:r>
              <a:rPr lang="en-US" sz="2400" dirty="0"/>
              <a:t>Implications of behavioral economics for decision-making.</a:t>
            </a:r>
          </a:p>
          <a:p>
            <a:r>
              <a:rPr lang="en-US" sz="2800" dirty="0"/>
              <a:t>Applying these insights to entrepreneurship:  The Power of Pain</a:t>
            </a:r>
            <a:endParaRPr lang="en-US" sz="2400" dirty="0"/>
          </a:p>
          <a:p>
            <a:pPr lvl="1"/>
            <a:r>
              <a:rPr lang="en-US" sz="2400" dirty="0"/>
              <a:t>Using PoP to generate ideas</a:t>
            </a:r>
          </a:p>
          <a:p>
            <a:pPr lvl="1"/>
            <a:r>
              <a:rPr lang="en-US" sz="2400" dirty="0"/>
              <a:t>Using PoP to evaluate ideas</a:t>
            </a:r>
          </a:p>
          <a:p>
            <a:pPr lvl="1"/>
            <a:r>
              <a:rPr lang="en-US" sz="2400" dirty="0"/>
              <a:t>Using PoP to communicate ideas</a:t>
            </a:r>
          </a:p>
          <a:p>
            <a:endParaRPr lang="en-US" sz="2800" dirty="0"/>
          </a:p>
        </p:txBody>
      </p:sp>
    </p:spTree>
    <p:extLst>
      <p:ext uri="{BB962C8B-B14F-4D97-AF65-F5344CB8AC3E}">
        <p14:creationId xmlns:p14="http://schemas.microsoft.com/office/powerpoint/2010/main" val="2843199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What determines whether a new product/start-up will be successful?</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092387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Affecting Entrepreneurial Success</a:t>
            </a:r>
          </a:p>
        </p:txBody>
      </p:sp>
      <p:sp>
        <p:nvSpPr>
          <p:cNvPr id="3" name="Content Placeholder 2"/>
          <p:cNvSpPr>
            <a:spLocks noGrp="1"/>
          </p:cNvSpPr>
          <p:nvPr>
            <p:ph idx="1"/>
          </p:nvPr>
        </p:nvSpPr>
        <p:spPr/>
        <p:txBody>
          <a:bodyPr/>
          <a:lstStyle/>
          <a:p>
            <a:r>
              <a:rPr lang="en-US" dirty="0"/>
              <a:t>The Entrepreneur</a:t>
            </a:r>
          </a:p>
          <a:p>
            <a:pPr lvl="1"/>
            <a:r>
              <a:rPr lang="en-US" dirty="0"/>
              <a:t>The “Small Firm Effect” (Elfenbein, Hamilton, Zenger 2010)</a:t>
            </a:r>
          </a:p>
          <a:p>
            <a:pPr lvl="1"/>
            <a:r>
              <a:rPr lang="en-US" dirty="0"/>
              <a:t>Personality (Hamilton &amp; Papageorge 2013)</a:t>
            </a:r>
          </a:p>
          <a:p>
            <a:pPr lvl="1"/>
            <a:r>
              <a:rPr lang="en-US" dirty="0"/>
              <a:t>Genetics</a:t>
            </a:r>
          </a:p>
          <a:p>
            <a:pPr lvl="1"/>
            <a:r>
              <a:rPr lang="en-US" dirty="0"/>
              <a:t>“Mistakes” (Heger and Papageorge 2013)</a:t>
            </a:r>
          </a:p>
          <a:p>
            <a:r>
              <a:rPr lang="en-US" dirty="0"/>
              <a:t>Financing</a:t>
            </a:r>
          </a:p>
          <a:p>
            <a:pPr lvl="1"/>
            <a:r>
              <a:rPr lang="en-US" dirty="0"/>
              <a:t>Liquidity Constraints and Angel/VC</a:t>
            </a:r>
          </a:p>
          <a:p>
            <a:r>
              <a:rPr lang="en-US" dirty="0"/>
              <a:t>Intellectual Property</a:t>
            </a:r>
          </a:p>
          <a:p>
            <a:pPr lvl="1"/>
            <a:r>
              <a:rPr lang="en-US" dirty="0"/>
              <a:t>R&amp;D (Hamilton &amp; Janpen 2013)</a:t>
            </a:r>
          </a:p>
        </p:txBody>
      </p:sp>
    </p:spTree>
    <p:extLst>
      <p:ext uri="{BB962C8B-B14F-4D97-AF65-F5344CB8AC3E}">
        <p14:creationId xmlns:p14="http://schemas.microsoft.com/office/powerpoint/2010/main" val="1281796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What Really Matters?</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171953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What Really Matters?</a:t>
            </a:r>
          </a:p>
        </p:txBody>
      </p:sp>
      <p:sp>
        <p:nvSpPr>
          <p:cNvPr id="3" name="Subtitle 2"/>
          <p:cNvSpPr>
            <a:spLocks noGrp="1"/>
          </p:cNvSpPr>
          <p:nvPr>
            <p:ph type="subTitle" idx="1"/>
          </p:nvPr>
        </p:nvSpPr>
        <p:spPr/>
        <p:txBody>
          <a:bodyPr/>
          <a:lstStyle/>
          <a:p>
            <a:r>
              <a:rPr lang="en-US" dirty="0"/>
              <a:t>Will a customer buy the product?</a:t>
            </a:r>
          </a:p>
          <a:p>
            <a:r>
              <a:rPr lang="en-US" dirty="0"/>
              <a:t>Will a customer change their behavior and try something new?!</a:t>
            </a:r>
          </a:p>
        </p:txBody>
      </p:sp>
    </p:spTree>
    <p:extLst>
      <p:ext uri="{BB962C8B-B14F-4D97-AF65-F5344CB8AC3E}">
        <p14:creationId xmlns:p14="http://schemas.microsoft.com/office/powerpoint/2010/main" val="397333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Why is Change So Hard?</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012734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Neoclassical Economics</a:t>
            </a:r>
          </a:p>
        </p:txBody>
      </p:sp>
      <p:pic>
        <p:nvPicPr>
          <p:cNvPr id="5" name="Content Placeholder 4" descr="freakonomics.jpg"/>
          <p:cNvPicPr>
            <a:picLocks noGrp="1" noChangeAspect="1"/>
          </p:cNvPicPr>
          <p:nvPr>
            <p:ph sz="half" idx="1"/>
          </p:nvPr>
        </p:nvPicPr>
        <p:blipFill>
          <a:blip r:embed="rId2">
            <a:extLst>
              <a:ext uri="{28A0092B-C50C-407E-A947-70E740481C1C}">
                <a14:useLocalDpi xmlns:a14="http://schemas.microsoft.com/office/drawing/2010/main" val="0"/>
              </a:ext>
            </a:extLst>
          </a:blip>
          <a:srcRect l="-17396" r="-17396"/>
          <a:stretch>
            <a:fillRect/>
          </a:stretch>
        </p:blipFill>
        <p:spPr/>
      </p:pic>
      <p:sp>
        <p:nvSpPr>
          <p:cNvPr id="4" name="Content Placeholder 3"/>
          <p:cNvSpPr>
            <a:spLocks noGrp="1"/>
          </p:cNvSpPr>
          <p:nvPr>
            <p:ph sz="half" idx="2"/>
          </p:nvPr>
        </p:nvSpPr>
        <p:spPr/>
        <p:txBody>
          <a:bodyPr/>
          <a:lstStyle/>
          <a:p>
            <a:r>
              <a:rPr lang="en-US" dirty="0"/>
              <a:t>Individuals make rational choices</a:t>
            </a:r>
          </a:p>
          <a:p>
            <a:r>
              <a:rPr lang="en-US" dirty="0"/>
              <a:t>Respond to incentives</a:t>
            </a:r>
          </a:p>
          <a:p>
            <a:r>
              <a:rPr lang="en-US" dirty="0"/>
              <a:t>Compare discounted flows of returns from alternative activities</a:t>
            </a:r>
          </a:p>
          <a:p>
            <a:r>
              <a:rPr lang="en-US" dirty="0"/>
              <a:t>Choose option that maximizes utility</a:t>
            </a:r>
          </a:p>
        </p:txBody>
      </p:sp>
    </p:spTree>
    <p:extLst>
      <p:ext uri="{BB962C8B-B14F-4D97-AF65-F5344CB8AC3E}">
        <p14:creationId xmlns:p14="http://schemas.microsoft.com/office/powerpoint/2010/main" val="2666463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457200" y="152400"/>
            <a:ext cx="8229600" cy="944563"/>
          </a:xfrm>
        </p:spPr>
        <p:txBody>
          <a:bodyPr/>
          <a:lstStyle/>
          <a:p>
            <a:pPr eaLnBrk="1" hangingPunct="1">
              <a:defRPr/>
            </a:pPr>
            <a:r>
              <a:rPr lang="en-US" sz="4000" b="1" dirty="0">
                <a:solidFill>
                  <a:schemeClr val="accent2"/>
                </a:solidFill>
                <a:cs typeface="+mj-cs"/>
              </a:rPr>
              <a:t>Elements of Rational Decision Making</a:t>
            </a:r>
          </a:p>
        </p:txBody>
      </p:sp>
      <p:sp>
        <p:nvSpPr>
          <p:cNvPr id="149507" name="Rectangle 3"/>
          <p:cNvSpPr>
            <a:spLocks noGrp="1" noChangeArrowheads="1"/>
          </p:cNvSpPr>
          <p:nvPr>
            <p:ph type="body" idx="1"/>
          </p:nvPr>
        </p:nvSpPr>
        <p:spPr>
          <a:xfrm>
            <a:off x="304800" y="1143000"/>
            <a:ext cx="8610600" cy="5181600"/>
          </a:xfrm>
        </p:spPr>
        <p:txBody>
          <a:bodyPr/>
          <a:lstStyle/>
          <a:p>
            <a:pPr eaLnBrk="1" hangingPunct="1">
              <a:lnSpc>
                <a:spcPct val="80000"/>
              </a:lnSpc>
              <a:buSzPct val="150000"/>
              <a:defRPr/>
            </a:pPr>
            <a:r>
              <a:rPr lang="en-US" sz="2200" dirty="0">
                <a:cs typeface="+mn-cs"/>
              </a:rPr>
              <a:t>Individuals make choices to maximize some objective function (u</a:t>
            </a:r>
            <a:r>
              <a:rPr lang="en-US" sz="2200" dirty="0">
                <a:cs typeface="+mn-cs"/>
                <a:sym typeface="Wingdings" charset="0"/>
              </a:rPr>
              <a:t>sually </a:t>
            </a:r>
            <a:r>
              <a:rPr lang="en-US" sz="2200" dirty="0">
                <a:cs typeface="+mn-cs"/>
              </a:rPr>
              <a:t>utility function) under the constraints that they face</a:t>
            </a:r>
          </a:p>
          <a:p>
            <a:pPr eaLnBrk="1" hangingPunct="1">
              <a:lnSpc>
                <a:spcPct val="80000"/>
              </a:lnSpc>
              <a:buSzPct val="150000"/>
              <a:defRPr/>
            </a:pPr>
            <a:r>
              <a:rPr lang="en-US" sz="2200" dirty="0">
                <a:cs typeface="+mn-cs"/>
              </a:rPr>
              <a:t>Utility function is stable</a:t>
            </a:r>
          </a:p>
          <a:p>
            <a:pPr eaLnBrk="1" hangingPunct="1">
              <a:lnSpc>
                <a:spcPct val="80000"/>
              </a:lnSpc>
              <a:buSzPct val="150000"/>
              <a:defRPr/>
            </a:pPr>
            <a:r>
              <a:rPr lang="en-US" sz="2200" dirty="0">
                <a:cs typeface="+mn-cs"/>
              </a:rPr>
              <a:t>If there is uncertainty, individuals maximize expected utility by assigning probabilities to different states of the world</a:t>
            </a:r>
          </a:p>
          <a:p>
            <a:pPr eaLnBrk="1" hangingPunct="1">
              <a:lnSpc>
                <a:spcPct val="80000"/>
              </a:lnSpc>
              <a:buSzPct val="150000"/>
              <a:defRPr/>
            </a:pPr>
            <a:endParaRPr lang="en-US" sz="2000" dirty="0">
              <a:cs typeface="+mn-cs"/>
            </a:endParaRPr>
          </a:p>
          <a:p>
            <a:pPr eaLnBrk="1" hangingPunct="1">
              <a:lnSpc>
                <a:spcPct val="80000"/>
              </a:lnSpc>
              <a:buSzPct val="150000"/>
              <a:buFontTx/>
              <a:buNone/>
              <a:defRPr/>
            </a:pPr>
            <a:r>
              <a:rPr lang="en-US" sz="2600" u="sng" dirty="0">
                <a:cs typeface="+mn-cs"/>
              </a:rPr>
              <a:t>Implications:</a:t>
            </a:r>
            <a:r>
              <a:rPr lang="en-US" sz="2000" dirty="0">
                <a:cs typeface="+mn-cs"/>
              </a:rPr>
              <a:t> </a:t>
            </a:r>
            <a:endParaRPr lang="en-US" sz="1000" dirty="0">
              <a:cs typeface="+mn-cs"/>
            </a:endParaRPr>
          </a:p>
          <a:p>
            <a:pPr eaLnBrk="1" hangingPunct="1">
              <a:lnSpc>
                <a:spcPct val="80000"/>
              </a:lnSpc>
              <a:buSzPct val="150000"/>
              <a:buFontTx/>
              <a:buChar char="-"/>
              <a:defRPr/>
            </a:pPr>
            <a:r>
              <a:rPr lang="en-US" sz="2200" dirty="0">
                <a:cs typeface="+mn-cs"/>
              </a:rPr>
              <a:t>Compare opportunity cost of various decisions</a:t>
            </a:r>
          </a:p>
          <a:p>
            <a:pPr eaLnBrk="1" hangingPunct="1">
              <a:lnSpc>
                <a:spcPct val="80000"/>
              </a:lnSpc>
              <a:buSzPct val="150000"/>
              <a:buFontTx/>
              <a:buChar char="-"/>
              <a:defRPr/>
            </a:pPr>
            <a:r>
              <a:rPr lang="en-US" sz="2200" dirty="0">
                <a:cs typeface="+mn-cs"/>
              </a:rPr>
              <a:t>Pursue an activity until marginal benefit equals marginal cost</a:t>
            </a:r>
          </a:p>
          <a:p>
            <a:pPr eaLnBrk="1" hangingPunct="1">
              <a:lnSpc>
                <a:spcPct val="80000"/>
              </a:lnSpc>
              <a:buSzPct val="150000"/>
              <a:buFontTx/>
              <a:buChar char="-"/>
              <a:defRPr/>
            </a:pPr>
            <a:r>
              <a:rPr lang="en-US" sz="2200" dirty="0">
                <a:cs typeface="+mn-cs"/>
              </a:rPr>
              <a:t>Sunk costs are sunk</a:t>
            </a:r>
          </a:p>
          <a:p>
            <a:pPr eaLnBrk="1" hangingPunct="1">
              <a:lnSpc>
                <a:spcPct val="80000"/>
              </a:lnSpc>
              <a:buSzPct val="150000"/>
              <a:buFontTx/>
              <a:buChar char="-"/>
              <a:defRPr/>
            </a:pPr>
            <a:r>
              <a:rPr lang="en-US" sz="2200" dirty="0">
                <a:cs typeface="+mn-cs"/>
              </a:rPr>
              <a:t>Consistent behavior</a:t>
            </a:r>
          </a:p>
          <a:p>
            <a:pPr eaLnBrk="1" hangingPunct="1">
              <a:lnSpc>
                <a:spcPct val="80000"/>
              </a:lnSpc>
              <a:buSzPct val="150000"/>
              <a:buFontTx/>
              <a:buChar char="-"/>
              <a:defRPr/>
            </a:pPr>
            <a:r>
              <a:rPr lang="en-US" sz="2200" dirty="0">
                <a:cs typeface="+mn-cs"/>
              </a:rPr>
              <a:t>More choice is better</a:t>
            </a:r>
          </a:p>
          <a:p>
            <a:pPr eaLnBrk="1" hangingPunct="1">
              <a:lnSpc>
                <a:spcPct val="80000"/>
              </a:lnSpc>
              <a:buSzPct val="150000"/>
              <a:buFontTx/>
              <a:buNone/>
              <a:defRPr/>
            </a:pPr>
            <a:endParaRPr lang="en-US" sz="2200" dirty="0">
              <a:cs typeface="+mn-cs"/>
            </a:endParaRPr>
          </a:p>
          <a:p>
            <a:pPr eaLnBrk="1" hangingPunct="1">
              <a:lnSpc>
                <a:spcPct val="80000"/>
              </a:lnSpc>
              <a:buSzPct val="150000"/>
              <a:buFontTx/>
              <a:buNone/>
              <a:defRPr/>
            </a:pPr>
            <a:r>
              <a:rPr lang="en-US" sz="2200" dirty="0">
                <a:solidFill>
                  <a:srgbClr val="CC3300"/>
                </a:solidFill>
                <a:cs typeface="+mn-cs"/>
                <a:sym typeface="Wingdings" charset="0"/>
              </a:rPr>
              <a:t> Great strength is that we can rely on choices to infer preferences – idea of revealed preference.  </a:t>
            </a:r>
            <a:endParaRPr lang="en-US" sz="2200" dirty="0">
              <a:cs typeface="+mn-cs"/>
            </a:endParaRPr>
          </a:p>
          <a:p>
            <a:pPr eaLnBrk="1" hangingPunct="1">
              <a:lnSpc>
                <a:spcPct val="80000"/>
              </a:lnSpc>
              <a:buSzPct val="150000"/>
              <a:defRPr/>
            </a:pPr>
            <a:endParaRPr lang="en-US" sz="2200" dirty="0">
              <a:cs typeface="+mn-cs"/>
            </a:endParaRPr>
          </a:p>
        </p:txBody>
      </p:sp>
    </p:spTree>
    <p:extLst>
      <p:ext uri="{BB962C8B-B14F-4D97-AF65-F5344CB8AC3E}">
        <p14:creationId xmlns:p14="http://schemas.microsoft.com/office/powerpoint/2010/main" val="1961872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381000" y="274638"/>
            <a:ext cx="8229600" cy="944562"/>
          </a:xfrm>
        </p:spPr>
        <p:txBody>
          <a:bodyPr/>
          <a:lstStyle/>
          <a:p>
            <a:pPr eaLnBrk="1" hangingPunct="1">
              <a:defRPr/>
            </a:pPr>
            <a:r>
              <a:rPr lang="en-US" sz="3600" b="1" dirty="0">
                <a:solidFill>
                  <a:schemeClr val="accent2"/>
                </a:solidFill>
                <a:cs typeface="+mj-cs"/>
              </a:rPr>
              <a:t>Behavioral Economics</a:t>
            </a:r>
          </a:p>
        </p:txBody>
      </p:sp>
      <p:sp>
        <p:nvSpPr>
          <p:cNvPr id="151555" name="Rectangle 3"/>
          <p:cNvSpPr>
            <a:spLocks noGrp="1" noChangeArrowheads="1"/>
          </p:cNvSpPr>
          <p:nvPr>
            <p:ph type="body" idx="1"/>
          </p:nvPr>
        </p:nvSpPr>
        <p:spPr>
          <a:xfrm>
            <a:off x="457200" y="1295400"/>
            <a:ext cx="8229600" cy="4525963"/>
          </a:xfrm>
        </p:spPr>
        <p:txBody>
          <a:bodyPr/>
          <a:lstStyle/>
          <a:p>
            <a:pPr eaLnBrk="1" hangingPunct="1">
              <a:lnSpc>
                <a:spcPct val="90000"/>
              </a:lnSpc>
              <a:buSzPct val="150000"/>
              <a:defRPr/>
            </a:pPr>
            <a:r>
              <a:rPr lang="en-US" sz="2400" dirty="0">
                <a:cs typeface="+mn-cs"/>
              </a:rPr>
              <a:t>Fastest growing field in economics</a:t>
            </a:r>
          </a:p>
          <a:p>
            <a:pPr eaLnBrk="1" hangingPunct="1">
              <a:lnSpc>
                <a:spcPct val="90000"/>
              </a:lnSpc>
              <a:buSzPct val="150000"/>
              <a:defRPr/>
            </a:pPr>
            <a:r>
              <a:rPr lang="en-US" sz="2400" dirty="0">
                <a:solidFill>
                  <a:schemeClr val="accent2"/>
                </a:solidFill>
                <a:cs typeface="+mn-cs"/>
              </a:rPr>
              <a:t>Behavioral economics</a:t>
            </a:r>
            <a:r>
              <a:rPr lang="en-US" sz="2400" dirty="0">
                <a:cs typeface="+mn-cs"/>
              </a:rPr>
              <a:t> is concerned with the ways in which the actual decision-making process influences the decisions that are made in practice; combines psychology and economics </a:t>
            </a:r>
          </a:p>
          <a:p>
            <a:pPr eaLnBrk="1" hangingPunct="1">
              <a:lnSpc>
                <a:spcPct val="90000"/>
              </a:lnSpc>
              <a:buSzPct val="150000"/>
              <a:defRPr/>
            </a:pPr>
            <a:r>
              <a:rPr lang="en-US" sz="2400" dirty="0">
                <a:cs typeface="+mn-cs"/>
              </a:rPr>
              <a:t>Assumes </a:t>
            </a:r>
            <a:r>
              <a:rPr lang="en-US" sz="2400" dirty="0">
                <a:solidFill>
                  <a:schemeClr val="accent2"/>
                </a:solidFill>
                <a:cs typeface="+mn-cs"/>
              </a:rPr>
              <a:t>bounded rationality</a:t>
            </a:r>
            <a:r>
              <a:rPr lang="en-US" sz="2400" dirty="0">
                <a:cs typeface="+mn-cs"/>
              </a:rPr>
              <a:t> – meaning that people have limited time and capacity to weigh all the relevant benefits and costs of a decision. </a:t>
            </a:r>
          </a:p>
          <a:p>
            <a:pPr eaLnBrk="1" hangingPunct="1">
              <a:lnSpc>
                <a:spcPct val="90000"/>
              </a:lnSpc>
              <a:buSzPct val="150000"/>
              <a:defRPr/>
            </a:pPr>
            <a:r>
              <a:rPr lang="en-US" sz="2400" dirty="0">
                <a:cs typeface="+mn-cs"/>
              </a:rPr>
              <a:t>Decision making is less than fully rational.  People are prone to make predictable and avoidable mistakes. </a:t>
            </a:r>
          </a:p>
          <a:p>
            <a:pPr eaLnBrk="1" hangingPunct="1">
              <a:lnSpc>
                <a:spcPct val="90000"/>
              </a:lnSpc>
              <a:buSzPct val="150000"/>
              <a:defRPr/>
            </a:pPr>
            <a:r>
              <a:rPr lang="en-US" sz="2400" dirty="0">
                <a:cs typeface="+mn-cs"/>
              </a:rPr>
              <a:t>At the same time, decision making is systematic and amenable to scientific study. </a:t>
            </a:r>
          </a:p>
          <a:p>
            <a:pPr eaLnBrk="1" hangingPunct="1">
              <a:lnSpc>
                <a:spcPct val="90000"/>
              </a:lnSpc>
              <a:buSzPct val="150000"/>
              <a:defRPr/>
            </a:pPr>
            <a:endParaRPr lang="en-US" dirty="0">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228600" y="274638"/>
            <a:ext cx="8686800" cy="944562"/>
          </a:xfrm>
        </p:spPr>
        <p:txBody>
          <a:bodyPr/>
          <a:lstStyle/>
          <a:p>
            <a:pPr eaLnBrk="1" hangingPunct="1">
              <a:defRPr/>
            </a:pPr>
            <a:r>
              <a:rPr lang="en-US" sz="3600" b="1" dirty="0">
                <a:cs typeface="+mj-cs"/>
              </a:rPr>
              <a:t>Six Key Ideas from Behavioral Economics</a:t>
            </a:r>
            <a:br>
              <a:rPr lang="en-US" sz="3600" dirty="0">
                <a:cs typeface="+mj-cs"/>
              </a:rPr>
            </a:br>
            <a:endParaRPr lang="en-US" sz="3600" dirty="0">
              <a:cs typeface="+mj-cs"/>
            </a:endParaRPr>
          </a:p>
        </p:txBody>
      </p:sp>
      <p:sp>
        <p:nvSpPr>
          <p:cNvPr id="156675" name="Rectangle 3"/>
          <p:cNvSpPr>
            <a:spLocks noGrp="1" noChangeArrowheads="1"/>
          </p:cNvSpPr>
          <p:nvPr>
            <p:ph type="body" idx="1"/>
          </p:nvPr>
        </p:nvSpPr>
        <p:spPr>
          <a:xfrm>
            <a:off x="228600" y="1295400"/>
            <a:ext cx="8686800" cy="4525963"/>
          </a:xfrm>
        </p:spPr>
        <p:txBody>
          <a:bodyPr/>
          <a:lstStyle/>
          <a:p>
            <a:pPr eaLnBrk="1" hangingPunct="1">
              <a:lnSpc>
                <a:spcPct val="80000"/>
              </a:lnSpc>
              <a:buFontTx/>
              <a:buNone/>
              <a:defRPr/>
            </a:pPr>
            <a:r>
              <a:rPr lang="en-US" sz="1900" dirty="0">
                <a:cs typeface="+mn-cs"/>
              </a:rPr>
              <a:t>	1.  </a:t>
            </a:r>
            <a:r>
              <a:rPr lang="en-US" sz="1900" b="1" i="1" dirty="0">
                <a:solidFill>
                  <a:schemeClr val="accent2"/>
                </a:solidFill>
                <a:cs typeface="+mn-cs"/>
              </a:rPr>
              <a:t>Framing.</a:t>
            </a:r>
            <a:r>
              <a:rPr lang="en-US" sz="1900" dirty="0">
                <a:cs typeface="+mn-cs"/>
              </a:rPr>
              <a:t>  Allowing the way a decision is presented to affect the choice that is selected even though the marginal benefit and marginal cost are unaffected. </a:t>
            </a:r>
          </a:p>
          <a:p>
            <a:pPr eaLnBrk="1" hangingPunct="1">
              <a:lnSpc>
                <a:spcPct val="80000"/>
              </a:lnSpc>
              <a:buFontTx/>
              <a:buNone/>
              <a:defRPr/>
            </a:pPr>
            <a:r>
              <a:rPr lang="en-US" sz="1900" dirty="0">
                <a:cs typeface="+mn-cs"/>
              </a:rPr>
              <a:t>	2.  </a:t>
            </a:r>
            <a:r>
              <a:rPr lang="en-US" sz="1900" b="1" i="1" dirty="0">
                <a:solidFill>
                  <a:schemeClr val="accent2"/>
                </a:solidFill>
                <a:cs typeface="+mn-cs"/>
              </a:rPr>
              <a:t>Letting Sunk Costs Matter</a:t>
            </a:r>
            <a:r>
              <a:rPr lang="en-US" sz="1900" i="1" dirty="0">
                <a:cs typeface="+mn-cs"/>
              </a:rPr>
              <a:t>.  </a:t>
            </a:r>
            <a:r>
              <a:rPr lang="en-US" sz="1900" dirty="0">
                <a:cs typeface="+mn-cs"/>
              </a:rPr>
              <a:t>Allowing sunk costs, which have already been paid and do not affect marginal costs regardless of which option is chosen, to affect a decision.  </a:t>
            </a:r>
          </a:p>
          <a:p>
            <a:pPr eaLnBrk="1" hangingPunct="1">
              <a:lnSpc>
                <a:spcPct val="80000"/>
              </a:lnSpc>
              <a:buFontTx/>
              <a:buNone/>
              <a:defRPr/>
            </a:pPr>
            <a:r>
              <a:rPr lang="en-US" sz="1900" dirty="0">
                <a:cs typeface="+mn-cs"/>
              </a:rPr>
              <a:t>	3.  </a:t>
            </a:r>
            <a:r>
              <a:rPr lang="en-US" sz="1900" b="1" i="1" dirty="0">
                <a:solidFill>
                  <a:schemeClr val="accent2"/>
                </a:solidFill>
                <a:cs typeface="+mn-cs"/>
              </a:rPr>
              <a:t>Faulty discounting</a:t>
            </a:r>
            <a:r>
              <a:rPr lang="en-US" sz="1900" dirty="0">
                <a:cs typeface="+mn-cs"/>
              </a:rPr>
              <a:t>.  Being too impatient when it comes to decisions that involve benefits that are received in the future or discounting future benefits inconsistently depending on when the delay in receipt of benefits occurs.  </a:t>
            </a:r>
          </a:p>
          <a:p>
            <a:pPr eaLnBrk="1" hangingPunct="1">
              <a:lnSpc>
                <a:spcPct val="80000"/>
              </a:lnSpc>
              <a:buFontTx/>
              <a:buNone/>
              <a:defRPr/>
            </a:pPr>
            <a:r>
              <a:rPr lang="en-US" sz="1900" dirty="0">
                <a:cs typeface="+mn-cs"/>
              </a:rPr>
              <a:t>	4.  </a:t>
            </a:r>
            <a:r>
              <a:rPr lang="en-US" sz="1900" b="1" i="1" dirty="0">
                <a:solidFill>
                  <a:schemeClr val="accent2"/>
                </a:solidFill>
                <a:cs typeface="+mn-cs"/>
              </a:rPr>
              <a:t>Overconfidence.</a:t>
            </a:r>
            <a:r>
              <a:rPr lang="en-US" sz="1900" dirty="0">
                <a:cs typeface="+mn-cs"/>
              </a:rPr>
              <a:t>  Believing you will know what will happen in the future to a greater extent than is justified by available information.  </a:t>
            </a:r>
          </a:p>
          <a:p>
            <a:pPr eaLnBrk="1" hangingPunct="1">
              <a:lnSpc>
                <a:spcPct val="80000"/>
              </a:lnSpc>
              <a:buFontTx/>
              <a:buNone/>
              <a:defRPr/>
            </a:pPr>
            <a:r>
              <a:rPr lang="en-US" sz="1900" dirty="0">
                <a:cs typeface="+mn-cs"/>
              </a:rPr>
              <a:t>	5. </a:t>
            </a:r>
            <a:r>
              <a:rPr lang="en-US" sz="1900" b="1" dirty="0">
                <a:cs typeface="+mn-cs"/>
              </a:rPr>
              <a:t> </a:t>
            </a:r>
            <a:r>
              <a:rPr lang="en-US" sz="1900" b="1" i="1" dirty="0">
                <a:solidFill>
                  <a:schemeClr val="accent2"/>
                </a:solidFill>
                <a:cs typeface="+mn-cs"/>
              </a:rPr>
              <a:t>Status Quo Bias</a:t>
            </a:r>
            <a:r>
              <a:rPr lang="en-US" sz="1900" b="1" dirty="0">
                <a:cs typeface="+mn-cs"/>
              </a:rPr>
              <a:t>.  </a:t>
            </a:r>
            <a:r>
              <a:rPr lang="en-US" sz="1900" dirty="0">
                <a:cs typeface="+mn-cs"/>
              </a:rPr>
              <a:t>A tendency to make decisions by accepting the default option instead of comparing the marginal benefit to the marginal cost. </a:t>
            </a:r>
          </a:p>
          <a:p>
            <a:pPr eaLnBrk="1" hangingPunct="1">
              <a:lnSpc>
                <a:spcPct val="80000"/>
              </a:lnSpc>
              <a:buFontTx/>
              <a:buNone/>
              <a:defRPr/>
            </a:pPr>
            <a:r>
              <a:rPr lang="en-US" sz="1900" dirty="0">
                <a:cs typeface="+mn-cs"/>
              </a:rPr>
              <a:t>	6.  </a:t>
            </a:r>
            <a:r>
              <a:rPr lang="en-US" sz="1900" b="1" i="1" dirty="0">
                <a:solidFill>
                  <a:schemeClr val="accent2"/>
                </a:solidFill>
                <a:cs typeface="+mn-cs"/>
              </a:rPr>
              <a:t>Desire for Fairness and Reciprocity.</a:t>
            </a:r>
            <a:r>
              <a:rPr lang="en-US" sz="1900" dirty="0">
                <a:cs typeface="+mn-cs"/>
              </a:rPr>
              <a:t>  A tendency to punish people who treat you unfairly and to reward those who treat you fairly, even if you do not directly benefit from those punishments and rewards. </a:t>
            </a:r>
          </a:p>
          <a:p>
            <a:pPr eaLnBrk="1" hangingPunct="1">
              <a:lnSpc>
                <a:spcPct val="80000"/>
              </a:lnSpc>
              <a:buFontTx/>
              <a:buNone/>
              <a:defRPr/>
            </a:pPr>
            <a:endParaRPr lang="en-US" sz="1000" dirty="0">
              <a:cs typeface="+mn-cs"/>
            </a:endParaRPr>
          </a:p>
          <a:p>
            <a:pPr eaLnBrk="1" hangingPunct="1">
              <a:lnSpc>
                <a:spcPct val="80000"/>
              </a:lnSpc>
              <a:buFontTx/>
              <a:buNone/>
              <a:defRPr/>
            </a:pPr>
            <a:r>
              <a:rPr lang="en-US" sz="1900" dirty="0">
                <a:solidFill>
                  <a:srgbClr val="CC3300"/>
                </a:solidFill>
                <a:cs typeface="+mn-cs"/>
              </a:rPr>
              <a:t>	NB: Behavioral Economics recognizes that people respond to incentives, but their response is not always a rational one. </a:t>
            </a:r>
          </a:p>
          <a:p>
            <a:pPr eaLnBrk="1" hangingPunct="1">
              <a:lnSpc>
                <a:spcPct val="80000"/>
              </a:lnSpc>
              <a:buFontTx/>
              <a:buNone/>
              <a:defRPr/>
            </a:pPr>
            <a:endParaRPr lang="en-US" sz="1900" dirty="0">
              <a:solidFill>
                <a:srgbClr val="FF6600"/>
              </a:solidFill>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457200" y="0"/>
            <a:ext cx="8229600" cy="944563"/>
          </a:xfrm>
        </p:spPr>
        <p:txBody>
          <a:bodyPr/>
          <a:lstStyle/>
          <a:p>
            <a:pPr eaLnBrk="1" hangingPunct="1">
              <a:defRPr/>
            </a:pPr>
            <a:r>
              <a:rPr lang="en-US" b="1" dirty="0">
                <a:solidFill>
                  <a:schemeClr val="accent2"/>
                </a:solidFill>
                <a:cs typeface="+mj-cs"/>
              </a:rPr>
              <a:t>Overconfidence</a:t>
            </a:r>
          </a:p>
        </p:txBody>
      </p:sp>
      <p:sp>
        <p:nvSpPr>
          <p:cNvPr id="62467" name="Rectangle 3"/>
          <p:cNvSpPr>
            <a:spLocks noGrp="1" noChangeArrowheads="1"/>
          </p:cNvSpPr>
          <p:nvPr>
            <p:ph type="body" idx="1"/>
          </p:nvPr>
        </p:nvSpPr>
        <p:spPr>
          <a:xfrm>
            <a:off x="457200" y="1066800"/>
            <a:ext cx="8229600" cy="4953000"/>
          </a:xfrm>
        </p:spPr>
        <p:txBody>
          <a:bodyPr/>
          <a:lstStyle/>
          <a:p>
            <a:pPr eaLnBrk="1" hangingPunct="1">
              <a:buSzPct val="150000"/>
              <a:defRPr/>
            </a:pPr>
            <a:endParaRPr lang="en-US" sz="2200" dirty="0">
              <a:cs typeface="+mn-cs"/>
            </a:endParaRPr>
          </a:p>
          <a:p>
            <a:pPr eaLnBrk="1" hangingPunct="1">
              <a:buSzPct val="150000"/>
              <a:defRPr/>
            </a:pPr>
            <a:r>
              <a:rPr lang="en-US" sz="2200" dirty="0">
                <a:cs typeface="+mn-cs"/>
              </a:rPr>
              <a:t>In US firms with employer stock as a 401(k) option, around 40% of retirement savings is invested in employer stock.</a:t>
            </a:r>
          </a:p>
          <a:p>
            <a:pPr eaLnBrk="1" hangingPunct="1">
              <a:buSzPct val="150000"/>
              <a:defRPr/>
            </a:pPr>
            <a:r>
              <a:rPr lang="en-US" sz="2200" dirty="0">
                <a:cs typeface="+mn-cs"/>
              </a:rPr>
              <a:t>This choice reveals many things, among them, confusion about the risk characteristics of employer stock and overconfidence. </a:t>
            </a:r>
          </a:p>
          <a:p>
            <a:pPr eaLnBrk="1" hangingPunct="1">
              <a:buSzPct val="150000"/>
              <a:defRPr/>
            </a:pPr>
            <a:r>
              <a:rPr lang="en-US" sz="2200" dirty="0">
                <a:cs typeface="+mn-cs"/>
              </a:rPr>
              <a:t>On average, US workers report that their own employer</a:t>
            </a:r>
            <a:r>
              <a:rPr lang="ja-JP" altLang="en-US" sz="2200" dirty="0">
                <a:latin typeface="Arial"/>
                <a:cs typeface="+mn-cs"/>
              </a:rPr>
              <a:t>’</a:t>
            </a:r>
            <a:r>
              <a:rPr lang="en-US" sz="2200" dirty="0">
                <a:cs typeface="+mn-cs"/>
              </a:rPr>
              <a:t>s stock is </a:t>
            </a:r>
            <a:r>
              <a:rPr lang="en-US" sz="2200" i="1" dirty="0">
                <a:cs typeface="+mn-cs"/>
              </a:rPr>
              <a:t>less</a:t>
            </a:r>
            <a:r>
              <a:rPr lang="en-US" sz="2200" dirty="0">
                <a:cs typeface="+mn-cs"/>
              </a:rPr>
              <a:t> risky than a diversified mutual fund.</a:t>
            </a:r>
          </a:p>
          <a:p>
            <a:pPr eaLnBrk="1" hangingPunct="1">
              <a:buSzPct val="150000"/>
              <a:defRPr/>
            </a:pPr>
            <a:r>
              <a:rPr lang="en-US" sz="2200" dirty="0">
                <a:cs typeface="+mn-cs"/>
              </a:rPr>
              <a:t>The lessons of Enron, Worldcom, and Global Crossing were not heeded by workers outside of those firms (Choi, Laibson and Madrian 2005).</a:t>
            </a:r>
          </a:p>
          <a:p>
            <a:pPr lvl="1" eaLnBrk="1" hangingPunct="1">
              <a:buSzPct val="150000"/>
              <a:defRPr/>
            </a:pPr>
            <a:r>
              <a:rPr lang="en-US" sz="2200" dirty="0"/>
              <a:t>New workers at other firms failed to avoid employer stock. </a:t>
            </a:r>
          </a:p>
          <a:p>
            <a:pPr lvl="1" eaLnBrk="1" hangingPunct="1">
              <a:buSzPct val="150000"/>
              <a:defRPr/>
            </a:pPr>
            <a:r>
              <a:rPr lang="en-US" sz="2200" dirty="0"/>
              <a:t>Even new workers at other </a:t>
            </a:r>
            <a:r>
              <a:rPr lang="en-US" sz="2200" i="1" dirty="0"/>
              <a:t>Houston</a:t>
            </a:r>
            <a:r>
              <a:rPr lang="en-US" sz="2200" dirty="0"/>
              <a:t> firms failed to avoid employer stock after Enron collapsed.</a:t>
            </a:r>
          </a:p>
          <a:p>
            <a:pPr eaLnBrk="1" hangingPunct="1">
              <a:buSzPct val="150000"/>
              <a:defRPr/>
            </a:pPr>
            <a:r>
              <a:rPr lang="en-US" sz="2200" dirty="0">
                <a:cs typeface="+mn-cs"/>
              </a:rPr>
              <a:t> Still, direct personal experience helps with learning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Overconfidence and Worker Retention</a:t>
            </a:r>
          </a:p>
        </p:txBody>
      </p:sp>
      <p:sp>
        <p:nvSpPr>
          <p:cNvPr id="3" name="Content Placeholder 2"/>
          <p:cNvSpPr>
            <a:spLocks noGrp="1"/>
          </p:cNvSpPr>
          <p:nvPr>
            <p:ph idx="1"/>
          </p:nvPr>
        </p:nvSpPr>
        <p:spPr/>
        <p:txBody>
          <a:bodyPr/>
          <a:lstStyle/>
          <a:p>
            <a:r>
              <a:rPr lang="en-US" sz="2400" dirty="0"/>
              <a:t>In a recent paper, “Training Contracts, Worker Over-Confidence, and the Provision of Firm-Sponsored Training,” Hoffman examines the relationship between overconfidence and worker retention at a large trucking firm.</a:t>
            </a:r>
          </a:p>
          <a:p>
            <a:r>
              <a:rPr lang="en-US" sz="2400" dirty="0"/>
              <a:t>Workers undergo driver training, paid for by the firm.</a:t>
            </a:r>
          </a:p>
          <a:p>
            <a:r>
              <a:rPr lang="en-US" sz="2400" dirty="0"/>
              <a:t>Trainees must pay $3500 if they leave the firm in the next year.</a:t>
            </a:r>
          </a:p>
          <a:p>
            <a:r>
              <a:rPr lang="en-US" sz="2400" dirty="0"/>
              <a:t>Drivers then paid by the mile</a:t>
            </a:r>
          </a:p>
          <a:p>
            <a:r>
              <a:rPr lang="en-US" sz="2400" dirty="0"/>
              <a:t>Potential workers will accept this contract if they think they will like being a truck driver, and will be good at it. </a:t>
            </a:r>
          </a:p>
          <a:p>
            <a:r>
              <a:rPr lang="en-US" sz="2400" dirty="0"/>
              <a:t>If you are over-confident about your ability, more likely to accept the contract!</a:t>
            </a:r>
          </a:p>
        </p:txBody>
      </p:sp>
    </p:spTree>
    <p:extLst>
      <p:ext uri="{BB962C8B-B14F-4D97-AF65-F5344CB8AC3E}">
        <p14:creationId xmlns:p14="http://schemas.microsoft.com/office/powerpoint/2010/main" val="2565602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Are Trainees Over-Confident?</a:t>
            </a:r>
          </a:p>
        </p:txBody>
      </p:sp>
      <p:pic>
        <p:nvPicPr>
          <p:cNvPr id="4" name="Content Placeholder 3"/>
          <p:cNvPicPr>
            <a:picLocks noGrp="1" noChangeAspect="1"/>
          </p:cNvPicPr>
          <p:nvPr>
            <p:ph idx="1"/>
          </p:nvPr>
        </p:nvPicPr>
        <p:blipFill>
          <a:blip r:embed="rId2"/>
          <a:srcRect l="-10430" r="-10430"/>
          <a:stretch>
            <a:fillRect/>
          </a:stretch>
        </p:blipFill>
        <p:spPr/>
      </p:pic>
    </p:spTree>
    <p:extLst>
      <p:ext uri="{BB962C8B-B14F-4D97-AF65-F5344CB8AC3E}">
        <p14:creationId xmlns:p14="http://schemas.microsoft.com/office/powerpoint/2010/main" val="1784265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Does Over-Confidence Affect Productivity?</a:t>
            </a:r>
          </a:p>
        </p:txBody>
      </p:sp>
      <p:pic>
        <p:nvPicPr>
          <p:cNvPr id="4" name="Content Placeholder 3"/>
          <p:cNvPicPr>
            <a:picLocks noGrp="1" noChangeAspect="1"/>
          </p:cNvPicPr>
          <p:nvPr>
            <p:ph idx="1"/>
          </p:nvPr>
        </p:nvPicPr>
        <p:blipFill>
          <a:blip r:embed="rId2"/>
          <a:srcRect t="-11277" b="-11277"/>
          <a:stretch>
            <a:fillRect/>
          </a:stretch>
        </p:blipFill>
        <p:spPr/>
      </p:pic>
    </p:spTree>
    <p:extLst>
      <p:ext uri="{BB962C8B-B14F-4D97-AF65-F5344CB8AC3E}">
        <p14:creationId xmlns:p14="http://schemas.microsoft.com/office/powerpoint/2010/main" val="2735683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Does Over-Confidence Affect Retention?</a:t>
            </a:r>
          </a:p>
        </p:txBody>
      </p:sp>
      <p:pic>
        <p:nvPicPr>
          <p:cNvPr id="4" name="Content Placeholder 3"/>
          <p:cNvPicPr>
            <a:picLocks noGrp="1" noChangeAspect="1"/>
          </p:cNvPicPr>
          <p:nvPr>
            <p:ph idx="1"/>
          </p:nvPr>
        </p:nvPicPr>
        <p:blipFill>
          <a:blip r:embed="rId2"/>
          <a:srcRect t="-21588" b="-21588"/>
          <a:stretch>
            <a:fillRect/>
          </a:stretch>
        </p:blipFill>
        <p:spPr/>
      </p:pic>
    </p:spTree>
    <p:extLst>
      <p:ext uri="{BB962C8B-B14F-4D97-AF65-F5344CB8AC3E}">
        <p14:creationId xmlns:p14="http://schemas.microsoft.com/office/powerpoint/2010/main" val="2188711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Does Worker Over-Confidence Increase Firm Profits?</a:t>
            </a:r>
          </a:p>
        </p:txBody>
      </p:sp>
      <p:pic>
        <p:nvPicPr>
          <p:cNvPr id="4" name="Content Placeholder 3"/>
          <p:cNvPicPr>
            <a:picLocks noGrp="1" noChangeAspect="1"/>
          </p:cNvPicPr>
          <p:nvPr>
            <p:ph idx="1"/>
          </p:nvPr>
        </p:nvPicPr>
        <p:blipFill>
          <a:blip r:embed="rId2"/>
          <a:srcRect l="-11706" r="-11706"/>
          <a:stretch>
            <a:fillRect/>
          </a:stretch>
        </p:blipFill>
        <p:spPr/>
      </p:pic>
    </p:spTree>
    <p:extLst>
      <p:ext uri="{BB962C8B-B14F-4D97-AF65-F5344CB8AC3E}">
        <p14:creationId xmlns:p14="http://schemas.microsoft.com/office/powerpoint/2010/main" val="1575308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sz="3600" dirty="0"/>
              <a:t>Over-Confidence and Entrepreneurship</a:t>
            </a:r>
            <a:br>
              <a:rPr lang="en-US" sz="3600" dirty="0"/>
            </a:br>
            <a:r>
              <a:rPr lang="en-US" sz="3600" dirty="0"/>
              <a:t>(Heger &amp; Papageorge 2013)</a:t>
            </a:r>
          </a:p>
        </p:txBody>
      </p:sp>
      <p:sp>
        <p:nvSpPr>
          <p:cNvPr id="3" name="Content Placeholder 2"/>
          <p:cNvSpPr>
            <a:spLocks noGrp="1"/>
          </p:cNvSpPr>
          <p:nvPr>
            <p:ph idx="1"/>
          </p:nvPr>
        </p:nvSpPr>
        <p:spPr/>
        <p:txBody>
          <a:bodyPr/>
          <a:lstStyle/>
          <a:p>
            <a:r>
              <a:rPr lang="en-US" sz="2400" dirty="0"/>
              <a:t>Attempt to simulate a startup environment in the lab.</a:t>
            </a:r>
          </a:p>
          <a:p>
            <a:r>
              <a:rPr lang="en-US" sz="2400" dirty="0"/>
              <a:t>Participants asked to assess the likelihood that their “business” will be successful</a:t>
            </a:r>
          </a:p>
          <a:p>
            <a:pPr lvl="1"/>
            <a:r>
              <a:rPr lang="en-US" sz="2000" dirty="0"/>
              <a:t>Think of the business as opening a restaurant.</a:t>
            </a:r>
          </a:p>
          <a:p>
            <a:r>
              <a:rPr lang="en-US" sz="2400" dirty="0"/>
              <a:t>Participants tended to substantially overstate the likelihood that the “restaurant” will be successful</a:t>
            </a:r>
          </a:p>
          <a:p>
            <a:pPr lvl="1"/>
            <a:r>
              <a:rPr lang="en-US" sz="2000" dirty="0"/>
              <a:t>Men:  Over-confident about their ability as a “chef/entrepreneur”</a:t>
            </a:r>
          </a:p>
          <a:p>
            <a:pPr lvl="1"/>
            <a:r>
              <a:rPr lang="en-US" sz="2000" dirty="0"/>
              <a:t>Women: Overly optimistic about how much customers like “Thai” food.  Not over-confident about their ability as “chef/entrepreneur”. </a:t>
            </a:r>
          </a:p>
          <a:p>
            <a:r>
              <a:rPr lang="en-US" sz="2400" dirty="0"/>
              <a:t>Similar findings in other lab contexts:</a:t>
            </a:r>
          </a:p>
          <a:p>
            <a:pPr lvl="1"/>
            <a:r>
              <a:rPr lang="en-US" sz="2000" dirty="0"/>
              <a:t>Men over-confident about their abilities</a:t>
            </a:r>
          </a:p>
          <a:p>
            <a:r>
              <a:rPr lang="en-US" sz="2400" dirty="0"/>
              <a:t>New result:</a:t>
            </a:r>
          </a:p>
          <a:p>
            <a:pPr lvl="1"/>
            <a:r>
              <a:rPr lang="en-US" sz="2000" dirty="0"/>
              <a:t>Women more likely to be overly optimistic.</a:t>
            </a:r>
          </a:p>
        </p:txBody>
      </p:sp>
    </p:spTree>
    <p:extLst>
      <p:ext uri="{BB962C8B-B14F-4D97-AF65-F5344CB8AC3E}">
        <p14:creationId xmlns:p14="http://schemas.microsoft.com/office/powerpoint/2010/main" val="1719511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marL="609600" indent="-609600" eaLnBrk="1" hangingPunct="1">
              <a:defRPr/>
            </a:pPr>
            <a:r>
              <a:rPr lang="en-US" sz="3600" b="1" dirty="0">
                <a:solidFill>
                  <a:schemeClr val="accent2"/>
                </a:solidFill>
                <a:cs typeface="+mj-cs"/>
              </a:rPr>
              <a:t>Status Quo Bias</a:t>
            </a:r>
          </a:p>
        </p:txBody>
      </p:sp>
      <p:sp>
        <p:nvSpPr>
          <p:cNvPr id="69635" name="Rectangle 3"/>
          <p:cNvSpPr>
            <a:spLocks noGrp="1" noChangeArrowheads="1"/>
          </p:cNvSpPr>
          <p:nvPr>
            <p:ph type="body" idx="1"/>
          </p:nvPr>
        </p:nvSpPr>
        <p:spPr>
          <a:xfrm>
            <a:off x="457200" y="1371600"/>
            <a:ext cx="8229600" cy="4525963"/>
          </a:xfrm>
        </p:spPr>
        <p:txBody>
          <a:bodyPr/>
          <a:lstStyle/>
          <a:p>
            <a:pPr eaLnBrk="1" hangingPunct="1">
              <a:buSzPct val="150000"/>
              <a:defRPr/>
            </a:pPr>
            <a:r>
              <a:rPr lang="en-US" sz="2400" dirty="0"/>
              <a:t>Decision-makers have an overwhelming tendency to adopt defaults, to stick with the </a:t>
            </a:r>
            <a:r>
              <a:rPr lang="en-US" sz="2400" i="1" dirty="0"/>
              <a:t>status quo</a:t>
            </a:r>
          </a:p>
          <a:p>
            <a:pPr lvl="1" eaLnBrk="1" hangingPunct="1">
              <a:buSzPct val="150000"/>
              <a:defRPr/>
            </a:pPr>
            <a:r>
              <a:rPr lang="en-US" sz="2400" dirty="0"/>
              <a:t>Even when the decision is important and the stakes are large </a:t>
            </a:r>
          </a:p>
          <a:p>
            <a:pPr lvl="1" eaLnBrk="1" hangingPunct="1">
              <a:buSzPct val="150000"/>
              <a:defRPr/>
            </a:pPr>
            <a:r>
              <a:rPr lang="en-US" sz="2400" dirty="0"/>
              <a:t>Even when the decision-maker is told that the default is suboptimal </a:t>
            </a:r>
          </a:p>
          <a:p>
            <a:pPr eaLnBrk="1" hangingPunct="1">
              <a:buSzPct val="150000"/>
              <a:defRPr/>
            </a:pPr>
            <a:r>
              <a:rPr lang="en-US" sz="2400" dirty="0"/>
              <a:t>Examples from 401(k) plans: participation, savings rate, asset allocation (company stock). </a:t>
            </a:r>
          </a:p>
          <a:p>
            <a:pPr eaLnBrk="1" hangingPunct="1">
              <a:buSzPct val="150000"/>
              <a:defRPr/>
            </a:pPr>
            <a:r>
              <a:rPr lang="en-US" sz="2400" dirty="0"/>
              <a:t>Other examples: insurance deductibles, organ donation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228600" y="914400"/>
            <a:ext cx="8686800" cy="1143000"/>
          </a:xfrm>
        </p:spPr>
        <p:txBody>
          <a:bodyPr/>
          <a:lstStyle/>
          <a:p>
            <a:pPr algn="l" eaLnBrk="1" hangingPunct="1">
              <a:defRPr/>
            </a:pPr>
            <a:r>
              <a:rPr lang="en-US" sz="2800" b="1" dirty="0">
                <a:solidFill>
                  <a:schemeClr val="accent2"/>
                </a:solidFill>
                <a:cs typeface="+mj-cs"/>
              </a:rPr>
              <a:t>Example: Brigitte Madrian and Dennis Shea (2001)</a:t>
            </a:r>
            <a:br>
              <a:rPr lang="en-US" sz="2800" dirty="0">
                <a:cs typeface="+mj-cs"/>
              </a:rPr>
            </a:br>
            <a:br>
              <a:rPr lang="en-US" sz="900" dirty="0">
                <a:cs typeface="+mj-cs"/>
              </a:rPr>
            </a:br>
            <a:br>
              <a:rPr lang="en-US" sz="900" dirty="0">
                <a:cs typeface="+mj-cs"/>
              </a:rPr>
            </a:br>
            <a:br>
              <a:rPr lang="en-US" sz="900" dirty="0">
                <a:cs typeface="+mj-cs"/>
              </a:rPr>
            </a:br>
            <a:r>
              <a:rPr lang="en-US" sz="2800" dirty="0">
                <a:cs typeface="Arial" charset="0"/>
              </a:rPr>
              <a:t>• D</a:t>
            </a:r>
            <a:r>
              <a:rPr lang="en-US" sz="2800" dirty="0">
                <a:cs typeface="+mj-cs"/>
              </a:rPr>
              <a:t>esign: A Fortune 500 Company Switched 401(k) default on April 1, 1998.  Madrian and Shea examine behavior of new hires.</a:t>
            </a:r>
          </a:p>
        </p:txBody>
      </p:sp>
      <p:sp>
        <p:nvSpPr>
          <p:cNvPr id="159747" name="Rectangle 3"/>
          <p:cNvSpPr>
            <a:spLocks noGrp="1" noChangeArrowheads="1"/>
          </p:cNvSpPr>
          <p:nvPr>
            <p:ph type="body" sz="half" idx="1"/>
          </p:nvPr>
        </p:nvSpPr>
        <p:spPr>
          <a:xfrm>
            <a:off x="438150" y="2743200"/>
            <a:ext cx="4038600" cy="4525963"/>
          </a:xfrm>
        </p:spPr>
        <p:txBody>
          <a:bodyPr/>
          <a:lstStyle/>
          <a:p>
            <a:pPr eaLnBrk="1" hangingPunct="1">
              <a:buFontTx/>
              <a:buNone/>
              <a:defRPr/>
            </a:pPr>
            <a:r>
              <a:rPr lang="en-US" dirty="0">
                <a:solidFill>
                  <a:srgbClr val="A50021"/>
                </a:solidFill>
                <a:cs typeface="+mn-cs"/>
              </a:rPr>
              <a:t>    </a:t>
            </a:r>
            <a:r>
              <a:rPr lang="en-US" u="sng" dirty="0">
                <a:solidFill>
                  <a:srgbClr val="A50021"/>
                </a:solidFill>
                <a:cs typeface="+mn-cs"/>
              </a:rPr>
              <a:t>OLD</a:t>
            </a:r>
          </a:p>
          <a:p>
            <a:pPr eaLnBrk="1" hangingPunct="1">
              <a:defRPr/>
            </a:pPr>
            <a:r>
              <a:rPr lang="en-US" dirty="0">
                <a:solidFill>
                  <a:srgbClr val="A50021"/>
                </a:solidFill>
                <a:cs typeface="+mn-cs"/>
              </a:rPr>
              <a:t>Default Contribution: Must actively sign up</a:t>
            </a:r>
          </a:p>
          <a:p>
            <a:pPr eaLnBrk="1" hangingPunct="1">
              <a:defRPr/>
            </a:pPr>
            <a:r>
              <a:rPr lang="en-US" dirty="0">
                <a:solidFill>
                  <a:srgbClr val="A50021"/>
                </a:solidFill>
                <a:cs typeface="+mn-cs"/>
              </a:rPr>
              <a:t>Default Allocation: None</a:t>
            </a:r>
          </a:p>
          <a:p>
            <a:pPr eaLnBrk="1" hangingPunct="1">
              <a:defRPr/>
            </a:pPr>
            <a:endParaRPr lang="en-US" dirty="0">
              <a:solidFill>
                <a:srgbClr val="A50021"/>
              </a:solidFill>
              <a:cs typeface="+mn-cs"/>
            </a:endParaRPr>
          </a:p>
        </p:txBody>
      </p:sp>
      <p:sp>
        <p:nvSpPr>
          <p:cNvPr id="159748" name="Rectangle 4"/>
          <p:cNvSpPr>
            <a:spLocks noGrp="1" noChangeArrowheads="1"/>
          </p:cNvSpPr>
          <p:nvPr>
            <p:ph type="body" sz="half" idx="2"/>
          </p:nvPr>
        </p:nvSpPr>
        <p:spPr>
          <a:xfrm>
            <a:off x="4629150" y="2743200"/>
            <a:ext cx="4038600" cy="4525963"/>
          </a:xfrm>
        </p:spPr>
        <p:txBody>
          <a:bodyPr/>
          <a:lstStyle/>
          <a:p>
            <a:pPr eaLnBrk="1" hangingPunct="1">
              <a:buFontTx/>
              <a:buNone/>
              <a:defRPr/>
            </a:pPr>
            <a:r>
              <a:rPr lang="en-US" dirty="0">
                <a:solidFill>
                  <a:srgbClr val="990099"/>
                </a:solidFill>
                <a:cs typeface="+mn-cs"/>
              </a:rPr>
              <a:t>    </a:t>
            </a:r>
            <a:r>
              <a:rPr lang="en-US" u="sng" dirty="0">
                <a:solidFill>
                  <a:srgbClr val="000066"/>
                </a:solidFill>
                <a:cs typeface="+mn-cs"/>
              </a:rPr>
              <a:t>NEW</a:t>
            </a:r>
          </a:p>
          <a:p>
            <a:pPr eaLnBrk="1" hangingPunct="1">
              <a:defRPr/>
            </a:pPr>
            <a:r>
              <a:rPr lang="en-US" dirty="0">
                <a:solidFill>
                  <a:srgbClr val="000066"/>
                </a:solidFill>
                <a:cs typeface="+mn-cs"/>
              </a:rPr>
              <a:t>Default Contribution: 3 percent of compensation deducted for plan</a:t>
            </a:r>
          </a:p>
          <a:p>
            <a:pPr eaLnBrk="1" hangingPunct="1">
              <a:defRPr/>
            </a:pPr>
            <a:r>
              <a:rPr lang="en-US" dirty="0">
                <a:solidFill>
                  <a:srgbClr val="000066"/>
                </a:solidFill>
                <a:cs typeface="+mn-cs"/>
              </a:rPr>
              <a:t>Default Allocation: Money Market Fund</a:t>
            </a:r>
          </a:p>
          <a:p>
            <a:pPr eaLnBrk="1" hangingPunct="1">
              <a:defRPr/>
            </a:pPr>
            <a:endParaRPr lang="en-US" dirty="0">
              <a:solidFill>
                <a:srgbClr val="000066"/>
              </a:solidFill>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a:xfrm>
            <a:off x="171450" y="152400"/>
            <a:ext cx="8915400" cy="1143000"/>
          </a:xfrm>
        </p:spPr>
        <p:txBody>
          <a:bodyPr/>
          <a:lstStyle/>
          <a:p>
            <a:pPr eaLnBrk="1" hangingPunct="1">
              <a:defRPr/>
            </a:pPr>
            <a:r>
              <a:rPr lang="en-US" sz="2800" dirty="0">
                <a:solidFill>
                  <a:schemeClr val="accent2"/>
                </a:solidFill>
                <a:cs typeface="+mj-cs"/>
              </a:rPr>
              <a:t>401(k) Participation Increases</a:t>
            </a:r>
            <a:br>
              <a:rPr lang="en-US" sz="2800" dirty="0">
                <a:solidFill>
                  <a:schemeClr val="accent2"/>
                </a:solidFill>
                <a:cs typeface="+mj-cs"/>
              </a:rPr>
            </a:br>
            <a:r>
              <a:rPr lang="en-US" sz="2800" dirty="0">
                <a:solidFill>
                  <a:schemeClr val="accent2"/>
                </a:solidFill>
                <a:cs typeface="+mj-cs"/>
              </a:rPr>
              <a:t>Percent at Specified Contribution Rate</a:t>
            </a:r>
          </a:p>
        </p:txBody>
      </p:sp>
      <p:graphicFrame>
        <p:nvGraphicFramePr>
          <p:cNvPr id="15364" name="Object 3"/>
          <p:cNvGraphicFramePr>
            <a:graphicFrameLocks noGrp="1" noChangeAspect="1"/>
          </p:cNvGraphicFramePr>
          <p:nvPr>
            <p:ph idx="1"/>
          </p:nvPr>
        </p:nvGraphicFramePr>
        <p:xfrm>
          <a:off x="-152400" y="1096963"/>
          <a:ext cx="9372600" cy="5334000"/>
        </p:xfrm>
        <a:graphic>
          <a:graphicData uri="http://schemas.openxmlformats.org/presentationml/2006/ole">
            <mc:AlternateContent xmlns:mc="http://schemas.openxmlformats.org/markup-compatibility/2006">
              <mc:Choice xmlns:v="urn:schemas-microsoft-com:vml" Requires="v">
                <p:oleObj name="Chart" r:id="rId2" imgW="4648200" imgH="1685925" progId="Excel.Chart.8">
                  <p:embed/>
                </p:oleObj>
              </mc:Choice>
              <mc:Fallback>
                <p:oleObj name="Chart" r:id="rId2" imgW="4648200" imgH="1685925" progId="Excel.Char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96963"/>
                        <a:ext cx="9372600" cy="5334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sp>
        <p:nvSpPr>
          <p:cNvPr id="160772" name="Text Box 4"/>
          <p:cNvSpPr txBox="1">
            <a:spLocks noChangeArrowheads="1"/>
          </p:cNvSpPr>
          <p:nvPr/>
        </p:nvSpPr>
        <p:spPr bwMode="auto">
          <a:xfrm>
            <a:off x="5410200" y="6034088"/>
            <a:ext cx="37528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dirty="0">
                <a:cs typeface="+mn-cs"/>
              </a:rPr>
              <a:t>Source: Madrian and Shea (2001). </a:t>
            </a:r>
          </a:p>
        </p:txBody>
      </p:sp>
      <p:sp>
        <p:nvSpPr>
          <p:cNvPr id="160773" name="Text Box 5"/>
          <p:cNvSpPr txBox="1">
            <a:spLocks noChangeArrowheads="1"/>
          </p:cNvSpPr>
          <p:nvPr/>
        </p:nvSpPr>
        <p:spPr bwMode="auto">
          <a:xfrm>
            <a:off x="2305050" y="5805488"/>
            <a:ext cx="21145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1" dirty="0">
                <a:cs typeface="+mn-cs"/>
              </a:rPr>
              <a:t>Contribution Rate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a:xfrm>
            <a:off x="0" y="228600"/>
            <a:ext cx="9144000" cy="1143000"/>
          </a:xfrm>
        </p:spPr>
        <p:txBody>
          <a:bodyPr/>
          <a:lstStyle/>
          <a:p>
            <a:pPr eaLnBrk="1" hangingPunct="1">
              <a:defRPr/>
            </a:pPr>
            <a:r>
              <a:rPr lang="en-US" sz="2800" dirty="0">
                <a:solidFill>
                  <a:schemeClr val="accent2"/>
                </a:solidFill>
                <a:cs typeface="+mj-cs"/>
              </a:rPr>
              <a:t>401(k) Asset Allocation Also Changed</a:t>
            </a:r>
          </a:p>
        </p:txBody>
      </p:sp>
      <p:graphicFrame>
        <p:nvGraphicFramePr>
          <p:cNvPr id="16388" name="Object 3"/>
          <p:cNvGraphicFramePr>
            <a:graphicFrameLocks noGrp="1" noChangeAspect="1"/>
          </p:cNvGraphicFramePr>
          <p:nvPr>
            <p:ph idx="1"/>
            <p:extLst>
              <p:ext uri="{D42A27DB-BD31-4B8C-83A1-F6EECF244321}">
                <p14:modId xmlns:p14="http://schemas.microsoft.com/office/powerpoint/2010/main" val="2894644667"/>
              </p:ext>
            </p:extLst>
          </p:nvPr>
        </p:nvGraphicFramePr>
        <p:xfrm>
          <a:off x="152400" y="457200"/>
          <a:ext cx="8763000" cy="5946775"/>
        </p:xfrm>
        <a:graphic>
          <a:graphicData uri="http://schemas.openxmlformats.org/presentationml/2006/ole">
            <mc:AlternateContent xmlns:mc="http://schemas.openxmlformats.org/markup-compatibility/2006">
              <mc:Choice xmlns:v="urn:schemas-microsoft-com:vml" Requires="v">
                <p:oleObj name="Chart" r:id="rId2" imgW="3686251" imgH="1685925" progId="Excel.Chart.8">
                  <p:embed/>
                </p:oleObj>
              </mc:Choice>
              <mc:Fallback>
                <p:oleObj name="Chart" r:id="rId2" imgW="3686251" imgH="1685925" progId="Excel.Char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457200"/>
                        <a:ext cx="8763000" cy="5946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sp>
        <p:nvSpPr>
          <p:cNvPr id="161796" name="Text Box 4"/>
          <p:cNvSpPr txBox="1">
            <a:spLocks noChangeArrowheads="1"/>
          </p:cNvSpPr>
          <p:nvPr/>
        </p:nvSpPr>
        <p:spPr bwMode="auto">
          <a:xfrm>
            <a:off x="5410200" y="6248400"/>
            <a:ext cx="37528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dirty="0">
                <a:cs typeface="+mn-cs"/>
              </a:rPr>
              <a:t>Source: Madrian and Shea (2001). </a:t>
            </a:r>
          </a:p>
        </p:txBody>
      </p:sp>
      <p:sp>
        <p:nvSpPr>
          <p:cNvPr id="161797" name="Text Box 5"/>
          <p:cNvSpPr txBox="1">
            <a:spLocks noChangeArrowheads="1"/>
          </p:cNvSpPr>
          <p:nvPr/>
        </p:nvSpPr>
        <p:spPr bwMode="auto">
          <a:xfrm rot="16200000">
            <a:off x="-865982" y="2904332"/>
            <a:ext cx="276066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400" b="1" dirty="0">
                <a:cs typeface="+mn-cs"/>
              </a:rPr>
              <a:t>Percent of Assets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762000" y="76200"/>
            <a:ext cx="7772400" cy="990600"/>
          </a:xfrm>
        </p:spPr>
        <p:txBody>
          <a:bodyPr/>
          <a:lstStyle/>
          <a:p>
            <a:pPr eaLnBrk="1" hangingPunct="1">
              <a:defRPr/>
            </a:pPr>
            <a:r>
              <a:rPr lang="en-US" sz="2800" b="1" dirty="0">
                <a:solidFill>
                  <a:schemeClr val="accent2"/>
                </a:solidFill>
                <a:cs typeface="Arial" charset="0"/>
              </a:rPr>
              <a:t>Impact of Automatic Enrollment in 401(k) Before, During and After</a:t>
            </a:r>
          </a:p>
        </p:txBody>
      </p:sp>
      <p:graphicFrame>
        <p:nvGraphicFramePr>
          <p:cNvPr id="17412" name="Object 3"/>
          <p:cNvGraphicFramePr>
            <a:graphicFrameLocks noChangeAspect="1"/>
          </p:cNvGraphicFramePr>
          <p:nvPr/>
        </p:nvGraphicFramePr>
        <p:xfrm>
          <a:off x="457200" y="1085850"/>
          <a:ext cx="8426450" cy="4933950"/>
        </p:xfrm>
        <a:graphic>
          <a:graphicData uri="http://schemas.openxmlformats.org/presentationml/2006/ole">
            <mc:AlternateContent xmlns:mc="http://schemas.openxmlformats.org/markup-compatibility/2006">
              <mc:Choice xmlns:v="urn:schemas-microsoft-com:vml" Requires="v">
                <p:oleObj name="Chart" r:id="rId3" imgW="8848725" imgH="4857750" progId="Excel.Chart.8">
                  <p:embed/>
                </p:oleObj>
              </mc:Choice>
              <mc:Fallback>
                <p:oleObj name="Chart" r:id="rId3" imgW="8848725" imgH="4857750" progId="Excel.Char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085850"/>
                        <a:ext cx="8426450" cy="4933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94212" name="Rectangle 4"/>
          <p:cNvSpPr>
            <a:spLocks noChangeArrowheads="1"/>
          </p:cNvSpPr>
          <p:nvPr/>
        </p:nvSpPr>
        <p:spPr bwMode="auto">
          <a:xfrm>
            <a:off x="6251575" y="6111875"/>
            <a:ext cx="2080405"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1400" dirty="0">
                <a:solidFill>
                  <a:schemeClr val="tx2"/>
                </a:solidFill>
                <a:cs typeface="+mn-cs"/>
              </a:rPr>
              <a:t>Source: Choi, Laibson, </a:t>
            </a:r>
          </a:p>
          <a:p>
            <a:pPr>
              <a:defRPr/>
            </a:pPr>
            <a:r>
              <a:rPr lang="en-US" sz="1400" dirty="0">
                <a:solidFill>
                  <a:schemeClr val="tx2"/>
                </a:solidFill>
                <a:cs typeface="+mn-cs"/>
              </a:rPr>
              <a:t>Madrian, Metrick (2004)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defRPr/>
            </a:pPr>
            <a:r>
              <a:rPr lang="en-US" b="1" dirty="0">
                <a:solidFill>
                  <a:schemeClr val="accent2"/>
                </a:solidFill>
                <a:cs typeface="+mj-cs"/>
              </a:rPr>
              <a:t>Is More Choice Always Better?</a:t>
            </a:r>
          </a:p>
        </p:txBody>
      </p:sp>
      <p:sp>
        <p:nvSpPr>
          <p:cNvPr id="70659" name="Rectangle 3"/>
          <p:cNvSpPr>
            <a:spLocks noGrp="1" noChangeArrowheads="1"/>
          </p:cNvSpPr>
          <p:nvPr>
            <p:ph type="body" idx="1"/>
          </p:nvPr>
        </p:nvSpPr>
        <p:spPr>
          <a:xfrm>
            <a:off x="457200" y="1219200"/>
            <a:ext cx="8229600" cy="4525963"/>
          </a:xfrm>
        </p:spPr>
        <p:txBody>
          <a:bodyPr/>
          <a:lstStyle/>
          <a:p>
            <a:pPr marL="457200" indent="-457200" eaLnBrk="1" hangingPunct="1">
              <a:buSzPct val="150000"/>
              <a:buFontTx/>
              <a:buNone/>
              <a:defRPr/>
            </a:pPr>
            <a:r>
              <a:rPr lang="en-US" sz="2800" dirty="0">
                <a:cs typeface="+mn-cs"/>
              </a:rPr>
              <a:t>Adding more complex options: </a:t>
            </a:r>
          </a:p>
          <a:p>
            <a:pPr marL="457200" indent="-457200" eaLnBrk="1" hangingPunct="1">
              <a:buSzPct val="150000"/>
              <a:defRPr/>
            </a:pPr>
            <a:r>
              <a:rPr lang="en-US" sz="2800" dirty="0">
                <a:cs typeface="+mn-cs"/>
              </a:rPr>
              <a:t>Complexity </a:t>
            </a:r>
            <a:r>
              <a:rPr lang="en-US" sz="2800" i="1" dirty="0">
                <a:cs typeface="+mn-cs"/>
              </a:rPr>
              <a:t>delays</a:t>
            </a:r>
            <a:r>
              <a:rPr lang="en-US" sz="2800" dirty="0">
                <a:cs typeface="+mn-cs"/>
              </a:rPr>
              <a:t> choice, increasing the fraction of consumers who adopt default options (O</a:t>
            </a:r>
            <a:r>
              <a:rPr lang="ja-JP" altLang="en-US" sz="2800" dirty="0">
                <a:latin typeface="Arial"/>
                <a:cs typeface="+mn-cs"/>
              </a:rPr>
              <a:t>’</a:t>
            </a:r>
            <a:r>
              <a:rPr lang="en-US" sz="2800" dirty="0">
                <a:cs typeface="+mn-cs"/>
              </a:rPr>
              <a:t>Donoghue and Rabin, 2004). </a:t>
            </a:r>
          </a:p>
          <a:p>
            <a:pPr marL="457200" indent="-457200" eaLnBrk="1" hangingPunct="1">
              <a:buSzPct val="150000"/>
              <a:defRPr/>
            </a:pPr>
            <a:r>
              <a:rPr lang="en-US" sz="2800" dirty="0">
                <a:cs typeface="+mn-cs"/>
              </a:rPr>
              <a:t>Complexity </a:t>
            </a:r>
            <a:r>
              <a:rPr lang="en-US" sz="2800" i="1" dirty="0">
                <a:cs typeface="+mn-cs"/>
              </a:rPr>
              <a:t>biases</a:t>
            </a:r>
            <a:r>
              <a:rPr lang="en-US" sz="2800" dirty="0">
                <a:cs typeface="+mn-cs"/>
              </a:rPr>
              <a:t> choice, since people tend to avoid complex options (Shafir and Tversky, 1994; Iyengar and Kamenica, 2006).</a:t>
            </a:r>
          </a:p>
          <a:p>
            <a:pPr marL="457200" indent="-457200" eaLnBrk="1" hangingPunct="1">
              <a:buSzPct val="150000"/>
              <a:defRPr/>
            </a:pPr>
            <a:r>
              <a:rPr lang="en-US" sz="2800" dirty="0">
                <a:cs typeface="+mn-cs"/>
              </a:rPr>
              <a:t>1/N rule – Add a second fund and many investors divide portfolio 50-50; add a third fund and 1/3 placed in each.  </a:t>
            </a:r>
          </a:p>
          <a:p>
            <a:pPr marL="457200" indent="-457200" eaLnBrk="1" hangingPunct="1">
              <a:buSzPct val="150000"/>
              <a:buFontTx/>
              <a:buAutoNum type="arabicPeriod"/>
              <a:defRPr/>
            </a:pPr>
            <a:endParaRPr lang="en-US" dirty="0">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457200" y="-76200"/>
            <a:ext cx="8229600" cy="944563"/>
          </a:xfrm>
        </p:spPr>
        <p:txBody>
          <a:bodyPr/>
          <a:lstStyle/>
          <a:p>
            <a:pPr eaLnBrk="1" hangingPunct="1">
              <a:defRPr/>
            </a:pPr>
            <a:r>
              <a:rPr lang="en-US" b="1" dirty="0">
                <a:solidFill>
                  <a:schemeClr val="accent2"/>
                </a:solidFill>
                <a:cs typeface="+mj-cs"/>
              </a:rPr>
              <a:t>Faulty Discounting</a:t>
            </a:r>
          </a:p>
        </p:txBody>
      </p:sp>
      <p:sp>
        <p:nvSpPr>
          <p:cNvPr id="73731" name="Rectangle 3"/>
          <p:cNvSpPr>
            <a:spLocks noGrp="1" noChangeArrowheads="1"/>
          </p:cNvSpPr>
          <p:nvPr>
            <p:ph type="body" idx="1"/>
          </p:nvPr>
        </p:nvSpPr>
        <p:spPr>
          <a:xfrm>
            <a:off x="381000" y="1036638"/>
            <a:ext cx="8458200" cy="4525962"/>
          </a:xfrm>
        </p:spPr>
        <p:txBody>
          <a:bodyPr/>
          <a:lstStyle/>
          <a:p>
            <a:pPr eaLnBrk="1" hangingPunct="1">
              <a:lnSpc>
                <a:spcPct val="80000"/>
              </a:lnSpc>
              <a:buSzPct val="150000"/>
              <a:defRPr/>
            </a:pPr>
            <a:r>
              <a:rPr lang="en-US" sz="2400" dirty="0">
                <a:cs typeface="+mn-cs"/>
              </a:rPr>
              <a:t>People display inconsistent behavior when choosing for today or for tomorrow</a:t>
            </a:r>
          </a:p>
          <a:p>
            <a:pPr eaLnBrk="1" hangingPunct="1">
              <a:lnSpc>
                <a:spcPct val="80000"/>
              </a:lnSpc>
              <a:buSzPct val="150000"/>
              <a:defRPr/>
            </a:pPr>
            <a:r>
              <a:rPr lang="en-US" sz="2400" dirty="0">
                <a:cs typeface="+mn-cs"/>
              </a:rPr>
              <a:t>Many choices involve benefits and costs that are received at different times</a:t>
            </a:r>
          </a:p>
          <a:p>
            <a:pPr eaLnBrk="1" hangingPunct="1">
              <a:lnSpc>
                <a:spcPct val="80000"/>
              </a:lnSpc>
              <a:buSzPct val="150000"/>
              <a:defRPr/>
            </a:pPr>
            <a:r>
              <a:rPr lang="en-US" sz="2400" dirty="0">
                <a:cs typeface="+mn-cs"/>
              </a:rPr>
              <a:t>People tend to be </a:t>
            </a:r>
            <a:r>
              <a:rPr lang="en-US" sz="2400" i="1" dirty="0">
                <a:cs typeface="+mn-cs"/>
              </a:rPr>
              <a:t>impatient</a:t>
            </a:r>
            <a:r>
              <a:rPr lang="en-US" sz="2400" dirty="0">
                <a:cs typeface="+mn-cs"/>
              </a:rPr>
              <a:t> in the short-run. Causes irrational (inconsistent) choices. </a:t>
            </a:r>
          </a:p>
          <a:p>
            <a:pPr eaLnBrk="1" hangingPunct="1">
              <a:lnSpc>
                <a:spcPct val="80000"/>
              </a:lnSpc>
              <a:buSzPct val="150000"/>
              <a:defRPr/>
            </a:pPr>
            <a:r>
              <a:rPr lang="en-US" sz="2400" dirty="0">
                <a:cs typeface="+mn-cs"/>
              </a:rPr>
              <a:t>Example: Would you rather receive $100 right now or $101 in a week?  Most people choose $100 right now.  But when the choice is between $100 a year from now and $101 in a year </a:t>
            </a:r>
            <a:r>
              <a:rPr lang="en-US" sz="2400" i="1" dirty="0">
                <a:cs typeface="+mn-cs"/>
              </a:rPr>
              <a:t>and</a:t>
            </a:r>
            <a:r>
              <a:rPr lang="en-US" sz="2400" dirty="0">
                <a:cs typeface="+mn-cs"/>
              </a:rPr>
              <a:t> a week from now, most people choose $101 in a year and a week.  </a:t>
            </a:r>
            <a:r>
              <a:rPr lang="en-US" sz="2400" dirty="0">
                <a:cs typeface="+mn-cs"/>
                <a:sym typeface="Wingdings" charset="0"/>
              </a:rPr>
              <a:t> More impatient for decisions involving this week than next year. </a:t>
            </a:r>
            <a:r>
              <a:rPr lang="en-US" sz="2400" dirty="0">
                <a:cs typeface="+mn-cs"/>
              </a:rPr>
              <a:t>This is </a:t>
            </a:r>
            <a:r>
              <a:rPr lang="en-US" sz="2400" i="1" dirty="0">
                <a:cs typeface="+mn-cs"/>
              </a:rPr>
              <a:t>inconsistent</a:t>
            </a:r>
            <a:r>
              <a:rPr lang="en-US" sz="2400" dirty="0">
                <a:cs typeface="+mn-cs"/>
              </a:rPr>
              <a:t>, as both choices involve delaying the receipt of $1 by a week. </a:t>
            </a:r>
          </a:p>
          <a:p>
            <a:pPr eaLnBrk="1" hangingPunct="1">
              <a:lnSpc>
                <a:spcPct val="80000"/>
              </a:lnSpc>
              <a:buSzPct val="150000"/>
              <a:defRPr/>
            </a:pPr>
            <a:r>
              <a:rPr lang="en-US" sz="2400" dirty="0">
                <a:cs typeface="+mn-cs"/>
              </a:rPr>
              <a:t>Technical term is </a:t>
            </a:r>
            <a:r>
              <a:rPr lang="ja-JP" altLang="en-US" sz="2400" dirty="0">
                <a:latin typeface="Arial"/>
                <a:cs typeface="+mn-cs"/>
              </a:rPr>
              <a:t>“</a:t>
            </a:r>
            <a:r>
              <a:rPr lang="en-US" sz="2400" dirty="0">
                <a:cs typeface="+mn-cs"/>
              </a:rPr>
              <a:t>hyperbolic discounting</a:t>
            </a:r>
            <a:r>
              <a:rPr lang="ja-JP" altLang="en-US" sz="2400" dirty="0">
                <a:latin typeface="Arial"/>
                <a:cs typeface="+mn-cs"/>
              </a:rPr>
              <a:t>”</a:t>
            </a:r>
            <a:r>
              <a:rPr lang="en-US" sz="2400" dirty="0">
                <a:cs typeface="+mn-cs"/>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eaLnBrk="1" hangingPunct="1">
              <a:defRPr/>
            </a:pPr>
            <a:r>
              <a:rPr lang="en-US" b="1" dirty="0">
                <a:solidFill>
                  <a:schemeClr val="accent2"/>
                </a:solidFill>
                <a:cs typeface="+mj-cs"/>
              </a:rPr>
              <a:t>Real Consequence of Faulty Discounting</a:t>
            </a:r>
          </a:p>
        </p:txBody>
      </p:sp>
      <p:sp>
        <p:nvSpPr>
          <p:cNvPr id="171011" name="Rectangle 3"/>
          <p:cNvSpPr>
            <a:spLocks noGrp="1" noChangeArrowheads="1"/>
          </p:cNvSpPr>
          <p:nvPr>
            <p:ph type="body" idx="1"/>
          </p:nvPr>
        </p:nvSpPr>
        <p:spPr/>
        <p:txBody>
          <a:bodyPr/>
          <a:lstStyle/>
          <a:p>
            <a:pPr eaLnBrk="1" hangingPunct="1">
              <a:buSzPct val="150000"/>
              <a:defRPr/>
            </a:pPr>
            <a:r>
              <a:rPr lang="en-US" sz="2400" dirty="0">
                <a:cs typeface="+mn-cs"/>
              </a:rPr>
              <a:t>The average adult has $6,000 of outstanding credit card debt. Few people can afford to pay off $6,000 in full, so many make only the minimum payment each month and pay interest at very high rates on the balance.  Why? The attraction of immediate consumption is hard to resist. (Status quo bias prevents many people from taking a bank loan at lower interest to pay off credit card debt.)   </a:t>
            </a:r>
          </a:p>
          <a:p>
            <a:pPr eaLnBrk="1" hangingPunct="1">
              <a:defRPr/>
            </a:pPr>
            <a:endParaRPr lang="en-US" dirty="0">
              <a:cs typeface="+mn-cs"/>
            </a:endParaRPr>
          </a:p>
        </p:txBody>
      </p:sp>
      <p:pic>
        <p:nvPicPr>
          <p:cNvPr id="24581" name="Picture 5" descr="MST-VISA%2520Card%2520Sign">
            <a:hlinkClick r:id="rId2" invalidUrl="http://images.google.com/imgres?imgurl=http://www.rtclark.com/images/MST-VISA Card Sign.jpg&amp;imgrefurl=http://www.rtclark.com/RTCWEBPAGE/Page Bodies/HomePageBody.htm&amp;h=660&amp;w=508&amp;sz=30&amp;hl=en&amp;start=4&amp;tbnid=RJXDEcGqY5MmvM:&amp;tbnh=138&amp;tbnw=106&amp;prev=/images?q=visa+card&amp;svnum=10&amp;hl=en&amp;lr="/>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1763" y="4357688"/>
            <a:ext cx="1852612" cy="2409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a:lstStyle/>
          <a:p>
            <a:pPr eaLnBrk="1" hangingPunct="1">
              <a:defRPr/>
            </a:pPr>
            <a:r>
              <a:rPr lang="en-US" b="1" dirty="0">
                <a:solidFill>
                  <a:schemeClr val="accent2"/>
                </a:solidFill>
                <a:cs typeface="+mj-cs"/>
              </a:rPr>
              <a:t>Inconsistent Choices Due to Impatience</a:t>
            </a:r>
          </a:p>
        </p:txBody>
      </p:sp>
      <p:sp>
        <p:nvSpPr>
          <p:cNvPr id="163843" name="Rectangle 3"/>
          <p:cNvSpPr>
            <a:spLocks noGrp="1" noChangeArrowheads="1"/>
          </p:cNvSpPr>
          <p:nvPr>
            <p:ph type="body" idx="1"/>
          </p:nvPr>
        </p:nvSpPr>
        <p:spPr>
          <a:xfrm>
            <a:off x="457200" y="1371600"/>
            <a:ext cx="8229600" cy="4525963"/>
          </a:xfrm>
        </p:spPr>
        <p:txBody>
          <a:bodyPr/>
          <a:lstStyle/>
          <a:p>
            <a:pPr eaLnBrk="1" hangingPunct="1">
              <a:buSzPct val="150000"/>
              <a:defRPr/>
            </a:pPr>
            <a:r>
              <a:rPr lang="en-US" sz="2800" dirty="0"/>
              <a:t>Eat chocolate today with delayed health consequences but immediate gratification, or eat fruit today with less gratification but better long-term health consequences.</a:t>
            </a:r>
          </a:p>
          <a:p>
            <a:pPr eaLnBrk="1" hangingPunct="1">
              <a:buSzPct val="150000"/>
              <a:defRPr/>
            </a:pPr>
            <a:r>
              <a:rPr lang="en-US" sz="2800" dirty="0"/>
              <a:t>What do you choose today for you to eat next week? What do you choose today to eat today? </a:t>
            </a:r>
          </a:p>
          <a:p>
            <a:pPr eaLnBrk="1" hangingPunct="1">
              <a:buSzPct val="150000"/>
              <a:defRPr/>
            </a:pPr>
            <a:r>
              <a:rPr lang="en-US" sz="2800" dirty="0">
                <a:cs typeface="Arial" charset="0"/>
              </a:rPr>
              <a:t>Research by Daniel Read and Barbara van Leeuwen (1998)</a:t>
            </a:r>
            <a:endParaRPr lang="en-US" sz="2800" dirty="0"/>
          </a:p>
          <a:p>
            <a:pPr eaLnBrk="1" hangingPunct="1">
              <a:buSzPct val="150000"/>
              <a:defRPr/>
            </a:pPr>
            <a:endParaRPr lang="en-US" dirty="0">
              <a:cs typeface="+mn-cs"/>
            </a:endParaRPr>
          </a:p>
          <a:p>
            <a:pPr eaLnBrk="1" hangingPunct="1">
              <a:buSzPct val="150000"/>
              <a:defRPr/>
            </a:pPr>
            <a:endParaRPr lang="en-US" dirty="0">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685800" y="457200"/>
            <a:ext cx="7772400" cy="1143000"/>
          </a:xfrm>
        </p:spPr>
        <p:txBody>
          <a:bodyPr/>
          <a:lstStyle/>
          <a:p>
            <a:pPr eaLnBrk="1" hangingPunct="1">
              <a:defRPr/>
            </a:pPr>
            <a:r>
              <a:rPr lang="en-US" sz="2800" dirty="0">
                <a:cs typeface="Arial" charset="0"/>
              </a:rPr>
              <a:t>Choosing fruit vs. chocolate</a:t>
            </a:r>
            <a:br>
              <a:rPr lang="en-US" sz="2800" dirty="0">
                <a:cs typeface="Arial" charset="0"/>
              </a:rPr>
            </a:br>
            <a:endParaRPr lang="en-US" sz="2400" dirty="0">
              <a:cs typeface="Arial" charset="0"/>
            </a:endParaRPr>
          </a:p>
        </p:txBody>
      </p:sp>
      <p:pic>
        <p:nvPicPr>
          <p:cNvPr id="26626" name="Picture 3" descr="oran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2590800"/>
            <a:ext cx="1676400" cy="21336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pic>
      <p:sp>
        <p:nvSpPr>
          <p:cNvPr id="133124" name="Line 4"/>
          <p:cNvSpPr>
            <a:spLocks noChangeShapeType="1"/>
          </p:cNvSpPr>
          <p:nvPr/>
        </p:nvSpPr>
        <p:spPr bwMode="auto">
          <a:xfrm>
            <a:off x="457200" y="2286000"/>
            <a:ext cx="7543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133125" name="Text Box 5"/>
          <p:cNvSpPr txBox="1">
            <a:spLocks noChangeArrowheads="1"/>
          </p:cNvSpPr>
          <p:nvPr/>
        </p:nvSpPr>
        <p:spPr bwMode="auto">
          <a:xfrm>
            <a:off x="8077200" y="2133600"/>
            <a:ext cx="10668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000" i="1" dirty="0">
                <a:cs typeface="Times New Roman" charset="0"/>
              </a:rPr>
              <a:t>Time</a:t>
            </a:r>
          </a:p>
        </p:txBody>
      </p:sp>
      <p:sp>
        <p:nvSpPr>
          <p:cNvPr id="133126" name="Text Box 6"/>
          <p:cNvSpPr txBox="1">
            <a:spLocks noChangeArrowheads="1"/>
          </p:cNvSpPr>
          <p:nvPr/>
        </p:nvSpPr>
        <p:spPr bwMode="auto">
          <a:xfrm>
            <a:off x="609600" y="1828800"/>
            <a:ext cx="25146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sz="2000" dirty="0">
                <a:cs typeface="Times New Roman" charset="0"/>
              </a:rPr>
              <a:t>Choosing Today</a:t>
            </a:r>
          </a:p>
        </p:txBody>
      </p:sp>
      <p:sp>
        <p:nvSpPr>
          <p:cNvPr id="133127" name="Text Box 7"/>
          <p:cNvSpPr txBox="1">
            <a:spLocks noChangeArrowheads="1"/>
          </p:cNvSpPr>
          <p:nvPr/>
        </p:nvSpPr>
        <p:spPr bwMode="auto">
          <a:xfrm>
            <a:off x="5105400" y="1828800"/>
            <a:ext cx="25908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sz="2000" dirty="0">
                <a:cs typeface="Times New Roman" charset="0"/>
              </a:rPr>
              <a:t>Eating Next Week</a:t>
            </a:r>
          </a:p>
        </p:txBody>
      </p:sp>
      <p:pic>
        <p:nvPicPr>
          <p:cNvPr id="26631" name="Picture 8" descr="lindt swiss premium milk"/>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4953000"/>
            <a:ext cx="2514600" cy="151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3129" name="Text Box 9"/>
          <p:cNvSpPr txBox="1">
            <a:spLocks noChangeArrowheads="1"/>
          </p:cNvSpPr>
          <p:nvPr/>
        </p:nvSpPr>
        <p:spPr bwMode="auto">
          <a:xfrm>
            <a:off x="762000" y="3276600"/>
            <a:ext cx="2627313" cy="1917700"/>
          </a:xfrm>
          <a:prstGeom prst="rect">
            <a:avLst/>
          </a:prstGeom>
          <a:noFill/>
          <a:ln>
            <a:noFill/>
          </a:ln>
          <a:effectLst/>
          <a:extLst>
            <a:ext uri="{909E8E84-426E-40dd-AFC4-6F175D3DCCD1}">
              <a14:hiddenFill xmlns:a14="http://schemas.microsoft.com/office/drawing/2010/main" xmlns="">
                <a:solidFill>
                  <a:schemeClr val="tx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400" dirty="0">
                <a:cs typeface="Arial" charset="0"/>
              </a:rPr>
              <a:t>If you were </a:t>
            </a:r>
          </a:p>
          <a:p>
            <a:pPr>
              <a:defRPr/>
            </a:pPr>
            <a:r>
              <a:rPr lang="en-US" sz="2400" dirty="0">
                <a:cs typeface="Arial" charset="0"/>
              </a:rPr>
              <a:t>deciding </a:t>
            </a:r>
            <a:r>
              <a:rPr lang="en-US" sz="2400" dirty="0">
                <a:solidFill>
                  <a:srgbClr val="FF0000"/>
                </a:solidFill>
                <a:cs typeface="Arial" charset="0"/>
              </a:rPr>
              <a:t>today</a:t>
            </a:r>
            <a:r>
              <a:rPr lang="en-US" sz="2400" dirty="0">
                <a:cs typeface="Arial" charset="0"/>
              </a:rPr>
              <a:t>,</a:t>
            </a:r>
          </a:p>
          <a:p>
            <a:pPr>
              <a:defRPr/>
            </a:pPr>
            <a:r>
              <a:rPr lang="en-US" sz="2400" dirty="0">
                <a:cs typeface="Arial" charset="0"/>
              </a:rPr>
              <a:t>would you choose</a:t>
            </a:r>
          </a:p>
          <a:p>
            <a:pPr>
              <a:defRPr/>
            </a:pPr>
            <a:r>
              <a:rPr lang="en-US" sz="2400" dirty="0">
                <a:cs typeface="Arial" charset="0"/>
              </a:rPr>
              <a:t>fruit or chocolate</a:t>
            </a:r>
          </a:p>
          <a:p>
            <a:pPr>
              <a:defRPr/>
            </a:pPr>
            <a:r>
              <a:rPr lang="en-US" sz="2400" dirty="0">
                <a:cs typeface="Arial" charset="0"/>
              </a:rPr>
              <a:t>for </a:t>
            </a:r>
            <a:r>
              <a:rPr lang="en-US" sz="2400" dirty="0">
                <a:solidFill>
                  <a:srgbClr val="FF0000"/>
                </a:solidFill>
                <a:cs typeface="Arial" charset="0"/>
              </a:rPr>
              <a:t>next week</a:t>
            </a:r>
            <a:r>
              <a:rPr lang="en-US" sz="2400" dirty="0">
                <a:cs typeface="Arial" charset="0"/>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685800" y="304800"/>
            <a:ext cx="7772400" cy="1143000"/>
          </a:xfrm>
        </p:spPr>
        <p:txBody>
          <a:bodyPr/>
          <a:lstStyle/>
          <a:p>
            <a:pPr eaLnBrk="1" hangingPunct="1">
              <a:defRPr/>
            </a:pPr>
            <a:r>
              <a:rPr lang="en-US" sz="2800" dirty="0">
                <a:cs typeface="Arial" charset="0"/>
              </a:rPr>
              <a:t>Patient choices for the future:</a:t>
            </a:r>
            <a:endParaRPr lang="en-US" sz="2800" dirty="0">
              <a:cs typeface="+mj-cs"/>
            </a:endParaRPr>
          </a:p>
        </p:txBody>
      </p:sp>
      <p:pic>
        <p:nvPicPr>
          <p:cNvPr id="28674" name="Picture 3" descr="oran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2590800"/>
            <a:ext cx="1676400" cy="21336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pic>
      <p:sp>
        <p:nvSpPr>
          <p:cNvPr id="135172" name="Line 4"/>
          <p:cNvSpPr>
            <a:spLocks noChangeShapeType="1"/>
          </p:cNvSpPr>
          <p:nvPr/>
        </p:nvSpPr>
        <p:spPr bwMode="auto">
          <a:xfrm>
            <a:off x="457200" y="2286000"/>
            <a:ext cx="7543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135173" name="Text Box 5"/>
          <p:cNvSpPr txBox="1">
            <a:spLocks noChangeArrowheads="1"/>
          </p:cNvSpPr>
          <p:nvPr/>
        </p:nvSpPr>
        <p:spPr bwMode="auto">
          <a:xfrm>
            <a:off x="8077200" y="2133600"/>
            <a:ext cx="10668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000" i="1" dirty="0">
                <a:cs typeface="Times New Roman" charset="0"/>
              </a:rPr>
              <a:t>Time</a:t>
            </a:r>
          </a:p>
        </p:txBody>
      </p:sp>
      <p:sp>
        <p:nvSpPr>
          <p:cNvPr id="135174" name="Text Box 6"/>
          <p:cNvSpPr txBox="1">
            <a:spLocks noChangeArrowheads="1"/>
          </p:cNvSpPr>
          <p:nvPr/>
        </p:nvSpPr>
        <p:spPr bwMode="auto">
          <a:xfrm>
            <a:off x="609600" y="1828800"/>
            <a:ext cx="25146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sz="2000" dirty="0">
                <a:cs typeface="Times New Roman" charset="0"/>
              </a:rPr>
              <a:t>Choosing Today</a:t>
            </a:r>
          </a:p>
        </p:txBody>
      </p:sp>
      <p:sp>
        <p:nvSpPr>
          <p:cNvPr id="135175" name="Text Box 7"/>
          <p:cNvSpPr txBox="1">
            <a:spLocks noChangeArrowheads="1"/>
          </p:cNvSpPr>
          <p:nvPr/>
        </p:nvSpPr>
        <p:spPr bwMode="auto">
          <a:xfrm>
            <a:off x="5105400" y="1828800"/>
            <a:ext cx="25908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sz="2000" dirty="0">
                <a:cs typeface="Times New Roman" charset="0"/>
              </a:rPr>
              <a:t>Eating Next Week</a:t>
            </a:r>
          </a:p>
        </p:txBody>
      </p:sp>
      <p:pic>
        <p:nvPicPr>
          <p:cNvPr id="135176" name="Picture 8" descr="lindt swiss premium milk"/>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4953000"/>
            <a:ext cx="2514600" cy="151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5177" name="Text Box 9"/>
          <p:cNvSpPr txBox="1">
            <a:spLocks noChangeArrowheads="1"/>
          </p:cNvSpPr>
          <p:nvPr/>
        </p:nvSpPr>
        <p:spPr bwMode="auto">
          <a:xfrm>
            <a:off x="762000" y="2743200"/>
            <a:ext cx="2673350" cy="1187450"/>
          </a:xfrm>
          <a:prstGeom prst="rect">
            <a:avLst/>
          </a:prstGeom>
          <a:noFill/>
          <a:ln>
            <a:noFill/>
          </a:ln>
          <a:effectLst/>
          <a:extLst>
            <a:ext uri="{909E8E84-426E-40dd-AFC4-6F175D3DCCD1}">
              <a14:hiddenFill xmlns:a14="http://schemas.microsoft.com/office/drawing/2010/main" xmlns="">
                <a:solidFill>
                  <a:schemeClr val="tx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400" dirty="0">
                <a:solidFill>
                  <a:srgbClr val="FF0000"/>
                </a:solidFill>
                <a:cs typeface="Arial" charset="0"/>
              </a:rPr>
              <a:t>Today</a:t>
            </a:r>
            <a:r>
              <a:rPr lang="en-US" sz="2400" dirty="0">
                <a:cs typeface="Arial" charset="0"/>
              </a:rPr>
              <a:t>, subjects</a:t>
            </a:r>
          </a:p>
          <a:p>
            <a:pPr>
              <a:defRPr/>
            </a:pPr>
            <a:r>
              <a:rPr lang="en-US" sz="2400" dirty="0">
                <a:cs typeface="Arial" charset="0"/>
              </a:rPr>
              <a:t>typically choose</a:t>
            </a:r>
          </a:p>
          <a:p>
            <a:pPr>
              <a:defRPr/>
            </a:pPr>
            <a:r>
              <a:rPr lang="en-US" sz="2400" dirty="0">
                <a:cs typeface="Arial" charset="0"/>
              </a:rPr>
              <a:t>fruit for </a:t>
            </a:r>
            <a:r>
              <a:rPr lang="en-US" sz="2400" dirty="0">
                <a:solidFill>
                  <a:srgbClr val="FF0000"/>
                </a:solidFill>
                <a:cs typeface="Arial" charset="0"/>
              </a:rPr>
              <a:t>next week</a:t>
            </a:r>
            <a:r>
              <a:rPr lang="en-US" sz="2400" dirty="0">
                <a:cs typeface="Arial" charset="0"/>
              </a:rPr>
              <a:t>.</a:t>
            </a:r>
          </a:p>
        </p:txBody>
      </p:sp>
      <p:sp>
        <p:nvSpPr>
          <p:cNvPr id="135178" name="Text Box 10"/>
          <p:cNvSpPr txBox="1">
            <a:spLocks noChangeArrowheads="1"/>
          </p:cNvSpPr>
          <p:nvPr/>
        </p:nvSpPr>
        <p:spPr bwMode="auto">
          <a:xfrm>
            <a:off x="4343400" y="2819400"/>
            <a:ext cx="1168400" cy="1187450"/>
          </a:xfrm>
          <a:prstGeom prst="rect">
            <a:avLst/>
          </a:prstGeom>
          <a:noFill/>
          <a:ln>
            <a:noFill/>
          </a:ln>
          <a:effectLst/>
          <a:extLst>
            <a:ext uri="{909E8E84-426E-40dd-AFC4-6F175D3DCCD1}">
              <a14:hiddenFill xmlns:a14="http://schemas.microsoft.com/office/drawing/2010/main" xmlns="">
                <a:solidFill>
                  <a:schemeClr val="tx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400" dirty="0">
                <a:cs typeface="Arial" charset="0"/>
              </a:rPr>
              <a:t>74%</a:t>
            </a:r>
          </a:p>
          <a:p>
            <a:pPr>
              <a:defRPr/>
            </a:pPr>
            <a:r>
              <a:rPr lang="en-US" sz="2400" dirty="0">
                <a:cs typeface="Arial" charset="0"/>
              </a:rPr>
              <a:t>choose</a:t>
            </a:r>
          </a:p>
          <a:p>
            <a:pPr>
              <a:defRPr/>
            </a:pPr>
            <a:r>
              <a:rPr lang="en-US" sz="2400" dirty="0">
                <a:cs typeface="Arial" charset="0"/>
              </a:rPr>
              <a:t>fruit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xit" presetSubtype="4" fill="hold" nodeType="afterEffect">
                                  <p:stCondLst>
                                    <p:cond delay="0"/>
                                  </p:stCondLst>
                                  <p:childTnLst>
                                    <p:anim calcmode="lin" valueType="num">
                                      <p:cBhvr additive="base">
                                        <p:cTn id="6" dur="2000"/>
                                        <p:tgtEl>
                                          <p:spTgt spid="135176"/>
                                        </p:tgtEl>
                                        <p:attrNameLst>
                                          <p:attrName>ppt_x</p:attrName>
                                        </p:attrNameLst>
                                      </p:cBhvr>
                                      <p:tavLst>
                                        <p:tav tm="0">
                                          <p:val>
                                            <p:strVal val="ppt_x"/>
                                          </p:val>
                                        </p:tav>
                                        <p:tav tm="100000">
                                          <p:val>
                                            <p:strVal val="ppt_x"/>
                                          </p:val>
                                        </p:tav>
                                      </p:tavLst>
                                    </p:anim>
                                    <p:anim calcmode="lin" valueType="num">
                                      <p:cBhvr additive="base">
                                        <p:cTn id="7" dur="2000"/>
                                        <p:tgtEl>
                                          <p:spTgt spid="135176"/>
                                        </p:tgtEl>
                                        <p:attrNameLst>
                                          <p:attrName>ppt_y</p:attrName>
                                        </p:attrNameLst>
                                      </p:cBhvr>
                                      <p:tavLst>
                                        <p:tav tm="0">
                                          <p:val>
                                            <p:strVal val="ppt_y"/>
                                          </p:val>
                                        </p:tav>
                                        <p:tav tm="100000">
                                          <p:val>
                                            <p:strVal val="1+ppt_h/2"/>
                                          </p:val>
                                        </p:tav>
                                      </p:tavLst>
                                    </p:anim>
                                    <p:set>
                                      <p:cBhvr>
                                        <p:cTn id="8" dur="1" fill="hold">
                                          <p:stCondLst>
                                            <p:cond delay="1999"/>
                                          </p:stCondLst>
                                        </p:cTn>
                                        <p:tgtEl>
                                          <p:spTgt spid="135176"/>
                                        </p:tgtEl>
                                        <p:attrNameLst>
                                          <p:attrName>style.visibility</p:attrName>
                                        </p:attrNameLst>
                                      </p:cBhvr>
                                      <p:to>
                                        <p:strVal val="hidden"/>
                                      </p:to>
                                    </p:set>
                                  </p:childTnLst>
                                </p:cTn>
                              </p:par>
                            </p:childTnLst>
                          </p:cTn>
                        </p:par>
                        <p:par>
                          <p:cTn id="9" fill="hold" nodeType="afterGroup">
                            <p:stCondLst>
                              <p:cond delay="2000"/>
                            </p:stCondLst>
                            <p:childTnLst>
                              <p:par>
                                <p:cTn id="10" presetID="1" presetClass="entr" presetSubtype="0" fill="hold" grpId="0" nodeType="afterEffect">
                                  <p:stCondLst>
                                    <p:cond delay="0"/>
                                  </p:stCondLst>
                                  <p:childTnLst>
                                    <p:set>
                                      <p:cBhvr>
                                        <p:cTn id="11" dur="1" fill="hold">
                                          <p:stCondLst>
                                            <p:cond delay="0"/>
                                          </p:stCondLst>
                                        </p:cTn>
                                        <p:tgtEl>
                                          <p:spTgt spid="1351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685800" y="304800"/>
            <a:ext cx="7772400" cy="1143000"/>
          </a:xfrm>
        </p:spPr>
        <p:txBody>
          <a:bodyPr/>
          <a:lstStyle/>
          <a:p>
            <a:pPr eaLnBrk="1" hangingPunct="1">
              <a:defRPr/>
            </a:pPr>
            <a:r>
              <a:rPr lang="en-US" sz="2800" dirty="0">
                <a:cs typeface="Arial" charset="0"/>
              </a:rPr>
              <a:t>Impatient choices for today:</a:t>
            </a:r>
            <a:endParaRPr lang="en-US" sz="2800" dirty="0">
              <a:cs typeface="+mj-cs"/>
            </a:endParaRPr>
          </a:p>
        </p:txBody>
      </p:sp>
      <p:pic>
        <p:nvPicPr>
          <p:cNvPr id="30722" name="Picture 3" descr="oran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2590800"/>
            <a:ext cx="1676400" cy="21336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pic>
      <p:sp>
        <p:nvSpPr>
          <p:cNvPr id="137220" name="Line 4"/>
          <p:cNvSpPr>
            <a:spLocks noChangeShapeType="1"/>
          </p:cNvSpPr>
          <p:nvPr/>
        </p:nvSpPr>
        <p:spPr bwMode="auto">
          <a:xfrm>
            <a:off x="457200" y="2286000"/>
            <a:ext cx="7543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137221" name="Text Box 5"/>
          <p:cNvSpPr txBox="1">
            <a:spLocks noChangeArrowheads="1"/>
          </p:cNvSpPr>
          <p:nvPr/>
        </p:nvSpPr>
        <p:spPr bwMode="auto">
          <a:xfrm>
            <a:off x="8077200" y="2133600"/>
            <a:ext cx="10668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000" i="1" dirty="0">
                <a:cs typeface="Times New Roman" charset="0"/>
              </a:rPr>
              <a:t>Time</a:t>
            </a:r>
          </a:p>
        </p:txBody>
      </p:sp>
      <p:sp>
        <p:nvSpPr>
          <p:cNvPr id="137222" name="Text Box 6"/>
          <p:cNvSpPr txBox="1">
            <a:spLocks noChangeArrowheads="1"/>
          </p:cNvSpPr>
          <p:nvPr/>
        </p:nvSpPr>
        <p:spPr bwMode="auto">
          <a:xfrm>
            <a:off x="2895600" y="1447800"/>
            <a:ext cx="2895600" cy="7334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lnSpc>
                <a:spcPct val="80000"/>
              </a:lnSpc>
              <a:spcBef>
                <a:spcPct val="50000"/>
              </a:spcBef>
              <a:defRPr/>
            </a:pPr>
            <a:r>
              <a:rPr lang="en-US" sz="2000" dirty="0">
                <a:cs typeface="Times New Roman" charset="0"/>
              </a:rPr>
              <a:t>Choosing and Eating</a:t>
            </a:r>
          </a:p>
          <a:p>
            <a:pPr algn="ctr">
              <a:lnSpc>
                <a:spcPct val="80000"/>
              </a:lnSpc>
              <a:spcBef>
                <a:spcPct val="50000"/>
              </a:spcBef>
              <a:defRPr/>
            </a:pPr>
            <a:r>
              <a:rPr lang="en-US" sz="2000" dirty="0">
                <a:cs typeface="Times New Roman" charset="0"/>
              </a:rPr>
              <a:t>Simultaneously</a:t>
            </a:r>
          </a:p>
        </p:txBody>
      </p:sp>
      <p:pic>
        <p:nvPicPr>
          <p:cNvPr id="30726" name="Picture 7" descr="lindt swiss premium milk"/>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4953000"/>
            <a:ext cx="2514600" cy="151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7224" name="Text Box 8"/>
          <p:cNvSpPr txBox="1">
            <a:spLocks noChangeArrowheads="1"/>
          </p:cNvSpPr>
          <p:nvPr/>
        </p:nvSpPr>
        <p:spPr bwMode="auto">
          <a:xfrm>
            <a:off x="762000" y="3276600"/>
            <a:ext cx="2627313" cy="1917700"/>
          </a:xfrm>
          <a:prstGeom prst="rect">
            <a:avLst/>
          </a:prstGeom>
          <a:noFill/>
          <a:ln>
            <a:noFill/>
          </a:ln>
          <a:effectLst/>
          <a:extLst>
            <a:ext uri="{909E8E84-426E-40dd-AFC4-6F175D3DCCD1}">
              <a14:hiddenFill xmlns:a14="http://schemas.microsoft.com/office/drawing/2010/main" xmlns="">
                <a:solidFill>
                  <a:schemeClr val="tx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400" dirty="0">
                <a:cs typeface="Arial" charset="0"/>
              </a:rPr>
              <a:t>If you were </a:t>
            </a:r>
          </a:p>
          <a:p>
            <a:pPr>
              <a:defRPr/>
            </a:pPr>
            <a:r>
              <a:rPr lang="en-US" sz="2400" dirty="0">
                <a:cs typeface="Arial" charset="0"/>
              </a:rPr>
              <a:t>deciding </a:t>
            </a:r>
            <a:r>
              <a:rPr lang="en-US" sz="2400" dirty="0">
                <a:solidFill>
                  <a:srgbClr val="FF0000"/>
                </a:solidFill>
                <a:cs typeface="Arial" charset="0"/>
              </a:rPr>
              <a:t>today</a:t>
            </a:r>
            <a:r>
              <a:rPr lang="en-US" sz="2400" dirty="0">
                <a:cs typeface="Arial" charset="0"/>
              </a:rPr>
              <a:t>,</a:t>
            </a:r>
          </a:p>
          <a:p>
            <a:pPr>
              <a:defRPr/>
            </a:pPr>
            <a:r>
              <a:rPr lang="en-US" sz="2400" dirty="0">
                <a:cs typeface="Arial" charset="0"/>
              </a:rPr>
              <a:t>would you choose</a:t>
            </a:r>
          </a:p>
          <a:p>
            <a:pPr>
              <a:defRPr/>
            </a:pPr>
            <a:r>
              <a:rPr lang="en-US" sz="2400" dirty="0">
                <a:cs typeface="Arial" charset="0"/>
              </a:rPr>
              <a:t>fruit or chocolate</a:t>
            </a:r>
          </a:p>
          <a:p>
            <a:pPr>
              <a:defRPr/>
            </a:pPr>
            <a:r>
              <a:rPr lang="en-US" sz="2400" dirty="0">
                <a:cs typeface="Arial" charset="0"/>
              </a:rPr>
              <a:t>for </a:t>
            </a:r>
            <a:r>
              <a:rPr lang="en-US" sz="2400" dirty="0">
                <a:solidFill>
                  <a:srgbClr val="FF0000"/>
                </a:solidFill>
                <a:cs typeface="Arial" charset="0"/>
              </a:rPr>
              <a:t>today</a:t>
            </a:r>
            <a:r>
              <a:rPr lang="en-US" sz="2400" dirty="0">
                <a:cs typeface="Arial" charset="0"/>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685800" y="304800"/>
            <a:ext cx="7772400" cy="1143000"/>
          </a:xfrm>
        </p:spPr>
        <p:txBody>
          <a:bodyPr/>
          <a:lstStyle/>
          <a:p>
            <a:pPr eaLnBrk="1" hangingPunct="1">
              <a:defRPr/>
            </a:pPr>
            <a:r>
              <a:rPr lang="en-US" sz="2800" dirty="0">
                <a:cs typeface="Arial" charset="0"/>
              </a:rPr>
              <a:t>Time Inconsistent Preferences</a:t>
            </a:r>
            <a:r>
              <a:rPr lang="en-US" sz="2800" dirty="0">
                <a:cs typeface="+mj-cs"/>
              </a:rPr>
              <a:t>:</a:t>
            </a:r>
          </a:p>
        </p:txBody>
      </p:sp>
      <p:pic>
        <p:nvPicPr>
          <p:cNvPr id="139267" name="Picture 3" descr="oran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2590800"/>
            <a:ext cx="1676400" cy="21336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pic>
      <p:sp>
        <p:nvSpPr>
          <p:cNvPr id="139268" name="Line 4"/>
          <p:cNvSpPr>
            <a:spLocks noChangeShapeType="1"/>
          </p:cNvSpPr>
          <p:nvPr/>
        </p:nvSpPr>
        <p:spPr bwMode="auto">
          <a:xfrm>
            <a:off x="457200" y="2286000"/>
            <a:ext cx="7543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139269" name="Text Box 5"/>
          <p:cNvSpPr txBox="1">
            <a:spLocks noChangeArrowheads="1"/>
          </p:cNvSpPr>
          <p:nvPr/>
        </p:nvSpPr>
        <p:spPr bwMode="auto">
          <a:xfrm>
            <a:off x="8077200" y="2133600"/>
            <a:ext cx="10668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000" i="1" dirty="0">
                <a:cs typeface="Times New Roman" charset="0"/>
              </a:rPr>
              <a:t>Time</a:t>
            </a:r>
          </a:p>
        </p:txBody>
      </p:sp>
      <p:sp>
        <p:nvSpPr>
          <p:cNvPr id="139270" name="Text Box 6"/>
          <p:cNvSpPr txBox="1">
            <a:spLocks noChangeArrowheads="1"/>
          </p:cNvSpPr>
          <p:nvPr/>
        </p:nvSpPr>
        <p:spPr bwMode="auto">
          <a:xfrm>
            <a:off x="3048000" y="1447800"/>
            <a:ext cx="2743200" cy="7334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lnSpc>
                <a:spcPct val="80000"/>
              </a:lnSpc>
              <a:spcBef>
                <a:spcPct val="50000"/>
              </a:spcBef>
              <a:defRPr/>
            </a:pPr>
            <a:r>
              <a:rPr lang="en-US" sz="2000" dirty="0">
                <a:cs typeface="Times New Roman" charset="0"/>
              </a:rPr>
              <a:t>Choosing and Eating</a:t>
            </a:r>
          </a:p>
          <a:p>
            <a:pPr algn="ctr">
              <a:lnSpc>
                <a:spcPct val="80000"/>
              </a:lnSpc>
              <a:spcBef>
                <a:spcPct val="50000"/>
              </a:spcBef>
              <a:defRPr/>
            </a:pPr>
            <a:r>
              <a:rPr lang="en-US" sz="2000" dirty="0">
                <a:cs typeface="Times New Roman" charset="0"/>
              </a:rPr>
              <a:t>Simultaneously</a:t>
            </a:r>
          </a:p>
        </p:txBody>
      </p:sp>
      <p:pic>
        <p:nvPicPr>
          <p:cNvPr id="32774" name="Picture 7" descr="lindt swiss premium milk"/>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4953000"/>
            <a:ext cx="2514600" cy="151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9272" name="Text Box 8"/>
          <p:cNvSpPr txBox="1">
            <a:spLocks noChangeArrowheads="1"/>
          </p:cNvSpPr>
          <p:nvPr/>
        </p:nvSpPr>
        <p:spPr bwMode="auto">
          <a:xfrm>
            <a:off x="1524000" y="5103813"/>
            <a:ext cx="1490663" cy="1187450"/>
          </a:xfrm>
          <a:prstGeom prst="rect">
            <a:avLst/>
          </a:prstGeom>
          <a:noFill/>
          <a:ln>
            <a:noFill/>
          </a:ln>
          <a:effectLst/>
          <a:extLst>
            <a:ext uri="{909E8E84-426E-40dd-AFC4-6F175D3DCCD1}">
              <a14:hiddenFill xmlns:a14="http://schemas.microsoft.com/office/drawing/2010/main" xmlns="">
                <a:solidFill>
                  <a:schemeClr val="tx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400" dirty="0">
                <a:cs typeface="Arial" charset="0"/>
              </a:rPr>
              <a:t>70%</a:t>
            </a:r>
          </a:p>
          <a:p>
            <a:pPr>
              <a:defRPr/>
            </a:pPr>
            <a:r>
              <a:rPr lang="en-US" sz="2400" dirty="0">
                <a:cs typeface="Arial" charset="0"/>
              </a:rPr>
              <a:t>choose </a:t>
            </a:r>
          </a:p>
          <a:p>
            <a:pPr>
              <a:defRPr/>
            </a:pPr>
            <a:r>
              <a:rPr lang="en-US" sz="2400" dirty="0">
                <a:cs typeface="Arial" charset="0"/>
              </a:rPr>
              <a:t>chocolate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xit" presetSubtype="2" fill="hold" nodeType="afterEffect">
                                  <p:stCondLst>
                                    <p:cond delay="0"/>
                                  </p:stCondLst>
                                  <p:childTnLst>
                                    <p:anim calcmode="lin" valueType="num">
                                      <p:cBhvr additive="base">
                                        <p:cTn id="6" dur="2000"/>
                                        <p:tgtEl>
                                          <p:spTgt spid="139267"/>
                                        </p:tgtEl>
                                        <p:attrNameLst>
                                          <p:attrName>ppt_x</p:attrName>
                                        </p:attrNameLst>
                                      </p:cBhvr>
                                      <p:tavLst>
                                        <p:tav tm="0">
                                          <p:val>
                                            <p:strVal val="ppt_x"/>
                                          </p:val>
                                        </p:tav>
                                        <p:tav tm="100000">
                                          <p:val>
                                            <p:strVal val="1+ppt_w/2"/>
                                          </p:val>
                                        </p:tav>
                                      </p:tavLst>
                                    </p:anim>
                                    <p:anim calcmode="lin" valueType="num">
                                      <p:cBhvr additive="base">
                                        <p:cTn id="7" dur="2000"/>
                                        <p:tgtEl>
                                          <p:spTgt spid="139267"/>
                                        </p:tgtEl>
                                        <p:attrNameLst>
                                          <p:attrName>ppt_y</p:attrName>
                                        </p:attrNameLst>
                                      </p:cBhvr>
                                      <p:tavLst>
                                        <p:tav tm="0">
                                          <p:val>
                                            <p:strVal val="ppt_y"/>
                                          </p:val>
                                        </p:tav>
                                        <p:tav tm="100000">
                                          <p:val>
                                            <p:strVal val="ppt_y"/>
                                          </p:val>
                                        </p:tav>
                                      </p:tavLst>
                                    </p:anim>
                                    <p:set>
                                      <p:cBhvr>
                                        <p:cTn id="8" dur="1" fill="hold">
                                          <p:stCondLst>
                                            <p:cond delay="1999"/>
                                          </p:stCondLst>
                                        </p:cTn>
                                        <p:tgtEl>
                                          <p:spTgt spid="139267"/>
                                        </p:tgtEl>
                                        <p:attrNameLst>
                                          <p:attrName>style.visibility</p:attrName>
                                        </p:attrNameLst>
                                      </p:cBhvr>
                                      <p:to>
                                        <p:strVal val="hidden"/>
                                      </p:to>
                                    </p:set>
                                  </p:childTnLst>
                                </p:cTn>
                              </p:par>
                            </p:childTnLst>
                          </p:cTn>
                        </p:par>
                        <p:par>
                          <p:cTn id="9" fill="hold" nodeType="afterGroup">
                            <p:stCondLst>
                              <p:cond delay="2000"/>
                            </p:stCondLst>
                            <p:childTnLst>
                              <p:par>
                                <p:cTn id="10" presetID="1" presetClass="entr" presetSubtype="0" fill="hold" grpId="0" nodeType="afterEffect">
                                  <p:stCondLst>
                                    <p:cond delay="0"/>
                                  </p:stCondLst>
                                  <p:childTnLst>
                                    <p:set>
                                      <p:cBhvr>
                                        <p:cTn id="11" dur="1" fill="hold">
                                          <p:stCondLst>
                                            <p:cond delay="0"/>
                                          </p:stCondLst>
                                        </p:cTn>
                                        <p:tgtEl>
                                          <p:spTgt spid="1392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7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0" y="228600"/>
            <a:ext cx="9144000" cy="1143000"/>
          </a:xfrm>
        </p:spPr>
        <p:txBody>
          <a:bodyPr/>
          <a:lstStyle/>
          <a:p>
            <a:pPr eaLnBrk="1" hangingPunct="1">
              <a:defRPr/>
            </a:pPr>
            <a:r>
              <a:rPr lang="en-US" b="1" dirty="0">
                <a:solidFill>
                  <a:schemeClr val="accent2"/>
                </a:solidFill>
                <a:cs typeface="Arial" charset="0"/>
              </a:rPr>
              <a:t>Impatience: the desire for instant gratification</a:t>
            </a:r>
            <a:br>
              <a:rPr lang="en-US" b="1" dirty="0">
                <a:solidFill>
                  <a:schemeClr val="accent2"/>
                </a:solidFill>
                <a:cs typeface="Arial" charset="0"/>
              </a:rPr>
            </a:br>
            <a:r>
              <a:rPr lang="en-US" sz="2400" dirty="0">
                <a:cs typeface="Arial" charset="0"/>
              </a:rPr>
              <a:t>Read, Loewenstein &amp; Kalyanaraman (1999)</a:t>
            </a:r>
          </a:p>
        </p:txBody>
      </p:sp>
      <p:sp>
        <p:nvSpPr>
          <p:cNvPr id="141315" name="Rectangle 3"/>
          <p:cNvSpPr>
            <a:spLocks noGrp="1" noChangeArrowheads="1"/>
          </p:cNvSpPr>
          <p:nvPr>
            <p:ph type="body" idx="1"/>
          </p:nvPr>
        </p:nvSpPr>
        <p:spPr>
          <a:xfrm>
            <a:off x="685800" y="1752600"/>
            <a:ext cx="8077200" cy="4419600"/>
          </a:xfrm>
        </p:spPr>
        <p:txBody>
          <a:bodyPr/>
          <a:lstStyle/>
          <a:p>
            <a:pPr eaLnBrk="1" hangingPunct="1">
              <a:buFontTx/>
              <a:buNone/>
              <a:defRPr/>
            </a:pPr>
            <a:r>
              <a:rPr lang="en-US" sz="2400" dirty="0">
                <a:cs typeface="+mn-cs"/>
              </a:rPr>
              <a:t>Choose among 24 movie videos</a:t>
            </a:r>
          </a:p>
          <a:p>
            <a:pPr eaLnBrk="1" hangingPunct="1">
              <a:defRPr/>
            </a:pPr>
            <a:r>
              <a:rPr lang="en-US" sz="2400" dirty="0">
                <a:cs typeface="+mn-cs"/>
              </a:rPr>
              <a:t>Some are </a:t>
            </a:r>
            <a:r>
              <a:rPr lang="ja-JP" altLang="en-US" sz="2400" dirty="0">
                <a:latin typeface="Arial"/>
                <a:cs typeface="+mn-cs"/>
              </a:rPr>
              <a:t>“</a:t>
            </a:r>
            <a:r>
              <a:rPr lang="en-US" sz="2400" dirty="0">
                <a:cs typeface="+mn-cs"/>
              </a:rPr>
              <a:t>low brow</a:t>
            </a:r>
            <a:r>
              <a:rPr lang="ja-JP" altLang="en-US" sz="2400" dirty="0">
                <a:latin typeface="Arial"/>
                <a:cs typeface="+mn-cs"/>
              </a:rPr>
              <a:t>”</a:t>
            </a:r>
            <a:r>
              <a:rPr lang="en-US" sz="2400" dirty="0">
                <a:cs typeface="+mn-cs"/>
              </a:rPr>
              <a:t>: </a:t>
            </a:r>
            <a:r>
              <a:rPr lang="en-US" sz="2400" i="1" dirty="0">
                <a:cs typeface="+mn-cs"/>
              </a:rPr>
              <a:t>My Cousin Vinny</a:t>
            </a:r>
          </a:p>
          <a:p>
            <a:pPr eaLnBrk="1" hangingPunct="1">
              <a:defRPr/>
            </a:pPr>
            <a:r>
              <a:rPr lang="en-US" sz="2400" dirty="0">
                <a:cs typeface="+mn-cs"/>
              </a:rPr>
              <a:t>Some are </a:t>
            </a:r>
            <a:r>
              <a:rPr lang="ja-JP" altLang="en-US" sz="2400" dirty="0">
                <a:latin typeface="Arial"/>
                <a:cs typeface="+mn-cs"/>
              </a:rPr>
              <a:t>“</a:t>
            </a:r>
            <a:r>
              <a:rPr lang="en-US" sz="2400" dirty="0">
                <a:cs typeface="+mn-cs"/>
              </a:rPr>
              <a:t>high brow</a:t>
            </a:r>
            <a:r>
              <a:rPr lang="ja-JP" altLang="en-US" sz="2400" dirty="0">
                <a:latin typeface="Arial"/>
                <a:cs typeface="+mn-cs"/>
              </a:rPr>
              <a:t>”</a:t>
            </a:r>
            <a:r>
              <a:rPr lang="en-US" sz="2400" dirty="0">
                <a:cs typeface="+mn-cs"/>
              </a:rPr>
              <a:t>: </a:t>
            </a:r>
            <a:r>
              <a:rPr lang="en-US" sz="2400" i="1" dirty="0">
                <a:cs typeface="+mn-cs"/>
              </a:rPr>
              <a:t>Schindler</a:t>
            </a:r>
            <a:r>
              <a:rPr lang="ja-JP" altLang="en-US" sz="2400" i="1" dirty="0">
                <a:latin typeface="Arial"/>
                <a:cs typeface="+mn-cs"/>
              </a:rPr>
              <a:t>’</a:t>
            </a:r>
            <a:r>
              <a:rPr lang="en-US" sz="2400" i="1" dirty="0">
                <a:cs typeface="+mn-cs"/>
              </a:rPr>
              <a:t>s List</a:t>
            </a:r>
          </a:p>
          <a:p>
            <a:pPr eaLnBrk="1" hangingPunct="1">
              <a:defRPr/>
            </a:pPr>
            <a:endParaRPr lang="en-US" sz="2400" dirty="0">
              <a:cs typeface="+mn-cs"/>
            </a:endParaRPr>
          </a:p>
          <a:p>
            <a:pPr eaLnBrk="1" hangingPunct="1">
              <a:defRPr/>
            </a:pPr>
            <a:r>
              <a:rPr lang="en-US" sz="2400" dirty="0">
                <a:cs typeface="+mn-cs"/>
              </a:rPr>
              <a:t>Picking for tonight: 56% of subjects choose low brow.</a:t>
            </a:r>
          </a:p>
          <a:p>
            <a:pPr eaLnBrk="1" hangingPunct="1">
              <a:defRPr/>
            </a:pPr>
            <a:r>
              <a:rPr lang="en-US" sz="2400" dirty="0">
                <a:cs typeface="+mn-cs"/>
              </a:rPr>
              <a:t>Picking for next Thursday: 37% choose low brow.</a:t>
            </a:r>
          </a:p>
          <a:p>
            <a:pPr eaLnBrk="1" hangingPunct="1">
              <a:defRPr/>
            </a:pPr>
            <a:r>
              <a:rPr lang="en-US" sz="2400" dirty="0">
                <a:cs typeface="+mn-cs"/>
              </a:rPr>
              <a:t>Picking for second Thursday: 29% choose low brow. </a:t>
            </a:r>
          </a:p>
          <a:p>
            <a:pPr eaLnBrk="1" hangingPunct="1">
              <a:defRPr/>
            </a:pPr>
            <a:endParaRPr lang="en-US" dirty="0">
              <a:cs typeface="+mn-cs"/>
            </a:endParaRPr>
          </a:p>
          <a:p>
            <a:pPr eaLnBrk="1" hangingPunct="1">
              <a:buFontTx/>
              <a:buNone/>
              <a:defRPr/>
            </a:pPr>
            <a:r>
              <a:rPr lang="en-US" sz="2800" dirty="0">
                <a:cs typeface="+mn-cs"/>
              </a:rPr>
              <a:t>Tonight I want sugar-coated entertainment…                next week I want things that are good for me.</a:t>
            </a:r>
          </a:p>
        </p:txBody>
      </p:sp>
      <p:pic>
        <p:nvPicPr>
          <p:cNvPr id="34819" name="Picture 5" descr="MyCousinVinnyBi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800" y="1590675"/>
            <a:ext cx="885825" cy="1609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4820" name="Picture 7" descr="schindler1">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2400" y="2133600"/>
            <a:ext cx="914400" cy="1371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1315">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1315">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131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13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How Important are Immediate Rewards?</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0619358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“Learning and the Inefficient Exit of Entrepreneurs”</a:t>
            </a:r>
          </a:p>
        </p:txBody>
      </p:sp>
      <p:sp>
        <p:nvSpPr>
          <p:cNvPr id="3" name="Content Placeholder 2"/>
          <p:cNvSpPr>
            <a:spLocks noGrp="1"/>
          </p:cNvSpPr>
          <p:nvPr>
            <p:ph idx="1"/>
          </p:nvPr>
        </p:nvSpPr>
        <p:spPr/>
        <p:txBody>
          <a:bodyPr/>
          <a:lstStyle/>
          <a:p>
            <a:r>
              <a:rPr lang="en-US" sz="2800" dirty="0"/>
              <a:t>Have 2 startups, A and B</a:t>
            </a:r>
          </a:p>
          <a:p>
            <a:r>
              <a:rPr lang="en-US" sz="2800" dirty="0"/>
              <a:t>Consider the profits earned over 2 periods:</a:t>
            </a:r>
          </a:p>
          <a:p>
            <a:pPr lvl="1"/>
            <a:r>
              <a:rPr lang="en-US" dirty="0"/>
              <a:t>Entrepreneur A: earns $100 in year 1; $100 in year 2</a:t>
            </a:r>
          </a:p>
          <a:p>
            <a:pPr lvl="1"/>
            <a:r>
              <a:rPr lang="en-US" dirty="0"/>
              <a:t>Entrepreneur B: earns $50 in year 1; $150 in year 2</a:t>
            </a:r>
          </a:p>
          <a:p>
            <a:r>
              <a:rPr lang="en-US" sz="2800" dirty="0"/>
              <a:t>Is B more likely to exit than A?</a:t>
            </a:r>
          </a:p>
          <a:p>
            <a:pPr lvl="1"/>
            <a:r>
              <a:rPr lang="en-US" dirty="0"/>
              <a:t>Standard story:  No</a:t>
            </a:r>
          </a:p>
          <a:p>
            <a:pPr lvl="1"/>
            <a:r>
              <a:rPr lang="en-US" dirty="0"/>
              <a:t>Behavioral Economics: Yes, due to impatience</a:t>
            </a:r>
          </a:p>
          <a:p>
            <a:pPr lvl="1"/>
            <a:endParaRPr lang="en-US" dirty="0"/>
          </a:p>
        </p:txBody>
      </p:sp>
    </p:spTree>
    <p:extLst>
      <p:ext uri="{BB962C8B-B14F-4D97-AF65-F5344CB8AC3E}">
        <p14:creationId xmlns:p14="http://schemas.microsoft.com/office/powerpoint/2010/main" val="24635630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“Learning and the Inefficient Exit of Entrepreneurs”</a:t>
            </a:r>
          </a:p>
        </p:txBody>
      </p:sp>
      <p:sp>
        <p:nvSpPr>
          <p:cNvPr id="3" name="Content Placeholder 2"/>
          <p:cNvSpPr>
            <a:spLocks noGrp="1"/>
          </p:cNvSpPr>
          <p:nvPr>
            <p:ph idx="1"/>
          </p:nvPr>
        </p:nvSpPr>
        <p:spPr/>
        <p:txBody>
          <a:bodyPr/>
          <a:lstStyle/>
          <a:p>
            <a:r>
              <a:rPr lang="en-US" sz="2400" dirty="0"/>
              <a:t>We examine whether impatience leads entrepreneurs to exit their businesses “too early”</a:t>
            </a:r>
          </a:p>
          <a:p>
            <a:pPr lvl="1"/>
            <a:r>
              <a:rPr lang="en-US" sz="2400" dirty="0"/>
              <a:t>Occurs if they earn low initial profits, but “business fundamentals” look good.</a:t>
            </a:r>
          </a:p>
          <a:p>
            <a:r>
              <a:rPr lang="en-US" sz="2400" dirty="0"/>
              <a:t>Data from 5000 startups founded in 2004:</a:t>
            </a:r>
          </a:p>
          <a:p>
            <a:pPr lvl="1"/>
            <a:r>
              <a:rPr lang="en-US" sz="2400" dirty="0"/>
              <a:t>About 50% failed by 2010 </a:t>
            </a:r>
          </a:p>
          <a:p>
            <a:pPr lvl="1"/>
            <a:r>
              <a:rPr lang="en-US" sz="2400" dirty="0"/>
              <a:t>About 20% of the failures exited “too early”</a:t>
            </a:r>
          </a:p>
          <a:p>
            <a:pPr lvl="1"/>
            <a:r>
              <a:rPr lang="en-US" sz="2400" dirty="0"/>
              <a:t>Impatience implies that these individuals who “failed” could have succeeded if they were not so myopic!</a:t>
            </a:r>
          </a:p>
        </p:txBody>
      </p:sp>
    </p:spTree>
    <p:extLst>
      <p:ext uri="{BB962C8B-B14F-4D97-AF65-F5344CB8AC3E}">
        <p14:creationId xmlns:p14="http://schemas.microsoft.com/office/powerpoint/2010/main" val="28039980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a:xfrm>
            <a:off x="457200" y="76200"/>
            <a:ext cx="8229600" cy="944563"/>
          </a:xfrm>
        </p:spPr>
        <p:txBody>
          <a:bodyPr/>
          <a:lstStyle/>
          <a:p>
            <a:pPr eaLnBrk="1" hangingPunct="1">
              <a:defRPr/>
            </a:pPr>
            <a:r>
              <a:rPr lang="en-US" b="1" dirty="0">
                <a:solidFill>
                  <a:schemeClr val="accent2"/>
                </a:solidFill>
                <a:cs typeface="+mj-cs"/>
              </a:rPr>
              <a:t>Loss Aversion</a:t>
            </a:r>
          </a:p>
        </p:txBody>
      </p:sp>
      <p:sp>
        <p:nvSpPr>
          <p:cNvPr id="165891" name="Rectangle 3"/>
          <p:cNvSpPr>
            <a:spLocks noGrp="1" noChangeArrowheads="1"/>
          </p:cNvSpPr>
          <p:nvPr>
            <p:ph type="body" idx="1"/>
          </p:nvPr>
        </p:nvSpPr>
        <p:spPr>
          <a:xfrm>
            <a:off x="533400" y="1079500"/>
            <a:ext cx="8229600" cy="4525963"/>
          </a:xfrm>
        </p:spPr>
        <p:txBody>
          <a:bodyPr/>
          <a:lstStyle/>
          <a:p>
            <a:pPr eaLnBrk="1" hangingPunct="1">
              <a:buSzPct val="150000"/>
              <a:defRPr/>
            </a:pPr>
            <a:r>
              <a:rPr lang="en-US" sz="2600" dirty="0">
                <a:cs typeface="+mn-cs"/>
              </a:rPr>
              <a:t>Losses loom larger than equivalent gains</a:t>
            </a:r>
          </a:p>
          <a:p>
            <a:pPr eaLnBrk="1" hangingPunct="1">
              <a:buSzPct val="150000"/>
              <a:defRPr/>
            </a:pPr>
            <a:r>
              <a:rPr lang="en-US" sz="2600" dirty="0">
                <a:cs typeface="+mn-cs"/>
              </a:rPr>
              <a:t>Kahneman, Knetsch and Thaler (1990) found that randomly assigned owners of a mug required significantly more money to part with their possession (around $7) than randomly assigned buyers were willing to pay to acquire it (around $3). </a:t>
            </a:r>
          </a:p>
          <a:p>
            <a:pPr eaLnBrk="1" hangingPunct="1">
              <a:buSzPct val="150000"/>
              <a:defRPr/>
            </a:pPr>
            <a:r>
              <a:rPr lang="en-US" sz="2600" dirty="0">
                <a:cs typeface="+mn-cs"/>
              </a:rPr>
              <a:t>This can be attributed to loss aversion: owners</a:t>
            </a:r>
            <a:r>
              <a:rPr lang="ja-JP" altLang="en-US" sz="2600" dirty="0">
                <a:latin typeface="Arial"/>
                <a:cs typeface="+mn-cs"/>
              </a:rPr>
              <a:t>’</a:t>
            </a:r>
            <a:r>
              <a:rPr lang="en-US" sz="2600" dirty="0">
                <a:cs typeface="+mn-cs"/>
              </a:rPr>
              <a:t> loss of the mug loomed larger than buyers</a:t>
            </a:r>
            <a:r>
              <a:rPr lang="ja-JP" altLang="en-US" sz="2600" dirty="0">
                <a:latin typeface="Arial"/>
                <a:cs typeface="+mn-cs"/>
              </a:rPr>
              <a:t>’</a:t>
            </a:r>
            <a:r>
              <a:rPr lang="en-US" sz="2600" dirty="0">
                <a:cs typeface="+mn-cs"/>
              </a:rPr>
              <a:t> gain of the mug. Usually 2:1 ratio. </a:t>
            </a:r>
          </a:p>
          <a:p>
            <a:pPr eaLnBrk="1" hangingPunct="1">
              <a:buSzPct val="150000"/>
              <a:defRPr/>
            </a:pPr>
            <a:r>
              <a:rPr lang="en-US" sz="2600" dirty="0">
                <a:cs typeface="+mn-cs"/>
              </a:rPr>
              <a:t>Causes a divergence between willingness to buy and willingness to sell. Sometimes called </a:t>
            </a:r>
            <a:r>
              <a:rPr lang="ja-JP" altLang="en-US" sz="2600" dirty="0">
                <a:latin typeface="Arial"/>
                <a:cs typeface="+mn-cs"/>
              </a:rPr>
              <a:t>“</a:t>
            </a:r>
            <a:r>
              <a:rPr lang="en-US" sz="2600" dirty="0">
                <a:cs typeface="+mn-cs"/>
              </a:rPr>
              <a:t>the endowment effect</a:t>
            </a:r>
            <a:r>
              <a:rPr lang="ja-JP" altLang="en-US" sz="2600" dirty="0">
                <a:latin typeface="Arial"/>
                <a:cs typeface="+mn-cs"/>
              </a:rPr>
              <a:t>”</a:t>
            </a:r>
            <a:r>
              <a:rPr lang="en-US" sz="2600" dirty="0">
                <a:cs typeface="+mn-cs"/>
              </a:rPr>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76200" y="457200"/>
            <a:ext cx="8229600" cy="944563"/>
          </a:xfrm>
        </p:spPr>
        <p:txBody>
          <a:bodyPr/>
          <a:lstStyle/>
          <a:p>
            <a:pPr eaLnBrk="1" hangingPunct="1">
              <a:defRPr/>
            </a:pPr>
            <a:r>
              <a:rPr lang="en-US" sz="3600" b="1" dirty="0">
                <a:solidFill>
                  <a:schemeClr val="accent2"/>
                </a:solidFill>
                <a:cs typeface="+mj-cs"/>
              </a:rPr>
              <a:t>Bounded Rationality: </a:t>
            </a:r>
            <a:br>
              <a:rPr lang="en-US" sz="3600" b="1" dirty="0">
                <a:solidFill>
                  <a:schemeClr val="accent2"/>
                </a:solidFill>
                <a:cs typeface="+mj-cs"/>
              </a:rPr>
            </a:br>
            <a:r>
              <a:rPr lang="en-US" sz="3600" b="1" dirty="0">
                <a:solidFill>
                  <a:schemeClr val="accent2"/>
                </a:solidFill>
                <a:cs typeface="+mj-cs"/>
              </a:rPr>
              <a:t>Thinking Is Costly</a:t>
            </a:r>
          </a:p>
        </p:txBody>
      </p:sp>
      <p:sp>
        <p:nvSpPr>
          <p:cNvPr id="154627" name="Rectangle 3"/>
          <p:cNvSpPr>
            <a:spLocks noGrp="1" noChangeArrowheads="1"/>
          </p:cNvSpPr>
          <p:nvPr>
            <p:ph type="body" idx="1"/>
          </p:nvPr>
        </p:nvSpPr>
        <p:spPr>
          <a:xfrm>
            <a:off x="457200" y="2027238"/>
            <a:ext cx="8229600" cy="4525962"/>
          </a:xfrm>
        </p:spPr>
        <p:txBody>
          <a:bodyPr/>
          <a:lstStyle/>
          <a:p>
            <a:pPr eaLnBrk="1" hangingPunct="1">
              <a:buSzPct val="150000"/>
              <a:defRPr/>
            </a:pPr>
            <a:r>
              <a:rPr lang="en-US" b="1" dirty="0">
                <a:cs typeface="+mn-cs"/>
              </a:rPr>
              <a:t>A baseball and bat together cost $11. The bat costs $10 more than the ball. How much does the ball cost?</a:t>
            </a:r>
            <a:r>
              <a:rPr lang="en-US" dirty="0">
                <a:cs typeface="+mn-cs"/>
              </a:rPr>
              <a:t> </a:t>
            </a:r>
          </a:p>
          <a:p>
            <a:pPr eaLnBrk="1" hangingPunct="1">
              <a:buSzPct val="150000"/>
              <a:defRPr/>
            </a:pPr>
            <a:r>
              <a:rPr lang="en-US" b="1" dirty="0">
                <a:cs typeface="+mn-cs"/>
              </a:rPr>
              <a:t>Write down your answer.</a:t>
            </a:r>
          </a:p>
        </p:txBody>
      </p:sp>
      <p:pic>
        <p:nvPicPr>
          <p:cNvPr id="38917" name="Picture 8" descr="MCj022997300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127000"/>
            <a:ext cx="1817688" cy="177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4634" name="Rectangle 10"/>
          <p:cNvSpPr>
            <a:spLocks noChangeArrowheads="1"/>
          </p:cNvSpPr>
          <p:nvPr/>
        </p:nvSpPr>
        <p:spPr bwMode="auto">
          <a:xfrm>
            <a:off x="457200" y="1981200"/>
            <a:ext cx="8229600"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buSzPct val="150000"/>
              <a:buFontTx/>
              <a:buChar char="•"/>
              <a:defRPr/>
            </a:pPr>
            <a:endParaRPr lang="en-US" sz="2400" dirty="0">
              <a:solidFill>
                <a:srgbClr val="CC3300"/>
              </a:solidFill>
              <a:cs typeface="+mn-cs"/>
            </a:endParaRPr>
          </a:p>
          <a:p>
            <a:pPr marL="342900" indent="-342900">
              <a:spcBef>
                <a:spcPct val="20000"/>
              </a:spcBef>
              <a:buSzPct val="150000"/>
              <a:buFontTx/>
              <a:buChar char="•"/>
              <a:defRPr/>
            </a:pPr>
            <a:endParaRPr lang="en-US" sz="2400" dirty="0">
              <a:solidFill>
                <a:srgbClr val="CC3300"/>
              </a:solidFill>
              <a:cs typeface="+mn-cs"/>
            </a:endParaRPr>
          </a:p>
          <a:p>
            <a:pPr marL="342900" indent="-342900">
              <a:spcBef>
                <a:spcPct val="20000"/>
              </a:spcBef>
              <a:buSzPct val="150000"/>
              <a:buFontTx/>
              <a:buChar char="•"/>
              <a:defRPr/>
            </a:pPr>
            <a:endParaRPr lang="en-US" sz="2400" dirty="0">
              <a:solidFill>
                <a:srgbClr val="CC3300"/>
              </a:solidFill>
              <a:cs typeface="+mn-cs"/>
            </a:endParaRPr>
          </a:p>
          <a:p>
            <a:pPr marL="342900" indent="-342900">
              <a:spcBef>
                <a:spcPct val="20000"/>
              </a:spcBef>
              <a:buSzPct val="150000"/>
              <a:buFontTx/>
              <a:buChar char="•"/>
              <a:defRPr/>
            </a:pPr>
            <a:endParaRPr lang="en-US" sz="2400" dirty="0">
              <a:solidFill>
                <a:srgbClr val="CC3300"/>
              </a:solidFill>
              <a:cs typeface="+mn-cs"/>
            </a:endParaRPr>
          </a:p>
          <a:p>
            <a:pPr marL="342900" indent="-342900">
              <a:spcBef>
                <a:spcPct val="20000"/>
              </a:spcBef>
              <a:buSzPct val="150000"/>
              <a:buFontTx/>
              <a:buChar char="•"/>
              <a:defRPr/>
            </a:pPr>
            <a:endParaRPr lang="en-US" sz="2400" dirty="0">
              <a:solidFill>
                <a:srgbClr val="CC3300"/>
              </a:solidFill>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76200" y="457200"/>
            <a:ext cx="8229600" cy="944563"/>
          </a:xfrm>
        </p:spPr>
        <p:txBody>
          <a:bodyPr/>
          <a:lstStyle/>
          <a:p>
            <a:pPr eaLnBrk="1" hangingPunct="1">
              <a:defRPr/>
            </a:pPr>
            <a:r>
              <a:rPr lang="en-US" sz="3600" b="1" dirty="0">
                <a:solidFill>
                  <a:schemeClr val="accent2"/>
                </a:solidFill>
                <a:cs typeface="+mj-cs"/>
              </a:rPr>
              <a:t>Bounded Rationality: </a:t>
            </a:r>
            <a:br>
              <a:rPr lang="en-US" sz="3600" b="1" dirty="0">
                <a:solidFill>
                  <a:schemeClr val="accent2"/>
                </a:solidFill>
                <a:cs typeface="+mj-cs"/>
              </a:rPr>
            </a:br>
            <a:r>
              <a:rPr lang="en-US" sz="3600" b="1" dirty="0">
                <a:solidFill>
                  <a:schemeClr val="accent2"/>
                </a:solidFill>
                <a:cs typeface="+mj-cs"/>
              </a:rPr>
              <a:t>Thinking Is Costly</a:t>
            </a:r>
          </a:p>
        </p:txBody>
      </p:sp>
      <p:sp>
        <p:nvSpPr>
          <p:cNvPr id="154627" name="Rectangle 3"/>
          <p:cNvSpPr>
            <a:spLocks noGrp="1" noChangeArrowheads="1"/>
          </p:cNvSpPr>
          <p:nvPr>
            <p:ph type="body" idx="1"/>
          </p:nvPr>
        </p:nvSpPr>
        <p:spPr>
          <a:xfrm>
            <a:off x="457200" y="2027238"/>
            <a:ext cx="8229600" cy="4525962"/>
          </a:xfrm>
        </p:spPr>
        <p:txBody>
          <a:bodyPr/>
          <a:lstStyle/>
          <a:p>
            <a:pPr eaLnBrk="1" hangingPunct="1">
              <a:buSzPct val="150000"/>
              <a:defRPr/>
            </a:pPr>
            <a:r>
              <a:rPr lang="en-US" b="1" dirty="0">
                <a:cs typeface="+mn-cs"/>
              </a:rPr>
              <a:t>A baseball and bat together cost $11. The bat costs $10 more than the ball. How much does the ball cost?</a:t>
            </a:r>
            <a:r>
              <a:rPr lang="en-US" dirty="0">
                <a:cs typeface="+mn-cs"/>
              </a:rPr>
              <a:t> </a:t>
            </a:r>
          </a:p>
          <a:p>
            <a:pPr eaLnBrk="1" hangingPunct="1">
              <a:buSzPct val="150000"/>
              <a:defRPr/>
            </a:pPr>
            <a:r>
              <a:rPr lang="en-US" b="1" dirty="0">
                <a:cs typeface="+mn-cs"/>
              </a:rPr>
              <a:t>Write down your answer.</a:t>
            </a:r>
          </a:p>
        </p:txBody>
      </p:sp>
      <p:pic>
        <p:nvPicPr>
          <p:cNvPr id="38917" name="Picture 8" descr="MCj022997300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127000"/>
            <a:ext cx="1817688" cy="177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4634" name="Rectangle 10"/>
          <p:cNvSpPr>
            <a:spLocks noChangeArrowheads="1"/>
          </p:cNvSpPr>
          <p:nvPr/>
        </p:nvSpPr>
        <p:spPr bwMode="auto">
          <a:xfrm>
            <a:off x="457200" y="1981200"/>
            <a:ext cx="8229600"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buSzPct val="150000"/>
              <a:buFontTx/>
              <a:buChar char="•"/>
              <a:defRPr/>
            </a:pPr>
            <a:endParaRPr lang="en-US" sz="2400" dirty="0">
              <a:solidFill>
                <a:srgbClr val="CC3300"/>
              </a:solidFill>
              <a:cs typeface="+mn-cs"/>
            </a:endParaRPr>
          </a:p>
          <a:p>
            <a:pPr marL="342900" indent="-342900">
              <a:spcBef>
                <a:spcPct val="20000"/>
              </a:spcBef>
              <a:buSzPct val="150000"/>
              <a:buFontTx/>
              <a:buChar char="•"/>
              <a:defRPr/>
            </a:pPr>
            <a:endParaRPr lang="en-US" sz="2400" dirty="0">
              <a:solidFill>
                <a:srgbClr val="CC3300"/>
              </a:solidFill>
              <a:cs typeface="+mn-cs"/>
            </a:endParaRPr>
          </a:p>
          <a:p>
            <a:pPr marL="342900" indent="-342900">
              <a:spcBef>
                <a:spcPct val="20000"/>
              </a:spcBef>
              <a:buSzPct val="150000"/>
              <a:buFontTx/>
              <a:buChar char="•"/>
              <a:defRPr/>
            </a:pPr>
            <a:endParaRPr lang="en-US" sz="2400" dirty="0">
              <a:solidFill>
                <a:srgbClr val="CC3300"/>
              </a:solidFill>
              <a:cs typeface="+mn-cs"/>
            </a:endParaRPr>
          </a:p>
          <a:p>
            <a:pPr marL="342900" indent="-342900">
              <a:spcBef>
                <a:spcPct val="20000"/>
              </a:spcBef>
              <a:buSzPct val="150000"/>
              <a:buFontTx/>
              <a:buChar char="•"/>
              <a:defRPr/>
            </a:pPr>
            <a:endParaRPr lang="en-US" sz="2400" dirty="0">
              <a:solidFill>
                <a:srgbClr val="CC3300"/>
              </a:solidFill>
              <a:cs typeface="+mn-cs"/>
            </a:endParaRPr>
          </a:p>
          <a:p>
            <a:pPr marL="342900" indent="-342900">
              <a:spcBef>
                <a:spcPct val="20000"/>
              </a:spcBef>
              <a:buSzPct val="150000"/>
              <a:buFontTx/>
              <a:buChar char="•"/>
              <a:defRPr/>
            </a:pPr>
            <a:endParaRPr lang="en-US" sz="2400" dirty="0">
              <a:solidFill>
                <a:srgbClr val="CC3300"/>
              </a:solidFill>
              <a:cs typeface="+mn-cs"/>
            </a:endParaRPr>
          </a:p>
          <a:p>
            <a:pPr marL="342900" indent="-342900">
              <a:spcBef>
                <a:spcPct val="20000"/>
              </a:spcBef>
              <a:buSzPct val="150000"/>
              <a:buFontTx/>
              <a:buChar char="•"/>
              <a:defRPr/>
            </a:pPr>
            <a:r>
              <a:rPr lang="en-US" sz="2400" dirty="0">
                <a:solidFill>
                  <a:srgbClr val="CC3300"/>
                </a:solidFill>
                <a:cs typeface="+mn-cs"/>
              </a:rPr>
              <a:t>Half of Harvard students said $1, which is the intuitive answer but wrong! </a:t>
            </a:r>
          </a:p>
          <a:p>
            <a:pPr marL="342900" indent="-342900">
              <a:spcBef>
                <a:spcPct val="20000"/>
              </a:spcBef>
              <a:buSzPct val="150000"/>
              <a:buFontTx/>
              <a:buChar char="•"/>
              <a:defRPr/>
            </a:pPr>
            <a:r>
              <a:rPr lang="en-US" sz="2400" dirty="0">
                <a:solidFill>
                  <a:srgbClr val="CC3300"/>
                </a:solidFill>
                <a:cs typeface="+mn-cs"/>
              </a:rPr>
              <a:t>Correct answer is 50 cents: $10.50-$.50 = $10.00 </a:t>
            </a:r>
          </a:p>
          <a:p>
            <a:pPr marL="342900" indent="-342900">
              <a:spcBef>
                <a:spcPct val="20000"/>
              </a:spcBef>
              <a:buSzPct val="150000"/>
              <a:buFontTx/>
              <a:buChar char="•"/>
              <a:defRPr/>
            </a:pPr>
            <a:r>
              <a:rPr lang="en-US" sz="2400" dirty="0">
                <a:solidFill>
                  <a:srgbClr val="CC3300"/>
                </a:solidFill>
                <a:cs typeface="+mn-cs"/>
              </a:rPr>
              <a:t>People tend to use </a:t>
            </a:r>
            <a:r>
              <a:rPr lang="ja-JP" altLang="en-US" sz="2400" dirty="0">
                <a:solidFill>
                  <a:srgbClr val="CC3300"/>
                </a:solidFill>
                <a:latin typeface="Arial"/>
                <a:cs typeface="+mn-cs"/>
              </a:rPr>
              <a:t>“</a:t>
            </a:r>
            <a:r>
              <a:rPr lang="en-US" sz="2400" dirty="0">
                <a:solidFill>
                  <a:srgbClr val="CC3300"/>
                </a:solidFill>
                <a:cs typeface="+mn-cs"/>
              </a:rPr>
              <a:t>intuitive thinking</a:t>
            </a:r>
            <a:r>
              <a:rPr lang="ja-JP" altLang="en-US" sz="2400" dirty="0">
                <a:solidFill>
                  <a:srgbClr val="CC3300"/>
                </a:solidFill>
                <a:latin typeface="Arial"/>
                <a:cs typeface="+mn-cs"/>
              </a:rPr>
              <a:t>”</a:t>
            </a:r>
            <a:r>
              <a:rPr lang="en-US" sz="2400" dirty="0">
                <a:solidFill>
                  <a:srgbClr val="CC3300"/>
                </a:solidFill>
                <a:cs typeface="+mn-cs"/>
              </a:rPr>
              <a:t> or rules of thumb</a:t>
            </a:r>
          </a:p>
        </p:txBody>
      </p:sp>
    </p:spTree>
    <p:extLst>
      <p:ext uri="{BB962C8B-B14F-4D97-AF65-F5344CB8AC3E}">
        <p14:creationId xmlns:p14="http://schemas.microsoft.com/office/powerpoint/2010/main" val="1222504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4634">
                                            <p:txEl>
                                              <p:pRg st="5" end="5"/>
                                            </p:txEl>
                                          </p:spTgt>
                                        </p:tgtEl>
                                        <p:attrNameLst>
                                          <p:attrName>style.visibility</p:attrName>
                                        </p:attrNameLst>
                                      </p:cBhvr>
                                      <p:to>
                                        <p:strVal val="visible"/>
                                      </p:to>
                                    </p:set>
                                    <p:animEffect transition="in" filter="blinds(horizontal)">
                                      <p:cBhvr>
                                        <p:cTn id="7" dur="500"/>
                                        <p:tgtEl>
                                          <p:spTgt spid="154634">
                                            <p:txEl>
                                              <p:pRg st="5" end="5"/>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54634">
                                            <p:txEl>
                                              <p:pRg st="6" end="6"/>
                                            </p:txEl>
                                          </p:spTgt>
                                        </p:tgtEl>
                                        <p:attrNameLst>
                                          <p:attrName>style.visibility</p:attrName>
                                        </p:attrNameLst>
                                      </p:cBhvr>
                                      <p:to>
                                        <p:strVal val="visible"/>
                                      </p:to>
                                    </p:set>
                                    <p:animEffect transition="in" filter="blinds(horizontal)">
                                      <p:cBhvr>
                                        <p:cTn id="10" dur="500"/>
                                        <p:tgtEl>
                                          <p:spTgt spid="154634">
                                            <p:txEl>
                                              <p:pRg st="6" end="6"/>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54634">
                                            <p:txEl>
                                              <p:pRg st="7" end="7"/>
                                            </p:txEl>
                                          </p:spTgt>
                                        </p:tgtEl>
                                        <p:attrNameLst>
                                          <p:attrName>style.visibility</p:attrName>
                                        </p:attrNameLst>
                                      </p:cBhvr>
                                      <p:to>
                                        <p:strVal val="visible"/>
                                      </p:to>
                                    </p:set>
                                    <p:animEffect transition="in" filter="blinds(horizontal)">
                                      <p:cBhvr>
                                        <p:cTn id="13" dur="500"/>
                                        <p:tgtEl>
                                          <p:spTgt spid="15463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34"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Implications of Behavioral Economics for the Entrepreneur</a:t>
            </a:r>
          </a:p>
        </p:txBody>
      </p:sp>
      <p:sp>
        <p:nvSpPr>
          <p:cNvPr id="3" name="Content Placeholder 2"/>
          <p:cNvSpPr>
            <a:spLocks noGrp="1"/>
          </p:cNvSpPr>
          <p:nvPr>
            <p:ph idx="1"/>
          </p:nvPr>
        </p:nvSpPr>
        <p:spPr/>
        <p:txBody>
          <a:bodyPr/>
          <a:lstStyle/>
          <a:p>
            <a:r>
              <a:rPr lang="en-US" dirty="0"/>
              <a:t>Getting someone to try your product is much more difficult than you think (status quo bias)</a:t>
            </a:r>
          </a:p>
          <a:p>
            <a:pPr lvl="1"/>
            <a:r>
              <a:rPr lang="en-US" dirty="0"/>
              <a:t>“If only 1% of Chinese households try our product our revenues will be…”</a:t>
            </a:r>
          </a:p>
          <a:p>
            <a:r>
              <a:rPr lang="en-US" dirty="0"/>
              <a:t>Another choice for consumers does not always add value.</a:t>
            </a:r>
          </a:p>
          <a:p>
            <a:r>
              <a:rPr lang="en-US" dirty="0"/>
              <a:t>Payoff needs to be immediate</a:t>
            </a:r>
          </a:p>
          <a:p>
            <a:pPr lvl="1"/>
            <a:r>
              <a:rPr lang="en-US" dirty="0"/>
              <a:t>“Over 3 years our product will save consumers $$...”</a:t>
            </a:r>
          </a:p>
          <a:p>
            <a:r>
              <a:rPr lang="en-US" dirty="0"/>
              <a:t>Benefits have to be obvious</a:t>
            </a:r>
          </a:p>
          <a:p>
            <a:endParaRPr lang="en-US" dirty="0"/>
          </a:p>
        </p:txBody>
      </p:sp>
    </p:spTree>
    <p:extLst>
      <p:ext uri="{BB962C8B-B14F-4D97-AF65-F5344CB8AC3E}">
        <p14:creationId xmlns:p14="http://schemas.microsoft.com/office/powerpoint/2010/main" val="21415713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What determines whether a new product/start-up will be successful?</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9516484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Power of Pain</a:t>
            </a:r>
          </a:p>
        </p:txBody>
      </p:sp>
      <p:sp>
        <p:nvSpPr>
          <p:cNvPr id="3" name="Subtitle 2"/>
          <p:cNvSpPr>
            <a:spLocks noGrp="1"/>
          </p:cNvSpPr>
          <p:nvPr>
            <p:ph type="subTitle" idx="1"/>
          </p:nvPr>
        </p:nvSpPr>
        <p:spPr/>
        <p:txBody>
          <a:bodyPr/>
          <a:lstStyle/>
          <a:p>
            <a:r>
              <a:rPr lang="en-US" dirty="0"/>
              <a:t>Why the brightest innovations grow out of the darkest emotions!</a:t>
            </a:r>
          </a:p>
          <a:p>
            <a:r>
              <a:rPr lang="en-US" dirty="0"/>
              <a:t>This portion of the talk drawn from lectures by Chris O’Leary (www.chrisoleary.com)</a:t>
            </a:r>
          </a:p>
        </p:txBody>
      </p:sp>
    </p:spTree>
    <p:extLst>
      <p:ext uri="{BB962C8B-B14F-4D97-AF65-F5344CB8AC3E}">
        <p14:creationId xmlns:p14="http://schemas.microsoft.com/office/powerpoint/2010/main" val="20019668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What’s the Difference?</a:t>
            </a:r>
          </a:p>
        </p:txBody>
      </p:sp>
      <p:sp>
        <p:nvSpPr>
          <p:cNvPr id="3" name="Content Placeholder 2"/>
          <p:cNvSpPr>
            <a:spLocks noGrp="1"/>
          </p:cNvSpPr>
          <p:nvPr>
            <p:ph sz="half" idx="1"/>
          </p:nvPr>
        </p:nvSpPr>
        <p:spPr/>
        <p:txBody>
          <a:bodyPr/>
          <a:lstStyle/>
          <a:p>
            <a:pPr marL="0" indent="0">
              <a:buNone/>
            </a:pPr>
            <a:r>
              <a:rPr lang="en-US" dirty="0"/>
              <a:t>Necessary (but not sufficient) characteristics of successful innovators:</a:t>
            </a:r>
          </a:p>
          <a:p>
            <a:r>
              <a:rPr lang="en-US" sz="2400" dirty="0"/>
              <a:t>Creative</a:t>
            </a:r>
          </a:p>
          <a:p>
            <a:r>
              <a:rPr lang="en-US" sz="2400" dirty="0"/>
              <a:t>Risk-takers</a:t>
            </a:r>
          </a:p>
          <a:p>
            <a:r>
              <a:rPr lang="en-US" sz="2400" dirty="0"/>
              <a:t>Problem-solvers</a:t>
            </a:r>
          </a:p>
        </p:txBody>
      </p:sp>
      <p:sp>
        <p:nvSpPr>
          <p:cNvPr id="4" name="Content Placeholder 3"/>
          <p:cNvSpPr>
            <a:spLocks noGrp="1"/>
          </p:cNvSpPr>
          <p:nvPr>
            <p:ph sz="half" idx="2"/>
          </p:nvPr>
        </p:nvSpPr>
        <p:spPr/>
        <p:txBody>
          <a:bodyPr/>
          <a:lstStyle/>
          <a:p>
            <a:pPr marL="0" indent="0">
              <a:buNone/>
            </a:pPr>
            <a:r>
              <a:rPr lang="en-US" dirty="0"/>
              <a:t>Distinguishing characteristics of successful (vs. unsuccessful) innovators:</a:t>
            </a:r>
          </a:p>
          <a:p>
            <a:r>
              <a:rPr lang="en-US" sz="2400" dirty="0"/>
              <a:t>Significant personal familiarity with both the problem and the stare of the art.</a:t>
            </a:r>
          </a:p>
          <a:p>
            <a:r>
              <a:rPr lang="en-US" sz="2400" dirty="0"/>
              <a:t>Solved a problem that was causing large numbers of people significant amounts of pain.</a:t>
            </a:r>
          </a:p>
        </p:txBody>
      </p:sp>
    </p:spTree>
    <p:extLst>
      <p:ext uri="{BB962C8B-B14F-4D97-AF65-F5344CB8AC3E}">
        <p14:creationId xmlns:p14="http://schemas.microsoft.com/office/powerpoint/2010/main" val="28496231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Power of Pain</a:t>
            </a:r>
          </a:p>
        </p:txBody>
      </p:sp>
      <p:sp>
        <p:nvSpPr>
          <p:cNvPr id="3" name="Subtitle 2"/>
          <p:cNvSpPr>
            <a:spLocks noGrp="1"/>
          </p:cNvSpPr>
          <p:nvPr>
            <p:ph type="subTitle" idx="1"/>
          </p:nvPr>
        </p:nvSpPr>
        <p:spPr/>
        <p:txBody>
          <a:bodyPr/>
          <a:lstStyle/>
          <a:p>
            <a:r>
              <a:rPr lang="en-US" dirty="0"/>
              <a:t>If you want to improve your ability to generate, evaluate, and communicate ideas for innovations you must put pain at the center of your efforts!</a:t>
            </a:r>
          </a:p>
        </p:txBody>
      </p:sp>
    </p:spTree>
    <p:extLst>
      <p:ext uri="{BB962C8B-B14F-4D97-AF65-F5344CB8AC3E}">
        <p14:creationId xmlns:p14="http://schemas.microsoft.com/office/powerpoint/2010/main" val="1696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Pain?</a:t>
            </a:r>
          </a:p>
        </p:txBody>
      </p:sp>
      <p:sp>
        <p:nvSpPr>
          <p:cNvPr id="3" name="Content Placeholder 2"/>
          <p:cNvSpPr>
            <a:spLocks noGrp="1"/>
          </p:cNvSpPr>
          <p:nvPr>
            <p:ph idx="1"/>
          </p:nvPr>
        </p:nvSpPr>
        <p:spPr/>
        <p:txBody>
          <a:bodyPr/>
          <a:lstStyle/>
          <a:p>
            <a:r>
              <a:rPr lang="en-US" dirty="0"/>
              <a:t>Change makes or breaks innovations.</a:t>
            </a:r>
          </a:p>
          <a:p>
            <a:r>
              <a:rPr lang="en-US" dirty="0"/>
              <a:t>If people change and adopt your innovation, then you will be successful.  If they don’t, you won’t.</a:t>
            </a:r>
          </a:p>
          <a:p>
            <a:r>
              <a:rPr lang="en-US" dirty="0"/>
              <a:t>Most people hate to change, and will not change without a good reason</a:t>
            </a:r>
          </a:p>
          <a:p>
            <a:r>
              <a:rPr lang="en-US" dirty="0"/>
              <a:t>Only the existence of significant amounts of physical or psychic pain will consistently drive people to change.</a:t>
            </a:r>
          </a:p>
        </p:txBody>
      </p:sp>
    </p:spTree>
    <p:extLst>
      <p:ext uri="{BB962C8B-B14F-4D97-AF65-F5344CB8AC3E}">
        <p14:creationId xmlns:p14="http://schemas.microsoft.com/office/powerpoint/2010/main" val="28670900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“All experience hath shown, that mankind are more disposed to suffer, while evils are sufferable, than to right themselves by abolishing the forms to which they are accustomed.”</a:t>
            </a:r>
            <a:br>
              <a:rPr lang="en-US" dirty="0"/>
            </a:br>
            <a:r>
              <a:rPr lang="en-US" i="1" dirty="0"/>
              <a:t>The Declaration of Independence</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4592189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Limits of Pleasing People</a:t>
            </a:r>
          </a:p>
        </p:txBody>
      </p:sp>
      <p:sp>
        <p:nvSpPr>
          <p:cNvPr id="3" name="Content Placeholder 2"/>
          <p:cNvSpPr>
            <a:spLocks noGrp="1"/>
          </p:cNvSpPr>
          <p:nvPr>
            <p:ph idx="1"/>
          </p:nvPr>
        </p:nvSpPr>
        <p:spPr/>
        <p:txBody>
          <a:bodyPr/>
          <a:lstStyle/>
          <a:p>
            <a:r>
              <a:rPr lang="en-US" dirty="0"/>
              <a:t>Less pain = less reason to change</a:t>
            </a:r>
          </a:p>
          <a:p>
            <a:pPr lvl="1"/>
            <a:r>
              <a:rPr lang="en-US" dirty="0"/>
              <a:t>Pain = Must-have</a:t>
            </a:r>
          </a:p>
          <a:p>
            <a:pPr lvl="1"/>
            <a:r>
              <a:rPr lang="en-US" dirty="0"/>
              <a:t>Pleasure = Nice-to-have</a:t>
            </a:r>
          </a:p>
          <a:p>
            <a:pPr lvl="1"/>
            <a:endParaRPr lang="en-US" dirty="0"/>
          </a:p>
          <a:p>
            <a:r>
              <a:rPr lang="en-US" dirty="0"/>
              <a:t>Pain = High priority</a:t>
            </a:r>
          </a:p>
          <a:p>
            <a:r>
              <a:rPr lang="en-US" dirty="0"/>
              <a:t>Pleasure = Low priority</a:t>
            </a:r>
          </a:p>
        </p:txBody>
      </p:sp>
    </p:spTree>
    <p:extLst>
      <p:ext uri="{BB962C8B-B14F-4D97-AF65-F5344CB8AC3E}">
        <p14:creationId xmlns:p14="http://schemas.microsoft.com/office/powerpoint/2010/main" val="35845801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Problem with Being Pleasure-Driven</a:t>
            </a:r>
          </a:p>
        </p:txBody>
      </p:sp>
      <p:sp>
        <p:nvSpPr>
          <p:cNvPr id="3" name="Content Placeholder 2"/>
          <p:cNvSpPr>
            <a:spLocks noGrp="1"/>
          </p:cNvSpPr>
          <p:nvPr>
            <p:ph idx="1"/>
          </p:nvPr>
        </p:nvSpPr>
        <p:spPr/>
        <p:txBody>
          <a:bodyPr/>
          <a:lstStyle/>
          <a:p>
            <a:r>
              <a:rPr lang="en-US" dirty="0"/>
              <a:t>Risky</a:t>
            </a:r>
          </a:p>
          <a:p>
            <a:r>
              <a:rPr lang="en-US" dirty="0"/>
              <a:t>No good reason for the customer to prefer your product/service over another one.</a:t>
            </a:r>
          </a:p>
          <a:p>
            <a:r>
              <a:rPr lang="en-US" dirty="0"/>
              <a:t>Success = Luck</a:t>
            </a:r>
          </a:p>
          <a:p>
            <a:r>
              <a:rPr lang="en-US" dirty="0"/>
              <a:t>Lower margins and profits</a:t>
            </a:r>
          </a:p>
          <a:p>
            <a:r>
              <a:rPr lang="en-US" dirty="0"/>
              <a:t>Lower odds of being successful</a:t>
            </a:r>
          </a:p>
        </p:txBody>
      </p:sp>
    </p:spTree>
    <p:extLst>
      <p:ext uri="{BB962C8B-B14F-4D97-AF65-F5344CB8AC3E}">
        <p14:creationId xmlns:p14="http://schemas.microsoft.com/office/powerpoint/2010/main" val="12255462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Benefits of Being Pain-Driven</a:t>
            </a:r>
          </a:p>
        </p:txBody>
      </p:sp>
      <p:sp>
        <p:nvSpPr>
          <p:cNvPr id="3" name="Content Placeholder 2"/>
          <p:cNvSpPr>
            <a:spLocks noGrp="1"/>
          </p:cNvSpPr>
          <p:nvPr>
            <p:ph idx="1"/>
          </p:nvPr>
        </p:nvSpPr>
        <p:spPr/>
        <p:txBody>
          <a:bodyPr/>
          <a:lstStyle/>
          <a:p>
            <a:r>
              <a:rPr lang="en-US" dirty="0"/>
              <a:t>Harder for the customer to walk away from the sale.</a:t>
            </a:r>
          </a:p>
          <a:p>
            <a:r>
              <a:rPr lang="en-US" dirty="0"/>
              <a:t>Shorter sales cycle</a:t>
            </a:r>
          </a:p>
          <a:p>
            <a:r>
              <a:rPr lang="en-US" dirty="0"/>
              <a:t>Greater word of mouth</a:t>
            </a:r>
          </a:p>
          <a:p>
            <a:r>
              <a:rPr lang="en-US" dirty="0"/>
              <a:t>Lower levels of sales and marketing expenses</a:t>
            </a:r>
          </a:p>
          <a:p>
            <a:r>
              <a:rPr lang="en-US" dirty="0"/>
              <a:t>Higher margins!</a:t>
            </a:r>
          </a:p>
          <a:p>
            <a:r>
              <a:rPr lang="en-US" dirty="0"/>
              <a:t>Larger profits!</a:t>
            </a:r>
          </a:p>
          <a:p>
            <a:r>
              <a:rPr lang="en-US" dirty="0"/>
              <a:t>Improved odds of succeeding</a:t>
            </a:r>
          </a:p>
        </p:txBody>
      </p:sp>
    </p:spTree>
    <p:extLst>
      <p:ext uri="{BB962C8B-B14F-4D97-AF65-F5344CB8AC3E}">
        <p14:creationId xmlns:p14="http://schemas.microsoft.com/office/powerpoint/2010/main" val="14580180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Right Path?</a:t>
            </a:r>
          </a:p>
        </p:txBody>
      </p:sp>
      <p:pic>
        <p:nvPicPr>
          <p:cNvPr id="4" name="Content Placeholder 3"/>
          <p:cNvPicPr>
            <a:picLocks noGrp="1" noChangeAspect="1"/>
          </p:cNvPicPr>
          <p:nvPr>
            <p:ph idx="1"/>
          </p:nvPr>
        </p:nvPicPr>
        <p:blipFill>
          <a:blip r:embed="rId2"/>
          <a:srcRect t="-23306" b="-23306"/>
          <a:stretch>
            <a:fillRect/>
          </a:stretch>
        </p:blipFill>
        <p:spPr/>
      </p:pic>
    </p:spTree>
    <p:extLst>
      <p:ext uri="{BB962C8B-B14F-4D97-AF65-F5344CB8AC3E}">
        <p14:creationId xmlns:p14="http://schemas.microsoft.com/office/powerpoint/2010/main" val="11031434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Case Study</a:t>
            </a:r>
          </a:p>
        </p:txBody>
      </p:sp>
      <p:sp>
        <p:nvSpPr>
          <p:cNvPr id="3" name="Subtitle 2"/>
          <p:cNvSpPr>
            <a:spLocks noGrp="1"/>
          </p:cNvSpPr>
          <p:nvPr>
            <p:ph type="subTitle" idx="1"/>
          </p:nvPr>
        </p:nvSpPr>
        <p:spPr/>
        <p:txBody>
          <a:bodyPr/>
          <a:lstStyle/>
          <a:p>
            <a:r>
              <a:rPr lang="en-US" dirty="0"/>
              <a:t>The Story of Howard Head</a:t>
            </a:r>
          </a:p>
        </p:txBody>
      </p:sp>
    </p:spTree>
    <p:extLst>
      <p:ext uri="{BB962C8B-B14F-4D97-AF65-F5344CB8AC3E}">
        <p14:creationId xmlns:p14="http://schemas.microsoft.com/office/powerpoint/2010/main" val="7917458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Takeaways for Entrepreneurs</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4015716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Purpose of Pain is to Drive Change</a:t>
            </a:r>
          </a:p>
        </p:txBody>
      </p:sp>
      <p:sp>
        <p:nvSpPr>
          <p:cNvPr id="3" name="Content Placeholder 2"/>
          <p:cNvSpPr>
            <a:spLocks noGrp="1"/>
          </p:cNvSpPr>
          <p:nvPr>
            <p:ph idx="1"/>
          </p:nvPr>
        </p:nvSpPr>
        <p:spPr/>
        <p:txBody>
          <a:bodyPr/>
          <a:lstStyle/>
          <a:p>
            <a:r>
              <a:rPr lang="en-US" dirty="0"/>
              <a:t>Pain is a blessing, not a curse</a:t>
            </a:r>
          </a:p>
        </p:txBody>
      </p:sp>
    </p:spTree>
    <p:extLst>
      <p:ext uri="{BB962C8B-B14F-4D97-AF65-F5344CB8AC3E}">
        <p14:creationId xmlns:p14="http://schemas.microsoft.com/office/powerpoint/2010/main" val="25360994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Don’t Take Customer Change for Granted</a:t>
            </a:r>
          </a:p>
        </p:txBody>
      </p:sp>
      <p:sp>
        <p:nvSpPr>
          <p:cNvPr id="3" name="Content Placeholder 2"/>
          <p:cNvSpPr>
            <a:spLocks noGrp="1"/>
          </p:cNvSpPr>
          <p:nvPr>
            <p:ph idx="1"/>
          </p:nvPr>
        </p:nvSpPr>
        <p:spPr/>
        <p:txBody>
          <a:bodyPr/>
          <a:lstStyle/>
          <a:p>
            <a:r>
              <a:rPr lang="en-US" dirty="0"/>
              <a:t>Change is hard</a:t>
            </a:r>
          </a:p>
          <a:p>
            <a:pPr lvl="1"/>
            <a:r>
              <a:rPr lang="en-US" dirty="0"/>
              <a:t>Difficulty of organizational change</a:t>
            </a:r>
          </a:p>
          <a:p>
            <a:pPr lvl="1"/>
            <a:r>
              <a:rPr lang="en-US" dirty="0"/>
              <a:t>Personal change!</a:t>
            </a:r>
          </a:p>
          <a:p>
            <a:pPr lvl="1"/>
            <a:endParaRPr lang="en-US" dirty="0"/>
          </a:p>
          <a:p>
            <a:r>
              <a:rPr lang="en-US" dirty="0"/>
              <a:t>Status Quo bias</a:t>
            </a:r>
          </a:p>
        </p:txBody>
      </p:sp>
    </p:spTree>
    <p:extLst>
      <p:ext uri="{BB962C8B-B14F-4D97-AF65-F5344CB8AC3E}">
        <p14:creationId xmlns:p14="http://schemas.microsoft.com/office/powerpoint/2010/main" val="20049930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Satisficing vs. Optimizing</a:t>
            </a:r>
          </a:p>
        </p:txBody>
      </p:sp>
      <p:sp>
        <p:nvSpPr>
          <p:cNvPr id="3" name="Content Placeholder 2"/>
          <p:cNvSpPr>
            <a:spLocks noGrp="1"/>
          </p:cNvSpPr>
          <p:nvPr>
            <p:ph idx="1"/>
          </p:nvPr>
        </p:nvSpPr>
        <p:spPr/>
        <p:txBody>
          <a:bodyPr/>
          <a:lstStyle/>
          <a:p>
            <a:r>
              <a:rPr lang="en-US" dirty="0"/>
              <a:t>What is the best?</a:t>
            </a:r>
          </a:p>
          <a:p>
            <a:r>
              <a:rPr lang="en-US" dirty="0"/>
              <a:t>What is “good enough”?</a:t>
            </a:r>
          </a:p>
          <a:p>
            <a:r>
              <a:rPr lang="en-US" dirty="0"/>
              <a:t>How important are switching costs?</a:t>
            </a:r>
          </a:p>
          <a:p>
            <a:pPr lvl="1"/>
            <a:endParaRPr lang="en-US" dirty="0"/>
          </a:p>
        </p:txBody>
      </p:sp>
    </p:spTree>
    <p:extLst>
      <p:ext uri="{BB962C8B-B14F-4D97-AF65-F5344CB8AC3E}">
        <p14:creationId xmlns:p14="http://schemas.microsoft.com/office/powerpoint/2010/main" val="35149792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Transitional Pain</a:t>
            </a:r>
          </a:p>
        </p:txBody>
      </p:sp>
      <p:pic>
        <p:nvPicPr>
          <p:cNvPr id="4" name="Content Placeholder 3"/>
          <p:cNvPicPr>
            <a:picLocks noGrp="1" noChangeAspect="1"/>
          </p:cNvPicPr>
          <p:nvPr>
            <p:ph idx="1"/>
          </p:nvPr>
        </p:nvPicPr>
        <p:blipFill>
          <a:blip r:embed="rId2"/>
          <a:srcRect t="-6675" b="-6675"/>
          <a:stretch>
            <a:fillRect/>
          </a:stretch>
        </p:blipFill>
        <p:spPr/>
      </p:pic>
    </p:spTree>
    <p:extLst>
      <p:ext uri="{BB962C8B-B14F-4D97-AF65-F5344CB8AC3E}">
        <p14:creationId xmlns:p14="http://schemas.microsoft.com/office/powerpoint/2010/main" val="2256114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Prospect Theory</a:t>
            </a:r>
          </a:p>
        </p:txBody>
      </p:sp>
      <p:sp>
        <p:nvSpPr>
          <p:cNvPr id="3" name="Content Placeholder 2"/>
          <p:cNvSpPr>
            <a:spLocks noGrp="1"/>
          </p:cNvSpPr>
          <p:nvPr>
            <p:ph idx="1"/>
          </p:nvPr>
        </p:nvSpPr>
        <p:spPr/>
        <p:txBody>
          <a:bodyPr/>
          <a:lstStyle/>
          <a:p>
            <a:r>
              <a:rPr lang="en-US" dirty="0"/>
              <a:t>Kahneman and Tversky</a:t>
            </a:r>
          </a:p>
          <a:p>
            <a:r>
              <a:rPr lang="en-US" dirty="0"/>
              <a:t>Consider 2 payment schemes:</a:t>
            </a:r>
          </a:p>
          <a:p>
            <a:pPr marL="971550" lvl="1" indent="-514350">
              <a:buFont typeface="+mj-lt"/>
              <a:buAutoNum type="arabicPeriod"/>
            </a:pPr>
            <a:r>
              <a:rPr lang="en-US" dirty="0"/>
              <a:t>Pay you $90 plus a 50% chance of winning $20</a:t>
            </a:r>
          </a:p>
          <a:p>
            <a:pPr marL="971550" lvl="1" indent="-514350">
              <a:buFont typeface="+mj-lt"/>
              <a:buAutoNum type="arabicPeriod"/>
            </a:pPr>
            <a:r>
              <a:rPr lang="en-US" dirty="0"/>
              <a:t>Pay you $110 plus a 50% chance of losing $20 </a:t>
            </a:r>
          </a:p>
          <a:p>
            <a:r>
              <a:rPr lang="en-US" dirty="0"/>
              <a:t>Which option would you choose?</a:t>
            </a:r>
          </a:p>
          <a:p>
            <a:endParaRPr lang="en-US" dirty="0"/>
          </a:p>
        </p:txBody>
      </p:sp>
    </p:spTree>
    <p:extLst>
      <p:ext uri="{BB962C8B-B14F-4D97-AF65-F5344CB8AC3E}">
        <p14:creationId xmlns:p14="http://schemas.microsoft.com/office/powerpoint/2010/main" val="31345321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Losses Loom Larger Than Gains</a:t>
            </a:r>
          </a:p>
        </p:txBody>
      </p:sp>
      <p:sp>
        <p:nvSpPr>
          <p:cNvPr id="3" name="Content Placeholder 2"/>
          <p:cNvSpPr>
            <a:spLocks noGrp="1"/>
          </p:cNvSpPr>
          <p:nvPr>
            <p:ph idx="1"/>
          </p:nvPr>
        </p:nvSpPr>
        <p:spPr/>
        <p:txBody>
          <a:bodyPr/>
          <a:lstStyle/>
          <a:p>
            <a:r>
              <a:rPr lang="en-US" dirty="0"/>
              <a:t>People are risk seeking in the domain of losses</a:t>
            </a:r>
          </a:p>
          <a:p>
            <a:r>
              <a:rPr lang="en-US" dirty="0"/>
              <a:t>People are risk averse in the domain of gains</a:t>
            </a:r>
          </a:p>
          <a:p>
            <a:r>
              <a:rPr lang="en-US" dirty="0"/>
              <a:t>Relative changes often matter more than absolute values</a:t>
            </a:r>
          </a:p>
          <a:p>
            <a:r>
              <a:rPr lang="en-US" dirty="0"/>
              <a:t>Negativity effect</a:t>
            </a:r>
          </a:p>
          <a:p>
            <a:pPr lvl="1"/>
            <a:r>
              <a:rPr lang="en-US" dirty="0"/>
              <a:t>Assign more weight to negative information</a:t>
            </a:r>
          </a:p>
          <a:p>
            <a:pPr lvl="1"/>
            <a:r>
              <a:rPr lang="en-US" dirty="0"/>
              <a:t>If you do not like someone, attribute negative behaviors to the individual, positive behavior to the environment </a:t>
            </a:r>
          </a:p>
        </p:txBody>
      </p:sp>
    </p:spTree>
    <p:extLst>
      <p:ext uri="{BB962C8B-B14F-4D97-AF65-F5344CB8AC3E}">
        <p14:creationId xmlns:p14="http://schemas.microsoft.com/office/powerpoint/2010/main" val="31326201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Solving a Problem is Not Enough: How I Thought Change Worked</a:t>
            </a:r>
          </a:p>
        </p:txBody>
      </p:sp>
      <p:pic>
        <p:nvPicPr>
          <p:cNvPr id="4" name="Content Placeholder 3"/>
          <p:cNvPicPr>
            <a:picLocks noGrp="1" noChangeAspect="1"/>
          </p:cNvPicPr>
          <p:nvPr>
            <p:ph idx="1"/>
          </p:nvPr>
        </p:nvPicPr>
        <p:blipFill>
          <a:blip r:embed="rId2"/>
          <a:srcRect l="-1734" r="-1734"/>
          <a:stretch>
            <a:fillRect/>
          </a:stretch>
        </p:blipFill>
        <p:spPr/>
      </p:pic>
    </p:spTree>
    <p:extLst>
      <p:ext uri="{BB962C8B-B14F-4D97-AF65-F5344CB8AC3E}">
        <p14:creationId xmlns:p14="http://schemas.microsoft.com/office/powerpoint/2010/main" val="19550991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Solving a Problem is Not Enough: How Change Actually Works</a:t>
            </a:r>
          </a:p>
        </p:txBody>
      </p:sp>
      <p:pic>
        <p:nvPicPr>
          <p:cNvPr id="4" name="Content Placeholder 3"/>
          <p:cNvPicPr>
            <a:picLocks noGrp="1" noChangeAspect="1"/>
          </p:cNvPicPr>
          <p:nvPr>
            <p:ph idx="1"/>
          </p:nvPr>
        </p:nvPicPr>
        <p:blipFill>
          <a:blip r:embed="rId2"/>
          <a:srcRect l="-84" r="-84"/>
          <a:stretch>
            <a:fillRect/>
          </a:stretch>
        </p:blipFill>
        <p:spPr/>
      </p:pic>
    </p:spTree>
    <p:extLst>
      <p:ext uri="{BB962C8B-B14F-4D97-AF65-F5344CB8AC3E}">
        <p14:creationId xmlns:p14="http://schemas.microsoft.com/office/powerpoint/2010/main" val="1570261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Isn’t Solving a Problem Good Enough</a:t>
            </a:r>
          </a:p>
        </p:txBody>
      </p:sp>
      <p:sp>
        <p:nvSpPr>
          <p:cNvPr id="3" name="Content Placeholder 2"/>
          <p:cNvSpPr>
            <a:spLocks noGrp="1"/>
          </p:cNvSpPr>
          <p:nvPr>
            <p:ph idx="1"/>
          </p:nvPr>
        </p:nvSpPr>
        <p:spPr/>
        <p:txBody>
          <a:bodyPr/>
          <a:lstStyle/>
          <a:p>
            <a:r>
              <a:rPr lang="en-US" dirty="0"/>
              <a:t>Denial</a:t>
            </a:r>
          </a:p>
          <a:p>
            <a:r>
              <a:rPr lang="en-US" dirty="0"/>
              <a:t>Cognitive Dissonance:</a:t>
            </a:r>
          </a:p>
          <a:p>
            <a:pPr lvl="1"/>
            <a:r>
              <a:rPr lang="en-US" dirty="0"/>
              <a:t>People have a bias to seek consonance between their expectations and reality</a:t>
            </a:r>
          </a:p>
          <a:p>
            <a:r>
              <a:rPr lang="en-US" dirty="0"/>
              <a:t>Selective Exposure</a:t>
            </a:r>
          </a:p>
          <a:p>
            <a:pPr lvl="1"/>
            <a:r>
              <a:rPr lang="en-US" dirty="0"/>
              <a:t>Only choose information that is consistent with your choices</a:t>
            </a:r>
          </a:p>
          <a:p>
            <a:r>
              <a:rPr lang="en-US" dirty="0"/>
              <a:t>Defensiveness</a:t>
            </a:r>
          </a:p>
          <a:p>
            <a:r>
              <a:rPr lang="en-US" dirty="0"/>
              <a:t>Politics </a:t>
            </a:r>
          </a:p>
        </p:txBody>
      </p:sp>
    </p:spTree>
    <p:extLst>
      <p:ext uri="{BB962C8B-B14F-4D97-AF65-F5344CB8AC3E}">
        <p14:creationId xmlns:p14="http://schemas.microsoft.com/office/powerpoint/2010/main" val="28369859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There’s More to Innovation than Creativity</a:t>
            </a:r>
          </a:p>
        </p:txBody>
      </p:sp>
      <p:sp>
        <p:nvSpPr>
          <p:cNvPr id="3" name="Content Placeholder 2"/>
          <p:cNvSpPr>
            <a:spLocks noGrp="1"/>
          </p:cNvSpPr>
          <p:nvPr>
            <p:ph idx="1"/>
          </p:nvPr>
        </p:nvSpPr>
        <p:spPr/>
        <p:txBody>
          <a:bodyPr/>
          <a:lstStyle/>
          <a:p>
            <a:r>
              <a:rPr lang="en-US" dirty="0"/>
              <a:t>Creativity is important, but it is not enough</a:t>
            </a:r>
          </a:p>
          <a:p>
            <a:r>
              <a:rPr lang="en-US" dirty="0"/>
              <a:t>Not every problem is a good problem.</a:t>
            </a:r>
          </a:p>
          <a:p>
            <a:r>
              <a:rPr lang="en-US" dirty="0"/>
              <a:t>Strategy vs. tactics</a:t>
            </a:r>
          </a:p>
          <a:p>
            <a:r>
              <a:rPr lang="en-US" dirty="0"/>
              <a:t>Why vs. what &amp;how</a:t>
            </a:r>
          </a:p>
          <a:p>
            <a:r>
              <a:rPr lang="en-US" dirty="0"/>
              <a:t>Innovation = Find the problem</a:t>
            </a:r>
          </a:p>
          <a:p>
            <a:r>
              <a:rPr lang="en-US" dirty="0"/>
              <a:t>Creativity = Solve the problem</a:t>
            </a:r>
          </a:p>
        </p:txBody>
      </p:sp>
    </p:spTree>
    <p:extLst>
      <p:ext uri="{BB962C8B-B14F-4D97-AF65-F5344CB8AC3E}">
        <p14:creationId xmlns:p14="http://schemas.microsoft.com/office/powerpoint/2010/main" val="19300386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Get the Sequence Right</a:t>
            </a:r>
          </a:p>
        </p:txBody>
      </p:sp>
      <p:sp>
        <p:nvSpPr>
          <p:cNvPr id="3" name="Content Placeholder 2"/>
          <p:cNvSpPr>
            <a:spLocks noGrp="1"/>
          </p:cNvSpPr>
          <p:nvPr>
            <p:ph idx="1"/>
          </p:nvPr>
        </p:nvSpPr>
        <p:spPr/>
        <p:txBody>
          <a:bodyPr/>
          <a:lstStyle/>
          <a:p>
            <a:r>
              <a:rPr lang="en-US" dirty="0"/>
              <a:t>SISOAP:</a:t>
            </a:r>
          </a:p>
          <a:p>
            <a:pPr lvl="1"/>
            <a:r>
              <a:rPr lang="en-US" dirty="0"/>
              <a:t>The Solution </a:t>
            </a:r>
            <a:r>
              <a:rPr lang="en-US" dirty="0">
                <a:latin typeface="Wingdings"/>
                <a:ea typeface="Wingdings"/>
                <a:cs typeface="Wingdings"/>
                <a:sym typeface="Wingdings"/>
              </a:rPr>
              <a:t></a:t>
            </a:r>
            <a:r>
              <a:rPr lang="en-US" dirty="0">
                <a:sym typeface="Wingdings"/>
              </a:rPr>
              <a:t> The Problem (the Pain)</a:t>
            </a:r>
          </a:p>
          <a:p>
            <a:pPr lvl="1"/>
            <a:r>
              <a:rPr lang="en-US" dirty="0">
                <a:sym typeface="Wingdings"/>
              </a:rPr>
              <a:t>Confirmation bias</a:t>
            </a:r>
          </a:p>
          <a:p>
            <a:pPr lvl="1"/>
            <a:r>
              <a:rPr lang="en-US" dirty="0">
                <a:sym typeface="Wingdings"/>
              </a:rPr>
              <a:t>“Engineer-entrepreneurs”</a:t>
            </a:r>
          </a:p>
          <a:p>
            <a:pPr lvl="1"/>
            <a:r>
              <a:rPr lang="en-US" dirty="0">
                <a:sym typeface="Wingdings"/>
              </a:rPr>
              <a:t>Build It </a:t>
            </a:r>
            <a:r>
              <a:rPr lang="en-US" dirty="0">
                <a:latin typeface="Wingdings"/>
                <a:ea typeface="Wingdings"/>
                <a:cs typeface="Wingdings"/>
                <a:sym typeface="Wingdings"/>
              </a:rPr>
              <a:t></a:t>
            </a:r>
            <a:r>
              <a:rPr lang="en-US" dirty="0">
                <a:sym typeface="Wingdings"/>
              </a:rPr>
              <a:t> Sell It</a:t>
            </a:r>
          </a:p>
          <a:p>
            <a:r>
              <a:rPr lang="en-US" dirty="0">
                <a:sym typeface="Wingdings"/>
              </a:rPr>
              <a:t>If the existence of a painful problem is so important, put pain first, not last.</a:t>
            </a:r>
          </a:p>
          <a:p>
            <a:r>
              <a:rPr lang="en-US" dirty="0">
                <a:sym typeface="Wingdings"/>
              </a:rPr>
              <a:t>Pain-driven:</a:t>
            </a:r>
          </a:p>
          <a:p>
            <a:pPr lvl="1"/>
            <a:r>
              <a:rPr lang="en-US" dirty="0">
                <a:sym typeface="Wingdings"/>
              </a:rPr>
              <a:t>The Pain </a:t>
            </a:r>
            <a:r>
              <a:rPr lang="en-US" dirty="0">
                <a:latin typeface="Wingdings"/>
                <a:ea typeface="Wingdings"/>
                <a:cs typeface="Wingdings"/>
                <a:sym typeface="Wingdings"/>
              </a:rPr>
              <a:t></a:t>
            </a:r>
            <a:r>
              <a:rPr lang="en-US" dirty="0">
                <a:sym typeface="Wingdings"/>
              </a:rPr>
              <a:t> The Problem </a:t>
            </a:r>
            <a:r>
              <a:rPr lang="en-US" dirty="0">
                <a:latin typeface="Wingdings"/>
                <a:ea typeface="Wingdings"/>
                <a:cs typeface="Wingdings"/>
                <a:sym typeface="Wingdings"/>
              </a:rPr>
              <a:t></a:t>
            </a:r>
            <a:r>
              <a:rPr lang="en-US" dirty="0">
                <a:sym typeface="Wingdings"/>
              </a:rPr>
              <a:t> The Solution</a:t>
            </a:r>
          </a:p>
          <a:p>
            <a:pPr lvl="1"/>
            <a:r>
              <a:rPr lang="en-US" dirty="0">
                <a:sym typeface="Wingdings"/>
              </a:rPr>
              <a:t>Sell It </a:t>
            </a:r>
            <a:r>
              <a:rPr lang="en-US" dirty="0">
                <a:latin typeface="Wingdings"/>
                <a:ea typeface="Wingdings"/>
                <a:cs typeface="Wingdings"/>
                <a:sym typeface="Wingdings"/>
              </a:rPr>
              <a:t></a:t>
            </a:r>
            <a:r>
              <a:rPr lang="en-US" dirty="0">
                <a:sym typeface="Wingdings"/>
              </a:rPr>
              <a:t> Build It</a:t>
            </a:r>
          </a:p>
          <a:p>
            <a:pPr lvl="1"/>
            <a:endParaRPr lang="en-US" dirty="0">
              <a:sym typeface="Wingdings"/>
            </a:endParaRPr>
          </a:p>
        </p:txBody>
      </p:sp>
    </p:spTree>
    <p:extLst>
      <p:ext uri="{BB962C8B-B14F-4D97-AF65-F5344CB8AC3E}">
        <p14:creationId xmlns:p14="http://schemas.microsoft.com/office/powerpoint/2010/main" val="10766026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it is Important that Pain Focuses You on “Pull” Not “Push”</a:t>
            </a:r>
          </a:p>
        </p:txBody>
      </p:sp>
      <p:sp>
        <p:nvSpPr>
          <p:cNvPr id="3" name="Content Placeholder 2"/>
          <p:cNvSpPr>
            <a:spLocks noGrp="1"/>
          </p:cNvSpPr>
          <p:nvPr>
            <p:ph idx="1"/>
          </p:nvPr>
        </p:nvSpPr>
        <p:spPr/>
        <p:txBody>
          <a:bodyPr/>
          <a:lstStyle/>
          <a:p>
            <a:r>
              <a:rPr lang="en-US" dirty="0"/>
              <a:t>Overconfidence</a:t>
            </a:r>
          </a:p>
          <a:p>
            <a:pPr lvl="1"/>
            <a:r>
              <a:rPr lang="en-US" dirty="0"/>
              <a:t>Tend to believe that I can make people want my product.</a:t>
            </a:r>
          </a:p>
          <a:p>
            <a:r>
              <a:rPr lang="en-US" dirty="0"/>
              <a:t>Illusion of control</a:t>
            </a:r>
          </a:p>
          <a:p>
            <a:pPr lvl="1"/>
            <a:r>
              <a:rPr lang="en-US" dirty="0"/>
              <a:t>Tendency for people to over-estimate their ability to control events</a:t>
            </a:r>
          </a:p>
          <a:p>
            <a:r>
              <a:rPr lang="en-US" dirty="0"/>
              <a:t>The third person effect</a:t>
            </a:r>
          </a:p>
          <a:p>
            <a:pPr lvl="1"/>
            <a:r>
              <a:rPr lang="en-US" dirty="0"/>
              <a:t>Wait for someone else to do something (e.g., adopt a new product)</a:t>
            </a:r>
          </a:p>
          <a:p>
            <a:endParaRPr lang="en-US" dirty="0"/>
          </a:p>
        </p:txBody>
      </p:sp>
    </p:spTree>
    <p:extLst>
      <p:ext uri="{BB962C8B-B14F-4D97-AF65-F5344CB8AC3E}">
        <p14:creationId xmlns:p14="http://schemas.microsoft.com/office/powerpoint/2010/main" val="30790346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How Can I Use the Power of Pain to Generate Ideas?</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6670511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Can You Use the Power of Pain to Generate Ideas?</a:t>
            </a:r>
          </a:p>
        </p:txBody>
      </p:sp>
      <p:sp>
        <p:nvSpPr>
          <p:cNvPr id="3" name="Content Placeholder 2"/>
          <p:cNvSpPr>
            <a:spLocks noGrp="1"/>
          </p:cNvSpPr>
          <p:nvPr>
            <p:ph idx="1"/>
          </p:nvPr>
        </p:nvSpPr>
        <p:spPr/>
        <p:txBody>
          <a:bodyPr/>
          <a:lstStyle/>
          <a:p>
            <a:r>
              <a:rPr lang="en-US" dirty="0"/>
              <a:t>Cultivate Indignation!</a:t>
            </a:r>
          </a:p>
          <a:p>
            <a:pPr lvl="1"/>
            <a:r>
              <a:rPr lang="en-US" dirty="0"/>
              <a:t>What-a-Pita model of entrepreneurship!</a:t>
            </a:r>
          </a:p>
          <a:p>
            <a:r>
              <a:rPr lang="en-US" dirty="0"/>
              <a:t>Cues</a:t>
            </a:r>
          </a:p>
          <a:p>
            <a:r>
              <a:rPr lang="en-US" dirty="0"/>
              <a:t>Watchwords</a:t>
            </a:r>
          </a:p>
          <a:p>
            <a:r>
              <a:rPr lang="en-US" dirty="0"/>
              <a:t>Pluralistic Ignorance</a:t>
            </a:r>
          </a:p>
          <a:p>
            <a:pPr lvl="1"/>
            <a:r>
              <a:rPr lang="en-US" dirty="0"/>
              <a:t>Majority of group members privately reject a norm, but incorrectly assume that others accept it.</a:t>
            </a:r>
          </a:p>
        </p:txBody>
      </p:sp>
    </p:spTree>
    <p:extLst>
      <p:ext uri="{BB962C8B-B14F-4D97-AF65-F5344CB8AC3E}">
        <p14:creationId xmlns:p14="http://schemas.microsoft.com/office/powerpoint/2010/main" val="9347506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Simon Hall Doors!</a:t>
            </a:r>
          </a:p>
        </p:txBody>
      </p:sp>
      <p:pic>
        <p:nvPicPr>
          <p:cNvPr id="4" name="Picture 6" descr="WashULibraryDoors 010"/>
          <p:cNvPicPr>
            <a:picLocks noGrp="1" noChangeArrowheads="1"/>
          </p:cNvPicPr>
          <p:nvPr>
            <p:ph idx="1"/>
          </p:nvPr>
        </p:nvPicPr>
        <p:blipFill>
          <a:blip r:embed="rId2" cstate="print"/>
          <a:srcRect t="13336" b="13336"/>
          <a:stretch>
            <a:fillRect/>
          </a:stretch>
        </p:blipFill>
        <p:spPr bwMode="auto">
          <a:prstGeom prst="rect">
            <a:avLst/>
          </a:prstGeom>
          <a:noFill/>
          <a:ln w="9525">
            <a:noFill/>
            <a:miter lim="800000"/>
            <a:headEnd/>
            <a:tailEnd/>
          </a:ln>
        </p:spPr>
      </p:pic>
    </p:spTree>
    <p:extLst>
      <p:ext uri="{BB962C8B-B14F-4D97-AF65-F5344CB8AC3E}">
        <p14:creationId xmlns:p14="http://schemas.microsoft.com/office/powerpoint/2010/main" val="26731768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Simon Hall Doors!</a:t>
            </a:r>
          </a:p>
        </p:txBody>
      </p:sp>
      <p:pic>
        <p:nvPicPr>
          <p:cNvPr id="4" name="Content Placeholder 3" descr="WashULibraryDoors 011"/>
          <p:cNvPicPr>
            <a:picLocks noGrp="1" noChangeArrowheads="1"/>
          </p:cNvPicPr>
          <p:nvPr>
            <p:ph idx="1"/>
          </p:nvPr>
        </p:nvPicPr>
        <p:blipFill>
          <a:blip r:embed="rId2" cstate="print"/>
          <a:srcRect t="13336" b="13336"/>
          <a:stretch>
            <a:fillRect/>
          </a:stretch>
        </p:blipFill>
        <p:spPr bwMode="auto">
          <a:prstGeom prst="rect">
            <a:avLst/>
          </a:prstGeom>
          <a:noFill/>
        </p:spPr>
      </p:pic>
    </p:spTree>
    <p:extLst>
      <p:ext uri="{BB962C8B-B14F-4D97-AF65-F5344CB8AC3E}">
        <p14:creationId xmlns:p14="http://schemas.microsoft.com/office/powerpoint/2010/main" val="9074563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How Can I Use the Power of Pain to Evaluate Ideas?</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7838044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Ask The Three Questions</a:t>
            </a:r>
          </a:p>
        </p:txBody>
      </p:sp>
      <p:sp>
        <p:nvSpPr>
          <p:cNvPr id="3" name="Content Placeholder 2"/>
          <p:cNvSpPr>
            <a:spLocks noGrp="1"/>
          </p:cNvSpPr>
          <p:nvPr>
            <p:ph idx="1"/>
          </p:nvPr>
        </p:nvSpPr>
        <p:spPr/>
        <p:txBody>
          <a:bodyPr/>
          <a:lstStyle/>
          <a:p>
            <a:r>
              <a:rPr lang="en-US" dirty="0"/>
              <a:t>What problem does it solve?</a:t>
            </a:r>
          </a:p>
          <a:p>
            <a:r>
              <a:rPr lang="en-US" dirty="0"/>
              <a:t>What pain does it alleviate?</a:t>
            </a:r>
          </a:p>
          <a:p>
            <a:r>
              <a:rPr lang="en-US" dirty="0"/>
              <a:t>Who cares?</a:t>
            </a:r>
          </a:p>
        </p:txBody>
      </p:sp>
    </p:spTree>
    <p:extLst>
      <p:ext uri="{BB962C8B-B14F-4D97-AF65-F5344CB8AC3E}">
        <p14:creationId xmlns:p14="http://schemas.microsoft.com/office/powerpoint/2010/main" val="40499881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Case Study</a:t>
            </a:r>
          </a:p>
        </p:txBody>
      </p:sp>
      <p:sp>
        <p:nvSpPr>
          <p:cNvPr id="3" name="Subtitle 2"/>
          <p:cNvSpPr>
            <a:spLocks noGrp="1"/>
          </p:cNvSpPr>
          <p:nvPr>
            <p:ph type="subTitle" idx="1"/>
          </p:nvPr>
        </p:nvSpPr>
        <p:spPr/>
        <p:txBody>
          <a:bodyPr/>
          <a:lstStyle/>
          <a:p>
            <a:r>
              <a:rPr lang="en-US" dirty="0"/>
              <a:t>Yla Eason</a:t>
            </a:r>
          </a:p>
        </p:txBody>
      </p:sp>
    </p:spTree>
    <p:extLst>
      <p:ext uri="{BB962C8B-B14F-4D97-AF65-F5344CB8AC3E}">
        <p14:creationId xmlns:p14="http://schemas.microsoft.com/office/powerpoint/2010/main" val="37450955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Every Problem is Not a Good Problem</a:t>
            </a:r>
          </a:p>
        </p:txBody>
      </p:sp>
      <p:sp>
        <p:nvSpPr>
          <p:cNvPr id="3" name="Content Placeholder 2"/>
          <p:cNvSpPr>
            <a:spLocks noGrp="1"/>
          </p:cNvSpPr>
          <p:nvPr>
            <p:ph idx="1"/>
          </p:nvPr>
        </p:nvSpPr>
        <p:spPr/>
        <p:txBody>
          <a:bodyPr/>
          <a:lstStyle/>
          <a:p>
            <a:r>
              <a:rPr lang="en-US" dirty="0"/>
              <a:t>“Bad” problems:</a:t>
            </a:r>
          </a:p>
          <a:p>
            <a:pPr lvl="1"/>
            <a:r>
              <a:rPr lang="en-US" dirty="0"/>
              <a:t>Metric system</a:t>
            </a:r>
          </a:p>
          <a:p>
            <a:pPr lvl="1"/>
            <a:r>
              <a:rPr lang="en-US" dirty="0"/>
              <a:t>The Concorde</a:t>
            </a:r>
          </a:p>
          <a:p>
            <a:pPr lvl="1"/>
            <a:r>
              <a:rPr lang="en-US" dirty="0"/>
              <a:t>Pocket Protectors</a:t>
            </a:r>
          </a:p>
          <a:p>
            <a:pPr lvl="1"/>
            <a:r>
              <a:rPr lang="en-US" dirty="0"/>
              <a:t>Easy Spirit shoes</a:t>
            </a:r>
          </a:p>
        </p:txBody>
      </p:sp>
    </p:spTree>
    <p:extLst>
      <p:ext uri="{BB962C8B-B14F-4D97-AF65-F5344CB8AC3E}">
        <p14:creationId xmlns:p14="http://schemas.microsoft.com/office/powerpoint/2010/main" val="16487697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 It a Good Problem?</a:t>
            </a:r>
          </a:p>
        </p:txBody>
      </p:sp>
      <p:sp>
        <p:nvSpPr>
          <p:cNvPr id="3" name="Content Placeholder 2"/>
          <p:cNvSpPr>
            <a:spLocks noGrp="1"/>
          </p:cNvSpPr>
          <p:nvPr>
            <p:ph idx="1"/>
          </p:nvPr>
        </p:nvSpPr>
        <p:spPr/>
        <p:txBody>
          <a:bodyPr/>
          <a:lstStyle/>
          <a:p>
            <a:r>
              <a:rPr lang="en-US" dirty="0"/>
              <a:t>Do you understand the customer?</a:t>
            </a:r>
          </a:p>
          <a:p>
            <a:r>
              <a:rPr lang="en-US" dirty="0"/>
              <a:t>Do you understand the problem?</a:t>
            </a:r>
          </a:p>
          <a:p>
            <a:r>
              <a:rPr lang="en-US" dirty="0"/>
              <a:t>Real problems, not hypothetical problems!</a:t>
            </a:r>
          </a:p>
          <a:p>
            <a:pPr lvl="1"/>
            <a:r>
              <a:rPr lang="en-US" dirty="0"/>
              <a:t>Drycleaners.com</a:t>
            </a:r>
          </a:p>
          <a:p>
            <a:pPr lvl="1"/>
            <a:r>
              <a:rPr lang="en-US" dirty="0"/>
              <a:t>Pets.com</a:t>
            </a:r>
          </a:p>
          <a:p>
            <a:pPr lvl="1"/>
            <a:endParaRPr lang="en-US" dirty="0"/>
          </a:p>
          <a:p>
            <a:r>
              <a:rPr lang="en-US" dirty="0"/>
              <a:t>Focus on problems you understand</a:t>
            </a:r>
          </a:p>
          <a:p>
            <a:r>
              <a:rPr lang="en-US" dirty="0"/>
              <a:t>Eat your own dog food!</a:t>
            </a:r>
          </a:p>
        </p:txBody>
      </p:sp>
    </p:spTree>
    <p:extLst>
      <p:ext uri="{BB962C8B-B14F-4D97-AF65-F5344CB8AC3E}">
        <p14:creationId xmlns:p14="http://schemas.microsoft.com/office/powerpoint/2010/main" val="13564236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Beware the Curse of Incrementalism</a:t>
            </a:r>
          </a:p>
        </p:txBody>
      </p:sp>
      <p:sp>
        <p:nvSpPr>
          <p:cNvPr id="3" name="Content Placeholder 2"/>
          <p:cNvSpPr>
            <a:spLocks noGrp="1"/>
          </p:cNvSpPr>
          <p:nvPr>
            <p:ph idx="1"/>
          </p:nvPr>
        </p:nvSpPr>
        <p:spPr/>
        <p:txBody>
          <a:bodyPr/>
          <a:lstStyle/>
          <a:p>
            <a:r>
              <a:rPr lang="en-US" dirty="0"/>
              <a:t>Too many innovations are just an “11”</a:t>
            </a:r>
          </a:p>
          <a:p>
            <a:pPr lvl="1"/>
            <a:r>
              <a:rPr lang="en-US" dirty="0"/>
              <a:t>The problem with expertise</a:t>
            </a:r>
          </a:p>
          <a:p>
            <a:r>
              <a:rPr lang="en-US" dirty="0"/>
              <a:t>The Innovators Dilemma, by Clay Christensen</a:t>
            </a:r>
          </a:p>
          <a:p>
            <a:pPr lvl="1"/>
            <a:r>
              <a:rPr lang="en-US" dirty="0"/>
              <a:t>Firms “listen to their customer” and focus on incremental innovation</a:t>
            </a:r>
          </a:p>
          <a:p>
            <a:pPr lvl="1"/>
            <a:r>
              <a:rPr lang="en-US" dirty="0"/>
              <a:t>Miss the disruptive innovation that is valuable to the broader market.</a:t>
            </a:r>
          </a:p>
        </p:txBody>
      </p:sp>
    </p:spTree>
    <p:extLst>
      <p:ext uri="{BB962C8B-B14F-4D97-AF65-F5344CB8AC3E}">
        <p14:creationId xmlns:p14="http://schemas.microsoft.com/office/powerpoint/2010/main" val="15159737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Using Pain to Communicate Your Idea</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1441104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Pain is the Fifth “P”</a:t>
            </a:r>
          </a:p>
        </p:txBody>
      </p:sp>
      <p:sp>
        <p:nvSpPr>
          <p:cNvPr id="3" name="Content Placeholder 2"/>
          <p:cNvSpPr>
            <a:spLocks noGrp="1"/>
          </p:cNvSpPr>
          <p:nvPr>
            <p:ph idx="1"/>
          </p:nvPr>
        </p:nvSpPr>
        <p:spPr/>
        <p:txBody>
          <a:bodyPr/>
          <a:lstStyle/>
          <a:p>
            <a:r>
              <a:rPr lang="en-US" dirty="0"/>
              <a:t>Place</a:t>
            </a:r>
          </a:p>
          <a:p>
            <a:r>
              <a:rPr lang="en-US" dirty="0"/>
              <a:t>Product</a:t>
            </a:r>
          </a:p>
          <a:p>
            <a:r>
              <a:rPr lang="en-US" dirty="0"/>
              <a:t>Price</a:t>
            </a:r>
          </a:p>
          <a:p>
            <a:r>
              <a:rPr lang="en-US" dirty="0"/>
              <a:t>Promotion</a:t>
            </a:r>
          </a:p>
          <a:p>
            <a:endParaRPr lang="en-US" dirty="0"/>
          </a:p>
          <a:p>
            <a:r>
              <a:rPr lang="en-US" dirty="0"/>
              <a:t>Pain!</a:t>
            </a:r>
          </a:p>
          <a:p>
            <a:endParaRPr lang="en-US" dirty="0"/>
          </a:p>
          <a:p>
            <a:r>
              <a:rPr lang="en-US" dirty="0"/>
              <a:t>Communicates the value of your idea.</a:t>
            </a:r>
          </a:p>
        </p:txBody>
      </p:sp>
    </p:spTree>
    <p:extLst>
      <p:ext uri="{BB962C8B-B14F-4D97-AF65-F5344CB8AC3E}">
        <p14:creationId xmlns:p14="http://schemas.microsoft.com/office/powerpoint/2010/main" val="10238988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Answer the Three Questions</a:t>
            </a:r>
          </a:p>
        </p:txBody>
      </p:sp>
      <p:sp>
        <p:nvSpPr>
          <p:cNvPr id="3" name="Content Placeholder 2"/>
          <p:cNvSpPr>
            <a:spLocks noGrp="1"/>
          </p:cNvSpPr>
          <p:nvPr>
            <p:ph idx="1"/>
          </p:nvPr>
        </p:nvSpPr>
        <p:spPr/>
        <p:txBody>
          <a:bodyPr/>
          <a:lstStyle/>
          <a:p>
            <a:r>
              <a:rPr lang="en-US" dirty="0"/>
              <a:t>What problem does this solve?</a:t>
            </a:r>
          </a:p>
          <a:p>
            <a:r>
              <a:rPr lang="en-US" dirty="0"/>
              <a:t>What pain does it alleviate?</a:t>
            </a:r>
          </a:p>
          <a:p>
            <a:r>
              <a:rPr lang="en-US" dirty="0"/>
              <a:t>Who cares?</a:t>
            </a:r>
          </a:p>
        </p:txBody>
      </p:sp>
    </p:spTree>
    <p:extLst>
      <p:ext uri="{BB962C8B-B14F-4D97-AF65-F5344CB8AC3E}">
        <p14:creationId xmlns:p14="http://schemas.microsoft.com/office/powerpoint/2010/main" val="251068735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Lead with Pain</a:t>
            </a:r>
          </a:p>
        </p:txBody>
      </p:sp>
      <p:sp>
        <p:nvSpPr>
          <p:cNvPr id="3" name="Content Placeholder 2"/>
          <p:cNvSpPr>
            <a:spLocks noGrp="1"/>
          </p:cNvSpPr>
          <p:nvPr>
            <p:ph idx="1"/>
          </p:nvPr>
        </p:nvSpPr>
        <p:spPr/>
        <p:txBody>
          <a:bodyPr/>
          <a:lstStyle/>
          <a:p>
            <a:r>
              <a:rPr lang="en-US" dirty="0"/>
              <a:t>The “Vision Thing”</a:t>
            </a:r>
          </a:p>
          <a:p>
            <a:r>
              <a:rPr lang="en-US" dirty="0"/>
              <a:t>The Declaration of Independence</a:t>
            </a:r>
          </a:p>
          <a:p>
            <a:r>
              <a:rPr lang="en-US" dirty="0"/>
              <a:t>Don’t get lost in the HOW</a:t>
            </a:r>
          </a:p>
          <a:p>
            <a:pPr lvl="1"/>
            <a:r>
              <a:rPr lang="en-US" dirty="0"/>
              <a:t>Declaration of Independence vs. the Constitution</a:t>
            </a:r>
          </a:p>
          <a:p>
            <a:pPr lvl="1"/>
            <a:endParaRPr lang="en-US" dirty="0"/>
          </a:p>
          <a:p>
            <a:r>
              <a:rPr lang="en-US" dirty="0"/>
              <a:t>Remember the sequence:</a:t>
            </a:r>
          </a:p>
          <a:p>
            <a:pPr lvl="1"/>
            <a:r>
              <a:rPr lang="en-US" dirty="0"/>
              <a:t>Problem </a:t>
            </a:r>
            <a:r>
              <a:rPr lang="en-US" dirty="0">
                <a:latin typeface="Wingdings"/>
                <a:ea typeface="Wingdings"/>
                <a:cs typeface="Wingdings"/>
                <a:sym typeface="Wingdings"/>
              </a:rPr>
              <a:t></a:t>
            </a:r>
            <a:r>
              <a:rPr lang="en-US" dirty="0">
                <a:sym typeface="Wingdings"/>
              </a:rPr>
              <a:t> Pain </a:t>
            </a:r>
            <a:r>
              <a:rPr lang="en-US" dirty="0">
                <a:latin typeface="Wingdings"/>
                <a:ea typeface="Wingdings"/>
                <a:cs typeface="Wingdings"/>
                <a:sym typeface="Wingdings"/>
              </a:rPr>
              <a:t></a:t>
            </a:r>
            <a:r>
              <a:rPr lang="en-US" dirty="0">
                <a:sym typeface="Wingdings"/>
              </a:rPr>
              <a:t> Solution Structure</a:t>
            </a:r>
            <a:endParaRPr lang="en-US" dirty="0"/>
          </a:p>
        </p:txBody>
      </p:sp>
    </p:spTree>
    <p:extLst>
      <p:ext uri="{BB962C8B-B14F-4D97-AF65-F5344CB8AC3E}">
        <p14:creationId xmlns:p14="http://schemas.microsoft.com/office/powerpoint/2010/main" val="2046936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My Philosophy</a:t>
            </a:r>
          </a:p>
        </p:txBody>
      </p:sp>
      <p:sp>
        <p:nvSpPr>
          <p:cNvPr id="3" name="Content Placeholder 2"/>
          <p:cNvSpPr>
            <a:spLocks noGrp="1"/>
          </p:cNvSpPr>
          <p:nvPr>
            <p:ph idx="1"/>
          </p:nvPr>
        </p:nvSpPr>
        <p:spPr/>
        <p:txBody>
          <a:bodyPr/>
          <a:lstStyle/>
          <a:p>
            <a:r>
              <a:rPr lang="en-US" dirty="0"/>
              <a:t>You can’t change people</a:t>
            </a:r>
          </a:p>
          <a:p>
            <a:r>
              <a:rPr lang="en-US" dirty="0"/>
              <a:t>Pull not push</a:t>
            </a:r>
          </a:p>
          <a:p>
            <a:r>
              <a:rPr lang="en-US" dirty="0"/>
              <a:t>The customer not the solution</a:t>
            </a:r>
          </a:p>
          <a:p>
            <a:r>
              <a:rPr lang="en-US" dirty="0"/>
              <a:t>Valuable, not new and different</a:t>
            </a:r>
          </a:p>
          <a:p>
            <a:r>
              <a:rPr lang="en-US" dirty="0"/>
              <a:t>PR and WOM, not advertising</a:t>
            </a:r>
          </a:p>
          <a:p>
            <a:r>
              <a:rPr lang="en-US" dirty="0"/>
              <a:t>Realistic, not idealistic</a:t>
            </a:r>
          </a:p>
          <a:p>
            <a:r>
              <a:rPr lang="en-US" dirty="0"/>
              <a:t>Listening, not talking</a:t>
            </a:r>
          </a:p>
          <a:p>
            <a:r>
              <a:rPr lang="en-US" dirty="0"/>
              <a:t>Tangible, not hypothetical</a:t>
            </a:r>
          </a:p>
        </p:txBody>
      </p:sp>
    </p:spTree>
    <p:extLst>
      <p:ext uri="{BB962C8B-B14F-4D97-AF65-F5344CB8AC3E}">
        <p14:creationId xmlns:p14="http://schemas.microsoft.com/office/powerpoint/2010/main" val="2034736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8932</TotalTime>
  <Words>3272</Words>
  <Application>Microsoft Macintosh PowerPoint</Application>
  <PresentationFormat>On-screen Show (4:3)</PresentationFormat>
  <Paragraphs>407</Paragraphs>
  <Slides>79</Slides>
  <Notes>10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79</vt:i4>
      </vt:variant>
    </vt:vector>
  </HeadingPairs>
  <TitlesOfParts>
    <vt:vector size="84" baseType="lpstr">
      <vt:lpstr>Arial</vt:lpstr>
      <vt:lpstr>Calibri</vt:lpstr>
      <vt:lpstr>Wingdings</vt:lpstr>
      <vt:lpstr>Office Theme</vt:lpstr>
      <vt:lpstr>Chart</vt:lpstr>
      <vt:lpstr>“Nudging” Entrepreneurship </vt:lpstr>
      <vt:lpstr>Recent Bestselling Business Books</vt:lpstr>
      <vt:lpstr>Outline for Today</vt:lpstr>
      <vt:lpstr>What determines whether a new product/start-up will be successful?</vt:lpstr>
      <vt:lpstr>Factors Affecting Entrepreneurial Success</vt:lpstr>
      <vt:lpstr>What Really Matters?</vt:lpstr>
      <vt:lpstr>What Really Matters?</vt:lpstr>
      <vt:lpstr>Why is Change So Hard?</vt:lpstr>
      <vt:lpstr>Neoclassical Economics</vt:lpstr>
      <vt:lpstr>Elements of Rational Decision Making</vt:lpstr>
      <vt:lpstr>Behavioral Economics</vt:lpstr>
      <vt:lpstr>Six Key Ideas from Behavioral Economics </vt:lpstr>
      <vt:lpstr>Overconfidence</vt:lpstr>
      <vt:lpstr>Example:  Overconfidence and Worker Retention</vt:lpstr>
      <vt:lpstr>Are Trainees Over-Confident?</vt:lpstr>
      <vt:lpstr>Does Over-Confidence Affect Productivity?</vt:lpstr>
      <vt:lpstr>Does Over-Confidence Affect Retention?</vt:lpstr>
      <vt:lpstr>Does Worker Over-Confidence Increase Firm Profits?</vt:lpstr>
      <vt:lpstr>Over-Confidence and Entrepreneurship (Heger &amp; Papageorge 2013)</vt:lpstr>
      <vt:lpstr>Status Quo Bias</vt:lpstr>
      <vt:lpstr>Example: Brigitte Madrian and Dennis Shea (2001)    • Design: A Fortune 500 Company Switched 401(k) default on April 1, 1998.  Madrian and Shea examine behavior of new hires.</vt:lpstr>
      <vt:lpstr>401(k) Participation Increases Percent at Specified Contribution Rate</vt:lpstr>
      <vt:lpstr>401(k) Asset Allocation Also Changed</vt:lpstr>
      <vt:lpstr>Impact of Automatic Enrollment in 401(k) Before, During and After</vt:lpstr>
      <vt:lpstr>Is More Choice Always Better?</vt:lpstr>
      <vt:lpstr>Faulty Discounting</vt:lpstr>
      <vt:lpstr>Real Consequence of Faulty Discounting</vt:lpstr>
      <vt:lpstr>Inconsistent Choices Due to Impatience</vt:lpstr>
      <vt:lpstr>Choosing fruit vs. chocolate </vt:lpstr>
      <vt:lpstr>Patient choices for the future:</vt:lpstr>
      <vt:lpstr>Impatient choices for today:</vt:lpstr>
      <vt:lpstr>Time Inconsistent Preferences:</vt:lpstr>
      <vt:lpstr>Impatience: the desire for instant gratification Read, Loewenstein &amp; Kalyanaraman (1999)</vt:lpstr>
      <vt:lpstr>How Important are Immediate Rewards?</vt:lpstr>
      <vt:lpstr>“Learning and the Inefficient Exit of Entrepreneurs”</vt:lpstr>
      <vt:lpstr>“Learning and the Inefficient Exit of Entrepreneurs”</vt:lpstr>
      <vt:lpstr>Loss Aversion</vt:lpstr>
      <vt:lpstr>Bounded Rationality:  Thinking Is Costly</vt:lpstr>
      <vt:lpstr>Bounded Rationality:  Thinking Is Costly</vt:lpstr>
      <vt:lpstr>Implications of Behavioral Economics for the Entrepreneur</vt:lpstr>
      <vt:lpstr>What determines whether a new product/start-up will be successful?</vt:lpstr>
      <vt:lpstr>The Power of Pain</vt:lpstr>
      <vt:lpstr>What’s the Difference?</vt:lpstr>
      <vt:lpstr>The Power of Pain</vt:lpstr>
      <vt:lpstr>Why Pain?</vt:lpstr>
      <vt:lpstr>“All experience hath shown, that mankind are more disposed to suffer, while evils are sufferable, than to right themselves by abolishing the forms to which they are accustomed.” The Declaration of Independence</vt:lpstr>
      <vt:lpstr>The Limits of Pleasing People</vt:lpstr>
      <vt:lpstr>The Problem with Being Pleasure-Driven</vt:lpstr>
      <vt:lpstr>The Benefits of Being Pain-Driven</vt:lpstr>
      <vt:lpstr>What is the Right Path?</vt:lpstr>
      <vt:lpstr>Case Study</vt:lpstr>
      <vt:lpstr>Takeaways for Entrepreneurs</vt:lpstr>
      <vt:lpstr>The Purpose of Pain is to Drive Change</vt:lpstr>
      <vt:lpstr>Don’t Take Customer Change for Granted</vt:lpstr>
      <vt:lpstr>Satisficing vs. Optimizing</vt:lpstr>
      <vt:lpstr>Transitional Pain</vt:lpstr>
      <vt:lpstr>Prospect Theory</vt:lpstr>
      <vt:lpstr>Losses Loom Larger Than Gains</vt:lpstr>
      <vt:lpstr>Solving a Problem is Not Enough: How I Thought Change Worked</vt:lpstr>
      <vt:lpstr>Solving a Problem is Not Enough: How Change Actually Works</vt:lpstr>
      <vt:lpstr>Why Isn’t Solving a Problem Good Enough</vt:lpstr>
      <vt:lpstr>There’s More to Innovation than Creativity</vt:lpstr>
      <vt:lpstr>Get the Sequence Right</vt:lpstr>
      <vt:lpstr>Why it is Important that Pain Focuses You on “Pull” Not “Push”</vt:lpstr>
      <vt:lpstr>How Can I Use the Power of Pain to Generate Ideas?</vt:lpstr>
      <vt:lpstr>How Can You Use the Power of Pain to Generate Ideas?</vt:lpstr>
      <vt:lpstr>Simon Hall Doors!</vt:lpstr>
      <vt:lpstr>Simon Hall Doors!</vt:lpstr>
      <vt:lpstr>How Can I Use the Power of Pain to Evaluate Ideas?</vt:lpstr>
      <vt:lpstr>Ask The Three Questions</vt:lpstr>
      <vt:lpstr>Case Study</vt:lpstr>
      <vt:lpstr>Every Problem is Not a Good Problem</vt:lpstr>
      <vt:lpstr>Is It a Good Problem?</vt:lpstr>
      <vt:lpstr>Beware the Curse of Incrementalism</vt:lpstr>
      <vt:lpstr>Using Pain to Communicate Your Idea</vt:lpstr>
      <vt:lpstr>Pain is the Fifth “P”</vt:lpstr>
      <vt:lpstr>Answer the Three Questions</vt:lpstr>
      <vt:lpstr>Lead with Pain</vt:lpstr>
      <vt:lpstr>My Philosophy</vt:lpstr>
    </vt:vector>
  </TitlesOfParts>
  <Company>Washington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Revenue and Profit Maximization 10/20/08</dc:title>
  <dc:creator>Olin School of Business</dc:creator>
  <cp:lastModifiedBy>Hamilton, Barton</cp:lastModifiedBy>
  <cp:revision>435</cp:revision>
  <dcterms:created xsi:type="dcterms:W3CDTF">2008-10-19T15:58:04Z</dcterms:created>
  <dcterms:modified xsi:type="dcterms:W3CDTF">2024-01-09T18:28:38Z</dcterms:modified>
</cp:coreProperties>
</file>