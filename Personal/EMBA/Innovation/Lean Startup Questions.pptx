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322" r:id="rId2"/>
    <p:sldId id="510" r:id="rId3"/>
    <p:sldId id="471" r:id="rId4"/>
    <p:sldId id="497" r:id="rId5"/>
    <p:sldId id="498" r:id="rId6"/>
    <p:sldId id="499" r:id="rId7"/>
    <p:sldId id="500" r:id="rId8"/>
    <p:sldId id="501" r:id="rId9"/>
    <p:sldId id="502" r:id="rId10"/>
    <p:sldId id="503" r:id="rId11"/>
    <p:sldId id="504" r:id="rId12"/>
    <p:sldId id="505" r:id="rId13"/>
    <p:sldId id="506" r:id="rId14"/>
    <p:sldId id="507" r:id="rId15"/>
    <p:sldId id="508" r:id="rId16"/>
    <p:sldId id="509" r:id="rId17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0307"/>
    <a:srgbClr val="404040"/>
    <a:srgbClr val="63626F"/>
    <a:srgbClr val="6A6A77"/>
    <a:srgbClr val="63636F"/>
    <a:srgbClr val="C5C5C5"/>
    <a:srgbClr val="5A6277"/>
    <a:srgbClr val="3A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24"/>
    <p:restoredTop sz="94740"/>
  </p:normalViewPr>
  <p:slideViewPr>
    <p:cSldViewPr>
      <p:cViewPr varScale="1">
        <p:scale>
          <a:sx n="124" d="100"/>
          <a:sy n="124" d="100"/>
        </p:scale>
        <p:origin x="193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74" d="100"/>
          <a:sy n="74" d="100"/>
        </p:scale>
        <p:origin x="-3216" y="-90"/>
      </p:cViewPr>
      <p:guideLst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5138"/>
          </a:xfrm>
          <a:prstGeom prst="rect">
            <a:avLst/>
          </a:prstGeom>
        </p:spPr>
        <p:txBody>
          <a:bodyPr vert="horz" lIns="89831" tIns="44915" rIns="89831" bIns="44915" rtlCol="0"/>
          <a:lstStyle>
            <a:lvl1pPr algn="l"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338" y="0"/>
            <a:ext cx="3038475" cy="465138"/>
          </a:xfrm>
          <a:prstGeom prst="rect">
            <a:avLst/>
          </a:prstGeom>
        </p:spPr>
        <p:txBody>
          <a:bodyPr vert="horz" wrap="square" lIns="89831" tIns="44915" rIns="89831" bIns="44915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8A0BDEFD-C13F-8043-8302-6E09D2951EEC}" type="datetimeFigureOut">
              <a:rPr lang="en-US" altLang="x-none"/>
              <a:pPr/>
              <a:t>8/2/21</a:t>
            </a:fld>
            <a:endParaRPr lang="en-U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475" cy="465138"/>
          </a:xfrm>
          <a:prstGeom prst="rect">
            <a:avLst/>
          </a:prstGeom>
        </p:spPr>
        <p:txBody>
          <a:bodyPr vert="horz" lIns="89831" tIns="44915" rIns="89831" bIns="44915" rtlCol="0" anchor="b"/>
          <a:lstStyle>
            <a:lvl1pPr algn="l"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338" y="8829675"/>
            <a:ext cx="3038475" cy="465138"/>
          </a:xfrm>
          <a:prstGeom prst="rect">
            <a:avLst/>
          </a:prstGeom>
        </p:spPr>
        <p:txBody>
          <a:bodyPr vert="horz" wrap="square" lIns="89831" tIns="44915" rIns="89831" bIns="44915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955162C4-C8C8-5144-B80B-5A8BE33C0FF4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82" tIns="46590" rIns="93182" bIns="4659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1925" y="0"/>
            <a:ext cx="3038475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82" tIns="46590" rIns="93182" bIns="4659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1100" y="696913"/>
            <a:ext cx="4648200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4838"/>
            <a:ext cx="5140325" cy="418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82" tIns="46590" rIns="93182" bIns="4659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82" tIns="46590" rIns="93182" bIns="4659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ＭＳ Ｐゴシック" pitchFamily="1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925" y="8831263"/>
            <a:ext cx="3038475" cy="465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3182" tIns="46590" rIns="93182" bIns="4659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fld id="{58844C32-3B14-C444-8DAD-B9970C3954C1}" type="slidenum">
              <a:rPr lang="en-US" altLang="x-none"/>
              <a:pPr/>
              <a:t>‹#›</a:t>
            </a:fld>
            <a:endParaRPr lang="en-U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pitchFamily="1" charset="-128"/>
        <a:cs typeface="ＭＳ Ｐ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9997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6781800" y="5029200"/>
            <a:ext cx="1676400" cy="1431925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4000"/>
            </a:lvl1pPr>
          </a:lstStyle>
          <a:p>
            <a:fld id="{9F4EF3C1-2B51-124D-8E34-285A35786EFE}" type="slidenum">
              <a:rPr lang="en-US" altLang="x-none"/>
              <a:pPr/>
              <a:t>‹#›</a:t>
            </a:fld>
            <a:endParaRPr lang="en-US" altLang="x-none"/>
          </a:p>
        </p:txBody>
      </p:sp>
    </p:spTree>
    <p:extLst>
      <p:ext uri="{BB962C8B-B14F-4D97-AF65-F5344CB8AC3E}">
        <p14:creationId xmlns:p14="http://schemas.microsoft.com/office/powerpoint/2010/main" val="1805855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35195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95800" y="1600200"/>
            <a:ext cx="3962400" cy="4495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9058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7751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8027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87555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00157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05308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82404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38900" y="609600"/>
            <a:ext cx="20193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609600"/>
            <a:ext cx="59055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6148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1"/>
          <p:cNvSpPr>
            <a:spLocks noChangeArrowheads="1"/>
          </p:cNvSpPr>
          <p:nvPr/>
        </p:nvSpPr>
        <p:spPr bwMode="auto">
          <a:xfrm>
            <a:off x="152400" y="152400"/>
            <a:ext cx="8839200" cy="632460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-128"/>
              </a:defRPr>
            </a:lvl9pPr>
          </a:lstStyle>
          <a:p>
            <a:endParaRPr lang="x-none" altLang="x-none"/>
          </a:p>
        </p:txBody>
      </p:sp>
      <p:sp>
        <p:nvSpPr>
          <p:cNvPr id="1027" name="Rectangle 54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609600"/>
            <a:ext cx="77724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title style</a:t>
            </a:r>
          </a:p>
        </p:txBody>
      </p:sp>
      <p:sp>
        <p:nvSpPr>
          <p:cNvPr id="1028" name="Rectangle 59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600200"/>
            <a:ext cx="80772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x-none"/>
              <a:t>Click to edit Master text styles</a:t>
            </a:r>
          </a:p>
          <a:p>
            <a:pPr lvl="1"/>
            <a:r>
              <a:rPr lang="en-US" altLang="x-none"/>
              <a:t>Second level</a:t>
            </a:r>
          </a:p>
          <a:p>
            <a:pPr lvl="2"/>
            <a:r>
              <a:rPr lang="en-US" altLang="x-none"/>
              <a:t>Third level</a:t>
            </a:r>
          </a:p>
          <a:p>
            <a:pPr lvl="3"/>
            <a:r>
              <a:rPr lang="en-US" altLang="x-none"/>
              <a:t>Fourth level</a:t>
            </a:r>
          </a:p>
          <a:p>
            <a:pPr lvl="4"/>
            <a:r>
              <a:rPr lang="en-US" altLang="x-none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80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C0019"/>
          </a:solidFill>
          <a:latin typeface="+mj-lt"/>
          <a:ea typeface="+mj-ea"/>
          <a:cs typeface="ＭＳ Ｐゴシック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C0019"/>
          </a:solidFill>
          <a:latin typeface="Arial" charset="0"/>
          <a:ea typeface="ＭＳ Ｐゴシック" pitchFamily="1" charset="-128"/>
          <a:cs typeface="ＭＳ Ｐゴシック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C0019"/>
          </a:solidFill>
          <a:latin typeface="Arial" charset="0"/>
          <a:ea typeface="ＭＳ Ｐゴシック" pitchFamily="1" charset="-128"/>
          <a:cs typeface="ＭＳ Ｐゴシック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C0019"/>
          </a:solidFill>
          <a:latin typeface="Arial" charset="0"/>
          <a:ea typeface="ＭＳ Ｐゴシック" pitchFamily="1" charset="-128"/>
          <a:cs typeface="ＭＳ Ｐゴシック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8C0019"/>
          </a:solidFill>
          <a:latin typeface="Arial" charset="0"/>
          <a:ea typeface="ＭＳ Ｐゴシック" pitchFamily="1" charset="-128"/>
          <a:cs typeface="ＭＳ Ｐゴシック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8C0019"/>
          </a:solidFill>
          <a:latin typeface="Arial" charset="0"/>
          <a:ea typeface="ＭＳ Ｐゴシック" pitchFamily="1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8C0019"/>
          </a:solidFill>
          <a:latin typeface="Arial" charset="0"/>
          <a:ea typeface="ＭＳ Ｐゴシック" pitchFamily="1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8C0019"/>
          </a:solidFill>
          <a:latin typeface="Arial" charset="0"/>
          <a:ea typeface="ＭＳ Ｐゴシック" pitchFamily="1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rgbClr val="8C0019"/>
          </a:solidFill>
          <a:latin typeface="Arial" charset="0"/>
          <a:ea typeface="ＭＳ Ｐゴシック" pitchFamily="1" charset="-128"/>
        </a:defRPr>
      </a:lvl9pPr>
    </p:titleStyle>
    <p:bodyStyle>
      <a:lvl1pPr marL="292100" indent="-292100" algn="l" rtl="0" eaLnBrk="0" fontAlgn="base" hangingPunct="0">
        <a:lnSpc>
          <a:spcPct val="160000"/>
        </a:lnSpc>
        <a:spcBef>
          <a:spcPct val="40000"/>
        </a:spcBef>
        <a:spcAft>
          <a:spcPct val="0"/>
        </a:spcAft>
        <a:buClr>
          <a:srgbClr val="9B0515"/>
        </a:buClr>
        <a:buSzPct val="70000"/>
        <a:buFont typeface="Arial" charset="0"/>
        <a:buAutoNum type="arabicPeriod"/>
        <a:tabLst>
          <a:tab pos="2344738" algn="l"/>
        </a:tabLst>
        <a:defRPr sz="1700" b="1">
          <a:solidFill>
            <a:srgbClr val="3A3A3A"/>
          </a:solidFill>
          <a:latin typeface="+mn-lt"/>
          <a:ea typeface="+mn-ea"/>
          <a:cs typeface="ＭＳ Ｐゴシック"/>
        </a:defRPr>
      </a:lvl1pPr>
      <a:lvl2pPr marL="800100" indent="-228600" algn="l" rtl="0" eaLnBrk="0" fontAlgn="base" hangingPunct="0">
        <a:spcBef>
          <a:spcPct val="0"/>
        </a:spcBef>
        <a:spcAft>
          <a:spcPct val="0"/>
        </a:spcAft>
        <a:buClr>
          <a:srgbClr val="9B0515"/>
        </a:buClr>
        <a:buSzPct val="70000"/>
        <a:buFont typeface="Wingdings" charset="2"/>
        <a:buChar char="§"/>
        <a:tabLst>
          <a:tab pos="2344738" algn="l"/>
        </a:tabLst>
        <a:defRPr sz="1400" b="1">
          <a:solidFill>
            <a:srgbClr val="5A6277"/>
          </a:solidFill>
          <a:latin typeface="+mn-lt"/>
          <a:ea typeface="+mn-ea"/>
          <a:cs typeface="ＭＳ Ｐゴシック"/>
        </a:defRPr>
      </a:lvl2pPr>
      <a:lvl3pPr marL="1330325" indent="-238125" algn="l" rtl="0" eaLnBrk="0" fontAlgn="base" hangingPunct="0">
        <a:spcBef>
          <a:spcPct val="0"/>
        </a:spcBef>
        <a:spcAft>
          <a:spcPct val="0"/>
        </a:spcAft>
        <a:buClr>
          <a:srgbClr val="9B0515"/>
        </a:buClr>
        <a:buSzPct val="70000"/>
        <a:buFont typeface="Wingdings" charset="2"/>
        <a:buChar char="§"/>
        <a:tabLst>
          <a:tab pos="2344738" algn="l"/>
        </a:tabLst>
        <a:defRPr sz="1400" b="1">
          <a:solidFill>
            <a:srgbClr val="5A6277"/>
          </a:solidFill>
          <a:latin typeface="+mn-lt"/>
          <a:ea typeface="+mn-ea"/>
          <a:cs typeface="ＭＳ Ｐゴシック"/>
        </a:defRPr>
      </a:lvl3pPr>
      <a:lvl4pPr marL="1789113" indent="-239713" algn="l" rtl="0" eaLnBrk="0" fontAlgn="base" hangingPunct="0">
        <a:spcBef>
          <a:spcPct val="0"/>
        </a:spcBef>
        <a:spcAft>
          <a:spcPct val="0"/>
        </a:spcAft>
        <a:buClr>
          <a:srgbClr val="9B0515"/>
        </a:buClr>
        <a:buSzPct val="70000"/>
        <a:buFont typeface="Wingdings" charset="2"/>
        <a:buChar char="§"/>
        <a:tabLst>
          <a:tab pos="2344738" algn="l"/>
        </a:tabLst>
        <a:defRPr sz="1400" b="1">
          <a:solidFill>
            <a:srgbClr val="5A6277"/>
          </a:solidFill>
          <a:latin typeface="+mn-lt"/>
          <a:ea typeface="+mn-ea"/>
          <a:cs typeface="ＭＳ Ｐゴシック"/>
        </a:defRPr>
      </a:lvl4pPr>
      <a:lvl5pPr marL="2308225" indent="-187325" algn="l" rtl="0" eaLnBrk="0" fontAlgn="base" hangingPunct="0">
        <a:spcBef>
          <a:spcPct val="0"/>
        </a:spcBef>
        <a:spcAft>
          <a:spcPct val="0"/>
        </a:spcAft>
        <a:buClr>
          <a:srgbClr val="9B0515"/>
        </a:buClr>
        <a:buSzPct val="70000"/>
        <a:buFont typeface="Wingdings" charset="2"/>
        <a:buChar char="§"/>
        <a:tabLst>
          <a:tab pos="2344738" algn="l"/>
        </a:tabLst>
        <a:defRPr sz="1400" b="1">
          <a:solidFill>
            <a:srgbClr val="5A6277"/>
          </a:solidFill>
          <a:latin typeface="+mn-lt"/>
          <a:ea typeface="+mn-ea"/>
          <a:cs typeface="ＭＳ Ｐゴシック"/>
        </a:defRPr>
      </a:lvl5pPr>
      <a:lvl6pPr marL="2765425" indent="-187325" algn="l" rtl="0" eaLnBrk="1" fontAlgn="base" hangingPunct="1">
        <a:spcBef>
          <a:spcPct val="0"/>
        </a:spcBef>
        <a:spcAft>
          <a:spcPct val="0"/>
        </a:spcAft>
        <a:buClr>
          <a:srgbClr val="9B0515"/>
        </a:buClr>
        <a:buSzPct val="70000"/>
        <a:buFont typeface="Wingdings" pitchFamily="1" charset="2"/>
        <a:buChar char="§"/>
        <a:tabLst>
          <a:tab pos="2344738" algn="l"/>
        </a:tabLst>
        <a:defRPr sz="1400" b="1">
          <a:solidFill>
            <a:srgbClr val="5A6277"/>
          </a:solidFill>
          <a:latin typeface="+mn-lt"/>
          <a:ea typeface="+mn-ea"/>
        </a:defRPr>
      </a:lvl6pPr>
      <a:lvl7pPr marL="3222625" indent="-187325" algn="l" rtl="0" eaLnBrk="1" fontAlgn="base" hangingPunct="1">
        <a:spcBef>
          <a:spcPct val="0"/>
        </a:spcBef>
        <a:spcAft>
          <a:spcPct val="0"/>
        </a:spcAft>
        <a:buClr>
          <a:srgbClr val="9B0515"/>
        </a:buClr>
        <a:buSzPct val="70000"/>
        <a:buFont typeface="Wingdings" pitchFamily="1" charset="2"/>
        <a:buChar char="§"/>
        <a:tabLst>
          <a:tab pos="2344738" algn="l"/>
        </a:tabLst>
        <a:defRPr sz="1400" b="1">
          <a:solidFill>
            <a:srgbClr val="5A6277"/>
          </a:solidFill>
          <a:latin typeface="+mn-lt"/>
          <a:ea typeface="+mn-ea"/>
        </a:defRPr>
      </a:lvl7pPr>
      <a:lvl8pPr marL="3679825" indent="-187325" algn="l" rtl="0" eaLnBrk="1" fontAlgn="base" hangingPunct="1">
        <a:spcBef>
          <a:spcPct val="0"/>
        </a:spcBef>
        <a:spcAft>
          <a:spcPct val="0"/>
        </a:spcAft>
        <a:buClr>
          <a:srgbClr val="9B0515"/>
        </a:buClr>
        <a:buSzPct val="70000"/>
        <a:buFont typeface="Wingdings" pitchFamily="1" charset="2"/>
        <a:buChar char="§"/>
        <a:tabLst>
          <a:tab pos="2344738" algn="l"/>
        </a:tabLst>
        <a:defRPr sz="1400" b="1">
          <a:solidFill>
            <a:srgbClr val="5A6277"/>
          </a:solidFill>
          <a:latin typeface="+mn-lt"/>
          <a:ea typeface="+mn-ea"/>
        </a:defRPr>
      </a:lvl8pPr>
      <a:lvl9pPr marL="4137025" indent="-187325" algn="l" rtl="0" eaLnBrk="1" fontAlgn="base" hangingPunct="1">
        <a:spcBef>
          <a:spcPct val="0"/>
        </a:spcBef>
        <a:spcAft>
          <a:spcPct val="0"/>
        </a:spcAft>
        <a:buClr>
          <a:srgbClr val="9B0515"/>
        </a:buClr>
        <a:buSzPct val="70000"/>
        <a:buFont typeface="Wingdings" pitchFamily="1" charset="2"/>
        <a:buChar char="§"/>
        <a:tabLst>
          <a:tab pos="2344738" algn="l"/>
        </a:tabLst>
        <a:defRPr sz="1400" b="1">
          <a:solidFill>
            <a:srgbClr val="5A6277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457200" y="2130425"/>
            <a:ext cx="8229600" cy="1470025"/>
          </a:xfrm>
        </p:spPr>
        <p:txBody>
          <a:bodyPr/>
          <a:lstStyle/>
          <a:p>
            <a:pPr algn="ctr" eaLnBrk="1" hangingPunct="1"/>
            <a:r>
              <a:rPr lang="en-US" altLang="x-none" dirty="0"/>
              <a:t> Innovation and Entrepreneurship</a:t>
            </a:r>
            <a:br>
              <a:rPr lang="en-US" altLang="x-none" dirty="0"/>
            </a:br>
            <a:br>
              <a:rPr lang="en-US" altLang="x-none" dirty="0"/>
            </a:br>
            <a:r>
              <a:rPr lang="en-US" altLang="x-none" dirty="0"/>
              <a:t>Lean Startup Overview</a:t>
            </a:r>
            <a:br>
              <a:rPr lang="en-US" altLang="x-none" dirty="0"/>
            </a:br>
            <a:endParaRPr lang="en-US" altLang="x-none" dirty="0"/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x-none" sz="2400"/>
              <a:t>Prof. Barton Hamilton</a:t>
            </a:r>
          </a:p>
          <a:p>
            <a:pPr eaLnBrk="1" hangingPunct="1"/>
            <a:r>
              <a:rPr lang="en-US" altLang="x-none" sz="2400"/>
              <a:t>HamiltonB@wustl.edu</a:t>
            </a:r>
            <a:endParaRPr lang="en-US" altLang="x-none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05DBFB6-E37C-D24C-9E24-4BA2CA1BA8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8291F83-79B5-6744-B9F3-37CFABC86C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52400"/>
            <a:ext cx="9144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996CB13-489F-844A-8A00-79140D0D12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0" y="381000"/>
            <a:ext cx="6210300" cy="6210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3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Lean Startup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lvl="0" indent="-28575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400" dirty="0"/>
              <a:t>The Key Idea:</a:t>
            </a:r>
          </a:p>
          <a:p>
            <a:pPr marL="285750" lvl="0" indent="-285750" eaLnBrk="1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1400" dirty="0"/>
          </a:p>
          <a:p>
            <a:pPr marL="793750" lvl="1" indent="-28575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100" dirty="0"/>
              <a:t>Build</a:t>
            </a:r>
          </a:p>
          <a:p>
            <a:pPr marL="793750" lvl="1" indent="-28575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100" dirty="0"/>
              <a:t>Measure</a:t>
            </a:r>
          </a:p>
          <a:p>
            <a:pPr marL="793750" lvl="1" indent="-28575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100" dirty="0"/>
              <a:t>Learn</a:t>
            </a:r>
          </a:p>
          <a:p>
            <a:pPr marL="793750" lvl="1" indent="-28575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100" dirty="0"/>
              <a:t>Repeat as quickly as possible!</a:t>
            </a:r>
            <a:endParaRPr lang="en-US" sz="1400" dirty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1400" dirty="0"/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endParaRPr lang="en-US" sz="1400" dirty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400" dirty="0"/>
              <a:t>Many, many books, videos, </a:t>
            </a:r>
            <a:r>
              <a:rPr lang="en-US" sz="1400" dirty="0" err="1"/>
              <a:t>etc</a:t>
            </a:r>
            <a:r>
              <a:rPr lang="en-US" sz="1400" dirty="0"/>
              <a:t> on Lean Startup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1400" dirty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400" dirty="0"/>
              <a:t>Also stuff like Business Model Canvas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1400" dirty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400" dirty="0"/>
              <a:t>I don’t like cookbooks too much!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1400" dirty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r>
              <a:rPr lang="en-US" sz="1400" dirty="0"/>
              <a:t>You need to answer the following 13 questions! (</a:t>
            </a:r>
            <a:r>
              <a:rPr lang="en-US" sz="1400" u="sng" dirty="0"/>
              <a:t>Talking to Humans</a:t>
            </a:r>
            <a:r>
              <a:rPr lang="en-US" sz="1400" dirty="0"/>
              <a:t>, Constable and </a:t>
            </a:r>
            <a:r>
              <a:rPr lang="en-US" sz="1400" dirty="0" err="1"/>
              <a:t>Rimalovski</a:t>
            </a:r>
            <a:r>
              <a:rPr lang="en-US" sz="1400" dirty="0"/>
              <a:t>, 2014…see </a:t>
            </a:r>
            <a:r>
              <a:rPr lang="en-US" sz="1400" dirty="0" err="1"/>
              <a:t>www.giffconstable.com</a:t>
            </a:r>
            <a:r>
              <a:rPr lang="en-US" sz="1400" dirty="0"/>
              <a:t>)</a:t>
            </a:r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1400" dirty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1400" dirty="0"/>
          </a:p>
          <a:p>
            <a:pPr marL="285750" marR="0" lvl="0" indent="-28575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  <a:defRPr/>
            </a:pPr>
            <a:endParaRPr lang="en-US" sz="1400" dirty="0"/>
          </a:p>
          <a:p>
            <a:pPr marL="793750" lvl="1" indent="-285750" eaLnBrk="1" fontAlgn="auto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Char char="•"/>
              <a:tabLst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229600" y="5638800"/>
            <a:ext cx="228600" cy="822325"/>
          </a:xfrm>
        </p:spPr>
        <p:txBody>
          <a:bodyPr/>
          <a:lstStyle/>
          <a:p>
            <a:endParaRPr lang="en-US" altLang="x-none" dirty="0"/>
          </a:p>
        </p:txBody>
      </p:sp>
    </p:spTree>
    <p:extLst>
      <p:ext uri="{BB962C8B-B14F-4D97-AF65-F5344CB8AC3E}">
        <p14:creationId xmlns:p14="http://schemas.microsoft.com/office/powerpoint/2010/main" val="1931236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</a:t>
            </a:r>
            <a:r>
              <a:rPr lang="en-US" dirty="0">
                <a:latin typeface="+mn-lt"/>
              </a:rPr>
              <a:t>y</a:t>
            </a:r>
            <a:r>
              <a:rPr lang="en-US" dirty="0"/>
              <a:t> Target Customer Will be?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</a:t>
            </a:r>
          </a:p>
        </p:txBody>
      </p:sp>
    </p:spTree>
    <p:extLst>
      <p:ext uri="{BB962C8B-B14F-4D97-AF65-F5344CB8AC3E}">
        <p14:creationId xmlns:p14="http://schemas.microsoft.com/office/powerpoint/2010/main" val="3887774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Pain my Customer Wants to solve 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2</a:t>
            </a:r>
          </a:p>
        </p:txBody>
      </p:sp>
    </p:spTree>
    <p:extLst>
      <p:ext uri="{BB962C8B-B14F-4D97-AF65-F5344CB8AC3E}">
        <p14:creationId xmlns:p14="http://schemas.microsoft.com/office/powerpoint/2010/main" val="37770446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Customer’s Pain can be solved with?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3</a:t>
            </a:r>
          </a:p>
        </p:txBody>
      </p:sp>
    </p:spTree>
    <p:extLst>
      <p:ext uri="{BB962C8B-B14F-4D97-AF65-F5344CB8AC3E}">
        <p14:creationId xmlns:p14="http://schemas.microsoft.com/office/powerpoint/2010/main" val="3287911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can’t my Customer solve this pain today?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4</a:t>
            </a:r>
          </a:p>
        </p:txBody>
      </p:sp>
    </p:spTree>
    <p:extLst>
      <p:ext uri="{BB962C8B-B14F-4D97-AF65-F5344CB8AC3E}">
        <p14:creationId xmlns:p14="http://schemas.microsoft.com/office/powerpoint/2010/main" val="31120065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measurable outcome my Customer wants to achieve is?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5</a:t>
            </a:r>
          </a:p>
        </p:txBody>
      </p:sp>
    </p:spTree>
    <p:extLst>
      <p:ext uri="{BB962C8B-B14F-4D97-AF65-F5344CB8AC3E}">
        <p14:creationId xmlns:p14="http://schemas.microsoft.com/office/powerpoint/2010/main" val="4197355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primary customer acquisition tactic will be?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6</a:t>
            </a:r>
          </a:p>
        </p:txBody>
      </p:sp>
    </p:spTree>
    <p:extLst>
      <p:ext uri="{BB962C8B-B14F-4D97-AF65-F5344CB8AC3E}">
        <p14:creationId xmlns:p14="http://schemas.microsoft.com/office/powerpoint/2010/main" val="3051227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earliest adopter will be?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7</a:t>
            </a:r>
          </a:p>
        </p:txBody>
      </p:sp>
    </p:spTree>
    <p:extLst>
      <p:ext uri="{BB962C8B-B14F-4D97-AF65-F5344CB8AC3E}">
        <p14:creationId xmlns:p14="http://schemas.microsoft.com/office/powerpoint/2010/main" val="18716168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will make revenue by?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8</a:t>
            </a:r>
          </a:p>
        </p:txBody>
      </p:sp>
    </p:spTree>
    <p:extLst>
      <p:ext uri="{BB962C8B-B14F-4D97-AF65-F5344CB8AC3E}">
        <p14:creationId xmlns:p14="http://schemas.microsoft.com/office/powerpoint/2010/main" val="2031097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primary competition will be?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9</a:t>
            </a:r>
          </a:p>
        </p:txBody>
      </p:sp>
    </p:spTree>
    <p:extLst>
      <p:ext uri="{BB962C8B-B14F-4D97-AF65-F5344CB8AC3E}">
        <p14:creationId xmlns:p14="http://schemas.microsoft.com/office/powerpoint/2010/main" val="22695106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 will beat My competitors primarily because of?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10</a:t>
            </a:r>
          </a:p>
        </p:txBody>
      </p:sp>
    </p:spTree>
    <p:extLst>
      <p:ext uri="{BB962C8B-B14F-4D97-AF65-F5344CB8AC3E}">
        <p14:creationId xmlns:p14="http://schemas.microsoft.com/office/powerpoint/2010/main" val="36445424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biggest risk to financial viability is?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11</a:t>
            </a:r>
          </a:p>
        </p:txBody>
      </p:sp>
    </p:spTree>
    <p:extLst>
      <p:ext uri="{BB962C8B-B14F-4D97-AF65-F5344CB8AC3E}">
        <p14:creationId xmlns:p14="http://schemas.microsoft.com/office/powerpoint/2010/main" val="3921543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 biggest technical or engineering risk is?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12</a:t>
            </a:r>
          </a:p>
        </p:txBody>
      </p:sp>
    </p:spTree>
    <p:extLst>
      <p:ext uri="{BB962C8B-B14F-4D97-AF65-F5344CB8AC3E}">
        <p14:creationId xmlns:p14="http://schemas.microsoft.com/office/powerpoint/2010/main" val="8945374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090A-9071-8C4C-B392-BAD7C27B4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assumptions, if proven wrong, will kill the business?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204EAB-D827-1343-83EF-DA709EDECA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Question 13</a:t>
            </a:r>
          </a:p>
        </p:txBody>
      </p:sp>
    </p:spTree>
    <p:extLst>
      <p:ext uri="{BB962C8B-B14F-4D97-AF65-F5344CB8AC3E}">
        <p14:creationId xmlns:p14="http://schemas.microsoft.com/office/powerpoint/2010/main" val="259675755"/>
      </p:ext>
    </p:extLst>
  </p:cSld>
  <p:clrMapOvr>
    <a:masterClrMapping/>
  </p:clrMapOvr>
</p:sld>
</file>

<file path=ppt/theme/theme1.xml><?xml version="1.0" encoding="utf-8"?>
<a:theme xmlns:a="http://schemas.openxmlformats.org/drawingml/2006/main" name="Anat test">
  <a:themeElements>
    <a:clrScheme name="">
      <a:dk1>
        <a:srgbClr val="000000"/>
      </a:dk1>
      <a:lt1>
        <a:srgbClr val="E5E5E5"/>
      </a:lt1>
      <a:dk2>
        <a:srgbClr val="8D1C0D"/>
      </a:dk2>
      <a:lt2>
        <a:srgbClr val="80808F"/>
      </a:lt2>
      <a:accent1>
        <a:srgbClr val="EDEAED"/>
      </a:accent1>
      <a:accent2>
        <a:srgbClr val="363A54"/>
      </a:accent2>
      <a:accent3>
        <a:srgbClr val="F0F0F0"/>
      </a:accent3>
      <a:accent4>
        <a:srgbClr val="000000"/>
      </a:accent4>
      <a:accent5>
        <a:srgbClr val="F4F3F4"/>
      </a:accent5>
      <a:accent6>
        <a:srgbClr val="30344B"/>
      </a:accent6>
      <a:hlink>
        <a:srgbClr val="B8B14C"/>
      </a:hlink>
      <a:folHlink>
        <a:srgbClr val="58636F"/>
      </a:folHlink>
    </a:clrScheme>
    <a:fontScheme name="Blank Presentatio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ＭＳ Ｐゴシック" pitchFamily="1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4195</TotalTime>
  <Words>218</Words>
  <Application>Microsoft Macintosh PowerPoint</Application>
  <PresentationFormat>On-screen Show (4:3)</PresentationFormat>
  <Paragraphs>47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ＭＳ Ｐゴシック</vt:lpstr>
      <vt:lpstr>Arial</vt:lpstr>
      <vt:lpstr>Wingdings</vt:lpstr>
      <vt:lpstr>Anat test</vt:lpstr>
      <vt:lpstr> Innovation and Entrepreneurship  Lean Startup Overview </vt:lpstr>
      <vt:lpstr>PowerPoint Presentation</vt:lpstr>
      <vt:lpstr>The Lean Startup Methodology</vt:lpstr>
      <vt:lpstr>My Target Customer Will be?</vt:lpstr>
      <vt:lpstr>The Pain my Customer Wants to solve is?</vt:lpstr>
      <vt:lpstr>my Customer’s Pain can be solved with?</vt:lpstr>
      <vt:lpstr>Why can’t my Customer solve this pain today?</vt:lpstr>
      <vt:lpstr>The measurable outcome my Customer wants to achieve is?</vt:lpstr>
      <vt:lpstr>My primary customer acquisition tactic will be?</vt:lpstr>
      <vt:lpstr>My earliest adopter will be?</vt:lpstr>
      <vt:lpstr>I will make revenue by? </vt:lpstr>
      <vt:lpstr>My primary competition will be? </vt:lpstr>
      <vt:lpstr>I will beat My competitors primarily because of? </vt:lpstr>
      <vt:lpstr>My biggest risk to financial viability is? </vt:lpstr>
      <vt:lpstr>My biggest technical or engineering risk is? </vt:lpstr>
      <vt:lpstr>What assumptions, if proven wrong, will kill the business? </vt:lpstr>
    </vt:vector>
  </TitlesOfParts>
  <Company>Harvard Business School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Anat Keinan</dc:creator>
  <cp:lastModifiedBy>Hamilton, Barton</cp:lastModifiedBy>
  <cp:revision>455</cp:revision>
  <cp:lastPrinted>2005-07-15T15:34:26Z</cp:lastPrinted>
  <dcterms:created xsi:type="dcterms:W3CDTF">2008-04-01T20:38:22Z</dcterms:created>
  <dcterms:modified xsi:type="dcterms:W3CDTF">2021-08-02T22:02:57Z</dcterms:modified>
</cp:coreProperties>
</file>