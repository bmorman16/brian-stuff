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27"/>
  </p:notesMasterIdLst>
  <p:handoutMasterIdLst>
    <p:handoutMasterId r:id="rId28"/>
  </p:handoutMasterIdLst>
  <p:sldIdLst>
    <p:sldId id="357" r:id="rId2"/>
    <p:sldId id="358" r:id="rId3"/>
    <p:sldId id="478" r:id="rId4"/>
    <p:sldId id="474" r:id="rId5"/>
    <p:sldId id="359" r:id="rId6"/>
    <p:sldId id="482" r:id="rId7"/>
    <p:sldId id="476" r:id="rId8"/>
    <p:sldId id="465" r:id="rId9"/>
    <p:sldId id="477" r:id="rId10"/>
    <p:sldId id="480" r:id="rId11"/>
    <p:sldId id="481" r:id="rId12"/>
    <p:sldId id="461" r:id="rId13"/>
    <p:sldId id="466" r:id="rId14"/>
    <p:sldId id="483" r:id="rId15"/>
    <p:sldId id="484" r:id="rId16"/>
    <p:sldId id="485" r:id="rId17"/>
    <p:sldId id="486" r:id="rId18"/>
    <p:sldId id="487" r:id="rId19"/>
    <p:sldId id="488" r:id="rId20"/>
    <p:sldId id="489" r:id="rId21"/>
    <p:sldId id="490" r:id="rId22"/>
    <p:sldId id="493" r:id="rId23"/>
    <p:sldId id="491" r:id="rId24"/>
    <p:sldId id="492" r:id="rId25"/>
    <p:sldId id="464" r:id="rId2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68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4032">
          <p15:clr>
            <a:srgbClr val="A4A3A4"/>
          </p15:clr>
        </p15:guide>
        <p15:guide id="5" orient="horz" pos="1104">
          <p15:clr>
            <a:srgbClr val="A4A3A4"/>
          </p15:clr>
        </p15:guide>
        <p15:guide id="6" pos="2880">
          <p15:clr>
            <a:srgbClr val="A4A3A4"/>
          </p15:clr>
        </p15:guide>
        <p15:guide id="7" pos="288">
          <p15:clr>
            <a:srgbClr val="A4A3A4"/>
          </p15:clr>
        </p15:guide>
        <p15:guide id="8" pos="1488">
          <p15:clr>
            <a:srgbClr val="A4A3A4"/>
          </p15:clr>
        </p15:guide>
        <p15:guide id="9" pos="48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44" autoAdjust="0"/>
    <p:restoredTop sz="93537" autoAdjust="0"/>
  </p:normalViewPr>
  <p:slideViewPr>
    <p:cSldViewPr>
      <p:cViewPr varScale="1">
        <p:scale>
          <a:sx n="115" d="100"/>
          <a:sy n="115" d="100"/>
        </p:scale>
        <p:origin x="1928" y="192"/>
      </p:cViewPr>
      <p:guideLst>
        <p:guide orient="horz" pos="1968"/>
        <p:guide orient="horz" pos="960"/>
        <p:guide orient="horz" pos="288"/>
        <p:guide orient="horz" pos="4032"/>
        <p:guide orient="horz" pos="1104"/>
        <p:guide pos="2880"/>
        <p:guide pos="288"/>
        <p:guide pos="1488"/>
        <p:guide pos="480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2052" y="-8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FBA4C5D-0A14-0617-81CD-BA9D50EFBC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2" tIns="45496" rIns="90992" bIns="45496" numCol="1" anchor="t" anchorCtr="0" compatLnSpc="1">
            <a:prstTxWarp prst="textNoShape">
              <a:avLst/>
            </a:prstTxWarp>
          </a:bodyPr>
          <a:lstStyle>
            <a:lvl1pPr defTabSz="910817" eaLnBrk="1" hangingPunct="1">
              <a:defRPr sz="1300" b="1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CD1D4FA-A0C7-F827-5F9F-CE6E90C2EA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2" tIns="45496" rIns="90992" bIns="45496" numCol="1" anchor="t" anchorCtr="0" compatLnSpc="1">
            <a:prstTxWarp prst="textNoShape">
              <a:avLst/>
            </a:prstTxWarp>
          </a:bodyPr>
          <a:lstStyle>
            <a:lvl1pPr algn="r" defTabSz="910817" eaLnBrk="1" hangingPunct="1">
              <a:defRPr sz="1300" b="1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797851D6-A64A-3800-157F-04F9A09BC98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2" tIns="45496" rIns="90992" bIns="45496" numCol="1" anchor="b" anchorCtr="0" compatLnSpc="1">
            <a:prstTxWarp prst="textNoShape">
              <a:avLst/>
            </a:prstTxWarp>
          </a:bodyPr>
          <a:lstStyle>
            <a:lvl1pPr defTabSz="910817" eaLnBrk="1" hangingPunct="1">
              <a:defRPr sz="1300" b="1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A8E4CD28-D518-C4F2-F64E-0775D88F29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29675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2" tIns="45496" rIns="90992" bIns="45496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defRPr sz="1300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26B3F2B-2D9E-ED42-9A90-FAD03460F3B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70B0745-3B3C-8EDC-893E-35C84E582A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2" tIns="45496" rIns="90992" bIns="45496" numCol="1" anchor="t" anchorCtr="0" compatLnSpc="1">
            <a:prstTxWarp prst="textNoShape">
              <a:avLst/>
            </a:prstTxWarp>
          </a:bodyPr>
          <a:lstStyle>
            <a:lvl1pPr defTabSz="910817" eaLnBrk="1" hangingPunct="1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03F0D59-9752-D75B-144F-BDEE41A262B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2" tIns="45496" rIns="90992" bIns="45496" numCol="1" anchor="t" anchorCtr="0" compatLnSpc="1">
            <a:prstTxWarp prst="textNoShape">
              <a:avLst/>
            </a:prstTxWarp>
          </a:bodyPr>
          <a:lstStyle>
            <a:lvl1pPr algn="r" defTabSz="910817" eaLnBrk="1" hangingPunct="1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CB68F728-B0DD-5AD0-2E87-837AC973DDB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5325"/>
            <a:ext cx="4649788" cy="34877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EFDB483-B273-D5E2-370D-EE315390A84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2" tIns="45496" rIns="90992" bIns="454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92BAAAB-C6E8-690F-D173-EF3D84D240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8088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2" tIns="45496" rIns="90992" bIns="45496" numCol="1" anchor="b" anchorCtr="0" compatLnSpc="1">
            <a:prstTxWarp prst="textNoShape">
              <a:avLst/>
            </a:prstTxWarp>
          </a:bodyPr>
          <a:lstStyle>
            <a:lvl1pPr defTabSz="910817" eaLnBrk="1" hangingPunct="1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0DB5762-949C-C3CA-743E-D167909B86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8088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92" tIns="45496" rIns="90992" bIns="45496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110F7AE-6A11-634A-B559-3E0D4F16000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4E19083C-9AB2-2A1D-CF27-36D28B6FF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5013" indent="-280988"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1888" indent="-223838"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85913" indent="-223838"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38350" indent="-223838" defTabSz="9017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95550" indent="-223838" defTabSz="9017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2750" indent="-223838" defTabSz="9017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09950" indent="-223838" defTabSz="9017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7150" indent="-223838" defTabSz="9017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9C6C00-0382-0942-98F6-6536B76BA703}" type="slidenum">
              <a:rPr lang="en-US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7D563CF-FAC1-E81A-3328-D0B1ACAC36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3C2D189-8BC2-400E-3229-9602719A07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157EEBAD-B8D3-E472-DB98-EBDE92980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42629B67-D9AD-1722-8089-B25E1F473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EFFA1D64-3CF7-B63B-3354-713CF75EC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63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5963" indent="-274638" defTabSz="90963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1725" indent="-219075" defTabSz="90963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1463" indent="-219075" defTabSz="90963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2788" indent="-219075" defTabSz="90963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9988" indent="-219075" defTabSz="9096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97188" indent="-219075" defTabSz="9096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54388" indent="-219075" defTabSz="9096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11588" indent="-219075" defTabSz="9096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D6353D1-50D9-4B4C-966F-6B4B3B6FDB9B}" type="slidenum">
              <a:rPr lang="en-US" altLang="en-US" sz="1300" smtClean="0">
                <a:latin typeface="Arial" panose="020B0604020202020204" pitchFamily="34" charset="0"/>
              </a:rPr>
              <a:pPr/>
              <a:t>4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7">
            <a:extLst>
              <a:ext uri="{FF2B5EF4-FFF2-40B4-BE49-F238E27FC236}">
                <a16:creationId xmlns:a16="http://schemas.microsoft.com/office/drawing/2014/main" id="{2828C743-1A6F-567A-1EE5-E913E51D6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082088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2804035-7EF7-212E-AD5A-317ED7A15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07">
            <a:extLst>
              <a:ext uri="{FF2B5EF4-FFF2-40B4-BE49-F238E27FC236}">
                <a16:creationId xmlns:a16="http://schemas.microsoft.com/office/drawing/2014/main" id="{1E42EE5A-4091-7816-5A66-FB286809AD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46075" y="3124200"/>
            <a:ext cx="8493125" cy="914400"/>
          </a:xfrm>
        </p:spPr>
        <p:txBody>
          <a:bodyPr anchor="b"/>
          <a:lstStyle>
            <a:lvl1pPr>
              <a:defRPr sz="49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362200" y="3886200"/>
            <a:ext cx="6400800" cy="457200"/>
          </a:xfrm>
        </p:spPr>
        <p:txBody>
          <a:bodyPr lIns="92064" tIns="46033" rIns="92064" bIns="46033" anchor="ctr"/>
          <a:lstStyle>
            <a:lvl1pPr marL="0" indent="0" algn="r">
              <a:buFont typeface="Wingdings" pitchFamily="2" charset="2"/>
              <a:buNone/>
              <a:defRPr>
                <a:solidFill>
                  <a:srgbClr val="96B1D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18">
            <a:extLst>
              <a:ext uri="{FF2B5EF4-FFF2-40B4-BE49-F238E27FC236}">
                <a16:creationId xmlns:a16="http://schemas.microsoft.com/office/drawing/2014/main" id="{A8DDF089-EC7F-6459-49B6-600946F8ED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BC7D8-5013-9042-902E-20C677632DE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6" name="Footer Placeholder 19">
            <a:extLst>
              <a:ext uri="{FF2B5EF4-FFF2-40B4-BE49-F238E27FC236}">
                <a16:creationId xmlns:a16="http://schemas.microsoft.com/office/drawing/2014/main" id="{D72EAD9C-2F53-4C07-A713-850A56520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79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7">
            <a:extLst>
              <a:ext uri="{FF2B5EF4-FFF2-40B4-BE49-F238E27FC236}">
                <a16:creationId xmlns:a16="http://schemas.microsoft.com/office/drawing/2014/main" id="{5667AA06-7054-A611-9DE4-A0F5C4AA4AB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8092621-5154-D98A-705F-A593B17FE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7">
            <a:extLst>
              <a:ext uri="{FF2B5EF4-FFF2-40B4-BE49-F238E27FC236}">
                <a16:creationId xmlns:a16="http://schemas.microsoft.com/office/drawing/2014/main" id="{EF30F53F-62F3-0975-D5D9-A532BAE0341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9250F59-1D87-2297-1C35-42E1C5A5B6F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306ECF05-5BCF-DE4A-8769-D8446AD7548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843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7">
            <a:extLst>
              <a:ext uri="{FF2B5EF4-FFF2-40B4-BE49-F238E27FC236}">
                <a16:creationId xmlns:a16="http://schemas.microsoft.com/office/drawing/2014/main" id="{34CC1133-5D37-8182-9EEE-E0AE4C8966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43D2614D-0495-E253-FC8E-0759367136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7">
            <a:extLst>
              <a:ext uri="{FF2B5EF4-FFF2-40B4-BE49-F238E27FC236}">
                <a16:creationId xmlns:a16="http://schemas.microsoft.com/office/drawing/2014/main" id="{E948FF42-B9CE-CBB5-F43C-4A597F75F6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71800"/>
            <a:ext cx="7772400" cy="1362075"/>
          </a:xfrm>
        </p:spPr>
        <p:txBody>
          <a:bodyPr anchorCtr="1"/>
          <a:lstStyle>
            <a:lvl1pPr algn="l">
              <a:defRPr sz="3400" b="1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F42FDBF-27A8-2008-E809-4423C0B8A9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94866CCE-C30F-D245-8A06-0816551C468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772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7">
            <a:extLst>
              <a:ext uri="{FF2B5EF4-FFF2-40B4-BE49-F238E27FC236}">
                <a16:creationId xmlns:a16="http://schemas.microsoft.com/office/drawing/2014/main" id="{62912850-FC70-2BB9-2372-0570157F19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11507D2-B0D8-B218-4CE4-D8C3D3A5E7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07">
            <a:extLst>
              <a:ext uri="{FF2B5EF4-FFF2-40B4-BE49-F238E27FC236}">
                <a16:creationId xmlns:a16="http://schemas.microsoft.com/office/drawing/2014/main" id="{DA0CDBD5-910B-BE74-0DB0-3E5AE6E52B7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747838"/>
            <a:ext cx="4079875" cy="4640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8350" y="1747838"/>
            <a:ext cx="4081463" cy="4640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DA4F86E-E9A9-66C3-0AAA-AA06E9432A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629276A5-D9A5-EB4A-8669-E3BA091616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98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7">
            <a:extLst>
              <a:ext uri="{FF2B5EF4-FFF2-40B4-BE49-F238E27FC236}">
                <a16:creationId xmlns:a16="http://schemas.microsoft.com/office/drawing/2014/main" id="{0C29E6C6-BE1B-6919-8967-8C013A2F81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21895D38-E64D-13DC-B9D8-4DF1D22179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07">
            <a:extLst>
              <a:ext uri="{FF2B5EF4-FFF2-40B4-BE49-F238E27FC236}">
                <a16:creationId xmlns:a16="http://schemas.microsoft.com/office/drawing/2014/main" id="{0874B245-E013-87DD-E07F-0B8F38C8F9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1239226-BAC4-0A2A-D70F-BC0F2DC5B57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8E4562A2-F5CD-DF46-AD1E-21B1C347EDE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17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7">
            <a:extLst>
              <a:ext uri="{FF2B5EF4-FFF2-40B4-BE49-F238E27FC236}">
                <a16:creationId xmlns:a16="http://schemas.microsoft.com/office/drawing/2014/main" id="{575B7CCB-678C-C35B-44DA-62A3425B32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AC6113C7-4020-4F61-9C45-B802A93E3E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7">
            <a:extLst>
              <a:ext uri="{FF2B5EF4-FFF2-40B4-BE49-F238E27FC236}">
                <a16:creationId xmlns:a16="http://schemas.microsoft.com/office/drawing/2014/main" id="{6D76537E-2C1F-921D-54C0-BE33A64371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A90B2A-7AC1-13CF-9558-F71C503518C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28CFCA14-0301-E04D-9582-3393B1EBE31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041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7">
            <a:extLst>
              <a:ext uri="{FF2B5EF4-FFF2-40B4-BE49-F238E27FC236}">
                <a16:creationId xmlns:a16="http://schemas.microsoft.com/office/drawing/2014/main" id="{B3C140E2-1B31-41B3-E7E2-4A2604F459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19A6985-29A5-E440-57C0-9F7564D41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07">
            <a:extLst>
              <a:ext uri="{FF2B5EF4-FFF2-40B4-BE49-F238E27FC236}">
                <a16:creationId xmlns:a16="http://schemas.microsoft.com/office/drawing/2014/main" id="{01B50DE5-6AB5-C7C2-535D-0E42BCA0D7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161FCA9-3958-BF35-ABA7-3EF3AE9DB1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35DE712A-9D3A-3141-B2D2-A6889737D57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545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7">
            <a:extLst>
              <a:ext uri="{FF2B5EF4-FFF2-40B4-BE49-F238E27FC236}">
                <a16:creationId xmlns:a16="http://schemas.microsoft.com/office/drawing/2014/main" id="{F664788B-4E5F-F6F2-0411-0AC5689D3D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8691E5D-CDF1-F81F-21D8-2CA18E3B0C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07">
            <a:extLst>
              <a:ext uri="{FF2B5EF4-FFF2-40B4-BE49-F238E27FC236}">
                <a16:creationId xmlns:a16="http://schemas.microsoft.com/office/drawing/2014/main" id="{77005D2D-AC57-BE0F-AD80-3AC2A0F655C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A2CED57-5D0A-87C6-A033-B95F796F87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170115DD-AEE1-BE46-9F93-DF9BCF54F68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285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7">
            <a:extLst>
              <a:ext uri="{FF2B5EF4-FFF2-40B4-BE49-F238E27FC236}">
                <a16:creationId xmlns:a16="http://schemas.microsoft.com/office/drawing/2014/main" id="{124A3559-4611-F20A-A00F-2BF1E3A60C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025E7CD-462C-605F-8284-4D5CCE3397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07">
            <a:extLst>
              <a:ext uri="{FF2B5EF4-FFF2-40B4-BE49-F238E27FC236}">
                <a16:creationId xmlns:a16="http://schemas.microsoft.com/office/drawing/2014/main" id="{AC24AC84-420C-D06F-DC63-515E4B468D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CAEC671-9EDB-8E47-D119-8D2474A6C2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3D829EEE-051E-EE4A-B5EF-3F4E63ABF8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135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7">
            <a:extLst>
              <a:ext uri="{FF2B5EF4-FFF2-40B4-BE49-F238E27FC236}">
                <a16:creationId xmlns:a16="http://schemas.microsoft.com/office/drawing/2014/main" id="{DC562A2C-CF6F-AAE3-7C80-078FE8ADFD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DE0234F-3D93-410B-BA26-71EE932774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7">
            <a:extLst>
              <a:ext uri="{FF2B5EF4-FFF2-40B4-BE49-F238E27FC236}">
                <a16:creationId xmlns:a16="http://schemas.microsoft.com/office/drawing/2014/main" id="{685D5AAE-B8A0-1DAB-584A-FDFA2BEA78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F0076E2-ADD7-76B7-2C7D-FCE77E8E71C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8635F587-66A2-8F4B-B378-8649CCF1104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65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7">
            <a:extLst>
              <a:ext uri="{FF2B5EF4-FFF2-40B4-BE49-F238E27FC236}">
                <a16:creationId xmlns:a16="http://schemas.microsoft.com/office/drawing/2014/main" id="{CA0183BA-6341-E9C0-2307-9C511649D3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13" y="0"/>
            <a:ext cx="9082087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9B1B9B8-FE8B-B2B8-A833-DAE57C3FF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7">
            <a:extLst>
              <a:ext uri="{FF2B5EF4-FFF2-40B4-BE49-F238E27FC236}">
                <a16:creationId xmlns:a16="http://schemas.microsoft.com/office/drawing/2014/main" id="{C151AA31-918A-9D9E-6C7B-F13123385D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5200" y="0"/>
            <a:ext cx="56388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4963" y="1076325"/>
            <a:ext cx="2112962" cy="53117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075" y="1076325"/>
            <a:ext cx="6186488" cy="53117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AD96901-B878-8B53-4E6F-1FDB4D374F6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29CA273D-1A21-A042-828A-3A04AFF778B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258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0E9339-5A6F-21FE-D988-EBA131321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076325"/>
            <a:ext cx="84518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64" tIns="46033" rIns="92064" bIns="4603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5C676F6-4E7F-23B1-DCC9-6865FEC4E3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84938" y="6388100"/>
            <a:ext cx="2312987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64" tIns="46033" rIns="92064" bIns="46033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100">
                <a:solidFill>
                  <a:srgbClr val="9BAFC4"/>
                </a:solidFill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CADABC13-C9AC-2C4F-94FB-F3B29AFF3CF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20E17A-44F7-FF9B-CAAD-85FA2658F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747838"/>
            <a:ext cx="8313738" cy="464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107">
            <a:extLst>
              <a:ext uri="{FF2B5EF4-FFF2-40B4-BE49-F238E27FC236}">
                <a16:creationId xmlns:a16="http://schemas.microsoft.com/office/drawing/2014/main" id="{488117A7-3A8D-1060-7B79-8EB58C0C4B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801E25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3146A8F-6A15-D703-2004-1031688AA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31" name="Picture 19">
            <a:extLst>
              <a:ext uri="{FF2B5EF4-FFF2-40B4-BE49-F238E27FC236}">
                <a16:creationId xmlns:a16="http://schemas.microsoft.com/office/drawing/2014/main" id="{D16D8655-41DA-C1F2-5B55-34AF934FCE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38544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6339" r:id="rId1"/>
    <p:sldLayoutId id="2147486340" r:id="rId2"/>
    <p:sldLayoutId id="2147486341" r:id="rId3"/>
    <p:sldLayoutId id="2147486342" r:id="rId4"/>
    <p:sldLayoutId id="2147486343" r:id="rId5"/>
    <p:sldLayoutId id="2147486344" r:id="rId6"/>
    <p:sldLayoutId id="2147486345" r:id="rId7"/>
    <p:sldLayoutId id="2147486346" r:id="rId8"/>
    <p:sldLayoutId id="2147486347" r:id="rId9"/>
    <p:sldLayoutId id="2147486348" r:id="rId10"/>
    <p:sldLayoutId id="21474863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F7600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F7600"/>
          </a:solidFill>
          <a:latin typeface="Times New Roman" pitchFamily="18" charset="0"/>
          <a:cs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F7600"/>
          </a:solidFill>
          <a:latin typeface="Times New Roman" pitchFamily="18" charset="0"/>
          <a:cs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F7600"/>
          </a:solidFill>
          <a:latin typeface="Times New Roman" pitchFamily="18" charset="0"/>
          <a:cs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F7600"/>
          </a:solidFill>
          <a:latin typeface="Times New Roman" pitchFamily="18" charset="0"/>
          <a:cs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CF7600"/>
          </a:solidFill>
          <a:latin typeface="A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CF7600"/>
          </a:solidFill>
          <a:latin typeface="A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CF7600"/>
          </a:solidFill>
          <a:latin typeface="A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CF7600"/>
          </a:solidFill>
          <a:latin typeface="AGaramond" pitchFamily="18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lr>
          <a:srgbClr val="96B1D0"/>
        </a:buClr>
        <a:buFont typeface="Wingdings" pitchFamily="2" charset="2"/>
        <a:buChar char="§"/>
        <a:defRPr sz="2000">
          <a:solidFill>
            <a:srgbClr val="000000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6B1D0"/>
        </a:buClr>
        <a:buChar char="•"/>
        <a:defRPr>
          <a:solidFill>
            <a:srgbClr val="000000"/>
          </a:solidFill>
          <a:latin typeface="Times New Roman" pitchFamily="18" charset="0"/>
          <a:cs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6B1D0"/>
        </a:buClr>
        <a:buFont typeface="Wingdings" pitchFamily="2" charset="2"/>
        <a:buChar char="w"/>
        <a:defRPr sz="1700">
          <a:solidFill>
            <a:srgbClr val="000000"/>
          </a:solidFill>
          <a:latin typeface="Times New Roman" pitchFamily="18" charset="0"/>
          <a:cs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6B1D0"/>
        </a:buClr>
        <a:buChar char="–"/>
        <a:defRPr sz="1500">
          <a:solidFill>
            <a:srgbClr val="000000"/>
          </a:solidFill>
          <a:latin typeface="Times New Roman" pitchFamily="18" charset="0"/>
          <a:cs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6B1D0"/>
        </a:buClr>
        <a:buChar char="–"/>
        <a:defRPr sz="1500">
          <a:solidFill>
            <a:srgbClr val="000000"/>
          </a:solidFill>
          <a:latin typeface="Times New Roman" pitchFamily="18" charset="0"/>
          <a:cs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6B1D0"/>
        </a:buClr>
        <a:buChar char="–"/>
        <a:defRPr sz="1500"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6B1D0"/>
        </a:buClr>
        <a:buChar char="–"/>
        <a:defRPr sz="1500"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6B1D0"/>
        </a:buClr>
        <a:buChar char="–"/>
        <a:defRPr sz="1500"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6B1D0"/>
        </a:buClr>
        <a:buChar char="–"/>
        <a:defRPr sz="15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FDDD990-BC51-36A0-02E9-2671AF1CC11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752600"/>
            <a:ext cx="8382000" cy="1981200"/>
          </a:xfrm>
        </p:spPr>
        <p:txBody>
          <a:bodyPr/>
          <a:lstStyle/>
          <a:p>
            <a:pPr algn="ctr" eaLnBrk="1" hangingPunct="1"/>
            <a:r>
              <a:rPr lang="en-US" altLang="en-US" sz="3600"/>
              <a:t>INNOVATION AND ENTREPRENEURSHIP: ENTREPRENEURSHIP THROUGH ACQUISITION (ETA)</a:t>
            </a:r>
          </a:p>
        </p:txBody>
      </p:sp>
      <p:sp>
        <p:nvSpPr>
          <p:cNvPr id="15363" name="Subtitle 6">
            <a:extLst>
              <a:ext uri="{FF2B5EF4-FFF2-40B4-BE49-F238E27FC236}">
                <a16:creationId xmlns:a16="http://schemas.microsoft.com/office/drawing/2014/main" id="{765BB332-D0BF-135F-FB82-1C0E54D0CF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33600" y="3657600"/>
            <a:ext cx="6400800" cy="2286000"/>
          </a:xfrm>
        </p:spPr>
        <p:txBody>
          <a:bodyPr/>
          <a:lstStyle/>
          <a:p>
            <a:r>
              <a:rPr lang="en-US" altLang="en-US" dirty="0">
                <a:solidFill>
                  <a:schemeClr val="bg2"/>
                </a:solidFill>
              </a:rPr>
              <a:t>Some Slides Courtesy of Brian Wolfe</a:t>
            </a:r>
            <a:endParaRPr lang="en-US" altLang="en-US" sz="600" dirty="0">
              <a:solidFill>
                <a:schemeClr val="bg2"/>
              </a:solidFill>
            </a:endParaRPr>
          </a:p>
        </p:txBody>
      </p:sp>
      <p:pic>
        <p:nvPicPr>
          <p:cNvPr id="15364" name="Picture 5" descr="WUSTL_Shield_2-01.jpg">
            <a:extLst>
              <a:ext uri="{FF2B5EF4-FFF2-40B4-BE49-F238E27FC236}">
                <a16:creationId xmlns:a16="http://schemas.microsoft.com/office/drawing/2014/main" id="{0EAA2C36-0E95-0072-87D7-01CE0D822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9530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D0EF328-9DF3-F5F8-99F2-95FF21CA8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000"/>
              <a:t>WHAT IS ETA?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930B6C2-A351-36B9-8C96-C5836E2F4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1148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</a:rPr>
              <a:t>Rather than “greenfield” a new start-up, acquisition entrepreneurs “</a:t>
            </a:r>
            <a:r>
              <a:rPr lang="en-US" u="sng" dirty="0">
                <a:latin typeface="+mn-lt"/>
              </a:rPr>
              <a:t>buy and build</a:t>
            </a:r>
            <a:r>
              <a:rPr lang="en-US" dirty="0">
                <a:latin typeface="+mn-lt"/>
              </a:rPr>
              <a:t>” an </a:t>
            </a:r>
            <a:r>
              <a:rPr lang="en-US" u="sng" dirty="0">
                <a:latin typeface="+mn-lt"/>
              </a:rPr>
              <a:t>existing profitable small business</a:t>
            </a:r>
            <a:r>
              <a:rPr lang="en-US" dirty="0">
                <a:latin typeface="+mn-lt"/>
              </a:rPr>
              <a:t>, usually with the ultimate goal of selling for a profit </a:t>
            </a: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</a:rPr>
              <a:t>Can be “</a:t>
            </a:r>
            <a:r>
              <a:rPr lang="en-US" u="sng" dirty="0">
                <a:latin typeface="+mn-lt"/>
              </a:rPr>
              <a:t>self-funded</a:t>
            </a:r>
            <a:r>
              <a:rPr lang="en-US" dirty="0">
                <a:latin typeface="+mn-lt"/>
              </a:rPr>
              <a:t>” (e.g., SBA 7(a) loan) </a:t>
            </a:r>
            <a:r>
              <a:rPr lang="en-US">
                <a:latin typeface="+mn-lt"/>
              </a:rPr>
              <a:t>or “</a:t>
            </a:r>
            <a:r>
              <a:rPr lang="en-US" u="sng">
                <a:latin typeface="+mn-lt"/>
              </a:rPr>
              <a:t>traditional</a:t>
            </a:r>
            <a:r>
              <a:rPr lang="en-US">
                <a:latin typeface="+mn-lt"/>
              </a:rPr>
              <a:t>”(e.g., search fund funded)</a:t>
            </a:r>
            <a:endParaRPr lang="en-US" dirty="0">
              <a:latin typeface="+mn-lt"/>
            </a:endParaRP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</a:rPr>
              <a:t>“</a:t>
            </a:r>
            <a:r>
              <a:rPr lang="en-US" u="sng" dirty="0">
                <a:latin typeface="+mn-lt"/>
              </a:rPr>
              <a:t>Micro PE</a:t>
            </a:r>
            <a:r>
              <a:rPr lang="en-US" dirty="0">
                <a:latin typeface="+mn-lt"/>
              </a:rPr>
              <a:t>”: Applies PE’s playbook (aim for double/predictability of outcome), but seeks to capture certain advantages:</a:t>
            </a:r>
          </a:p>
          <a:p>
            <a:pPr lvl="1"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Searcher can buy a small company w/ </a:t>
            </a:r>
            <a:r>
              <a:rPr lang="en-US" sz="2000" u="sng" dirty="0">
                <a:latin typeface="+mn-lt"/>
              </a:rPr>
              <a:t>minimal equity check</a:t>
            </a:r>
          </a:p>
          <a:p>
            <a:pPr lvl="1"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Can stay out of </a:t>
            </a:r>
            <a:r>
              <a:rPr lang="en-US" sz="2000" u="sng" dirty="0">
                <a:latin typeface="+mn-lt"/>
              </a:rPr>
              <a:t>auctions</a:t>
            </a:r>
            <a:r>
              <a:rPr lang="en-US" sz="2000" dirty="0">
                <a:latin typeface="+mn-lt"/>
              </a:rPr>
              <a:t> / source proprietary deal at favorable valuation</a:t>
            </a:r>
          </a:p>
          <a:p>
            <a:pPr lvl="1"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Better control timing of </a:t>
            </a:r>
            <a:r>
              <a:rPr lang="en-US" sz="2000" u="sng" dirty="0">
                <a:latin typeface="+mn-lt"/>
              </a:rPr>
              <a:t>exit</a:t>
            </a:r>
            <a:r>
              <a:rPr lang="en-US" sz="2000" dirty="0">
                <a:latin typeface="+mn-lt"/>
              </a:rPr>
              <a:t> (v. PE fund life constraints)</a:t>
            </a:r>
          </a:p>
          <a:p>
            <a:pPr lvl="1"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Specialization/ability to focus on one vertical or single asset 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02BF6A8-1583-F432-F036-75983B8CC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05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br>
              <a:rPr lang="en-US" altLang="en-US" sz="1100">
                <a:solidFill>
                  <a:srgbClr val="9BAFC4"/>
                </a:solidFill>
              </a:rPr>
            </a:br>
            <a:fld id="{D2D67793-3E39-C742-BCE7-03AFEBBCBD9B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100">
              <a:solidFill>
                <a:srgbClr val="9BAFC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E5044A5-D5B7-DDCA-C99D-6A69F9E16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60960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 sz="3600"/>
              <a:t>ETA PURCHASE: WHAT’S TYPICAL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9A24C73-4C3F-61EC-C019-D147DDF2C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endParaRPr lang="en-US" sz="1000" kern="0" dirty="0">
              <a:solidFill>
                <a:schemeClr val="bg2"/>
              </a:solidFill>
              <a:latin typeface="AGaramond (Body)"/>
              <a:cs typeface="Times New Roman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>
                <a:solidFill>
                  <a:schemeClr val="bg2"/>
                </a:solidFill>
                <a:latin typeface="AGaramond (Body)"/>
                <a:cs typeface="Times New Roman"/>
              </a:rPr>
              <a:t>$1-7m in revenue and $500K-3m in EBITDA</a:t>
            </a:r>
            <a:endParaRPr lang="en-US" sz="1000" kern="0" dirty="0">
              <a:solidFill>
                <a:schemeClr val="bg2"/>
              </a:solidFill>
              <a:latin typeface="AGaramond (Body)"/>
              <a:cs typeface="Times New Roman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History of profitability (perhaps, 10 years)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>
                <a:solidFill>
                  <a:schemeClr val="bg2"/>
                </a:solidFill>
                <a:latin typeface="AGaramond (Body)"/>
                <a:cs typeface="Times New Roman"/>
              </a:rPr>
              <a:t>15% EBITDA margin (important to service debt and underwrite growth)</a:t>
            </a:r>
            <a:endParaRPr lang="en-US" sz="1700" kern="0" dirty="0">
              <a:solidFill>
                <a:schemeClr val="bg2"/>
              </a:solidFill>
              <a:latin typeface="AGaramond (Body)"/>
              <a:cs typeface="Times New Roman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Steady growth industry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Loyal customers (ideally</a:t>
            </a:r>
            <a:r>
              <a:rPr lang="en-US" sz="1700" kern="0">
                <a:solidFill>
                  <a:schemeClr val="bg2"/>
                </a:solidFill>
                <a:latin typeface="AGaramond (Body)"/>
                <a:cs typeface="Times New Roman"/>
              </a:rPr>
              <a:t>, recurring or reoccurring)</a:t>
            </a:r>
            <a:endParaRPr lang="en-US" sz="1700" kern="0" dirty="0">
              <a:solidFill>
                <a:schemeClr val="bg2"/>
              </a:solidFill>
              <a:latin typeface="AGaramond (Body)"/>
              <a:cs typeface="Times New Roman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Purchase </a:t>
            </a:r>
            <a:r>
              <a:rPr lang="en-US" sz="1700" kern="0">
                <a:solidFill>
                  <a:schemeClr val="bg2"/>
                </a:solidFill>
                <a:latin typeface="AGaramond (Body)"/>
                <a:cs typeface="Times New Roman"/>
              </a:rPr>
              <a:t>for $1-10m (</a:t>
            </a:r>
            <a:r>
              <a:rPr lang="en-US" sz="1700" kern="0" dirty="0" err="1">
                <a:solidFill>
                  <a:schemeClr val="bg2"/>
                </a:solidFill>
                <a:latin typeface="AGaramond (Body)"/>
                <a:cs typeface="Times New Roman"/>
              </a:rPr>
              <a:t>altho</a:t>
            </a: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 SBA </a:t>
            </a:r>
            <a:r>
              <a:rPr lang="en-US" sz="1700" kern="0">
                <a:solidFill>
                  <a:schemeClr val="bg2"/>
                </a:solidFill>
                <a:latin typeface="AGaramond (Body)"/>
                <a:cs typeface="Times New Roman"/>
              </a:rPr>
              <a:t>loans capped </a:t>
            </a: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at $</a:t>
            </a:r>
            <a:r>
              <a:rPr lang="en-US" sz="1700" kern="0" dirty="0" err="1">
                <a:solidFill>
                  <a:schemeClr val="bg2"/>
                </a:solidFill>
                <a:latin typeface="AGaramond (Body)"/>
                <a:cs typeface="Times New Roman"/>
              </a:rPr>
              <a:t>5M</a:t>
            </a: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)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>
                <a:solidFill>
                  <a:schemeClr val="bg2"/>
                </a:solidFill>
                <a:latin typeface="AGaramond (Body)"/>
              </a:rPr>
              <a:t>Can acquire in a “traditional” (e.g., search fund funded) search or via “self funded” search</a:t>
            </a:r>
            <a:endParaRPr lang="en-US" sz="1700" kern="0" dirty="0">
              <a:solidFill>
                <a:schemeClr val="bg2"/>
              </a:solidFill>
              <a:latin typeface="AGaramond (Body)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endParaRPr lang="en-US" sz="1700" kern="0" dirty="0">
              <a:solidFill>
                <a:schemeClr val="bg2"/>
              </a:solidFill>
              <a:latin typeface="AGaramond (Body)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F14CB878-C5CD-02E9-5658-B79AFEF4D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81800" y="60960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br>
              <a:rPr lang="en-US" altLang="en-US" sz="1100">
                <a:solidFill>
                  <a:srgbClr val="9BAFC4"/>
                </a:solidFill>
              </a:rPr>
            </a:br>
            <a:fld id="{6424311B-754F-3C48-B65C-F4B81546AD3F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100">
              <a:solidFill>
                <a:srgbClr val="9BAFC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B453D6BC-5A95-E81C-BCB4-21E174318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05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br>
              <a:rPr lang="en-US" altLang="en-US" sz="1100">
                <a:solidFill>
                  <a:srgbClr val="9BAFC4"/>
                </a:solidFill>
              </a:rPr>
            </a:br>
            <a:fld id="{8E9DD67C-4EFF-9342-ABF3-2CAA8C1043A0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100">
              <a:solidFill>
                <a:srgbClr val="9BAFC4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A244327D-394D-96D9-CBDF-3F2F72AF3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85800"/>
            <a:ext cx="8899525" cy="1143000"/>
          </a:xfrm>
        </p:spPr>
        <p:txBody>
          <a:bodyPr/>
          <a:lstStyle/>
          <a:p>
            <a:pPr algn="ctr" eaLnBrk="1" hangingPunct="1"/>
            <a:r>
              <a:rPr lang="en-US" altLang="en-US" sz="2600"/>
              <a:t>PUTTING ETA INTO CONTEXT: CONTRASTING PRIVATE COMPANY INVESTMENT MODELS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B658FF07-92E4-4804-45E6-39B82C54CD99}"/>
              </a:ext>
            </a:extLst>
          </p:cNvPr>
          <p:cNvSpPr txBox="1">
            <a:spLocks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 anchor="ctr"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br>
              <a:rPr lang="en-US" altLang="en-US" sz="1100">
                <a:solidFill>
                  <a:srgbClr val="9BAFC4"/>
                </a:solidFill>
              </a:rPr>
            </a:br>
            <a:fld id="{00C4B6E9-DD82-4A45-86A8-9C85134C864A}" type="slidenum">
              <a:rPr lang="en-US" altLang="en-US" sz="1100">
                <a:solidFill>
                  <a:srgbClr val="9BAFC4"/>
                </a:solidFill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100">
              <a:solidFill>
                <a:srgbClr val="9BAFC4"/>
              </a:solidFill>
            </a:endParaRPr>
          </a:p>
        </p:txBody>
      </p:sp>
      <p:sp>
        <p:nvSpPr>
          <p:cNvPr id="19461" name="Oval 7">
            <a:extLst>
              <a:ext uri="{FF2B5EF4-FFF2-40B4-BE49-F238E27FC236}">
                <a16:creationId xmlns:a16="http://schemas.microsoft.com/office/drawing/2014/main" id="{C08F3A78-A846-E14E-583F-89C89C957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05000"/>
            <a:ext cx="3048000" cy="2362200"/>
          </a:xfrm>
          <a:prstGeom prst="ellipse">
            <a:avLst/>
          </a:prstGeom>
          <a:noFill/>
          <a:ln w="22225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462" name="Oval 12">
            <a:extLst>
              <a:ext uri="{FF2B5EF4-FFF2-40B4-BE49-F238E27FC236}">
                <a16:creationId xmlns:a16="http://schemas.microsoft.com/office/drawing/2014/main" id="{4E05C32E-5515-9D96-3D68-2BB4AF9DA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905000"/>
            <a:ext cx="3048000" cy="2362200"/>
          </a:xfrm>
          <a:prstGeom prst="ellipse">
            <a:avLst/>
          </a:prstGeom>
          <a:noFill/>
          <a:ln w="22225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463" name="TextBox 13">
            <a:extLst>
              <a:ext uri="{FF2B5EF4-FFF2-40B4-BE49-F238E27FC236}">
                <a16:creationId xmlns:a16="http://schemas.microsoft.com/office/drawing/2014/main" id="{30362A0C-4EA5-B60A-E9F1-1E7296A03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2362200"/>
            <a:ext cx="1865313" cy="1016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 u="sng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Private Equity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(control, predictable,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debt, $25M+,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closed ended fund)</a:t>
            </a:r>
          </a:p>
        </p:txBody>
      </p:sp>
      <p:sp>
        <p:nvSpPr>
          <p:cNvPr id="19464" name="TextBox 14">
            <a:extLst>
              <a:ext uri="{FF2B5EF4-FFF2-40B4-BE49-F238E27FC236}">
                <a16:creationId xmlns:a16="http://schemas.microsoft.com/office/drawing/2014/main" id="{12C04767-7E9D-9197-A784-D7B4AFBED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438" y="2362200"/>
            <a:ext cx="1884362" cy="1016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500" u="sng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Venture Capital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(minority, no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debt, closed ended, passive investment)</a:t>
            </a:r>
          </a:p>
        </p:txBody>
      </p:sp>
      <p:sp>
        <p:nvSpPr>
          <p:cNvPr id="19465" name="Oval 17">
            <a:extLst>
              <a:ext uri="{FF2B5EF4-FFF2-40B4-BE49-F238E27FC236}">
                <a16:creationId xmlns:a16="http://schemas.microsoft.com/office/drawing/2014/main" id="{68932B27-D4C0-6049-9128-E7FBB3282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657600"/>
            <a:ext cx="2971800" cy="2514600"/>
          </a:xfrm>
          <a:prstGeom prst="ellipse">
            <a:avLst/>
          </a:prstGeom>
          <a:noFill/>
          <a:ln w="22225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466" name="Oval 21">
            <a:extLst>
              <a:ext uri="{FF2B5EF4-FFF2-40B4-BE49-F238E27FC236}">
                <a16:creationId xmlns:a16="http://schemas.microsoft.com/office/drawing/2014/main" id="{295FFED5-2EAF-78A3-DA1D-A30DFFBF8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810000"/>
            <a:ext cx="3048000" cy="2362200"/>
          </a:xfrm>
          <a:prstGeom prst="ellipse">
            <a:avLst/>
          </a:prstGeom>
          <a:noFill/>
          <a:ln w="22225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467" name="TextBox 22">
            <a:extLst>
              <a:ext uri="{FF2B5EF4-FFF2-40B4-BE49-F238E27FC236}">
                <a16:creationId xmlns:a16="http://schemas.microsoft.com/office/drawing/2014/main" id="{5B2EBF1A-FFAA-0ED4-BA84-BF104ACAE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75" y="4343400"/>
            <a:ext cx="1797050" cy="124618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 u="sng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Start up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(control, limited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capital req’d to start,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need to get to sales/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PMF)</a:t>
            </a:r>
          </a:p>
        </p:txBody>
      </p:sp>
      <p:sp>
        <p:nvSpPr>
          <p:cNvPr id="19468" name="TextBox 23">
            <a:extLst>
              <a:ext uri="{FF2B5EF4-FFF2-40B4-BE49-F238E27FC236}">
                <a16:creationId xmlns:a16="http://schemas.microsoft.com/office/drawing/2014/main" id="{EB567A9B-EC9D-FA6E-29D5-D149E6254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4343400"/>
            <a:ext cx="1868487" cy="124618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 u="sng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ETA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(you’re operator; can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own majority,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predictable, debt,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500">
                <a:solidFill>
                  <a:schemeClr val="bg2"/>
                </a:solidFill>
                <a:latin typeface="AGaramond (Body)"/>
                <a:cs typeface="Arial" panose="020B0604020202020204" pitchFamily="34" charset="0"/>
              </a:rPr>
              <a:t>$2-10M deal size)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D99AF88-6AED-71B7-30FF-A1C1CE482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981200"/>
            <a:ext cx="3336925" cy="4114800"/>
          </a:xfrm>
          <a:prstGeom prst="rect">
            <a:avLst/>
          </a:prstGeom>
          <a:noFill/>
          <a:ln>
            <a:noFill/>
          </a:ln>
        </p:spPr>
        <p:txBody>
          <a:bodyPr lIns="91429" tIns="45714" rIns="91429" bIns="45714"/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96B1D0"/>
              </a:buClr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Font typeface="Wingdings" panose="05000000000000000000" pitchFamily="2" charset="2"/>
              <a:buChar char="w"/>
              <a:defRPr sz="17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ct val="6000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sz="1700" u="sng" kern="0" dirty="0">
                <a:latin typeface="+mn-lt"/>
              </a:rPr>
              <a:t>Variables</a:t>
            </a:r>
            <a:r>
              <a:rPr lang="en-US" sz="1700" kern="0" dirty="0">
                <a:latin typeface="+mn-lt"/>
              </a:rPr>
              <a:t>:</a:t>
            </a: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sz="1700" kern="0">
                <a:latin typeface="+mn-lt"/>
              </a:rPr>
              <a:t>Passive or active investment?</a:t>
            </a:r>
            <a:endParaRPr lang="en-US" sz="1700" kern="0" dirty="0">
              <a:latin typeface="+mn-lt"/>
            </a:endParaRP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sz="1700" kern="0">
                <a:latin typeface="+mn-lt"/>
              </a:rPr>
              <a:t>Size of undertaking</a:t>
            </a:r>
            <a:endParaRPr lang="en-US" sz="1700" kern="0" dirty="0">
              <a:latin typeface="+mn-lt"/>
            </a:endParaRP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sz="1700" kern="0">
                <a:latin typeface="+mn-lt"/>
              </a:rPr>
              <a:t>Stage of growth</a:t>
            </a:r>
            <a:endParaRPr lang="en-US" sz="1700" kern="0" dirty="0">
              <a:latin typeface="+mn-lt"/>
            </a:endParaRP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endParaRPr lang="en-US" sz="1700" kern="0" dirty="0">
              <a:latin typeface="+mn-lt"/>
            </a:endParaRP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endParaRPr lang="en-US" sz="1700" kern="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703B701-9279-5CAB-829E-462B5038B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60960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en-US"/>
              <a:t>A (CYNICAL?) VIEW OF START-UPS V. ETA</a:t>
            </a: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C891825D-8A08-F2C4-A317-450E2C4F5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81800" y="61722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br>
              <a:rPr lang="en-US" altLang="en-US" sz="1100">
                <a:solidFill>
                  <a:srgbClr val="9BAFC4"/>
                </a:solidFill>
              </a:rPr>
            </a:br>
            <a:fld id="{F7FD422A-24A8-1D40-A89E-B3D8C6A90BA9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100">
              <a:solidFill>
                <a:srgbClr val="9BAFC4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D79A79-8C48-0238-52F1-2FE3ECCA78E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676400"/>
          <a:ext cx="7772400" cy="47148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Start-up</a:t>
                      </a:r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ETA</a:t>
                      </a:r>
                      <a:endParaRPr lang="en-US" sz="1400" b="1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619">
                <a:tc>
                  <a:txBody>
                    <a:bodyPr/>
                    <a:lstStyle/>
                    <a:p>
                      <a:r>
                        <a:rPr lang="en-US" sz="1400" dirty="0"/>
                        <a:t>Need to establish product-market-fit (“PMF”) and get to revenue (getting from 0 to 1 is hard)</a:t>
                      </a:r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You acquire functioning biz</a:t>
                      </a:r>
                      <a:r>
                        <a:rPr lang="en-US" sz="1400" baseline="0" dirty="0"/>
                        <a:t> model: you already have PMF and CF and can immediately seek to accelerate growth / optimize operations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0">
                <a:tc>
                  <a:txBody>
                    <a:bodyPr/>
                    <a:lstStyle/>
                    <a:p>
                      <a:r>
                        <a:rPr lang="en-US" sz="1400" dirty="0"/>
                        <a:t>Less capital intensive at launch</a:t>
                      </a:r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More capital intensive at start </a:t>
                      </a:r>
                      <a:r>
                        <a:rPr lang="en-US" sz="1400"/>
                        <a:t>to acquire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619">
                <a:tc>
                  <a:txBody>
                    <a:bodyPr/>
                    <a:lstStyle/>
                    <a:p>
                      <a:r>
                        <a:rPr lang="en-US" sz="1400" dirty="0"/>
                        <a:t>High probability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/>
                        <a:t>of failure: most startups </a:t>
                      </a:r>
                      <a:r>
                        <a:rPr lang="en-US" sz="1400" baseline="0" dirty="0"/>
                        <a:t>fail </a:t>
                      </a:r>
                      <a:r>
                        <a:rPr lang="en-US" sz="1400" baseline="0"/>
                        <a:t>and &lt; 1% </a:t>
                      </a:r>
                      <a:r>
                        <a:rPr lang="en-US" sz="1400" baseline="0" dirty="0"/>
                        <a:t>get to </a:t>
                      </a:r>
                      <a:r>
                        <a:rPr lang="en-US" sz="1400" baseline="0"/>
                        <a:t>$10m </a:t>
                      </a:r>
                      <a:r>
                        <a:rPr lang="en-US" sz="1400" baseline="0" dirty="0"/>
                        <a:t>of sales (but virtually unlimited upside if you succeed)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Higher probability </a:t>
                      </a:r>
                      <a:r>
                        <a:rPr lang="en-US" sz="1400"/>
                        <a:t>of</a:t>
                      </a:r>
                      <a:r>
                        <a:rPr lang="en-US" sz="1400" baseline="0"/>
                        <a:t> success (&gt; 90%), </a:t>
                      </a:r>
                      <a:r>
                        <a:rPr lang="en-US" sz="1400" baseline="0" dirty="0"/>
                        <a:t>but lower ceiling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0">
                <a:tc>
                  <a:txBody>
                    <a:bodyPr/>
                    <a:lstStyle/>
                    <a:p>
                      <a:r>
                        <a:rPr lang="en-US" sz="1400" dirty="0"/>
                        <a:t>Need to find co-founder(s)</a:t>
                      </a:r>
                      <a:r>
                        <a:rPr lang="en-US" sz="1400" baseline="0" dirty="0"/>
                        <a:t> and/or build team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Company you acquire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comes</a:t>
                      </a:r>
                      <a:r>
                        <a:rPr lang="en-US" sz="1400" baseline="0" dirty="0"/>
                        <a:t> with team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30">
                <a:tc>
                  <a:txBody>
                    <a:bodyPr/>
                    <a:lstStyle/>
                    <a:p>
                      <a:r>
                        <a:rPr lang="en-US" sz="1400" dirty="0"/>
                        <a:t>Gov’t support </a:t>
                      </a:r>
                      <a:r>
                        <a:rPr lang="en-US" sz="1400"/>
                        <a:t>via QSBS exclusion and SBA loans 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Same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619">
                <a:tc>
                  <a:txBody>
                    <a:bodyPr/>
                    <a:lstStyle/>
                    <a:p>
                      <a:r>
                        <a:rPr lang="en-US" sz="1400" dirty="0"/>
                        <a:t>Cultural biases: sexy – I’m a “founder”; TechCrunch;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YC</a:t>
                      </a:r>
                      <a:r>
                        <a:rPr lang="en-US" sz="1400" baseline="0" dirty="0"/>
                        <a:t>; Bezos; </a:t>
                      </a:r>
                      <a:r>
                        <a:rPr lang="en-US" sz="1400" baseline="0" dirty="0" err="1"/>
                        <a:t>Zuck</a:t>
                      </a:r>
                      <a:r>
                        <a:rPr lang="en-US" sz="1400" baseline="0" dirty="0"/>
                        <a:t>; broad institutional support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You’re a small business owner – willing to own a pest control company?</a:t>
                      </a:r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30">
                <a:tc>
                  <a:txBody>
                    <a:bodyPr/>
                    <a:lstStyle/>
                    <a:p>
                      <a:r>
                        <a:rPr lang="en-US" sz="1400" dirty="0"/>
                        <a:t>Founder</a:t>
                      </a:r>
                      <a:r>
                        <a:rPr lang="en-US" sz="1400" baseline="0" dirty="0"/>
                        <a:t> typically experiences significant equity dilution as company matures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Varies, but in some situation, can own up to all of the business you acquire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0">
                <a:tc>
                  <a:txBody>
                    <a:bodyPr/>
                    <a:lstStyle/>
                    <a:p>
                      <a:r>
                        <a:rPr lang="en-US" sz="1400" dirty="0"/>
                        <a:t>Think</a:t>
                      </a:r>
                      <a:r>
                        <a:rPr lang="en-US" sz="1400" baseline="0" dirty="0"/>
                        <a:t> like an innovator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Think</a:t>
                      </a:r>
                      <a:r>
                        <a:rPr lang="en-US" sz="1400" baseline="0" dirty="0"/>
                        <a:t> like </a:t>
                      </a:r>
                      <a:r>
                        <a:rPr lang="en-US" sz="1400" baseline="0"/>
                        <a:t>an operator</a:t>
                      </a:r>
                      <a:endParaRPr lang="en-US" sz="1400" dirty="0"/>
                    </a:p>
                  </a:txBody>
                  <a:tcPr marT="45726" marB="45726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87B6-3D25-15F7-3828-BFD6EAC8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You Choose?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911E6-8570-FDEB-431E-567B002341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   </a:t>
            </a:r>
            <a:r>
              <a:rPr lang="en-US" altLang="en-US" sz="900"/>
              <a:t>www.kirkland.com</a:t>
            </a:r>
            <a:r>
              <a:rPr lang="en-US" altLang="en-US"/>
              <a:t>  |  </a:t>
            </a:r>
            <a:fld id="{306ECF05-5BCF-DE4A-8769-D8446AD75482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54274" name="Picture 2" descr="ETA vs. Start-Up">
            <a:extLst>
              <a:ext uri="{FF2B5EF4-FFF2-40B4-BE49-F238E27FC236}">
                <a16:creationId xmlns:a16="http://schemas.microsoft.com/office/drawing/2014/main" id="{287ABB84-DB85-3C60-EF4E-A73AF3C968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788763"/>
            <a:ext cx="8153400" cy="505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029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7740DB9-63B5-BEA8-42CD-C35EEF498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2800"/>
              <a:t>SELF-FUNDED V. TRADITIONAL SEARCH</a:t>
            </a:r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4A49A49C-69BF-51EE-3158-85B4BB766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05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br>
              <a:rPr lang="en-US" altLang="en-US" sz="1100">
                <a:solidFill>
                  <a:srgbClr val="9BAFC4"/>
                </a:solidFill>
              </a:rPr>
            </a:br>
            <a:fld id="{CDC5F00C-1929-1940-A941-7A21667914CD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100">
              <a:solidFill>
                <a:srgbClr val="9BAFC4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53D071-9EEA-C36E-3C89-A30EA602F040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762125"/>
          <a:ext cx="8077200" cy="38149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Self-funded Search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Traditional Search</a:t>
                      </a:r>
                      <a:endParaRPr lang="en-US" sz="1400" b="1" dirty="0"/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61">
                <a:tc>
                  <a:txBody>
                    <a:bodyPr/>
                    <a:lstStyle/>
                    <a:p>
                      <a:r>
                        <a:rPr lang="en-US" sz="1400" dirty="0"/>
                        <a:t>Searcher responsible for 10% equity check and remainder of purchase price funded by SBA loan, w/ searcher providing PG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Searcher responsible for minimal equity capital; search fund provides equity capital and often no </a:t>
                      </a:r>
                      <a:r>
                        <a:rPr lang="en-US" sz="1400" dirty="0" err="1"/>
                        <a:t>3P</a:t>
                      </a:r>
                      <a:r>
                        <a:rPr lang="en-US" sz="1400" dirty="0"/>
                        <a:t> debt (and no searcher PG)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17">
                <a:tc>
                  <a:txBody>
                    <a:bodyPr/>
                    <a:lstStyle/>
                    <a:p>
                      <a:r>
                        <a:rPr lang="en-US" sz="1400" dirty="0"/>
                        <a:t>Post-acquisition, searcher owns majority (up to 100%) of company that’s acquired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Searcher </a:t>
                      </a:r>
                      <a:r>
                        <a:rPr lang="en-US" sz="1400"/>
                        <a:t>owns ~25</a:t>
                      </a:r>
                      <a:r>
                        <a:rPr lang="en-US" sz="1400" dirty="0"/>
                        <a:t>% of acquired </a:t>
                      </a:r>
                      <a:r>
                        <a:rPr lang="en-US" sz="1400"/>
                        <a:t>company which vests in 3 tranches (</a:t>
                      </a:r>
                      <a:r>
                        <a:rPr lang="en-US" sz="1400" dirty="0"/>
                        <a:t>and search fund/LPs own rest)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61">
                <a:tc>
                  <a:txBody>
                    <a:bodyPr/>
                    <a:lstStyle/>
                    <a:p>
                      <a:r>
                        <a:rPr lang="en-US" sz="1400" dirty="0"/>
                        <a:t>Searcher needs to financially support himself/herself during search process 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Searcher receives budget for salary and transaction expenses during up to 24 mo. search process (often, $</a:t>
                      </a:r>
                      <a:r>
                        <a:rPr lang="en-US" sz="1400" dirty="0" err="1"/>
                        <a:t>425K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17">
                <a:tc>
                  <a:txBody>
                    <a:bodyPr/>
                    <a:lstStyle/>
                    <a:p>
                      <a:r>
                        <a:rPr lang="en-US" sz="1400" dirty="0"/>
                        <a:t>Size of target generally capped at $</a:t>
                      </a:r>
                      <a:r>
                        <a:rPr lang="en-US" sz="1400" dirty="0" err="1"/>
                        <a:t>5M</a:t>
                      </a:r>
                      <a:r>
                        <a:rPr lang="en-US" sz="1400" dirty="0"/>
                        <a:t> by virtue of cap on SBA loan size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cap on EV; target companies can be in range of $10 million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805">
                <a:tc>
                  <a:txBody>
                    <a:bodyPr/>
                    <a:lstStyle/>
                    <a:p>
                      <a:r>
                        <a:rPr lang="en-US" sz="1400" dirty="0"/>
                        <a:t>Searcher becomes owner-operator and controls own destiny; no investors to report to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Investors to report to, who may require liquidity event within specified time period, but search fund also provide operational support and lack of debt increases operational flexibility</a:t>
                      </a:r>
                    </a:p>
                  </a:txBody>
                  <a:tcPr marT="45715" marB="45715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>
            <a:extLst>
              <a:ext uri="{FF2B5EF4-FFF2-40B4-BE49-F238E27FC236}">
                <a16:creationId xmlns:a16="http://schemas.microsoft.com/office/drawing/2014/main" id="{63122830-052C-E14A-C125-A70346432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100">
                <a:solidFill>
                  <a:srgbClr val="9BAFC4"/>
                </a:solidFill>
              </a:rPr>
              <a:t> </a:t>
            </a:r>
            <a:fld id="{AE178B0D-7763-DA42-B084-879A7D08B3D5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100">
              <a:solidFill>
                <a:srgbClr val="9BAFC4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6913096-1F68-B3B0-FA09-2F204EA5357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38200"/>
            <a:ext cx="9144000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500" kern="0" dirty="0"/>
              <a:t>Deal Multiples/Valuation: Impact of Asset Size and Growth Rate</a:t>
            </a:r>
          </a:p>
        </p:txBody>
      </p:sp>
      <p:pic>
        <p:nvPicPr>
          <p:cNvPr id="23556" name="Picture 7">
            <a:extLst>
              <a:ext uri="{FF2B5EF4-FFF2-40B4-BE49-F238E27FC236}">
                <a16:creationId xmlns:a16="http://schemas.microsoft.com/office/drawing/2014/main" id="{1EE62A91-D8E1-E28B-B092-8EB115382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1447800"/>
            <a:ext cx="7804150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Box 8">
            <a:extLst>
              <a:ext uri="{FF2B5EF4-FFF2-40B4-BE49-F238E27FC236}">
                <a16:creationId xmlns:a16="http://schemas.microsoft.com/office/drawing/2014/main" id="{FDF7240D-A4BC-E61A-39F0-FAAF28CA4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124200"/>
            <a:ext cx="761206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300">
                <a:solidFill>
                  <a:schemeClr val="bg2"/>
                </a:solidFill>
                <a:cs typeface="Arial" panose="020B0604020202020204" pitchFamily="34" charset="0"/>
              </a:rPr>
              <a:t>This data is from 2018 and although dated, the broad points are (a) small businesses can be acquired at relative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300">
                <a:solidFill>
                  <a:schemeClr val="bg2"/>
                </a:solidFill>
                <a:cs typeface="Arial" panose="020B0604020202020204" pitchFamily="34" charset="0"/>
              </a:rPr>
              <a:t>discounts (albeit with greater risk) and (b) acquiring a small business and growing that business can yield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300">
                <a:solidFill>
                  <a:schemeClr val="bg2"/>
                </a:solidFill>
                <a:cs typeface="Arial" panose="020B0604020202020204" pitchFamily="34" charset="0"/>
              </a:rPr>
              <a:t>meaningful multiple expansion at exit. 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73CFC1C-EBF8-1F24-CF91-91AC8DE48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8077200" cy="2057400"/>
          </a:xfrm>
          <a:prstGeom prst="rect">
            <a:avLst/>
          </a:prstGeom>
          <a:noFill/>
          <a:ln>
            <a:noFill/>
          </a:ln>
        </p:spPr>
        <p:txBody>
          <a:bodyPr lIns="91429" tIns="45714" rIns="91429" bIns="45714"/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96B1D0"/>
              </a:buClr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Font typeface="Wingdings" panose="05000000000000000000" pitchFamily="2" charset="2"/>
              <a:buChar char="w"/>
              <a:defRPr sz="17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9pPr>
          </a:lstStyle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</a:rPr>
              <a:t>Prevalence of auctions for PE results in so-called “Winner’s Curse”</a:t>
            </a: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kern="0">
                <a:latin typeface="+mn-lt"/>
              </a:rPr>
              <a:t>Note that EBITDA margin and organic growth are key variables to drive valuation growth</a:t>
            </a:r>
            <a:endParaRPr lang="en-US" kern="0" dirty="0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495F543-1CEC-D3DA-507E-74C7BEAAD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000"/>
              <a:t>MAIN ACTORS IN ETA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0B7FCC1-B11E-77D5-5BE0-84BE83B65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76400"/>
            <a:ext cx="8077200" cy="4114800"/>
          </a:xfrm>
          <a:prstGeom prst="rect">
            <a:avLst/>
          </a:prstGeom>
          <a:noFill/>
          <a:ln>
            <a:noFill/>
          </a:ln>
        </p:spPr>
        <p:txBody>
          <a:bodyPr lIns="91429" tIns="45714" rIns="91429" bIns="45714"/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96B1D0"/>
              </a:buClr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Font typeface="Wingdings" panose="05000000000000000000" pitchFamily="2" charset="2"/>
              <a:buChar char="w"/>
              <a:defRPr sz="17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+mn-lt"/>
              </a:defRPr>
            </a:lvl9pPr>
          </a:lstStyle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u="sng" kern="0" dirty="0">
                <a:latin typeface="+mn-lt"/>
              </a:rPr>
              <a:t>Searcher</a:t>
            </a:r>
            <a:r>
              <a:rPr lang="en-US" kern="0" dirty="0">
                <a:latin typeface="+mn-lt"/>
              </a:rPr>
              <a:t>: typically, 3-5 years of work experience and often an MBA; responsible for sourcing deal and operating the small business post-acquisition </a:t>
            </a: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u="sng" kern="0" dirty="0">
                <a:latin typeface="+mn-lt"/>
              </a:rPr>
              <a:t>Seller</a:t>
            </a:r>
            <a:r>
              <a:rPr lang="en-US" kern="0" dirty="0">
                <a:latin typeface="+mn-lt"/>
              </a:rPr>
              <a:t>: often a solo owner-operator, but can be carve out/divestiture from larger operating company </a:t>
            </a: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u="sng" kern="0" dirty="0">
                <a:latin typeface="+mn-lt"/>
              </a:rPr>
              <a:t>Brokers</a:t>
            </a:r>
            <a:r>
              <a:rPr lang="en-US" kern="0" dirty="0">
                <a:latin typeface="+mn-lt"/>
              </a:rPr>
              <a:t>: engaged by sellers to market the sale of a small business and help drive transaction process; increasingly, can also be engaged by buyers to accelerate search process  </a:t>
            </a: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u="sng" kern="0" dirty="0">
                <a:latin typeface="+mn-lt"/>
              </a:rPr>
              <a:t>Investors and / lender</a:t>
            </a:r>
            <a:endParaRPr lang="en-US" kern="0" dirty="0">
              <a:latin typeface="+mn-lt"/>
            </a:endParaRPr>
          </a:p>
          <a:p>
            <a:pPr eaLnBrk="1" hangingPunct="1">
              <a:spcBef>
                <a:spcPct val="60000"/>
              </a:spcBef>
              <a:buClrTx/>
              <a:buFont typeface="Arial" pitchFamily="34" charset="0"/>
              <a:buChar char="•"/>
              <a:defRPr/>
            </a:pPr>
            <a:r>
              <a:rPr lang="en-US" u="sng" kern="0" dirty="0">
                <a:latin typeface="+mn-lt"/>
              </a:rPr>
              <a:t>Advisors</a:t>
            </a:r>
            <a:r>
              <a:rPr lang="en-US" kern="0" dirty="0">
                <a:latin typeface="+mn-lt"/>
              </a:rPr>
              <a:t>: lawyers; accountants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1568EBB2-01EC-F8B9-5852-A15788A7B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05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br>
              <a:rPr lang="en-US" altLang="en-US" sz="1100">
                <a:solidFill>
                  <a:srgbClr val="9BAFC4"/>
                </a:solidFill>
              </a:rPr>
            </a:br>
            <a:fld id="{8B535D07-4CC1-FE4D-95B0-8F1CDB2B4D1D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100">
              <a:solidFill>
                <a:srgbClr val="9BAFC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792F-9B8A-841B-C487-82183FE5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Searchers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1DE62-6108-4458-3C21-8A94F2E62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|  </a:t>
            </a:r>
            <a:fld id="{306ECF05-5BCF-DE4A-8769-D8446AD75482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pic>
        <p:nvPicPr>
          <p:cNvPr id="51202" name="Picture 2" descr="Screenshot 2024-09-30 at 3.14.07 PM">
            <a:extLst>
              <a:ext uri="{FF2B5EF4-FFF2-40B4-BE49-F238E27FC236}">
                <a16:creationId xmlns:a16="http://schemas.microsoft.com/office/drawing/2014/main" id="{C61204DE-4D2C-8FA4-7EC2-073F75F7B5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315" y="1747838"/>
            <a:ext cx="6007258" cy="464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18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808AB-41A6-9E4F-969F-3E7C5D3D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6AFD1-D2DC-9158-16D9-EDF7D63C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Acquired?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D4043-4EDA-B87A-FD73-6080CC880E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|  </a:t>
            </a:r>
            <a:fld id="{306ECF05-5BCF-DE4A-8769-D8446AD75482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pic>
        <p:nvPicPr>
          <p:cNvPr id="53250" name="Picture 2" descr="Screenshot 2024-09-30 at 3.15.16 PM">
            <a:extLst>
              <a:ext uri="{FF2B5EF4-FFF2-40B4-BE49-F238E27FC236}">
                <a16:creationId xmlns:a16="http://schemas.microsoft.com/office/drawing/2014/main" id="{CC5C3AA1-4F70-BF47-F2FB-739E53E109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294" y="2093119"/>
            <a:ext cx="6083300" cy="394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313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1">
            <a:extLst>
              <a:ext uri="{FF2B5EF4-FFF2-40B4-BE49-F238E27FC236}">
                <a16:creationId xmlns:a16="http://schemas.microsoft.com/office/drawing/2014/main" id="{1A8A7495-A87E-A4E4-51D0-F3C4E1538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286000" y="6388100"/>
            <a:ext cx="2312988" cy="3175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2F64EF-C2BC-1A4D-AE2E-BBBF6263CA94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100">
              <a:solidFill>
                <a:srgbClr val="9BAFC4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5DC78B3-DA5B-EFA0-61B5-A49A7355E5E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38200"/>
            <a:ext cx="91440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3600" kern="0" dirty="0"/>
              <a:t>GOOD TIME TO TAKE PLUNGE IN ETA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F82DCE2-42B2-E0C9-C897-8A4F394F9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716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endParaRPr lang="en-US" sz="1000" kern="0" dirty="0">
              <a:solidFill>
                <a:schemeClr val="bg2"/>
              </a:solidFill>
              <a:latin typeface="AGaramond (Body)"/>
              <a:cs typeface="Times New Roman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>
                <a:solidFill>
                  <a:schemeClr val="bg2"/>
                </a:solidFill>
                <a:latin typeface="AGaramond (Body)"/>
                <a:cs typeface="Times New Roman"/>
              </a:rPr>
              <a:t>“Silver tsunanmi”: ~</a:t>
            </a: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10,000 baby boomers, who make up over 40% of all U.S. small business owners, reach the age of retirement each day (and the pandemic accelerated their exit), and are selling their businesses (</a:t>
            </a:r>
            <a:r>
              <a:rPr lang="en-US" sz="1700" kern="0" dirty="0" err="1">
                <a:solidFill>
                  <a:schemeClr val="bg2"/>
                </a:solidFill>
                <a:latin typeface="AGaramond (Body)"/>
                <a:cs typeface="Times New Roman"/>
              </a:rPr>
              <a:t>75M</a:t>
            </a: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 in total).  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>
                <a:solidFill>
                  <a:schemeClr val="bg2"/>
                </a:solidFill>
                <a:latin typeface="AGaramond (Body)"/>
                <a:cs typeface="Times New Roman"/>
              </a:rPr>
              <a:t>And a </a:t>
            </a: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recent survey by Wilmington Trust suggests that nearly 60% of boomers do not have a succession plan.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Not all will sell, but economists expect we’ll see shifts in ownership for millions of profitable, well-established businesses, over the coming decades.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But, interest rates have jumped: current SBA loan rates ~</a:t>
            </a:r>
            <a:r>
              <a:rPr lang="en-US" sz="1700" kern="0">
                <a:solidFill>
                  <a:schemeClr val="bg2"/>
                </a:solidFill>
                <a:latin typeface="AGaramond (Body)"/>
                <a:cs typeface="Times New Roman"/>
              </a:rPr>
              <a:t>10% (need to be thoughtful about liquidity management)</a:t>
            </a:r>
            <a:endParaRPr lang="en-US" sz="1700" kern="0" dirty="0">
              <a:solidFill>
                <a:schemeClr val="bg2"/>
              </a:solidFill>
              <a:latin typeface="AGaramond (Body)"/>
              <a:cs typeface="Times New Roman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endParaRPr lang="en-US" sz="1700" kern="0" dirty="0">
              <a:solidFill>
                <a:schemeClr val="bg2"/>
              </a:solidFill>
              <a:latin typeface="AGaramond (Body)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endParaRPr lang="en-US" sz="1700" kern="0" dirty="0">
              <a:solidFill>
                <a:schemeClr val="bg2"/>
              </a:solidFill>
              <a:latin typeface="AGaramond (Body)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>
            <a:extLst>
              <a:ext uri="{FF2B5EF4-FFF2-40B4-BE49-F238E27FC236}">
                <a16:creationId xmlns:a16="http://schemas.microsoft.com/office/drawing/2014/main" id="{1C2CBF8F-C14C-73DC-51B8-DC1B1BE50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65C64E0-5A39-5642-9574-69F54C6DA7C5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100" dirty="0">
              <a:solidFill>
                <a:srgbClr val="9BAFC4"/>
              </a:solidFill>
            </a:endParaRPr>
          </a:p>
        </p:txBody>
      </p:sp>
      <p:sp>
        <p:nvSpPr>
          <p:cNvPr id="26627" name="Slide Number Placeholder 1">
            <a:extLst>
              <a:ext uri="{FF2B5EF4-FFF2-40B4-BE49-F238E27FC236}">
                <a16:creationId xmlns:a16="http://schemas.microsoft.com/office/drawing/2014/main" id="{5638807E-319B-F29B-DFDF-DABE9CCC1558}"/>
              </a:ext>
            </a:extLst>
          </p:cNvPr>
          <p:cNvSpPr txBox="1">
            <a:spLocks/>
          </p:cNvSpPr>
          <p:nvPr/>
        </p:nvSpPr>
        <p:spPr bwMode="auto">
          <a:xfrm>
            <a:off x="2286000" y="6388100"/>
            <a:ext cx="2312988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 anchor="ctr"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2CE399A-18FA-2049-86AA-BB8C4FE945F4}" type="slidenum">
              <a:rPr lang="en-US" altLang="en-US" sz="1100">
                <a:solidFill>
                  <a:srgbClr val="9BAFC4"/>
                </a:solidFill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100">
              <a:solidFill>
                <a:srgbClr val="9BAFC4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494C88-23A6-1D1A-A05F-04626179572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38200"/>
            <a:ext cx="91440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3600" kern="0" dirty="0"/>
              <a:t>IS ETA A GOOD FIT FOR YOU? </a:t>
            </a:r>
          </a:p>
          <a:p>
            <a:pPr algn="ctr" eaLnBrk="1" hangingPunct="1">
              <a:defRPr/>
            </a:pPr>
            <a:r>
              <a:rPr lang="en-US" altLang="en-US" sz="3600" kern="0" dirty="0"/>
              <a:t>“KNOW THYSELF”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4D14E7D-2FCD-27D8-9D71-F5358D945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057400"/>
            <a:ext cx="7924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sz="1700" kern="0" dirty="0">
                <a:solidFill>
                  <a:prstClr val="black"/>
                </a:solidFill>
                <a:latin typeface="AGaramond (Body)"/>
              </a:rPr>
              <a:t>Successful entrepreneurs share: Attitude (growth mindset); Aptitude (when have you been successful in the past?); and Action</a:t>
            </a:r>
            <a:endParaRPr lang="en-US" sz="1000" kern="0" dirty="0">
              <a:solidFill>
                <a:schemeClr val="bg2"/>
              </a:solidFill>
              <a:latin typeface="AGaramond (Body)"/>
              <a:cs typeface="Times New Roman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What’s your tolerance for risk?  Are you afraid of failure?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How do you feel about debt?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Are you a natural CEO or more effective as a deputy or passive investor?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</a:rPr>
              <a:t>Are you an effective manager of people?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</a:rPr>
              <a:t>How concerned are you with prestige?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</a:rPr>
              <a:t>How do you feel about “going it alone”?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</a:rPr>
              <a:t>I’m convinced </a:t>
            </a:r>
            <a:r>
              <a:rPr lang="en-US" sz="1700" kern="0">
                <a:solidFill>
                  <a:schemeClr val="bg2"/>
                </a:solidFill>
                <a:latin typeface="AGaramond (Body)"/>
              </a:rPr>
              <a:t>that ETA mostly </a:t>
            </a:r>
            <a:r>
              <a:rPr lang="en-US" sz="1700" kern="0" dirty="0">
                <a:solidFill>
                  <a:schemeClr val="bg2"/>
                </a:solidFill>
                <a:latin typeface="AGaramond (Body)"/>
              </a:rPr>
              <a:t>about conviction-building and internalizing a commitment to execute, learn the business, persist and ultimately scale and experience success.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3C50-1FF9-01D6-1A45-953D0653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Insights from 2024 Stanford Search Fund Study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09A12F-0E9F-2250-F1F5-F26A2F646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866CCE-C30F-D245-8A06-0816551C4687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3680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03B8-C4DC-00DE-1943-29012FCE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Fund Activity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D7BE80-4B6A-4F22-F858-A6898CABE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522" y="1747838"/>
            <a:ext cx="7478844" cy="46402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FA184-89BD-209E-1F13-1E89B15D2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|  </a:t>
            </a:r>
            <a:fld id="{306ECF05-5BCF-DE4A-8769-D8446AD75482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0691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0C6A9-684F-59B0-91CE-7988480A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36-F38B-08A2-665F-2D715DF9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Fund Status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6365E-74D4-6AD0-A477-A4ACF1A25A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6ECF05-5BCF-DE4A-8769-D8446AD75482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9CC063-4A5A-4101-A6A7-CBBAB3FD3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75" y="1913445"/>
            <a:ext cx="8313738" cy="430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80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2F9F-2D0D-25CE-DFE9-2A662FBA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22FC-2E91-F82F-C4EA-C246DB03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of Acquired Companies, by Year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72CCA-240A-F029-532B-23240F689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|  </a:t>
            </a:r>
            <a:fld id="{306ECF05-5BCF-DE4A-8769-D8446AD75482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742578-587A-62FC-8074-BCCA5650E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75" y="1814537"/>
            <a:ext cx="8313738" cy="45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79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DF62-879C-67C1-0958-57ADA412B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9433-FE36-6AC1-7A7D-CE167CED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Fund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291F7-BB17-F1BF-C1D6-9580BCC096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6ECF05-5BCF-DE4A-8769-D8446AD75482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09F772-4308-4C87-FC64-D2628496B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095" y="1747838"/>
            <a:ext cx="6903698" cy="464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55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BD61A-9F51-2B0C-38CF-E6F2B340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76CE-A3C1-41FF-E0A8-BB1ACA93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Acquired Company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3DAB5-44B9-BC1C-F1E1-24AE5AAFA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|  </a:t>
            </a:r>
            <a:fld id="{306ECF05-5BCF-DE4A-8769-D8446AD75482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563391-28C3-9090-4AC2-4CB1C5CD5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167" y="1747838"/>
            <a:ext cx="7709554" cy="464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55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0143-CD29-208A-B363-CC65CC98D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4471-B1C1-ACFA-FDD8-5AF414E3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 by Solo vs Partnership Acquisitions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02515-A3B5-16A5-983A-F84EE684B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|  </a:t>
            </a:r>
            <a:fld id="{306ECF05-5BCF-DE4A-8769-D8446AD75482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A08C3D-AE21-7BBA-E2B7-20E28EAB9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090" y="1747838"/>
            <a:ext cx="7831708" cy="464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18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D69A8-A53F-0FD3-A27E-9AD4DB43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A70D-1197-F1E2-7288-21A4C7BE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 Equity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B1120-AD17-D77A-FB3E-9B4A1FAEC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|  </a:t>
            </a:r>
            <a:fld id="{306ECF05-5BCF-DE4A-8769-D8446AD75482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D2F08F-1ED9-A2B4-FC5D-408A693BA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312" y="1747838"/>
            <a:ext cx="7533264" cy="464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62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EF25-ED80-AB68-0DC4-8FD0E5D8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C803-F5AC-CC3A-3025-12117F29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Until Acquisition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7D9BC-C49A-89D5-E36A-C4FC32B0BF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6ECF05-5BCF-DE4A-8769-D8446AD75482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8D849F-226F-739B-1F55-A780ED5DE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771" y="1747838"/>
            <a:ext cx="6478346" cy="464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80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01DD-80EB-05CB-DCF1-E775E73A6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77DB-E1A1-6777-CD15-2A28C997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Acquisition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12C94-9BF7-0B35-E325-77F07C793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6ECF05-5BCF-DE4A-8769-D8446AD75482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DBD944-476F-813E-FF13-739450CDC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186" y="1747838"/>
            <a:ext cx="7933516" cy="464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0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8AAD9-E1D7-EE40-3815-229166BBF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4B56-35D0-9931-A3CA-8827CD16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CEO (Searcher) Compensation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81DF2-DEC5-1512-D392-2A21A3992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|  </a:t>
            </a:r>
            <a:fld id="{306ECF05-5BCF-DE4A-8769-D8446AD75482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AD70BA-4DF0-D224-1FED-D3EE684D5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75" y="2686833"/>
            <a:ext cx="8313738" cy="276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16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">
            <a:extLst>
              <a:ext uri="{FF2B5EF4-FFF2-40B4-BE49-F238E27FC236}">
                <a16:creationId xmlns:a16="http://schemas.microsoft.com/office/drawing/2014/main" id="{F742C024-8ED9-2A04-A946-7A48164312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lr>
                <a:srgbClr val="96B1D0"/>
              </a:buClr>
              <a:buFont typeface="Wingdings" pitchFamily="2" charset="2"/>
              <a:buChar char="§"/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96B1D0"/>
              </a:buClr>
              <a:buChar char="•"/>
              <a:defRPr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96B1D0"/>
              </a:buClr>
              <a:buFont typeface="Wingdings" pitchFamily="2" charset="2"/>
              <a:buChar char="w"/>
              <a:defRPr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B1D0"/>
              </a:buClr>
              <a:buChar char="–"/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100" dirty="0">
                <a:solidFill>
                  <a:srgbClr val="9BAFC4"/>
                </a:solidFill>
              </a:rPr>
              <a:t>|  </a:t>
            </a:r>
            <a:fld id="{C6494C80-15A9-D140-B5F7-310391FC7D69}" type="slidenum">
              <a:rPr lang="en-US" altLang="en-US" sz="1100" smtClean="0">
                <a:solidFill>
                  <a:srgbClr val="9BAFC4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100" dirty="0">
              <a:solidFill>
                <a:srgbClr val="9BAFC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274391-EE5E-58AB-8368-5CF26B471F0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66800"/>
            <a:ext cx="91440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F76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CF7600"/>
                </a:solidFill>
                <a:latin typeface="AGaramond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kern="0"/>
              <a:t>OLIN’S </a:t>
            </a:r>
            <a:r>
              <a:rPr lang="en-US" altLang="en-US" kern="0" dirty="0"/>
              <a:t>ETA COURSE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4AB69E-270E-B188-6083-3C1673B5A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526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endParaRPr lang="en-US" sz="1000" kern="0" dirty="0">
              <a:solidFill>
                <a:schemeClr val="bg2"/>
              </a:solidFill>
              <a:latin typeface="AGaramond (Body)"/>
              <a:cs typeface="Times New Roman"/>
            </a:endParaRP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Identify acquisition targets and contact the target company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Submit a non-binding term sheet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Due diligence of a target company 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Structuring your acquisition 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Valuation 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Funding sources 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Closing process </a:t>
            </a:r>
          </a:p>
          <a:p>
            <a:pPr marL="342900" indent="-342900" eaLnBrk="1" hangingPunct="1">
              <a:spcBef>
                <a:spcPct val="60000"/>
              </a:spcBef>
              <a:buFontTx/>
              <a:buChar char="•"/>
              <a:defRPr/>
            </a:pPr>
            <a:r>
              <a:rPr lang="en-US" sz="1700" kern="0" dirty="0">
                <a:solidFill>
                  <a:schemeClr val="bg2"/>
                </a:solidFill>
                <a:latin typeface="AGaramond (Body)"/>
                <a:cs typeface="Times New Roman"/>
              </a:rPr>
              <a:t>How to grow the business you buy and ultimately monetize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Kirkland Templ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000"/>
      </a:accent1>
      <a:accent2>
        <a:srgbClr val="AA272F"/>
      </a:accent2>
      <a:accent3>
        <a:srgbClr val="5482AB"/>
      </a:accent3>
      <a:accent4>
        <a:srgbClr val="718674"/>
      </a:accent4>
      <a:accent5>
        <a:srgbClr val="93B1CC"/>
      </a:accent5>
      <a:accent6>
        <a:srgbClr val="CF7600"/>
      </a:accent6>
      <a:hlink>
        <a:srgbClr val="FFC000"/>
      </a:hlink>
      <a:folHlink>
        <a:srgbClr val="FFC000"/>
      </a:folHlink>
    </a:clrScheme>
    <a:fontScheme name="Template">
      <a:majorFont>
        <a:latin typeface="AGaramond"/>
        <a:ea typeface=""/>
        <a:cs typeface=""/>
      </a:majorFont>
      <a:minorFont>
        <a:latin typeface="A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4689</TotalTime>
  <Words>1289</Words>
  <Application>Microsoft Macintosh PowerPoint</Application>
  <PresentationFormat>On-screen Show (4:3)</PresentationFormat>
  <Paragraphs>153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Times New Roman</vt:lpstr>
      <vt:lpstr>Arial</vt:lpstr>
      <vt:lpstr>Wingdings</vt:lpstr>
      <vt:lpstr>AGaramond</vt:lpstr>
      <vt:lpstr>AGaramond (Body)</vt:lpstr>
      <vt:lpstr>Template</vt:lpstr>
      <vt:lpstr>INNOVATION AND ENTREPRENEURSHIP: ENTREPRENEURSHIP THROUGH ACQUISITION (ETA)</vt:lpstr>
      <vt:lpstr>WHAT IS ETA?</vt:lpstr>
      <vt:lpstr>ETA PURCHASE: WHAT’S TYPICAL</vt:lpstr>
      <vt:lpstr>PUTTING ETA INTO CONTEXT: CONTRASTING PRIVATE COMPANY INVESTMENT MODELS</vt:lpstr>
      <vt:lpstr>A (CYNICAL?) VIEW OF START-UPS V. ETA</vt:lpstr>
      <vt:lpstr>What Should You Choose?</vt:lpstr>
      <vt:lpstr>SELF-FUNDED V. TRADITIONAL SEARCH</vt:lpstr>
      <vt:lpstr>PowerPoint Presentation</vt:lpstr>
      <vt:lpstr>MAIN ACTORS IN ETA</vt:lpstr>
      <vt:lpstr>Characteristics of Searchers</vt:lpstr>
      <vt:lpstr>Who is Acquired?</vt:lpstr>
      <vt:lpstr>PowerPoint Presentation</vt:lpstr>
      <vt:lpstr>PowerPoint Presentation</vt:lpstr>
      <vt:lpstr>Insights from 2024 Stanford Search Fund Study</vt:lpstr>
      <vt:lpstr>Search Fund Activity</vt:lpstr>
      <vt:lpstr>Search Fund Status</vt:lpstr>
      <vt:lpstr>Industry of Acquired Companies, by Year</vt:lpstr>
      <vt:lpstr>Search Fund Outcomes</vt:lpstr>
      <vt:lpstr>Acquired Company Outcomes</vt:lpstr>
      <vt:lpstr>ROI by Solo vs Partnership Acquisitions</vt:lpstr>
      <vt:lpstr>Entrepreneur Equity</vt:lpstr>
      <vt:lpstr>Time Until Acquisition</vt:lpstr>
      <vt:lpstr>Acquisition Statistics</vt:lpstr>
      <vt:lpstr>CEO (Searcher) Compensation</vt:lpstr>
      <vt:lpstr>PowerPoint Presentation</vt:lpstr>
    </vt:vector>
  </TitlesOfParts>
  <Company>Kirkland &amp; Ellis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German A. Hall</dc:creator>
  <cp:lastModifiedBy>Hamilton, Barton</cp:lastModifiedBy>
  <cp:revision>1505</cp:revision>
  <cp:lastPrinted>2023-09-21T02:13:57Z</cp:lastPrinted>
  <dcterms:created xsi:type="dcterms:W3CDTF">2004-09-23T18:36:58Z</dcterms:created>
  <dcterms:modified xsi:type="dcterms:W3CDTF">2025-03-19T20:00:36Z</dcterms:modified>
</cp:coreProperties>
</file>