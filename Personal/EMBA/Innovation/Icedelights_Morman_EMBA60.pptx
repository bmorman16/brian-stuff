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CE8BD5-568C-41D3-90CE-488763BCD9D3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9D6123F-62C5-4A93-8520-2F50961153DF}">
      <dgm:prSet/>
      <dgm:spPr/>
      <dgm:t>
        <a:bodyPr/>
        <a:lstStyle/>
        <a:p>
          <a:r>
            <a:rPr lang="en-US"/>
            <a:t>Ice cream is not good?</a:t>
          </a:r>
        </a:p>
      </dgm:t>
    </dgm:pt>
    <dgm:pt modelId="{647860B6-73B8-44B9-AB6B-1A192C07930B}" type="parTrans" cxnId="{13F153C9-1315-4DEF-9B22-D853EF875B67}">
      <dgm:prSet/>
      <dgm:spPr/>
      <dgm:t>
        <a:bodyPr/>
        <a:lstStyle/>
        <a:p>
          <a:endParaRPr lang="en-US"/>
        </a:p>
      </dgm:t>
    </dgm:pt>
    <dgm:pt modelId="{77A3A795-9665-46E9-BAC9-30177CF093B1}" type="sibTrans" cxnId="{13F153C9-1315-4DEF-9B22-D853EF875B67}">
      <dgm:prSet/>
      <dgm:spPr/>
      <dgm:t>
        <a:bodyPr/>
        <a:lstStyle/>
        <a:p>
          <a:endParaRPr lang="en-US"/>
        </a:p>
      </dgm:t>
    </dgm:pt>
    <dgm:pt modelId="{A0F2C89A-DC85-4F48-A157-52B47F15AD86}">
      <dgm:prSet/>
      <dgm:spPr/>
      <dgm:t>
        <a:bodyPr/>
        <a:lstStyle/>
        <a:p>
          <a:r>
            <a:rPr lang="en-US"/>
            <a:t>Most ice cream stores have to manufacture elsewhere and freeze their product to transport it.</a:t>
          </a:r>
        </a:p>
      </dgm:t>
    </dgm:pt>
    <dgm:pt modelId="{0BE7BD78-39B1-48F2-8AF1-6D8376D85438}" type="parTrans" cxnId="{8EF0D82D-FF61-4760-BEF8-018B9C3B7C86}">
      <dgm:prSet/>
      <dgm:spPr/>
      <dgm:t>
        <a:bodyPr/>
        <a:lstStyle/>
        <a:p>
          <a:endParaRPr lang="en-US"/>
        </a:p>
      </dgm:t>
    </dgm:pt>
    <dgm:pt modelId="{0F51C71F-FA1F-45DC-8179-D714EE73EC3D}" type="sibTrans" cxnId="{8EF0D82D-FF61-4760-BEF8-018B9C3B7C86}">
      <dgm:prSet/>
      <dgm:spPr/>
      <dgm:t>
        <a:bodyPr/>
        <a:lstStyle/>
        <a:p>
          <a:endParaRPr lang="en-US"/>
        </a:p>
      </dgm:t>
    </dgm:pt>
    <dgm:pt modelId="{FE84A17B-2F57-486C-8C7B-1531AF0FE400}">
      <dgm:prSet/>
      <dgm:spPr/>
      <dgm:t>
        <a:bodyPr/>
        <a:lstStyle/>
        <a:p>
          <a:r>
            <a:rPr lang="en-US" dirty="0" err="1"/>
            <a:t>Icedelights</a:t>
          </a:r>
          <a:r>
            <a:rPr lang="en-US" dirty="0"/>
            <a:t> product offering makes for higher quality product because it can be manufactured on site.</a:t>
          </a:r>
        </a:p>
      </dgm:t>
    </dgm:pt>
    <dgm:pt modelId="{4BB25F74-0FDE-47B4-BE07-B6DD613B51E9}" type="parTrans" cxnId="{4407BE2F-8EAB-4BFA-9C2D-EEE218DF21CC}">
      <dgm:prSet/>
      <dgm:spPr/>
      <dgm:t>
        <a:bodyPr/>
        <a:lstStyle/>
        <a:p>
          <a:endParaRPr lang="en-US"/>
        </a:p>
      </dgm:t>
    </dgm:pt>
    <dgm:pt modelId="{8E6114B8-D415-45A6-82EE-48ABC31ADC19}" type="sibTrans" cxnId="{4407BE2F-8EAB-4BFA-9C2D-EEE218DF21CC}">
      <dgm:prSet/>
      <dgm:spPr/>
      <dgm:t>
        <a:bodyPr/>
        <a:lstStyle/>
        <a:p>
          <a:endParaRPr lang="en-US"/>
        </a:p>
      </dgm:t>
    </dgm:pt>
    <dgm:pt modelId="{CCF90CFE-1B7F-4192-80D4-E9991BB2F627}" type="pres">
      <dgm:prSet presAssocID="{EFCE8BD5-568C-41D3-90CE-488763BCD9D3}" presName="linear" presStyleCnt="0">
        <dgm:presLayoutVars>
          <dgm:animLvl val="lvl"/>
          <dgm:resizeHandles val="exact"/>
        </dgm:presLayoutVars>
      </dgm:prSet>
      <dgm:spPr/>
    </dgm:pt>
    <dgm:pt modelId="{7208B9C7-45D0-4BBC-AF7A-CA70D462B2EE}" type="pres">
      <dgm:prSet presAssocID="{F9D6123F-62C5-4A93-8520-2F50961153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492D90-1A89-4CBB-B140-F2328F56FFE2}" type="pres">
      <dgm:prSet presAssocID="{77A3A795-9665-46E9-BAC9-30177CF093B1}" presName="spacer" presStyleCnt="0"/>
      <dgm:spPr/>
    </dgm:pt>
    <dgm:pt modelId="{D3E89696-E9C3-43CE-B476-B275FE392FBE}" type="pres">
      <dgm:prSet presAssocID="{A0F2C89A-DC85-4F48-A157-52B47F15AD8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F8C83E-032F-43FA-81D8-20A160ADCC79}" type="pres">
      <dgm:prSet presAssocID="{0F51C71F-FA1F-45DC-8179-D714EE73EC3D}" presName="spacer" presStyleCnt="0"/>
      <dgm:spPr/>
    </dgm:pt>
    <dgm:pt modelId="{18C32200-62A0-477E-A847-099A75DC1C3A}" type="pres">
      <dgm:prSet presAssocID="{FE84A17B-2F57-486C-8C7B-1531AF0FE40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EF0D82D-FF61-4760-BEF8-018B9C3B7C86}" srcId="{EFCE8BD5-568C-41D3-90CE-488763BCD9D3}" destId="{A0F2C89A-DC85-4F48-A157-52B47F15AD86}" srcOrd="1" destOrd="0" parTransId="{0BE7BD78-39B1-48F2-8AF1-6D8376D85438}" sibTransId="{0F51C71F-FA1F-45DC-8179-D714EE73EC3D}"/>
    <dgm:cxn modelId="{4407BE2F-8EAB-4BFA-9C2D-EEE218DF21CC}" srcId="{EFCE8BD5-568C-41D3-90CE-488763BCD9D3}" destId="{FE84A17B-2F57-486C-8C7B-1531AF0FE400}" srcOrd="2" destOrd="0" parTransId="{4BB25F74-0FDE-47B4-BE07-B6DD613B51E9}" sibTransId="{8E6114B8-D415-45A6-82EE-48ABC31ADC19}"/>
    <dgm:cxn modelId="{3F57C99C-E6C8-4BEC-96BB-30AE02874E7A}" type="presOf" srcId="{FE84A17B-2F57-486C-8C7B-1531AF0FE400}" destId="{18C32200-62A0-477E-A847-099A75DC1C3A}" srcOrd="0" destOrd="0" presId="urn:microsoft.com/office/officeart/2005/8/layout/vList2"/>
    <dgm:cxn modelId="{F6BBD6B6-9998-4942-848A-7C05B93DD4F4}" type="presOf" srcId="{A0F2C89A-DC85-4F48-A157-52B47F15AD86}" destId="{D3E89696-E9C3-43CE-B476-B275FE392FBE}" srcOrd="0" destOrd="0" presId="urn:microsoft.com/office/officeart/2005/8/layout/vList2"/>
    <dgm:cxn modelId="{13F153C9-1315-4DEF-9B22-D853EF875B67}" srcId="{EFCE8BD5-568C-41D3-90CE-488763BCD9D3}" destId="{F9D6123F-62C5-4A93-8520-2F50961153DF}" srcOrd="0" destOrd="0" parTransId="{647860B6-73B8-44B9-AB6B-1A192C07930B}" sibTransId="{77A3A795-9665-46E9-BAC9-30177CF093B1}"/>
    <dgm:cxn modelId="{91952BCA-6BDD-4B41-B08B-0FCC9D18EDB2}" type="presOf" srcId="{F9D6123F-62C5-4A93-8520-2F50961153DF}" destId="{7208B9C7-45D0-4BBC-AF7A-CA70D462B2EE}" srcOrd="0" destOrd="0" presId="urn:microsoft.com/office/officeart/2005/8/layout/vList2"/>
    <dgm:cxn modelId="{FA4099F9-F948-4AC9-8328-64A95A00BC5D}" type="presOf" srcId="{EFCE8BD5-568C-41D3-90CE-488763BCD9D3}" destId="{CCF90CFE-1B7F-4192-80D4-E9991BB2F627}" srcOrd="0" destOrd="0" presId="urn:microsoft.com/office/officeart/2005/8/layout/vList2"/>
    <dgm:cxn modelId="{A72962E7-C5BE-4AD0-800D-7BFCD377E4C4}" type="presParOf" srcId="{CCF90CFE-1B7F-4192-80D4-E9991BB2F627}" destId="{7208B9C7-45D0-4BBC-AF7A-CA70D462B2EE}" srcOrd="0" destOrd="0" presId="urn:microsoft.com/office/officeart/2005/8/layout/vList2"/>
    <dgm:cxn modelId="{EF7FA933-F4F2-48A1-AB5C-962E51080BC3}" type="presParOf" srcId="{CCF90CFE-1B7F-4192-80D4-E9991BB2F627}" destId="{2B492D90-1A89-4CBB-B140-F2328F56FFE2}" srcOrd="1" destOrd="0" presId="urn:microsoft.com/office/officeart/2005/8/layout/vList2"/>
    <dgm:cxn modelId="{A8BD0157-1ED6-477A-A7F3-AD73F61F6F11}" type="presParOf" srcId="{CCF90CFE-1B7F-4192-80D4-E9991BB2F627}" destId="{D3E89696-E9C3-43CE-B476-B275FE392FBE}" srcOrd="2" destOrd="0" presId="urn:microsoft.com/office/officeart/2005/8/layout/vList2"/>
    <dgm:cxn modelId="{8C882FF7-EEB1-41AE-BCED-99F19C052859}" type="presParOf" srcId="{CCF90CFE-1B7F-4192-80D4-E9991BB2F627}" destId="{B7F8C83E-032F-43FA-81D8-20A160ADCC79}" srcOrd="3" destOrd="0" presId="urn:microsoft.com/office/officeart/2005/8/layout/vList2"/>
    <dgm:cxn modelId="{F8BA64D5-E927-4BCE-B53C-0D4DD2CB34B1}" type="presParOf" srcId="{CCF90CFE-1B7F-4192-80D4-E9991BB2F627}" destId="{18C32200-62A0-477E-A847-099A75DC1C3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08B9C7-45D0-4BBC-AF7A-CA70D462B2EE}">
      <dsp:nvSpPr>
        <dsp:cNvPr id="0" name=""/>
        <dsp:cNvSpPr/>
      </dsp:nvSpPr>
      <dsp:spPr>
        <a:xfrm>
          <a:off x="0" y="36970"/>
          <a:ext cx="5458837" cy="13267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Ice cream is not good?</a:t>
          </a:r>
        </a:p>
      </dsp:txBody>
      <dsp:txXfrm>
        <a:off x="64768" y="101738"/>
        <a:ext cx="5329301" cy="1197243"/>
      </dsp:txXfrm>
    </dsp:sp>
    <dsp:sp modelId="{D3E89696-E9C3-43CE-B476-B275FE392FBE}">
      <dsp:nvSpPr>
        <dsp:cNvPr id="0" name=""/>
        <dsp:cNvSpPr/>
      </dsp:nvSpPr>
      <dsp:spPr>
        <a:xfrm>
          <a:off x="0" y="1432870"/>
          <a:ext cx="5458837" cy="13267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Most ice cream stores have to manufacture elsewhere and freeze their product to transport it.</a:t>
          </a:r>
        </a:p>
      </dsp:txBody>
      <dsp:txXfrm>
        <a:off x="64768" y="1497638"/>
        <a:ext cx="5329301" cy="1197243"/>
      </dsp:txXfrm>
    </dsp:sp>
    <dsp:sp modelId="{18C32200-62A0-477E-A847-099A75DC1C3A}">
      <dsp:nvSpPr>
        <dsp:cNvPr id="0" name=""/>
        <dsp:cNvSpPr/>
      </dsp:nvSpPr>
      <dsp:spPr>
        <a:xfrm>
          <a:off x="0" y="2828770"/>
          <a:ext cx="5458837" cy="13267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Icedelights</a:t>
          </a:r>
          <a:r>
            <a:rPr lang="en-US" sz="2400" kern="1200" dirty="0"/>
            <a:t> product offering makes for higher quality product because it can be manufactured on site.</a:t>
          </a:r>
        </a:p>
      </dsp:txBody>
      <dsp:txXfrm>
        <a:off x="64768" y="2893538"/>
        <a:ext cx="5329301" cy="1197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A788-76A5-1C25-7721-48C47D1E2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7AC17-3A8D-7DE0-9844-FF3C71CC2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BA493-794D-F818-53B2-07237D79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CFE35-0B69-ED64-C598-32D4F930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31A8E-36FE-0663-6B07-41C5F09C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4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61CF-8EC0-1C7C-7B39-F0B716B7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2009C-A1A8-E923-7D83-1BCDD8683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9481D-9C09-5FCE-A266-1B228536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002F3-45A4-4DB9-9499-F6E19752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2C450-24F9-F92C-38CD-1595B379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7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5915-53E9-F76D-18A9-BB0FECD5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CA2D4-00F1-1796-FF97-D3B024BBF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02FF4-5049-D644-0AA9-2066F18E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D31C4-1D1A-54A3-0172-F2E6FDAF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7E91B-C438-8711-8E32-EBD75DC5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4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2E14-12EC-3BBA-FA32-923420AF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14D87-716C-B2F1-FC71-EA049DA4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301C5-52F1-5772-9ACF-5139FD6AA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B457D-FB67-C614-8376-7E6F6230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13E75-6C88-D388-8239-1DE24B8D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59EDD-4E27-1439-CCF0-F8DB906F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1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11D3-E9F6-E031-DB02-05C35929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631D8-0966-AFA1-92B5-73725C33E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CE78F-2A8C-60EC-413E-35D997A09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D72AE-CF56-1670-FC9E-4687DF06F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AAC870-8B94-98F0-2D44-31B2AF810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36B7B5-2CCB-D887-DA3C-D5E756ED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F0E07-570B-7C90-8831-93800837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B3567-A129-DC9D-9E22-975A28EB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1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2272-0780-C4E0-D399-D685918B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0FE23-43E4-0CD8-7669-EC48211E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72217-54B6-2F09-9575-0BD363A9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63257-48A5-2D84-FFCE-B1612261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9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CA89CC-F400-2F01-AA7C-A5B2D4253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89C8B-9185-2426-52AF-09090A80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05BFB-70DE-240C-BD44-272CC995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029A-7D04-95BB-B372-52B173A1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B7EFC-CE9A-6A37-679A-05BF1EA24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3FEE1-8AA3-ED90-644C-1F3D566C6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40946-E262-5220-76DD-3C2EA86D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AA15F-9E70-2797-1439-6F32A1F4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22A35-8AED-956F-9741-F43958B19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6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4B49-938C-42DE-E594-0F8CA56A0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8E74A-AA60-4D3E-A306-2F65E7416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5BB14-C903-4CB9-7BBB-53E0CB434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D8BE5-281C-8E98-97F6-25DD6363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03B1B-FBAD-5ACC-7763-6D393911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D1671-8919-FE1C-61A5-3396D55E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52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81C7-3AA2-BA28-E82B-0D968B82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8D7B1-2AF1-55A9-E230-B828B496E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6B3ED-A795-3672-4446-3B5B783E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A632E-BCF0-314B-781F-81443609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13F22-4D93-331A-8785-D7E8D59C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A726B-70F0-925E-313B-E71962429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E59C3-2A52-BB9C-2D99-47BA85294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3B77F-557C-CB1A-7CE6-295BA549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F7369-EB1F-6FA6-2D70-2B711F8A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CE03-37E4-ED77-95C6-6D51ACA6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2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5AE4A-004F-C1A9-F57C-A43EE08B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01E94-7E20-7B55-CAF0-F6032D25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E0E5F-BAC3-469D-7BFD-E25ADCFB3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EAEEA-749E-4ED4-84C5-1CBABE7FB6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32A51-4445-6F36-2CB5-82682A4C7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922D3-73A7-BCDB-6D4B-04365BE3C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355FF-F75A-4FF8-A298-C6DFC9602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0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5C2A50-0ACC-8EA3-553F-55494E8662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9170" b="44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59D73B-86F9-A77E-1EAB-0E4EF1287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89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Icedelights – Investment Decision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D6584-8781-9E1B-731F-06EECD73E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3200"/>
              <a:t>Brian Morman – Innovation and Entrepreneurship – EMBA 60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74F5F2-72DF-03F9-F9C8-C7AA81374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16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81" name="Arc 308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54608-0E61-C52F-CA56-31460F95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The Pain</a:t>
            </a:r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Understanding Pain Levels, When to Visit ER for Pain - ER of Texas">
            <a:extLst>
              <a:ext uri="{FF2B5EF4-FFF2-40B4-BE49-F238E27FC236}">
                <a16:creationId xmlns:a16="http://schemas.microsoft.com/office/drawing/2014/main" id="{EEF0B93E-60C4-254D-3643-8204F4754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078122"/>
            <a:ext cx="4777381" cy="253201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039FAA-7C30-B9C0-D952-E9EAB14AE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626959"/>
              </p:ext>
            </p:extLst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22164B18-4C91-8257-86C3-91AB5741492E}"/>
              </a:ext>
            </a:extLst>
          </p:cNvPr>
          <p:cNvSpPr/>
          <p:nvPr/>
        </p:nvSpPr>
        <p:spPr>
          <a:xfrm>
            <a:off x="1416818" y="2692958"/>
            <a:ext cx="756111" cy="63034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22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41C58-5326-5B4C-BB6C-6352A593E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/>
              <a:t>Opportunity in Florida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82545-7AAB-0CEB-FAEB-D89FB1A2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1630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620C-FAC2-B25D-C82A-6237514C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r>
              <a:rPr lang="en-US" sz="2000"/>
              <a:t>Per the case study, inconclusive.</a:t>
            </a:r>
          </a:p>
          <a:p>
            <a:r>
              <a:rPr lang="en-US" sz="2000"/>
              <a:t>Best location population growth ~4% yoy.  This business will need to take market share to grow.  Management claimed store growth is ~10% yoy.  </a:t>
            </a:r>
          </a:p>
          <a:p>
            <a:r>
              <a:rPr lang="en-US" sz="2000"/>
              <a:t>Store COGS predict a 32% margin.  This is reasonable for the industry.  But poor for angel investment.</a:t>
            </a:r>
          </a:p>
        </p:txBody>
      </p:sp>
    </p:spTree>
    <p:extLst>
      <p:ext uri="{BB962C8B-B14F-4D97-AF65-F5344CB8AC3E}">
        <p14:creationId xmlns:p14="http://schemas.microsoft.com/office/powerpoint/2010/main" val="35961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E787-F0E3-B328-023D-2E99AE61C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90" y="223966"/>
            <a:ext cx="10515600" cy="1325563"/>
          </a:xfrm>
        </p:spPr>
        <p:txBody>
          <a:bodyPr/>
          <a:lstStyle/>
          <a:p>
            <a:r>
              <a:rPr lang="en-US" dirty="0"/>
              <a:t>3 Factors for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2E4E-4848-5FB1-96F3-FB4C54339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010" y="1825625"/>
            <a:ext cx="9896789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arenR"/>
            </a:pPr>
            <a:r>
              <a:rPr lang="en-US" dirty="0"/>
              <a:t>The product – </a:t>
            </a:r>
            <a:r>
              <a:rPr lang="en-US" dirty="0" err="1"/>
              <a:t>Icedelights</a:t>
            </a:r>
            <a:r>
              <a:rPr lang="en-US" dirty="0"/>
              <a:t> differentiator is its product.  The product is not controlled by the management team in any way.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The Real Estate – </a:t>
            </a:r>
            <a:r>
              <a:rPr lang="en-US" dirty="0" err="1"/>
              <a:t>Icedelights</a:t>
            </a:r>
            <a:r>
              <a:rPr lang="en-US" dirty="0"/>
              <a:t> has </a:t>
            </a:r>
            <a:r>
              <a:rPr lang="en-US" i="1" dirty="0"/>
              <a:t>a track record of choosing good locations.  But, they have no experience in this new market directly.  Can we trust that learnings fro</a:t>
            </a:r>
            <a:r>
              <a:rPr lang="en-US" dirty="0"/>
              <a:t>m Oregon and California will transfer to Florida?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The Team – The </a:t>
            </a:r>
            <a:r>
              <a:rPr lang="en-US" dirty="0" err="1"/>
              <a:t>Icedelights</a:t>
            </a:r>
            <a:r>
              <a:rPr lang="en-US" dirty="0"/>
              <a:t> management team are smart and likely to succeed but this is effectively their first business venture.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AEB98E-4E7C-C1A3-8DF4-4E6855CC476E}"/>
              </a:ext>
            </a:extLst>
          </p:cNvPr>
          <p:cNvGrpSpPr/>
          <p:nvPr/>
        </p:nvGrpSpPr>
        <p:grpSpPr>
          <a:xfrm>
            <a:off x="172441" y="2840025"/>
            <a:ext cx="1279488" cy="1155559"/>
            <a:chOff x="172441" y="2840025"/>
            <a:chExt cx="1279488" cy="1155559"/>
          </a:xfrm>
        </p:grpSpPr>
        <p:pic>
          <p:nvPicPr>
            <p:cNvPr id="6" name="Graphic 5" descr="Thumbs Down with solid fill">
              <a:extLst>
                <a:ext uri="{FF2B5EF4-FFF2-40B4-BE49-F238E27FC236}">
                  <a16:creationId xmlns:a16="http://schemas.microsoft.com/office/drawing/2014/main" id="{994FA189-B36B-D222-87E5-1C3D9CAE5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2441" y="2840025"/>
              <a:ext cx="1155559" cy="1155559"/>
            </a:xfrm>
            <a:prstGeom prst="rect">
              <a:avLst/>
            </a:prstGeom>
          </p:spPr>
        </p:pic>
        <p:pic>
          <p:nvPicPr>
            <p:cNvPr id="9" name="Graphic 8" descr="Ice cream with solid fill">
              <a:extLst>
                <a:ext uri="{FF2B5EF4-FFF2-40B4-BE49-F238E27FC236}">
                  <a16:creationId xmlns:a16="http://schemas.microsoft.com/office/drawing/2014/main" id="{47B01A31-75C8-5942-2D46-030CBBDED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755302" y="3257280"/>
              <a:ext cx="696627" cy="696627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8CA8F4-782F-CB4B-7720-4F9DD7F43872}"/>
              </a:ext>
            </a:extLst>
          </p:cNvPr>
          <p:cNvGrpSpPr/>
          <p:nvPr/>
        </p:nvGrpSpPr>
        <p:grpSpPr>
          <a:xfrm>
            <a:off x="177522" y="1549529"/>
            <a:ext cx="1279488" cy="1155559"/>
            <a:chOff x="177522" y="1549529"/>
            <a:chExt cx="1279488" cy="1155559"/>
          </a:xfrm>
        </p:grpSpPr>
        <p:pic>
          <p:nvPicPr>
            <p:cNvPr id="10" name="Graphic 9" descr="Thumbs Down with solid fill">
              <a:extLst>
                <a:ext uri="{FF2B5EF4-FFF2-40B4-BE49-F238E27FC236}">
                  <a16:creationId xmlns:a16="http://schemas.microsoft.com/office/drawing/2014/main" id="{53377ACC-412E-209C-EC40-71F2F83F9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7522" y="1549529"/>
              <a:ext cx="1155559" cy="1155559"/>
            </a:xfrm>
            <a:prstGeom prst="rect">
              <a:avLst/>
            </a:prstGeom>
          </p:spPr>
        </p:pic>
        <p:pic>
          <p:nvPicPr>
            <p:cNvPr id="11" name="Graphic 10" descr="Ice cream with solid fill">
              <a:extLst>
                <a:ext uri="{FF2B5EF4-FFF2-40B4-BE49-F238E27FC236}">
                  <a16:creationId xmlns:a16="http://schemas.microsoft.com/office/drawing/2014/main" id="{1F63E40B-F073-0CB7-0AF8-04ACD7637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760383" y="1966784"/>
              <a:ext cx="696627" cy="696627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EB6035-0BEF-267E-51C2-6C00C4450D43}"/>
              </a:ext>
            </a:extLst>
          </p:cNvPr>
          <p:cNvGrpSpPr/>
          <p:nvPr/>
        </p:nvGrpSpPr>
        <p:grpSpPr>
          <a:xfrm>
            <a:off x="255340" y="4589453"/>
            <a:ext cx="1279488" cy="1155559"/>
            <a:chOff x="255340" y="4589453"/>
            <a:chExt cx="1279488" cy="1155559"/>
          </a:xfrm>
        </p:grpSpPr>
        <p:pic>
          <p:nvPicPr>
            <p:cNvPr id="16" name="Graphic 15" descr="Thumbs Down with solid fill">
              <a:extLst>
                <a:ext uri="{FF2B5EF4-FFF2-40B4-BE49-F238E27FC236}">
                  <a16:creationId xmlns:a16="http://schemas.microsoft.com/office/drawing/2014/main" id="{B79D0E8A-DFBD-ADFD-2927-EBCF0F90E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5340" y="4589453"/>
              <a:ext cx="1155559" cy="1155559"/>
            </a:xfrm>
            <a:prstGeom prst="rect">
              <a:avLst/>
            </a:prstGeom>
          </p:spPr>
        </p:pic>
        <p:pic>
          <p:nvPicPr>
            <p:cNvPr id="17" name="Graphic 16" descr="Ice cream with solid fill">
              <a:extLst>
                <a:ext uri="{FF2B5EF4-FFF2-40B4-BE49-F238E27FC236}">
                  <a16:creationId xmlns:a16="http://schemas.microsoft.com/office/drawing/2014/main" id="{71A29AA8-582E-1E35-8822-4DBFCF6CA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838201" y="5006708"/>
              <a:ext cx="696627" cy="696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308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C371-4057-FBE4-D8ED-CB62DA4A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US" sz="4000"/>
              <a:t>The Founders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D5859-7C4B-1A33-0FBE-E61D3F10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28" r="4424" b="-1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FDF05-489C-B0C6-6ED3-D6F8AF866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US" sz="1800" dirty="0"/>
              <a:t>Paul Rodgers – IPO, test equipment, corporate finance, and theater production.</a:t>
            </a:r>
          </a:p>
          <a:p>
            <a:r>
              <a:rPr lang="en-US" sz="1800" dirty="0"/>
              <a:t>Mark Daniels – consulting, M&amp;A, office products, high tech industries, and international business</a:t>
            </a:r>
          </a:p>
          <a:p>
            <a:r>
              <a:rPr lang="en-US" sz="1800" dirty="0"/>
              <a:t>Eric Garfield – University of Florida, consulting experience, international audit and finance, and accounting.</a:t>
            </a:r>
          </a:p>
          <a:p>
            <a:endParaRPr lang="en-US" sz="1800" dirty="0"/>
          </a:p>
          <a:p>
            <a:r>
              <a:rPr lang="en-US" sz="1800" b="1" dirty="0"/>
              <a:t>Notably, this team has no experience running a food service business…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8411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I generated image">
            <a:extLst>
              <a:ext uri="{FF2B5EF4-FFF2-40B4-BE49-F238E27FC236}">
                <a16:creationId xmlns:a16="http://schemas.microsoft.com/office/drawing/2014/main" id="{CA6A44AD-2BC9-2643-ED86-72A931220B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" r="746" b="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0EEF2-C1D8-81EE-F23F-D1D570F9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 the Deal?</a:t>
            </a:r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68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273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Icedelights – Investment Decision</vt:lpstr>
      <vt:lpstr>The Pain</vt:lpstr>
      <vt:lpstr>Opportunity in Florida</vt:lpstr>
      <vt:lpstr>3 Factors for success</vt:lpstr>
      <vt:lpstr>The Founders</vt:lpstr>
      <vt:lpstr>Take the Deal?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Morman (US), Brian J</dc:creator>
  <cp:lastModifiedBy>Morman (US), Brian J</cp:lastModifiedBy>
  <cp:revision>3</cp:revision>
  <dcterms:created xsi:type="dcterms:W3CDTF">2026-03-01T02:27:56Z</dcterms:created>
  <dcterms:modified xsi:type="dcterms:W3CDTF">2026-03-01T03:23:40Z</dcterms:modified>
</cp:coreProperties>
</file>