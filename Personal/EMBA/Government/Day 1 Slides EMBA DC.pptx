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460" r:id="rId2"/>
    <p:sldId id="458" r:id="rId3"/>
    <p:sldId id="580" r:id="rId4"/>
    <p:sldId id="582" r:id="rId5"/>
    <p:sldId id="1143" r:id="rId6"/>
    <p:sldId id="578" r:id="rId7"/>
    <p:sldId id="581" r:id="rId8"/>
    <p:sldId id="583" r:id="rId9"/>
    <p:sldId id="553" r:id="rId10"/>
    <p:sldId id="558" r:id="rId11"/>
    <p:sldId id="1239" r:id="rId12"/>
    <p:sldId id="1141" r:id="rId13"/>
    <p:sldId id="1240" r:id="rId14"/>
    <p:sldId id="1241" r:id="rId15"/>
    <p:sldId id="1248" r:id="rId16"/>
    <p:sldId id="1228" r:id="rId17"/>
    <p:sldId id="1249" r:id="rId18"/>
    <p:sldId id="1229" r:id="rId19"/>
    <p:sldId id="1123" r:id="rId20"/>
    <p:sldId id="1122" r:id="rId21"/>
    <p:sldId id="1159" r:id="rId22"/>
    <p:sldId id="1230" r:id="rId23"/>
    <p:sldId id="1231" r:id="rId24"/>
    <p:sldId id="1232" r:id="rId25"/>
    <p:sldId id="1233" r:id="rId26"/>
    <p:sldId id="1157" r:id="rId27"/>
    <p:sldId id="1234" r:id="rId28"/>
    <p:sldId id="1235" r:id="rId29"/>
    <p:sldId id="1236" r:id="rId30"/>
    <p:sldId id="1198" r:id="rId31"/>
    <p:sldId id="1220" r:id="rId32"/>
    <p:sldId id="559" r:id="rId33"/>
    <p:sldId id="1247" r:id="rId34"/>
    <p:sldId id="1222" r:id="rId35"/>
    <p:sldId id="1250" r:id="rId36"/>
    <p:sldId id="1251" r:id="rId37"/>
    <p:sldId id="569" r:id="rId38"/>
    <p:sldId id="1227" r:id="rId39"/>
    <p:sldId id="651" r:id="rId40"/>
    <p:sldId id="1252" r:id="rId41"/>
    <p:sldId id="1253" r:id="rId42"/>
    <p:sldId id="1221" r:id="rId43"/>
    <p:sldId id="1257" r:id="rId44"/>
    <p:sldId id="1258" r:id="rId45"/>
    <p:sldId id="1244" r:id="rId46"/>
    <p:sldId id="1259" r:id="rId47"/>
    <p:sldId id="1256" r:id="rId48"/>
    <p:sldId id="1238" r:id="rId49"/>
    <p:sldId id="560" r:id="rId50"/>
  </p:sldIdLst>
  <p:sldSz cx="12192000" cy="6858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A0F1E8-7098-B239-F918-23DB16FA2F7C}" name="Tarek Ghani" initials="TG" userId="Tarek Ghan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1E1E1"/>
    <a:srgbClr val="6C7373"/>
    <a:srgbClr val="A51417"/>
    <a:srgbClr val="660066"/>
    <a:srgbClr val="807272"/>
    <a:srgbClr val="C00100"/>
    <a:srgbClr val="AB6274"/>
    <a:srgbClr val="708E64"/>
    <a:srgbClr val="6978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68" autoAdjust="0"/>
    <p:restoredTop sz="84085" autoAdjust="0"/>
  </p:normalViewPr>
  <p:slideViewPr>
    <p:cSldViewPr snapToGrid="0" snapToObjects="1">
      <p:cViewPr>
        <p:scale>
          <a:sx n="96" d="100"/>
          <a:sy n="96" d="100"/>
        </p:scale>
        <p:origin x="-24" y="2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8/10/relationships/authors" Target="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19655A-090A-4FD6-8042-4EF6EFA8A27C}" type="doc">
      <dgm:prSet loTypeId="urn:microsoft.com/office/officeart/2005/8/layout/radial1" loCatId="cycle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CA"/>
        </a:p>
      </dgm:t>
    </dgm:pt>
    <dgm:pt modelId="{4560A6E4-A2CA-4ABF-917E-357864128629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Industry Profitability</a:t>
          </a:r>
          <a:endParaRPr lang="en-CA" dirty="0"/>
        </a:p>
      </dgm:t>
    </dgm:pt>
    <dgm:pt modelId="{0BA50E7A-A9BF-4B9E-BA00-BEF34D054090}" type="parTrans" cxnId="{D6ED1FBA-BF79-482C-936D-3019F2EB5A25}">
      <dgm:prSet/>
      <dgm:spPr/>
      <dgm:t>
        <a:bodyPr/>
        <a:lstStyle/>
        <a:p>
          <a:endParaRPr lang="en-CA"/>
        </a:p>
      </dgm:t>
    </dgm:pt>
    <dgm:pt modelId="{0AF0B908-3491-4B2B-B053-D295F39CB5FC}" type="sibTrans" cxnId="{D6ED1FBA-BF79-482C-936D-3019F2EB5A25}">
      <dgm:prSet/>
      <dgm:spPr/>
      <dgm:t>
        <a:bodyPr/>
        <a:lstStyle/>
        <a:p>
          <a:endParaRPr lang="en-CA"/>
        </a:p>
      </dgm:t>
    </dgm:pt>
    <dgm:pt modelId="{72174115-4C09-4D46-AE56-6A6B9B00E816}">
      <dgm:prSet phldrT="[Text]"/>
      <dgm:spPr/>
      <dgm:t>
        <a:bodyPr/>
        <a:lstStyle/>
        <a:p>
          <a:r>
            <a:rPr lang="en-US" dirty="0"/>
            <a:t>Supplier Power</a:t>
          </a:r>
          <a:endParaRPr lang="en-CA" dirty="0"/>
        </a:p>
      </dgm:t>
    </dgm:pt>
    <dgm:pt modelId="{9B9B871A-B5FD-4185-B047-9521F3547A32}" type="parTrans" cxnId="{F8C0A2A3-A90D-4142-8A8E-B51544AEAE43}">
      <dgm:prSet/>
      <dgm:spPr>
        <a:ln w="57150">
          <a:headEnd type="triangle" w="med" len="med"/>
          <a:tailEnd type="none" w="med" len="med"/>
        </a:ln>
      </dgm:spPr>
      <dgm:t>
        <a:bodyPr/>
        <a:lstStyle/>
        <a:p>
          <a:endParaRPr lang="en-CA"/>
        </a:p>
      </dgm:t>
    </dgm:pt>
    <dgm:pt modelId="{B875E16C-706D-48F1-8211-62AF94FF0CBB}" type="sibTrans" cxnId="{F8C0A2A3-A90D-4142-8A8E-B51544AEAE43}">
      <dgm:prSet/>
      <dgm:spPr/>
      <dgm:t>
        <a:bodyPr/>
        <a:lstStyle/>
        <a:p>
          <a:endParaRPr lang="en-CA"/>
        </a:p>
      </dgm:t>
    </dgm:pt>
    <dgm:pt modelId="{4B8BC3B5-946D-4FAC-9298-F9FCC7670B88}">
      <dgm:prSet phldrT="[Text]"/>
      <dgm:spPr/>
      <dgm:t>
        <a:bodyPr/>
        <a:lstStyle/>
        <a:p>
          <a:r>
            <a:rPr lang="en-US" dirty="0"/>
            <a:t>Buyer Power</a:t>
          </a:r>
          <a:endParaRPr lang="en-CA" dirty="0"/>
        </a:p>
      </dgm:t>
    </dgm:pt>
    <dgm:pt modelId="{AB33B9F1-A738-4DC7-A20D-7141605B4DF1}" type="parTrans" cxnId="{772F79E4-32DA-4533-AF4F-FBD0A370442E}">
      <dgm:prSet/>
      <dgm:spPr>
        <a:ln w="57150">
          <a:headEnd type="triangle" w="med" len="med"/>
          <a:tailEnd type="none" w="med" len="med"/>
        </a:ln>
      </dgm:spPr>
      <dgm:t>
        <a:bodyPr/>
        <a:lstStyle/>
        <a:p>
          <a:endParaRPr lang="en-CA"/>
        </a:p>
      </dgm:t>
    </dgm:pt>
    <dgm:pt modelId="{DB5D8B17-5940-4E77-BB05-766F5E65C7F5}" type="sibTrans" cxnId="{772F79E4-32DA-4533-AF4F-FBD0A370442E}">
      <dgm:prSet/>
      <dgm:spPr/>
      <dgm:t>
        <a:bodyPr/>
        <a:lstStyle/>
        <a:p>
          <a:endParaRPr lang="en-CA"/>
        </a:p>
      </dgm:t>
    </dgm:pt>
    <dgm:pt modelId="{9E3F612B-1A57-4CE2-B3B6-7A0F114B7EF0}">
      <dgm:prSet phldrT="[Text]"/>
      <dgm:spPr/>
      <dgm:t>
        <a:bodyPr/>
        <a:lstStyle/>
        <a:p>
          <a:r>
            <a:rPr lang="en-US" dirty="0"/>
            <a:t>New Entrants</a:t>
          </a:r>
          <a:endParaRPr lang="en-CA" dirty="0"/>
        </a:p>
      </dgm:t>
    </dgm:pt>
    <dgm:pt modelId="{BDF6C542-6EF6-4894-A355-CDF0A812CD02}" type="parTrans" cxnId="{B4554A2E-40C9-4CAD-AF1E-C9C142443072}">
      <dgm:prSet/>
      <dgm:spPr>
        <a:ln w="57150">
          <a:headEnd type="triangle" w="med" len="med"/>
          <a:tailEnd type="none" w="med" len="med"/>
        </a:ln>
      </dgm:spPr>
      <dgm:t>
        <a:bodyPr/>
        <a:lstStyle/>
        <a:p>
          <a:endParaRPr lang="en-CA"/>
        </a:p>
      </dgm:t>
    </dgm:pt>
    <dgm:pt modelId="{70606C36-964D-407B-A443-23BF52C3059C}" type="sibTrans" cxnId="{B4554A2E-40C9-4CAD-AF1E-C9C142443072}">
      <dgm:prSet/>
      <dgm:spPr/>
      <dgm:t>
        <a:bodyPr/>
        <a:lstStyle/>
        <a:p>
          <a:endParaRPr lang="en-CA"/>
        </a:p>
      </dgm:t>
    </dgm:pt>
    <dgm:pt modelId="{30CCDC4F-A037-4747-9858-5BE25AAA1B3A}">
      <dgm:prSet phldrT="[Text]"/>
      <dgm:spPr/>
      <dgm:t>
        <a:bodyPr/>
        <a:lstStyle/>
        <a:p>
          <a:r>
            <a:rPr lang="en-US" dirty="0"/>
            <a:t>Substitutes</a:t>
          </a:r>
          <a:endParaRPr lang="en-CA" dirty="0"/>
        </a:p>
      </dgm:t>
    </dgm:pt>
    <dgm:pt modelId="{8C7BEFE3-F15C-4A08-BD1C-073F89606E07}" type="parTrans" cxnId="{71572D25-D81E-42AB-8463-85FABAAC8DD0}">
      <dgm:prSet/>
      <dgm:spPr>
        <a:ln w="57150">
          <a:headEnd type="triangle" w="med" len="med"/>
          <a:tailEnd type="none" w="med" len="med"/>
        </a:ln>
      </dgm:spPr>
      <dgm:t>
        <a:bodyPr/>
        <a:lstStyle/>
        <a:p>
          <a:endParaRPr lang="en-CA"/>
        </a:p>
      </dgm:t>
    </dgm:pt>
    <dgm:pt modelId="{19480BE7-3391-4D9C-BA1F-07595B590DEF}" type="sibTrans" cxnId="{71572D25-D81E-42AB-8463-85FABAAC8DD0}">
      <dgm:prSet/>
      <dgm:spPr/>
      <dgm:t>
        <a:bodyPr/>
        <a:lstStyle/>
        <a:p>
          <a:endParaRPr lang="en-CA"/>
        </a:p>
      </dgm:t>
    </dgm:pt>
    <dgm:pt modelId="{F950EAD2-0028-4745-828A-5CD5A9FB06F6}">
      <dgm:prSet/>
      <dgm:spPr/>
      <dgm:t>
        <a:bodyPr/>
        <a:lstStyle/>
        <a:p>
          <a:r>
            <a:rPr lang="en-US" dirty="0"/>
            <a:t>Competitive</a:t>
          </a:r>
        </a:p>
        <a:p>
          <a:r>
            <a:rPr lang="en-US" dirty="0"/>
            <a:t>Rivalry</a:t>
          </a:r>
          <a:endParaRPr lang="en-CA" dirty="0"/>
        </a:p>
      </dgm:t>
    </dgm:pt>
    <dgm:pt modelId="{50038AEA-EF75-43A4-AECA-8C24C0A53789}" type="parTrans" cxnId="{31FB9A34-6060-4468-97C4-294E7C7904D2}">
      <dgm:prSet/>
      <dgm:spPr>
        <a:ln w="57150">
          <a:headEnd type="triangle" w="med" len="med"/>
          <a:tailEnd type="none" w="med" len="med"/>
        </a:ln>
      </dgm:spPr>
      <dgm:t>
        <a:bodyPr/>
        <a:lstStyle/>
        <a:p>
          <a:endParaRPr lang="en-CA"/>
        </a:p>
      </dgm:t>
    </dgm:pt>
    <dgm:pt modelId="{5C53E2B8-205A-4C37-B056-84B5477A777B}" type="sibTrans" cxnId="{31FB9A34-6060-4468-97C4-294E7C7904D2}">
      <dgm:prSet/>
      <dgm:spPr/>
      <dgm:t>
        <a:bodyPr/>
        <a:lstStyle/>
        <a:p>
          <a:endParaRPr lang="en-CA"/>
        </a:p>
      </dgm:t>
    </dgm:pt>
    <dgm:pt modelId="{A81918C7-5F62-41BE-ACA1-881BFBC06461}" type="pres">
      <dgm:prSet presAssocID="{9D19655A-090A-4FD6-8042-4EF6EFA8A27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00AE4D0-6187-4D34-AE4F-17537FDE9AF3}" type="pres">
      <dgm:prSet presAssocID="{4560A6E4-A2CA-4ABF-917E-357864128629}" presName="centerShape" presStyleLbl="node0" presStyleIdx="0" presStyleCnt="1"/>
      <dgm:spPr/>
    </dgm:pt>
    <dgm:pt modelId="{A8045D14-2A98-432F-9C11-8878BD5D6EE7}" type="pres">
      <dgm:prSet presAssocID="{9B9B871A-B5FD-4185-B047-9521F3547A32}" presName="Name9" presStyleLbl="parChTrans1D2" presStyleIdx="0" presStyleCnt="5"/>
      <dgm:spPr/>
    </dgm:pt>
    <dgm:pt modelId="{8030EB6C-CF65-4A7D-B223-E7E128681A79}" type="pres">
      <dgm:prSet presAssocID="{9B9B871A-B5FD-4185-B047-9521F3547A32}" presName="connTx" presStyleLbl="parChTrans1D2" presStyleIdx="0" presStyleCnt="5"/>
      <dgm:spPr/>
    </dgm:pt>
    <dgm:pt modelId="{63AB0C49-AA37-4547-B40B-2877F14662AF}" type="pres">
      <dgm:prSet presAssocID="{72174115-4C09-4D46-AE56-6A6B9B00E816}" presName="node" presStyleLbl="node1" presStyleIdx="0" presStyleCnt="5">
        <dgm:presLayoutVars>
          <dgm:bulletEnabled val="1"/>
        </dgm:presLayoutVars>
      </dgm:prSet>
      <dgm:spPr/>
    </dgm:pt>
    <dgm:pt modelId="{E32E8739-77D7-4D96-A5AB-4DC713FE11E8}" type="pres">
      <dgm:prSet presAssocID="{AB33B9F1-A738-4DC7-A20D-7141605B4DF1}" presName="Name9" presStyleLbl="parChTrans1D2" presStyleIdx="1" presStyleCnt="5"/>
      <dgm:spPr/>
    </dgm:pt>
    <dgm:pt modelId="{3A203592-F924-4E3A-8718-6EBDBDB940DB}" type="pres">
      <dgm:prSet presAssocID="{AB33B9F1-A738-4DC7-A20D-7141605B4DF1}" presName="connTx" presStyleLbl="parChTrans1D2" presStyleIdx="1" presStyleCnt="5"/>
      <dgm:spPr/>
    </dgm:pt>
    <dgm:pt modelId="{AAE514A7-B4F3-4AD8-890E-5F20A52A7718}" type="pres">
      <dgm:prSet presAssocID="{4B8BC3B5-946D-4FAC-9298-F9FCC7670B88}" presName="node" presStyleLbl="node1" presStyleIdx="1" presStyleCnt="5">
        <dgm:presLayoutVars>
          <dgm:bulletEnabled val="1"/>
        </dgm:presLayoutVars>
      </dgm:prSet>
      <dgm:spPr/>
    </dgm:pt>
    <dgm:pt modelId="{D9B89D0C-2243-44A5-ADD5-29B8F3397F04}" type="pres">
      <dgm:prSet presAssocID="{BDF6C542-6EF6-4894-A355-CDF0A812CD02}" presName="Name9" presStyleLbl="parChTrans1D2" presStyleIdx="2" presStyleCnt="5"/>
      <dgm:spPr/>
    </dgm:pt>
    <dgm:pt modelId="{1FB40487-EC57-4D15-944F-D4A5EE2D2D4E}" type="pres">
      <dgm:prSet presAssocID="{BDF6C542-6EF6-4894-A355-CDF0A812CD02}" presName="connTx" presStyleLbl="parChTrans1D2" presStyleIdx="2" presStyleCnt="5"/>
      <dgm:spPr/>
    </dgm:pt>
    <dgm:pt modelId="{D27F779A-1161-464D-92C8-79D562811D83}" type="pres">
      <dgm:prSet presAssocID="{9E3F612B-1A57-4CE2-B3B6-7A0F114B7EF0}" presName="node" presStyleLbl="node1" presStyleIdx="2" presStyleCnt="5">
        <dgm:presLayoutVars>
          <dgm:bulletEnabled val="1"/>
        </dgm:presLayoutVars>
      </dgm:prSet>
      <dgm:spPr/>
    </dgm:pt>
    <dgm:pt modelId="{E708E221-B5FC-4A6A-B7A9-7C83BD14D430}" type="pres">
      <dgm:prSet presAssocID="{8C7BEFE3-F15C-4A08-BD1C-073F89606E07}" presName="Name9" presStyleLbl="parChTrans1D2" presStyleIdx="3" presStyleCnt="5"/>
      <dgm:spPr/>
    </dgm:pt>
    <dgm:pt modelId="{E85E3D08-83D7-4D95-8434-591443C381BD}" type="pres">
      <dgm:prSet presAssocID="{8C7BEFE3-F15C-4A08-BD1C-073F89606E07}" presName="connTx" presStyleLbl="parChTrans1D2" presStyleIdx="3" presStyleCnt="5"/>
      <dgm:spPr/>
    </dgm:pt>
    <dgm:pt modelId="{5554E376-951C-4079-8211-F4CEDC42ECEC}" type="pres">
      <dgm:prSet presAssocID="{30CCDC4F-A037-4747-9858-5BE25AAA1B3A}" presName="node" presStyleLbl="node1" presStyleIdx="3" presStyleCnt="5">
        <dgm:presLayoutVars>
          <dgm:bulletEnabled val="1"/>
        </dgm:presLayoutVars>
      </dgm:prSet>
      <dgm:spPr/>
    </dgm:pt>
    <dgm:pt modelId="{5BED6A0D-ECB3-425C-94EF-1D07012FEDEF}" type="pres">
      <dgm:prSet presAssocID="{50038AEA-EF75-43A4-AECA-8C24C0A53789}" presName="Name9" presStyleLbl="parChTrans1D2" presStyleIdx="4" presStyleCnt="5"/>
      <dgm:spPr/>
    </dgm:pt>
    <dgm:pt modelId="{DD783C02-49D3-40F4-8B83-4F1EE92EC3AA}" type="pres">
      <dgm:prSet presAssocID="{50038AEA-EF75-43A4-AECA-8C24C0A53789}" presName="connTx" presStyleLbl="parChTrans1D2" presStyleIdx="4" presStyleCnt="5"/>
      <dgm:spPr/>
    </dgm:pt>
    <dgm:pt modelId="{0804E3A3-14E2-4792-86E4-AE10DF66DBEF}" type="pres">
      <dgm:prSet presAssocID="{F950EAD2-0028-4745-828A-5CD5A9FB06F6}" presName="node" presStyleLbl="node1" presStyleIdx="4" presStyleCnt="5">
        <dgm:presLayoutVars>
          <dgm:bulletEnabled val="1"/>
        </dgm:presLayoutVars>
      </dgm:prSet>
      <dgm:spPr/>
    </dgm:pt>
  </dgm:ptLst>
  <dgm:cxnLst>
    <dgm:cxn modelId="{46A88017-4DD4-3E49-9DC5-4B110B434A35}" type="presOf" srcId="{30CCDC4F-A037-4747-9858-5BE25AAA1B3A}" destId="{5554E376-951C-4079-8211-F4CEDC42ECEC}" srcOrd="0" destOrd="0" presId="urn:microsoft.com/office/officeart/2005/8/layout/radial1"/>
    <dgm:cxn modelId="{0001D024-7CB8-3542-8715-6FBBE13EEB6C}" type="presOf" srcId="{8C7BEFE3-F15C-4A08-BD1C-073F89606E07}" destId="{E85E3D08-83D7-4D95-8434-591443C381BD}" srcOrd="1" destOrd="0" presId="urn:microsoft.com/office/officeart/2005/8/layout/radial1"/>
    <dgm:cxn modelId="{71572D25-D81E-42AB-8463-85FABAAC8DD0}" srcId="{4560A6E4-A2CA-4ABF-917E-357864128629}" destId="{30CCDC4F-A037-4747-9858-5BE25AAA1B3A}" srcOrd="3" destOrd="0" parTransId="{8C7BEFE3-F15C-4A08-BD1C-073F89606E07}" sibTransId="{19480BE7-3391-4D9C-BA1F-07595B590DEF}"/>
    <dgm:cxn modelId="{0EEFE428-D900-D14F-ACB4-D925F7AABC25}" type="presOf" srcId="{BDF6C542-6EF6-4894-A355-CDF0A812CD02}" destId="{1FB40487-EC57-4D15-944F-D4A5EE2D2D4E}" srcOrd="1" destOrd="0" presId="urn:microsoft.com/office/officeart/2005/8/layout/radial1"/>
    <dgm:cxn modelId="{0B274E29-1313-604C-BB4A-BDE88EDB82B6}" type="presOf" srcId="{9B9B871A-B5FD-4185-B047-9521F3547A32}" destId="{A8045D14-2A98-432F-9C11-8878BD5D6EE7}" srcOrd="0" destOrd="0" presId="urn:microsoft.com/office/officeart/2005/8/layout/radial1"/>
    <dgm:cxn modelId="{B4554A2E-40C9-4CAD-AF1E-C9C142443072}" srcId="{4560A6E4-A2CA-4ABF-917E-357864128629}" destId="{9E3F612B-1A57-4CE2-B3B6-7A0F114B7EF0}" srcOrd="2" destOrd="0" parTransId="{BDF6C542-6EF6-4894-A355-CDF0A812CD02}" sibTransId="{70606C36-964D-407B-A443-23BF52C3059C}"/>
    <dgm:cxn modelId="{F16C5E2F-494F-7B4A-9643-A9236BFFE90B}" type="presOf" srcId="{4560A6E4-A2CA-4ABF-917E-357864128629}" destId="{A00AE4D0-6187-4D34-AE4F-17537FDE9AF3}" srcOrd="0" destOrd="0" presId="urn:microsoft.com/office/officeart/2005/8/layout/radial1"/>
    <dgm:cxn modelId="{31FB9A34-6060-4468-97C4-294E7C7904D2}" srcId="{4560A6E4-A2CA-4ABF-917E-357864128629}" destId="{F950EAD2-0028-4745-828A-5CD5A9FB06F6}" srcOrd="4" destOrd="0" parTransId="{50038AEA-EF75-43A4-AECA-8C24C0A53789}" sibTransId="{5C53E2B8-205A-4C37-B056-84B5477A777B}"/>
    <dgm:cxn modelId="{76648D3D-E37E-BC44-8FF6-19AAF55EDCB0}" type="presOf" srcId="{9B9B871A-B5FD-4185-B047-9521F3547A32}" destId="{8030EB6C-CF65-4A7D-B223-E7E128681A79}" srcOrd="1" destOrd="0" presId="urn:microsoft.com/office/officeart/2005/8/layout/radial1"/>
    <dgm:cxn modelId="{6B091F5C-91A8-5943-BE41-590E4BE98F4C}" type="presOf" srcId="{9E3F612B-1A57-4CE2-B3B6-7A0F114B7EF0}" destId="{D27F779A-1161-464D-92C8-79D562811D83}" srcOrd="0" destOrd="0" presId="urn:microsoft.com/office/officeart/2005/8/layout/radial1"/>
    <dgm:cxn modelId="{5D70265F-E43A-664A-91D3-3C3970209D59}" type="presOf" srcId="{4B8BC3B5-946D-4FAC-9298-F9FCC7670B88}" destId="{AAE514A7-B4F3-4AD8-890E-5F20A52A7718}" srcOrd="0" destOrd="0" presId="urn:microsoft.com/office/officeart/2005/8/layout/radial1"/>
    <dgm:cxn modelId="{5FDAF060-3167-F942-9672-CFC40F7E8D8B}" type="presOf" srcId="{AB33B9F1-A738-4DC7-A20D-7141605B4DF1}" destId="{E32E8739-77D7-4D96-A5AB-4DC713FE11E8}" srcOrd="0" destOrd="0" presId="urn:microsoft.com/office/officeart/2005/8/layout/radial1"/>
    <dgm:cxn modelId="{3B120DA2-8024-114B-AB9F-B2E5EAF77AED}" type="presOf" srcId="{BDF6C542-6EF6-4894-A355-CDF0A812CD02}" destId="{D9B89D0C-2243-44A5-ADD5-29B8F3397F04}" srcOrd="0" destOrd="0" presId="urn:microsoft.com/office/officeart/2005/8/layout/radial1"/>
    <dgm:cxn modelId="{F8C0A2A3-A90D-4142-8A8E-B51544AEAE43}" srcId="{4560A6E4-A2CA-4ABF-917E-357864128629}" destId="{72174115-4C09-4D46-AE56-6A6B9B00E816}" srcOrd="0" destOrd="0" parTransId="{9B9B871A-B5FD-4185-B047-9521F3547A32}" sibTransId="{B875E16C-706D-48F1-8211-62AF94FF0CBB}"/>
    <dgm:cxn modelId="{FC4EACB0-D22D-6D46-8B14-DA07C8E18635}" type="presOf" srcId="{50038AEA-EF75-43A4-AECA-8C24C0A53789}" destId="{5BED6A0D-ECB3-425C-94EF-1D07012FEDEF}" srcOrd="0" destOrd="0" presId="urn:microsoft.com/office/officeart/2005/8/layout/radial1"/>
    <dgm:cxn modelId="{A76931B6-8E3E-7C49-9397-6FD753FBC57E}" type="presOf" srcId="{AB33B9F1-A738-4DC7-A20D-7141605B4DF1}" destId="{3A203592-F924-4E3A-8718-6EBDBDB940DB}" srcOrd="1" destOrd="0" presId="urn:microsoft.com/office/officeart/2005/8/layout/radial1"/>
    <dgm:cxn modelId="{BC303FB7-07A6-EF45-AA85-55D61E74077A}" type="presOf" srcId="{F950EAD2-0028-4745-828A-5CD5A9FB06F6}" destId="{0804E3A3-14E2-4792-86E4-AE10DF66DBEF}" srcOrd="0" destOrd="0" presId="urn:microsoft.com/office/officeart/2005/8/layout/radial1"/>
    <dgm:cxn modelId="{D6ED1FBA-BF79-482C-936D-3019F2EB5A25}" srcId="{9D19655A-090A-4FD6-8042-4EF6EFA8A27C}" destId="{4560A6E4-A2CA-4ABF-917E-357864128629}" srcOrd="0" destOrd="0" parTransId="{0BA50E7A-A9BF-4B9E-BA00-BEF34D054090}" sibTransId="{0AF0B908-3491-4B2B-B053-D295F39CB5FC}"/>
    <dgm:cxn modelId="{5D4E83C2-78B0-2848-91E3-05861A1235D2}" type="presOf" srcId="{8C7BEFE3-F15C-4A08-BD1C-073F89606E07}" destId="{E708E221-B5FC-4A6A-B7A9-7C83BD14D430}" srcOrd="0" destOrd="0" presId="urn:microsoft.com/office/officeart/2005/8/layout/radial1"/>
    <dgm:cxn modelId="{CF89D6C9-4B4E-FD46-A08B-84A6FB0A2BC5}" type="presOf" srcId="{9D19655A-090A-4FD6-8042-4EF6EFA8A27C}" destId="{A81918C7-5F62-41BE-ACA1-881BFBC06461}" srcOrd="0" destOrd="0" presId="urn:microsoft.com/office/officeart/2005/8/layout/radial1"/>
    <dgm:cxn modelId="{5BA91CDD-AA56-714B-A79F-F2090834D0DB}" type="presOf" srcId="{50038AEA-EF75-43A4-AECA-8C24C0A53789}" destId="{DD783C02-49D3-40F4-8B83-4F1EE92EC3AA}" srcOrd="1" destOrd="0" presId="urn:microsoft.com/office/officeart/2005/8/layout/radial1"/>
    <dgm:cxn modelId="{772F79E4-32DA-4533-AF4F-FBD0A370442E}" srcId="{4560A6E4-A2CA-4ABF-917E-357864128629}" destId="{4B8BC3B5-946D-4FAC-9298-F9FCC7670B88}" srcOrd="1" destOrd="0" parTransId="{AB33B9F1-A738-4DC7-A20D-7141605B4DF1}" sibTransId="{DB5D8B17-5940-4E77-BB05-766F5E65C7F5}"/>
    <dgm:cxn modelId="{920ADFF7-0865-A242-BCA6-E42431F28507}" type="presOf" srcId="{72174115-4C09-4D46-AE56-6A6B9B00E816}" destId="{63AB0C49-AA37-4547-B40B-2877F14662AF}" srcOrd="0" destOrd="0" presId="urn:microsoft.com/office/officeart/2005/8/layout/radial1"/>
    <dgm:cxn modelId="{9FBF763B-8924-394C-B93E-B07333E49979}" type="presParOf" srcId="{A81918C7-5F62-41BE-ACA1-881BFBC06461}" destId="{A00AE4D0-6187-4D34-AE4F-17537FDE9AF3}" srcOrd="0" destOrd="0" presId="urn:microsoft.com/office/officeart/2005/8/layout/radial1"/>
    <dgm:cxn modelId="{A1177969-2CD7-C140-BDA7-544F7D1834F7}" type="presParOf" srcId="{A81918C7-5F62-41BE-ACA1-881BFBC06461}" destId="{A8045D14-2A98-432F-9C11-8878BD5D6EE7}" srcOrd="1" destOrd="0" presId="urn:microsoft.com/office/officeart/2005/8/layout/radial1"/>
    <dgm:cxn modelId="{3849DDC7-6ECD-0749-9E4F-197FB6DB0195}" type="presParOf" srcId="{A8045D14-2A98-432F-9C11-8878BD5D6EE7}" destId="{8030EB6C-CF65-4A7D-B223-E7E128681A79}" srcOrd="0" destOrd="0" presId="urn:microsoft.com/office/officeart/2005/8/layout/radial1"/>
    <dgm:cxn modelId="{D006A12F-EB7F-D24D-9CBB-89A0924D7151}" type="presParOf" srcId="{A81918C7-5F62-41BE-ACA1-881BFBC06461}" destId="{63AB0C49-AA37-4547-B40B-2877F14662AF}" srcOrd="2" destOrd="0" presId="urn:microsoft.com/office/officeart/2005/8/layout/radial1"/>
    <dgm:cxn modelId="{81036DBE-FC44-5A48-B240-F70800316A8C}" type="presParOf" srcId="{A81918C7-5F62-41BE-ACA1-881BFBC06461}" destId="{E32E8739-77D7-4D96-A5AB-4DC713FE11E8}" srcOrd="3" destOrd="0" presId="urn:microsoft.com/office/officeart/2005/8/layout/radial1"/>
    <dgm:cxn modelId="{FC1600EE-3E42-0C42-B40A-168919975C34}" type="presParOf" srcId="{E32E8739-77D7-4D96-A5AB-4DC713FE11E8}" destId="{3A203592-F924-4E3A-8718-6EBDBDB940DB}" srcOrd="0" destOrd="0" presId="urn:microsoft.com/office/officeart/2005/8/layout/radial1"/>
    <dgm:cxn modelId="{1664CFC3-5B8A-5944-8416-592F8E478108}" type="presParOf" srcId="{A81918C7-5F62-41BE-ACA1-881BFBC06461}" destId="{AAE514A7-B4F3-4AD8-890E-5F20A52A7718}" srcOrd="4" destOrd="0" presId="urn:microsoft.com/office/officeart/2005/8/layout/radial1"/>
    <dgm:cxn modelId="{6D970FB8-7E03-314A-8A6F-8EDD151881CE}" type="presParOf" srcId="{A81918C7-5F62-41BE-ACA1-881BFBC06461}" destId="{D9B89D0C-2243-44A5-ADD5-29B8F3397F04}" srcOrd="5" destOrd="0" presId="urn:microsoft.com/office/officeart/2005/8/layout/radial1"/>
    <dgm:cxn modelId="{BB42F8E1-1812-9045-9D6D-6909B39AD17F}" type="presParOf" srcId="{D9B89D0C-2243-44A5-ADD5-29B8F3397F04}" destId="{1FB40487-EC57-4D15-944F-D4A5EE2D2D4E}" srcOrd="0" destOrd="0" presId="urn:microsoft.com/office/officeart/2005/8/layout/radial1"/>
    <dgm:cxn modelId="{3AB7DB47-8951-DF4D-89CE-7DAFFE55149D}" type="presParOf" srcId="{A81918C7-5F62-41BE-ACA1-881BFBC06461}" destId="{D27F779A-1161-464D-92C8-79D562811D83}" srcOrd="6" destOrd="0" presId="urn:microsoft.com/office/officeart/2005/8/layout/radial1"/>
    <dgm:cxn modelId="{BB47AE09-E6EE-F949-938B-447946CBE1E4}" type="presParOf" srcId="{A81918C7-5F62-41BE-ACA1-881BFBC06461}" destId="{E708E221-B5FC-4A6A-B7A9-7C83BD14D430}" srcOrd="7" destOrd="0" presId="urn:microsoft.com/office/officeart/2005/8/layout/radial1"/>
    <dgm:cxn modelId="{DB103F80-A36C-9D47-A075-61C54E47A43A}" type="presParOf" srcId="{E708E221-B5FC-4A6A-B7A9-7C83BD14D430}" destId="{E85E3D08-83D7-4D95-8434-591443C381BD}" srcOrd="0" destOrd="0" presId="urn:microsoft.com/office/officeart/2005/8/layout/radial1"/>
    <dgm:cxn modelId="{9786DD91-716C-5F4C-99E9-39838FEB3DD6}" type="presParOf" srcId="{A81918C7-5F62-41BE-ACA1-881BFBC06461}" destId="{5554E376-951C-4079-8211-F4CEDC42ECEC}" srcOrd="8" destOrd="0" presId="urn:microsoft.com/office/officeart/2005/8/layout/radial1"/>
    <dgm:cxn modelId="{ED4B4158-C51F-9242-A6A5-170FA8306CB1}" type="presParOf" srcId="{A81918C7-5F62-41BE-ACA1-881BFBC06461}" destId="{5BED6A0D-ECB3-425C-94EF-1D07012FEDEF}" srcOrd="9" destOrd="0" presId="urn:microsoft.com/office/officeart/2005/8/layout/radial1"/>
    <dgm:cxn modelId="{CBB4468D-A72B-6347-A99F-24EC3E87815D}" type="presParOf" srcId="{5BED6A0D-ECB3-425C-94EF-1D07012FEDEF}" destId="{DD783C02-49D3-40F4-8B83-4F1EE92EC3AA}" srcOrd="0" destOrd="0" presId="urn:microsoft.com/office/officeart/2005/8/layout/radial1"/>
    <dgm:cxn modelId="{6C074BB6-72DD-0C41-B070-22D34B079EA8}" type="presParOf" srcId="{A81918C7-5F62-41BE-ACA1-881BFBC06461}" destId="{0804E3A3-14E2-4792-86E4-AE10DF66DBEF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19655A-090A-4FD6-8042-4EF6EFA8A27C}" type="doc">
      <dgm:prSet loTypeId="urn:microsoft.com/office/officeart/2005/8/layout/radial1" loCatId="cycle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CA"/>
        </a:p>
      </dgm:t>
    </dgm:pt>
    <dgm:pt modelId="{4560A6E4-A2CA-4ABF-917E-357864128629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Industry Profitability</a:t>
          </a:r>
          <a:endParaRPr lang="en-CA" dirty="0"/>
        </a:p>
      </dgm:t>
    </dgm:pt>
    <dgm:pt modelId="{0BA50E7A-A9BF-4B9E-BA00-BEF34D054090}" type="parTrans" cxnId="{D6ED1FBA-BF79-482C-936D-3019F2EB5A25}">
      <dgm:prSet/>
      <dgm:spPr/>
      <dgm:t>
        <a:bodyPr/>
        <a:lstStyle/>
        <a:p>
          <a:endParaRPr lang="en-CA"/>
        </a:p>
      </dgm:t>
    </dgm:pt>
    <dgm:pt modelId="{0AF0B908-3491-4B2B-B053-D295F39CB5FC}" type="sibTrans" cxnId="{D6ED1FBA-BF79-482C-936D-3019F2EB5A25}">
      <dgm:prSet/>
      <dgm:spPr/>
      <dgm:t>
        <a:bodyPr/>
        <a:lstStyle/>
        <a:p>
          <a:endParaRPr lang="en-CA"/>
        </a:p>
      </dgm:t>
    </dgm:pt>
    <dgm:pt modelId="{72174115-4C09-4D46-AE56-6A6B9B00E816}">
      <dgm:prSet phldrT="[Text]"/>
      <dgm:spPr/>
      <dgm:t>
        <a:bodyPr/>
        <a:lstStyle/>
        <a:p>
          <a:r>
            <a:rPr lang="en-US" dirty="0"/>
            <a:t>Supplier Power</a:t>
          </a:r>
          <a:endParaRPr lang="en-CA" dirty="0"/>
        </a:p>
      </dgm:t>
    </dgm:pt>
    <dgm:pt modelId="{9B9B871A-B5FD-4185-B047-9521F3547A32}" type="parTrans" cxnId="{F8C0A2A3-A90D-4142-8A8E-B51544AEAE43}">
      <dgm:prSet/>
      <dgm:spPr>
        <a:ln w="57150">
          <a:headEnd type="triangle" w="med" len="med"/>
          <a:tailEnd type="none" w="med" len="med"/>
        </a:ln>
      </dgm:spPr>
      <dgm:t>
        <a:bodyPr/>
        <a:lstStyle/>
        <a:p>
          <a:endParaRPr lang="en-CA"/>
        </a:p>
      </dgm:t>
    </dgm:pt>
    <dgm:pt modelId="{B875E16C-706D-48F1-8211-62AF94FF0CBB}" type="sibTrans" cxnId="{F8C0A2A3-A90D-4142-8A8E-B51544AEAE43}">
      <dgm:prSet/>
      <dgm:spPr/>
      <dgm:t>
        <a:bodyPr/>
        <a:lstStyle/>
        <a:p>
          <a:endParaRPr lang="en-CA"/>
        </a:p>
      </dgm:t>
    </dgm:pt>
    <dgm:pt modelId="{4B8BC3B5-946D-4FAC-9298-F9FCC7670B88}">
      <dgm:prSet phldrT="[Text]"/>
      <dgm:spPr/>
      <dgm:t>
        <a:bodyPr/>
        <a:lstStyle/>
        <a:p>
          <a:r>
            <a:rPr lang="en-US" dirty="0"/>
            <a:t>Buyer Power</a:t>
          </a:r>
          <a:endParaRPr lang="en-CA" dirty="0"/>
        </a:p>
      </dgm:t>
    </dgm:pt>
    <dgm:pt modelId="{AB33B9F1-A738-4DC7-A20D-7141605B4DF1}" type="parTrans" cxnId="{772F79E4-32DA-4533-AF4F-FBD0A370442E}">
      <dgm:prSet/>
      <dgm:spPr>
        <a:ln w="57150">
          <a:headEnd type="triangle" w="med" len="med"/>
          <a:tailEnd type="none" w="med" len="med"/>
        </a:ln>
      </dgm:spPr>
      <dgm:t>
        <a:bodyPr/>
        <a:lstStyle/>
        <a:p>
          <a:endParaRPr lang="en-CA"/>
        </a:p>
      </dgm:t>
    </dgm:pt>
    <dgm:pt modelId="{DB5D8B17-5940-4E77-BB05-766F5E65C7F5}" type="sibTrans" cxnId="{772F79E4-32DA-4533-AF4F-FBD0A370442E}">
      <dgm:prSet/>
      <dgm:spPr/>
      <dgm:t>
        <a:bodyPr/>
        <a:lstStyle/>
        <a:p>
          <a:endParaRPr lang="en-CA"/>
        </a:p>
      </dgm:t>
    </dgm:pt>
    <dgm:pt modelId="{9E3F612B-1A57-4CE2-B3B6-7A0F114B7EF0}">
      <dgm:prSet phldrT="[Text]"/>
      <dgm:spPr/>
      <dgm:t>
        <a:bodyPr/>
        <a:lstStyle/>
        <a:p>
          <a:r>
            <a:rPr lang="en-US" dirty="0"/>
            <a:t>New Entrants</a:t>
          </a:r>
          <a:endParaRPr lang="en-CA" dirty="0"/>
        </a:p>
      </dgm:t>
    </dgm:pt>
    <dgm:pt modelId="{BDF6C542-6EF6-4894-A355-CDF0A812CD02}" type="parTrans" cxnId="{B4554A2E-40C9-4CAD-AF1E-C9C142443072}">
      <dgm:prSet/>
      <dgm:spPr>
        <a:ln w="57150">
          <a:headEnd type="triangle" w="med" len="med"/>
          <a:tailEnd type="none" w="med" len="med"/>
        </a:ln>
      </dgm:spPr>
      <dgm:t>
        <a:bodyPr/>
        <a:lstStyle/>
        <a:p>
          <a:endParaRPr lang="en-CA"/>
        </a:p>
      </dgm:t>
    </dgm:pt>
    <dgm:pt modelId="{70606C36-964D-407B-A443-23BF52C3059C}" type="sibTrans" cxnId="{B4554A2E-40C9-4CAD-AF1E-C9C142443072}">
      <dgm:prSet/>
      <dgm:spPr/>
      <dgm:t>
        <a:bodyPr/>
        <a:lstStyle/>
        <a:p>
          <a:endParaRPr lang="en-CA"/>
        </a:p>
      </dgm:t>
    </dgm:pt>
    <dgm:pt modelId="{30CCDC4F-A037-4747-9858-5BE25AAA1B3A}">
      <dgm:prSet phldrT="[Text]"/>
      <dgm:spPr/>
      <dgm:t>
        <a:bodyPr/>
        <a:lstStyle/>
        <a:p>
          <a:r>
            <a:rPr lang="en-US" dirty="0"/>
            <a:t>Substitutes</a:t>
          </a:r>
          <a:endParaRPr lang="en-CA" dirty="0"/>
        </a:p>
      </dgm:t>
    </dgm:pt>
    <dgm:pt modelId="{8C7BEFE3-F15C-4A08-BD1C-073F89606E07}" type="parTrans" cxnId="{71572D25-D81E-42AB-8463-85FABAAC8DD0}">
      <dgm:prSet/>
      <dgm:spPr>
        <a:ln w="57150">
          <a:headEnd type="triangle" w="med" len="med"/>
          <a:tailEnd type="none" w="med" len="med"/>
        </a:ln>
      </dgm:spPr>
      <dgm:t>
        <a:bodyPr/>
        <a:lstStyle/>
        <a:p>
          <a:endParaRPr lang="en-CA"/>
        </a:p>
      </dgm:t>
    </dgm:pt>
    <dgm:pt modelId="{19480BE7-3391-4D9C-BA1F-07595B590DEF}" type="sibTrans" cxnId="{71572D25-D81E-42AB-8463-85FABAAC8DD0}">
      <dgm:prSet/>
      <dgm:spPr/>
      <dgm:t>
        <a:bodyPr/>
        <a:lstStyle/>
        <a:p>
          <a:endParaRPr lang="en-CA"/>
        </a:p>
      </dgm:t>
    </dgm:pt>
    <dgm:pt modelId="{F950EAD2-0028-4745-828A-5CD5A9FB06F6}">
      <dgm:prSet/>
      <dgm:spPr/>
      <dgm:t>
        <a:bodyPr/>
        <a:lstStyle/>
        <a:p>
          <a:r>
            <a:rPr lang="en-US" dirty="0"/>
            <a:t>Competitive</a:t>
          </a:r>
        </a:p>
        <a:p>
          <a:r>
            <a:rPr lang="en-US" dirty="0"/>
            <a:t>Rivalry</a:t>
          </a:r>
          <a:endParaRPr lang="en-CA" dirty="0"/>
        </a:p>
      </dgm:t>
    </dgm:pt>
    <dgm:pt modelId="{50038AEA-EF75-43A4-AECA-8C24C0A53789}" type="parTrans" cxnId="{31FB9A34-6060-4468-97C4-294E7C7904D2}">
      <dgm:prSet/>
      <dgm:spPr>
        <a:ln w="57150">
          <a:headEnd type="triangle" w="med" len="med"/>
          <a:tailEnd type="none" w="med" len="med"/>
        </a:ln>
      </dgm:spPr>
      <dgm:t>
        <a:bodyPr/>
        <a:lstStyle/>
        <a:p>
          <a:endParaRPr lang="en-CA"/>
        </a:p>
      </dgm:t>
    </dgm:pt>
    <dgm:pt modelId="{5C53E2B8-205A-4C37-B056-84B5477A777B}" type="sibTrans" cxnId="{31FB9A34-6060-4468-97C4-294E7C7904D2}">
      <dgm:prSet/>
      <dgm:spPr/>
      <dgm:t>
        <a:bodyPr/>
        <a:lstStyle/>
        <a:p>
          <a:endParaRPr lang="en-CA"/>
        </a:p>
      </dgm:t>
    </dgm:pt>
    <dgm:pt modelId="{A81918C7-5F62-41BE-ACA1-881BFBC06461}" type="pres">
      <dgm:prSet presAssocID="{9D19655A-090A-4FD6-8042-4EF6EFA8A27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00AE4D0-6187-4D34-AE4F-17537FDE9AF3}" type="pres">
      <dgm:prSet presAssocID="{4560A6E4-A2CA-4ABF-917E-357864128629}" presName="centerShape" presStyleLbl="node0" presStyleIdx="0" presStyleCnt="1"/>
      <dgm:spPr/>
    </dgm:pt>
    <dgm:pt modelId="{A8045D14-2A98-432F-9C11-8878BD5D6EE7}" type="pres">
      <dgm:prSet presAssocID="{9B9B871A-B5FD-4185-B047-9521F3547A32}" presName="Name9" presStyleLbl="parChTrans1D2" presStyleIdx="0" presStyleCnt="5"/>
      <dgm:spPr/>
    </dgm:pt>
    <dgm:pt modelId="{8030EB6C-CF65-4A7D-B223-E7E128681A79}" type="pres">
      <dgm:prSet presAssocID="{9B9B871A-B5FD-4185-B047-9521F3547A32}" presName="connTx" presStyleLbl="parChTrans1D2" presStyleIdx="0" presStyleCnt="5"/>
      <dgm:spPr/>
    </dgm:pt>
    <dgm:pt modelId="{63AB0C49-AA37-4547-B40B-2877F14662AF}" type="pres">
      <dgm:prSet presAssocID="{72174115-4C09-4D46-AE56-6A6B9B00E816}" presName="node" presStyleLbl="node1" presStyleIdx="0" presStyleCnt="5">
        <dgm:presLayoutVars>
          <dgm:bulletEnabled val="1"/>
        </dgm:presLayoutVars>
      </dgm:prSet>
      <dgm:spPr/>
    </dgm:pt>
    <dgm:pt modelId="{E32E8739-77D7-4D96-A5AB-4DC713FE11E8}" type="pres">
      <dgm:prSet presAssocID="{AB33B9F1-A738-4DC7-A20D-7141605B4DF1}" presName="Name9" presStyleLbl="parChTrans1D2" presStyleIdx="1" presStyleCnt="5"/>
      <dgm:spPr/>
    </dgm:pt>
    <dgm:pt modelId="{3A203592-F924-4E3A-8718-6EBDBDB940DB}" type="pres">
      <dgm:prSet presAssocID="{AB33B9F1-A738-4DC7-A20D-7141605B4DF1}" presName="connTx" presStyleLbl="parChTrans1D2" presStyleIdx="1" presStyleCnt="5"/>
      <dgm:spPr/>
    </dgm:pt>
    <dgm:pt modelId="{AAE514A7-B4F3-4AD8-890E-5F20A52A7718}" type="pres">
      <dgm:prSet presAssocID="{4B8BC3B5-946D-4FAC-9298-F9FCC7670B88}" presName="node" presStyleLbl="node1" presStyleIdx="1" presStyleCnt="5">
        <dgm:presLayoutVars>
          <dgm:bulletEnabled val="1"/>
        </dgm:presLayoutVars>
      </dgm:prSet>
      <dgm:spPr/>
    </dgm:pt>
    <dgm:pt modelId="{D9B89D0C-2243-44A5-ADD5-29B8F3397F04}" type="pres">
      <dgm:prSet presAssocID="{BDF6C542-6EF6-4894-A355-CDF0A812CD02}" presName="Name9" presStyleLbl="parChTrans1D2" presStyleIdx="2" presStyleCnt="5"/>
      <dgm:spPr/>
    </dgm:pt>
    <dgm:pt modelId="{1FB40487-EC57-4D15-944F-D4A5EE2D2D4E}" type="pres">
      <dgm:prSet presAssocID="{BDF6C542-6EF6-4894-A355-CDF0A812CD02}" presName="connTx" presStyleLbl="parChTrans1D2" presStyleIdx="2" presStyleCnt="5"/>
      <dgm:spPr/>
    </dgm:pt>
    <dgm:pt modelId="{D27F779A-1161-464D-92C8-79D562811D83}" type="pres">
      <dgm:prSet presAssocID="{9E3F612B-1A57-4CE2-B3B6-7A0F114B7EF0}" presName="node" presStyleLbl="node1" presStyleIdx="2" presStyleCnt="5">
        <dgm:presLayoutVars>
          <dgm:bulletEnabled val="1"/>
        </dgm:presLayoutVars>
      </dgm:prSet>
      <dgm:spPr/>
    </dgm:pt>
    <dgm:pt modelId="{E708E221-B5FC-4A6A-B7A9-7C83BD14D430}" type="pres">
      <dgm:prSet presAssocID="{8C7BEFE3-F15C-4A08-BD1C-073F89606E07}" presName="Name9" presStyleLbl="parChTrans1D2" presStyleIdx="3" presStyleCnt="5"/>
      <dgm:spPr/>
    </dgm:pt>
    <dgm:pt modelId="{E85E3D08-83D7-4D95-8434-591443C381BD}" type="pres">
      <dgm:prSet presAssocID="{8C7BEFE3-F15C-4A08-BD1C-073F89606E07}" presName="connTx" presStyleLbl="parChTrans1D2" presStyleIdx="3" presStyleCnt="5"/>
      <dgm:spPr/>
    </dgm:pt>
    <dgm:pt modelId="{5554E376-951C-4079-8211-F4CEDC42ECEC}" type="pres">
      <dgm:prSet presAssocID="{30CCDC4F-A037-4747-9858-5BE25AAA1B3A}" presName="node" presStyleLbl="node1" presStyleIdx="3" presStyleCnt="5">
        <dgm:presLayoutVars>
          <dgm:bulletEnabled val="1"/>
        </dgm:presLayoutVars>
      </dgm:prSet>
      <dgm:spPr/>
    </dgm:pt>
    <dgm:pt modelId="{5BED6A0D-ECB3-425C-94EF-1D07012FEDEF}" type="pres">
      <dgm:prSet presAssocID="{50038AEA-EF75-43A4-AECA-8C24C0A53789}" presName="Name9" presStyleLbl="parChTrans1D2" presStyleIdx="4" presStyleCnt="5"/>
      <dgm:spPr/>
    </dgm:pt>
    <dgm:pt modelId="{DD783C02-49D3-40F4-8B83-4F1EE92EC3AA}" type="pres">
      <dgm:prSet presAssocID="{50038AEA-EF75-43A4-AECA-8C24C0A53789}" presName="connTx" presStyleLbl="parChTrans1D2" presStyleIdx="4" presStyleCnt="5"/>
      <dgm:spPr/>
    </dgm:pt>
    <dgm:pt modelId="{0804E3A3-14E2-4792-86E4-AE10DF66DBEF}" type="pres">
      <dgm:prSet presAssocID="{F950EAD2-0028-4745-828A-5CD5A9FB06F6}" presName="node" presStyleLbl="node1" presStyleIdx="4" presStyleCnt="5">
        <dgm:presLayoutVars>
          <dgm:bulletEnabled val="1"/>
        </dgm:presLayoutVars>
      </dgm:prSet>
      <dgm:spPr/>
    </dgm:pt>
  </dgm:ptLst>
  <dgm:cxnLst>
    <dgm:cxn modelId="{46A88017-4DD4-3E49-9DC5-4B110B434A35}" type="presOf" srcId="{30CCDC4F-A037-4747-9858-5BE25AAA1B3A}" destId="{5554E376-951C-4079-8211-F4CEDC42ECEC}" srcOrd="0" destOrd="0" presId="urn:microsoft.com/office/officeart/2005/8/layout/radial1"/>
    <dgm:cxn modelId="{0001D024-7CB8-3542-8715-6FBBE13EEB6C}" type="presOf" srcId="{8C7BEFE3-F15C-4A08-BD1C-073F89606E07}" destId="{E85E3D08-83D7-4D95-8434-591443C381BD}" srcOrd="1" destOrd="0" presId="urn:microsoft.com/office/officeart/2005/8/layout/radial1"/>
    <dgm:cxn modelId="{71572D25-D81E-42AB-8463-85FABAAC8DD0}" srcId="{4560A6E4-A2CA-4ABF-917E-357864128629}" destId="{30CCDC4F-A037-4747-9858-5BE25AAA1B3A}" srcOrd="3" destOrd="0" parTransId="{8C7BEFE3-F15C-4A08-BD1C-073F89606E07}" sibTransId="{19480BE7-3391-4D9C-BA1F-07595B590DEF}"/>
    <dgm:cxn modelId="{0EEFE428-D900-D14F-ACB4-D925F7AABC25}" type="presOf" srcId="{BDF6C542-6EF6-4894-A355-CDF0A812CD02}" destId="{1FB40487-EC57-4D15-944F-D4A5EE2D2D4E}" srcOrd="1" destOrd="0" presId="urn:microsoft.com/office/officeart/2005/8/layout/radial1"/>
    <dgm:cxn modelId="{0B274E29-1313-604C-BB4A-BDE88EDB82B6}" type="presOf" srcId="{9B9B871A-B5FD-4185-B047-9521F3547A32}" destId="{A8045D14-2A98-432F-9C11-8878BD5D6EE7}" srcOrd="0" destOrd="0" presId="urn:microsoft.com/office/officeart/2005/8/layout/radial1"/>
    <dgm:cxn modelId="{B4554A2E-40C9-4CAD-AF1E-C9C142443072}" srcId="{4560A6E4-A2CA-4ABF-917E-357864128629}" destId="{9E3F612B-1A57-4CE2-B3B6-7A0F114B7EF0}" srcOrd="2" destOrd="0" parTransId="{BDF6C542-6EF6-4894-A355-CDF0A812CD02}" sibTransId="{70606C36-964D-407B-A443-23BF52C3059C}"/>
    <dgm:cxn modelId="{F16C5E2F-494F-7B4A-9643-A9236BFFE90B}" type="presOf" srcId="{4560A6E4-A2CA-4ABF-917E-357864128629}" destId="{A00AE4D0-6187-4D34-AE4F-17537FDE9AF3}" srcOrd="0" destOrd="0" presId="urn:microsoft.com/office/officeart/2005/8/layout/radial1"/>
    <dgm:cxn modelId="{31FB9A34-6060-4468-97C4-294E7C7904D2}" srcId="{4560A6E4-A2CA-4ABF-917E-357864128629}" destId="{F950EAD2-0028-4745-828A-5CD5A9FB06F6}" srcOrd="4" destOrd="0" parTransId="{50038AEA-EF75-43A4-AECA-8C24C0A53789}" sibTransId="{5C53E2B8-205A-4C37-B056-84B5477A777B}"/>
    <dgm:cxn modelId="{76648D3D-E37E-BC44-8FF6-19AAF55EDCB0}" type="presOf" srcId="{9B9B871A-B5FD-4185-B047-9521F3547A32}" destId="{8030EB6C-CF65-4A7D-B223-E7E128681A79}" srcOrd="1" destOrd="0" presId="urn:microsoft.com/office/officeart/2005/8/layout/radial1"/>
    <dgm:cxn modelId="{6B091F5C-91A8-5943-BE41-590E4BE98F4C}" type="presOf" srcId="{9E3F612B-1A57-4CE2-B3B6-7A0F114B7EF0}" destId="{D27F779A-1161-464D-92C8-79D562811D83}" srcOrd="0" destOrd="0" presId="urn:microsoft.com/office/officeart/2005/8/layout/radial1"/>
    <dgm:cxn modelId="{5D70265F-E43A-664A-91D3-3C3970209D59}" type="presOf" srcId="{4B8BC3B5-946D-4FAC-9298-F9FCC7670B88}" destId="{AAE514A7-B4F3-4AD8-890E-5F20A52A7718}" srcOrd="0" destOrd="0" presId="urn:microsoft.com/office/officeart/2005/8/layout/radial1"/>
    <dgm:cxn modelId="{5FDAF060-3167-F942-9672-CFC40F7E8D8B}" type="presOf" srcId="{AB33B9F1-A738-4DC7-A20D-7141605B4DF1}" destId="{E32E8739-77D7-4D96-A5AB-4DC713FE11E8}" srcOrd="0" destOrd="0" presId="urn:microsoft.com/office/officeart/2005/8/layout/radial1"/>
    <dgm:cxn modelId="{3B120DA2-8024-114B-AB9F-B2E5EAF77AED}" type="presOf" srcId="{BDF6C542-6EF6-4894-A355-CDF0A812CD02}" destId="{D9B89D0C-2243-44A5-ADD5-29B8F3397F04}" srcOrd="0" destOrd="0" presId="urn:microsoft.com/office/officeart/2005/8/layout/radial1"/>
    <dgm:cxn modelId="{F8C0A2A3-A90D-4142-8A8E-B51544AEAE43}" srcId="{4560A6E4-A2CA-4ABF-917E-357864128629}" destId="{72174115-4C09-4D46-AE56-6A6B9B00E816}" srcOrd="0" destOrd="0" parTransId="{9B9B871A-B5FD-4185-B047-9521F3547A32}" sibTransId="{B875E16C-706D-48F1-8211-62AF94FF0CBB}"/>
    <dgm:cxn modelId="{FC4EACB0-D22D-6D46-8B14-DA07C8E18635}" type="presOf" srcId="{50038AEA-EF75-43A4-AECA-8C24C0A53789}" destId="{5BED6A0D-ECB3-425C-94EF-1D07012FEDEF}" srcOrd="0" destOrd="0" presId="urn:microsoft.com/office/officeart/2005/8/layout/radial1"/>
    <dgm:cxn modelId="{A76931B6-8E3E-7C49-9397-6FD753FBC57E}" type="presOf" srcId="{AB33B9F1-A738-4DC7-A20D-7141605B4DF1}" destId="{3A203592-F924-4E3A-8718-6EBDBDB940DB}" srcOrd="1" destOrd="0" presId="urn:microsoft.com/office/officeart/2005/8/layout/radial1"/>
    <dgm:cxn modelId="{BC303FB7-07A6-EF45-AA85-55D61E74077A}" type="presOf" srcId="{F950EAD2-0028-4745-828A-5CD5A9FB06F6}" destId="{0804E3A3-14E2-4792-86E4-AE10DF66DBEF}" srcOrd="0" destOrd="0" presId="urn:microsoft.com/office/officeart/2005/8/layout/radial1"/>
    <dgm:cxn modelId="{D6ED1FBA-BF79-482C-936D-3019F2EB5A25}" srcId="{9D19655A-090A-4FD6-8042-4EF6EFA8A27C}" destId="{4560A6E4-A2CA-4ABF-917E-357864128629}" srcOrd="0" destOrd="0" parTransId="{0BA50E7A-A9BF-4B9E-BA00-BEF34D054090}" sibTransId="{0AF0B908-3491-4B2B-B053-D295F39CB5FC}"/>
    <dgm:cxn modelId="{5D4E83C2-78B0-2848-91E3-05861A1235D2}" type="presOf" srcId="{8C7BEFE3-F15C-4A08-BD1C-073F89606E07}" destId="{E708E221-B5FC-4A6A-B7A9-7C83BD14D430}" srcOrd="0" destOrd="0" presId="urn:microsoft.com/office/officeart/2005/8/layout/radial1"/>
    <dgm:cxn modelId="{CF89D6C9-4B4E-FD46-A08B-84A6FB0A2BC5}" type="presOf" srcId="{9D19655A-090A-4FD6-8042-4EF6EFA8A27C}" destId="{A81918C7-5F62-41BE-ACA1-881BFBC06461}" srcOrd="0" destOrd="0" presId="urn:microsoft.com/office/officeart/2005/8/layout/radial1"/>
    <dgm:cxn modelId="{5BA91CDD-AA56-714B-A79F-F2090834D0DB}" type="presOf" srcId="{50038AEA-EF75-43A4-AECA-8C24C0A53789}" destId="{DD783C02-49D3-40F4-8B83-4F1EE92EC3AA}" srcOrd="1" destOrd="0" presId="urn:microsoft.com/office/officeart/2005/8/layout/radial1"/>
    <dgm:cxn modelId="{772F79E4-32DA-4533-AF4F-FBD0A370442E}" srcId="{4560A6E4-A2CA-4ABF-917E-357864128629}" destId="{4B8BC3B5-946D-4FAC-9298-F9FCC7670B88}" srcOrd="1" destOrd="0" parTransId="{AB33B9F1-A738-4DC7-A20D-7141605B4DF1}" sibTransId="{DB5D8B17-5940-4E77-BB05-766F5E65C7F5}"/>
    <dgm:cxn modelId="{920ADFF7-0865-A242-BCA6-E42431F28507}" type="presOf" srcId="{72174115-4C09-4D46-AE56-6A6B9B00E816}" destId="{63AB0C49-AA37-4547-B40B-2877F14662AF}" srcOrd="0" destOrd="0" presId="urn:microsoft.com/office/officeart/2005/8/layout/radial1"/>
    <dgm:cxn modelId="{9FBF763B-8924-394C-B93E-B07333E49979}" type="presParOf" srcId="{A81918C7-5F62-41BE-ACA1-881BFBC06461}" destId="{A00AE4D0-6187-4D34-AE4F-17537FDE9AF3}" srcOrd="0" destOrd="0" presId="urn:microsoft.com/office/officeart/2005/8/layout/radial1"/>
    <dgm:cxn modelId="{A1177969-2CD7-C140-BDA7-544F7D1834F7}" type="presParOf" srcId="{A81918C7-5F62-41BE-ACA1-881BFBC06461}" destId="{A8045D14-2A98-432F-9C11-8878BD5D6EE7}" srcOrd="1" destOrd="0" presId="urn:microsoft.com/office/officeart/2005/8/layout/radial1"/>
    <dgm:cxn modelId="{3849DDC7-6ECD-0749-9E4F-197FB6DB0195}" type="presParOf" srcId="{A8045D14-2A98-432F-9C11-8878BD5D6EE7}" destId="{8030EB6C-CF65-4A7D-B223-E7E128681A79}" srcOrd="0" destOrd="0" presId="urn:microsoft.com/office/officeart/2005/8/layout/radial1"/>
    <dgm:cxn modelId="{D006A12F-EB7F-D24D-9CBB-89A0924D7151}" type="presParOf" srcId="{A81918C7-5F62-41BE-ACA1-881BFBC06461}" destId="{63AB0C49-AA37-4547-B40B-2877F14662AF}" srcOrd="2" destOrd="0" presId="urn:microsoft.com/office/officeart/2005/8/layout/radial1"/>
    <dgm:cxn modelId="{81036DBE-FC44-5A48-B240-F70800316A8C}" type="presParOf" srcId="{A81918C7-5F62-41BE-ACA1-881BFBC06461}" destId="{E32E8739-77D7-4D96-A5AB-4DC713FE11E8}" srcOrd="3" destOrd="0" presId="urn:microsoft.com/office/officeart/2005/8/layout/radial1"/>
    <dgm:cxn modelId="{FC1600EE-3E42-0C42-B40A-168919975C34}" type="presParOf" srcId="{E32E8739-77D7-4D96-A5AB-4DC713FE11E8}" destId="{3A203592-F924-4E3A-8718-6EBDBDB940DB}" srcOrd="0" destOrd="0" presId="urn:microsoft.com/office/officeart/2005/8/layout/radial1"/>
    <dgm:cxn modelId="{1664CFC3-5B8A-5944-8416-592F8E478108}" type="presParOf" srcId="{A81918C7-5F62-41BE-ACA1-881BFBC06461}" destId="{AAE514A7-B4F3-4AD8-890E-5F20A52A7718}" srcOrd="4" destOrd="0" presId="urn:microsoft.com/office/officeart/2005/8/layout/radial1"/>
    <dgm:cxn modelId="{6D970FB8-7E03-314A-8A6F-8EDD151881CE}" type="presParOf" srcId="{A81918C7-5F62-41BE-ACA1-881BFBC06461}" destId="{D9B89D0C-2243-44A5-ADD5-29B8F3397F04}" srcOrd="5" destOrd="0" presId="urn:microsoft.com/office/officeart/2005/8/layout/radial1"/>
    <dgm:cxn modelId="{BB42F8E1-1812-9045-9D6D-6909B39AD17F}" type="presParOf" srcId="{D9B89D0C-2243-44A5-ADD5-29B8F3397F04}" destId="{1FB40487-EC57-4D15-944F-D4A5EE2D2D4E}" srcOrd="0" destOrd="0" presId="urn:microsoft.com/office/officeart/2005/8/layout/radial1"/>
    <dgm:cxn modelId="{3AB7DB47-8951-DF4D-89CE-7DAFFE55149D}" type="presParOf" srcId="{A81918C7-5F62-41BE-ACA1-881BFBC06461}" destId="{D27F779A-1161-464D-92C8-79D562811D83}" srcOrd="6" destOrd="0" presId="urn:microsoft.com/office/officeart/2005/8/layout/radial1"/>
    <dgm:cxn modelId="{BB47AE09-E6EE-F949-938B-447946CBE1E4}" type="presParOf" srcId="{A81918C7-5F62-41BE-ACA1-881BFBC06461}" destId="{E708E221-B5FC-4A6A-B7A9-7C83BD14D430}" srcOrd="7" destOrd="0" presId="urn:microsoft.com/office/officeart/2005/8/layout/radial1"/>
    <dgm:cxn modelId="{DB103F80-A36C-9D47-A075-61C54E47A43A}" type="presParOf" srcId="{E708E221-B5FC-4A6A-B7A9-7C83BD14D430}" destId="{E85E3D08-83D7-4D95-8434-591443C381BD}" srcOrd="0" destOrd="0" presId="urn:microsoft.com/office/officeart/2005/8/layout/radial1"/>
    <dgm:cxn modelId="{9786DD91-716C-5F4C-99E9-39838FEB3DD6}" type="presParOf" srcId="{A81918C7-5F62-41BE-ACA1-881BFBC06461}" destId="{5554E376-951C-4079-8211-F4CEDC42ECEC}" srcOrd="8" destOrd="0" presId="urn:microsoft.com/office/officeart/2005/8/layout/radial1"/>
    <dgm:cxn modelId="{ED4B4158-C51F-9242-A6A5-170FA8306CB1}" type="presParOf" srcId="{A81918C7-5F62-41BE-ACA1-881BFBC06461}" destId="{5BED6A0D-ECB3-425C-94EF-1D07012FEDEF}" srcOrd="9" destOrd="0" presId="urn:microsoft.com/office/officeart/2005/8/layout/radial1"/>
    <dgm:cxn modelId="{CBB4468D-A72B-6347-A99F-24EC3E87815D}" type="presParOf" srcId="{5BED6A0D-ECB3-425C-94EF-1D07012FEDEF}" destId="{DD783C02-49D3-40F4-8B83-4F1EE92EC3AA}" srcOrd="0" destOrd="0" presId="urn:microsoft.com/office/officeart/2005/8/layout/radial1"/>
    <dgm:cxn modelId="{6C074BB6-72DD-0C41-B070-22D34B079EA8}" type="presParOf" srcId="{A81918C7-5F62-41BE-ACA1-881BFBC06461}" destId="{0804E3A3-14E2-4792-86E4-AE10DF66DBEF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AE4D0-6187-4D34-AE4F-17537FDE9AF3}">
      <dsp:nvSpPr>
        <dsp:cNvPr id="0" name=""/>
        <dsp:cNvSpPr/>
      </dsp:nvSpPr>
      <dsp:spPr>
        <a:xfrm>
          <a:off x="2271262" y="1583337"/>
          <a:ext cx="1204101" cy="1204101"/>
        </a:xfrm>
        <a:prstGeom prst="ellips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Industry Profitability</a:t>
          </a:r>
          <a:endParaRPr lang="en-CA" sz="1200" kern="1200" dirty="0"/>
        </a:p>
      </dsp:txBody>
      <dsp:txXfrm>
        <a:off x="2447599" y="1759674"/>
        <a:ext cx="851427" cy="851427"/>
      </dsp:txXfrm>
    </dsp:sp>
    <dsp:sp modelId="{A8045D14-2A98-432F-9C11-8878BD5D6EE7}">
      <dsp:nvSpPr>
        <dsp:cNvPr id="0" name=""/>
        <dsp:cNvSpPr/>
      </dsp:nvSpPr>
      <dsp:spPr>
        <a:xfrm rot="16200000">
          <a:off x="2691408" y="1382575"/>
          <a:ext cx="363809" cy="37715"/>
        </a:xfrm>
        <a:custGeom>
          <a:avLst/>
          <a:gdLst/>
          <a:ahLst/>
          <a:cxnLst/>
          <a:rect l="0" t="0" r="0" b="0"/>
          <a:pathLst>
            <a:path>
              <a:moveTo>
                <a:pt x="0" y="18857"/>
              </a:moveTo>
              <a:lnTo>
                <a:pt x="363809" y="18857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2864218" y="1392337"/>
        <a:ext cx="18190" cy="18190"/>
      </dsp:txXfrm>
    </dsp:sp>
    <dsp:sp modelId="{63AB0C49-AA37-4547-B40B-2877F14662AF}">
      <dsp:nvSpPr>
        <dsp:cNvPr id="0" name=""/>
        <dsp:cNvSpPr/>
      </dsp:nvSpPr>
      <dsp:spPr>
        <a:xfrm>
          <a:off x="2271262" y="15427"/>
          <a:ext cx="1204101" cy="12041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Supplier Power</a:t>
          </a:r>
          <a:endParaRPr lang="en-CA" sz="1100" kern="1200" dirty="0"/>
        </a:p>
      </dsp:txBody>
      <dsp:txXfrm>
        <a:off x="2447599" y="191764"/>
        <a:ext cx="851427" cy="851427"/>
      </dsp:txXfrm>
    </dsp:sp>
    <dsp:sp modelId="{E32E8739-77D7-4D96-A5AB-4DC713FE11E8}">
      <dsp:nvSpPr>
        <dsp:cNvPr id="0" name=""/>
        <dsp:cNvSpPr/>
      </dsp:nvSpPr>
      <dsp:spPr>
        <a:xfrm rot="20520000">
          <a:off x="3436994" y="1924274"/>
          <a:ext cx="363809" cy="37715"/>
        </a:xfrm>
        <a:custGeom>
          <a:avLst/>
          <a:gdLst/>
          <a:ahLst/>
          <a:cxnLst/>
          <a:rect l="0" t="0" r="0" b="0"/>
          <a:pathLst>
            <a:path>
              <a:moveTo>
                <a:pt x="0" y="18857"/>
              </a:moveTo>
              <a:lnTo>
                <a:pt x="363809" y="18857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3609803" y="1934037"/>
        <a:ext cx="18190" cy="18190"/>
      </dsp:txXfrm>
    </dsp:sp>
    <dsp:sp modelId="{AAE514A7-B4F3-4AD8-890E-5F20A52A7718}">
      <dsp:nvSpPr>
        <dsp:cNvPr id="0" name=""/>
        <dsp:cNvSpPr/>
      </dsp:nvSpPr>
      <dsp:spPr>
        <a:xfrm>
          <a:off x="3762434" y="1098826"/>
          <a:ext cx="1204101" cy="12041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Buyer Power</a:t>
          </a:r>
          <a:endParaRPr lang="en-CA" sz="1100" kern="1200" dirty="0"/>
        </a:p>
      </dsp:txBody>
      <dsp:txXfrm>
        <a:off x="3938771" y="1275163"/>
        <a:ext cx="851427" cy="851427"/>
      </dsp:txXfrm>
    </dsp:sp>
    <dsp:sp modelId="{D9B89D0C-2243-44A5-ADD5-29B8F3397F04}">
      <dsp:nvSpPr>
        <dsp:cNvPr id="0" name=""/>
        <dsp:cNvSpPr/>
      </dsp:nvSpPr>
      <dsp:spPr>
        <a:xfrm rot="3240000">
          <a:off x="3152206" y="2800763"/>
          <a:ext cx="363809" cy="37715"/>
        </a:xfrm>
        <a:custGeom>
          <a:avLst/>
          <a:gdLst/>
          <a:ahLst/>
          <a:cxnLst/>
          <a:rect l="0" t="0" r="0" b="0"/>
          <a:pathLst>
            <a:path>
              <a:moveTo>
                <a:pt x="0" y="18857"/>
              </a:moveTo>
              <a:lnTo>
                <a:pt x="363809" y="18857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3325015" y="2810525"/>
        <a:ext cx="18190" cy="18190"/>
      </dsp:txXfrm>
    </dsp:sp>
    <dsp:sp modelId="{D27F779A-1161-464D-92C8-79D562811D83}">
      <dsp:nvSpPr>
        <dsp:cNvPr id="0" name=""/>
        <dsp:cNvSpPr/>
      </dsp:nvSpPr>
      <dsp:spPr>
        <a:xfrm>
          <a:off x="3192857" y="2851803"/>
          <a:ext cx="1204101" cy="12041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New Entrants</a:t>
          </a:r>
          <a:endParaRPr lang="en-CA" sz="1100" kern="1200" dirty="0"/>
        </a:p>
      </dsp:txBody>
      <dsp:txXfrm>
        <a:off x="3369194" y="3028140"/>
        <a:ext cx="851427" cy="851427"/>
      </dsp:txXfrm>
    </dsp:sp>
    <dsp:sp modelId="{E708E221-B5FC-4A6A-B7A9-7C83BD14D430}">
      <dsp:nvSpPr>
        <dsp:cNvPr id="0" name=""/>
        <dsp:cNvSpPr/>
      </dsp:nvSpPr>
      <dsp:spPr>
        <a:xfrm rot="7560000">
          <a:off x="2230611" y="2800763"/>
          <a:ext cx="363809" cy="37715"/>
        </a:xfrm>
        <a:custGeom>
          <a:avLst/>
          <a:gdLst/>
          <a:ahLst/>
          <a:cxnLst/>
          <a:rect l="0" t="0" r="0" b="0"/>
          <a:pathLst>
            <a:path>
              <a:moveTo>
                <a:pt x="0" y="18857"/>
              </a:moveTo>
              <a:lnTo>
                <a:pt x="363809" y="18857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 rot="10800000">
        <a:off x="2403421" y="2810525"/>
        <a:ext cx="18190" cy="18190"/>
      </dsp:txXfrm>
    </dsp:sp>
    <dsp:sp modelId="{5554E376-951C-4079-8211-F4CEDC42ECEC}">
      <dsp:nvSpPr>
        <dsp:cNvPr id="0" name=""/>
        <dsp:cNvSpPr/>
      </dsp:nvSpPr>
      <dsp:spPr>
        <a:xfrm>
          <a:off x="1349668" y="2851803"/>
          <a:ext cx="1204101" cy="12041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Substitutes</a:t>
          </a:r>
          <a:endParaRPr lang="en-CA" sz="1100" kern="1200" dirty="0"/>
        </a:p>
      </dsp:txBody>
      <dsp:txXfrm>
        <a:off x="1526005" y="3028140"/>
        <a:ext cx="851427" cy="851427"/>
      </dsp:txXfrm>
    </dsp:sp>
    <dsp:sp modelId="{5BED6A0D-ECB3-425C-94EF-1D07012FEDEF}">
      <dsp:nvSpPr>
        <dsp:cNvPr id="0" name=""/>
        <dsp:cNvSpPr/>
      </dsp:nvSpPr>
      <dsp:spPr>
        <a:xfrm rot="11880000">
          <a:off x="1945823" y="1924274"/>
          <a:ext cx="363809" cy="37715"/>
        </a:xfrm>
        <a:custGeom>
          <a:avLst/>
          <a:gdLst/>
          <a:ahLst/>
          <a:cxnLst/>
          <a:rect l="0" t="0" r="0" b="0"/>
          <a:pathLst>
            <a:path>
              <a:moveTo>
                <a:pt x="0" y="18857"/>
              </a:moveTo>
              <a:lnTo>
                <a:pt x="363809" y="18857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 rot="10800000">
        <a:off x="2118632" y="1934037"/>
        <a:ext cx="18190" cy="18190"/>
      </dsp:txXfrm>
    </dsp:sp>
    <dsp:sp modelId="{0804E3A3-14E2-4792-86E4-AE10DF66DBEF}">
      <dsp:nvSpPr>
        <dsp:cNvPr id="0" name=""/>
        <dsp:cNvSpPr/>
      </dsp:nvSpPr>
      <dsp:spPr>
        <a:xfrm>
          <a:off x="780091" y="1098826"/>
          <a:ext cx="1204101" cy="12041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Competitive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Rivalry</a:t>
          </a:r>
          <a:endParaRPr lang="en-CA" sz="1100" kern="1200" dirty="0"/>
        </a:p>
      </dsp:txBody>
      <dsp:txXfrm>
        <a:off x="956428" y="1275163"/>
        <a:ext cx="851427" cy="8514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AE4D0-6187-4D34-AE4F-17537FDE9AF3}">
      <dsp:nvSpPr>
        <dsp:cNvPr id="0" name=""/>
        <dsp:cNvSpPr/>
      </dsp:nvSpPr>
      <dsp:spPr>
        <a:xfrm>
          <a:off x="2271262" y="1583337"/>
          <a:ext cx="1204101" cy="1204101"/>
        </a:xfrm>
        <a:prstGeom prst="ellips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Industry Profitability</a:t>
          </a:r>
          <a:endParaRPr lang="en-CA" sz="1200" kern="1200" dirty="0"/>
        </a:p>
      </dsp:txBody>
      <dsp:txXfrm>
        <a:off x="2447599" y="1759674"/>
        <a:ext cx="851427" cy="851427"/>
      </dsp:txXfrm>
    </dsp:sp>
    <dsp:sp modelId="{A8045D14-2A98-432F-9C11-8878BD5D6EE7}">
      <dsp:nvSpPr>
        <dsp:cNvPr id="0" name=""/>
        <dsp:cNvSpPr/>
      </dsp:nvSpPr>
      <dsp:spPr>
        <a:xfrm rot="16200000">
          <a:off x="2691408" y="1382575"/>
          <a:ext cx="363809" cy="37715"/>
        </a:xfrm>
        <a:custGeom>
          <a:avLst/>
          <a:gdLst/>
          <a:ahLst/>
          <a:cxnLst/>
          <a:rect l="0" t="0" r="0" b="0"/>
          <a:pathLst>
            <a:path>
              <a:moveTo>
                <a:pt x="0" y="18857"/>
              </a:moveTo>
              <a:lnTo>
                <a:pt x="363809" y="18857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2864218" y="1392337"/>
        <a:ext cx="18190" cy="18190"/>
      </dsp:txXfrm>
    </dsp:sp>
    <dsp:sp modelId="{63AB0C49-AA37-4547-B40B-2877F14662AF}">
      <dsp:nvSpPr>
        <dsp:cNvPr id="0" name=""/>
        <dsp:cNvSpPr/>
      </dsp:nvSpPr>
      <dsp:spPr>
        <a:xfrm>
          <a:off x="2271262" y="15427"/>
          <a:ext cx="1204101" cy="12041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Supplier Power</a:t>
          </a:r>
          <a:endParaRPr lang="en-CA" sz="1100" kern="1200" dirty="0"/>
        </a:p>
      </dsp:txBody>
      <dsp:txXfrm>
        <a:off x="2447599" y="191764"/>
        <a:ext cx="851427" cy="851427"/>
      </dsp:txXfrm>
    </dsp:sp>
    <dsp:sp modelId="{E32E8739-77D7-4D96-A5AB-4DC713FE11E8}">
      <dsp:nvSpPr>
        <dsp:cNvPr id="0" name=""/>
        <dsp:cNvSpPr/>
      </dsp:nvSpPr>
      <dsp:spPr>
        <a:xfrm rot="20520000">
          <a:off x="3436994" y="1924274"/>
          <a:ext cx="363809" cy="37715"/>
        </a:xfrm>
        <a:custGeom>
          <a:avLst/>
          <a:gdLst/>
          <a:ahLst/>
          <a:cxnLst/>
          <a:rect l="0" t="0" r="0" b="0"/>
          <a:pathLst>
            <a:path>
              <a:moveTo>
                <a:pt x="0" y="18857"/>
              </a:moveTo>
              <a:lnTo>
                <a:pt x="363809" y="18857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3609803" y="1934037"/>
        <a:ext cx="18190" cy="18190"/>
      </dsp:txXfrm>
    </dsp:sp>
    <dsp:sp modelId="{AAE514A7-B4F3-4AD8-890E-5F20A52A7718}">
      <dsp:nvSpPr>
        <dsp:cNvPr id="0" name=""/>
        <dsp:cNvSpPr/>
      </dsp:nvSpPr>
      <dsp:spPr>
        <a:xfrm>
          <a:off x="3762434" y="1098826"/>
          <a:ext cx="1204101" cy="12041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Buyer Power</a:t>
          </a:r>
          <a:endParaRPr lang="en-CA" sz="1100" kern="1200" dirty="0"/>
        </a:p>
      </dsp:txBody>
      <dsp:txXfrm>
        <a:off x="3938771" y="1275163"/>
        <a:ext cx="851427" cy="851427"/>
      </dsp:txXfrm>
    </dsp:sp>
    <dsp:sp modelId="{D9B89D0C-2243-44A5-ADD5-29B8F3397F04}">
      <dsp:nvSpPr>
        <dsp:cNvPr id="0" name=""/>
        <dsp:cNvSpPr/>
      </dsp:nvSpPr>
      <dsp:spPr>
        <a:xfrm rot="3240000">
          <a:off x="3152206" y="2800763"/>
          <a:ext cx="363809" cy="37715"/>
        </a:xfrm>
        <a:custGeom>
          <a:avLst/>
          <a:gdLst/>
          <a:ahLst/>
          <a:cxnLst/>
          <a:rect l="0" t="0" r="0" b="0"/>
          <a:pathLst>
            <a:path>
              <a:moveTo>
                <a:pt x="0" y="18857"/>
              </a:moveTo>
              <a:lnTo>
                <a:pt x="363809" y="18857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3325015" y="2810525"/>
        <a:ext cx="18190" cy="18190"/>
      </dsp:txXfrm>
    </dsp:sp>
    <dsp:sp modelId="{D27F779A-1161-464D-92C8-79D562811D83}">
      <dsp:nvSpPr>
        <dsp:cNvPr id="0" name=""/>
        <dsp:cNvSpPr/>
      </dsp:nvSpPr>
      <dsp:spPr>
        <a:xfrm>
          <a:off x="3192857" y="2851803"/>
          <a:ext cx="1204101" cy="12041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New Entrants</a:t>
          </a:r>
          <a:endParaRPr lang="en-CA" sz="1100" kern="1200" dirty="0"/>
        </a:p>
      </dsp:txBody>
      <dsp:txXfrm>
        <a:off x="3369194" y="3028140"/>
        <a:ext cx="851427" cy="851427"/>
      </dsp:txXfrm>
    </dsp:sp>
    <dsp:sp modelId="{E708E221-B5FC-4A6A-B7A9-7C83BD14D430}">
      <dsp:nvSpPr>
        <dsp:cNvPr id="0" name=""/>
        <dsp:cNvSpPr/>
      </dsp:nvSpPr>
      <dsp:spPr>
        <a:xfrm rot="7560000">
          <a:off x="2230611" y="2800763"/>
          <a:ext cx="363809" cy="37715"/>
        </a:xfrm>
        <a:custGeom>
          <a:avLst/>
          <a:gdLst/>
          <a:ahLst/>
          <a:cxnLst/>
          <a:rect l="0" t="0" r="0" b="0"/>
          <a:pathLst>
            <a:path>
              <a:moveTo>
                <a:pt x="0" y="18857"/>
              </a:moveTo>
              <a:lnTo>
                <a:pt x="363809" y="18857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 rot="10800000">
        <a:off x="2403421" y="2810525"/>
        <a:ext cx="18190" cy="18190"/>
      </dsp:txXfrm>
    </dsp:sp>
    <dsp:sp modelId="{5554E376-951C-4079-8211-F4CEDC42ECEC}">
      <dsp:nvSpPr>
        <dsp:cNvPr id="0" name=""/>
        <dsp:cNvSpPr/>
      </dsp:nvSpPr>
      <dsp:spPr>
        <a:xfrm>
          <a:off x="1349668" y="2851803"/>
          <a:ext cx="1204101" cy="12041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Substitutes</a:t>
          </a:r>
          <a:endParaRPr lang="en-CA" sz="1100" kern="1200" dirty="0"/>
        </a:p>
      </dsp:txBody>
      <dsp:txXfrm>
        <a:off x="1526005" y="3028140"/>
        <a:ext cx="851427" cy="851427"/>
      </dsp:txXfrm>
    </dsp:sp>
    <dsp:sp modelId="{5BED6A0D-ECB3-425C-94EF-1D07012FEDEF}">
      <dsp:nvSpPr>
        <dsp:cNvPr id="0" name=""/>
        <dsp:cNvSpPr/>
      </dsp:nvSpPr>
      <dsp:spPr>
        <a:xfrm rot="11880000">
          <a:off x="1945823" y="1924274"/>
          <a:ext cx="363809" cy="37715"/>
        </a:xfrm>
        <a:custGeom>
          <a:avLst/>
          <a:gdLst/>
          <a:ahLst/>
          <a:cxnLst/>
          <a:rect l="0" t="0" r="0" b="0"/>
          <a:pathLst>
            <a:path>
              <a:moveTo>
                <a:pt x="0" y="18857"/>
              </a:moveTo>
              <a:lnTo>
                <a:pt x="363809" y="18857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 rot="10800000">
        <a:off x="2118632" y="1934037"/>
        <a:ext cx="18190" cy="18190"/>
      </dsp:txXfrm>
    </dsp:sp>
    <dsp:sp modelId="{0804E3A3-14E2-4792-86E4-AE10DF66DBEF}">
      <dsp:nvSpPr>
        <dsp:cNvPr id="0" name=""/>
        <dsp:cNvSpPr/>
      </dsp:nvSpPr>
      <dsp:spPr>
        <a:xfrm>
          <a:off x="780091" y="1098826"/>
          <a:ext cx="1204101" cy="12041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Competitive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Rivalry</a:t>
          </a:r>
          <a:endParaRPr lang="en-CA" sz="1100" kern="1200" dirty="0"/>
        </a:p>
      </dsp:txBody>
      <dsp:txXfrm>
        <a:off x="956428" y="1275163"/>
        <a:ext cx="851427" cy="851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B05264-01C9-D744-A1CE-F262654FB1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1096E-BA83-4540-9473-2A909225DE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E5400-E156-FA44-9225-1C30817CE6D6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F2D14-E357-254F-819B-73ADAA13E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F57A9-35E1-8E46-9E2A-A7605708F7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7B639-DC0C-294B-834E-03F810E9C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45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41E3AD09-9720-9047-BB14-484CD98DBB2F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39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A8380D64-6F43-4C4D-BE6A-3F3482AA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9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52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09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MS PGothic" charset="0"/>
            </a:endParaRPr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858E63-A67A-7542-BF23-C681A04D903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  <a:cs typeface="Arial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134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0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897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18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07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  <a:ea typeface="MS PGothic" charset="0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A05868-B452-EF45-87E2-506718A35A2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charset="0"/>
                <a:cs typeface="Arial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500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  <a:ea typeface="MS PGothic" charset="0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5734F7-4E4B-9047-B426-803C17A367F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charset="0"/>
                <a:cs typeface="Arial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712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MS PGothic" charset="0"/>
            </a:endParaRP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fld id="{F0885EF5-B58F-5343-91F6-B09B061C3EC3}" type="slidenum">
              <a:rPr lang="en-US" sz="1200">
                <a:latin typeface="Times New Roman" charset="0"/>
                <a:cs typeface="Arial" charset="0"/>
              </a:rPr>
              <a:pPr/>
              <a:t>21</a:t>
            </a:fld>
            <a:endParaRPr lang="en-US" sz="1200">
              <a:latin typeface="Times New Roman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213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03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749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Times New Roman" charset="0"/>
              <a:ea typeface="MS PGothic" charset="0"/>
            </a:endParaRP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fld id="{877280C5-2693-1746-B752-373C2BECDAD9}" type="slidenum">
              <a:rPr lang="en-US" sz="1200">
                <a:latin typeface="Times New Roman" charset="0"/>
                <a:cs typeface="Arial" charset="0"/>
              </a:rPr>
              <a:pPr/>
              <a:t>26</a:t>
            </a:fld>
            <a:endParaRPr lang="en-US" sz="1200">
              <a:latin typeface="Times New Roman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8718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Times New Roman" charset="0"/>
              <a:ea typeface="MS PGothic" charset="0"/>
            </a:endParaRP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7280C5-2693-1746-B752-373C2BECDAD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charset="0"/>
                <a:cs typeface="Arial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9350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824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748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80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11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810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18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55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063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721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497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168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734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404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52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04800" y="228600"/>
            <a:ext cx="11582400" cy="6400800"/>
          </a:xfrm>
          <a:prstGeom prst="rect">
            <a:avLst/>
          </a:prstGeom>
          <a:solidFill>
            <a:srgbClr val="6C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3" y="2253754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3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9271" y="436622"/>
            <a:ext cx="4350293" cy="60258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871" y="5773219"/>
            <a:ext cx="4798532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04800" y="228600"/>
            <a:ext cx="11582400" cy="6400800"/>
          </a:xfrm>
          <a:prstGeom prst="rect">
            <a:avLst/>
          </a:prstGeom>
          <a:solidFill>
            <a:srgbClr val="A5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9271" y="436622"/>
            <a:ext cx="4350293" cy="602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3" y="2253754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3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871" y="5773219"/>
            <a:ext cx="4798532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7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61111_jwb_knight_center_001 (1).tif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00" y="228600"/>
            <a:ext cx="11582400" cy="6400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9271" y="436622"/>
            <a:ext cx="4350293" cy="602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3" y="1036671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3" y="2379694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871" y="5773219"/>
            <a:ext cx="4798532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00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00" y="243840"/>
            <a:ext cx="11582400" cy="63804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9271" y="436622"/>
            <a:ext cx="4350293" cy="602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3" y="2379697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3" y="3722720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311" y="4926617"/>
            <a:ext cx="4798532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0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50502Olin_PMBAParty_2974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01" y="243840"/>
            <a:ext cx="11584763" cy="63804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9271" y="436622"/>
            <a:ext cx="4350293" cy="602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3" y="2379697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3" y="3722720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311" y="4926617"/>
            <a:ext cx="4798532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3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2014 GO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01" y="243840"/>
            <a:ext cx="11584763" cy="63804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9271" y="436622"/>
            <a:ext cx="4350293" cy="60258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3" y="2379697"/>
            <a:ext cx="6650503" cy="12170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3" y="3722720"/>
            <a:ext cx="6650503" cy="4808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311" y="4926617"/>
            <a:ext cx="4798532" cy="5636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563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40317_naunheim_olin_knight_bauer_104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01" y="243840"/>
            <a:ext cx="11584763" cy="63804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9271" y="436622"/>
            <a:ext cx="4350293" cy="60258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3" y="2379697"/>
            <a:ext cx="6650503" cy="12170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3" y="3722720"/>
            <a:ext cx="6650503" cy="4808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311" y="4926617"/>
            <a:ext cx="4798532" cy="5636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561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Olin_May14_27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01" y="243840"/>
            <a:ext cx="11584763" cy="63804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9271" y="436622"/>
            <a:ext cx="4350293" cy="60258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3" y="2379697"/>
            <a:ext cx="6650503" cy="12170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3" y="3722720"/>
            <a:ext cx="6650503" cy="4808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311" y="4926617"/>
            <a:ext cx="4798532" cy="5636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626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514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963" y="437444"/>
            <a:ext cx="1060704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767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305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664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sh_U_PPT_Template-04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21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35A25F-4C5F-9942-AA97-48F9DDD68B95}"/>
              </a:ext>
            </a:extLst>
          </p:cNvPr>
          <p:cNvSpPr/>
          <p:nvPr userDrawn="1"/>
        </p:nvSpPr>
        <p:spPr>
          <a:xfrm>
            <a:off x="144088" y="104887"/>
            <a:ext cx="11892741" cy="80682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D77656-8E3E-1D4F-B576-104CDD9D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185" y="0"/>
            <a:ext cx="4987633" cy="685800"/>
          </a:xfrm>
        </p:spPr>
        <p:txBody>
          <a:bodyPr/>
          <a:lstStyle>
            <a:lvl1pPr>
              <a:defRPr sz="247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51A9F-B910-A445-9ECE-D042801B3E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4183" y="1250577"/>
            <a:ext cx="11083636" cy="49686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0794EE9-2363-6B4E-BF23-498226108A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82" y="6238878"/>
            <a:ext cx="9033164" cy="370069"/>
          </a:xfrm>
        </p:spPr>
        <p:txBody>
          <a:bodyPr anchor="b"/>
          <a:lstStyle>
            <a:lvl1pPr>
              <a:spcAft>
                <a:spcPts val="265"/>
              </a:spcAft>
              <a:defRPr sz="706" b="0" i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1C849E5F-C40C-D841-A2D7-035A1EF82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1820" y="104887"/>
            <a:ext cx="3602181" cy="556708"/>
          </a:xfrm>
        </p:spPr>
        <p:txBody>
          <a:bodyPr anchor="b"/>
          <a:lstStyle>
            <a:lvl1pPr algn="r">
              <a:spcAft>
                <a:spcPts val="0"/>
              </a:spcAft>
              <a:defRPr sz="1235" b="0" spc="88" baseline="0">
                <a:solidFill>
                  <a:schemeClr val="accent3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DE9DD4-5C2B-434B-965D-5B30B33B49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75276" y="330687"/>
            <a:ext cx="1662545" cy="355223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D6A363C-467E-B643-9363-0561119B70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05822" y="6485792"/>
            <a:ext cx="2031996" cy="121024"/>
          </a:xfrm>
        </p:spPr>
        <p:txBody>
          <a:bodyPr anchor="b"/>
          <a:lstStyle>
            <a:lvl1pPr algn="r">
              <a:spcAft>
                <a:spcPts val="265"/>
              </a:spcAft>
              <a:defRPr sz="529" b="0" i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31331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95392" y="303903"/>
            <a:ext cx="11582400" cy="640080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38" y="437444"/>
            <a:ext cx="9649953" cy="9801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519" y="1600200"/>
            <a:ext cx="10856148" cy="4778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963" y="437444"/>
            <a:ext cx="1060704" cy="92049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304800" y="6142182"/>
            <a:ext cx="11582400" cy="487218"/>
          </a:xfrm>
          <a:prstGeom prst="rect">
            <a:avLst/>
          </a:prstGeom>
          <a:solidFill>
            <a:srgbClr val="A5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4081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50" r:id="rId9"/>
    <p:sldLayoutId id="2147483660" r:id="rId10"/>
    <p:sldLayoutId id="2147483652" r:id="rId11"/>
    <p:sldLayoutId id="2147483653" r:id="rId12"/>
    <p:sldLayoutId id="2147483654" r:id="rId13"/>
    <p:sldLayoutId id="2147483670" r:id="rId14"/>
    <p:sldLayoutId id="2147483655" r:id="rId15"/>
    <p:sldLayoutId id="2147483680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nbs.net/how-can-companies-use-their-political-influence-responsibly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foreignpolicy.com/2025/02/07/trump-gaza-netanyahu-canada-mexico-usaid-iran/" TargetMode="Externa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6438-DE7B-9B4A-8D02-AE489B00DD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EMBA 60: Business, Government and Society</a:t>
            </a: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41D05-7916-D941-A7E2-D510D48B10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April 2-5, 2025</a:t>
            </a:r>
          </a:p>
        </p:txBody>
      </p:sp>
    </p:spTree>
    <p:extLst>
      <p:ext uri="{BB962C8B-B14F-4D97-AF65-F5344CB8AC3E}">
        <p14:creationId xmlns:p14="http://schemas.microsoft.com/office/powerpoint/2010/main" val="14694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1627-69D7-684B-999D-3A9E62918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38" y="450696"/>
            <a:ext cx="9649953" cy="980194"/>
          </a:xfrm>
        </p:spPr>
        <p:txBody>
          <a:bodyPr/>
          <a:lstStyle/>
          <a:p>
            <a:r>
              <a:rPr lang="en-US" b="1" dirty="0"/>
              <a:t>The Olin-Brookings Connection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FB70EEE-62B0-0FCC-572C-12E32CA57A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500" y="1282147"/>
            <a:ext cx="9017391" cy="477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5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58519" y="1600200"/>
            <a:ext cx="11037612" cy="4778022"/>
          </a:xfrm>
        </p:spPr>
        <p:txBody>
          <a:bodyPr>
            <a:noAutofit/>
          </a:bodyPr>
          <a:lstStyle/>
          <a:p>
            <a:r>
              <a:rPr lang="en-US" sz="2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B.S. Stanford University, Ph.D. University of California, Berkeley</a:t>
            </a:r>
          </a:p>
          <a:p>
            <a:endParaRPr lang="en-US" sz="26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2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Brookings Nonresident Fellow (Global Economy &amp; Development),		prior experience with think tanks, foundations and the World Bank</a:t>
            </a:r>
          </a:p>
          <a:p>
            <a:endParaRPr lang="en-US" sz="26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2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Teach strategy, with an emphasis on non-market and global issues</a:t>
            </a:r>
          </a:p>
          <a:p>
            <a:endParaRPr lang="en-US" sz="26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2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Study technology diffusion and navigating economic &amp; political fragility</a:t>
            </a:r>
            <a:endParaRPr lang="en-US" sz="26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About Me</a:t>
            </a:r>
          </a:p>
        </p:txBody>
      </p:sp>
    </p:spTree>
    <p:extLst>
      <p:ext uri="{BB962C8B-B14F-4D97-AF65-F5344CB8AC3E}">
        <p14:creationId xmlns:p14="http://schemas.microsoft.com/office/powerpoint/2010/main" val="406059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1627-69D7-684B-999D-3A9E62918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Will We Learn About?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F456F-7984-D0E9-AD00-B02562947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938" y="4771514"/>
            <a:ext cx="10891729" cy="12979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Non-Market Strategy &amp; Global Non-Market Strategy, </a:t>
            </a:r>
          </a:p>
          <a:p>
            <a:pPr marL="0" indent="0" algn="ctr">
              <a:buNone/>
            </a:pP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Economic Policies, Geopolitics, Emerging Global Trends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BBDB0F-450B-6740-943B-04E9CF24A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966" y="1600200"/>
            <a:ext cx="9144000" cy="298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55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596348" y="386895"/>
            <a:ext cx="8543925" cy="962025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latin typeface="Arial" charset="0"/>
                <a:ea typeface="MS PGothic" charset="0"/>
              </a:rPr>
              <a:t>Course Objectives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6348" y="1462542"/>
            <a:ext cx="10972800" cy="45275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Learn the fundamentals of how governments operate on both domestic and foreign policy – with emphasis on the U.S. 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Learn how business, government, and other stakeholders interact in market and non-market spheres – particularly globally</a:t>
            </a:r>
          </a:p>
          <a:p>
            <a:pPr marL="514350" indent="-514350">
              <a:buFontTx/>
              <a:buAutoNum type="arabicPeriod"/>
            </a:pP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Tx/>
              <a:buAutoNum type="arabicPeriod"/>
            </a:pP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Understand strategies through which corporations pro-actively manage their non-market environment at home and abroad</a:t>
            </a:r>
          </a:p>
          <a:p>
            <a:pPr marL="514350" indent="-514350">
              <a:buFontTx/>
              <a:buAutoNum type="arabicPeriod"/>
            </a:pPr>
            <a:endParaRPr lang="en-US" dirty="0">
              <a:ea typeface="MS PGothic" charset="0"/>
            </a:endParaRPr>
          </a:p>
          <a:p>
            <a:pPr marL="514350" indent="-514350">
              <a:buFontTx/>
              <a:buAutoNum type="arabicPeriod"/>
            </a:pPr>
            <a:endParaRPr lang="en-US" dirty="0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309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2938" y="1303317"/>
            <a:ext cx="10349862" cy="47780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u="sng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April 2, 2025</a:t>
            </a:r>
          </a:p>
          <a:p>
            <a:endParaRPr lang="en-US" sz="12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What is Business Responsible For? (Class Discussion)</a:t>
            </a:r>
          </a:p>
          <a:p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Non-Market Strategy: An Introduction (Lecture)</a:t>
            </a:r>
          </a:p>
          <a:p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Break</a:t>
            </a:r>
          </a:p>
          <a:p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Rick Dearborn – Business &amp; Government: A Vital Relationship</a:t>
            </a:r>
          </a:p>
          <a:p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Lunch</a:t>
            </a:r>
          </a:p>
          <a:p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Global Non-Market Strategy (Lecture)</a:t>
            </a:r>
          </a:p>
          <a:p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Break</a:t>
            </a:r>
          </a:p>
          <a:p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Maya MacGuineas – The Federal Budget &amp; Long-term Debt</a:t>
            </a:r>
          </a:p>
          <a:p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Day 1 in Review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9080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1627-69D7-684B-999D-3A9E62918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Today’s Speakers</a:t>
            </a:r>
          </a:p>
        </p:txBody>
      </p:sp>
      <p:pic>
        <p:nvPicPr>
          <p:cNvPr id="7" name="Picture 6" descr="A close-up of a person smiling&#10;&#10;AI-generated content may be incorrect.">
            <a:extLst>
              <a:ext uri="{FF2B5EF4-FFF2-40B4-BE49-F238E27FC236}">
                <a16:creationId xmlns:a16="http://schemas.microsoft.com/office/drawing/2014/main" id="{00A9D43F-45E3-F013-F78B-9F6276A72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838" y="1562100"/>
            <a:ext cx="3271838" cy="3737166"/>
          </a:xfrm>
          <a:prstGeom prst="rect">
            <a:avLst/>
          </a:prstGeom>
        </p:spPr>
      </p:pic>
      <p:pic>
        <p:nvPicPr>
          <p:cNvPr id="10" name="Picture 9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C7266C68-B65A-044C-E863-DA1F83837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326" y="1562100"/>
            <a:ext cx="34417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39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Speakers typically talk for 30-45 minutes</a:t>
            </a:r>
          </a:p>
          <a:p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Take your questions on talk or related issues</a:t>
            </a:r>
          </a:p>
          <a:p>
            <a:pPr lvl="1"/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Think about what you want to learn from each speaker before the talks</a:t>
            </a:r>
          </a:p>
          <a:p>
            <a:pPr lvl="1"/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Give all students opportunities to ask questions</a:t>
            </a:r>
          </a:p>
          <a:p>
            <a:pPr lvl="1"/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Avoid hostile and leading questions</a:t>
            </a:r>
          </a:p>
          <a:p>
            <a:pPr lvl="1"/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Remember: all remarks are off-the-record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Speaker Sessions</a:t>
            </a:r>
          </a:p>
        </p:txBody>
      </p:sp>
    </p:spTree>
    <p:extLst>
      <p:ext uri="{BB962C8B-B14F-4D97-AF65-F5344CB8AC3E}">
        <p14:creationId xmlns:p14="http://schemas.microsoft.com/office/powerpoint/2010/main" val="1668441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6438-DE7B-9B4A-8D02-AE489B00DD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What is Business </a:t>
            </a:r>
            <a:b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Responsible For?</a:t>
            </a: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41D05-7916-D941-A7E2-D510D48B10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20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53EB043-6F57-6945-8B20-350615D21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518" y="1600200"/>
            <a:ext cx="11028265" cy="4778022"/>
          </a:xfrm>
        </p:spPr>
        <p:txBody>
          <a:bodyPr>
            <a:normAutofit/>
          </a:bodyPr>
          <a:lstStyle/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</a:pP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“The social responsibility of business is to increase its profits” – Milton Friedman, UChicago, 1970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What about providing employment, eliminating discrimination, avoiding pollution?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Important caveat: “[…] so long as it stays within the </a:t>
            </a:r>
            <a:r>
              <a:rPr lang="en-US" sz="22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rules of the game</a:t>
            </a:r>
            <a:r>
              <a:rPr lang="en-US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which is to say, engages in open and free competition without deception or fraud”</a:t>
            </a:r>
          </a:p>
          <a:p>
            <a:pPr>
              <a:buFont typeface="Wingdings" pitchFamily="2" charset="2"/>
              <a:buChar char="§"/>
            </a:pPr>
            <a:endParaRPr lang="en-US" sz="20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62% of employees (28 countries): CEOs should “manage changes occurring in society” – not just those occurring in their business</a:t>
            </a:r>
          </a:p>
          <a:p>
            <a:r>
              <a:rPr lang="en-US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Edelman 2024 Trust Barometer </a:t>
            </a:r>
          </a:p>
          <a:p>
            <a:r>
              <a:rPr lang="en-US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Leaders expected to shape conversation on jobs skills of the future, ethical use of technology, automation impact of jobs, while avoiding hot-button political issues. </a:t>
            </a:r>
          </a:p>
          <a:p>
            <a:endParaRPr lang="en-US" sz="22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sz="20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D1627-69D7-684B-999D-3A9E62918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19" y="479778"/>
            <a:ext cx="8142110" cy="98019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What is business responsible for?</a:t>
            </a:r>
          </a:p>
        </p:txBody>
      </p:sp>
    </p:spTree>
    <p:extLst>
      <p:ext uri="{BB962C8B-B14F-4D97-AF65-F5344CB8AC3E}">
        <p14:creationId xmlns:p14="http://schemas.microsoft.com/office/powerpoint/2010/main" val="363047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6438-DE7B-9B4A-8D02-AE489B00DD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Non-Market Strategy:</a:t>
            </a:r>
            <a:b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 Introduction</a:t>
            </a: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41D05-7916-D941-A7E2-D510D48B10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277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911" y="375158"/>
            <a:ext cx="9820497" cy="982662"/>
          </a:xfrm>
        </p:spPr>
        <p:txBody>
          <a:bodyPr>
            <a:noAutofit/>
          </a:bodyPr>
          <a:lstStyle/>
          <a:p>
            <a:r>
              <a:rPr lang="en-US" b="1" dirty="0"/>
              <a:t>What do firms value most from institutions?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41600" y="2946401"/>
            <a:ext cx="6691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Predictability</a:t>
            </a:r>
          </a:p>
        </p:txBody>
      </p:sp>
    </p:spTree>
    <p:extLst>
      <p:ext uri="{BB962C8B-B14F-4D97-AF65-F5344CB8AC3E}">
        <p14:creationId xmlns:p14="http://schemas.microsoft.com/office/powerpoint/2010/main" val="148054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3169766" y="1161151"/>
          <a:ext cx="5746627" cy="4071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708650" y="553406"/>
            <a:ext cx="711200" cy="500063"/>
          </a:xfrm>
          <a:prstGeom prst="rect">
            <a:avLst/>
          </a:pr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  <a:latin typeface="Verdana" pitchFamily="12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 rot="18730696">
            <a:off x="3782219" y="1546387"/>
            <a:ext cx="508000" cy="500062"/>
          </a:xfrm>
          <a:prstGeom prst="rect">
            <a:avLst/>
          </a:pr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 rot="19758732">
            <a:off x="7850188" y="1588456"/>
            <a:ext cx="508000" cy="498475"/>
          </a:xfrm>
          <a:prstGeom prst="rect">
            <a:avLst/>
          </a:pr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 rot="1964853">
            <a:off x="8086725" y="4077656"/>
            <a:ext cx="508000" cy="498475"/>
          </a:xfrm>
          <a:prstGeom prst="rect">
            <a:avLst/>
          </a:pr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 rot="19702455">
            <a:off x="3398838" y="4063369"/>
            <a:ext cx="508000" cy="498475"/>
          </a:xfrm>
          <a:prstGeom prst="rect">
            <a:avLst/>
          </a:pr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5708651" y="5601656"/>
            <a:ext cx="728663" cy="498475"/>
          </a:xfrm>
          <a:prstGeom prst="rect">
            <a:avLst/>
          </a:pr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DC2A4C3-0999-9E3E-D796-DA250856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38" y="437444"/>
            <a:ext cx="9649953" cy="980194"/>
          </a:xfrm>
        </p:spPr>
        <p:txBody>
          <a:bodyPr>
            <a:noAutofit/>
          </a:bodyPr>
          <a:lstStyle/>
          <a:p>
            <a:r>
              <a:rPr lang="en-US" b="1" dirty="0">
                <a:latin typeface="Arial" charset="0"/>
                <a:ea typeface="MS PGothic" charset="0"/>
              </a:rPr>
              <a:t>Traditional</a:t>
            </a:r>
            <a:br>
              <a:rPr lang="en-US" b="1" dirty="0">
                <a:latin typeface="Arial" charset="0"/>
                <a:ea typeface="MS PGothic" charset="0"/>
              </a:rPr>
            </a:br>
            <a:r>
              <a:rPr lang="en-US" b="1" dirty="0">
                <a:latin typeface="Arial" charset="0"/>
                <a:ea typeface="MS PGothic" charset="0"/>
              </a:rPr>
              <a:t>Strategy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8082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3169766" y="1161151"/>
          <a:ext cx="5746627" cy="4071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Donut 8"/>
          <p:cNvSpPr/>
          <p:nvPr/>
        </p:nvSpPr>
        <p:spPr bwMode="auto">
          <a:xfrm>
            <a:off x="3278188" y="637543"/>
            <a:ext cx="5486400" cy="5365750"/>
          </a:xfrm>
          <a:prstGeom prst="donut">
            <a:avLst>
              <a:gd name="adj" fmla="val 6111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Times"/>
              <a:ea typeface="MS PGothic" pitchFamily="34" charset="-128"/>
            </a:endParaRP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708650" y="553406"/>
            <a:ext cx="711200" cy="500063"/>
          </a:xfrm>
          <a:prstGeom prst="rect">
            <a:avLst/>
          </a:prstGeom>
          <a:solidFill>
            <a:srgbClr val="E1E1E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  <a:latin typeface="Verdana" pitchFamily="12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 rot="18730696">
            <a:off x="3782219" y="1546387"/>
            <a:ext cx="508000" cy="500062"/>
          </a:xfrm>
          <a:prstGeom prst="rect">
            <a:avLst/>
          </a:prstGeom>
          <a:solidFill>
            <a:srgbClr val="E1E1E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 rot="19758732">
            <a:off x="7850188" y="1588456"/>
            <a:ext cx="508000" cy="498475"/>
          </a:xfrm>
          <a:prstGeom prst="rect">
            <a:avLst/>
          </a:prstGeom>
          <a:solidFill>
            <a:srgbClr val="E1E1E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 rot="1964853">
            <a:off x="8086725" y="4077656"/>
            <a:ext cx="508000" cy="498475"/>
          </a:xfrm>
          <a:prstGeom prst="rect">
            <a:avLst/>
          </a:prstGeom>
          <a:solidFill>
            <a:srgbClr val="E1E1E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 rot="19702455">
            <a:off x="3398838" y="4063369"/>
            <a:ext cx="508000" cy="498475"/>
          </a:xfrm>
          <a:prstGeom prst="rect">
            <a:avLst/>
          </a:prstGeom>
          <a:solidFill>
            <a:srgbClr val="E1E1E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5708651" y="5601656"/>
            <a:ext cx="728663" cy="498475"/>
          </a:xfrm>
          <a:prstGeom prst="rect">
            <a:avLst/>
          </a:prstGeom>
          <a:solidFill>
            <a:srgbClr val="E1E1E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18" name="Rectangle 17"/>
          <p:cNvSpPr/>
          <p:nvPr/>
        </p:nvSpPr>
        <p:spPr>
          <a:xfrm rot="19844734">
            <a:off x="3676282" y="1095127"/>
            <a:ext cx="2582314" cy="531398"/>
          </a:xfrm>
          <a:prstGeom prst="rect">
            <a:avLst/>
          </a:prstGeom>
          <a:noFill/>
        </p:spPr>
        <p:txBody>
          <a:bodyPr spcFirstLastPara="1">
            <a:prstTxWarp prst="textArchUp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n w="0">
                  <a:noFill/>
                  <a:prstDash val="solid"/>
                </a:ln>
                <a:solidFill>
                  <a:prstClr val="white"/>
                </a:solidFill>
                <a:latin typeface="Arial" pitchFamily="34" charset="0"/>
                <a:ea typeface="MS PGothic" pitchFamily="34" charset="-128"/>
              </a:rPr>
              <a:t>Activist</a:t>
            </a:r>
          </a:p>
        </p:txBody>
      </p:sp>
      <p:sp>
        <p:nvSpPr>
          <p:cNvPr id="19" name="Rectangle 18"/>
          <p:cNvSpPr/>
          <p:nvPr/>
        </p:nvSpPr>
        <p:spPr>
          <a:xfrm rot="1650709">
            <a:off x="5851456" y="1118215"/>
            <a:ext cx="2582314" cy="531398"/>
          </a:xfrm>
          <a:prstGeom prst="rect">
            <a:avLst/>
          </a:prstGeom>
          <a:noFill/>
        </p:spPr>
        <p:txBody>
          <a:bodyPr spcFirstLastPara="1">
            <a:prstTxWarp prst="textArchUp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n w="0">
                  <a:noFill/>
                  <a:prstDash val="solid"/>
                </a:ln>
                <a:solidFill>
                  <a:prstClr val="white"/>
                </a:solidFill>
                <a:latin typeface="Arial" pitchFamily="34" charset="0"/>
                <a:ea typeface="MS PGothic" pitchFamily="34" charset="-128"/>
              </a:rPr>
              <a:t>Political</a:t>
            </a:r>
          </a:p>
        </p:txBody>
      </p:sp>
      <p:sp>
        <p:nvSpPr>
          <p:cNvPr id="20" name="Rectangle 19"/>
          <p:cNvSpPr/>
          <p:nvPr/>
        </p:nvSpPr>
        <p:spPr>
          <a:xfrm rot="5245681">
            <a:off x="7001379" y="2813130"/>
            <a:ext cx="2582314" cy="531398"/>
          </a:xfrm>
          <a:prstGeom prst="rect">
            <a:avLst/>
          </a:prstGeom>
          <a:noFill/>
        </p:spPr>
        <p:txBody>
          <a:bodyPr spcFirstLastPara="1">
            <a:prstTxWarp prst="textArchUp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n w="0">
                  <a:noFill/>
                  <a:prstDash val="solid"/>
                </a:ln>
                <a:solidFill>
                  <a:prstClr val="white"/>
                </a:solidFill>
                <a:latin typeface="Arial" pitchFamily="34" charset="0"/>
                <a:ea typeface="MS PGothic" pitchFamily="34" charset="-128"/>
              </a:rPr>
              <a:t>Regulator</a:t>
            </a:r>
            <a:r>
              <a:rPr lang="en-US" sz="1400" dirty="0">
                <a:ln w="0">
                  <a:noFill/>
                  <a:prstDash val="solid"/>
                </a:ln>
                <a:solidFill>
                  <a:prstClr val="white"/>
                </a:solidFill>
                <a:latin typeface="Arial" pitchFamily="34" charset="0"/>
                <a:ea typeface="MS PGothic" pitchFamily="34" charset="-128"/>
              </a:rPr>
              <a:t>y</a:t>
            </a:r>
          </a:p>
        </p:txBody>
      </p:sp>
      <p:sp>
        <p:nvSpPr>
          <p:cNvPr id="21" name="Rectangle 20"/>
          <p:cNvSpPr/>
          <p:nvPr/>
        </p:nvSpPr>
        <p:spPr>
          <a:xfrm rot="19546658">
            <a:off x="6317877" y="5467023"/>
            <a:ext cx="2582314" cy="531398"/>
          </a:xfrm>
          <a:prstGeom prst="rect">
            <a:avLst/>
          </a:prstGeom>
          <a:noFill/>
        </p:spPr>
        <p:txBody>
          <a:bodyPr spcFirstLastPara="1">
            <a:prstTxWarp prst="textArchUp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n w="0">
                  <a:noFill/>
                  <a:prstDash val="solid"/>
                </a:ln>
                <a:solidFill>
                  <a:prstClr val="white"/>
                </a:solidFill>
                <a:latin typeface="Arial" pitchFamily="34" charset="0"/>
                <a:ea typeface="MS PGothic" pitchFamily="34" charset="-128"/>
              </a:rPr>
              <a:t>Judicial</a:t>
            </a:r>
          </a:p>
        </p:txBody>
      </p:sp>
      <p:sp>
        <p:nvSpPr>
          <p:cNvPr id="22" name="Rectangle 21"/>
          <p:cNvSpPr/>
          <p:nvPr/>
        </p:nvSpPr>
        <p:spPr>
          <a:xfrm rot="2186715">
            <a:off x="3085150" y="5439316"/>
            <a:ext cx="2582314" cy="531398"/>
          </a:xfrm>
          <a:prstGeom prst="rect">
            <a:avLst/>
          </a:prstGeom>
          <a:noFill/>
        </p:spPr>
        <p:txBody>
          <a:bodyPr spcFirstLastPara="1">
            <a:prstTxWarp prst="textArchUp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n w="0">
                  <a:noFill/>
                  <a:prstDash val="solid"/>
                </a:ln>
                <a:solidFill>
                  <a:prstClr val="white"/>
                </a:solidFill>
                <a:latin typeface="Arial" pitchFamily="34" charset="0"/>
                <a:ea typeface="MS PGothic" pitchFamily="34" charset="-128"/>
              </a:rPr>
              <a:t>NGO</a:t>
            </a:r>
          </a:p>
        </p:txBody>
      </p:sp>
      <p:sp>
        <p:nvSpPr>
          <p:cNvPr id="23" name="Rectangle 22"/>
          <p:cNvSpPr/>
          <p:nvPr/>
        </p:nvSpPr>
        <p:spPr>
          <a:xfrm rot="16540425">
            <a:off x="2447837" y="2739202"/>
            <a:ext cx="2582314" cy="531398"/>
          </a:xfrm>
          <a:prstGeom prst="rect">
            <a:avLst/>
          </a:prstGeom>
          <a:noFill/>
        </p:spPr>
        <p:txBody>
          <a:bodyPr spcFirstLastPara="1">
            <a:prstTxWarp prst="textArchUp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n w="0">
                  <a:noFill/>
                  <a:prstDash val="solid"/>
                </a:ln>
                <a:solidFill>
                  <a:prstClr val="white"/>
                </a:solidFill>
                <a:latin typeface="Arial" pitchFamily="34" charset="0"/>
                <a:ea typeface="MS PGothic" pitchFamily="34" charset="-128"/>
              </a:rPr>
              <a:t>Union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DC2A4C3-0999-9E3E-D796-DA250856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38" y="437444"/>
            <a:ext cx="9649953" cy="980194"/>
          </a:xfrm>
        </p:spPr>
        <p:txBody>
          <a:bodyPr>
            <a:noAutofit/>
          </a:bodyPr>
          <a:lstStyle/>
          <a:p>
            <a:r>
              <a:rPr lang="en-US" b="1" dirty="0">
                <a:latin typeface="Arial" charset="0"/>
                <a:ea typeface="MS PGothic" charset="0"/>
              </a:rPr>
              <a:t>Non-Market</a:t>
            </a:r>
            <a:br>
              <a:rPr lang="en-US" b="1" dirty="0">
                <a:latin typeface="Arial" charset="0"/>
                <a:ea typeface="MS PGothic" charset="0"/>
              </a:rPr>
            </a:br>
            <a:r>
              <a:rPr lang="en-US" b="1" dirty="0">
                <a:latin typeface="Arial" charset="0"/>
                <a:ea typeface="MS PGothic" charset="0"/>
              </a:rPr>
              <a:t>Strategy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240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Market failures trigger non-market forces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1F49C-22A5-1B24-C5FD-5D9422C8D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519" y="1555230"/>
            <a:ext cx="11138740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Examples of “market failures” as economic inefficiency:</a:t>
            </a:r>
          </a:p>
          <a:p>
            <a:r>
              <a:rPr lang="en-US" dirty="0"/>
              <a:t>Insufficient competition</a:t>
            </a:r>
          </a:p>
          <a:p>
            <a:r>
              <a:rPr lang="en-US" dirty="0"/>
              <a:t>Information asymmetries</a:t>
            </a:r>
          </a:p>
          <a:p>
            <a:r>
              <a:rPr lang="en-US" dirty="0"/>
              <a:t>Negative externalities &amp; public goods (e.g. emissions, security)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Examples of “market failures” as deviations from social ideals:</a:t>
            </a:r>
          </a:p>
          <a:p>
            <a:r>
              <a:rPr lang="en-US" dirty="0"/>
              <a:t>Morally objectional exchange (e.g. organ sales, illegal drugs) </a:t>
            </a:r>
          </a:p>
          <a:p>
            <a:r>
              <a:rPr lang="en-US" dirty="0"/>
              <a:t>Socially important goods (e.g. fire protection, libraries)</a:t>
            </a:r>
          </a:p>
          <a:p>
            <a:r>
              <a:rPr lang="en-US" dirty="0"/>
              <a:t>Procedural fairness &amp; distributive justice (opportunity &amp; outcomes)</a:t>
            </a:r>
          </a:p>
        </p:txBody>
      </p:sp>
    </p:spTree>
    <p:extLst>
      <p:ext uri="{BB962C8B-B14F-4D97-AF65-F5344CB8AC3E}">
        <p14:creationId xmlns:p14="http://schemas.microsoft.com/office/powerpoint/2010/main" val="407532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defTabSz="9144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Understand how government and society shape the competitive landscape</a:t>
            </a:r>
          </a:p>
          <a:p>
            <a:pPr marL="0" indent="0">
              <a:buNone/>
            </a:pP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0" defTabSz="9144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Learn how organizations compete to shape government and society</a:t>
            </a:r>
          </a:p>
          <a:p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b="1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Learn to integrate non-market strategy with </a:t>
            </a:r>
          </a:p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b="1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other functional and strategic elements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Goal: Forming a non-market strategy</a:t>
            </a: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811522BB-47DF-0492-0550-F0F2B6FE7DA3}"/>
              </a:ext>
            </a:extLst>
          </p:cNvPr>
          <p:cNvSpPr/>
          <p:nvPr/>
        </p:nvSpPr>
        <p:spPr>
          <a:xfrm>
            <a:off x="5368136" y="4151086"/>
            <a:ext cx="1436914" cy="6531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9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diagram of a strategy&#10;&#10;Description automatically generated">
            <a:extLst>
              <a:ext uri="{FF2B5EF4-FFF2-40B4-BE49-F238E27FC236}">
                <a16:creationId xmlns:a16="http://schemas.microsoft.com/office/drawing/2014/main" id="{F9BD9802-DFE9-8814-2353-7BF081039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8955" y="1417638"/>
            <a:ext cx="5514090" cy="4714118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425013D-4DA7-2904-304E-9ADDB069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Integrating non-market &amp; market strategies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99AEC-4DDB-3503-ED63-F9B7D49EFE88}"/>
              </a:ext>
            </a:extLst>
          </p:cNvPr>
          <p:cNvSpPr txBox="1"/>
          <p:nvPr/>
        </p:nvSpPr>
        <p:spPr>
          <a:xfrm>
            <a:off x="6096000" y="6183086"/>
            <a:ext cx="561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Baron 1995 California Management Review</a:t>
            </a:r>
          </a:p>
        </p:txBody>
      </p:sp>
    </p:spTree>
    <p:extLst>
      <p:ext uri="{BB962C8B-B14F-4D97-AF65-F5344CB8AC3E}">
        <p14:creationId xmlns:p14="http://schemas.microsoft.com/office/powerpoint/2010/main" val="69572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Topic 1: How does the non-market environment shape competition?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1F49C-22A5-1B24-C5FD-5D9422C8D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dirty="0"/>
              <a:t>Three main types of non-market forces:</a:t>
            </a:r>
          </a:p>
          <a:p>
            <a:pPr marL="0" indent="0">
              <a:buNone/>
            </a:pPr>
            <a:endParaRPr lang="en-US" sz="1000" dirty="0"/>
          </a:p>
          <a:p>
            <a:pPr marL="914400" lvl="1" indent="-514350">
              <a:buFont typeface="+mj-lt"/>
              <a:buAutoNum type="arabicPeriod"/>
            </a:pPr>
            <a:r>
              <a:rPr lang="en-US" sz="2800" dirty="0"/>
              <a:t>Government laws and regulations</a:t>
            </a:r>
          </a:p>
          <a:p>
            <a:pPr marL="914400" lvl="1" indent="-514350"/>
            <a:r>
              <a:rPr lang="en-US" sz="2800" dirty="0"/>
              <a:t>e.g., tax credits for EVs and funding for charging stations </a:t>
            </a:r>
          </a:p>
          <a:p>
            <a:pPr marL="914400" lvl="1" indent="-514350">
              <a:buFont typeface="+mj-lt"/>
              <a:buAutoNum type="arabicPeriod" startAt="2"/>
            </a:pPr>
            <a:r>
              <a:rPr lang="en-US" sz="2800" dirty="0"/>
              <a:t>Political movements</a:t>
            </a:r>
          </a:p>
          <a:p>
            <a:pPr marL="914400" lvl="1" indent="-514350"/>
            <a:r>
              <a:rPr lang="en-US" sz="2800" dirty="0"/>
              <a:t>e.g., anti-trust movement to regulate big tech companies</a:t>
            </a:r>
          </a:p>
          <a:p>
            <a:pPr marL="914400" lvl="1" indent="-514350">
              <a:buFont typeface="+mj-lt"/>
              <a:buAutoNum type="arabicPeriod" startAt="3"/>
            </a:pPr>
            <a:r>
              <a:rPr lang="en-US" sz="2800" dirty="0"/>
              <a:t>Social campaigns</a:t>
            </a:r>
          </a:p>
          <a:p>
            <a:pPr marL="914400" lvl="1" indent="-514350"/>
            <a:r>
              <a:rPr lang="en-US" sz="2800" dirty="0"/>
              <a:t>e.g., grassroots campaigns to pass gun control reforms</a:t>
            </a:r>
          </a:p>
        </p:txBody>
      </p:sp>
    </p:spTree>
    <p:extLst>
      <p:ext uri="{BB962C8B-B14F-4D97-AF65-F5344CB8AC3E}">
        <p14:creationId xmlns:p14="http://schemas.microsoft.com/office/powerpoint/2010/main" val="87464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19"/>
          <p:cNvSpPr txBox="1">
            <a:spLocks noChangeArrowheads="1"/>
          </p:cNvSpPr>
          <p:nvPr/>
        </p:nvSpPr>
        <p:spPr bwMode="auto">
          <a:xfrm>
            <a:off x="7825380" y="1454648"/>
            <a:ext cx="2441575" cy="4064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CA" altLang="ja-JP" sz="1800" b="1" dirty="0">
                <a:solidFill>
                  <a:prstClr val="black"/>
                </a:solidFill>
                <a:cs typeface="Times New Roman" charset="0"/>
              </a:rPr>
              <a:t>Government</a:t>
            </a: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28677" name="Text Box 17"/>
          <p:cNvSpPr txBox="1">
            <a:spLocks noChangeArrowheads="1"/>
          </p:cNvSpPr>
          <p:nvPr/>
        </p:nvSpPr>
        <p:spPr bwMode="auto">
          <a:xfrm>
            <a:off x="8233366" y="2269035"/>
            <a:ext cx="1627188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>
                <a:solidFill>
                  <a:prstClr val="black"/>
                </a:solidFill>
                <a:cs typeface="Times New Roman" charset="0"/>
              </a:rPr>
              <a:t>Elected Politicians</a:t>
            </a: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28679" name="Text Box 15"/>
          <p:cNvSpPr txBox="1">
            <a:spLocks noChangeArrowheads="1"/>
          </p:cNvSpPr>
          <p:nvPr/>
        </p:nvSpPr>
        <p:spPr bwMode="auto">
          <a:xfrm>
            <a:off x="8233366" y="3615235"/>
            <a:ext cx="1627188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cs typeface="Times New Roman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>
                <a:solidFill>
                  <a:prstClr val="black"/>
                </a:solidFill>
                <a:cs typeface="Times New Roman" charset="0"/>
              </a:rPr>
              <a:t>Agencies / Bureaucrats</a:t>
            </a: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28680" name="Text Box 14"/>
          <p:cNvSpPr txBox="1">
            <a:spLocks noChangeArrowheads="1"/>
          </p:cNvSpPr>
          <p:nvPr/>
        </p:nvSpPr>
        <p:spPr bwMode="auto">
          <a:xfrm>
            <a:off x="8233366" y="4980485"/>
            <a:ext cx="1627188" cy="8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cs typeface="Times New Roman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>
                <a:solidFill>
                  <a:prstClr val="black"/>
                </a:solidFill>
                <a:cs typeface="Times New Roman" charset="0"/>
              </a:rPr>
              <a:t>Courts</a:t>
            </a: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28684" name="Rectangle 10"/>
          <p:cNvSpPr>
            <a:spLocks noChangeArrowheads="1"/>
          </p:cNvSpPr>
          <p:nvPr/>
        </p:nvSpPr>
        <p:spPr bwMode="auto">
          <a:xfrm>
            <a:off x="7820616" y="1991223"/>
            <a:ext cx="2439988" cy="401362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17414" name="Rectangle 2"/>
          <p:cNvSpPr>
            <a:spLocks noGrp="1" noChangeArrowheads="1"/>
          </p:cNvSpPr>
          <p:nvPr>
            <p:ph type="title"/>
          </p:nvPr>
        </p:nvSpPr>
        <p:spPr>
          <a:xfrm>
            <a:off x="366156" y="425804"/>
            <a:ext cx="8377238" cy="685800"/>
          </a:xfrm>
        </p:spPr>
        <p:txBody>
          <a:bodyPr>
            <a:noAutofit/>
          </a:bodyPr>
          <a:lstStyle/>
          <a:p>
            <a:r>
              <a:rPr lang="fr-CA" b="1" dirty="0" err="1">
                <a:latin typeface="Arial" charset="0"/>
                <a:ea typeface="MS PGothic" charset="0"/>
              </a:rPr>
              <a:t>Government</a:t>
            </a:r>
            <a:r>
              <a:rPr lang="fr-CA" b="1" dirty="0">
                <a:latin typeface="Arial" charset="0"/>
                <a:ea typeface="MS PGothic" charset="0"/>
              </a:rPr>
              <a:t> sets </a:t>
            </a:r>
            <a:r>
              <a:rPr lang="fr-CA" b="1" dirty="0" err="1">
                <a:latin typeface="Arial" charset="0"/>
                <a:ea typeface="MS PGothic" charset="0"/>
              </a:rPr>
              <a:t>policy</a:t>
            </a:r>
            <a:r>
              <a:rPr lang="fr-CA" b="1" dirty="0">
                <a:latin typeface="Arial" charset="0"/>
                <a:ea typeface="MS PGothic" charset="0"/>
              </a:rPr>
              <a:t> </a:t>
            </a:r>
            <a:r>
              <a:rPr lang="fr-CA" b="1" dirty="0" err="1">
                <a:latin typeface="Arial" charset="0"/>
                <a:ea typeface="MS PGothic" charset="0"/>
              </a:rPr>
              <a:t>under</a:t>
            </a:r>
            <a:r>
              <a:rPr lang="fr-CA" b="1" dirty="0">
                <a:latin typeface="Arial" charset="0"/>
                <a:ea typeface="MS PGothic" charset="0"/>
              </a:rPr>
              <a:t> the</a:t>
            </a:r>
            <a:br>
              <a:rPr lang="fr-CA" b="1" dirty="0">
                <a:latin typeface="Arial" charset="0"/>
                <a:ea typeface="MS PGothic" charset="0"/>
              </a:rPr>
            </a:br>
            <a:r>
              <a:rPr lang="fr-CA" b="1" dirty="0" err="1">
                <a:latin typeface="Arial" charset="0"/>
                <a:ea typeface="MS PGothic" charset="0"/>
              </a:rPr>
              <a:t>advice</a:t>
            </a:r>
            <a:r>
              <a:rPr lang="fr-CA" b="1" dirty="0">
                <a:latin typeface="Arial" charset="0"/>
                <a:ea typeface="MS PGothic" charset="0"/>
              </a:rPr>
              <a:t> and pressure of </a:t>
            </a:r>
            <a:r>
              <a:rPr lang="fr-CA" b="1" dirty="0" err="1">
                <a:latin typeface="Arial" charset="0"/>
                <a:ea typeface="MS PGothic" charset="0"/>
              </a:rPr>
              <a:t>stakeholders</a:t>
            </a:r>
            <a:endParaRPr lang="en-US" b="1" dirty="0">
              <a:latin typeface="Arial" charset="0"/>
              <a:ea typeface="MS PGothic" charset="0"/>
            </a:endParaRPr>
          </a:p>
        </p:txBody>
      </p:sp>
      <p:sp>
        <p:nvSpPr>
          <p:cNvPr id="17415" name="Rectangle 21"/>
          <p:cNvSpPr>
            <a:spLocks noChangeArrowheads="1"/>
          </p:cNvSpPr>
          <p:nvPr/>
        </p:nvSpPr>
        <p:spPr bwMode="auto">
          <a:xfrm>
            <a:off x="6003635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28698" name="Up-Down Arrow 29"/>
          <p:cNvSpPr>
            <a:spLocks noChangeArrowheads="1"/>
          </p:cNvSpPr>
          <p:nvPr/>
        </p:nvSpPr>
        <p:spPr bwMode="auto">
          <a:xfrm>
            <a:off x="8941391" y="3091361"/>
            <a:ext cx="234950" cy="493713"/>
          </a:xfrm>
          <a:prstGeom prst="upDownArrow">
            <a:avLst>
              <a:gd name="adj1" fmla="val 50000"/>
              <a:gd name="adj2" fmla="val 49907"/>
            </a:avLst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28699" name="Up-Down Arrow 30"/>
          <p:cNvSpPr>
            <a:spLocks noChangeArrowheads="1"/>
          </p:cNvSpPr>
          <p:nvPr/>
        </p:nvSpPr>
        <p:spPr bwMode="auto">
          <a:xfrm>
            <a:off x="8933454" y="4455023"/>
            <a:ext cx="234950" cy="493712"/>
          </a:xfrm>
          <a:prstGeom prst="upDownArrow">
            <a:avLst>
              <a:gd name="adj1" fmla="val 50000"/>
              <a:gd name="adj2" fmla="val 49907"/>
            </a:avLst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3182" y="3954482"/>
            <a:ext cx="2050368" cy="20503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6165" y="1451710"/>
            <a:ext cx="3521225" cy="2346257"/>
          </a:xfrm>
          <a:prstGeom prst="rect">
            <a:avLst/>
          </a:prstGeom>
        </p:spPr>
      </p:pic>
      <p:pic>
        <p:nvPicPr>
          <p:cNvPr id="1026" name="Picture 2" descr="TIME 2024 Person of the year">
            <a:extLst>
              <a:ext uri="{FF2B5EF4-FFF2-40B4-BE49-F238E27FC236}">
                <a16:creationId xmlns:a16="http://schemas.microsoft.com/office/drawing/2014/main" id="{1044CCD6-51FC-DAA7-D1B3-DA853386E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445" y="1451710"/>
            <a:ext cx="1760236" cy="2346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Supreme Court: Current Justices | Supreme Court Historical Society">
            <a:extLst>
              <a:ext uri="{FF2B5EF4-FFF2-40B4-BE49-F238E27FC236}">
                <a16:creationId xmlns:a16="http://schemas.microsoft.com/office/drawing/2014/main" id="{30C1A05F-E3F3-869F-0FB5-24533AC30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445" y="3998037"/>
            <a:ext cx="3011150" cy="200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02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AutoShape 20"/>
          <p:cNvSpPr>
            <a:spLocks noChangeAspect="1" noChangeArrowheads="1" noTextEdit="1"/>
          </p:cNvSpPr>
          <p:nvPr/>
        </p:nvSpPr>
        <p:spPr bwMode="auto">
          <a:xfrm>
            <a:off x="2503488" y="1217613"/>
            <a:ext cx="7315200" cy="488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15362" name="Text Box 18"/>
          <p:cNvSpPr txBox="1">
            <a:spLocks noChangeArrowheads="1"/>
          </p:cNvSpPr>
          <p:nvPr/>
        </p:nvSpPr>
        <p:spPr bwMode="auto">
          <a:xfrm>
            <a:off x="1983209" y="1480950"/>
            <a:ext cx="2441575" cy="39819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CA" altLang="ja-JP" sz="2000" b="1" dirty="0">
                <a:solidFill>
                  <a:prstClr val="black"/>
                </a:solidFill>
                <a:cs typeface="Times New Roman" charset="0"/>
              </a:rPr>
              <a:t>Stakeholders</a:t>
            </a: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363" name="Rectangle 9"/>
          <p:cNvSpPr>
            <a:spLocks noChangeArrowheads="1"/>
          </p:cNvSpPr>
          <p:nvPr/>
        </p:nvSpPr>
        <p:spPr bwMode="auto">
          <a:xfrm>
            <a:off x="1983209" y="2023875"/>
            <a:ext cx="2414587" cy="4075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2422945" y="2150448"/>
            <a:ext cx="1627188" cy="3841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>
                <a:solidFill>
                  <a:prstClr val="black"/>
                </a:solidFill>
                <a:cs typeface="Times New Roman" charset="0"/>
              </a:rPr>
              <a:t>Industry firms</a:t>
            </a: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440" y="533719"/>
            <a:ext cx="8377238" cy="685800"/>
          </a:xfrm>
        </p:spPr>
        <p:txBody>
          <a:bodyPr>
            <a:noAutofit/>
          </a:bodyPr>
          <a:lstStyle/>
          <a:p>
            <a:r>
              <a:rPr lang="fr-CA" b="1" dirty="0" err="1">
                <a:latin typeface="Arial" charset="0"/>
                <a:ea typeface="MS PGothic" charset="0"/>
              </a:rPr>
              <a:t>Private</a:t>
            </a:r>
            <a:r>
              <a:rPr lang="fr-CA" b="1" dirty="0">
                <a:latin typeface="Arial" charset="0"/>
                <a:ea typeface="MS PGothic" charset="0"/>
              </a:rPr>
              <a:t> stakeholders </a:t>
            </a:r>
            <a:r>
              <a:rPr lang="fr-CA" b="1" dirty="0" err="1">
                <a:latin typeface="Arial" charset="0"/>
                <a:ea typeface="MS PGothic" charset="0"/>
              </a:rPr>
              <a:t>attempt</a:t>
            </a:r>
            <a:r>
              <a:rPr lang="fr-CA" b="1" dirty="0">
                <a:latin typeface="Arial" charset="0"/>
                <a:ea typeface="MS PGothic" charset="0"/>
              </a:rPr>
              <a:t> to </a:t>
            </a:r>
            <a:br>
              <a:rPr lang="fr-CA" b="1" dirty="0">
                <a:latin typeface="Arial" charset="0"/>
                <a:ea typeface="MS PGothic" charset="0"/>
              </a:rPr>
            </a:br>
            <a:r>
              <a:rPr lang="fr-CA" b="1" dirty="0">
                <a:latin typeface="Arial" charset="0"/>
                <a:ea typeface="MS PGothic" charset="0"/>
              </a:rPr>
              <a:t>influence </a:t>
            </a:r>
            <a:r>
              <a:rPr lang="fr-CA" b="1" dirty="0" err="1">
                <a:latin typeface="Arial" charset="0"/>
                <a:ea typeface="MS PGothic" charset="0"/>
              </a:rPr>
              <a:t>both</a:t>
            </a:r>
            <a:r>
              <a:rPr lang="fr-CA" b="1" dirty="0">
                <a:latin typeface="Arial" charset="0"/>
                <a:ea typeface="MS PGothic" charset="0"/>
              </a:rPr>
              <a:t> </a:t>
            </a:r>
            <a:r>
              <a:rPr lang="fr-CA" b="1" dirty="0" err="1">
                <a:latin typeface="Arial" charset="0"/>
                <a:ea typeface="MS PGothic" charset="0"/>
              </a:rPr>
              <a:t>policy</a:t>
            </a:r>
            <a:r>
              <a:rPr lang="fr-CA" b="1" dirty="0">
                <a:latin typeface="Arial" charset="0"/>
                <a:ea typeface="MS PGothic" charset="0"/>
              </a:rPr>
              <a:t> and </a:t>
            </a:r>
            <a:r>
              <a:rPr lang="fr-CA" b="1" dirty="0" err="1">
                <a:latin typeface="Arial" charset="0"/>
                <a:ea typeface="MS PGothic" charset="0"/>
              </a:rPr>
              <a:t>firms</a:t>
            </a:r>
            <a:endParaRPr lang="en-US" b="1" dirty="0">
              <a:latin typeface="Arial" charset="0"/>
              <a:ea typeface="MS PGothic" charset="0"/>
            </a:endParaRPr>
          </a:p>
        </p:txBody>
      </p:sp>
      <p:sp>
        <p:nvSpPr>
          <p:cNvPr id="15366" name="Rectangle 21"/>
          <p:cNvSpPr>
            <a:spLocks noChangeArrowheads="1"/>
          </p:cNvSpPr>
          <p:nvPr/>
        </p:nvSpPr>
        <p:spPr bwMode="auto">
          <a:xfrm>
            <a:off x="6003635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prstClr val="black"/>
              </a:solidFill>
              <a:latin typeface="Verdana" pitchFamily="124" charset="0"/>
            </a:endParaRPr>
          </a:p>
        </p:txBody>
      </p:sp>
      <p:sp>
        <p:nvSpPr>
          <p:cNvPr id="15367" name="Text Box 5"/>
          <p:cNvSpPr txBox="1">
            <a:spLocks noChangeArrowheads="1"/>
          </p:cNvSpPr>
          <p:nvPr/>
        </p:nvSpPr>
        <p:spPr bwMode="auto">
          <a:xfrm>
            <a:off x="2438820" y="2760048"/>
            <a:ext cx="1627188" cy="3841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cs typeface="Times New Roman" charset="0"/>
              </a:rPr>
              <a:t>Activists</a:t>
            </a: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368" name="Text Box 5"/>
          <p:cNvSpPr txBox="1">
            <a:spLocks noChangeArrowheads="1"/>
          </p:cNvSpPr>
          <p:nvPr/>
        </p:nvSpPr>
        <p:spPr bwMode="auto">
          <a:xfrm>
            <a:off x="2430884" y="3382348"/>
            <a:ext cx="1627187" cy="3841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>
                <a:solidFill>
                  <a:prstClr val="black"/>
                </a:solidFill>
                <a:cs typeface="Times New Roman" charset="0"/>
              </a:rPr>
              <a:t>NGOs</a:t>
            </a: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369" name="Text Box 5"/>
          <p:cNvSpPr txBox="1">
            <a:spLocks noChangeArrowheads="1"/>
          </p:cNvSpPr>
          <p:nvPr/>
        </p:nvSpPr>
        <p:spPr bwMode="auto">
          <a:xfrm>
            <a:off x="2443584" y="4012585"/>
            <a:ext cx="1627187" cy="38419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>
                <a:solidFill>
                  <a:prstClr val="black"/>
                </a:solidFill>
                <a:cs typeface="Times New Roman" charset="0"/>
              </a:rPr>
              <a:t>Consumers</a:t>
            </a: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370" name="Text Box 5"/>
          <p:cNvSpPr txBox="1">
            <a:spLocks noChangeArrowheads="1"/>
          </p:cNvSpPr>
          <p:nvPr/>
        </p:nvSpPr>
        <p:spPr bwMode="auto">
          <a:xfrm>
            <a:off x="2435645" y="4633297"/>
            <a:ext cx="1625600" cy="38575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cs typeface="Times New Roman" charset="0"/>
              </a:rPr>
              <a:t>Labor unions</a:t>
            </a: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5371" name="Text Box 5"/>
          <p:cNvSpPr txBox="1">
            <a:spLocks noChangeArrowheads="1"/>
          </p:cNvSpPr>
          <p:nvPr/>
        </p:nvSpPr>
        <p:spPr bwMode="auto">
          <a:xfrm>
            <a:off x="2451520" y="5268297"/>
            <a:ext cx="1627188" cy="6102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cs typeface="Times New Roman" charset="0"/>
              </a:rPr>
              <a:t>Other firms/industries</a:t>
            </a: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5515125" y="1731636"/>
            <a:ext cx="5036761" cy="436753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>
              <a:buFont typeface="Arial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broad array of actors have a “stake” in firm action and strategy</a:t>
            </a:r>
          </a:p>
          <a:p>
            <a:pPr indent="-285750">
              <a:buFont typeface="Arial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85750">
              <a:buFont typeface="Arial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stakeholder invests and acts strategically to achieve objectives</a:t>
            </a:r>
          </a:p>
          <a:p>
            <a:pPr indent="-285750">
              <a:buFont typeface="Arial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85750">
              <a:buFont typeface="Arial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includes targeting policymakers </a:t>
            </a:r>
            <a:r>
              <a:rPr lang="en-US" sz="28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firms</a:t>
            </a:r>
          </a:p>
        </p:txBody>
      </p:sp>
    </p:spTree>
    <p:extLst>
      <p:ext uri="{BB962C8B-B14F-4D97-AF65-F5344CB8AC3E}">
        <p14:creationId xmlns:p14="http://schemas.microsoft.com/office/powerpoint/2010/main" val="1495908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05" name="Straight Connector 50"/>
          <p:cNvCxnSpPr>
            <a:cxnSpLocks noChangeShapeType="1"/>
          </p:cNvCxnSpPr>
          <p:nvPr/>
        </p:nvCxnSpPr>
        <p:spPr bwMode="auto">
          <a:xfrm flipH="1">
            <a:off x="3432175" y="2833689"/>
            <a:ext cx="5327650" cy="13620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23875" y="449264"/>
            <a:ext cx="8499475" cy="962025"/>
          </a:xfrm>
        </p:spPr>
        <p:txBody>
          <a:bodyPr>
            <a:noAutofit/>
          </a:bodyPr>
          <a:lstStyle/>
          <a:p>
            <a:pPr eaLnBrk="1" hangingPunct="1"/>
            <a:r>
              <a:rPr lang="en-CA" b="1" dirty="0">
                <a:latin typeface="Arial" charset="0"/>
                <a:ea typeface="MS PGothic" charset="0"/>
              </a:rPr>
              <a:t>Government must balance </a:t>
            </a:r>
            <a:br>
              <a:rPr lang="en-CA" b="1" dirty="0">
                <a:latin typeface="Arial" charset="0"/>
                <a:ea typeface="MS PGothic" charset="0"/>
              </a:rPr>
            </a:br>
            <a:r>
              <a:rPr lang="en-CA" b="1" dirty="0">
                <a:latin typeface="Arial" charset="0"/>
                <a:ea typeface="MS PGothic" charset="0"/>
              </a:rPr>
              <a:t>dynamic competing interests</a:t>
            </a:r>
            <a:endParaRPr lang="en-US" b="1" dirty="0">
              <a:latin typeface="Arial" charset="0"/>
              <a:ea typeface="MS PGothic" charset="0"/>
            </a:endParaRPr>
          </a:p>
        </p:txBody>
      </p:sp>
      <p:sp>
        <p:nvSpPr>
          <p:cNvPr id="21507" name="Isosceles Triangle 39"/>
          <p:cNvSpPr>
            <a:spLocks noChangeArrowheads="1"/>
          </p:cNvSpPr>
          <p:nvPr/>
        </p:nvSpPr>
        <p:spPr bwMode="auto">
          <a:xfrm>
            <a:off x="4773613" y="3492500"/>
            <a:ext cx="2906712" cy="184785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+mj-lt"/>
              <a:ea typeface="SimSun" charset="0"/>
              <a:cs typeface="Arial"/>
            </a:endParaRPr>
          </a:p>
        </p:txBody>
      </p:sp>
      <p:sp>
        <p:nvSpPr>
          <p:cNvPr id="21508" name="Text Box 19"/>
          <p:cNvSpPr txBox="1">
            <a:spLocks noChangeArrowheads="1"/>
          </p:cNvSpPr>
          <p:nvPr/>
        </p:nvSpPr>
        <p:spPr bwMode="auto">
          <a:xfrm>
            <a:off x="4773613" y="5354638"/>
            <a:ext cx="2906712" cy="4064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altLang="zh-CN" sz="2000" b="1">
                <a:latin typeface="+mj-lt"/>
                <a:cs typeface="Arial"/>
              </a:rPr>
              <a:t>Government</a:t>
            </a:r>
            <a:endParaRPr lang="zh-CN" altLang="en-US">
              <a:latin typeface="+mj-lt"/>
              <a:cs typeface="Arial"/>
            </a:endParaRPr>
          </a:p>
        </p:txBody>
      </p:sp>
      <p:sp>
        <p:nvSpPr>
          <p:cNvPr id="21509" name="Text Box 17"/>
          <p:cNvSpPr txBox="1">
            <a:spLocks noChangeArrowheads="1"/>
          </p:cNvSpPr>
          <p:nvPr/>
        </p:nvSpPr>
        <p:spPr bwMode="auto">
          <a:xfrm>
            <a:off x="5405439" y="3789363"/>
            <a:ext cx="1627187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/>
            <a:endParaRPr lang="zh-CN" altLang="en-US" sz="1200" b="1">
              <a:latin typeface="+mj-lt"/>
              <a:cs typeface="Arial"/>
            </a:endParaRPr>
          </a:p>
          <a:p>
            <a:pPr algn="ctr"/>
            <a:r>
              <a:rPr lang="zh-CN" altLang="en-US" sz="1200" b="1">
                <a:latin typeface="+mj-lt"/>
                <a:cs typeface="Arial"/>
              </a:rPr>
              <a:t>Politicians</a:t>
            </a:r>
            <a:endParaRPr lang="zh-CN" altLang="en-US" sz="1200">
              <a:latin typeface="+mj-lt"/>
              <a:cs typeface="Arial"/>
            </a:endParaRPr>
          </a:p>
        </p:txBody>
      </p:sp>
      <p:sp>
        <p:nvSpPr>
          <p:cNvPr id="21510" name="Text Box 15"/>
          <p:cNvSpPr txBox="1">
            <a:spLocks noChangeArrowheads="1"/>
          </p:cNvSpPr>
          <p:nvPr/>
        </p:nvSpPr>
        <p:spPr bwMode="auto">
          <a:xfrm>
            <a:off x="5016500" y="4632325"/>
            <a:ext cx="1627188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zh-CN" altLang="en-US" sz="1200" b="1">
                <a:latin typeface="+mj-lt"/>
                <a:cs typeface="Arial"/>
              </a:rPr>
              <a:t>Regulatory</a:t>
            </a:r>
          </a:p>
          <a:p>
            <a:pPr algn="ctr"/>
            <a:r>
              <a:rPr lang="zh-CN" altLang="en-US" sz="1200" b="1">
                <a:latin typeface="+mj-lt"/>
                <a:cs typeface="Arial"/>
              </a:rPr>
              <a:t>Agencies</a:t>
            </a:r>
            <a:endParaRPr lang="zh-CN" altLang="en-US" sz="1200">
              <a:latin typeface="+mj-lt"/>
              <a:cs typeface="Arial"/>
            </a:endParaRPr>
          </a:p>
        </p:txBody>
      </p:sp>
      <p:sp>
        <p:nvSpPr>
          <p:cNvPr id="21511" name="Text Box 14"/>
          <p:cNvSpPr txBox="1">
            <a:spLocks noChangeArrowheads="1"/>
          </p:cNvSpPr>
          <p:nvPr/>
        </p:nvSpPr>
        <p:spPr bwMode="auto">
          <a:xfrm>
            <a:off x="5981700" y="4487863"/>
            <a:ext cx="1627188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/>
            <a:endParaRPr lang="zh-CN" altLang="en-US" sz="1200" b="1">
              <a:latin typeface="+mj-lt"/>
              <a:cs typeface="Arial"/>
            </a:endParaRPr>
          </a:p>
          <a:p>
            <a:pPr algn="ctr"/>
            <a:r>
              <a:rPr lang="zh-CN" altLang="en-US" sz="1200" b="1">
                <a:latin typeface="+mj-lt"/>
                <a:cs typeface="Arial"/>
              </a:rPr>
              <a:t>Courts</a:t>
            </a:r>
            <a:endParaRPr lang="zh-CN" altLang="en-US" sz="1200">
              <a:latin typeface="+mj-lt"/>
              <a:cs typeface="Arial"/>
            </a:endParaRPr>
          </a:p>
        </p:txBody>
      </p:sp>
      <p:sp>
        <p:nvSpPr>
          <p:cNvPr id="21512" name="Text Box 5"/>
          <p:cNvSpPr txBox="1">
            <a:spLocks noChangeArrowheads="1"/>
          </p:cNvSpPr>
          <p:nvPr/>
        </p:nvSpPr>
        <p:spPr bwMode="auto">
          <a:xfrm>
            <a:off x="7896225" y="2460626"/>
            <a:ext cx="1627188" cy="392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zh-CN" altLang="en-US" sz="1200" b="1" dirty="0">
                <a:latin typeface="+mj-lt"/>
                <a:cs typeface="Arial"/>
              </a:rPr>
              <a:t>Industry firms</a:t>
            </a:r>
            <a:endParaRPr lang="zh-CN" altLang="en-US" sz="1200" dirty="0">
              <a:latin typeface="+mj-lt"/>
              <a:cs typeface="Arial"/>
            </a:endParaRPr>
          </a:p>
        </p:txBody>
      </p:sp>
      <p:sp>
        <p:nvSpPr>
          <p:cNvPr id="21513" name="Text Box 5"/>
          <p:cNvSpPr txBox="1">
            <a:spLocks noChangeArrowheads="1"/>
          </p:cNvSpPr>
          <p:nvPr/>
        </p:nvSpPr>
        <p:spPr bwMode="auto">
          <a:xfrm>
            <a:off x="2649539" y="2892426"/>
            <a:ext cx="1627187" cy="392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zh-CN" altLang="en-US" sz="1200" b="1">
                <a:latin typeface="+mj-lt"/>
                <a:cs typeface="Arial"/>
              </a:rPr>
              <a:t>Local activists</a:t>
            </a:r>
            <a:endParaRPr lang="zh-CN" altLang="en-US" sz="1200">
              <a:latin typeface="+mj-lt"/>
              <a:cs typeface="Arial"/>
            </a:endParaRPr>
          </a:p>
        </p:txBody>
      </p:sp>
      <p:sp>
        <p:nvSpPr>
          <p:cNvPr id="21514" name="Text Box 5"/>
          <p:cNvSpPr txBox="1">
            <a:spLocks noChangeArrowheads="1"/>
          </p:cNvSpPr>
          <p:nvPr/>
        </p:nvSpPr>
        <p:spPr bwMode="auto">
          <a:xfrm>
            <a:off x="2654300" y="2422526"/>
            <a:ext cx="1627188" cy="392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zh-CN" altLang="en-US" sz="1200" b="1">
                <a:latin typeface="+mj-lt"/>
                <a:cs typeface="Arial"/>
              </a:rPr>
              <a:t>NGOs</a:t>
            </a:r>
            <a:endParaRPr lang="zh-CN" altLang="en-US" sz="1200">
              <a:latin typeface="+mj-lt"/>
              <a:cs typeface="Arial"/>
            </a:endParaRPr>
          </a:p>
        </p:txBody>
      </p:sp>
      <p:sp>
        <p:nvSpPr>
          <p:cNvPr id="21515" name="Text Box 5"/>
          <p:cNvSpPr txBox="1">
            <a:spLocks noChangeArrowheads="1"/>
          </p:cNvSpPr>
          <p:nvPr/>
        </p:nvSpPr>
        <p:spPr bwMode="auto">
          <a:xfrm>
            <a:off x="2640014" y="3357563"/>
            <a:ext cx="1627187" cy="392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zh-CN" altLang="en-US" sz="1200" b="1">
                <a:latin typeface="+mj-lt"/>
                <a:cs typeface="Arial"/>
              </a:rPr>
              <a:t>Consumers</a:t>
            </a:r>
            <a:endParaRPr lang="zh-CN" altLang="en-US" sz="1200">
              <a:latin typeface="+mj-lt"/>
              <a:cs typeface="Arial"/>
            </a:endParaRPr>
          </a:p>
        </p:txBody>
      </p:sp>
      <p:sp>
        <p:nvSpPr>
          <p:cNvPr id="21516" name="Text Box 5"/>
          <p:cNvSpPr txBox="1">
            <a:spLocks noChangeArrowheads="1"/>
          </p:cNvSpPr>
          <p:nvPr/>
        </p:nvSpPr>
        <p:spPr bwMode="auto">
          <a:xfrm>
            <a:off x="2640013" y="3827463"/>
            <a:ext cx="16256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zh-CN" altLang="en-US" sz="1200" b="1" dirty="0">
                <a:latin typeface="+mj-lt"/>
                <a:cs typeface="Arial"/>
              </a:rPr>
              <a:t>Labor unions</a:t>
            </a:r>
            <a:endParaRPr lang="zh-CN" altLang="en-US" sz="1200" dirty="0">
              <a:latin typeface="+mj-lt"/>
              <a:cs typeface="Arial"/>
            </a:endParaRPr>
          </a:p>
        </p:txBody>
      </p:sp>
      <p:sp>
        <p:nvSpPr>
          <p:cNvPr id="21517" name="Text Box 5"/>
          <p:cNvSpPr txBox="1">
            <a:spLocks noChangeArrowheads="1"/>
          </p:cNvSpPr>
          <p:nvPr/>
        </p:nvSpPr>
        <p:spPr bwMode="auto">
          <a:xfrm>
            <a:off x="2668589" y="1954213"/>
            <a:ext cx="1627187" cy="392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7841" tIns="48920" rIns="97841" bIns="48920"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altLang="zh-CN" sz="1200" b="1" dirty="0">
                <a:latin typeface="+mj-lt"/>
                <a:cs typeface="Arial"/>
              </a:rPr>
              <a:t>Interest Groups</a:t>
            </a:r>
            <a:endParaRPr lang="zh-CN" altLang="en-US" sz="1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277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Topic 2: How do organizations compete </a:t>
            </a:r>
            <a:br>
              <a:rPr lang="en-US" b="1" dirty="0"/>
            </a:br>
            <a:r>
              <a:rPr lang="en-US" b="1" dirty="0"/>
              <a:t>to shape the non-market environment?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1F49C-22A5-1B24-C5FD-5D9422C8D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dirty="0"/>
              <a:t>Three main types of non-market strategies:</a:t>
            </a:r>
          </a:p>
          <a:p>
            <a:pPr marL="0" indent="0">
              <a:buNone/>
            </a:pPr>
            <a:endParaRPr lang="en-US" sz="1000" dirty="0"/>
          </a:p>
          <a:p>
            <a:pPr marL="914400" lvl="1" indent="-514350">
              <a:buFont typeface="+mj-lt"/>
              <a:buAutoNum type="arabicPeriod"/>
            </a:pPr>
            <a:r>
              <a:rPr lang="en-US" sz="2800" dirty="0"/>
              <a:t>Campaign contributions</a:t>
            </a:r>
          </a:p>
          <a:p>
            <a:pPr marL="914400" lvl="1" indent="-514350"/>
            <a:r>
              <a:rPr lang="en-US" sz="2800" dirty="0"/>
              <a:t>Financial support for campaign staff, polling, advertising, </a:t>
            </a:r>
            <a:r>
              <a:rPr lang="en-US" sz="2800" dirty="0" err="1"/>
              <a:t>etc</a:t>
            </a:r>
            <a:endParaRPr lang="en-US" sz="2800" dirty="0"/>
          </a:p>
          <a:p>
            <a:pPr marL="914400" lvl="1" indent="-514350">
              <a:buFont typeface="+mj-lt"/>
              <a:buAutoNum type="arabicPeriod" startAt="2"/>
            </a:pPr>
            <a:r>
              <a:rPr lang="en-US" sz="2800" dirty="0"/>
              <a:t>Lobbying and CSR</a:t>
            </a:r>
          </a:p>
          <a:p>
            <a:pPr marL="914400" lvl="1" indent="-514350"/>
            <a:r>
              <a:rPr lang="en-US" sz="2800" dirty="0"/>
              <a:t>Expenditures to influence laws/regs and public relations </a:t>
            </a:r>
          </a:p>
          <a:p>
            <a:pPr marL="914400" lvl="1" indent="-514350">
              <a:buFont typeface="+mj-lt"/>
              <a:buAutoNum type="arabicPeriod" startAt="3"/>
            </a:pPr>
            <a:r>
              <a:rPr lang="en-US" sz="2800" dirty="0"/>
              <a:t>Public advocacy</a:t>
            </a:r>
          </a:p>
          <a:p>
            <a:pPr marL="914400" lvl="1" indent="-514350"/>
            <a:r>
              <a:rPr lang="en-US" sz="2800" dirty="0"/>
              <a:t>CEO statements on government policies or social issues</a:t>
            </a:r>
          </a:p>
        </p:txBody>
      </p:sp>
    </p:spTree>
    <p:extLst>
      <p:ext uri="{BB962C8B-B14F-4D97-AF65-F5344CB8AC3E}">
        <p14:creationId xmlns:p14="http://schemas.microsoft.com/office/powerpoint/2010/main" val="1426797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1627-69D7-684B-999D-3A9E62918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Industries donate to </a:t>
            </a:r>
            <a:r>
              <a:rPr lang="en-US" b="1" dirty="0"/>
              <a:t>political </a:t>
            </a:r>
            <a:r>
              <a:rPr lang="en-US" b="1" dirty="0">
                <a:solidFill>
                  <a:schemeClr val="tx1"/>
                </a:solidFill>
              </a:rPr>
              <a:t>campaigns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963E64-3F01-11A0-AFAD-98968AD407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1472540" y="1217757"/>
            <a:ext cx="8965870" cy="4846415"/>
          </a:xfrm>
        </p:spPr>
      </p:pic>
    </p:spTree>
    <p:extLst>
      <p:ext uri="{BB962C8B-B14F-4D97-AF65-F5344CB8AC3E}">
        <p14:creationId xmlns:p14="http://schemas.microsoft.com/office/powerpoint/2010/main" val="2916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1627-69D7-684B-999D-3A9E62918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38" y="437444"/>
            <a:ext cx="9839223" cy="98019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Industries also lobby to shape public policy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9BDB705-88A8-0A0A-E027-98FDE6BC34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2852748" y="1296514"/>
            <a:ext cx="6486504" cy="4819473"/>
          </a:xfrm>
        </p:spPr>
      </p:pic>
    </p:spTree>
    <p:extLst>
      <p:ext uri="{BB962C8B-B14F-4D97-AF65-F5344CB8AC3E}">
        <p14:creationId xmlns:p14="http://schemas.microsoft.com/office/powerpoint/2010/main" val="202565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defTabSz="9144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Industry has the resources to provide information and analysis that Congress/agencies cannot</a:t>
            </a:r>
          </a:p>
          <a:p>
            <a:pPr marL="0" indent="0">
              <a:buNone/>
            </a:pP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0" defTabSz="9144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At the same time, industry seeks to influence the decision-making process toward its point of view</a:t>
            </a:r>
          </a:p>
          <a:p>
            <a:pPr marL="0" indent="0">
              <a:buNone/>
            </a:pP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b="1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 is difficult for policymakers to separate </a:t>
            </a:r>
          </a:p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b="1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information from the influence</a:t>
            </a:r>
          </a:p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en-US" b="1" dirty="0">
              <a:solidFill>
                <a:prstClr val="black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Lobbying provides two important functions: information and influence</a:t>
            </a: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811522BB-47DF-0492-0550-F0F2B6FE7DA3}"/>
              </a:ext>
            </a:extLst>
          </p:cNvPr>
          <p:cNvSpPr/>
          <p:nvPr/>
        </p:nvSpPr>
        <p:spPr>
          <a:xfrm>
            <a:off x="5368136" y="4151086"/>
            <a:ext cx="1436914" cy="6531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0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 descr="A picture containing text, screenshot, font, design&#10;&#10;Description automatically generated">
            <a:extLst>
              <a:ext uri="{FF2B5EF4-FFF2-40B4-BE49-F238E27FC236}">
                <a16:creationId xmlns:a16="http://schemas.microsoft.com/office/drawing/2014/main" id="{38F19EE5-D023-4523-A8D0-A6C16769D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70" y="960652"/>
            <a:ext cx="9202731" cy="51765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7A4831-71F1-49E6-6FF5-918935768F92}"/>
              </a:ext>
            </a:extLst>
          </p:cNvPr>
          <p:cNvSpPr txBox="1"/>
          <p:nvPr/>
        </p:nvSpPr>
        <p:spPr>
          <a:xfrm>
            <a:off x="2503358" y="6196767"/>
            <a:ext cx="9351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4"/>
              </a:rPr>
              <a:t>https://nbs.net/how-can-companies-use-their-political-influence-responsibly/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18F772-C6BB-1A3E-53F3-14B3580A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308" y="318805"/>
            <a:ext cx="9649953" cy="596877"/>
          </a:xfrm>
        </p:spPr>
        <p:txBody>
          <a:bodyPr/>
          <a:lstStyle/>
          <a:p>
            <a:r>
              <a:rPr lang="en-US" b="1" dirty="0"/>
              <a:t>What is Corporate Political Responsibility?</a:t>
            </a:r>
          </a:p>
        </p:txBody>
      </p:sp>
    </p:spTree>
    <p:extLst>
      <p:ext uri="{BB962C8B-B14F-4D97-AF65-F5344CB8AC3E}">
        <p14:creationId xmlns:p14="http://schemas.microsoft.com/office/powerpoint/2010/main" val="69130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Letter&#10;&#10;Description automatically generated with medium confidence">
            <a:extLst>
              <a:ext uri="{FF2B5EF4-FFF2-40B4-BE49-F238E27FC236}">
                <a16:creationId xmlns:a16="http://schemas.microsoft.com/office/drawing/2014/main" id="{EB2BED9E-584D-F8A6-9139-3DC4D3712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353"/>
          <a:stretch/>
        </p:blipFill>
        <p:spPr>
          <a:xfrm>
            <a:off x="1040698" y="1417638"/>
            <a:ext cx="10110603" cy="4305298"/>
          </a:xfrm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BCFFC22A-D12A-565D-0BF4-E25A1507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38" y="437444"/>
            <a:ext cx="9649953" cy="980194"/>
          </a:xfrm>
        </p:spPr>
        <p:txBody>
          <a:bodyPr/>
          <a:lstStyle/>
          <a:p>
            <a:r>
              <a:rPr lang="en-US" b="1" dirty="0"/>
              <a:t>Employees expect CEOs to speak up…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65135-BEBD-13FC-48D5-DBEF78ACD34D}"/>
              </a:ext>
            </a:extLst>
          </p:cNvPr>
          <p:cNvSpPr txBox="1"/>
          <p:nvPr/>
        </p:nvSpPr>
        <p:spPr>
          <a:xfrm>
            <a:off x="7431314" y="6183086"/>
            <a:ext cx="428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2022 Edelman Trust Barometer</a:t>
            </a:r>
          </a:p>
        </p:txBody>
      </p:sp>
    </p:spTree>
    <p:extLst>
      <p:ext uri="{BB962C8B-B14F-4D97-AF65-F5344CB8AC3E}">
        <p14:creationId xmlns:p14="http://schemas.microsoft.com/office/powerpoint/2010/main" val="281923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>
            <a:extLst>
              <a:ext uri="{FF2B5EF4-FFF2-40B4-BE49-F238E27FC236}">
                <a16:creationId xmlns:a16="http://schemas.microsoft.com/office/drawing/2014/main" id="{BCFFC22A-D12A-565D-0BF4-E25A1507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38" y="437444"/>
            <a:ext cx="9649953" cy="980194"/>
          </a:xfrm>
        </p:spPr>
        <p:txBody>
          <a:bodyPr/>
          <a:lstStyle/>
          <a:p>
            <a:r>
              <a:rPr lang="en-US" b="1" dirty="0"/>
              <a:t>While avoiding politics &amp; hot-button topics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65135-BEBD-13FC-48D5-DBEF78ACD34D}"/>
              </a:ext>
            </a:extLst>
          </p:cNvPr>
          <p:cNvSpPr txBox="1"/>
          <p:nvPr/>
        </p:nvSpPr>
        <p:spPr>
          <a:xfrm>
            <a:off x="7431314" y="6183086"/>
            <a:ext cx="428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2022 Edelman Trust Barometer</a:t>
            </a:r>
          </a:p>
        </p:txBody>
      </p:sp>
      <p:pic>
        <p:nvPicPr>
          <p:cNvPr id="6" name="Content Placeholder 5" descr="Chart, bar chart&#10;&#10;Description automatically generated">
            <a:extLst>
              <a:ext uri="{FF2B5EF4-FFF2-40B4-BE49-F238E27FC236}">
                <a16:creationId xmlns:a16="http://schemas.microsoft.com/office/drawing/2014/main" id="{D042BD1D-F0B8-01E8-A48C-D5A38CC87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613"/>
          <a:stretch/>
        </p:blipFill>
        <p:spPr>
          <a:xfrm>
            <a:off x="1019526" y="1417638"/>
            <a:ext cx="10152947" cy="4644764"/>
          </a:xfrm>
        </p:spPr>
      </p:pic>
    </p:spTree>
    <p:extLst>
      <p:ext uri="{BB962C8B-B14F-4D97-AF65-F5344CB8AC3E}">
        <p14:creationId xmlns:p14="http://schemas.microsoft.com/office/powerpoint/2010/main" val="272312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420915" y="423554"/>
            <a:ext cx="9323251" cy="962025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b="1" dirty="0">
                <a:latin typeface="Arial" charset="0"/>
                <a:ea typeface="MS PGothic" charset="0"/>
              </a:rPr>
              <a:t>Diagnose Your Non-market Environment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2EA8E4-BDF3-6349-ACAA-3BAC7C37B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771761"/>
            <a:ext cx="9144000" cy="39221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2CB3FB-2EDE-A04D-9118-657BCC956885}"/>
              </a:ext>
            </a:extLst>
          </p:cNvPr>
          <p:cNvSpPr txBox="1"/>
          <p:nvPr/>
        </p:nvSpPr>
        <p:spPr>
          <a:xfrm>
            <a:off x="7726018" y="2367171"/>
            <a:ext cx="273061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~90% of applying this framework effectively requires picking which non-market issue(s) to focus attention on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4904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Individual Assignment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Verdana" pitchFamily="12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12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12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12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12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12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12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12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124" charset="0"/>
                <a:ea typeface="+mn-ea"/>
                <a:cs typeface="+mn-cs"/>
              </a:defRPr>
            </a:lvl9pPr>
          </a:lstStyle>
          <a:p>
            <a:fld id="{64397EA0-C292-4664-8B3C-73D3DE5BC9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34834" y="1534527"/>
            <a:ext cx="10600823" cy="4944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What is the largest non-market challenge or opportunity facing your employer (or your business unit or team)? Why is this a non-market issue? </a:t>
            </a:r>
          </a:p>
          <a:p>
            <a:endParaRPr lang="en-US" dirty="0"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Who are the government and non-government stakeholders, and what are their interests and current actions/positions?</a:t>
            </a:r>
          </a:p>
          <a:p>
            <a:endParaRPr lang="en-US" dirty="0"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How can your employer better navigate the non-market environment, and </a:t>
            </a:r>
            <a:r>
              <a:rPr lang="en-US" u="sng" dirty="0"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how has this residency and its speakers </a:t>
            </a:r>
            <a:r>
              <a:rPr lang="en-US" dirty="0"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helped inform you on this topic?</a:t>
            </a:r>
          </a:p>
          <a:p>
            <a:endParaRPr lang="en-US" dirty="0"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2-3 pages single-spaced, upload on Canvas by </a:t>
            </a:r>
            <a:r>
              <a:rPr lang="en-US" sz="2400" dirty="0"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Monday, April 21st</a:t>
            </a:r>
          </a:p>
          <a:p>
            <a:pPr marL="0" indent="0">
              <a:buNone/>
            </a:pPr>
            <a:endParaRPr lang="en-US" strike="sngStrike" dirty="0"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3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6438-DE7B-9B4A-8D02-AE489B00DD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Rick Dearborn</a:t>
            </a: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41D05-7916-D941-A7E2-D510D48B10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Business &amp; Government: A Vital Relationship</a:t>
            </a:r>
          </a:p>
        </p:txBody>
      </p:sp>
    </p:spTree>
    <p:extLst>
      <p:ext uri="{BB962C8B-B14F-4D97-AF65-F5344CB8AC3E}">
        <p14:creationId xmlns:p14="http://schemas.microsoft.com/office/powerpoint/2010/main" val="242901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6438-DE7B-9B4A-8D02-AE489B00DD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Global Non-Market Strategy</a:t>
            </a: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41D05-7916-D941-A7E2-D510D48B10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7049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57E07F-D83C-80BC-B55F-C1E6E80D2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nonmarket forces shape competition</a:t>
            </a:r>
          </a:p>
          <a:p>
            <a:pPr lvl="1"/>
            <a:r>
              <a:rPr lang="en-US" sz="2200" dirty="0"/>
              <a:t>government laws and regulations, political movements, social campaigns</a:t>
            </a:r>
          </a:p>
          <a:p>
            <a:r>
              <a:rPr lang="en-US" b="1" dirty="0"/>
              <a:t>How organizations shape the nonmarket environment</a:t>
            </a:r>
          </a:p>
          <a:p>
            <a:pPr lvl="1"/>
            <a:r>
              <a:rPr lang="en-US" sz="2200" dirty="0"/>
              <a:t>campaign contributions, lobbying, CSR, public advocacy</a:t>
            </a:r>
          </a:p>
          <a:p>
            <a:r>
              <a:rPr lang="en-US" b="1" dirty="0"/>
              <a:t>How market and nonmarket strategies can be integrated</a:t>
            </a:r>
          </a:p>
          <a:p>
            <a:pPr lvl="1"/>
            <a:r>
              <a:rPr lang="en-US" sz="2200" dirty="0"/>
              <a:t>increase predictability in nonmarket environment to support market strategy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US" b="1" dirty="0"/>
              <a:t>Key questions: </a:t>
            </a:r>
            <a:r>
              <a:rPr lang="en-US" dirty="0"/>
              <a:t>Do you have a nonmarket strategy? Does it address the most important issues facing your org? Is it integrated with your market strategy? Is it a responsible form of engagement?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DBEC60-04F6-7D96-EC71-A7B11E937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19" y="437444"/>
            <a:ext cx="10004180" cy="980194"/>
          </a:xfrm>
        </p:spPr>
        <p:txBody>
          <a:bodyPr/>
          <a:lstStyle/>
          <a:p>
            <a:r>
              <a:rPr lang="en-US" b="1" dirty="0"/>
              <a:t>Recap: Intro to Nonmarket Strategy</a:t>
            </a:r>
          </a:p>
        </p:txBody>
      </p:sp>
    </p:spTree>
    <p:extLst>
      <p:ext uri="{BB962C8B-B14F-4D97-AF65-F5344CB8AC3E}">
        <p14:creationId xmlns:p14="http://schemas.microsoft.com/office/powerpoint/2010/main" val="165776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1A9E50D-7709-F445-A3AE-D3951E6A4B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2935077" y="1607339"/>
            <a:ext cx="6321846" cy="446248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8803772-0E97-7A46-981E-0C022E00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Every government creates a unique business environment that is constantly changing</a:t>
            </a:r>
          </a:p>
        </p:txBody>
      </p:sp>
    </p:spTree>
    <p:extLst>
      <p:ext uri="{BB962C8B-B14F-4D97-AF65-F5344CB8AC3E}">
        <p14:creationId xmlns:p14="http://schemas.microsoft.com/office/powerpoint/2010/main" val="2943143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1A9E50D-7709-F445-A3AE-D3951E6A4B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5608" y="1279569"/>
            <a:ext cx="7140784" cy="477837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8803772-0E97-7A46-981E-0C022E00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What is distance in global business?</a:t>
            </a:r>
          </a:p>
        </p:txBody>
      </p:sp>
    </p:spTree>
    <p:extLst>
      <p:ext uri="{BB962C8B-B14F-4D97-AF65-F5344CB8AC3E}">
        <p14:creationId xmlns:p14="http://schemas.microsoft.com/office/powerpoint/2010/main" val="319480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B6A70-01D8-ED4A-A2A2-ABE3D6116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After Cold War, predictions of political and economic convergence…</a:t>
            </a:r>
          </a:p>
          <a:p>
            <a:pPr marL="0" indent="0">
              <a:buNone/>
            </a:pPr>
            <a:endParaRPr lang="en-US" sz="26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Char char="§"/>
            </a:pPr>
            <a:r>
              <a:rPr lang="en-US" sz="2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But rise of democracies in the 1990s and 2000s has recently given way to less political freedom globally, sparking concerns in West 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Rapid economic globalization is also slowing under pressure from issues like trade backlash, geopolitical risks and climate change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COVID-19 disrupted many traditional patterns of work, trade &amp; travel</a:t>
            </a:r>
          </a:p>
          <a:p>
            <a:pPr marL="0" indent="0">
              <a:buNone/>
            </a:pPr>
            <a:endParaRPr lang="en-US" sz="26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6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How will these trends influence where you do business in the future?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665D2F-74C1-4744-A84A-AB8D4E80C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b="1" dirty="0">
                <a:ea typeface="Arial Unicode MS" panose="020B0604020202020204" pitchFamily="34" charset="-128"/>
              </a:rPr>
              <a:t>Is CAGE “distance” shrinking over time?</a:t>
            </a:r>
            <a:endParaRPr lang="en-US" sz="3200" dirty="0">
              <a:ea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8204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803772-0E97-7A46-981E-0C022E00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ea typeface="Arial Unicode MS" panose="020B0604020202020204" pitchFamily="34" charset="-128"/>
              </a:rPr>
              <a:t>Economic conditions over time</a:t>
            </a:r>
            <a:endParaRPr lang="en-US" sz="3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1A9E50D-7709-F445-A3AE-D3951E6A4B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/>
          <a:srcRect b="17051"/>
          <a:stretch/>
        </p:blipFill>
        <p:spPr bwMode="auto">
          <a:xfrm>
            <a:off x="2018778" y="1267329"/>
            <a:ext cx="8154443" cy="477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83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803772-0E97-7A46-981E-0C022E00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ea typeface="Arial Unicode MS" panose="020B0604020202020204" pitchFamily="34" charset="-128"/>
              </a:rPr>
              <a:t>Dramatic decrease in extreme poverty</a:t>
            </a:r>
            <a:endParaRPr lang="en-US" sz="3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1A9E50D-7709-F445-A3AE-D3951E6A4B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/>
        </p:blipFill>
        <p:spPr bwMode="auto">
          <a:xfrm>
            <a:off x="2652386" y="1273222"/>
            <a:ext cx="6887228" cy="486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44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Is the world economy still globalizing?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9AE420A-65D6-781A-E872-B0B4E217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736699" y="1215189"/>
            <a:ext cx="6932666" cy="4893647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73FEC2-D4A1-194B-CEEE-FEF417C7F09F}"/>
              </a:ext>
            </a:extLst>
          </p:cNvPr>
          <p:cNvSpPr txBox="1"/>
          <p:nvPr/>
        </p:nvSpPr>
        <p:spPr>
          <a:xfrm>
            <a:off x="7988969" y="1417638"/>
            <a:ext cx="380197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u="sng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Multiple drivers</a:t>
            </a:r>
            <a:r>
              <a:rPr lang="en-US" sz="26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Populism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U.S.-China rivalry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COVID-19’s impact on supply chains</a:t>
            </a:r>
          </a:p>
          <a:p>
            <a:endParaRPr lang="en-US" sz="2600" b="1" u="sng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sz="2600" b="1" u="sng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2600" b="1" u="sng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Several interpretations</a:t>
            </a:r>
            <a:r>
              <a:rPr lang="en-US" sz="26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Deglobalization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Slowbalization</a:t>
            </a:r>
            <a:endParaRPr lang="en-US" sz="26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Regionalization</a:t>
            </a:r>
          </a:p>
          <a:p>
            <a:endParaRPr lang="en-US" sz="2600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068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Companies are increasingly discussing this risk</a:t>
            </a:r>
          </a:p>
        </p:txBody>
      </p:sp>
      <p:pic>
        <p:nvPicPr>
          <p:cNvPr id="9" name="Picture 8" descr="A picture containing text, screenshot, font, line&#10;&#10;Description automatically generated">
            <a:extLst>
              <a:ext uri="{FF2B5EF4-FFF2-40B4-BE49-F238E27FC236}">
                <a16:creationId xmlns:a16="http://schemas.microsoft.com/office/drawing/2014/main" id="{C59A2B2D-1D75-7381-32A5-A08482308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301" y="1417638"/>
            <a:ext cx="8911389" cy="444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2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2938" y="437444"/>
            <a:ext cx="9911451" cy="980194"/>
          </a:xfrm>
        </p:spPr>
        <p:txBody>
          <a:bodyPr/>
          <a:lstStyle/>
          <a:p>
            <a:r>
              <a:rPr lang="en-US" sz="3200" b="1" dirty="0"/>
              <a:t>But resilience is costly and the future is uncertain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63C63B-2DAB-F363-0220-BC5F10E42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“Just in time”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C24E9-326E-2D88-2E53-C3DC95A2AF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Select cheapest suppliers</a:t>
            </a:r>
          </a:p>
          <a:p>
            <a:r>
              <a:rPr lang="en-US" dirty="0"/>
              <a:t>Build most efficient factories</a:t>
            </a:r>
          </a:p>
          <a:p>
            <a:r>
              <a:rPr lang="en-US" dirty="0"/>
              <a:t>Minimize inventory on hand</a:t>
            </a:r>
          </a:p>
          <a:p>
            <a:pPr marL="0" indent="0">
              <a:buNone/>
            </a:pPr>
            <a:endParaRPr lang="en-US" sz="12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i="1" dirty="0">
                <a:sym typeface="Wingdings" pitchFamily="2" charset="2"/>
              </a:rPr>
              <a:t>Production moves to countries with lower wages &amp; orders consolidate to support greater scale economies.</a:t>
            </a:r>
            <a:endParaRPr lang="en-US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E1821-9899-19D9-F2C2-ACFE77C5A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“Just in case”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269783-E5B4-9C2E-90E0-F0A443E57E4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Diversify supplier base </a:t>
            </a:r>
          </a:p>
          <a:p>
            <a:r>
              <a:rPr lang="en-US" dirty="0"/>
              <a:t>Produce in-house or on-shore</a:t>
            </a:r>
          </a:p>
          <a:p>
            <a:r>
              <a:rPr lang="en-US" dirty="0"/>
              <a:t>Stockpile inventory reserves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i="1" dirty="0"/>
              <a:t>Risks of potential disruption limited by bringing production closer to home and prioritizing resilience over cost. 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37C5C8BB-9D32-AEF1-3F08-90FC9BD24E49}"/>
              </a:ext>
            </a:extLst>
          </p:cNvPr>
          <p:cNvSpPr txBox="1">
            <a:spLocks/>
          </p:cNvSpPr>
          <p:nvPr/>
        </p:nvSpPr>
        <p:spPr>
          <a:xfrm>
            <a:off x="609599" y="5016247"/>
            <a:ext cx="10972801" cy="9801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200" b="1" dirty="0"/>
              <a:t>Market &amp; nonmarket forces push in opposite directions </a:t>
            </a:r>
          </a:p>
        </p:txBody>
      </p:sp>
    </p:spTree>
    <p:extLst>
      <p:ext uri="{BB962C8B-B14F-4D97-AF65-F5344CB8AC3E}">
        <p14:creationId xmlns:p14="http://schemas.microsoft.com/office/powerpoint/2010/main" val="397413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1A9E50D-7709-F445-A3AE-D3951E6A4B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2549165" y="1190124"/>
            <a:ext cx="7093670" cy="4778375"/>
          </a:xfr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51418887-EF7C-CDF0-9E83-181248D44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38" y="297613"/>
            <a:ext cx="9649953" cy="980194"/>
          </a:xfrm>
        </p:spPr>
        <p:txBody>
          <a:bodyPr/>
          <a:lstStyle/>
          <a:p>
            <a:r>
              <a:rPr lang="en-US" sz="3200" b="1" dirty="0"/>
              <a:t>Political uncertainty fuels economic uncertainty</a:t>
            </a:r>
          </a:p>
        </p:txBody>
      </p:sp>
    </p:spTree>
    <p:extLst>
      <p:ext uri="{BB962C8B-B14F-4D97-AF65-F5344CB8AC3E}">
        <p14:creationId xmlns:p14="http://schemas.microsoft.com/office/powerpoint/2010/main" val="405576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593EC8-DFE3-7F03-F805-26937B767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Navigating a “dangerous decade” in geopolitics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991FA-908D-42FA-3C70-C6004BA68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Biden’s foreign policy framed geopolitical competition between the U.S. and rivals China and Russia as a struggle between democracy and autocracy to define the world order.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Argues U.S. need not promote democracy to achieve its goals, only build alliances to deter Chinese and Russian aggression. Still, geopolitics has made cooperation harder on issues like COVID, climate &amp; nukes. </a:t>
            </a:r>
          </a:p>
          <a:p>
            <a:pPr marL="457200" lvl="1" indent="0">
              <a:buNone/>
            </a:pPr>
            <a:endParaRPr lang="en-US" sz="15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the wake of the January 6, 2021 attack on the U.S. Capitol, America’s own democracy appears fragile to many observers.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While fears of political violence have not been realized, our ongoing divisions at home contribute to uncertainty over U.S. leadership abroad. </a:t>
            </a: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B79828-09F7-CF71-59C1-82821A13C29B}"/>
              </a:ext>
            </a:extLst>
          </p:cNvPr>
          <p:cNvSpPr txBox="1"/>
          <p:nvPr/>
        </p:nvSpPr>
        <p:spPr>
          <a:xfrm>
            <a:off x="6096000" y="6183086"/>
            <a:ext cx="561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Richard </a:t>
            </a:r>
            <a:r>
              <a:rPr lang="en-US" dirty="0" err="1"/>
              <a:t>Haass</a:t>
            </a:r>
            <a:r>
              <a:rPr lang="en-US" dirty="0"/>
              <a:t>, Foreign Affairs (2022)</a:t>
            </a:r>
          </a:p>
        </p:txBody>
      </p:sp>
    </p:spTree>
    <p:extLst>
      <p:ext uri="{BB962C8B-B14F-4D97-AF65-F5344CB8AC3E}">
        <p14:creationId xmlns:p14="http://schemas.microsoft.com/office/powerpoint/2010/main" val="308903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593EC8-DFE3-7F03-F805-26937B767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Ongoing uncertainty over Trump’s foreign policy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06CA40-2147-D300-E109-0877482619FC}"/>
              </a:ext>
            </a:extLst>
          </p:cNvPr>
          <p:cNvSpPr txBox="1"/>
          <p:nvPr/>
        </p:nvSpPr>
        <p:spPr>
          <a:xfrm>
            <a:off x="1272888" y="6235890"/>
            <a:ext cx="9646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https://foreignpolicy.com/2025/02/07/trump-gaza-netanyahu-canada-mexico-usaid-iran/</a:t>
            </a:r>
            <a:r>
              <a:rPr lang="en-US" dirty="0"/>
              <a:t> </a:t>
            </a:r>
          </a:p>
        </p:txBody>
      </p:sp>
      <p:pic>
        <p:nvPicPr>
          <p:cNvPr id="6" name="Content Placeholder 5" descr="A person standing in front of a microphone&#10;&#10;AI-generated content may be incorrect.">
            <a:extLst>
              <a:ext uri="{FF2B5EF4-FFF2-40B4-BE49-F238E27FC236}">
                <a16:creationId xmlns:a16="http://schemas.microsoft.com/office/drawing/2014/main" id="{3745E8CC-8269-943F-095E-4D86AF5874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95599" y="1297780"/>
            <a:ext cx="6400800" cy="4653758"/>
          </a:xfrm>
        </p:spPr>
      </p:pic>
    </p:spTree>
    <p:extLst>
      <p:ext uri="{BB962C8B-B14F-4D97-AF65-F5344CB8AC3E}">
        <p14:creationId xmlns:p14="http://schemas.microsoft.com/office/powerpoint/2010/main" val="304662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2C1547-00C6-DFBB-4F2B-87C62FE3F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Political systems since WWII</a:t>
            </a:r>
          </a:p>
        </p:txBody>
      </p:sp>
      <p:pic>
        <p:nvPicPr>
          <p:cNvPr id="8" name="Content Placeholder 7" descr="A picture containing text, screenshot, map&#10;&#10;Description automatically generated">
            <a:extLst>
              <a:ext uri="{FF2B5EF4-FFF2-40B4-BE49-F238E27FC236}">
                <a16:creationId xmlns:a16="http://schemas.microsoft.com/office/drawing/2014/main" id="{D11C814E-4F2F-4F44-F30E-509A91E444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960481"/>
            <a:ext cx="5384800" cy="3805400"/>
          </a:xfrm>
        </p:spPr>
      </p:pic>
      <p:pic>
        <p:nvPicPr>
          <p:cNvPr id="10" name="Content Placeholder 9" descr="A picture containing text, screenshot&#10;&#10;Description automatically generated">
            <a:extLst>
              <a:ext uri="{FF2B5EF4-FFF2-40B4-BE49-F238E27FC236}">
                <a16:creationId xmlns:a16="http://schemas.microsoft.com/office/drawing/2014/main" id="{2C847833-3A31-0286-9BA6-72388A0D91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960481"/>
            <a:ext cx="5384800" cy="3805400"/>
          </a:xfrm>
        </p:spPr>
      </p:pic>
    </p:spTree>
    <p:extLst>
      <p:ext uri="{BB962C8B-B14F-4D97-AF65-F5344CB8AC3E}">
        <p14:creationId xmlns:p14="http://schemas.microsoft.com/office/powerpoint/2010/main" val="342052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standing at a podium with a person in front of him&#10;&#10;Description automatically generated">
            <a:extLst>
              <a:ext uri="{FF2B5EF4-FFF2-40B4-BE49-F238E27FC236}">
                <a16:creationId xmlns:a16="http://schemas.microsoft.com/office/drawing/2014/main" id="{93C9C4BB-3B31-CB11-6EC9-5DD435D8D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1756" y="583364"/>
            <a:ext cx="4314250" cy="477837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BECF1C-7476-4C2E-B65D-FC32E38454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69344" y="1017775"/>
            <a:ext cx="4660900" cy="3909552"/>
          </a:xfrm>
          <a:prstGeom prst="rect">
            <a:avLst/>
          </a:prstGeom>
        </p:spPr>
      </p:pic>
      <p:pic>
        <p:nvPicPr>
          <p:cNvPr id="7" name="Picture 6" descr="A person with a cap and microphones&#10;&#10;Description automatically generated">
            <a:extLst>
              <a:ext uri="{FF2B5EF4-FFF2-40B4-BE49-F238E27FC236}">
                <a16:creationId xmlns:a16="http://schemas.microsoft.com/office/drawing/2014/main" id="{17CC7116-2B70-6931-0594-20CB0077951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9277"/>
          <a:stretch/>
        </p:blipFill>
        <p:spPr>
          <a:xfrm>
            <a:off x="3159208" y="2374570"/>
            <a:ext cx="5740400" cy="412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6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AD70F6-B7AC-6A4F-9B4B-FC978A76F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market and non-market characteristics define an optimal expansion location? </a:t>
            </a:r>
          </a:p>
          <a:p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are the biggest institutional and economic risks and are you capable of mitigating them?</a:t>
            </a:r>
          </a:p>
          <a:p>
            <a:pPr lvl="1"/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your capabilities and knowledge apply to the unique market and institutional contexts? What can you do to develop them?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803772-0E97-7A46-981E-0C022E00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ea typeface="Arial Unicode MS" panose="020B0604020202020204" pitchFamily="34" charset="-128"/>
              </a:rPr>
              <a:t>International business brings unique </a:t>
            </a:r>
            <a:br>
              <a:rPr lang="en-US" sz="3200" b="1" dirty="0">
                <a:ea typeface="Arial Unicode MS" panose="020B0604020202020204" pitchFamily="34" charset="-128"/>
              </a:rPr>
            </a:br>
            <a:r>
              <a:rPr lang="en-US" sz="3200" b="1" dirty="0">
                <a:ea typeface="Arial Unicode MS" panose="020B0604020202020204" pitchFamily="34" charset="-128"/>
              </a:rPr>
              <a:t>market and non-market challenges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0093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6438-DE7B-9B4A-8D02-AE489B00DD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Maya MacGuineas</a:t>
            </a: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41D05-7916-D941-A7E2-D510D48B1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313" y="3596777"/>
            <a:ext cx="6780912" cy="480836"/>
          </a:xfrm>
        </p:spPr>
        <p:txBody>
          <a:bodyPr>
            <a:noAutofit/>
          </a:bodyPr>
          <a:lstStyle/>
          <a:p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Federal Budget and Long-Term Debt</a:t>
            </a:r>
          </a:p>
        </p:txBody>
      </p:sp>
    </p:spTree>
    <p:extLst>
      <p:ext uri="{BB962C8B-B14F-4D97-AF65-F5344CB8AC3E}">
        <p14:creationId xmlns:p14="http://schemas.microsoft.com/office/powerpoint/2010/main" val="383809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6438-DE7B-9B4A-8D02-AE489B00DD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Day 1 in Review</a:t>
            </a: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41D05-7916-D941-A7E2-D510D48B10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630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26840</TotalTime>
  <Words>1658</Words>
  <Application>Microsoft Macintosh PowerPoint</Application>
  <PresentationFormat>Widescreen</PresentationFormat>
  <Paragraphs>275</Paragraphs>
  <Slides>49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0" baseType="lpstr">
      <vt:lpstr>Arial Unicode MS</vt:lpstr>
      <vt:lpstr>MS PGothic</vt:lpstr>
      <vt:lpstr>Arial</vt:lpstr>
      <vt:lpstr>Calibri</vt:lpstr>
      <vt:lpstr>Rockwell</vt:lpstr>
      <vt:lpstr>Source Sans Pro</vt:lpstr>
      <vt:lpstr>Times</vt:lpstr>
      <vt:lpstr>Times New Roman</vt:lpstr>
      <vt:lpstr>Verdana</vt:lpstr>
      <vt:lpstr>Wingdings</vt:lpstr>
      <vt:lpstr>Office Theme</vt:lpstr>
      <vt:lpstr>EMBA 60: Business, Government and Society</vt:lpstr>
      <vt:lpstr>The Olin-Brookings Connection</vt:lpstr>
      <vt:lpstr>About Me</vt:lpstr>
      <vt:lpstr>What Will We Learn About?</vt:lpstr>
      <vt:lpstr>Course Objectives</vt:lpstr>
      <vt:lpstr>Agenda</vt:lpstr>
      <vt:lpstr>Today’s Speakers</vt:lpstr>
      <vt:lpstr>Speaker Sessions</vt:lpstr>
      <vt:lpstr>What is Business  Responsible For?</vt:lpstr>
      <vt:lpstr>What is business responsible for?</vt:lpstr>
      <vt:lpstr>Non-Market Strategy: An Introduction</vt:lpstr>
      <vt:lpstr>What do firms value most from institutions?</vt:lpstr>
      <vt:lpstr>Traditional Strategy</vt:lpstr>
      <vt:lpstr>Non-Market Strategy</vt:lpstr>
      <vt:lpstr>Market failures trigger non-market forces</vt:lpstr>
      <vt:lpstr>Goal: Forming a non-market strategy</vt:lpstr>
      <vt:lpstr>Integrating non-market &amp; market strategies</vt:lpstr>
      <vt:lpstr>Topic 1: How does the non-market environment shape competition?</vt:lpstr>
      <vt:lpstr>Government sets policy under the advice and pressure of stakeholders</vt:lpstr>
      <vt:lpstr>Private stakeholders attempt to  influence both policy and firms</vt:lpstr>
      <vt:lpstr>Government must balance  dynamic competing interests</vt:lpstr>
      <vt:lpstr>Topic 2: How do organizations compete  to shape the non-market environment?</vt:lpstr>
      <vt:lpstr>Industries donate to political campaigns</vt:lpstr>
      <vt:lpstr>Industries also lobby to shape public policy</vt:lpstr>
      <vt:lpstr>Lobbying provides two important functions: information and influence</vt:lpstr>
      <vt:lpstr>What is Corporate Political Responsibility?</vt:lpstr>
      <vt:lpstr>Employees expect CEOs to speak up…</vt:lpstr>
      <vt:lpstr>While avoiding politics &amp; hot-button topics</vt:lpstr>
      <vt:lpstr>Diagnose Your Non-market Environment</vt:lpstr>
      <vt:lpstr>Individual Assignment</vt:lpstr>
      <vt:lpstr>Rick Dearborn</vt:lpstr>
      <vt:lpstr>Global Non-Market Strategy</vt:lpstr>
      <vt:lpstr>Recap: Intro to Nonmarket Strategy</vt:lpstr>
      <vt:lpstr>Every government creates a unique business environment that is constantly changing</vt:lpstr>
      <vt:lpstr>What is distance in global business?</vt:lpstr>
      <vt:lpstr>Is CAGE “distance” shrinking over time?</vt:lpstr>
      <vt:lpstr>Economic conditions over time</vt:lpstr>
      <vt:lpstr>Dramatic decrease in extreme poverty</vt:lpstr>
      <vt:lpstr>Is the world economy still globalizing?</vt:lpstr>
      <vt:lpstr>Companies are increasingly discussing this risk</vt:lpstr>
      <vt:lpstr>But resilience is costly and the future is uncertain</vt:lpstr>
      <vt:lpstr>Political uncertainty fuels economic uncertainty</vt:lpstr>
      <vt:lpstr>Navigating a “dangerous decade” in geopolitics</vt:lpstr>
      <vt:lpstr>Ongoing uncertainty over Trump’s foreign policy</vt:lpstr>
      <vt:lpstr>Political systems since WWII</vt:lpstr>
      <vt:lpstr>PowerPoint Presentation</vt:lpstr>
      <vt:lpstr>International business brings unique  market and non-market challenges</vt:lpstr>
      <vt:lpstr>Maya MacGuineas</vt:lpstr>
      <vt:lpstr>Day 1 in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default</dc:creator>
  <cp:lastModifiedBy>Ghani, Tarek</cp:lastModifiedBy>
  <cp:revision>404</cp:revision>
  <cp:lastPrinted>2018-04-26T13:41:38Z</cp:lastPrinted>
  <dcterms:created xsi:type="dcterms:W3CDTF">2013-07-09T17:46:55Z</dcterms:created>
  <dcterms:modified xsi:type="dcterms:W3CDTF">2025-04-01T20:38:12Z</dcterms:modified>
</cp:coreProperties>
</file>