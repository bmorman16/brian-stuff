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67" r:id="rId3"/>
    <p:sldId id="268" r:id="rId4"/>
    <p:sldId id="289" r:id="rId5"/>
    <p:sldId id="290" r:id="rId6"/>
    <p:sldId id="265" r:id="rId7"/>
    <p:sldId id="266" r:id="rId8"/>
    <p:sldId id="259" r:id="rId9"/>
    <p:sldId id="260" r:id="rId10"/>
    <p:sldId id="257" r:id="rId11"/>
    <p:sldId id="258" r:id="rId12"/>
    <p:sldId id="263" r:id="rId13"/>
    <p:sldId id="264" r:id="rId14"/>
    <p:sldId id="291" r:id="rId15"/>
    <p:sldId id="292" r:id="rId16"/>
    <p:sldId id="283" r:id="rId17"/>
    <p:sldId id="284" r:id="rId18"/>
    <p:sldId id="285" r:id="rId19"/>
    <p:sldId id="286" r:id="rId20"/>
    <p:sldId id="287" r:id="rId21"/>
    <p:sldId id="288" r:id="rId22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C04B8-64B2-714A-955D-44C18B0895E4}" v="85" dt="2025-05-31T02:28:09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/>
    <p:restoredTop sz="94658"/>
  </p:normalViewPr>
  <p:slideViewPr>
    <p:cSldViewPr snapToGrid="0">
      <p:cViewPr varScale="1">
        <p:scale>
          <a:sx n="60" d="100"/>
          <a:sy n="60" d="100"/>
        </p:scale>
        <p:origin x="159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950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1976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f53031d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12f53031d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f53031db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12f53031db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f53031db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12f53031db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f53031db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12f53031db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f53031db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12f53031db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f53031db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12f53031db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BB4BAFD-1307-4C2F-6C5A-A58F255A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f53031db0_0_48:notes">
            <a:extLst>
              <a:ext uri="{FF2B5EF4-FFF2-40B4-BE49-F238E27FC236}">
                <a16:creationId xmlns:a16="http://schemas.microsoft.com/office/drawing/2014/main" id="{DD96716A-D8B9-8E6E-A804-329EFD3BF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12f53031db0_0_48:notes">
            <a:extLst>
              <a:ext uri="{FF2B5EF4-FFF2-40B4-BE49-F238E27FC236}">
                <a16:creationId xmlns:a16="http://schemas.microsoft.com/office/drawing/2014/main" id="{E7FF33B6-64B4-392B-D986-E47F28E4D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3967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39ECE2F-2BBE-1976-7407-65ABE9EF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f53031db0_0_56:notes">
            <a:extLst>
              <a:ext uri="{FF2B5EF4-FFF2-40B4-BE49-F238E27FC236}">
                <a16:creationId xmlns:a16="http://schemas.microsoft.com/office/drawing/2014/main" id="{2A528674-AE7B-9616-4126-F698929C1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12f53031db0_0_56:notes">
            <a:extLst>
              <a:ext uri="{FF2B5EF4-FFF2-40B4-BE49-F238E27FC236}">
                <a16:creationId xmlns:a16="http://schemas.microsoft.com/office/drawing/2014/main" id="{5835134E-FE31-171C-6620-A1B1A1444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230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679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9298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5361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7087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垂直排列标题与文本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11560" y="1736812"/>
            <a:ext cx="7776864" cy="255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br>
              <a:rPr lang="en-US" b="1" dirty="0"/>
            </a:br>
            <a:br>
              <a:rPr lang="en-US" dirty="0"/>
            </a:br>
            <a:r>
              <a:rPr lang="en-US" b="1" dirty="0"/>
              <a:t>EMBA 756 Class 60</a:t>
            </a:r>
            <a:br>
              <a:rPr lang="en-US" dirty="0"/>
            </a:br>
            <a:r>
              <a:rPr lang="en-US" sz="3600" b="1" dirty="0"/>
              <a:t>Littlefield Labs: Team Performance</a:t>
            </a:r>
            <a:br>
              <a:rPr lang="en-US" sz="3600" dirty="0"/>
            </a:br>
            <a:br>
              <a:rPr lang="en-US" sz="3100" dirty="0"/>
            </a:br>
            <a:r>
              <a:rPr lang="en-US" sz="3100" dirty="0"/>
              <a:t>May 2025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1966710" y="3509422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84" name="Google Shape;184;p24"/>
          <p:cNvSpPr txBox="1"/>
          <p:nvPr/>
        </p:nvSpPr>
        <p:spPr>
          <a:xfrm>
            <a:off x="6279454" y="3429000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85" name="Google Shape;185;p24"/>
          <p:cNvSpPr txBox="1"/>
          <p:nvPr/>
        </p:nvSpPr>
        <p:spPr>
          <a:xfrm>
            <a:off x="0" y="0"/>
            <a:ext cx="9144000" cy="350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 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(Best Performance!)</a:t>
            </a:r>
            <a:endParaRPr sz="16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$1 775 686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7 (149) → 9 (218) → 8 (315) → 1 (360)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3 (156) → 1 (343)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→ 2 (217) → 1 (317)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 95 % by day 22 but didn’t add until day 149—should have added at 7-day avg util &gt; 90 % (~day 22). After peaking, late sell-offs (day 315, util &lt; 70 %) could have been trimmed sooner.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Util &lt; 75 % until mid-run; add 2→3 at day 156, sell when util &lt; 50 % (~day 300).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Added at day 217 when util &lt; 40 %—delay until util &gt; 90 % would have avoided an idle machine.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Switched to C3 ($250/job) by day 44; early S1 shortage (days 1–149) limited C3 fill. Selling S1 capacity around day 250 instead of shifting to C2 could have extended high-margin C3 run.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stockouts (Kits never hit zero).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 556 kits (~$55,600)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EF291-AA40-CBDC-DDF8-EDE06EA2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38" y="3878754"/>
            <a:ext cx="3796806" cy="2979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BA3EFC-73F3-1A23-0868-8C8216D80C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5036" y="3704482"/>
            <a:ext cx="3505200" cy="3141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1979712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6291807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C0E57-5B97-B8F5-C7B7-A5F9BFED3F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597" y="2665316"/>
            <a:ext cx="3695996" cy="3515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32DF1B-2701-F971-57F9-0BF405A3D5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02036" y="2728502"/>
            <a:ext cx="3876109" cy="3515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BA42A-28A0-4897-79AB-45ECCD3A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4061" y="3691391"/>
            <a:ext cx="3536219" cy="3236756"/>
          </a:xfrm>
          <a:prstGeom prst="rect">
            <a:avLst/>
          </a:prstGeom>
        </p:spPr>
      </p:pic>
      <p:sp>
        <p:nvSpPr>
          <p:cNvPr id="183" name="Google Shape;183;p24"/>
          <p:cNvSpPr txBox="1"/>
          <p:nvPr/>
        </p:nvSpPr>
        <p:spPr>
          <a:xfrm>
            <a:off x="1432336" y="3691391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84" name="Google Shape;184;p24"/>
          <p:cNvSpPr txBox="1"/>
          <p:nvPr/>
        </p:nvSpPr>
        <p:spPr>
          <a:xfrm>
            <a:off x="6134021" y="3370824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85" name="Google Shape;185;p24"/>
          <p:cNvSpPr txBox="1"/>
          <p:nvPr/>
        </p:nvSpPr>
        <p:spPr>
          <a:xfrm>
            <a:off x="0" y="0"/>
            <a:ext cx="9143999" cy="341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B 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(6</a:t>
            </a:r>
            <a:r>
              <a:rPr lang="en-US" sz="1600" b="1" baseline="30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place)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$1,615,687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2 (day 33) → 3 (day 38) → 4 (day 39) → 5 (day 97) → 6 (day 130) → 7 (day 156) → 8 (day 163) → 9 (day 220) → 10 (day 233) → 11 (day 254) → 10 (day 328) → 8 (day 329) → 7 (day 334) → 5 (day 338) → 3 (day 343) → 2 (day 354) → 1 (day 355)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2 (day 86) → 3 (day 196) → 2 (day 331) → 1 (day 340)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→ 2 (day 218) → 1 (day 235)  </a:t>
            </a:r>
          </a:p>
          <a:p>
            <a:pPr marL="342900" lvl="0" indent="-342900"/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&gt;95% by day 22 but ramped 1→11 too fast—should add one at util &gt;90% (~day 20) and trim when util &lt;70% (~day 260).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add at util &gt;80% (~day 86), sell when util &lt;40% (~day 330).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added at util &lt;60%—should add only if util &gt;90% (never reached).  </a:t>
            </a:r>
          </a:p>
          <a:p>
            <a:pPr marL="342900" lvl="0" indent="-342900"/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marL="342900" lvl="0" indent="-342900">
              <a:buFontTx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to C3 ($250/job) by day 42; early S1 shortage (days 1–33) forced some C2/C1 fills. Maintaining two S1 machines by day 20 would support uninterrupted C3 until day 175. </a:t>
            </a:r>
          </a:p>
          <a:p>
            <a:pPr marL="342900" lvl="0" indent="-342900">
              <a:buFontTx/>
              <a:buChar char="-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Stockouts around days 174.7–176.9 during peak C3 demand.  </a:t>
            </a:r>
          </a:p>
          <a:p>
            <a:pPr marL="342900" lvl="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≈1 106 kits (~$110,600)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1875E-5405-1C46-AFC1-56BB97AEC9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463" y="4060723"/>
            <a:ext cx="3033211" cy="280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2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1979712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6291807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4CDA6-E1E8-AE27-8E95-DD4314AF7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9495" y="2679121"/>
            <a:ext cx="3757975" cy="3453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B2E8FF-463B-9B52-C5C6-9B1E7EAF7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4960" y="2679121"/>
            <a:ext cx="3654237" cy="345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5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1939000" y="3538355"/>
            <a:ext cx="107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66" name="Google Shape;166;p22"/>
          <p:cNvSpPr txBox="1"/>
          <p:nvPr/>
        </p:nvSpPr>
        <p:spPr>
          <a:xfrm>
            <a:off x="6184482" y="3550460"/>
            <a:ext cx="99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67" name="Google Shape;167;p22"/>
          <p:cNvSpPr txBox="1"/>
          <p:nvPr/>
        </p:nvSpPr>
        <p:spPr>
          <a:xfrm>
            <a:off x="0" y="0"/>
            <a:ext cx="9144000" cy="355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C 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(5</a:t>
            </a:r>
            <a:r>
              <a:rPr lang="en-US" sz="1600" b="1" baseline="30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place)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$1,684,329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4 (day 43) → 5 (day 107) → 6 (day 129) → 7 (day 154) → 8 (day 157) → 7 (day 337) → 4 (day 344) → 2 (day 347) → 1 (day 356)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2 (day 87) → 1 (day 343)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(no changes)  </a:t>
            </a:r>
          </a:p>
          <a:p>
            <a:pPr marL="342900" lvl="0" indent="-342900">
              <a:lnSpc>
                <a:spcPct val="80000"/>
              </a:lnSpc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&gt;90% by day 22 but no add until day 43; should add 2nd machine when 7-day avg util &gt;90% (~day 20); late sell-offs (days 337–356) lagged avg util &lt;70%—trim earlier.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added 2nd at day 87 when util ~80%; no 3rd needed; sold at day 343 when util &lt;40%.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one machine sufficed (util &lt;70%); no change required.</a:t>
            </a:r>
          </a:p>
          <a:p>
            <a:pPr marL="342900" lvl="0" indent="-342900">
              <a:lnSpc>
                <a:spcPct val="80000"/>
              </a:lnSpc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Switched to C3 ($250/job) by day 45; early S1 under-capacity limited C3 fill. Pivot to C2 at day 187 was prudent.</a:t>
            </a:r>
          </a:p>
          <a:p>
            <a:pPr marL="342900" lvl="0" indent="-342900">
              <a:lnSpc>
                <a:spcPct val="80000"/>
              </a:lnSpc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 </a:t>
            </a: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stockouts (Kits never hit zero).  </a:t>
            </a: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 1,606 kits (≈ $160,600)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ABB6C-C1C2-09B1-40D0-1F262E5EA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738" y="3843894"/>
            <a:ext cx="3280132" cy="3111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CA7B31-436B-77EB-2F1F-FE2D56A0D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2238" y="3907655"/>
            <a:ext cx="3280131" cy="2984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1979712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6291807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35A0C-61BD-51E5-7AA7-71A64111D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5120" y="2817669"/>
            <a:ext cx="3781761" cy="3521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BD4B4-4B8A-FCCF-BB62-1EC307A85A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6536" y="2817668"/>
            <a:ext cx="3785470" cy="34916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1889001" y="3643782"/>
            <a:ext cx="107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12" name="Google Shape;112;p16"/>
          <p:cNvSpPr txBox="1"/>
          <p:nvPr/>
        </p:nvSpPr>
        <p:spPr>
          <a:xfrm>
            <a:off x="5924612" y="3679008"/>
            <a:ext cx="99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13" name="Google Shape;113;p16"/>
          <p:cNvSpPr txBox="1"/>
          <p:nvPr/>
        </p:nvSpPr>
        <p:spPr>
          <a:xfrm>
            <a:off x="0" y="0"/>
            <a:ext cx="9144000" cy="3190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Team D </a:t>
            </a: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(3</a:t>
            </a:r>
            <a:r>
              <a:rPr lang="en-US" sz="1600" b="1" baseline="30000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rd</a:t>
            </a: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place)</a:t>
            </a:r>
            <a:endParaRPr sz="16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Cash: $1,701,802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S1: 1 → 2 (32) → 3 (40) → 4 (51) → 5 (56) → 6 (85) → 7 (109) → 8 (148) → 9 (264) → 8 (301) → 7 (323) → 6 (325) → 5 (333) → 4 (335) → 3 (337) → 2 (343) → 1 (360)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S2: 1 → 2 (55) → 3 (152) → 2 (321) → 1 (335)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S3: 1 (no changes)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1. Capacity Management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S1: util &gt;90% by day 20 but first add at day 32—should add when 7-day avg util &gt;90% (~day 20). Subsequent adds tracked demand; late sell-offs post-day 300 (util &lt;50%) could be moved earlier.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S2: add @ util ~80% (day 55) and 3rd @ day 152; sell @ util &lt;40% (day 335).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S3: util &lt;70% throughout; one machine sufficed.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2. Contract Strategy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Moved to C3 ($250) by day 50, switched to C2 ($225) at day 90, back to C3 at day 110, then C2 @ day 260, C1 @ day 358.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3. Inventory Performance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Leftover ~300 kits (~$30,000k)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B615B-98F8-B018-849A-03C4AF8D1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044" y="3945489"/>
            <a:ext cx="3527314" cy="3272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7494CA-2FF0-B6FB-B5C4-05D0ABF601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30938" y="3972641"/>
            <a:ext cx="3183647" cy="28853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3772040" y="548680"/>
            <a:ext cx="203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2123728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156176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7A6D5-28EF-89CE-A651-48B072C0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515" y="2946400"/>
            <a:ext cx="3604526" cy="3362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18FB2-F093-1296-E264-ED8DFA8A15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2216" y="3011054"/>
            <a:ext cx="3598913" cy="3362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705404" y="3755261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999728" y="3570595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0" y="0"/>
            <a:ext cx="9144000" cy="330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E </a:t>
            </a:r>
            <a:r>
              <a:rPr lang="en-US" sz="1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(2</a:t>
            </a:r>
            <a:r>
              <a:rPr lang="en-US" sz="1200" b="1" baseline="30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US" sz="1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place)</a:t>
            </a:r>
            <a:endParaRPr sz="1200" dirty="0"/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$1 760 731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4 (day 37) → 5 (day 38) → 7 (day 41) → 8 (day 42) → 6 (day 70) → 5 (day 112) → 6 (day 149) → 7 (day 156) → 8 (day 157) → 9 (day 239) → 8 (day 323) → 6 (day 324) → 4 (day 334) → 3 (day 349) → 2 (day 353) → 1 (day 354)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2 (day 96) → 3 (day 208) → 2 (day 325) → 1 (day 343)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(no changes)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 90 % by day 20 but first add at day 37—should have added a 2nd machine around day 20 when 7-day avg util &gt; 90 %. Subsequent adds (37, 38, 41, 42, … 239) tracked demand well. Sell-offs from day 323 (util &lt; 70 %) could be moved earlier.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Added 2nd at day 96 (util ≈ 80 %), 3rd at day 208; sold back to one at day 343 (util &lt; 40 %).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Util stayed &lt; 70 % entire run; one machine sufficed.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Stayed on C1 (200 $/job) through day 52, switched to C3 (250 $/job) at day 52, and ran exclusively C3 until the final day switch to C1. No C2 usage.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 350 kits (≈ $35,000).</a:t>
            </a:r>
            <a:endParaRPr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B4637-F087-7D98-4A10-876C07028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066" y="4126723"/>
            <a:ext cx="3420363" cy="311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6C91A4-E3F1-1B64-9EB9-BA900C43EF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4820" y="3939927"/>
            <a:ext cx="3226181" cy="29175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3772040" y="548680"/>
            <a:ext cx="203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123728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156176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C9099-7020-0C02-EFFB-F34979D68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955" y="2656184"/>
            <a:ext cx="3875392" cy="3559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AA089-9999-F610-91C4-27375678C6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568" y="2730652"/>
            <a:ext cx="3770317" cy="34849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2052353" y="3857364"/>
            <a:ext cx="107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48" name="Google Shape;148;p20"/>
          <p:cNvSpPr txBox="1"/>
          <p:nvPr/>
        </p:nvSpPr>
        <p:spPr>
          <a:xfrm>
            <a:off x="6345289" y="3335120"/>
            <a:ext cx="99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49" name="Google Shape;149;p20"/>
          <p:cNvSpPr txBox="1"/>
          <p:nvPr/>
        </p:nvSpPr>
        <p:spPr>
          <a:xfrm>
            <a:off x="0" y="0"/>
            <a:ext cx="9144000" cy="382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80000"/>
              </a:lnSpc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F </a:t>
            </a: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(7</a:t>
            </a:r>
            <a:r>
              <a:rPr lang="en-US" sz="1200" b="1" baseline="30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place)</a:t>
            </a:r>
            <a:endParaRPr lang="en-US" sz="1200" dirty="0"/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$1,470,076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2 (33) → 4 (34) → 5 (87) → 6 (156) → 7 (188) → 8 (231) → 9 (292) → 7 (339) → 5 (340) → 3 (341) → 2 (344) → 1 (353)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2 (64) → 3 (275) → 2 (341) → 1 (342)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(no changes)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 90 % by day 20 but didn’t add until day 33—should have added a 2ⁿᵈ machine when 7-day avg util &gt; 90 % (~day 20). Subsequent adds (→4@34, →5@87, →6@156, →7@188, →8@231, →9@292) tracked peaks. Late sell-offs (→7@339, →5@340, →3@341, →2@344, →1@353) lagged 7-day avg util &lt; 70 %—trim earlier.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Added 2ⁿᵈ at day 64 (util ≈ 80 %), 3ʳᵈ at day 275; sold back to one at day 342 (util &lt; 40 %).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Util &lt; 70 % throughout; one machine sufficed.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Switched to C3 (\$250) by day 60 and ran mostly C3 through day 240. Shifted to C2 ($225) briefly around day 260 when queues spiked, then toggled C3/C2 late and ended on C2/C1 as capacity shrank.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Stockouts occurred around days 236–237, 261–262, 280–283, and 301–303.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 1,006 kits ($100,600)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92538-7FE5-9727-B0CA-4EED2084A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00304" y="3658886"/>
            <a:ext cx="3467100" cy="3172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2A6598-62C4-C302-6749-B03E75BC7D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4659" y="4226664"/>
            <a:ext cx="3281370" cy="30554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/>
        </p:nvSpPr>
        <p:spPr>
          <a:xfrm>
            <a:off x="3772040" y="548680"/>
            <a:ext cx="203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2123728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6156176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EA4DD-57E2-E298-94A0-EFEC60A220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789" y="2512867"/>
            <a:ext cx="3517473" cy="33060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CCF5A9-124A-7658-6DFD-ED18D487F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4272" y="2512866"/>
            <a:ext cx="3666104" cy="33891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13320194-5BE1-1EC5-2DC1-D713D42C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73E5CBCE-E624-39F7-8F56-82ED4738E0F6}"/>
              </a:ext>
            </a:extLst>
          </p:cNvPr>
          <p:cNvSpPr txBox="1"/>
          <p:nvPr/>
        </p:nvSpPr>
        <p:spPr>
          <a:xfrm>
            <a:off x="0" y="0"/>
            <a:ext cx="9144000" cy="425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80000"/>
              </a:lnSpc>
            </a:pPr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Team H 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(4</a:t>
            </a:r>
            <a:r>
              <a:rPr lang="en-US" sz="1200" b="1" baseline="30000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place)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Cash: $1,695,995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S1: 1 → 2 (day 32) → 6 (33) → 7 (129) → 8 (130) → 9 (264) → 8 (331) → 7 (332) → 6 (334) → 4 (335) → 3 (342) → 2 (350) → 1 (351)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S2: 1 → 2 (32) → 3 (154) → 1 (333)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S3: 1 → 2 (156) → 1 (294)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1. Capacity Management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S1: util &gt;90 % by day 20 but only added 2nd machine at day 32—should have added at 7-day avg util &gt;90 % (~day 20). Subsequent adds (→6@33,→7@129,→8@130,→9@264) tracked demand peaks. Sell-offs (→8@331,→7@332,→6@334,→4@335,→3@342,→2@350,→1@351) lagged 7-day avg util &lt;70 %—could trim earlier.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S2: added 2ⁿᵈ at day 32 (util≈80 %), 3ʳᵈ at day 154; sold back to one at day 333 (util &lt;40 %).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S3: util &lt;70 % until day 156; 2ⁿᵈ machine from day 156→294 was idle much of the time—could have skipped until util &gt;90 %.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2. Contract Strategy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C1→C3 at day 33 (switched to $250/job), held C3 until day 252.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C3→C2 at day 252 (switched to $225), then C2→C3 at day 266, C3→C2 at day 283, C2→C3 at day 293, C3→C2 at day 317, C2→C1 at day 322, and C1→C3 at day 328.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Early S1 under-capacity (days 1–32) forced some C3 orders into delays; later toggles between C2/C3 matched utilization swings.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3. Inventory Performance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Stockouts occurred around days 220–222, 253–255, 286–287, and 321–323—safety stock was too low for mid-run demand spikes.  </a:t>
            </a:r>
          </a:p>
          <a:p>
            <a:pPr lvl="0">
              <a:lnSpc>
                <a:spcPct val="80000"/>
              </a:lnSpc>
              <a:spcBef>
                <a:spcPts val="360"/>
              </a:spcBef>
              <a:buClr>
                <a:schemeClr val="lt2"/>
              </a:buClr>
              <a:buSzPts val="1350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 Leftover at day 360 ≈ 176 kits (~$17,600)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C8ECB-7793-1582-8CED-7222971D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2178" y="4038872"/>
            <a:ext cx="3065225" cy="2776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3A3619-B473-67B2-8930-D7EB2A92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3219" y="4298854"/>
            <a:ext cx="3240478" cy="3055479"/>
          </a:xfrm>
          <a:prstGeom prst="rect">
            <a:avLst/>
          </a:prstGeom>
        </p:spPr>
      </p:pic>
      <p:sp>
        <p:nvSpPr>
          <p:cNvPr id="2" name="Google Shape;183;p24">
            <a:extLst>
              <a:ext uri="{FF2B5EF4-FFF2-40B4-BE49-F238E27FC236}">
                <a16:creationId xmlns:a16="http://schemas.microsoft.com/office/drawing/2014/main" id="{A97B91A1-7674-25EB-EEAE-C14B2EA8E71F}"/>
              </a:ext>
            </a:extLst>
          </p:cNvPr>
          <p:cNvSpPr txBox="1"/>
          <p:nvPr/>
        </p:nvSpPr>
        <p:spPr>
          <a:xfrm>
            <a:off x="3492537" y="4038872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4" name="Google Shape;184;p24">
            <a:extLst>
              <a:ext uri="{FF2B5EF4-FFF2-40B4-BE49-F238E27FC236}">
                <a16:creationId xmlns:a16="http://schemas.microsoft.com/office/drawing/2014/main" id="{C253FAEB-0341-F3E9-44D0-253564191192}"/>
              </a:ext>
            </a:extLst>
          </p:cNvPr>
          <p:cNvSpPr txBox="1"/>
          <p:nvPr/>
        </p:nvSpPr>
        <p:spPr>
          <a:xfrm>
            <a:off x="7805281" y="3958450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88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E9570F1-C124-88D4-353D-54CD4D1B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407F1534-AA73-9AA9-26B4-FB17B94EC083}"/>
              </a:ext>
            </a:extLst>
          </p:cNvPr>
          <p:cNvSpPr txBox="1"/>
          <p:nvPr/>
        </p:nvSpPr>
        <p:spPr>
          <a:xfrm>
            <a:off x="3772040" y="548680"/>
            <a:ext cx="203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B5807E6B-1500-9939-F34B-909EAD7749D3}"/>
              </a:ext>
            </a:extLst>
          </p:cNvPr>
          <p:cNvSpPr txBox="1"/>
          <p:nvPr/>
        </p:nvSpPr>
        <p:spPr>
          <a:xfrm>
            <a:off x="2123728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58" name="Google Shape;158;p21">
            <a:extLst>
              <a:ext uri="{FF2B5EF4-FFF2-40B4-BE49-F238E27FC236}">
                <a16:creationId xmlns:a16="http://schemas.microsoft.com/office/drawing/2014/main" id="{1D267C79-3B58-DAD2-3C84-53B1C279ADA0}"/>
              </a:ext>
            </a:extLst>
          </p:cNvPr>
          <p:cNvSpPr txBox="1"/>
          <p:nvPr/>
        </p:nvSpPr>
        <p:spPr>
          <a:xfrm>
            <a:off x="6156176" y="1988840"/>
            <a:ext cx="101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7E51D-A776-3564-1E98-799DE7D8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820" y="2512867"/>
            <a:ext cx="3551411" cy="33060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82D985-4834-C404-235F-054BF3311E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68314" y="2512866"/>
            <a:ext cx="3718019" cy="338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323528" y="764704"/>
            <a:ext cx="8496944" cy="3168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TA1 (Passive… 1-day contract at peak )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$ 1,869,694</a:t>
            </a:r>
          </a:p>
          <a:p>
            <a:pPr marL="342900" lvl="0" indent="-342900">
              <a:lnSpc>
                <a:spcPct val="80000"/>
              </a:lnSpc>
              <a:spcBef>
                <a:spcPts val="400"/>
              </a:spcBef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5 (day 37)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7(62) </a:t>
            </a:r>
            <a:r>
              <a:rPr lang="en-US" altLang="zh-CN" sz="2000" dirty="0"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1(356)</a:t>
            </a:r>
          </a:p>
          <a:p>
            <a:pPr marL="342900" lvl="0" indent="-342900">
              <a:lnSpc>
                <a:spcPct val="80000"/>
              </a:lnSpc>
              <a:spcBef>
                <a:spcPts val="400"/>
              </a:spcBef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2(day 50)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1(357)</a:t>
            </a:r>
          </a:p>
          <a:p>
            <a:pPr marL="457200" marR="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D201E-B13E-F319-49FE-3A167FB82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6557" y="2800996"/>
            <a:ext cx="3546054" cy="329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E610C-96CF-430E-7FD8-3B43349193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9717" y="2561649"/>
            <a:ext cx="4700207" cy="4296351"/>
          </a:xfrm>
          <a:prstGeom prst="rect">
            <a:avLst/>
          </a:prstGeom>
        </p:spPr>
      </p:pic>
      <p:sp>
        <p:nvSpPr>
          <p:cNvPr id="8" name="Google Shape;276;p34">
            <a:extLst>
              <a:ext uri="{FF2B5EF4-FFF2-40B4-BE49-F238E27FC236}">
                <a16:creationId xmlns:a16="http://schemas.microsoft.com/office/drawing/2014/main" id="{6E0F8C8C-A235-7E61-AAAB-5824B52E3F02}"/>
              </a:ext>
            </a:extLst>
          </p:cNvPr>
          <p:cNvSpPr txBox="1"/>
          <p:nvPr/>
        </p:nvSpPr>
        <p:spPr>
          <a:xfrm>
            <a:off x="1823653" y="2431664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9" name="Google Shape;277;p34">
            <a:extLst>
              <a:ext uri="{FF2B5EF4-FFF2-40B4-BE49-F238E27FC236}">
                <a16:creationId xmlns:a16="http://schemas.microsoft.com/office/drawing/2014/main" id="{058C5FD4-B796-07A8-77DC-927FBDD0F596}"/>
              </a:ext>
            </a:extLst>
          </p:cNvPr>
          <p:cNvSpPr txBox="1"/>
          <p:nvPr/>
        </p:nvSpPr>
        <p:spPr>
          <a:xfrm>
            <a:off x="6398572" y="1985043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6956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2123728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 dirty="0"/>
          </a:p>
        </p:txBody>
      </p:sp>
      <p:sp>
        <p:nvSpPr>
          <p:cNvPr id="248" name="Google Shape;248;p31"/>
          <p:cNvSpPr txBox="1"/>
          <p:nvPr/>
        </p:nvSpPr>
        <p:spPr>
          <a:xfrm>
            <a:off x="6156176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99063-D763-0E30-4E4B-66F993A6D3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415" y="2638924"/>
            <a:ext cx="3726068" cy="343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0E650-2841-CDE5-4739-1A9B9332F9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7413" y="2708060"/>
            <a:ext cx="3530692" cy="329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5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323528" y="764704"/>
            <a:ext cx="8496944" cy="3168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TA2 (Aggressive--- 6 hour contract all the way through)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$ 1,893,477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5(day 30)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9(63)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6(340) </a:t>
            </a:r>
            <a:r>
              <a:rPr lang="en-US" altLang="zh-CN" sz="2000" dirty="0"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4(349)</a:t>
            </a:r>
            <a:r>
              <a:rPr lang="en-US" altLang="zh-CN" sz="2000" dirty="0">
                <a:sym typeface="Wingdings" pitchFamily="2" charset="2"/>
              </a:rPr>
              <a:t> 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1(353)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  <a:spcBef>
                <a:spcPts val="400"/>
              </a:spcBef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2(day 58)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3(97)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2(342)</a:t>
            </a:r>
            <a:r>
              <a:rPr lang="en-US" altLang="zh-CN" sz="2000" dirty="0">
                <a:sym typeface="Wingdings" pitchFamily="2" charset="2"/>
              </a:rPr>
              <a:t> 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1(350)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BC657-D668-4534-FE5F-DD6CF7A5A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192" y="2802672"/>
            <a:ext cx="3752166" cy="3445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B489FD-5258-D2FD-40AC-609E914A67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7423" y="2588320"/>
            <a:ext cx="4571088" cy="4117280"/>
          </a:xfrm>
          <a:prstGeom prst="rect">
            <a:avLst/>
          </a:prstGeom>
        </p:spPr>
      </p:pic>
      <p:sp>
        <p:nvSpPr>
          <p:cNvPr id="10" name="Google Shape;276;p34">
            <a:extLst>
              <a:ext uri="{FF2B5EF4-FFF2-40B4-BE49-F238E27FC236}">
                <a16:creationId xmlns:a16="http://schemas.microsoft.com/office/drawing/2014/main" id="{B391E0A8-F4BC-7007-49EE-2C34A94E9CB5}"/>
              </a:ext>
            </a:extLst>
          </p:cNvPr>
          <p:cNvSpPr txBox="1"/>
          <p:nvPr/>
        </p:nvSpPr>
        <p:spPr>
          <a:xfrm>
            <a:off x="2117942" y="2438780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1" name="Google Shape;277;p34">
            <a:extLst>
              <a:ext uri="{FF2B5EF4-FFF2-40B4-BE49-F238E27FC236}">
                <a16:creationId xmlns:a16="http://schemas.microsoft.com/office/drawing/2014/main" id="{8C339A68-99FC-A134-4727-1F9D8DF749E9}"/>
              </a:ext>
            </a:extLst>
          </p:cNvPr>
          <p:cNvSpPr txBox="1"/>
          <p:nvPr/>
        </p:nvSpPr>
        <p:spPr>
          <a:xfrm>
            <a:off x="6398572" y="1985043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563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2123728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 dirty="0"/>
          </a:p>
        </p:txBody>
      </p:sp>
      <p:sp>
        <p:nvSpPr>
          <p:cNvPr id="248" name="Google Shape;248;p31"/>
          <p:cNvSpPr txBox="1"/>
          <p:nvPr/>
        </p:nvSpPr>
        <p:spPr>
          <a:xfrm>
            <a:off x="6156176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86556D-50FC-FB13-3313-EFFCF2F1C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814" y="2766677"/>
            <a:ext cx="3837863" cy="3542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1DD85F-2D32-D67F-F022-800A4016E0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2687" y="3012356"/>
            <a:ext cx="3572244" cy="329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34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/>
        </p:nvSpPr>
        <p:spPr>
          <a:xfrm>
            <a:off x="228600" y="404664"/>
            <a:ext cx="8591872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Nothing TEAM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$ 260,812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2117942" y="2438780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277" name="Google Shape;277;p34"/>
          <p:cNvSpPr txBox="1"/>
          <p:nvPr/>
        </p:nvSpPr>
        <p:spPr>
          <a:xfrm>
            <a:off x="6398572" y="1985043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pic>
        <p:nvPicPr>
          <p:cNvPr id="3" name="Picture 2" descr="A graph with green lines&#10;&#10;Description automatically generated">
            <a:extLst>
              <a:ext uri="{FF2B5EF4-FFF2-40B4-BE49-F238E27FC236}">
                <a16:creationId xmlns:a16="http://schemas.microsoft.com/office/drawing/2014/main" id="{17D0DEDB-905B-97C3-B1B7-E86073C7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6379"/>
            <a:ext cx="4405187" cy="3500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C9458-3955-5EBD-58F0-AD1362F5A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650" y="3409950"/>
            <a:ext cx="12700" cy="3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71ECA-C8CD-5F2B-6290-14D604F96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3327400"/>
            <a:ext cx="190500" cy="203200"/>
          </a:xfrm>
          <a:prstGeom prst="rect">
            <a:avLst/>
          </a:prstGeom>
        </p:spPr>
      </p:pic>
      <p:pic>
        <p:nvPicPr>
          <p:cNvPr id="15" name="Picture 14" descr="A screenshot of a graph&#10;&#10;Description automatically generated">
            <a:extLst>
              <a:ext uri="{FF2B5EF4-FFF2-40B4-BE49-F238E27FC236}">
                <a16:creationId xmlns:a16="http://schemas.microsoft.com/office/drawing/2014/main" id="{F75967E9-8AF6-1D2E-6AD4-B767CC4C7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187" y="2354375"/>
            <a:ext cx="4760728" cy="44631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/>
        </p:nvSpPr>
        <p:spPr>
          <a:xfrm>
            <a:off x="3772040" y="548680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2123728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286" name="Google Shape;286;p35"/>
          <p:cNvSpPr txBox="1"/>
          <p:nvPr/>
        </p:nvSpPr>
        <p:spPr>
          <a:xfrm>
            <a:off x="6156176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3" name="Picture 2" descr="A graph with green lines&#10;&#10;Description automatically generated">
            <a:extLst>
              <a:ext uri="{FF2B5EF4-FFF2-40B4-BE49-F238E27FC236}">
                <a16:creationId xmlns:a16="http://schemas.microsoft.com/office/drawing/2014/main" id="{737FA57A-B73D-6C81-C14C-E30C1F206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8015"/>
            <a:ext cx="4637817" cy="3654534"/>
          </a:xfrm>
          <a:prstGeom prst="rect">
            <a:avLst/>
          </a:prstGeom>
        </p:spPr>
      </p:pic>
      <p:pic>
        <p:nvPicPr>
          <p:cNvPr id="5" name="Picture 4" descr="A graph with green line&#10;&#10;Description automatically generated">
            <a:extLst>
              <a:ext uri="{FF2B5EF4-FFF2-40B4-BE49-F238E27FC236}">
                <a16:creationId xmlns:a16="http://schemas.microsoft.com/office/drawing/2014/main" id="{5BAB6D9F-1741-A77E-2A73-2A5F3C45B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334" y="3032475"/>
            <a:ext cx="4476542" cy="3536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2288</Words>
  <Application>Microsoft Office PowerPoint</Application>
  <PresentationFormat>On-screen Show (4:3)</PresentationFormat>
  <Paragraphs>187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Arial</vt:lpstr>
      <vt:lpstr>Noto Sans Symbols</vt:lpstr>
      <vt:lpstr>Calibri</vt:lpstr>
      <vt:lpstr>Arial Black</vt:lpstr>
      <vt:lpstr>Office 主题</vt:lpstr>
      <vt:lpstr>  EMBA 756 Class 60 Littlefield Labs: Team Performance  May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OMM 756  EMBA 57 Littlefield Labs: Team Performance  May 2022</dc:title>
  <dc:creator>Panos Kouvelis</dc:creator>
  <cp:lastModifiedBy>Kouvelis, Panos</cp:lastModifiedBy>
  <cp:revision>63</cp:revision>
  <dcterms:modified xsi:type="dcterms:W3CDTF">2025-05-31T16:15:50Z</dcterms:modified>
</cp:coreProperties>
</file>