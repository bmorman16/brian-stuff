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256" r:id="rId2"/>
    <p:sldId id="291" r:id="rId3"/>
    <p:sldId id="299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3" r:id="rId23"/>
    <p:sldId id="314" r:id="rId24"/>
    <p:sldId id="315" r:id="rId25"/>
    <p:sldId id="316" r:id="rId26"/>
    <p:sldId id="317" r:id="rId27"/>
    <p:sldId id="319" r:id="rId28"/>
    <p:sldId id="318" r:id="rId29"/>
    <p:sldId id="369" r:id="rId30"/>
    <p:sldId id="323" r:id="rId31"/>
    <p:sldId id="322" r:id="rId32"/>
    <p:sldId id="327" r:id="rId33"/>
    <p:sldId id="321" r:id="rId34"/>
    <p:sldId id="324" r:id="rId35"/>
    <p:sldId id="325" r:id="rId36"/>
    <p:sldId id="326" r:id="rId37"/>
    <p:sldId id="328" r:id="rId38"/>
    <p:sldId id="336" r:id="rId39"/>
    <p:sldId id="329" r:id="rId40"/>
    <p:sldId id="331" r:id="rId41"/>
    <p:sldId id="332" r:id="rId42"/>
    <p:sldId id="330" r:id="rId43"/>
    <p:sldId id="371" r:id="rId44"/>
    <p:sldId id="334" r:id="rId45"/>
    <p:sldId id="370" r:id="rId46"/>
    <p:sldId id="335" r:id="rId47"/>
    <p:sldId id="339" r:id="rId48"/>
    <p:sldId id="337" r:id="rId49"/>
    <p:sldId id="338" r:id="rId50"/>
    <p:sldId id="340" r:id="rId51"/>
    <p:sldId id="341" r:id="rId52"/>
    <p:sldId id="343" r:id="rId53"/>
    <p:sldId id="344" r:id="rId54"/>
    <p:sldId id="345" r:id="rId55"/>
    <p:sldId id="347" r:id="rId56"/>
    <p:sldId id="348" r:id="rId57"/>
    <p:sldId id="349" r:id="rId58"/>
    <p:sldId id="350" r:id="rId59"/>
    <p:sldId id="351" r:id="rId60"/>
    <p:sldId id="356" r:id="rId61"/>
    <p:sldId id="352" r:id="rId62"/>
    <p:sldId id="357" r:id="rId63"/>
    <p:sldId id="358" r:id="rId64"/>
    <p:sldId id="368" r:id="rId65"/>
    <p:sldId id="359" r:id="rId66"/>
    <p:sldId id="360" r:id="rId67"/>
    <p:sldId id="374" r:id="rId68"/>
    <p:sldId id="375" r:id="rId69"/>
    <p:sldId id="361" r:id="rId70"/>
    <p:sldId id="366" r:id="rId71"/>
    <p:sldId id="362" r:id="rId72"/>
    <p:sldId id="363" r:id="rId73"/>
    <p:sldId id="364" r:id="rId74"/>
    <p:sldId id="365" r:id="rId75"/>
    <p:sldId id="367" r:id="rId7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84"/>
    <a:srgbClr val="005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9"/>
    <p:restoredTop sz="94653"/>
  </p:normalViewPr>
  <p:slideViewPr>
    <p:cSldViewPr snapToGrid="0" snapToObjects="1">
      <p:cViewPr varScale="1">
        <p:scale>
          <a:sx n="97" d="100"/>
          <a:sy n="97" d="100"/>
        </p:scale>
        <p:origin x="4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3DE5885-7BBB-49BE-BB41-D03A1B349E4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CD83525-344C-4C37-93AC-FB9E71821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14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AF4614E-F47C-4132-B04F-3A250E82180C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980E98D-3433-44BA-8442-D1A4793F0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03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division of market into DISTINCT GROUP OF POTENTIAL BUYERS </a:t>
            </a:r>
          </a:p>
          <a:p>
            <a:r>
              <a:rPr lang="en-US" dirty="0"/>
              <a:t>who have similar needs and wants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FF317-D40F-46DB-8ED9-E6804638146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62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else does this?</a:t>
            </a:r>
          </a:p>
          <a:p>
            <a:r>
              <a:rPr lang="en-US" dirty="0"/>
              <a:t>Express, </a:t>
            </a:r>
            <a:r>
              <a:rPr lang="en-US" dirty="0" err="1"/>
              <a:t>ExpressMen</a:t>
            </a:r>
            <a:r>
              <a:rPr lang="en-US" dirty="0"/>
              <a:t>, and Limited</a:t>
            </a:r>
          </a:p>
          <a:p>
            <a:r>
              <a:rPr lang="en-US" dirty="0"/>
              <a:t>Abercrombie, Abercrombie and Fitch, and Hollister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FF317-D40F-46DB-8ED9-E6804638146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72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FF317-D40F-46DB-8ED9-E6804638146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0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44424D-2186-CF4E-8F47-AF5FA38F1B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84" y="0"/>
            <a:ext cx="121802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E28577-9046-344D-B85F-A65196B71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7888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52161-B3CD-2545-A6B7-3BCB759AD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6756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1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E57A140-CF2E-A348-BA59-0AB47FE401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0232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C9CBB4-B511-5549-AA64-1BD13B22BC13}"/>
              </a:ext>
            </a:extLst>
          </p:cNvPr>
          <p:cNvSpPr txBox="1">
            <a:spLocks/>
          </p:cNvSpPr>
          <p:nvPr userDrawn="1"/>
        </p:nvSpPr>
        <p:spPr>
          <a:xfrm>
            <a:off x="1299882" y="1120588"/>
            <a:ext cx="4087906" cy="290456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11E3CB-F9E9-2746-841A-D16F6324B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574" y="4096871"/>
            <a:ext cx="3792539" cy="1676399"/>
          </a:xfrm>
        </p:spPr>
        <p:txBody>
          <a:bodyPr/>
          <a:lstStyle>
            <a:lvl1pPr marL="0" indent="0" algn="l">
              <a:buNone/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F60CD8B-0C19-3B4E-996B-D29D2D4604E8}"/>
              </a:ext>
            </a:extLst>
          </p:cNvPr>
          <p:cNvSpPr txBox="1">
            <a:spLocks/>
          </p:cNvSpPr>
          <p:nvPr userDrawn="1"/>
        </p:nvSpPr>
        <p:spPr>
          <a:xfrm>
            <a:off x="861648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0F0F11-6E14-1E48-AC78-B688258D8A5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2AC2B-744B-DC43-872B-636D1F00D2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5575" y="1120588"/>
            <a:ext cx="3792538" cy="2805300"/>
          </a:xfrm>
        </p:spPr>
        <p:txBody>
          <a:bodyPr/>
          <a:lstStyle>
            <a:lvl1pPr>
              <a:defRPr b="0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53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35C38B0-B21A-3E4C-89F7-A7494D054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93A9897-A6C3-FD4E-8599-BA5561AC569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52499" y="2151529"/>
            <a:ext cx="10468535" cy="3774142"/>
          </a:xfrm>
        </p:spPr>
        <p:txBody>
          <a:bodyPr/>
          <a:lstStyle>
            <a:lvl2pPr>
              <a:defRPr sz="4000"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 sz="4000"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 sz="4000"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 sz="4000"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E40B4DF-2AEF-9E4C-B88E-A29EB2BA0BC0}"/>
              </a:ext>
            </a:extLst>
          </p:cNvPr>
          <p:cNvSpPr txBox="1">
            <a:spLocks/>
          </p:cNvSpPr>
          <p:nvPr userDrawn="1"/>
        </p:nvSpPr>
        <p:spPr>
          <a:xfrm>
            <a:off x="838200" y="188258"/>
            <a:ext cx="10515600" cy="519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2AAB8A-82EC-5A4F-907D-2C002AF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40658"/>
            <a:ext cx="10515600" cy="51995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678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933DD7-45EC-8E40-8B52-60947A8E0C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2DC22F-528A-1942-B791-75CD5530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A394B0-5667-9441-B53B-67D8C1668EC4}"/>
              </a:ext>
            </a:extLst>
          </p:cNvPr>
          <p:cNvSpPr txBox="1">
            <a:spLocks/>
          </p:cNvSpPr>
          <p:nvPr userDrawn="1"/>
        </p:nvSpPr>
        <p:spPr>
          <a:xfrm>
            <a:off x="952499" y="2900897"/>
            <a:ext cx="9401735" cy="88220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D6D84-FE27-F24E-A9C2-450D12788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967318"/>
            <a:ext cx="10058399" cy="932330"/>
          </a:xfrm>
        </p:spPr>
        <p:txBody>
          <a:bodyPr>
            <a:normAutofit/>
          </a:bodyPr>
          <a:lstStyle>
            <a:lvl1pPr>
              <a:defRPr sz="6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490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933DD7-45EC-8E40-8B52-60947A8E0C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2DC22F-528A-1942-B791-75CD5530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EA1A13-3360-0248-91B0-0A5C06BE898D}"/>
              </a:ext>
            </a:extLst>
          </p:cNvPr>
          <p:cNvSpPr/>
          <p:nvPr userDrawn="1"/>
        </p:nvSpPr>
        <p:spPr>
          <a:xfrm>
            <a:off x="1102659" y="2038663"/>
            <a:ext cx="502024" cy="2793314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A394B0-5667-9441-B53B-67D8C1668EC4}"/>
              </a:ext>
            </a:extLst>
          </p:cNvPr>
          <p:cNvSpPr txBox="1">
            <a:spLocks/>
          </p:cNvSpPr>
          <p:nvPr userDrawn="1"/>
        </p:nvSpPr>
        <p:spPr>
          <a:xfrm>
            <a:off x="0" y="2900897"/>
            <a:ext cx="12191999" cy="88220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  <a:cs typeface="+mj-cs"/>
              </a:defRPr>
            </a:lvl1pPr>
          </a:lstStyle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05758-C0B8-1E4C-8F44-913E14FCB6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900896"/>
            <a:ext cx="12192000" cy="1626653"/>
          </a:xfrm>
        </p:spPr>
        <p:txBody>
          <a:bodyPr>
            <a:normAutofit/>
          </a:bodyPr>
          <a:lstStyle>
            <a:lvl1pPr algn="ctr">
              <a:defRPr sz="6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8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1CD3FA-4686-FB4D-8AD9-9BC495C9A3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02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88FF45-EA1E-B04E-815B-323B8EB4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83758F-59DC-DE4B-90CE-877DC2729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0E0F0F11-6E14-1E48-AC78-B688258D8A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8078E-8EAA-5B47-A6C1-396CF782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D9F99F-6682-ED40-8C81-3F52BDB99ADA}"/>
              </a:ext>
            </a:extLst>
          </p:cNvPr>
          <p:cNvSpPr txBox="1">
            <a:spLocks/>
          </p:cNvSpPr>
          <p:nvPr userDrawn="1"/>
        </p:nvSpPr>
        <p:spPr>
          <a:xfrm>
            <a:off x="952499" y="2900897"/>
            <a:ext cx="9401735" cy="88220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CF88D6-10D4-DD4E-9A24-C8227DCA4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1" y="2510118"/>
            <a:ext cx="10394950" cy="2169832"/>
          </a:xfrm>
        </p:spPr>
        <p:txBody>
          <a:bodyPr>
            <a:normAutofit/>
          </a:bodyPr>
          <a:lstStyle>
            <a:lvl1pPr>
              <a:defRPr sz="6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54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1CD3FA-4686-FB4D-8AD9-9BC495C9A3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02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88FF45-EA1E-B04E-815B-323B8EB4E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935"/>
            <a:ext cx="10515600" cy="4923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83758F-59DC-DE4B-90CE-877DC2729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0E0F0F11-6E14-1E48-AC78-B688258D8A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8078E-8EAA-5B47-A6C1-396CF782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D9F99F-6682-ED40-8C81-3F52BDB99ADA}"/>
              </a:ext>
            </a:extLst>
          </p:cNvPr>
          <p:cNvSpPr txBox="1">
            <a:spLocks/>
          </p:cNvSpPr>
          <p:nvPr userDrawn="1"/>
        </p:nvSpPr>
        <p:spPr>
          <a:xfrm>
            <a:off x="0" y="2384612"/>
            <a:ext cx="12180231" cy="139849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  <a:cs typeface="+mj-cs"/>
              </a:defRPr>
            </a:lvl1pPr>
          </a:lstStyle>
          <a:p>
            <a:pPr algn="ctr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9ECB9D-D28E-8043-AC06-D7961E591F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2501900"/>
            <a:ext cx="12180888" cy="2070100"/>
          </a:xfrm>
        </p:spPr>
        <p:txBody>
          <a:bodyPr>
            <a:normAutofit/>
          </a:bodyPr>
          <a:lstStyle>
            <a:lvl1pPr algn="ctr">
              <a:defRPr sz="6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12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13D755B-B208-7949-AE5E-61F7AA27C1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93"/>
            <a:ext cx="12192000" cy="68646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6BBC9F-F026-124D-9A11-32E1ACD9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BD6A03-7E60-7B49-B2CB-3E741CEE1D3C}"/>
              </a:ext>
            </a:extLst>
          </p:cNvPr>
          <p:cNvSpPr/>
          <p:nvPr userDrawn="1"/>
        </p:nvSpPr>
        <p:spPr>
          <a:xfrm>
            <a:off x="7064188" y="897262"/>
            <a:ext cx="502024" cy="563800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FF951-26FD-CD44-B135-AB7721617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10515600" cy="49958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220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597A3E-D55E-BE40-B62F-218F48C47A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0232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0FAC3C-E7C8-A54E-9D62-C88F1AD189E3}"/>
              </a:ext>
            </a:extLst>
          </p:cNvPr>
          <p:cNvSpPr/>
          <p:nvPr userDrawn="1"/>
        </p:nvSpPr>
        <p:spPr>
          <a:xfrm>
            <a:off x="7270376" y="770965"/>
            <a:ext cx="681318" cy="4625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C90AB65-431F-6B43-B2B6-525A3A7AF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878541"/>
            <a:ext cx="10514011" cy="4616824"/>
          </a:xfrm>
        </p:spPr>
        <p:txBody>
          <a:bodyPr/>
          <a:lstStyle>
            <a:lvl1pPr>
              <a:defRPr>
                <a:solidFill>
                  <a:srgbClr val="005E84"/>
                </a:solidFill>
              </a:defRPr>
            </a:lvl1pPr>
            <a:lvl2pPr>
              <a:defRPr>
                <a:solidFill>
                  <a:srgbClr val="005E84"/>
                </a:solidFill>
              </a:defRPr>
            </a:lvl2pPr>
            <a:lvl3pPr>
              <a:defRPr>
                <a:solidFill>
                  <a:srgbClr val="005E84"/>
                </a:solidFill>
              </a:defRPr>
            </a:lvl3pPr>
            <a:lvl4pPr>
              <a:defRPr>
                <a:solidFill>
                  <a:srgbClr val="005E84"/>
                </a:solidFill>
              </a:defRPr>
            </a:lvl4pPr>
            <a:lvl5pPr>
              <a:defRPr>
                <a:solidFill>
                  <a:srgbClr val="005E84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63157EF-B5FF-D04D-85FA-6240E7480D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9BA0AD-E45B-744A-B031-2E6635B47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0E0F0F11-6E14-1E48-AC78-B688258D8A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C5ECE-3404-254E-B435-72C19F2B3A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5225" y="5800164"/>
            <a:ext cx="10188574" cy="47512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21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0B341-EFEB-5C44-8525-2B11D6A4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5102C-BC49-1947-BC1C-79BCAFED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7F908-A793-654F-9417-C751A417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0E0F0F11-6E14-1E48-AC78-B688258D8A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2FC92BF-1099-9C45-8408-28D4987FFF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2500" y="1103313"/>
            <a:ext cx="5905500" cy="423068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EDB830-9BA1-AD49-A4D1-34B1B341A4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5503863"/>
            <a:ext cx="5905500" cy="601662"/>
          </a:xfrm>
        </p:spPr>
        <p:txBody>
          <a:bodyPr>
            <a:noAutofit/>
          </a:bodyPr>
          <a:lstStyle>
            <a:lvl1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77971F-B08B-5049-B710-B235E749F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5528" y="1103314"/>
            <a:ext cx="3868271" cy="507365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796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289E2D-338C-DF49-980C-810526172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0232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0D48D8E-DBAA-7F4B-8136-1DA1F8917A00}"/>
              </a:ext>
            </a:extLst>
          </p:cNvPr>
          <p:cNvSpPr txBox="1">
            <a:spLocks/>
          </p:cNvSpPr>
          <p:nvPr userDrawn="1"/>
        </p:nvSpPr>
        <p:spPr>
          <a:xfrm>
            <a:off x="1228164" y="5827432"/>
            <a:ext cx="10125635" cy="519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6BD522D-A6F3-5C4C-9474-7E386B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42047"/>
            <a:ext cx="7826188" cy="535192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D799F93-4968-1D48-89A7-B0C52895CF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6A057AD-F62B-C943-A5B3-4ECBEB3D61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F0F11-6E14-1E48-AC78-B688258D8A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B28A5-1E66-F247-A6EB-CF1FC7E409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8165" y="5755341"/>
            <a:ext cx="10031974" cy="591484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74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E0196F-D4B3-714B-B8F2-EF307FC179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02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2DC22F-528A-1942-B791-75CD5530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A394B0-5667-9441-B53B-67D8C1668EC4}"/>
              </a:ext>
            </a:extLst>
          </p:cNvPr>
          <p:cNvSpPr txBox="1">
            <a:spLocks/>
          </p:cNvSpPr>
          <p:nvPr userDrawn="1"/>
        </p:nvSpPr>
        <p:spPr>
          <a:xfrm>
            <a:off x="952499" y="2900897"/>
            <a:ext cx="10181666" cy="88220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  <a:cs typeface="+mj-cs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3FE5D-FDCC-6E46-B267-564B0108A3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519363"/>
            <a:ext cx="10515600" cy="2760662"/>
          </a:xfrm>
        </p:spPr>
        <p:txBody>
          <a:bodyPr>
            <a:normAutofit/>
          </a:bodyPr>
          <a:lstStyle>
            <a:lvl1pPr algn="r">
              <a:defRPr sz="6000" b="1" i="0"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61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289E2D-338C-DF49-980C-810526172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0232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0D48D8E-DBAA-7F4B-8136-1DA1F8917A00}"/>
              </a:ext>
            </a:extLst>
          </p:cNvPr>
          <p:cNvSpPr txBox="1">
            <a:spLocks/>
          </p:cNvSpPr>
          <p:nvPr userDrawn="1"/>
        </p:nvSpPr>
        <p:spPr>
          <a:xfrm>
            <a:off x="1228164" y="5827432"/>
            <a:ext cx="10125635" cy="519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6BD522D-A6F3-5C4C-9474-7E386B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42047"/>
            <a:ext cx="7826188" cy="535192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D799F93-4968-1D48-89A7-B0C52895CF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6A057AD-F62B-C943-A5B3-4ECBEB3D61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F0F11-6E14-1E48-AC78-B688258D8A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8E1CC-D129-7A45-B5CF-067E299D73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8164" y="5827713"/>
            <a:ext cx="7306236" cy="51967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89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0B341-EFEB-5C44-8525-2B11D6A4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5102C-BC49-1947-BC1C-79BCAFED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7F908-A793-654F-9417-C751A417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0E0F0F11-6E14-1E48-AC78-B688258D8A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2FC92BF-1099-9C45-8408-28D4987FFF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2500" y="1103313"/>
            <a:ext cx="5905500" cy="42306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EDB830-9BA1-AD49-A4D1-34B1B341A4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5503863"/>
            <a:ext cx="5905500" cy="601662"/>
          </a:xfrm>
        </p:spPr>
        <p:txBody>
          <a:bodyPr>
            <a:noAutofit/>
          </a:bodyPr>
          <a:lstStyle>
            <a:lvl1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13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327863-3334-8A45-BA7B-1C4239B00A96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12180232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17197B-C934-8D4A-AEAE-BA7F6FFA4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258"/>
            <a:ext cx="10515600" cy="519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5030C-54AB-3B4C-B1A1-F4DAA502D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1100"/>
            <a:ext cx="105156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D0C57-0AEB-5846-8E36-964188DB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0E0F0F11-6E14-1E48-AC78-B688258D8A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2E39BA0-5BD3-1447-B8F6-761458A2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74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7" r:id="rId3"/>
    <p:sldLayoutId id="2147483658" r:id="rId4"/>
    <p:sldLayoutId id="2147483672" r:id="rId5"/>
    <p:sldLayoutId id="2147483667" r:id="rId6"/>
    <p:sldLayoutId id="2147483671" r:id="rId7"/>
    <p:sldLayoutId id="2147483668" r:id="rId8"/>
    <p:sldLayoutId id="2147483669" r:id="rId9"/>
    <p:sldLayoutId id="2147483670" r:id="rId10"/>
    <p:sldLayoutId id="2147483656" r:id="rId11"/>
    <p:sldLayoutId id="2147483666" r:id="rId12"/>
    <p:sldLayoutId id="2147483665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4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" userDrawn="1">
          <p15:clr>
            <a:srgbClr val="F26B43"/>
          </p15:clr>
        </p15:guide>
        <p15:guide id="2" pos="600" userDrawn="1">
          <p15:clr>
            <a:srgbClr val="F26B43"/>
          </p15:clr>
        </p15:guide>
        <p15:guide id="3" pos="1032" userDrawn="1">
          <p15:clr>
            <a:srgbClr val="F26B43"/>
          </p15:clr>
        </p15:guide>
        <p15:guide id="4" orient="horz" pos="1080" userDrawn="1">
          <p15:clr>
            <a:srgbClr val="F26B43"/>
          </p15:clr>
        </p15:guide>
        <p15:guide id="5" orient="horz" pos="744" userDrawn="1">
          <p15:clr>
            <a:srgbClr val="F26B43"/>
          </p15:clr>
        </p15:guide>
        <p15:guide id="6" pos="4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sepurahome.com/" TargetMode="Externa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sepurahome.com/" TargetMode="Externa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sepurahome.com/" TargetMode="Externa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sepurahome.com/" TargetMode="Externa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gasA3n22yg" TargetMode="External"/><Relationship Id="rId2" Type="http://schemas.openxmlformats.org/officeDocument/2006/relationships/hyperlink" Target="https://www.youtube.com/watch?v=0WtPp_lo-t4" TargetMode="Externa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eEG5LVXdKo" TargetMode="Externa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ytwo.com/" TargetMode="Externa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980F-30B0-584E-AD8B-2D09D91F0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5132"/>
            <a:ext cx="9144000" cy="2387600"/>
          </a:xfrm>
        </p:spPr>
        <p:txBody>
          <a:bodyPr/>
          <a:lstStyle/>
          <a:p>
            <a:r>
              <a:rPr lang="en-US" dirty="0"/>
              <a:t>Market and </a:t>
            </a:r>
            <a:br>
              <a:rPr lang="en-US" dirty="0"/>
            </a:br>
            <a:r>
              <a:rPr lang="en-US" dirty="0"/>
              <a:t>Customer Focus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64C13-89AB-B44D-A636-4661D0AF2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55581"/>
            <a:ext cx="9144000" cy="1655762"/>
          </a:xfrm>
        </p:spPr>
        <p:txBody>
          <a:bodyPr/>
          <a:lstStyle/>
          <a:p>
            <a:r>
              <a:rPr lang="en-US" dirty="0"/>
              <a:t>Robyn LeBoeuf, PhD</a:t>
            </a:r>
          </a:p>
        </p:txBody>
      </p:sp>
    </p:spTree>
    <p:extLst>
      <p:ext uri="{BB962C8B-B14F-4D97-AF65-F5344CB8AC3E}">
        <p14:creationId xmlns:p14="http://schemas.microsoft.com/office/powerpoint/2010/main" val="4176840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Introduction:</a:t>
            </a:r>
          </a:p>
          <a:p>
            <a:r>
              <a:rPr lang="en-US" dirty="0"/>
              <a:t>	Who am I?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marketing?</a:t>
            </a:r>
          </a:p>
          <a:p>
            <a:r>
              <a:rPr lang="en-US" dirty="0"/>
              <a:t>	Course / syllabus overview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Case: Barbie</a:t>
            </a:r>
          </a:p>
          <a:p>
            <a:r>
              <a:rPr lang="en-US" dirty="0"/>
              <a:t>Segmentation, Targeting, and Positioning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Case: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DayTwo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Marketing plan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87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E720-E584-F845-B416-B16CF792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39D9-A784-B446-918F-70AD3B3EC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0" dirty="0"/>
              <a:t>Who am I?</a:t>
            </a:r>
          </a:p>
        </p:txBody>
      </p:sp>
    </p:spTree>
    <p:extLst>
      <p:ext uri="{BB962C8B-B14F-4D97-AF65-F5344CB8AC3E}">
        <p14:creationId xmlns:p14="http://schemas.microsoft.com/office/powerpoint/2010/main" val="140633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Robyn LeBoeuf</a:t>
            </a:r>
          </a:p>
          <a:p>
            <a:r>
              <a:rPr lang="en-US" dirty="0"/>
              <a:t>	Professor of Marketing</a:t>
            </a:r>
          </a:p>
          <a:p>
            <a:r>
              <a:rPr lang="en-US" dirty="0"/>
              <a:t>	Born in Louisiana</a:t>
            </a:r>
          </a:p>
          <a:p>
            <a:r>
              <a:rPr lang="en-US" dirty="0"/>
              <a:t>	PhD, Princeton University, 2002</a:t>
            </a:r>
          </a:p>
          <a:p>
            <a:r>
              <a:rPr lang="en-US" dirty="0"/>
              <a:t>	At WashU since 2014</a:t>
            </a:r>
          </a:p>
          <a:p>
            <a:r>
              <a:rPr lang="en-US" dirty="0"/>
              <a:t>	Also Vice Dean of Faculty and Research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66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teach:</a:t>
            </a:r>
          </a:p>
          <a:p>
            <a:r>
              <a:rPr lang="en-US" dirty="0"/>
              <a:t>	Market and Customer Focus (EMBA)</a:t>
            </a:r>
          </a:p>
          <a:p>
            <a:r>
              <a:rPr lang="en-US" dirty="0"/>
              <a:t>	Consumer Behavior (BSBA, MBA, PMBA)</a:t>
            </a:r>
          </a:p>
          <a:p>
            <a:r>
              <a:rPr lang="en-US" dirty="0"/>
              <a:t>	Judgment and Decision Making  (PhD)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31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research:</a:t>
            </a:r>
          </a:p>
          <a:p>
            <a:r>
              <a:rPr lang="en-US" dirty="0"/>
              <a:t>	Biases in judgment and choice</a:t>
            </a:r>
          </a:p>
          <a:p>
            <a:r>
              <a:rPr lang="en-US" dirty="0"/>
              <a:t>	Financial decision making</a:t>
            </a:r>
          </a:p>
          <a:p>
            <a:r>
              <a:rPr lang="en-US" dirty="0"/>
              <a:t>	Gift-giving</a:t>
            </a:r>
          </a:p>
          <a:p>
            <a:r>
              <a:rPr lang="en-US" dirty="0"/>
              <a:t>	How people think about the future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3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find my research:</a:t>
            </a:r>
          </a:p>
          <a:p>
            <a:r>
              <a:rPr lang="en-US" dirty="0"/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4" y="2080287"/>
            <a:ext cx="3362325" cy="1362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720" y="3334786"/>
            <a:ext cx="3032197" cy="15943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790" y="4566046"/>
            <a:ext cx="1467193" cy="195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47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find my research:</a:t>
            </a:r>
          </a:p>
          <a:p>
            <a:r>
              <a:rPr lang="en-US" dirty="0"/>
              <a:t>	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055" y="4904071"/>
            <a:ext cx="3842086" cy="12643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273" y="2362839"/>
            <a:ext cx="5581650" cy="8191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37" r="3473" b="32817"/>
          <a:stretch/>
        </p:blipFill>
        <p:spPr>
          <a:xfrm>
            <a:off x="3446715" y="3558534"/>
            <a:ext cx="5550765" cy="96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7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find my research:</a:t>
            </a:r>
          </a:p>
          <a:p>
            <a:r>
              <a:rPr lang="en-US" dirty="0"/>
              <a:t>	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4" t="31591" r="4808" b="30837"/>
          <a:stretch/>
        </p:blipFill>
        <p:spPr>
          <a:xfrm>
            <a:off x="1143992" y="2066590"/>
            <a:ext cx="1856095" cy="805218"/>
          </a:xfrm>
          <a:prstGeom prst="rect">
            <a:avLst/>
          </a:prstGeom>
        </p:spPr>
      </p:pic>
      <p:pic>
        <p:nvPicPr>
          <p:cNvPr id="11" name="Picture 10"/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2" t="5361" r="6540" b="-1605"/>
          <a:stretch/>
        </p:blipFill>
        <p:spPr>
          <a:xfrm>
            <a:off x="4276153" y="2871808"/>
            <a:ext cx="2224585" cy="245659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3284" r="4574" b="34239"/>
          <a:stretch/>
        </p:blipFill>
        <p:spPr>
          <a:xfrm>
            <a:off x="7545824" y="5625429"/>
            <a:ext cx="2045102" cy="69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2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I’m not thinking </a:t>
            </a:r>
            <a:r>
              <a:rPr lang="en-US"/>
              <a:t>about marketing…</a:t>
            </a:r>
            <a:endParaRPr lang="en-US" dirty="0"/>
          </a:p>
          <a:p>
            <a:r>
              <a:rPr lang="en-US" dirty="0"/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546" r="-1431" b="14953"/>
          <a:stretch/>
        </p:blipFill>
        <p:spPr>
          <a:xfrm>
            <a:off x="2895599" y="2286000"/>
            <a:ext cx="6481483" cy="346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9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39D9-A784-B446-918F-70AD3B3EC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0" dirty="0"/>
              <a:t>What is Marketing?</a:t>
            </a:r>
          </a:p>
        </p:txBody>
      </p:sp>
    </p:spTree>
    <p:extLst>
      <p:ext uri="{BB962C8B-B14F-4D97-AF65-F5344CB8AC3E}">
        <p14:creationId xmlns:p14="http://schemas.microsoft.com/office/powerpoint/2010/main" val="3410961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think of marketing, what is the first word you think of?</a:t>
            </a:r>
          </a:p>
          <a:p>
            <a:endParaRPr lang="en-US" dirty="0"/>
          </a:p>
          <a:p>
            <a:r>
              <a:rPr lang="en-US" dirty="0"/>
              <a:t>To respond, please:</a:t>
            </a:r>
          </a:p>
          <a:p>
            <a:r>
              <a:rPr lang="en-US" dirty="0"/>
              <a:t>	Go to PollEv.com/</a:t>
            </a:r>
            <a:r>
              <a:rPr lang="en-US" dirty="0" err="1"/>
              <a:t>leboeuf</a:t>
            </a:r>
            <a:r>
              <a:rPr lang="en-US" dirty="0"/>
              <a:t> </a:t>
            </a:r>
          </a:p>
          <a:p>
            <a:r>
              <a:rPr lang="en-US" dirty="0"/>
              <a:t>	Or, text </a:t>
            </a:r>
            <a:r>
              <a:rPr lang="en-US" dirty="0" err="1"/>
              <a:t>leboeuf</a:t>
            </a:r>
            <a:r>
              <a:rPr lang="en-US" dirty="0"/>
              <a:t> to 22333, then text your 	response.</a:t>
            </a:r>
          </a:p>
        </p:txBody>
      </p:sp>
    </p:spTree>
    <p:extLst>
      <p:ext uri="{BB962C8B-B14F-4D97-AF65-F5344CB8AC3E}">
        <p14:creationId xmlns:p14="http://schemas.microsoft.com/office/powerpoint/2010/main" val="1693620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300965" cy="4995863"/>
          </a:xfrm>
        </p:spPr>
        <p:txBody>
          <a:bodyPr/>
          <a:lstStyle/>
          <a:p>
            <a:r>
              <a:rPr lang="en-US" sz="3800" dirty="0"/>
              <a:t>In well-ordered states, storekeepers and 	salesmen are commonly those who are </a:t>
            </a:r>
            <a:r>
              <a:rPr lang="en-US" sz="3800" i="1" dirty="0"/>
              <a:t>weakest</a:t>
            </a:r>
            <a:r>
              <a:rPr lang="en-US" sz="3800" dirty="0"/>
              <a:t> in bodily strength and, therefore, of little use for any purpose.								  --Plato</a:t>
            </a:r>
          </a:p>
          <a:p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584216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300965" cy="4995863"/>
          </a:xfrm>
        </p:spPr>
        <p:txBody>
          <a:bodyPr>
            <a:normAutofit/>
          </a:bodyPr>
          <a:lstStyle/>
          <a:p>
            <a:r>
              <a:rPr lang="en-US" sz="3800" dirty="0"/>
              <a:t>Merchants are to be accounted </a:t>
            </a:r>
            <a:r>
              <a:rPr lang="en-US" sz="3800" i="1" dirty="0"/>
              <a:t>vulgar,</a:t>
            </a:r>
            <a:r>
              <a:rPr lang="en-US" sz="3800" dirty="0"/>
              <a:t> for they can make no profit except by a certain amount of falsehood. 			</a:t>
            </a:r>
          </a:p>
          <a:p>
            <a:r>
              <a:rPr lang="en-US" sz="3800" dirty="0"/>
              <a:t>					         -- Cicero</a:t>
            </a:r>
          </a:p>
        </p:txBody>
      </p:sp>
    </p:spTree>
    <p:extLst>
      <p:ext uri="{BB962C8B-B14F-4D97-AF65-F5344CB8AC3E}">
        <p14:creationId xmlns:p14="http://schemas.microsoft.com/office/powerpoint/2010/main" val="5211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220578" cy="4995863"/>
          </a:xfrm>
        </p:spPr>
        <p:txBody>
          <a:bodyPr>
            <a:normAutofit/>
          </a:bodyPr>
          <a:lstStyle/>
          <a:p>
            <a:r>
              <a:rPr lang="en-US" sz="3800" dirty="0"/>
              <a:t>Advertising…is a </a:t>
            </a:r>
            <a:r>
              <a:rPr lang="en-US" sz="3800" i="1" dirty="0"/>
              <a:t>meretricious</a:t>
            </a:r>
            <a:r>
              <a:rPr lang="en-US" sz="3800" dirty="0"/>
              <a:t> endeavor in which psychological appeals to “fear” and 	“shame” are developed to bamboozle the public into purchasing essentially worthless packaged goods at bloated prices.</a:t>
            </a:r>
          </a:p>
          <a:p>
            <a:r>
              <a:rPr lang="en-US" sz="3800" dirty="0"/>
              <a:t>					        --Veblen</a:t>
            </a:r>
          </a:p>
        </p:txBody>
      </p:sp>
    </p:spTree>
    <p:extLst>
      <p:ext uri="{BB962C8B-B14F-4D97-AF65-F5344CB8AC3E}">
        <p14:creationId xmlns:p14="http://schemas.microsoft.com/office/powerpoint/2010/main" val="3025349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F53BD4E5-42B9-9148-9BFB-43C4638A3BB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928906"/>
              </p:ext>
            </p:extLst>
          </p:nvPr>
        </p:nvGraphicFramePr>
        <p:xfrm>
          <a:off x="1399003" y="1181100"/>
          <a:ext cx="56158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621064" imgH="6780952" progId="PBrush">
                  <p:embed/>
                </p:oleObj>
              </mc:Choice>
              <mc:Fallback>
                <p:oleObj name="Bitmap Image" r:id="rId2" imgW="7621064" imgH="6780952" progId="PBrush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F53BD4E5-42B9-9148-9BFB-43C4638A3BB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9003" y="1181100"/>
                        <a:ext cx="56158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6176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200481" cy="4995863"/>
          </a:xfrm>
        </p:spPr>
        <p:txBody>
          <a:bodyPr>
            <a:normAutofit/>
          </a:bodyPr>
          <a:lstStyle/>
          <a:p>
            <a:r>
              <a:rPr lang="en-US" sz="3800" dirty="0"/>
              <a:t>Corporate leaders nationwide are discovering that their most </a:t>
            </a:r>
            <a:r>
              <a:rPr lang="en-US" sz="3800" i="1" dirty="0"/>
              <a:t>powerful</a:t>
            </a:r>
            <a:r>
              <a:rPr lang="en-US" sz="3800" dirty="0"/>
              <a:t> competitive weapon is marketing -- the development, pricing, distribution and promotion of products.</a:t>
            </a:r>
          </a:p>
          <a:p>
            <a:r>
              <a:rPr lang="en-US" sz="3800" dirty="0"/>
              <a:t>					--</a:t>
            </a:r>
            <a:r>
              <a:rPr lang="en-US" sz="3800" i="1" dirty="0"/>
              <a:t>Newsweek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4073579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200481" cy="4995863"/>
          </a:xfrm>
        </p:spPr>
        <p:txBody>
          <a:bodyPr>
            <a:normAutofit/>
          </a:bodyPr>
          <a:lstStyle/>
          <a:p>
            <a:r>
              <a:rPr lang="en-US" sz="3800" dirty="0"/>
              <a:t>Marketing is now </a:t>
            </a:r>
            <a:r>
              <a:rPr lang="en-US" sz="3800" i="1" dirty="0"/>
              <a:t>central to success</a:t>
            </a:r>
            <a:r>
              <a:rPr lang="en-US" sz="3800" dirty="0"/>
              <a:t> at any company in any business and it’s going to make the difference between winners and losers.</a:t>
            </a:r>
          </a:p>
          <a:p>
            <a:r>
              <a:rPr lang="en-US" sz="3800" dirty="0"/>
              <a:t>		    --Stephen </a:t>
            </a:r>
            <a:r>
              <a:rPr lang="en-US" sz="3800" dirty="0" err="1"/>
              <a:t>Greyser</a:t>
            </a:r>
            <a:r>
              <a:rPr lang="en-US" sz="3800" dirty="0"/>
              <a:t>, HBS</a:t>
            </a:r>
          </a:p>
        </p:txBody>
      </p:sp>
    </p:spTree>
    <p:extLst>
      <p:ext uri="{BB962C8B-B14F-4D97-AF65-F5344CB8AC3E}">
        <p14:creationId xmlns:p14="http://schemas.microsoft.com/office/powerpoint/2010/main" val="1359673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290916" cy="4995863"/>
          </a:xfrm>
        </p:spPr>
        <p:txBody>
          <a:bodyPr>
            <a:normAutofit/>
          </a:bodyPr>
          <a:lstStyle/>
          <a:p>
            <a:r>
              <a:rPr lang="en-US" sz="3800" dirty="0"/>
              <a:t>More than half of the polled executives at 250 corporations  ranked marketing as </a:t>
            </a:r>
            <a:r>
              <a:rPr lang="en-US" sz="3800" i="1" dirty="0"/>
              <a:t>the most important element</a:t>
            </a:r>
            <a:r>
              <a:rPr lang="en-US" sz="3800" dirty="0"/>
              <a:t> of strategy…</a:t>
            </a:r>
          </a:p>
          <a:p>
            <a:r>
              <a:rPr lang="en-US" sz="3800" dirty="0"/>
              <a:t>      --</a:t>
            </a:r>
            <a:r>
              <a:rPr lang="en-US" sz="3800" dirty="0" err="1"/>
              <a:t>Yankelovich</a:t>
            </a:r>
            <a:r>
              <a:rPr lang="en-US" sz="3800" dirty="0"/>
              <a:t>, Skelly, and White</a:t>
            </a:r>
          </a:p>
          <a:p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61162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290916" cy="4995863"/>
          </a:xfrm>
        </p:spPr>
        <p:txBody>
          <a:bodyPr>
            <a:normAutofit/>
          </a:bodyPr>
          <a:lstStyle/>
          <a:p>
            <a:pPr indent="-228600"/>
            <a:r>
              <a:rPr lang="en-US" sz="3800" dirty="0"/>
              <a:t>Marketing is the activity, set of institutions, and processes for </a:t>
            </a:r>
            <a:r>
              <a:rPr lang="en-US" sz="3800" dirty="0">
                <a:solidFill>
                  <a:srgbClr val="FFFF00"/>
                </a:solidFill>
              </a:rPr>
              <a:t>creating, communicating, delivering, </a:t>
            </a:r>
            <a:r>
              <a:rPr lang="en-US" sz="3800" dirty="0"/>
              <a:t>and</a:t>
            </a:r>
            <a:r>
              <a:rPr lang="en-US" sz="3800" dirty="0">
                <a:solidFill>
                  <a:srgbClr val="FFFF00"/>
                </a:solidFill>
              </a:rPr>
              <a:t> exchanging </a:t>
            </a:r>
            <a:r>
              <a:rPr lang="en-US" sz="3800" dirty="0"/>
              <a:t>offerings that have </a:t>
            </a:r>
            <a:r>
              <a:rPr lang="en-US" sz="3800" dirty="0">
                <a:solidFill>
                  <a:srgbClr val="FFFF00"/>
                </a:solidFill>
              </a:rPr>
              <a:t>value</a:t>
            </a:r>
            <a:r>
              <a:rPr lang="en-US" sz="3800" dirty="0"/>
              <a:t> for customers, clients, partners, and society at large.</a:t>
            </a:r>
          </a:p>
          <a:p>
            <a:pPr indent="-228600"/>
            <a:r>
              <a:rPr lang="en-US" sz="3800" dirty="0"/>
              <a:t>   --American Marketing Association</a:t>
            </a:r>
          </a:p>
          <a:p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382128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290916" cy="4995863"/>
          </a:xfrm>
        </p:spPr>
        <p:txBody>
          <a:bodyPr>
            <a:normAutofit/>
          </a:bodyPr>
          <a:lstStyle/>
          <a:p>
            <a:pPr indent="-228600"/>
            <a:r>
              <a:rPr lang="en-US" sz="3600" dirty="0"/>
              <a:t>Marketing is a social and managerial process by which individuals and groups obtain what they need and want through </a:t>
            </a:r>
            <a:r>
              <a:rPr lang="en-US" sz="3600" dirty="0">
                <a:solidFill>
                  <a:srgbClr val="FFFF00"/>
                </a:solidFill>
              </a:rPr>
              <a:t>creating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FFFF00"/>
                </a:solidFill>
              </a:rPr>
              <a:t>offering</a:t>
            </a:r>
            <a:r>
              <a:rPr lang="en-US" sz="3600" dirty="0"/>
              <a:t>, and </a:t>
            </a:r>
            <a:r>
              <a:rPr lang="en-US" sz="3600" dirty="0">
                <a:solidFill>
                  <a:srgbClr val="FFFF00"/>
                </a:solidFill>
              </a:rPr>
              <a:t>exchanging</a:t>
            </a:r>
            <a:r>
              <a:rPr lang="en-US" sz="3600" dirty="0"/>
              <a:t> products of </a:t>
            </a:r>
            <a:r>
              <a:rPr lang="en-US" sz="3600" dirty="0">
                <a:solidFill>
                  <a:srgbClr val="FFFF00"/>
                </a:solidFill>
              </a:rPr>
              <a:t>value</a:t>
            </a:r>
            <a:r>
              <a:rPr lang="en-US" sz="3600" dirty="0"/>
              <a:t> with others.</a:t>
            </a:r>
          </a:p>
          <a:p>
            <a:pPr indent="-228600"/>
            <a:r>
              <a:rPr lang="en-US" sz="3800" dirty="0"/>
              <a:t> 		       --Philip Kotler, Kellogg</a:t>
            </a:r>
          </a:p>
          <a:p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969356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61CD7E-1CB7-1A4A-87A7-B210E26E6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778061"/>
            <a:ext cx="10514011" cy="4616824"/>
          </a:xfrm>
        </p:spPr>
        <p:txBody>
          <a:bodyPr>
            <a:normAutofit/>
          </a:bodyPr>
          <a:lstStyle/>
          <a:p>
            <a:endParaRPr lang="en-US" sz="3800" dirty="0">
              <a:hlinkClick r:id="rId2"/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What is Marketing?  A Framework</a:t>
            </a: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2455143" y="432920"/>
            <a:ext cx="7696200" cy="990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198343" y="432920"/>
            <a:ext cx="1920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Marketing Analysis (The 5 C’s)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607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31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7797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7179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5655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836143" y="890120"/>
            <a:ext cx="76495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Customers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360143" y="890120"/>
            <a:ext cx="69762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Company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807943" y="890120"/>
            <a:ext cx="85472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Competitors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331943" y="890120"/>
            <a:ext cx="91563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Collaborators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9084543" y="890120"/>
            <a:ext cx="60625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Context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3217143" y="1728320"/>
            <a:ext cx="6172200" cy="762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643423" y="1880720"/>
            <a:ext cx="9444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Segmentation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5869553" y="1804520"/>
            <a:ext cx="68640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Target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Selection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7841262" y="1804520"/>
            <a:ext cx="84350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 and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Service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Positioning</a:t>
            </a:r>
          </a:p>
        </p:txBody>
      </p:sp>
      <p:sp>
        <p:nvSpPr>
          <p:cNvPr id="20" name="AutoShape 18"/>
          <p:cNvSpPr>
            <a:spLocks noChangeArrowheads="1"/>
          </p:cNvSpPr>
          <p:nvPr/>
        </p:nvSpPr>
        <p:spPr bwMode="auto">
          <a:xfrm>
            <a:off x="3217143" y="2795120"/>
            <a:ext cx="6248400" cy="1447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AutoShape 19"/>
          <p:cNvSpPr>
            <a:spLocks noChangeArrowheads="1"/>
          </p:cNvSpPr>
          <p:nvPr/>
        </p:nvSpPr>
        <p:spPr bwMode="auto">
          <a:xfrm>
            <a:off x="36743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3750543" y="3176120"/>
            <a:ext cx="11239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 &amp; Service</a:t>
            </a:r>
          </a:p>
        </p:txBody>
      </p:sp>
      <p:sp>
        <p:nvSpPr>
          <p:cNvPr id="23" name="AutoShape 21"/>
          <p:cNvSpPr>
            <a:spLocks noChangeArrowheads="1"/>
          </p:cNvSpPr>
          <p:nvPr/>
        </p:nvSpPr>
        <p:spPr bwMode="auto">
          <a:xfrm>
            <a:off x="56555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78653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5731743" y="3176120"/>
            <a:ext cx="101983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Place/Channels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8093943" y="3176120"/>
            <a:ext cx="777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Promotion</a:t>
            </a:r>
          </a:p>
        </p:txBody>
      </p:sp>
      <p:sp>
        <p:nvSpPr>
          <p:cNvPr id="27" name="AutoShape 25"/>
          <p:cNvSpPr>
            <a:spLocks noChangeArrowheads="1"/>
          </p:cNvSpPr>
          <p:nvPr/>
        </p:nvSpPr>
        <p:spPr bwMode="auto">
          <a:xfrm>
            <a:off x="3674343" y="3785720"/>
            <a:ext cx="5486400" cy="304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5960343" y="3785720"/>
            <a:ext cx="55816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Pricing</a:t>
            </a:r>
          </a:p>
        </p:txBody>
      </p: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131543" y="44715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AutoShape 28"/>
          <p:cNvSpPr>
            <a:spLocks noChangeArrowheads="1"/>
          </p:cNvSpPr>
          <p:nvPr/>
        </p:nvSpPr>
        <p:spPr bwMode="auto">
          <a:xfrm>
            <a:off x="7255743" y="44715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4354589" y="4471520"/>
            <a:ext cx="7873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Acquisition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7465645" y="4471520"/>
            <a:ext cx="7152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Retention</a:t>
            </a:r>
          </a:p>
        </p:txBody>
      </p:sp>
      <p:sp>
        <p:nvSpPr>
          <p:cNvPr id="33" name="AutoShape 31"/>
          <p:cNvSpPr>
            <a:spLocks noChangeArrowheads="1"/>
          </p:cNvSpPr>
          <p:nvPr/>
        </p:nvSpPr>
        <p:spPr bwMode="auto">
          <a:xfrm>
            <a:off x="4436343" y="5233520"/>
            <a:ext cx="3657600" cy="304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6036543" y="5233520"/>
            <a:ext cx="53732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Profits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693143" y="2490320"/>
            <a:ext cx="8158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1693143" y="3861920"/>
            <a:ext cx="9269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Capturing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693143" y="4547720"/>
            <a:ext cx="9723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Sustaining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2759943" y="180452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2759943" y="386192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>
            <a:off x="2759943" y="454772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6188943" y="142352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6265143" y="249032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>
            <a:off x="42077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Line 42"/>
          <p:cNvSpPr>
            <a:spLocks noChangeShapeType="1"/>
          </p:cNvSpPr>
          <p:nvPr/>
        </p:nvSpPr>
        <p:spPr bwMode="auto">
          <a:xfrm>
            <a:off x="61889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84749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Line 44"/>
          <p:cNvSpPr>
            <a:spLocks noChangeShapeType="1"/>
          </p:cNvSpPr>
          <p:nvPr/>
        </p:nvSpPr>
        <p:spPr bwMode="auto">
          <a:xfrm>
            <a:off x="4664943" y="42429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>
            <a:off x="7865343" y="42429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4664943" y="49287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Line 47"/>
          <p:cNvSpPr>
            <a:spLocks noChangeShapeType="1"/>
          </p:cNvSpPr>
          <p:nvPr/>
        </p:nvSpPr>
        <p:spPr bwMode="auto">
          <a:xfrm>
            <a:off x="7865343" y="49287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4588743" y="210932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>
            <a:off x="6722343" y="210932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>
            <a:off x="5426943" y="470012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5503143" y="2795120"/>
            <a:ext cx="15621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Marketing Mix (The 4 P’s)</a:t>
            </a:r>
          </a:p>
        </p:txBody>
      </p:sp>
    </p:spTree>
    <p:extLst>
      <p:ext uri="{BB962C8B-B14F-4D97-AF65-F5344CB8AC3E}">
        <p14:creationId xmlns:p14="http://schemas.microsoft.com/office/powerpoint/2010/main" val="2033516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5800" dirty="0"/>
              <a:t>Customer needs</a:t>
            </a:r>
          </a:p>
          <a:p>
            <a:r>
              <a:rPr lang="en-US" dirty="0"/>
              <a:t>	What needs do we seek to satisfy?</a:t>
            </a:r>
          </a:p>
          <a:p>
            <a:r>
              <a:rPr lang="en-US" sz="5800" dirty="0"/>
              <a:t>Company skills</a:t>
            </a:r>
          </a:p>
          <a:p>
            <a:r>
              <a:rPr lang="en-US" dirty="0"/>
              <a:t>	What skills do we possess to meet those needs?</a:t>
            </a:r>
          </a:p>
          <a:p>
            <a:r>
              <a:rPr lang="en-US" sz="5800" dirty="0"/>
              <a:t>Competition</a:t>
            </a:r>
          </a:p>
          <a:p>
            <a:r>
              <a:rPr lang="en-US" dirty="0"/>
              <a:t>	Who competes with us in meeting those needs?</a:t>
            </a:r>
          </a:p>
          <a:p>
            <a:r>
              <a:rPr lang="en-US" sz="5800" dirty="0"/>
              <a:t>Collaborators</a:t>
            </a:r>
          </a:p>
          <a:p>
            <a:r>
              <a:rPr lang="en-US" dirty="0"/>
              <a:t>	Whom should we enlist to help us, and how do we motivate them?</a:t>
            </a:r>
          </a:p>
          <a:p>
            <a:r>
              <a:rPr lang="en-US" sz="5800" dirty="0"/>
              <a:t>Context (marketing environment)</a:t>
            </a:r>
          </a:p>
          <a:p>
            <a:r>
              <a:rPr lang="en-US" dirty="0"/>
              <a:t>	</a:t>
            </a:r>
            <a:r>
              <a:rPr lang="en-US" altLang="en-US" dirty="0"/>
              <a:t>What social-cultural, technological</a:t>
            </a:r>
            <a:r>
              <a:rPr lang="en-US" altLang="en-US"/>
              <a:t>, political-legal</a:t>
            </a:r>
            <a:r>
              <a:rPr lang="en-US" altLang="en-US" dirty="0"/>
              <a:t>, demographic, 	economic and natural factors limit and define what is possible?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092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334956" cy="4995863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Segmentation</a:t>
            </a:r>
          </a:p>
          <a:p>
            <a:r>
              <a:rPr lang="en-US" sz="2400" dirty="0"/>
              <a:t>	Grouping customers along relevant (strategic or 	tactical) dimensions</a:t>
            </a:r>
          </a:p>
          <a:p>
            <a:endParaRPr lang="en-US" sz="3200" dirty="0"/>
          </a:p>
          <a:p>
            <a:r>
              <a:rPr lang="en-US" sz="3200" dirty="0"/>
              <a:t>Target market selection</a:t>
            </a:r>
          </a:p>
          <a:p>
            <a:r>
              <a:rPr lang="en-US" sz="2400" dirty="0"/>
              <a:t>	Deciding which segments to pursue</a:t>
            </a:r>
          </a:p>
          <a:p>
            <a:endParaRPr lang="en-US" sz="3200" dirty="0"/>
          </a:p>
          <a:p>
            <a:r>
              <a:rPr lang="en-US" sz="3200" dirty="0"/>
              <a:t>Positioning</a:t>
            </a:r>
          </a:p>
          <a:p>
            <a:r>
              <a:rPr lang="en-US" sz="2400" dirty="0"/>
              <a:t>	Creating a meaningful and distinct image of the 	offering in customer’s minds (for each targeted 	segment)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06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Marketing?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267222" cy="4995863"/>
          </a:xfrm>
        </p:spPr>
        <p:txBody>
          <a:bodyPr>
            <a:normAutofit lnSpcReduction="10000"/>
          </a:bodyPr>
          <a:lstStyle/>
          <a:p>
            <a:r>
              <a:rPr lang="en-US" altLang="en-US" sz="3200" dirty="0"/>
              <a:t>Product</a:t>
            </a:r>
          </a:p>
          <a:p>
            <a:pPr marL="457200" lvl="1" indent="0">
              <a:buNone/>
            </a:pPr>
            <a:r>
              <a:rPr lang="en-US" altLang="en-US" dirty="0"/>
              <a:t>Product variety, quality, design, features, brand name, packaging, sizes, services, warranties, returns</a:t>
            </a:r>
          </a:p>
          <a:p>
            <a:r>
              <a:rPr lang="en-US" altLang="en-US" sz="3200" dirty="0"/>
              <a:t>Promotions</a:t>
            </a:r>
          </a:p>
          <a:p>
            <a:pPr marL="457200" lvl="1" indent="0">
              <a:buNone/>
            </a:pPr>
            <a:r>
              <a:rPr lang="en-US" altLang="en-US" dirty="0"/>
              <a:t>Sales promotions, advertising, public relations, direct marketing</a:t>
            </a:r>
          </a:p>
          <a:p>
            <a:r>
              <a:rPr lang="en-US" altLang="en-US" sz="3200" dirty="0"/>
              <a:t>Place</a:t>
            </a:r>
          </a:p>
          <a:p>
            <a:pPr marL="457200" lvl="1" indent="0">
              <a:buNone/>
            </a:pPr>
            <a:r>
              <a:rPr lang="en-US" altLang="en-US" dirty="0"/>
              <a:t>Channels, coverage, assortments, locations, inventory</a:t>
            </a:r>
          </a:p>
          <a:p>
            <a:r>
              <a:rPr lang="en-US" altLang="en-US" sz="3200" dirty="0"/>
              <a:t>Price</a:t>
            </a:r>
          </a:p>
          <a:p>
            <a:pPr marL="457200" lvl="1" indent="0">
              <a:buNone/>
            </a:pPr>
            <a:r>
              <a:rPr lang="en-US" altLang="en-US" dirty="0"/>
              <a:t>List price, discounts, allowances, payment period, credit terms</a:t>
            </a:r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336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What is Marketing?  The Marketing Funnel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409" y="1020955"/>
            <a:ext cx="7543800" cy="41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38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What is Marketing?  The Marketing Funnel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40" y="878541"/>
            <a:ext cx="8164623" cy="406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82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What is Marketing?  The Marketing Funnel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2"/>
          <a:srcRect l="-678" t="475" r="5157" b="-318"/>
          <a:stretch/>
        </p:blipFill>
        <p:spPr>
          <a:xfrm>
            <a:off x="1536255" y="748299"/>
            <a:ext cx="7957702" cy="474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45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Overview -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Marketing involves creating, offering, and exchanging value.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Marketing frameworks and the marketing funnel can help you start to put the pieces together.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75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39D9-A784-B446-918F-70AD3B3EC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0" dirty="0"/>
              <a:t>Course Overview and Expectations</a:t>
            </a:r>
          </a:p>
        </p:txBody>
      </p:sp>
    </p:spTree>
    <p:extLst>
      <p:ext uri="{BB962C8B-B14F-4D97-AF65-F5344CB8AC3E}">
        <p14:creationId xmlns:p14="http://schemas.microsoft.com/office/powerpoint/2010/main" val="892590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1100"/>
            <a:ext cx="10983013" cy="4995863"/>
          </a:xfrm>
        </p:spPr>
        <p:txBody>
          <a:bodyPr>
            <a:normAutofit/>
          </a:bodyPr>
          <a:lstStyle/>
          <a:p>
            <a:pPr indent="-228600"/>
            <a:r>
              <a:rPr lang="en-US" altLang="en-US" sz="3600" dirty="0"/>
              <a:t>How to conduct, analyze, and use marketing research to:</a:t>
            </a:r>
          </a:p>
          <a:p>
            <a:pPr marL="1028700" lvl="1" indent="-571500"/>
            <a:r>
              <a:rPr lang="en-US" altLang="en-US" sz="3600" dirty="0"/>
              <a:t>connect with customers</a:t>
            </a:r>
          </a:p>
          <a:p>
            <a:pPr marL="1028700" lvl="1" indent="-571500"/>
            <a:r>
              <a:rPr lang="en-US" altLang="en-US" sz="3600" dirty="0"/>
              <a:t>make better business decisions</a:t>
            </a:r>
          </a:p>
          <a:p>
            <a:pPr marL="1028700" lvl="1" indent="-571500"/>
            <a:r>
              <a:rPr lang="en-US" altLang="en-US" sz="3600" dirty="0"/>
              <a:t>be more profitable</a:t>
            </a:r>
          </a:p>
          <a:p>
            <a:pPr indent="-228600"/>
            <a:r>
              <a:rPr lang="en-US" altLang="en-US" sz="3600" dirty="0"/>
              <a:t>How to analyze market segments </a:t>
            </a:r>
          </a:p>
          <a:p>
            <a:pPr indent="-228600"/>
            <a:r>
              <a:rPr lang="en-US" altLang="en-US" sz="3600" dirty="0"/>
              <a:t>How to pick the best segment to target</a:t>
            </a:r>
          </a:p>
          <a:p>
            <a:pPr indent="-228600"/>
            <a:r>
              <a:rPr lang="en-US" altLang="en-US" sz="3600" dirty="0"/>
              <a:t>How to effectively position your product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93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1100"/>
            <a:ext cx="10837985" cy="4995863"/>
          </a:xfrm>
        </p:spPr>
        <p:txBody>
          <a:bodyPr>
            <a:normAutofit lnSpcReduction="10000"/>
          </a:bodyPr>
          <a:lstStyle/>
          <a:p>
            <a:pPr indent="-228600"/>
            <a:r>
              <a:rPr lang="en-US" altLang="en-US" sz="3600" dirty="0"/>
              <a:t>How to build and manage brand equity</a:t>
            </a:r>
          </a:p>
          <a:p>
            <a:pPr indent="-228600"/>
            <a:endParaRPr lang="en-US" altLang="en-US" sz="3600" dirty="0"/>
          </a:p>
          <a:p>
            <a:pPr indent="-228600"/>
            <a:r>
              <a:rPr lang="en-US" altLang="en-US" sz="3600" dirty="0"/>
              <a:t>How to successfully introduce new products and services </a:t>
            </a:r>
          </a:p>
          <a:p>
            <a:pPr indent="-228600"/>
            <a:endParaRPr lang="en-US" altLang="en-US" sz="2000" dirty="0"/>
          </a:p>
          <a:p>
            <a:pPr indent="-228600"/>
            <a:r>
              <a:rPr lang="en-US" altLang="en-US" sz="3600" dirty="0"/>
              <a:t>How to effectively use the 4 Ps (product, price, promotion, place) to increase profitability</a:t>
            </a:r>
          </a:p>
          <a:p>
            <a:pPr indent="-228600"/>
            <a:endParaRPr lang="en-US" altLang="en-US" sz="3600" dirty="0"/>
          </a:p>
          <a:p>
            <a:pPr indent="-228600"/>
            <a:r>
              <a:rPr lang="en-US" altLang="en-US" sz="3600" dirty="0"/>
              <a:t>How to develop and understand a marketing plan</a:t>
            </a:r>
          </a:p>
          <a:p>
            <a:pPr indent="-228600"/>
            <a:endParaRPr lang="en-US" altLang="en-US" sz="3600" dirty="0"/>
          </a:p>
          <a:p>
            <a:pPr indent="-228600"/>
            <a:endParaRPr lang="en-US" altLang="en-US" sz="3600" dirty="0"/>
          </a:p>
          <a:p>
            <a:pPr marL="457200" lvl="1" indent="0">
              <a:buNone/>
            </a:pPr>
            <a:endParaRPr lang="en-US" altLang="en-US" sz="36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20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1100"/>
            <a:ext cx="10837985" cy="4995863"/>
          </a:xfrm>
        </p:spPr>
        <p:txBody>
          <a:bodyPr>
            <a:normAutofit/>
          </a:bodyPr>
          <a:lstStyle/>
          <a:p>
            <a:pPr indent="-228600"/>
            <a:r>
              <a:rPr lang="en-US" altLang="en-US" sz="3600" dirty="0"/>
              <a:t>Day 1: Connecting with your customers</a:t>
            </a:r>
          </a:p>
          <a:p>
            <a:pPr indent="-228600"/>
            <a:r>
              <a:rPr lang="en-US" altLang="en-US" sz="3600" dirty="0"/>
              <a:t>	What is marketing?</a:t>
            </a:r>
          </a:p>
          <a:p>
            <a:pPr indent="-228600"/>
            <a:r>
              <a:rPr lang="en-US" altLang="en-US" sz="3600" dirty="0"/>
              <a:t>	Segmentation, targeting, and positioning</a:t>
            </a:r>
          </a:p>
          <a:p>
            <a:pPr indent="-228600"/>
            <a:r>
              <a:rPr lang="en-US" altLang="en-US" sz="3600" dirty="0"/>
              <a:t>	Marketing plans</a:t>
            </a:r>
          </a:p>
          <a:p>
            <a:pPr indent="-228600"/>
            <a:endParaRPr lang="en-US" altLang="en-US" sz="3600" dirty="0"/>
          </a:p>
          <a:p>
            <a:pPr indent="-228600"/>
            <a:r>
              <a:rPr lang="en-US" altLang="en-US" sz="3600" dirty="0"/>
              <a:t>Day 2: Profiting from marketing research</a:t>
            </a:r>
          </a:p>
          <a:p>
            <a:pPr indent="-228600"/>
            <a:endParaRPr lang="en-US" altLang="en-US" sz="3600" dirty="0"/>
          </a:p>
          <a:p>
            <a:pPr indent="-228600"/>
            <a:r>
              <a:rPr lang="en-US" altLang="en-US" sz="3600" dirty="0"/>
              <a:t>Day 3: Building strong brands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340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1100"/>
            <a:ext cx="10837985" cy="4995863"/>
          </a:xfrm>
        </p:spPr>
        <p:txBody>
          <a:bodyPr>
            <a:normAutofit/>
          </a:bodyPr>
          <a:lstStyle/>
          <a:p>
            <a:pPr indent="-228600"/>
            <a:r>
              <a:rPr lang="en-US" altLang="en-US" sz="3600" dirty="0"/>
              <a:t>Day 4: Marketing and new products</a:t>
            </a:r>
          </a:p>
          <a:p>
            <a:pPr indent="-228600"/>
            <a:endParaRPr lang="en-US" altLang="en-US" sz="3600" dirty="0"/>
          </a:p>
          <a:p>
            <a:pPr indent="-228600"/>
            <a:endParaRPr lang="en-US" altLang="en-US" sz="3600" dirty="0"/>
          </a:p>
          <a:p>
            <a:pPr indent="-228600"/>
            <a:r>
              <a:rPr lang="en-US" altLang="en-US" sz="3600" dirty="0"/>
              <a:t>Day 5: Customer relationships and customer lifetime value</a:t>
            </a:r>
          </a:p>
          <a:p>
            <a:pPr indent="-228600"/>
            <a:endParaRPr lang="en-US" altLang="en-US" sz="3600" dirty="0"/>
          </a:p>
          <a:p>
            <a:pPr indent="-228600"/>
            <a:endParaRPr lang="en-US" altLang="en-US" sz="3600" dirty="0"/>
          </a:p>
          <a:p>
            <a:pPr indent="-228600"/>
            <a:r>
              <a:rPr lang="en-US" altLang="en-US" sz="3600" dirty="0"/>
              <a:t>Day 6: Communicating with your customers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30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1100"/>
            <a:ext cx="10837985" cy="4995863"/>
          </a:xfrm>
        </p:spPr>
        <p:txBody>
          <a:bodyPr>
            <a:normAutofit/>
          </a:bodyPr>
          <a:lstStyle/>
          <a:p>
            <a:pPr indent="-228600"/>
            <a:r>
              <a:rPr lang="en-US" altLang="en-US" sz="3600" dirty="0"/>
              <a:t>Each day:</a:t>
            </a:r>
          </a:p>
          <a:p>
            <a:pPr indent="-228600"/>
            <a:r>
              <a:rPr lang="en-US" altLang="en-US" sz="3600" dirty="0"/>
              <a:t>	Read all assigned cases</a:t>
            </a:r>
          </a:p>
          <a:p>
            <a:pPr indent="-228600"/>
            <a:r>
              <a:rPr lang="en-US" altLang="en-US" sz="3600" dirty="0"/>
              <a:t>	Submit assigned case questions before class</a:t>
            </a:r>
          </a:p>
          <a:p>
            <a:pPr indent="-228600"/>
            <a:r>
              <a:rPr lang="en-US" altLang="en-US" sz="3600" dirty="0"/>
              <a:t>	Contribute to class discussions</a:t>
            </a:r>
          </a:p>
          <a:p>
            <a:pPr indent="-228600"/>
            <a:r>
              <a:rPr lang="en-US" altLang="en-US" sz="3600" dirty="0"/>
              <a:t>	Contribute to breakout assignments</a:t>
            </a:r>
          </a:p>
          <a:p>
            <a:pPr indent="-228600"/>
            <a:r>
              <a:rPr lang="en-US" altLang="en-US" sz="3600" dirty="0"/>
              <a:t>	</a:t>
            </a:r>
          </a:p>
          <a:p>
            <a:pPr indent="-228600"/>
            <a:r>
              <a:rPr lang="en-US" altLang="en-US" sz="3600" dirty="0"/>
              <a:t>	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011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1100"/>
            <a:ext cx="10837985" cy="4995863"/>
          </a:xfrm>
        </p:spPr>
        <p:txBody>
          <a:bodyPr>
            <a:normAutofit/>
          </a:bodyPr>
          <a:lstStyle/>
          <a:p>
            <a:pPr indent="-228600"/>
            <a:r>
              <a:rPr lang="en-US" altLang="en-US" sz="3600" dirty="0"/>
              <a:t>Ongoing project:</a:t>
            </a:r>
          </a:p>
          <a:p>
            <a:pPr indent="-228600"/>
            <a:r>
              <a:rPr lang="en-US" altLang="en-US" sz="3600" dirty="0"/>
              <a:t>	Marketing plan written report (team project)</a:t>
            </a:r>
          </a:p>
          <a:p>
            <a:pPr indent="-228600"/>
            <a:endParaRPr lang="en-US" altLang="en-US" sz="3600" dirty="0"/>
          </a:p>
          <a:p>
            <a:pPr indent="-228600"/>
            <a:r>
              <a:rPr lang="en-US" altLang="en-US" sz="3600" dirty="0"/>
              <a:t>	Marketing plan presentation (team project)</a:t>
            </a:r>
          </a:p>
          <a:p>
            <a:pPr indent="-228600"/>
            <a:r>
              <a:rPr lang="en-US" altLang="en-US" sz="3600" dirty="0"/>
              <a:t>	</a:t>
            </a:r>
          </a:p>
          <a:p>
            <a:pPr indent="-228600"/>
            <a:r>
              <a:rPr lang="en-US" altLang="en-US" sz="3600" dirty="0"/>
              <a:t>	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807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1100"/>
            <a:ext cx="10837985" cy="4995863"/>
          </a:xfrm>
        </p:spPr>
        <p:txBody>
          <a:bodyPr>
            <a:normAutofit/>
          </a:bodyPr>
          <a:lstStyle/>
          <a:p>
            <a:pPr indent="-228600"/>
            <a:r>
              <a:rPr lang="en-US" altLang="en-US" sz="3600" dirty="0"/>
              <a:t>Our Textbooks</a:t>
            </a:r>
          </a:p>
          <a:p>
            <a:pPr indent="-228600"/>
            <a:r>
              <a:rPr lang="en-US" altLang="en-US" sz="3600" dirty="0"/>
              <a:t>		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027" y="2182847"/>
            <a:ext cx="2787475" cy="34360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900" y="2182847"/>
            <a:ext cx="2812570" cy="343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10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40" y="288742"/>
            <a:ext cx="10515600" cy="519953"/>
          </a:xfrm>
        </p:spPr>
        <p:txBody>
          <a:bodyPr/>
          <a:lstStyle/>
          <a:p>
            <a:r>
              <a:rPr lang="en-US" dirty="0"/>
              <a:t>Recurring Themes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1" y="2510118"/>
            <a:ext cx="6962421" cy="216983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Marketing requires being customer-centric.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761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40" y="288742"/>
            <a:ext cx="10515600" cy="519953"/>
          </a:xfrm>
        </p:spPr>
        <p:txBody>
          <a:bodyPr/>
          <a:lstStyle/>
          <a:p>
            <a:r>
              <a:rPr lang="en-US" dirty="0"/>
              <a:t>Recurring Themes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1" y="2510118"/>
            <a:ext cx="7436555" cy="216983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Marketing requires both quantitative and qualitative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998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40" y="288742"/>
            <a:ext cx="10515600" cy="519953"/>
          </a:xfrm>
        </p:spPr>
        <p:txBody>
          <a:bodyPr/>
          <a:lstStyle/>
          <a:p>
            <a:r>
              <a:rPr lang="en-US" dirty="0"/>
              <a:t>Recurring Themes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1" y="2510117"/>
            <a:ext cx="7323666" cy="282952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Marketing frameworks are </a:t>
            </a:r>
            <a:r>
              <a:rPr lang="en-US" altLang="en-US" u="sng" dirty="0"/>
              <a:t>general</a:t>
            </a:r>
            <a:r>
              <a:rPr lang="en-US" altLang="en-US" dirty="0"/>
              <a:t>, but marketing problems are </a:t>
            </a:r>
            <a:r>
              <a:rPr lang="en-US" altLang="en-US" u="sng" dirty="0"/>
              <a:t>specific</a:t>
            </a:r>
            <a:r>
              <a:rPr lang="en-US" alt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295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61CD7E-1CB7-1A4A-87A7-B210E26E6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778061"/>
            <a:ext cx="10514011" cy="4616824"/>
          </a:xfrm>
        </p:spPr>
        <p:txBody>
          <a:bodyPr>
            <a:normAutofit/>
          </a:bodyPr>
          <a:lstStyle/>
          <a:p>
            <a:endParaRPr lang="en-US" sz="3800" dirty="0">
              <a:hlinkClick r:id="rId2"/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Marketing Framework</a:t>
            </a: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2455143" y="432920"/>
            <a:ext cx="7696200" cy="990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198343" y="432920"/>
            <a:ext cx="1920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Marketing Analysis (The 5 C’s)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607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31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7797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7179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5655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836143" y="890120"/>
            <a:ext cx="76495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Customers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360143" y="890120"/>
            <a:ext cx="69762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Company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807943" y="890120"/>
            <a:ext cx="85472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Competitors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331943" y="890120"/>
            <a:ext cx="91563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Collaborators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9084543" y="890120"/>
            <a:ext cx="60625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Context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3217143" y="1728320"/>
            <a:ext cx="6172200" cy="762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643423" y="1880720"/>
            <a:ext cx="9444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Segmentation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5869553" y="1804520"/>
            <a:ext cx="68640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Target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Selection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7841262" y="1804520"/>
            <a:ext cx="84350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 and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Service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Positioning</a:t>
            </a:r>
          </a:p>
        </p:txBody>
      </p:sp>
      <p:sp>
        <p:nvSpPr>
          <p:cNvPr id="20" name="AutoShape 18"/>
          <p:cNvSpPr>
            <a:spLocks noChangeArrowheads="1"/>
          </p:cNvSpPr>
          <p:nvPr/>
        </p:nvSpPr>
        <p:spPr bwMode="auto">
          <a:xfrm>
            <a:off x="3217143" y="2795120"/>
            <a:ext cx="6248400" cy="1447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AutoShape 19"/>
          <p:cNvSpPr>
            <a:spLocks noChangeArrowheads="1"/>
          </p:cNvSpPr>
          <p:nvPr/>
        </p:nvSpPr>
        <p:spPr bwMode="auto">
          <a:xfrm>
            <a:off x="36743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3750543" y="3176120"/>
            <a:ext cx="11239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 &amp; Service</a:t>
            </a:r>
          </a:p>
        </p:txBody>
      </p:sp>
      <p:sp>
        <p:nvSpPr>
          <p:cNvPr id="23" name="AutoShape 21"/>
          <p:cNvSpPr>
            <a:spLocks noChangeArrowheads="1"/>
          </p:cNvSpPr>
          <p:nvPr/>
        </p:nvSpPr>
        <p:spPr bwMode="auto">
          <a:xfrm>
            <a:off x="56555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78653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5731743" y="3176120"/>
            <a:ext cx="101983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Place/Channels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8093943" y="3176120"/>
            <a:ext cx="777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Promotion</a:t>
            </a:r>
          </a:p>
        </p:txBody>
      </p:sp>
      <p:sp>
        <p:nvSpPr>
          <p:cNvPr id="27" name="AutoShape 25"/>
          <p:cNvSpPr>
            <a:spLocks noChangeArrowheads="1"/>
          </p:cNvSpPr>
          <p:nvPr/>
        </p:nvSpPr>
        <p:spPr bwMode="auto">
          <a:xfrm>
            <a:off x="3674343" y="3785720"/>
            <a:ext cx="5486400" cy="304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5960343" y="3785720"/>
            <a:ext cx="55816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Pricing</a:t>
            </a:r>
          </a:p>
        </p:txBody>
      </p: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131543" y="44715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AutoShape 28"/>
          <p:cNvSpPr>
            <a:spLocks noChangeArrowheads="1"/>
          </p:cNvSpPr>
          <p:nvPr/>
        </p:nvSpPr>
        <p:spPr bwMode="auto">
          <a:xfrm>
            <a:off x="7255743" y="44715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4354589" y="4471520"/>
            <a:ext cx="7873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Acquisition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7465645" y="4471520"/>
            <a:ext cx="7152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Retention</a:t>
            </a:r>
          </a:p>
        </p:txBody>
      </p:sp>
      <p:sp>
        <p:nvSpPr>
          <p:cNvPr id="33" name="AutoShape 31"/>
          <p:cNvSpPr>
            <a:spLocks noChangeArrowheads="1"/>
          </p:cNvSpPr>
          <p:nvPr/>
        </p:nvSpPr>
        <p:spPr bwMode="auto">
          <a:xfrm>
            <a:off x="4436343" y="5233520"/>
            <a:ext cx="3657600" cy="304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6036543" y="5233520"/>
            <a:ext cx="53732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Profits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693143" y="2490320"/>
            <a:ext cx="8158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1693143" y="3861920"/>
            <a:ext cx="9269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Capturing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693143" y="4547720"/>
            <a:ext cx="9723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Sustaining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2759943" y="180452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2759943" y="386192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>
            <a:off x="2759943" y="454772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6188943" y="142352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6265143" y="249032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>
            <a:off x="42077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Line 42"/>
          <p:cNvSpPr>
            <a:spLocks noChangeShapeType="1"/>
          </p:cNvSpPr>
          <p:nvPr/>
        </p:nvSpPr>
        <p:spPr bwMode="auto">
          <a:xfrm>
            <a:off x="61889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84749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Line 44"/>
          <p:cNvSpPr>
            <a:spLocks noChangeShapeType="1"/>
          </p:cNvSpPr>
          <p:nvPr/>
        </p:nvSpPr>
        <p:spPr bwMode="auto">
          <a:xfrm>
            <a:off x="4664943" y="42429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>
            <a:off x="7865343" y="42429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4664943" y="49287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Line 47"/>
          <p:cNvSpPr>
            <a:spLocks noChangeShapeType="1"/>
          </p:cNvSpPr>
          <p:nvPr/>
        </p:nvSpPr>
        <p:spPr bwMode="auto">
          <a:xfrm>
            <a:off x="7865343" y="49287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4588743" y="210932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>
            <a:off x="6722343" y="210932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>
            <a:off x="5426943" y="470012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5503143" y="2795120"/>
            <a:ext cx="15621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Marketing Mix (The 4 P’s)</a:t>
            </a:r>
          </a:p>
        </p:txBody>
      </p:sp>
    </p:spTree>
    <p:extLst>
      <p:ext uri="{BB962C8B-B14F-4D97-AF65-F5344CB8AC3E}">
        <p14:creationId xmlns:p14="http://schemas.microsoft.com/office/powerpoint/2010/main" val="27671913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40" y="288742"/>
            <a:ext cx="10515600" cy="519953"/>
          </a:xfrm>
        </p:spPr>
        <p:txBody>
          <a:bodyPr/>
          <a:lstStyle/>
          <a:p>
            <a:r>
              <a:rPr lang="en-US" dirty="0"/>
              <a:t>Recurring Themes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1" y="2510118"/>
            <a:ext cx="7380110" cy="2169832"/>
          </a:xfrm>
        </p:spPr>
        <p:txBody>
          <a:bodyPr>
            <a:normAutofit/>
          </a:bodyPr>
          <a:lstStyle/>
          <a:p>
            <a:r>
              <a:rPr lang="en-US" altLang="en-US" sz="5600" dirty="0"/>
              <a:t>Marketing is an investment.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205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Barbie</a:t>
            </a:r>
          </a:p>
        </p:txBody>
      </p:sp>
    </p:spTree>
    <p:extLst>
      <p:ext uri="{BB962C8B-B14F-4D97-AF65-F5344CB8AC3E}">
        <p14:creationId xmlns:p14="http://schemas.microsoft.com/office/powerpoint/2010/main" val="1259006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E720-E584-F845-B416-B16CF792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39D9-A784-B446-918F-70AD3B3EC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/>
              <a:t>Segmentation, Targeting, Positioning</a:t>
            </a:r>
          </a:p>
        </p:txBody>
      </p:sp>
    </p:spTree>
    <p:extLst>
      <p:ext uri="{BB962C8B-B14F-4D97-AF65-F5344CB8AC3E}">
        <p14:creationId xmlns:p14="http://schemas.microsoft.com/office/powerpoint/2010/main" val="2743796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is segmentation, targeting, and positioning?  Why do we do it?</a:t>
            </a:r>
          </a:p>
          <a:p>
            <a:endParaRPr lang="en-US" sz="2600" dirty="0"/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Segmentation</a:t>
            </a:r>
          </a:p>
          <a:p>
            <a:endParaRPr lang="en-US" sz="2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Targeting</a:t>
            </a:r>
          </a:p>
          <a:p>
            <a:endParaRPr lang="en-US" sz="2600" dirty="0"/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Positioning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Segmentation, Targeting, and Positioning Agenda</a:t>
            </a:r>
          </a:p>
        </p:txBody>
      </p:sp>
    </p:spTree>
    <p:extLst>
      <p:ext uri="{BB962C8B-B14F-4D97-AF65-F5344CB8AC3E}">
        <p14:creationId xmlns:p14="http://schemas.microsoft.com/office/powerpoint/2010/main" val="10626441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61CD7E-1CB7-1A4A-87A7-B210E26E6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778061"/>
            <a:ext cx="10514011" cy="4616824"/>
          </a:xfrm>
        </p:spPr>
        <p:txBody>
          <a:bodyPr>
            <a:normAutofit/>
          </a:bodyPr>
          <a:lstStyle/>
          <a:p>
            <a:endParaRPr lang="en-US" sz="3800" dirty="0">
              <a:hlinkClick r:id="rId2"/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Marketing Framework</a:t>
            </a: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2455143" y="432920"/>
            <a:ext cx="7696200" cy="990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198343" y="432920"/>
            <a:ext cx="1920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Marketing Analysis (The 5 C’s)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607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31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7797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7179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5655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836143" y="890120"/>
            <a:ext cx="76495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Customers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360143" y="890120"/>
            <a:ext cx="69762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Company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807943" y="890120"/>
            <a:ext cx="85472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Competitors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331943" y="890120"/>
            <a:ext cx="91563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Collaborators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9084543" y="890120"/>
            <a:ext cx="60625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Context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3217143" y="1728320"/>
            <a:ext cx="6172200" cy="762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643423" y="1880720"/>
            <a:ext cx="9444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Segmentation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5869553" y="1804520"/>
            <a:ext cx="68640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Target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Selection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7841262" y="1804520"/>
            <a:ext cx="84350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 and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Service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Positioning</a:t>
            </a:r>
          </a:p>
        </p:txBody>
      </p:sp>
      <p:sp>
        <p:nvSpPr>
          <p:cNvPr id="20" name="AutoShape 18"/>
          <p:cNvSpPr>
            <a:spLocks noChangeArrowheads="1"/>
          </p:cNvSpPr>
          <p:nvPr/>
        </p:nvSpPr>
        <p:spPr bwMode="auto">
          <a:xfrm>
            <a:off x="3217143" y="2795120"/>
            <a:ext cx="6248400" cy="1447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AutoShape 19"/>
          <p:cNvSpPr>
            <a:spLocks noChangeArrowheads="1"/>
          </p:cNvSpPr>
          <p:nvPr/>
        </p:nvSpPr>
        <p:spPr bwMode="auto">
          <a:xfrm>
            <a:off x="36743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3750543" y="3176120"/>
            <a:ext cx="11239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 &amp; Service</a:t>
            </a:r>
          </a:p>
        </p:txBody>
      </p:sp>
      <p:sp>
        <p:nvSpPr>
          <p:cNvPr id="23" name="AutoShape 21"/>
          <p:cNvSpPr>
            <a:spLocks noChangeArrowheads="1"/>
          </p:cNvSpPr>
          <p:nvPr/>
        </p:nvSpPr>
        <p:spPr bwMode="auto">
          <a:xfrm>
            <a:off x="56555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7865343" y="30999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5731743" y="3176120"/>
            <a:ext cx="101983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Place/Channels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8093943" y="3176120"/>
            <a:ext cx="777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Promotion</a:t>
            </a:r>
          </a:p>
        </p:txBody>
      </p:sp>
      <p:sp>
        <p:nvSpPr>
          <p:cNvPr id="27" name="AutoShape 25"/>
          <p:cNvSpPr>
            <a:spLocks noChangeArrowheads="1"/>
          </p:cNvSpPr>
          <p:nvPr/>
        </p:nvSpPr>
        <p:spPr bwMode="auto">
          <a:xfrm>
            <a:off x="3674343" y="3785720"/>
            <a:ext cx="5486400" cy="304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5960343" y="3785720"/>
            <a:ext cx="55816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Pricing</a:t>
            </a:r>
          </a:p>
        </p:txBody>
      </p: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4131543" y="44715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AutoShape 28"/>
          <p:cNvSpPr>
            <a:spLocks noChangeArrowheads="1"/>
          </p:cNvSpPr>
          <p:nvPr/>
        </p:nvSpPr>
        <p:spPr bwMode="auto">
          <a:xfrm>
            <a:off x="7255743" y="4471520"/>
            <a:ext cx="1219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4354589" y="4471520"/>
            <a:ext cx="7873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Acquisition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7465645" y="4471520"/>
            <a:ext cx="7152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Retention</a:t>
            </a:r>
          </a:p>
        </p:txBody>
      </p:sp>
      <p:sp>
        <p:nvSpPr>
          <p:cNvPr id="33" name="AutoShape 31"/>
          <p:cNvSpPr>
            <a:spLocks noChangeArrowheads="1"/>
          </p:cNvSpPr>
          <p:nvPr/>
        </p:nvSpPr>
        <p:spPr bwMode="auto">
          <a:xfrm>
            <a:off x="4436343" y="5233520"/>
            <a:ext cx="3657600" cy="304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6036543" y="5233520"/>
            <a:ext cx="53732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Profits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1693143" y="2490320"/>
            <a:ext cx="8158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1693143" y="3861920"/>
            <a:ext cx="9269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Capturing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693143" y="4547720"/>
            <a:ext cx="9723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Sustaining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2759943" y="180452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2759943" y="386192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>
            <a:off x="2759943" y="454772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6188943" y="142352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6265143" y="249032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>
            <a:off x="42077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Line 42"/>
          <p:cNvSpPr>
            <a:spLocks noChangeShapeType="1"/>
          </p:cNvSpPr>
          <p:nvPr/>
        </p:nvSpPr>
        <p:spPr bwMode="auto">
          <a:xfrm>
            <a:off x="61889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8474943" y="35571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Line 44"/>
          <p:cNvSpPr>
            <a:spLocks noChangeShapeType="1"/>
          </p:cNvSpPr>
          <p:nvPr/>
        </p:nvSpPr>
        <p:spPr bwMode="auto">
          <a:xfrm>
            <a:off x="4664943" y="42429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>
            <a:off x="7865343" y="42429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4664943" y="49287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Line 47"/>
          <p:cNvSpPr>
            <a:spLocks noChangeShapeType="1"/>
          </p:cNvSpPr>
          <p:nvPr/>
        </p:nvSpPr>
        <p:spPr bwMode="auto">
          <a:xfrm>
            <a:off x="7865343" y="492872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4588743" y="210932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>
            <a:off x="6722343" y="210932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>
            <a:off x="5426943" y="470012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5503143" y="2795120"/>
            <a:ext cx="15621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Marketing Mix (The 4 P’s)</a:t>
            </a:r>
          </a:p>
        </p:txBody>
      </p:sp>
      <p:sp>
        <p:nvSpPr>
          <p:cNvPr id="53" name="Oval 52"/>
          <p:cNvSpPr/>
          <p:nvPr/>
        </p:nvSpPr>
        <p:spPr>
          <a:xfrm>
            <a:off x="2455143" y="1507218"/>
            <a:ext cx="7467600" cy="1227577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140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What Does Segmentation, Targeting, and Positioning Look Like?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01" y="378080"/>
            <a:ext cx="7197994" cy="515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858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What Does Segmentation, Targeting, and Positioning Look Like?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3797A84-A9BB-2D48-B5CF-B07B1A624C58}"/>
              </a:ext>
            </a:extLst>
          </p:cNvPr>
          <p:cNvGrpSpPr>
            <a:grpSpLocks/>
          </p:cNvGrpSpPr>
          <p:nvPr/>
        </p:nvGrpSpPr>
        <p:grpSpPr bwMode="auto">
          <a:xfrm>
            <a:off x="1947863" y="667526"/>
            <a:ext cx="7772400" cy="2998788"/>
            <a:chOff x="576" y="1104"/>
            <a:chExt cx="4896" cy="1889"/>
          </a:xfrm>
        </p:grpSpPr>
        <p:pic>
          <p:nvPicPr>
            <p:cNvPr id="5" name="Picture 5" descr="0_splash_3">
              <a:extLst>
                <a:ext uri="{FF2B5EF4-FFF2-40B4-BE49-F238E27FC236}">
                  <a16:creationId xmlns:a16="http://schemas.microsoft.com/office/drawing/2014/main" id="{C60822BA-D9ED-3248-A462-9F80168F0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76" y="1104"/>
              <a:ext cx="4896" cy="1514"/>
            </a:xfrm>
            <a:prstGeom prst="rect">
              <a:avLst/>
            </a:prstGeom>
            <a:noFill/>
          </p:spPr>
        </p:pic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985893DD-483D-3C4D-9F68-35157342F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" y="2743"/>
              <a:ext cx="11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000">
                  <a:latin typeface="Arial Narrow" pitchFamily="34" charset="0"/>
                </a:rPr>
                <a:t>introduced in 1994</a:t>
              </a: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DBD60F9A-1620-804F-9AE1-1F5730DB3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5" y="2736"/>
              <a:ext cx="1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000">
                  <a:latin typeface="Arial Narrow" pitchFamily="34" charset="0"/>
                </a:rPr>
                <a:t>purchased in 1983</a:t>
              </a:r>
            </a:p>
          </p:txBody>
        </p:sp>
      </p:grpSp>
      <p:pic>
        <p:nvPicPr>
          <p:cNvPr id="8" name="Picture 8" descr="0_splash_1">
            <a:extLst>
              <a:ext uri="{FF2B5EF4-FFF2-40B4-BE49-F238E27FC236}">
                <a16:creationId xmlns:a16="http://schemas.microsoft.com/office/drawing/2014/main" id="{342E06E8-9AE8-234A-8F6A-4102BA10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2626" y="3071001"/>
            <a:ext cx="7696200" cy="23796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17311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57204"/>
            <a:ext cx="10071846" cy="448234"/>
          </a:xfrm>
        </p:spPr>
        <p:txBody>
          <a:bodyPr/>
          <a:lstStyle/>
          <a:p>
            <a:r>
              <a:rPr lang="en-US" dirty="0"/>
              <a:t>What Does Segmentation, Targeting, and Positioning Look Like?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526" y="223577"/>
            <a:ext cx="4946770" cy="51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108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61CD7E-1CB7-1A4A-87A7-B210E26E6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778061"/>
            <a:ext cx="10514011" cy="4616824"/>
          </a:xfrm>
        </p:spPr>
        <p:txBody>
          <a:bodyPr>
            <a:normAutofit/>
          </a:bodyPr>
          <a:lstStyle/>
          <a:p>
            <a:endParaRPr lang="en-US" sz="3800" dirty="0">
              <a:hlinkClick r:id="rId2"/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Marketing Framework</a:t>
            </a: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2455143" y="432920"/>
            <a:ext cx="7696200" cy="990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198343" y="432920"/>
            <a:ext cx="1920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Marketing Analysis (The 5 C’s)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607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31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7797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7179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5655543" y="737720"/>
            <a:ext cx="1143000" cy="5334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836143" y="890120"/>
            <a:ext cx="76495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Customers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360143" y="890120"/>
            <a:ext cx="69762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Company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807943" y="890120"/>
            <a:ext cx="85472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Competitors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331943" y="890120"/>
            <a:ext cx="91563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Collaborators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9084543" y="890120"/>
            <a:ext cx="60625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Context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3217143" y="1728320"/>
            <a:ext cx="6172200" cy="762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643423" y="1880720"/>
            <a:ext cx="9444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Segmentation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5869553" y="1804520"/>
            <a:ext cx="68640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Target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Selection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7841262" y="1804520"/>
            <a:ext cx="84350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 and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Service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Positioning</a:t>
            </a: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6188943" y="142352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4588743" y="210932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>
            <a:off x="6722343" y="210932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2455143" y="1507218"/>
            <a:ext cx="7467600" cy="1227577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Box 26">
            <a:extLst>
              <a:ext uri="{FF2B5EF4-FFF2-40B4-BE49-F238E27FC236}">
                <a16:creationId xmlns:a16="http://schemas.microsoft.com/office/drawing/2014/main" id="{EACD3C60-3236-8D4F-8E0C-DD6C30DEA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390" y="3079936"/>
            <a:ext cx="2284786" cy="892552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000" dirty="0"/>
              <a:t> </a:t>
            </a:r>
            <a:r>
              <a:rPr lang="en-US" sz="1600" dirty="0"/>
              <a:t>Segment the market</a:t>
            </a:r>
          </a:p>
          <a:p>
            <a:pPr>
              <a:buFontTx/>
              <a:buChar char="•"/>
            </a:pPr>
            <a:r>
              <a:rPr lang="en-US" sz="1600" dirty="0"/>
              <a:t> Develop profiles of segments</a:t>
            </a:r>
          </a:p>
        </p:txBody>
      </p:sp>
      <p:sp>
        <p:nvSpPr>
          <p:cNvPr id="56" name="Text Box 27">
            <a:extLst>
              <a:ext uri="{FF2B5EF4-FFF2-40B4-BE49-F238E27FC236}">
                <a16:creationId xmlns:a16="http://schemas.microsoft.com/office/drawing/2014/main" id="{0294698B-EA1A-044D-AFDB-B14A34D3F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650" y="3110713"/>
            <a:ext cx="2284786" cy="830997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1600" dirty="0"/>
              <a:t> Evaluate segment</a:t>
            </a:r>
            <a:br>
              <a:rPr lang="en-US" sz="1600" dirty="0"/>
            </a:br>
            <a:r>
              <a:rPr lang="en-US" sz="1600" dirty="0"/>
              <a:t>  attractiveness</a:t>
            </a:r>
          </a:p>
          <a:p>
            <a:pPr>
              <a:buFontTx/>
              <a:buChar char="•"/>
            </a:pPr>
            <a:r>
              <a:rPr lang="en-US" sz="1600" dirty="0"/>
              <a:t> Select target segments</a:t>
            </a:r>
          </a:p>
        </p:txBody>
      </p:sp>
      <p:sp>
        <p:nvSpPr>
          <p:cNvPr id="57" name="Text Box 28">
            <a:extLst>
              <a:ext uri="{FF2B5EF4-FFF2-40B4-BE49-F238E27FC236}">
                <a16:creationId xmlns:a16="http://schemas.microsoft.com/office/drawing/2014/main" id="{B81C17EE-C02D-A048-8128-410F5485B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2537" y="3079936"/>
            <a:ext cx="4095476" cy="1077218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  <a:buFontTx/>
              <a:buChar char="•"/>
            </a:pPr>
            <a:r>
              <a:rPr lang="en-US" sz="1600" dirty="0"/>
              <a:t> Develop positioning concepts for each target segment (i.e., marketing mix: the four P’s)</a:t>
            </a:r>
          </a:p>
          <a:p>
            <a:pPr>
              <a:buClr>
                <a:schemeClr val="tx2"/>
              </a:buClr>
              <a:buFontTx/>
              <a:buChar char="•"/>
            </a:pPr>
            <a:r>
              <a:rPr lang="en-US" sz="1600" dirty="0"/>
              <a:t> Select, develop, communicate the chosen concept</a:t>
            </a:r>
          </a:p>
        </p:txBody>
      </p:sp>
      <p:sp>
        <p:nvSpPr>
          <p:cNvPr id="58" name="Line 35">
            <a:extLst>
              <a:ext uri="{FF2B5EF4-FFF2-40B4-BE49-F238E27FC236}">
                <a16:creationId xmlns:a16="http://schemas.microsoft.com/office/drawing/2014/main" id="{B9ECE32C-E626-2442-A424-ED85C46DB7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1996" y="2564156"/>
            <a:ext cx="838200" cy="51577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59" name="Line 35">
            <a:extLst>
              <a:ext uri="{FF2B5EF4-FFF2-40B4-BE49-F238E27FC236}">
                <a16:creationId xmlns:a16="http://schemas.microsoft.com/office/drawing/2014/main" id="{B9ECE32C-E626-2442-A424-ED85C46DB7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17876" y="2490319"/>
            <a:ext cx="0" cy="58961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60" name="Line 35">
            <a:extLst>
              <a:ext uri="{FF2B5EF4-FFF2-40B4-BE49-F238E27FC236}">
                <a16:creationId xmlns:a16="http://schemas.microsoft.com/office/drawing/2014/main" id="{B9ECE32C-E626-2442-A424-ED85C46DB7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21680" y="2490319"/>
            <a:ext cx="1176603" cy="58961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226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Bases for Segmentation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DA5AB00B-9924-6549-A606-F15DAB4AC4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32015929"/>
              </p:ext>
            </p:extLst>
          </p:nvPr>
        </p:nvGraphicFramePr>
        <p:xfrm>
          <a:off x="1025636" y="1435023"/>
          <a:ext cx="2532797" cy="46947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32797">
                  <a:extLst>
                    <a:ext uri="{9D8B030D-6E8A-4147-A177-3AD203B41FA5}">
                      <a16:colId xmlns:a16="http://schemas.microsoft.com/office/drawing/2014/main" val="1135762987"/>
                    </a:ext>
                  </a:extLst>
                </a:gridCol>
              </a:tblGrid>
              <a:tr h="116715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Geographic</a:t>
                      </a:r>
                    </a:p>
                    <a:p>
                      <a:pPr algn="ctr"/>
                      <a:r>
                        <a:rPr lang="en-US" sz="2400" dirty="0"/>
                        <a:t>“Where”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926424"/>
                  </a:ext>
                </a:extLst>
              </a:tr>
              <a:tr h="352759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/>
                        <a:t>Location</a:t>
                      </a:r>
                    </a:p>
                    <a:p>
                      <a:pPr marL="0" algn="l" defTabSz="914400" rtl="0" eaLnBrk="1" latinLnBrk="0" hangingPunct="1"/>
                      <a:endParaRPr lang="en-US" sz="2000" kern="1200" dirty="0"/>
                    </a:p>
                    <a:p>
                      <a:pPr marL="0" algn="l" defTabSz="914400" rtl="0" eaLnBrk="1" latinLnBrk="0" hangingPunct="1"/>
                      <a:r>
                        <a:rPr lang="en-US" sz="2000" kern="1200" dirty="0"/>
                        <a:t>Climate</a:t>
                      </a:r>
                    </a:p>
                    <a:p>
                      <a:pPr marL="0" algn="l" defTabSz="914400" rtl="0" eaLnBrk="1" latinLnBrk="0" hangingPunct="1"/>
                      <a:endParaRPr lang="en-US" sz="2000" kern="1200" dirty="0"/>
                    </a:p>
                    <a:p>
                      <a:pPr marL="0" algn="l" defTabSz="914400" rtl="0" eaLnBrk="1" latinLnBrk="0" hangingPunct="1"/>
                      <a:r>
                        <a:rPr lang="en-US" sz="2000" kern="1200" dirty="0"/>
                        <a:t>Population Density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6014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D0F9E681-A20E-2846-A4CF-3B3DD3161F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8774855"/>
              </p:ext>
            </p:extLst>
          </p:nvPr>
        </p:nvGraphicFramePr>
        <p:xfrm>
          <a:off x="3718879" y="1435021"/>
          <a:ext cx="2532796" cy="468819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32796">
                  <a:extLst>
                    <a:ext uri="{9D8B030D-6E8A-4147-A177-3AD203B41FA5}">
                      <a16:colId xmlns:a16="http://schemas.microsoft.com/office/drawing/2014/main" val="1135762987"/>
                    </a:ext>
                  </a:extLst>
                </a:gridCol>
              </a:tblGrid>
              <a:tr h="11655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Demographic</a:t>
                      </a:r>
                    </a:p>
                    <a:p>
                      <a:pPr algn="ctr"/>
                      <a:r>
                        <a:rPr lang="en-US" sz="2400" dirty="0"/>
                        <a:t>“Who”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926424"/>
                  </a:ext>
                </a:extLst>
              </a:tr>
              <a:tr h="3522669">
                <a:tc>
                  <a:txBody>
                    <a:bodyPr/>
                    <a:lstStyle/>
                    <a:p>
                      <a:r>
                        <a:rPr lang="en-US" sz="2000" dirty="0"/>
                        <a:t>Age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Income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Marital Status</a:t>
                      </a:r>
                    </a:p>
                    <a:p>
                      <a:endParaRPr lang="en-US" sz="2000" baseline="0" dirty="0"/>
                    </a:p>
                    <a:p>
                      <a:r>
                        <a:rPr lang="en-US" sz="2000" baseline="0" dirty="0"/>
                        <a:t>Education</a:t>
                      </a:r>
                    </a:p>
                    <a:p>
                      <a:endParaRPr lang="en-US" sz="2000" baseline="0" dirty="0"/>
                    </a:p>
                    <a:p>
                      <a:r>
                        <a:rPr lang="en-US" sz="2000" baseline="0" dirty="0"/>
                        <a:t>Profession</a:t>
                      </a:r>
                    </a:p>
                    <a:p>
                      <a:endParaRPr lang="en-US" sz="2000" baseline="0" dirty="0"/>
                    </a:p>
                    <a:p>
                      <a:pPr marL="0" algn="l" defTabSz="914400" rtl="0" eaLnBrk="1" latinLnBrk="0" hangingPunct="1"/>
                      <a:r>
                        <a:rPr lang="en-US" sz="2000" baseline="0" dirty="0"/>
                        <a:t>Industry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6014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06E49AB-6543-854B-9B62-8BC8D5336A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0817094"/>
              </p:ext>
            </p:extLst>
          </p:nvPr>
        </p:nvGraphicFramePr>
        <p:xfrm>
          <a:off x="6412121" y="1435022"/>
          <a:ext cx="2532795" cy="46947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32795">
                  <a:extLst>
                    <a:ext uri="{9D8B030D-6E8A-4147-A177-3AD203B41FA5}">
                      <a16:colId xmlns:a16="http://schemas.microsoft.com/office/drawing/2014/main" val="1135762987"/>
                    </a:ext>
                  </a:extLst>
                </a:gridCol>
              </a:tblGrid>
              <a:tr h="116715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/>
                        <a:t>Psychographic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400" kern="1200" dirty="0"/>
                        <a:t>“Why”</a:t>
                      </a: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926424"/>
                  </a:ext>
                </a:extLst>
              </a:tr>
              <a:tr h="3527598">
                <a:tc>
                  <a:txBody>
                    <a:bodyPr/>
                    <a:lstStyle/>
                    <a:p>
                      <a:r>
                        <a:rPr lang="en-US" sz="2000" dirty="0"/>
                        <a:t>Activities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Interests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Opinions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Lifestyles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Attitudes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Values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6014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20E00DD4-FEC6-E24B-AD2C-0E10178F2A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4088915"/>
              </p:ext>
            </p:extLst>
          </p:nvPr>
        </p:nvGraphicFramePr>
        <p:xfrm>
          <a:off x="9093073" y="1428465"/>
          <a:ext cx="2260727" cy="47013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60727">
                  <a:extLst>
                    <a:ext uri="{9D8B030D-6E8A-4147-A177-3AD203B41FA5}">
                      <a16:colId xmlns:a16="http://schemas.microsoft.com/office/drawing/2014/main" val="1135762987"/>
                    </a:ext>
                  </a:extLst>
                </a:gridCol>
              </a:tblGrid>
              <a:tr h="11687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/>
                        <a:t>Behavioral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400" kern="1200" dirty="0"/>
                        <a:t>“What”</a:t>
                      </a: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926424"/>
                  </a:ext>
                </a:extLst>
              </a:tr>
              <a:tr h="3532525">
                <a:tc>
                  <a:txBody>
                    <a:bodyPr/>
                    <a:lstStyle/>
                    <a:p>
                      <a:r>
                        <a:rPr lang="en-US" sz="2000" dirty="0"/>
                        <a:t>Usage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Loyalty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Occasions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/>
                        <a:t>Benefits</a:t>
                      </a:r>
                      <a:endParaRPr lang="en-US" sz="2000" baseline="0" dirty="0"/>
                    </a:p>
                    <a:p>
                      <a:endParaRPr lang="en-US" sz="2000" baseline="0" dirty="0"/>
                    </a:p>
                    <a:p>
                      <a:r>
                        <a:rPr lang="en-US" sz="2000" baseline="0" dirty="0"/>
                        <a:t>Marketing Mix Responsiveness</a:t>
                      </a:r>
                      <a:endParaRPr 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6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0057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Bases for Segmentation: Benefit Segmentation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857" y="972384"/>
            <a:ext cx="9416579" cy="436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110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Bases for Segmentation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3999244" y="2519363"/>
            <a:ext cx="7354556" cy="2760662"/>
          </a:xfrm>
        </p:spPr>
        <p:txBody>
          <a:bodyPr/>
          <a:lstStyle/>
          <a:p>
            <a:pPr algn="l"/>
            <a:r>
              <a:rPr lang="en-US" dirty="0"/>
              <a:t>Tension between </a:t>
            </a:r>
            <a:r>
              <a:rPr lang="en-US" u="sng" dirty="0"/>
              <a:t>most useful </a:t>
            </a:r>
            <a:r>
              <a:rPr lang="en-US" dirty="0"/>
              <a:t>and </a:t>
            </a:r>
            <a:r>
              <a:rPr lang="en-US" u="sng" dirty="0"/>
              <a:t>most used.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71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51FB0-9C83-C04A-B31D-24B4F1B77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953" y="5827059"/>
            <a:ext cx="10071846" cy="448234"/>
          </a:xfrm>
        </p:spPr>
        <p:txBody>
          <a:bodyPr/>
          <a:lstStyle/>
          <a:p>
            <a:r>
              <a:rPr lang="en-US" dirty="0"/>
              <a:t>Targeting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0021EC-7FD2-E342-AACC-259CC14AC5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31935" y="877888"/>
            <a:ext cx="7329718" cy="461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8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Targeting: Market Coverage Strategies</a:t>
            </a:r>
          </a:p>
          <a:p>
            <a:endParaRPr 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0DAA568D-0D03-E744-8A4D-F524A5A773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1106" y="-1784614"/>
            <a:ext cx="909638" cy="6172200"/>
          </a:xfrm>
          <a:prstGeom prst="cube">
            <a:avLst>
              <a:gd name="adj" fmla="val 1164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2549"/>
                  <a:invGamma/>
                </a:schemeClr>
              </a:gs>
            </a:gsLst>
            <a:path path="rect">
              <a:fillToRect l="100000" b="100000"/>
            </a:path>
          </a:gra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chemeClr val="bg2"/>
            </a:outerShdw>
          </a:effectLst>
        </p:spPr>
        <p:txBody>
          <a:bodyPr rot="10800000" vert="eaVert" wrap="none" lIns="84053" tIns="41315" rIns="84053" bIns="41315" anchor="ctr"/>
          <a:lstStyle/>
          <a:p>
            <a:pPr algn="ctr" defTabSz="831850" eaLnBrk="0" hangingPunct="0">
              <a:spcBef>
                <a:spcPct val="0"/>
              </a:spcBef>
            </a:pPr>
            <a:r>
              <a:rPr lang="en-US" sz="1900" b="1" dirty="0">
                <a:latin typeface="+mj-lt"/>
              </a:rPr>
              <a:t>Mass Marketing</a:t>
            </a:r>
          </a:p>
          <a:p>
            <a:pPr algn="ctr" defTabSz="831850" eaLnBrk="0" hangingPunct="0">
              <a:spcBef>
                <a:spcPct val="0"/>
              </a:spcBef>
            </a:pPr>
            <a:r>
              <a:rPr lang="en-US" sz="1400" b="1" i="1" dirty="0">
                <a:latin typeface="+mj-lt"/>
              </a:rPr>
              <a:t>Same marketing mix to all consumers </a:t>
            </a:r>
          </a:p>
          <a:p>
            <a:pPr algn="ctr" defTabSz="831850" eaLnBrk="0" hangingPunct="0">
              <a:spcBef>
                <a:spcPct val="0"/>
              </a:spcBef>
            </a:pPr>
            <a:r>
              <a:rPr lang="en-US" sz="1400" b="1" i="1" dirty="0">
                <a:latin typeface="+mj-lt"/>
              </a:rPr>
              <a:t>(no segmentation strategy)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693BE4D3-4F34-C443-970A-9F71BF2CC67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99675" y="-583670"/>
            <a:ext cx="952500" cy="5715000"/>
          </a:xfrm>
          <a:prstGeom prst="cube">
            <a:avLst>
              <a:gd name="adj" fmla="val 1164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2549"/>
                  <a:invGamma/>
                </a:schemeClr>
              </a:gs>
            </a:gsLst>
            <a:path path="rect">
              <a:fillToRect l="100000" b="100000"/>
            </a:path>
          </a:gra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chemeClr val="bg2"/>
            </a:outerShdw>
          </a:effectLst>
        </p:spPr>
        <p:txBody>
          <a:bodyPr rot="10800000" vert="eaVert" wrap="none" lIns="84053" tIns="41315" rIns="84053" bIns="41315" anchor="ctr"/>
          <a:lstStyle/>
          <a:p>
            <a:pPr algn="ctr" defTabSz="831850" eaLnBrk="0" hangingPunct="0">
              <a:spcBef>
                <a:spcPct val="0"/>
              </a:spcBef>
            </a:pPr>
            <a:r>
              <a:rPr lang="en-US" sz="1900" b="1" dirty="0">
                <a:latin typeface="+mj-lt"/>
              </a:rPr>
              <a:t>Segment/Differentiated Marketing</a:t>
            </a:r>
          </a:p>
          <a:p>
            <a:pPr algn="ctr" defTabSz="831850" eaLnBrk="0" hangingPunct="0">
              <a:spcBef>
                <a:spcPct val="0"/>
              </a:spcBef>
            </a:pPr>
            <a:r>
              <a:rPr lang="en-US" sz="1400" b="1" i="1" dirty="0">
                <a:latin typeface="+mj-lt"/>
              </a:rPr>
              <a:t>Different marketing mixes to multiple segments</a:t>
            </a:r>
          </a:p>
          <a:p>
            <a:pPr algn="ctr" defTabSz="831850" eaLnBrk="0" hangingPunct="0">
              <a:spcBef>
                <a:spcPct val="0"/>
              </a:spcBef>
            </a:pPr>
            <a:r>
              <a:rPr lang="en-US" sz="1400" b="1" i="1" dirty="0">
                <a:latin typeface="+mj-lt"/>
              </a:rPr>
              <a:t>(some segmentation)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BBAA8D89-84AC-8E42-945F-1F8B84F9EE5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07613" y="2016655"/>
            <a:ext cx="936625" cy="4495800"/>
          </a:xfrm>
          <a:prstGeom prst="cube">
            <a:avLst>
              <a:gd name="adj" fmla="val 1164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2549"/>
                  <a:invGamma/>
                </a:schemeClr>
              </a:gs>
            </a:gsLst>
            <a:path path="rect">
              <a:fillToRect l="100000" b="100000"/>
            </a:path>
          </a:gra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chemeClr val="bg2"/>
            </a:outerShdw>
          </a:effectLst>
        </p:spPr>
        <p:txBody>
          <a:bodyPr rot="10800000" vert="eaVert" wrap="none" lIns="84053" tIns="41315" rIns="84053" bIns="41315" anchor="ctr"/>
          <a:lstStyle/>
          <a:p>
            <a:pPr algn="ctr" defTabSz="831850" eaLnBrk="0" hangingPunct="0">
              <a:spcBef>
                <a:spcPct val="0"/>
              </a:spcBef>
            </a:pPr>
            <a:r>
              <a:rPr lang="en-US" sz="1900" b="1" dirty="0">
                <a:latin typeface="+mj-lt"/>
              </a:rPr>
              <a:t>Mass Customization</a:t>
            </a:r>
          </a:p>
          <a:p>
            <a:pPr algn="ctr" defTabSz="831850" eaLnBrk="0" hangingPunct="0">
              <a:spcBef>
                <a:spcPct val="0"/>
              </a:spcBef>
            </a:pPr>
            <a:r>
              <a:rPr lang="en-US" sz="1400" b="1" i="1" dirty="0">
                <a:latin typeface="+mj-lt"/>
              </a:rPr>
              <a:t>Suit the tastes of individuals or locations </a:t>
            </a:r>
          </a:p>
          <a:p>
            <a:pPr algn="ctr" defTabSz="831850" eaLnBrk="0" hangingPunct="0">
              <a:spcBef>
                <a:spcPct val="0"/>
              </a:spcBef>
            </a:pPr>
            <a:r>
              <a:rPr lang="en-US" sz="1400" b="1" i="1" dirty="0">
                <a:latin typeface="+mj-lt"/>
              </a:rPr>
              <a:t>(complete segmentation)</a:t>
            </a: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6760D9CD-921F-0248-8AE3-E56292DF30E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99675" y="678392"/>
            <a:ext cx="952500" cy="5181600"/>
          </a:xfrm>
          <a:prstGeom prst="cube">
            <a:avLst>
              <a:gd name="adj" fmla="val 1164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2549"/>
                  <a:invGamma/>
                </a:schemeClr>
              </a:gs>
            </a:gsLst>
            <a:path path="rect">
              <a:fillToRect l="100000" b="100000"/>
            </a:path>
          </a:gra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chemeClr val="bg2"/>
            </a:outerShdw>
          </a:effectLst>
        </p:spPr>
        <p:txBody>
          <a:bodyPr rot="10800000" vert="eaVert" wrap="none" lIns="84053" tIns="41315" rIns="84053" bIns="41315" anchor="ctr"/>
          <a:lstStyle/>
          <a:p>
            <a:pPr algn="ctr" defTabSz="831850" eaLnBrk="0" hangingPunct="0">
              <a:spcBef>
                <a:spcPct val="0"/>
              </a:spcBef>
            </a:pPr>
            <a:r>
              <a:rPr lang="en-US" sz="1900" b="1" dirty="0">
                <a:latin typeface="+mj-lt"/>
              </a:rPr>
              <a:t>Niche Marketing</a:t>
            </a:r>
          </a:p>
          <a:p>
            <a:pPr algn="ctr" defTabSz="831850" eaLnBrk="0" hangingPunct="0">
              <a:spcBef>
                <a:spcPct val="0"/>
              </a:spcBef>
            </a:pPr>
            <a:r>
              <a:rPr lang="en-US" sz="1400" b="1" i="1" dirty="0">
                <a:latin typeface="+mj-lt"/>
              </a:rPr>
              <a:t>Different marketing mixes to a selective subgroup</a:t>
            </a:r>
          </a:p>
          <a:p>
            <a:pPr algn="ctr" defTabSz="831850" eaLnBrk="0" hangingPunct="0">
              <a:spcBef>
                <a:spcPct val="0"/>
              </a:spcBef>
            </a:pPr>
            <a:r>
              <a:rPr lang="en-US" sz="1400" b="1" i="1" dirty="0">
                <a:latin typeface="+mj-lt"/>
              </a:rPr>
              <a:t>(some segmentation)</a:t>
            </a:r>
          </a:p>
        </p:txBody>
      </p:sp>
      <p:grpSp>
        <p:nvGrpSpPr>
          <p:cNvPr id="10" name="Group 17">
            <a:extLst>
              <a:ext uri="{FF2B5EF4-FFF2-40B4-BE49-F238E27FC236}">
                <a16:creationId xmlns:a16="http://schemas.microsoft.com/office/drawing/2014/main" id="{3CF1BEB1-94C6-434B-A392-371174B49CFB}"/>
              </a:ext>
            </a:extLst>
          </p:cNvPr>
          <p:cNvGrpSpPr>
            <a:grpSpLocks/>
          </p:cNvGrpSpPr>
          <p:nvPr/>
        </p:nvGrpSpPr>
        <p:grpSpPr bwMode="auto">
          <a:xfrm>
            <a:off x="2788621" y="1588027"/>
            <a:ext cx="1676400" cy="3878263"/>
            <a:chOff x="1152" y="1584"/>
            <a:chExt cx="1056" cy="2443"/>
          </a:xfrm>
        </p:grpSpPr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1E123762-6405-014D-8348-33100518B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584"/>
              <a:ext cx="0" cy="192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44C371EE-15B6-1A45-BA93-F671F1741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504"/>
              <a:ext cx="1056" cy="5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Level of detail</a:t>
              </a:r>
            </a:p>
            <a:p>
              <a:pPr algn="l"/>
              <a:r>
                <a:rPr lang="en-US" sz="1600" dirty="0">
                  <a:solidFill>
                    <a:schemeClr val="accent1">
                      <a:lumMod val="5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(better serving needs)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113F068-F91E-1141-B7E8-66D6D0CDE9AA}"/>
              </a:ext>
            </a:extLst>
          </p:cNvPr>
          <p:cNvGrpSpPr>
            <a:grpSpLocks/>
          </p:cNvGrpSpPr>
          <p:nvPr/>
        </p:nvGrpSpPr>
        <p:grpSpPr bwMode="auto">
          <a:xfrm>
            <a:off x="746217" y="869244"/>
            <a:ext cx="1335088" cy="3205163"/>
            <a:chOff x="-374" y="1917"/>
            <a:chExt cx="841" cy="2019"/>
          </a:xfrm>
        </p:grpSpPr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D3D33EE4-4ABC-4B4D-9D43-C46DE7C5B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" y="2064"/>
              <a:ext cx="0" cy="1872"/>
            </a:xfrm>
            <a:prstGeom prst="line">
              <a:avLst/>
            </a:prstGeom>
            <a:noFill/>
            <a:ln w="57150">
              <a:solidFill>
                <a:schemeClr val="accent3">
                  <a:lumMod val="75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8BD413E0-BA31-6744-AF27-B829F5C96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74" y="1917"/>
              <a:ext cx="841" cy="6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lang="en-US" sz="16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Larger numbers (economies of scale)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A89D643-2E33-F240-A1E9-A20E6BBE0010}"/>
              </a:ext>
            </a:extLst>
          </p:cNvPr>
          <p:cNvGrpSpPr>
            <a:grpSpLocks/>
          </p:cNvGrpSpPr>
          <p:nvPr/>
        </p:nvGrpSpPr>
        <p:grpSpPr bwMode="auto">
          <a:xfrm>
            <a:off x="2263468" y="2875138"/>
            <a:ext cx="931862" cy="474663"/>
            <a:chOff x="901" y="2736"/>
            <a:chExt cx="587" cy="299"/>
          </a:xfrm>
        </p:grpSpPr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EA74D752-685E-F246-9F31-0C6FE9C23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736"/>
              <a:ext cx="576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4FEED4EE-61CB-5E45-A65A-20BB481AD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" y="2822"/>
              <a:ext cx="573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trade off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6884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6FC5-5CA3-7544-BDD5-A33E19DE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042"/>
            <a:ext cx="10515600" cy="519953"/>
          </a:xfrm>
        </p:spPr>
        <p:txBody>
          <a:bodyPr>
            <a:noAutofit/>
          </a:bodyPr>
          <a:lstStyle/>
          <a:p>
            <a:r>
              <a:rPr lang="en-US" sz="3600" dirty="0"/>
              <a:t>Mass Marketing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B2AD97-65B4-5846-A57E-359026715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758" y="1384979"/>
            <a:ext cx="6370483" cy="451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749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6FC5-5CA3-7544-BDD5-A33E19DE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042"/>
            <a:ext cx="10515600" cy="519953"/>
          </a:xfrm>
        </p:spPr>
        <p:txBody>
          <a:bodyPr>
            <a:noAutofit/>
          </a:bodyPr>
          <a:lstStyle/>
          <a:p>
            <a:r>
              <a:rPr lang="en-US" sz="3600" dirty="0"/>
              <a:t>Differentiated Marketing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53797A84-A9BB-2D48-B5CF-B07B1A624C58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371600"/>
            <a:ext cx="7772400" cy="2998788"/>
            <a:chOff x="576" y="1104"/>
            <a:chExt cx="4896" cy="1889"/>
          </a:xfrm>
        </p:grpSpPr>
        <p:pic>
          <p:nvPicPr>
            <p:cNvPr id="9" name="Picture 5" descr="0_splash_3">
              <a:extLst>
                <a:ext uri="{FF2B5EF4-FFF2-40B4-BE49-F238E27FC236}">
                  <a16:creationId xmlns:a16="http://schemas.microsoft.com/office/drawing/2014/main" id="{C60822BA-D9ED-3248-A462-9F80168F0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6" y="1104"/>
              <a:ext cx="4896" cy="1514"/>
            </a:xfrm>
            <a:prstGeom prst="rect">
              <a:avLst/>
            </a:prstGeom>
            <a:noFill/>
          </p:spPr>
        </p:pic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985893DD-483D-3C4D-9F68-35157342F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" y="2743"/>
              <a:ext cx="11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000">
                  <a:latin typeface="Arial Narrow" pitchFamily="34" charset="0"/>
                </a:rPr>
                <a:t>introduced in 1994</a:t>
              </a: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DBD60F9A-1620-804F-9AE1-1F5730DB3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5" y="2736"/>
              <a:ext cx="1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000">
                  <a:latin typeface="Arial Narrow" pitchFamily="34" charset="0"/>
                </a:rPr>
                <a:t>purchased in 1983</a:t>
              </a:r>
            </a:p>
          </p:txBody>
        </p:sp>
      </p:grpSp>
      <p:pic>
        <p:nvPicPr>
          <p:cNvPr id="12" name="Picture 8" descr="0_splash_1">
            <a:extLst>
              <a:ext uri="{FF2B5EF4-FFF2-40B4-BE49-F238E27FC236}">
                <a16:creationId xmlns:a16="http://schemas.microsoft.com/office/drawing/2014/main" id="{342E06E8-9AE8-234A-8F6A-4102BA10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1200" y="3886200"/>
            <a:ext cx="7696200" cy="23796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62175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6FC5-5CA3-7544-BDD5-A33E19DE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042"/>
            <a:ext cx="10515600" cy="519953"/>
          </a:xfrm>
        </p:spPr>
        <p:txBody>
          <a:bodyPr>
            <a:noAutofit/>
          </a:bodyPr>
          <a:lstStyle/>
          <a:p>
            <a:r>
              <a:rPr lang="en-US" sz="3600" dirty="0"/>
              <a:t>Niche Marketing</a:t>
            </a: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6597CFA9-9975-8549-8DF3-E2E063E8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064" y="1345099"/>
            <a:ext cx="9197871" cy="477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793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018867" cy="4995863"/>
          </a:xfrm>
        </p:spPr>
        <p:txBody>
          <a:bodyPr/>
          <a:lstStyle/>
          <a:p>
            <a:r>
              <a:rPr lang="en-US" dirty="0"/>
              <a:t>Framing the brand in the target consumers’ minds so that it occupies a distinct and valued place.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105627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4400" dirty="0">
                <a:latin typeface="Source Sans Pro" panose="020B0503030403020204" pitchFamily="34" charset="0"/>
                <a:ea typeface="Source Sans Pro" panose="020B0503030403020204" pitchFamily="34" charset="0"/>
                <a:hlinkClick r:id="rId2"/>
              </a:rPr>
              <a:t>Lexus </a:t>
            </a:r>
            <a:r>
              <a:rPr lang="en-US" sz="4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vs. </a:t>
            </a:r>
            <a:r>
              <a:rPr lang="en-US" sz="4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BMW </a:t>
            </a:r>
            <a:endParaRPr lang="en-US" sz="4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lvl="1" indent="0">
              <a:buNone/>
            </a:pPr>
            <a:endParaRPr lang="en-US" sz="4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lvl="1" indent="0">
              <a:buNone/>
            </a:pPr>
            <a:endParaRPr lang="en-US" sz="4400" dirty="0"/>
          </a:p>
          <a:p>
            <a:pPr marL="457200" lvl="1" indent="0">
              <a:buNone/>
            </a:pPr>
            <a:r>
              <a:rPr lang="en-US" sz="4400" dirty="0"/>
              <a:t>What is the difference?</a:t>
            </a:r>
          </a:p>
          <a:p>
            <a:pPr marL="457200" lvl="1" indent="0">
              <a:buNone/>
            </a:pPr>
            <a:endParaRPr lang="en-US" sz="4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Positioning</a:t>
            </a:r>
          </a:p>
        </p:txBody>
      </p:sp>
    </p:spTree>
    <p:extLst>
      <p:ext uri="{BB962C8B-B14F-4D97-AF65-F5344CB8AC3E}">
        <p14:creationId xmlns:p14="http://schemas.microsoft.com/office/powerpoint/2010/main" val="20526615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53-CFEA-C04F-A3F4-42FEB513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748C-592A-5547-ACAB-2AD62641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7357533" cy="4995863"/>
          </a:xfrm>
        </p:spPr>
        <p:txBody>
          <a:bodyPr/>
          <a:lstStyle/>
          <a:p>
            <a:r>
              <a:rPr lang="en-US" dirty="0"/>
              <a:t>Identify and choose competitive advantages</a:t>
            </a:r>
          </a:p>
          <a:p>
            <a:r>
              <a:rPr lang="en-US" dirty="0"/>
              <a:t>	</a:t>
            </a:r>
            <a:r>
              <a:rPr lang="en-US" sz="3600" dirty="0"/>
              <a:t>Points of parity</a:t>
            </a:r>
          </a:p>
          <a:p>
            <a:endParaRPr lang="en-US" sz="3600" dirty="0"/>
          </a:p>
          <a:p>
            <a:r>
              <a:rPr lang="en-US" sz="3600" dirty="0"/>
              <a:t>	</a:t>
            </a:r>
          </a:p>
          <a:p>
            <a:r>
              <a:rPr lang="en-US" sz="3600" dirty="0"/>
              <a:t>	Points of difference</a:t>
            </a:r>
          </a:p>
          <a:p>
            <a:r>
              <a:rPr lang="en-US" sz="3600" dirty="0"/>
              <a:t>	</a:t>
            </a:r>
            <a:r>
              <a:rPr lang="en-US" sz="3600" dirty="0">
                <a:hlinkClick r:id="rId2"/>
              </a:rPr>
              <a:t>(Classic example)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415170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Positioning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B8268-79A4-4D4B-AFC5-20C3D89A2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5225" y="878541"/>
            <a:ext cx="10514011" cy="461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cs typeface="Calibri" panose="020F0502020204030204" pitchFamily="34" charset="0"/>
              </a:rPr>
              <a:t>For    </a:t>
            </a:r>
            <a:r>
              <a:rPr lang="en-US" sz="2400" u="sng" dirty="0">
                <a:cs typeface="Calibri" panose="020F0502020204030204" pitchFamily="34" charset="0"/>
              </a:rPr>
              <a:t>____________________________________________</a:t>
            </a:r>
            <a:r>
              <a:rPr lang="en-US" sz="2400" dirty="0">
                <a:cs typeface="Calibri" panose="020F0502020204030204" pitchFamily="34" charset="0"/>
              </a:rPr>
              <a:t>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cs typeface="Calibri" panose="020F0502020204030204" pitchFamily="34" charset="0"/>
              </a:rPr>
              <a:t>	                                 </a:t>
            </a:r>
            <a:r>
              <a:rPr lang="en-US" sz="2400" i="1" dirty="0">
                <a:cs typeface="Calibri" panose="020F0502020204030204" pitchFamily="34" charset="0"/>
              </a:rPr>
              <a:t>(target segment)</a:t>
            </a:r>
            <a:endParaRPr lang="en-US" sz="2400" i="1" u="sng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cs typeface="Calibri" panose="020F0502020204030204" pitchFamily="34" charset="0"/>
              </a:rPr>
              <a:t>we offer    </a:t>
            </a:r>
            <a:r>
              <a:rPr lang="en-US" sz="2400" u="sng" dirty="0">
                <a:cs typeface="Calibri" panose="020F0502020204030204" pitchFamily="34" charset="0"/>
              </a:rPr>
              <a:t>____________________________________</a:t>
            </a: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cs typeface="Calibri" panose="020F0502020204030204" pitchFamily="34" charset="0"/>
              </a:rPr>
              <a:t>			  </a:t>
            </a:r>
            <a:r>
              <a:rPr lang="en-US" sz="2400" i="1" dirty="0">
                <a:cs typeface="Calibri" panose="020F0502020204030204" pitchFamily="34" charset="0"/>
              </a:rPr>
              <a:t>(single most important claim)</a:t>
            </a: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cs typeface="Calibri" panose="020F0502020204030204" pitchFamily="34" charset="0"/>
              </a:rPr>
              <a:t>among all   </a:t>
            </a:r>
            <a:r>
              <a:rPr lang="en-US" sz="2400" u="sng" dirty="0">
                <a:cs typeface="Calibri" panose="020F0502020204030204" pitchFamily="34" charset="0"/>
              </a:rPr>
              <a:t>________________________________________</a:t>
            </a: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i="1" dirty="0">
                <a:cs typeface="Calibri" panose="020F0502020204030204" pitchFamily="34" charset="0"/>
              </a:rPr>
              <a:t>                                                (competitive frame)</a:t>
            </a: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cs typeface="Calibri" panose="020F0502020204030204" pitchFamily="34" charset="0"/>
              </a:rPr>
              <a:t>because   </a:t>
            </a:r>
            <a:r>
              <a:rPr lang="en-US" sz="2400" u="sng" dirty="0">
                <a:cs typeface="Calibri" panose="020F0502020204030204" pitchFamily="34" charset="0"/>
              </a:rPr>
              <a:t>_________________________________________</a:t>
            </a: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i="1" dirty="0">
                <a:cs typeface="Calibri" panose="020F0502020204030204" pitchFamily="34" charset="0"/>
              </a:rPr>
              <a:t>                                              (single most important support)</a:t>
            </a:r>
            <a:endParaRPr lang="en-US" sz="24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1349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B8268-79A4-4D4B-AFC5-20C3D89A28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For </a:t>
            </a:r>
            <a:r>
              <a:rPr lang="en-GB" u="sng" dirty="0"/>
              <a:t>business people who rent cars</a:t>
            </a:r>
            <a:r>
              <a:rPr lang="en-GB" dirty="0"/>
              <a:t>, </a:t>
            </a:r>
          </a:p>
          <a:p>
            <a:endParaRPr lang="en-GB" dirty="0"/>
          </a:p>
          <a:p>
            <a:r>
              <a:rPr lang="en-GB" dirty="0"/>
              <a:t>Avis is the company who will give you the </a:t>
            </a:r>
            <a:r>
              <a:rPr lang="en-GB" u="sng" dirty="0"/>
              <a:t>best service </a:t>
            </a:r>
          </a:p>
          <a:p>
            <a:endParaRPr lang="en-GB" dirty="0"/>
          </a:p>
          <a:p>
            <a:r>
              <a:rPr lang="en-GB" dirty="0"/>
              <a:t>among </a:t>
            </a:r>
            <a:r>
              <a:rPr lang="en-GB" u="sng" dirty="0"/>
              <a:t>all car rental companies </a:t>
            </a:r>
          </a:p>
          <a:p>
            <a:endParaRPr lang="en-GB" dirty="0"/>
          </a:p>
          <a:p>
            <a:r>
              <a:rPr lang="en-GB" dirty="0"/>
              <a:t>because </a:t>
            </a:r>
            <a:r>
              <a:rPr lang="en-GB" u="sng" dirty="0"/>
              <a:t>the employees own the company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Positioning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3005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604136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Segmentation, Targeting, and Positioning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easiest segments to reach may not be the most valuable.</a:t>
            </a:r>
          </a:p>
          <a:p>
            <a:endParaRPr lang="en-US" dirty="0"/>
          </a:p>
          <a:p>
            <a:r>
              <a:rPr lang="en-US" dirty="0"/>
              <a:t>Consider tradeoffs between the costs of serving multiple segments and the benefits of fulfilling a segment’s needs precisely.</a:t>
            </a:r>
          </a:p>
          <a:p>
            <a:endParaRPr lang="en-US" dirty="0"/>
          </a:p>
          <a:p>
            <a:r>
              <a:rPr lang="en-US" dirty="0"/>
              <a:t>Ensure that your brand is positioned to convey the right value to the right people.</a:t>
            </a:r>
          </a:p>
        </p:txBody>
      </p:sp>
    </p:spTree>
    <p:extLst>
      <p:ext uri="{BB962C8B-B14F-4D97-AF65-F5344CB8AC3E}">
        <p14:creationId xmlns:p14="http://schemas.microsoft.com/office/powerpoint/2010/main" val="217831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E720-E584-F845-B416-B16CF792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39D9-A784-B446-918F-70AD3B3EC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DayTwo</a:t>
            </a:r>
            <a:endParaRPr lang="en-US" b="0" dirty="0"/>
          </a:p>
        </p:txBody>
      </p:sp>
      <p:sp>
        <p:nvSpPr>
          <p:cNvPr id="4" name="TextBox 3"/>
          <p:cNvSpPr txBox="1"/>
          <p:nvPr/>
        </p:nvSpPr>
        <p:spPr>
          <a:xfrm>
            <a:off x="10448364" y="4437902"/>
            <a:ext cx="181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Website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0103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E720-E584-F845-B416-B16CF792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39D9-A784-B446-918F-70AD3B3EC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0" dirty="0"/>
              <a:t>Marketing Plan Assignment</a:t>
            </a:r>
          </a:p>
        </p:txBody>
      </p:sp>
    </p:spTree>
    <p:extLst>
      <p:ext uri="{BB962C8B-B14F-4D97-AF65-F5344CB8AC3E}">
        <p14:creationId xmlns:p14="http://schemas.microsoft.com/office/powerpoint/2010/main" val="5421698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1"/>
          <p:cNvSpPr>
            <a:spLocks noGrp="1"/>
          </p:cNvSpPr>
          <p:nvPr>
            <p:ph idx="1"/>
          </p:nvPr>
        </p:nvSpPr>
        <p:spPr>
          <a:xfrm>
            <a:off x="838200" y="1181100"/>
            <a:ext cx="7154333" cy="4995863"/>
          </a:xfrm>
        </p:spPr>
        <p:txBody>
          <a:bodyPr>
            <a:normAutofit/>
          </a:bodyPr>
          <a:lstStyle/>
          <a:p>
            <a:r>
              <a:rPr lang="en-US" altLang="en-US" dirty="0"/>
              <a:t>Your assignment:</a:t>
            </a:r>
          </a:p>
          <a:p>
            <a:r>
              <a:rPr lang="en-US" altLang="en-US" dirty="0"/>
              <a:t>	Develop a marketing plan 	for a new product (not 	something your company 	is already working on).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Marketing Plan</a:t>
            </a:r>
          </a:p>
        </p:txBody>
      </p:sp>
    </p:spTree>
    <p:extLst>
      <p:ext uri="{BB962C8B-B14F-4D97-AF65-F5344CB8AC3E}">
        <p14:creationId xmlns:p14="http://schemas.microsoft.com/office/powerpoint/2010/main" val="12643882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Marketing Plan - Deliverables</a:t>
            </a:r>
            <a:endParaRPr lang="en-US" dirty="0"/>
          </a:p>
        </p:txBody>
      </p:sp>
      <p:sp>
        <p:nvSpPr>
          <p:cNvPr id="38914" name="Content Placeholder 1"/>
          <p:cNvSpPr>
            <a:spLocks noGrp="1"/>
          </p:cNvSpPr>
          <p:nvPr>
            <p:ph idx="1"/>
          </p:nvPr>
        </p:nvSpPr>
        <p:spPr>
          <a:xfrm>
            <a:off x="838200" y="1181100"/>
            <a:ext cx="6952129" cy="5354171"/>
          </a:xfrm>
        </p:spPr>
        <p:txBody>
          <a:bodyPr/>
          <a:lstStyle/>
          <a:p>
            <a:r>
              <a:rPr lang="en-US" altLang="en-US" dirty="0"/>
              <a:t>This Saturday:</a:t>
            </a:r>
          </a:p>
          <a:p>
            <a:pPr marL="457200" lvl="1" indent="0">
              <a:buNone/>
            </a:pPr>
            <a:r>
              <a:rPr lang="en-US" altLang="en-US" sz="3200" dirty="0"/>
              <a:t>Briefly tell us, in class, what product you’ll focus on (nothing formal turned in)</a:t>
            </a:r>
            <a:r>
              <a:rPr lang="en-US" altLang="en-US" dirty="0"/>
              <a:t>	.</a:t>
            </a:r>
          </a:p>
          <a:p>
            <a:pPr marL="457200" lvl="1" indent="0">
              <a:buNone/>
            </a:pPr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dirty="0"/>
              <a:t>Last day of class:</a:t>
            </a:r>
          </a:p>
          <a:p>
            <a:pPr marL="457200" lvl="1" indent="0">
              <a:buNone/>
            </a:pPr>
            <a:r>
              <a:rPr lang="en-US" altLang="en-US" sz="3200" dirty="0"/>
              <a:t>Written marketing plan (25 pp. max)</a:t>
            </a:r>
          </a:p>
          <a:p>
            <a:r>
              <a:rPr lang="en-US" altLang="en-US" sz="3200" dirty="0"/>
              <a:t>      Presentation to class (~10-15 min.)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30512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1"/>
          <p:cNvSpPr>
            <a:spLocks noGrp="1"/>
          </p:cNvSpPr>
          <p:nvPr>
            <p:ph idx="1"/>
          </p:nvPr>
        </p:nvSpPr>
        <p:spPr>
          <a:xfrm>
            <a:off x="838200" y="1181100"/>
            <a:ext cx="7154333" cy="4995863"/>
          </a:xfrm>
        </p:spPr>
        <p:txBody>
          <a:bodyPr/>
          <a:lstStyle/>
          <a:p>
            <a:r>
              <a:rPr lang="en-US" altLang="en-US" dirty="0"/>
              <a:t>Ok… but what is a marketing plan?</a:t>
            </a:r>
          </a:p>
          <a:p>
            <a:pPr marL="457200" lvl="1" indent="0">
              <a:buNone/>
            </a:pPr>
            <a:r>
              <a:rPr lang="en-US" altLang="en-US" sz="3200" dirty="0"/>
              <a:t>Written document</a:t>
            </a:r>
          </a:p>
          <a:p>
            <a:pPr marL="457200" lvl="1" indent="0">
              <a:buNone/>
            </a:pPr>
            <a:endParaRPr lang="en-US" altLang="en-US" sz="3200" dirty="0"/>
          </a:p>
          <a:p>
            <a:pPr marL="457200" lvl="1" indent="0">
              <a:buNone/>
            </a:pPr>
            <a:r>
              <a:rPr lang="en-US" altLang="en-US" sz="3200" dirty="0"/>
              <a:t>Summarizes what the marketer has learned about the marketplace </a:t>
            </a:r>
          </a:p>
          <a:p>
            <a:pPr marL="457200" lvl="1" indent="0">
              <a:buNone/>
            </a:pPr>
            <a:endParaRPr lang="en-US" altLang="en-US" sz="3200" dirty="0"/>
          </a:p>
          <a:p>
            <a:pPr marL="457200" lvl="1" indent="0">
              <a:buNone/>
            </a:pPr>
            <a:r>
              <a:rPr lang="en-US" altLang="en-US" sz="3200" dirty="0"/>
              <a:t>Indicates how the firm plans to reach its marketing objectives</a:t>
            </a:r>
          </a:p>
          <a:p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Marketing Plan</a:t>
            </a:r>
          </a:p>
        </p:txBody>
      </p:sp>
    </p:spTree>
    <p:extLst>
      <p:ext uri="{BB962C8B-B14F-4D97-AF65-F5344CB8AC3E}">
        <p14:creationId xmlns:p14="http://schemas.microsoft.com/office/powerpoint/2010/main" val="15520799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1"/>
          <p:cNvSpPr>
            <a:spLocks noGrp="1"/>
          </p:cNvSpPr>
          <p:nvPr>
            <p:ph idx="1"/>
          </p:nvPr>
        </p:nvSpPr>
        <p:spPr>
          <a:xfrm>
            <a:off x="838200" y="1181101"/>
            <a:ext cx="7301089" cy="4892322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Some ideas from previous classes</a:t>
            </a:r>
          </a:p>
          <a:p>
            <a:pPr marL="914400" lvl="2" indent="0">
              <a:buNone/>
            </a:pPr>
            <a:r>
              <a:rPr lang="en-US" altLang="en-US" sz="2600" dirty="0"/>
              <a:t>Home beekeeping kits</a:t>
            </a:r>
          </a:p>
          <a:p>
            <a:pPr marL="914400" lvl="2" indent="0">
              <a:buNone/>
            </a:pPr>
            <a:endParaRPr lang="en-US" altLang="en-US" sz="2600" dirty="0"/>
          </a:p>
          <a:p>
            <a:pPr marL="914400" lvl="2" indent="0">
              <a:buNone/>
            </a:pPr>
            <a:r>
              <a:rPr lang="en-US" altLang="en-US" sz="2600" dirty="0"/>
              <a:t>Digital platform connecting craft brewers to customers</a:t>
            </a:r>
          </a:p>
          <a:p>
            <a:pPr marL="914400" lvl="2" indent="0">
              <a:buNone/>
            </a:pPr>
            <a:endParaRPr lang="en-US" altLang="en-US" sz="2600" dirty="0"/>
          </a:p>
          <a:p>
            <a:pPr marL="914400" lvl="2" indent="0">
              <a:buNone/>
            </a:pPr>
            <a:r>
              <a:rPr lang="en-US" altLang="en-US" sz="2600" dirty="0"/>
              <a:t>Stroller handle extender</a:t>
            </a:r>
          </a:p>
          <a:p>
            <a:pPr marL="914400" lvl="2" indent="0">
              <a:buNone/>
            </a:pPr>
            <a:endParaRPr lang="en-US" altLang="en-US" sz="2600" dirty="0"/>
          </a:p>
          <a:p>
            <a:pPr marL="914400" lvl="2" indent="0">
              <a:buNone/>
            </a:pPr>
            <a:r>
              <a:rPr lang="en-US" altLang="en-US" sz="2600" dirty="0"/>
              <a:t>After-school transportation for kids</a:t>
            </a:r>
          </a:p>
          <a:p>
            <a:pPr indent="-228600"/>
            <a:endParaRPr lang="en-US" altLang="en-US" sz="3600" dirty="0"/>
          </a:p>
          <a:p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Marketing Plan</a:t>
            </a:r>
          </a:p>
        </p:txBody>
      </p:sp>
    </p:spTree>
    <p:extLst>
      <p:ext uri="{BB962C8B-B14F-4D97-AF65-F5344CB8AC3E}">
        <p14:creationId xmlns:p14="http://schemas.microsoft.com/office/powerpoint/2010/main" val="14830385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81101"/>
            <a:ext cx="9626600" cy="4869744"/>
          </a:xfrm>
        </p:spPr>
        <p:txBody>
          <a:bodyPr>
            <a:normAutofit/>
          </a:bodyPr>
          <a:lstStyle/>
          <a:p>
            <a:r>
              <a:rPr lang="en-US" sz="3600" dirty="0"/>
              <a:t>The Marketing Plan Handbook </a:t>
            </a:r>
          </a:p>
          <a:p>
            <a:r>
              <a:rPr lang="en-US" sz="3600" i="1" dirty="0"/>
              <a:t>     </a:t>
            </a:r>
            <a:r>
              <a:rPr lang="en-US" sz="2800" dirty="0"/>
              <a:t>Chapters 1-3: information on writing a plan</a:t>
            </a:r>
          </a:p>
          <a:p>
            <a:pPr marL="457200" lvl="1" indent="0">
              <a:buNone/>
            </a:pPr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lvl="1" indent="0">
              <a:buNone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Chapters 5-7: some examples</a:t>
            </a:r>
          </a:p>
          <a:p>
            <a:pPr marL="457200" lvl="1" indent="0">
              <a:buNone/>
            </a:pPr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lvl="1" indent="0">
              <a:buNone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Appendix B: how to write a positioning statement</a:t>
            </a:r>
          </a:p>
          <a:p>
            <a:pPr marL="457200" lvl="1" indent="0">
              <a:buNone/>
            </a:pPr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lvl="1" indent="0">
              <a:buNone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Appendix D: how to develop a communication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Plan</a:t>
            </a:r>
          </a:p>
        </p:txBody>
      </p:sp>
    </p:spTree>
    <p:extLst>
      <p:ext uri="{BB962C8B-B14F-4D97-AF65-F5344CB8AC3E}">
        <p14:creationId xmlns:p14="http://schemas.microsoft.com/office/powerpoint/2010/main" val="30438588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81100"/>
            <a:ext cx="7380111" cy="4995863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sz="3600" dirty="0"/>
              <a:t>Executive summary</a:t>
            </a:r>
          </a:p>
          <a:p>
            <a:endParaRPr lang="en-US" sz="3600" dirty="0"/>
          </a:p>
          <a:p>
            <a:r>
              <a:rPr lang="en-US" sz="3600" dirty="0"/>
              <a:t>2.  Situation overview</a:t>
            </a:r>
          </a:p>
          <a:p>
            <a:pPr marL="457200" lvl="1" indent="0">
              <a:buNone/>
            </a:pPr>
            <a:r>
              <a:rPr lang="en-US" sz="2800" dirty="0"/>
              <a:t>Identify relevant opportunities and threats</a:t>
            </a:r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sz="3600" dirty="0"/>
              <a:t>3.  What is your goal?</a:t>
            </a:r>
          </a:p>
          <a:p>
            <a:pPr marL="457200" lvl="1" indent="0">
              <a:buNone/>
            </a:pPr>
            <a:r>
              <a:rPr lang="en-US" sz="2800" dirty="0"/>
              <a:t>Primary goal</a:t>
            </a:r>
          </a:p>
          <a:p>
            <a:pPr marL="457200" lvl="1" indent="0">
              <a:buNone/>
            </a:pPr>
            <a:r>
              <a:rPr lang="en-US" sz="2800" dirty="0"/>
              <a:t>Market objectives</a:t>
            </a:r>
          </a:p>
          <a:p>
            <a:pPr marL="914400" lvl="2" indent="0">
              <a:buNone/>
            </a:pPr>
            <a:r>
              <a:rPr lang="en-US" sz="2400" dirty="0"/>
              <a:t>Key pieces of the marketing plan that must be achieved to reach the primary goal</a:t>
            </a:r>
          </a:p>
          <a:p>
            <a:pPr lvl="2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Marketing Plan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76323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199" y="1181100"/>
            <a:ext cx="10315223" cy="4995863"/>
          </a:xfrm>
        </p:spPr>
        <p:txBody>
          <a:bodyPr>
            <a:normAutofit fontScale="92500"/>
          </a:bodyPr>
          <a:lstStyle/>
          <a:p>
            <a:r>
              <a:rPr lang="en-US" sz="3600" dirty="0"/>
              <a:t>4.  Marketing strategy</a:t>
            </a:r>
          </a:p>
          <a:p>
            <a:pPr marL="457200" lvl="1" indent="0">
              <a:buNone/>
            </a:pPr>
            <a:r>
              <a:rPr lang="en-US" sz="2800" dirty="0"/>
              <a:t>Target market</a:t>
            </a:r>
          </a:p>
          <a:p>
            <a:pPr marL="914400" lvl="2" indent="0">
              <a:buNone/>
            </a:pPr>
            <a:r>
              <a:rPr lang="en-US" sz="2600" dirty="0"/>
              <a:t>Customers</a:t>
            </a:r>
          </a:p>
          <a:p>
            <a:pPr marL="914400" lvl="2" indent="0">
              <a:buNone/>
            </a:pPr>
            <a:r>
              <a:rPr lang="en-US" sz="2600" dirty="0"/>
              <a:t>Collaborators</a:t>
            </a:r>
          </a:p>
          <a:p>
            <a:pPr marL="914400" lvl="2" indent="0">
              <a:buNone/>
            </a:pPr>
            <a:r>
              <a:rPr lang="en-US" sz="2600" dirty="0"/>
              <a:t>Company (if relevant)</a:t>
            </a:r>
          </a:p>
          <a:p>
            <a:pPr marL="914400" lvl="2" indent="0">
              <a:buNone/>
            </a:pPr>
            <a:r>
              <a:rPr lang="en-US" sz="2600" dirty="0"/>
              <a:t>Competitors </a:t>
            </a:r>
            <a:r>
              <a:rPr lang="en-US" sz="2600" dirty="0">
                <a:solidFill>
                  <a:srgbClr val="FFFF00"/>
                </a:solidFill>
              </a:rPr>
              <a:t>(Many plans underestimate this. Think broadly. Get detailed.) </a:t>
            </a:r>
          </a:p>
          <a:p>
            <a:pPr marL="914400" lvl="2" indent="0">
              <a:buNone/>
            </a:pPr>
            <a:r>
              <a:rPr lang="en-US" sz="2600" dirty="0"/>
              <a:t>Context</a:t>
            </a:r>
          </a:p>
          <a:p>
            <a:pPr marL="457200" lvl="1" indent="0">
              <a:buNone/>
            </a:pPr>
            <a:r>
              <a:rPr lang="en-US" sz="2800" dirty="0"/>
              <a:t>Value propositions </a:t>
            </a:r>
          </a:p>
          <a:p>
            <a:pPr marL="457200" lvl="1" indent="0">
              <a:buNone/>
            </a:pPr>
            <a:r>
              <a:rPr lang="en-US" sz="2800" dirty="0"/>
              <a:t>	</a:t>
            </a:r>
            <a:r>
              <a:rPr lang="en-US" sz="2600" dirty="0"/>
              <a:t>Customer value proposition</a:t>
            </a:r>
          </a:p>
          <a:p>
            <a:pPr marL="914400" lvl="2" indent="0">
              <a:buNone/>
            </a:pPr>
            <a:r>
              <a:rPr lang="en-US" sz="2600" dirty="0"/>
              <a:t>Collaborator value proposition</a:t>
            </a:r>
          </a:p>
          <a:p>
            <a:pPr marL="914400" lvl="2" indent="0">
              <a:buNone/>
            </a:pPr>
            <a:r>
              <a:rPr lang="en-US" sz="2600" dirty="0"/>
              <a:t>Company value proposition (if relevant)</a:t>
            </a:r>
          </a:p>
          <a:p>
            <a:pPr marL="914400" lvl="2" indent="0">
              <a:buNone/>
            </a:pPr>
            <a:r>
              <a:rPr lang="en-US" sz="2600" dirty="0"/>
              <a:t>*Think about your positioning statement!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Plan</a:t>
            </a:r>
          </a:p>
        </p:txBody>
      </p:sp>
    </p:spTree>
    <p:extLst>
      <p:ext uri="{BB962C8B-B14F-4D97-AF65-F5344CB8AC3E}">
        <p14:creationId xmlns:p14="http://schemas.microsoft.com/office/powerpoint/2010/main" val="247790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71" y="708211"/>
            <a:ext cx="4093029" cy="6149789"/>
          </a:xfrm>
          <a:prstGeom prst="rect">
            <a:avLst/>
          </a:prstGeom>
          <a:solidFill>
            <a:srgbClr val="00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5.  Tactics (How to achieve your goals)</a:t>
            </a:r>
          </a:p>
          <a:p>
            <a:pPr marL="914400" lvl="2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</a:t>
            </a:r>
          </a:p>
          <a:p>
            <a:pPr marL="914400" lvl="2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Service (Product)</a:t>
            </a:r>
          </a:p>
          <a:p>
            <a:pPr marL="914400" lvl="2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Brand (Product)</a:t>
            </a:r>
          </a:p>
          <a:p>
            <a:pPr marL="914400" lvl="2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Price</a:t>
            </a:r>
          </a:p>
          <a:p>
            <a:pPr marL="914400" lvl="2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Incentives (Promotions)</a:t>
            </a:r>
          </a:p>
          <a:p>
            <a:pPr marL="914400" lvl="2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Communications (Promotions) </a:t>
            </a:r>
          </a:p>
          <a:p>
            <a:pPr marL="914400" lvl="2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Distribution (Place)</a:t>
            </a:r>
          </a:p>
          <a:p>
            <a:r>
              <a:rPr lang="en-US" sz="3600" dirty="0"/>
              <a:t>6.  Implementation </a:t>
            </a:r>
            <a:r>
              <a:rPr lang="en-US" sz="3600" dirty="0">
                <a:solidFill>
                  <a:srgbClr val="FFFF00"/>
                </a:solidFill>
              </a:rPr>
              <a:t>(you don’t need to do this)</a:t>
            </a:r>
          </a:p>
          <a:p>
            <a:r>
              <a:rPr lang="en-US" sz="3600" dirty="0"/>
              <a:t>7.  Control </a:t>
            </a:r>
            <a:r>
              <a:rPr lang="en-US" sz="3600" dirty="0">
                <a:solidFill>
                  <a:srgbClr val="FFFF00"/>
                </a:solidFill>
              </a:rPr>
              <a:t>(you don’t need to do this)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Plan</a:t>
            </a:r>
          </a:p>
        </p:txBody>
      </p:sp>
    </p:spTree>
    <p:extLst>
      <p:ext uri="{BB962C8B-B14F-4D97-AF65-F5344CB8AC3E}">
        <p14:creationId xmlns:p14="http://schemas.microsoft.com/office/powerpoint/2010/main" val="315633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81100"/>
            <a:ext cx="7289800" cy="4995863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Marketing research is important.  </a:t>
            </a:r>
          </a:p>
          <a:p>
            <a:r>
              <a:rPr lang="en-US" sz="3600" dirty="0"/>
              <a:t>	Test your idea?</a:t>
            </a:r>
          </a:p>
          <a:p>
            <a:r>
              <a:rPr lang="en-US" sz="3600" dirty="0"/>
              <a:t>	Get general customer interests?</a:t>
            </a:r>
          </a:p>
          <a:p>
            <a:endParaRPr lang="en-US" sz="3600" dirty="0"/>
          </a:p>
          <a:p>
            <a:r>
              <a:rPr lang="en-US" sz="3600" dirty="0"/>
              <a:t>Briefly describe the focus of your plan on </a:t>
            </a:r>
            <a:r>
              <a:rPr lang="en-US" sz="3600" dirty="0">
                <a:solidFill>
                  <a:srgbClr val="FFFF00"/>
                </a:solidFill>
              </a:rPr>
              <a:t>January 18.</a:t>
            </a:r>
          </a:p>
          <a:p>
            <a:endParaRPr lang="en-US" sz="3600" dirty="0"/>
          </a:p>
          <a:p>
            <a:r>
              <a:rPr lang="en-US" sz="3600" dirty="0"/>
              <a:t>Written plans and presentations are due </a:t>
            </a:r>
            <a:r>
              <a:rPr lang="en-US" sz="3600" dirty="0">
                <a:solidFill>
                  <a:srgbClr val="FFFF00"/>
                </a:solidFill>
              </a:rPr>
              <a:t>March 15.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Plan</a:t>
            </a:r>
          </a:p>
        </p:txBody>
      </p:sp>
    </p:spTree>
    <p:extLst>
      <p:ext uri="{BB962C8B-B14F-4D97-AF65-F5344CB8AC3E}">
        <p14:creationId xmlns:p14="http://schemas.microsoft.com/office/powerpoint/2010/main" val="410647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</TotalTime>
  <Words>2065</Words>
  <Application>Microsoft Office PowerPoint</Application>
  <PresentationFormat>Widescreen</PresentationFormat>
  <Paragraphs>512</Paragraphs>
  <Slides>75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Arial</vt:lpstr>
      <vt:lpstr>Arial Narrow</vt:lpstr>
      <vt:lpstr>Calibri</vt:lpstr>
      <vt:lpstr>Source Sans Pro</vt:lpstr>
      <vt:lpstr>Source Sans Pro Semibold</vt:lpstr>
      <vt:lpstr>Office Theme</vt:lpstr>
      <vt:lpstr>Bitmap Image</vt:lpstr>
      <vt:lpstr>Market and  Customer Focus</vt:lpstr>
      <vt:lpstr>PowerPoint Presentation</vt:lpstr>
      <vt:lpstr>PowerPoint Presentation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PowerPoint Presentation</vt:lpstr>
      <vt:lpstr>What is Marketing?</vt:lpstr>
      <vt:lpstr>What is Marketing?  </vt:lpstr>
      <vt:lpstr>What is Marketing?  </vt:lpstr>
      <vt:lpstr>What is Marketing?  </vt:lpstr>
      <vt:lpstr>What is Marketing?  </vt:lpstr>
      <vt:lpstr>What is Marketing?  </vt:lpstr>
      <vt:lpstr>What is Marketing?  </vt:lpstr>
      <vt:lpstr>What is Marketing?  </vt:lpstr>
      <vt:lpstr>What is Marketing?  </vt:lpstr>
      <vt:lpstr>What is Marketing?  </vt:lpstr>
      <vt:lpstr>PowerPoint Presentation</vt:lpstr>
      <vt:lpstr>What is Marketing?   </vt:lpstr>
      <vt:lpstr>What is Marketing?   </vt:lpstr>
      <vt:lpstr>What is Marketing?   </vt:lpstr>
      <vt:lpstr>PowerPoint Presentation</vt:lpstr>
      <vt:lpstr>PowerPoint Presentation</vt:lpstr>
      <vt:lpstr>PowerPoint Presentation</vt:lpstr>
      <vt:lpstr>Marketing Overview - Summary</vt:lpstr>
      <vt:lpstr>PowerPoint Presentation</vt:lpstr>
      <vt:lpstr>Focus of This Class</vt:lpstr>
      <vt:lpstr>Focus of This Class</vt:lpstr>
      <vt:lpstr>Course Outline</vt:lpstr>
      <vt:lpstr>Course Outline</vt:lpstr>
      <vt:lpstr>Course Expectations</vt:lpstr>
      <vt:lpstr>Course Expectations</vt:lpstr>
      <vt:lpstr>Course Expectations</vt:lpstr>
      <vt:lpstr>Recurring Themes</vt:lpstr>
      <vt:lpstr>Recurring Themes</vt:lpstr>
      <vt:lpstr>Recurring Themes</vt:lpstr>
      <vt:lpstr>PowerPoint Presentation</vt:lpstr>
      <vt:lpstr>Recurring Themes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Bases for Segmentation</vt:lpstr>
      <vt:lpstr>PowerPoint Presentation</vt:lpstr>
      <vt:lpstr>Bases for Segmentation</vt:lpstr>
      <vt:lpstr>PowerPoint Presentation</vt:lpstr>
      <vt:lpstr>PowerPoint Presentation</vt:lpstr>
      <vt:lpstr>Mass Marketing</vt:lpstr>
      <vt:lpstr>Differentiated Marketing</vt:lpstr>
      <vt:lpstr>Niche Marketing</vt:lpstr>
      <vt:lpstr>Positioning</vt:lpstr>
      <vt:lpstr>PowerPoint Presentation</vt:lpstr>
      <vt:lpstr>Positioning</vt:lpstr>
      <vt:lpstr>PowerPoint Presentation</vt:lpstr>
      <vt:lpstr>PowerPoint Presentation</vt:lpstr>
      <vt:lpstr>Segmentation, Targeting, and Positioning Summary</vt:lpstr>
      <vt:lpstr>PowerPoint Presentation</vt:lpstr>
      <vt:lpstr>PowerPoint Presentation</vt:lpstr>
      <vt:lpstr>Marketing Plan</vt:lpstr>
      <vt:lpstr>Marketing Plan - Deliverables</vt:lpstr>
      <vt:lpstr>Marketing Plan</vt:lpstr>
      <vt:lpstr>Marketing Plan</vt:lpstr>
      <vt:lpstr>Marketing Plan</vt:lpstr>
      <vt:lpstr>Marketing Plan</vt:lpstr>
      <vt:lpstr>Marketing Plan</vt:lpstr>
      <vt:lpstr>Marketing Plan</vt:lpstr>
      <vt:lpstr>Marketing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LeBoeuf, Robyn</cp:lastModifiedBy>
  <cp:revision>211</cp:revision>
  <cp:lastPrinted>2022-01-05T20:04:07Z</cp:lastPrinted>
  <dcterms:created xsi:type="dcterms:W3CDTF">2020-01-13T16:56:03Z</dcterms:created>
  <dcterms:modified xsi:type="dcterms:W3CDTF">2025-01-08T17:52:28Z</dcterms:modified>
</cp:coreProperties>
</file>