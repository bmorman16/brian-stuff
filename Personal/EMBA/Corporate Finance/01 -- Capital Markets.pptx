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67" r:id="rId2"/>
    <p:sldId id="294" r:id="rId3"/>
    <p:sldId id="260" r:id="rId4"/>
    <p:sldId id="279" r:id="rId5"/>
    <p:sldId id="280" r:id="rId6"/>
    <p:sldId id="282" r:id="rId7"/>
    <p:sldId id="283" r:id="rId8"/>
    <p:sldId id="281" r:id="rId9"/>
    <p:sldId id="404" r:id="rId10"/>
    <p:sldId id="405" r:id="rId11"/>
    <p:sldId id="511" r:id="rId12"/>
    <p:sldId id="728" r:id="rId13"/>
    <p:sldId id="291" r:id="rId14"/>
    <p:sldId id="301" r:id="rId15"/>
    <p:sldId id="286" r:id="rId16"/>
    <p:sldId id="302" r:id="rId17"/>
    <p:sldId id="277" r:id="rId18"/>
    <p:sldId id="299" r:id="rId19"/>
    <p:sldId id="300" r:id="rId20"/>
    <p:sldId id="298" r:id="rId21"/>
    <p:sldId id="288" r:id="rId22"/>
    <p:sldId id="287" r:id="rId23"/>
    <p:sldId id="292" r:id="rId24"/>
    <p:sldId id="295" r:id="rId25"/>
    <p:sldId id="285" r:id="rId26"/>
    <p:sldId id="303" r:id="rId27"/>
    <p:sldId id="304" r:id="rId28"/>
    <p:sldId id="305" r:id="rId29"/>
    <p:sldId id="306" r:id="rId30"/>
    <p:sldId id="307" r:id="rId31"/>
    <p:sldId id="309" r:id="rId32"/>
    <p:sldId id="392" r:id="rId33"/>
    <p:sldId id="393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1417"/>
    <a:srgbClr val="6C7373"/>
    <a:srgbClr val="566568"/>
    <a:srgbClr val="E1E1E1"/>
    <a:srgbClr val="C41039"/>
    <a:srgbClr val="69787B"/>
    <a:srgbClr val="69780C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5" autoAdjust="0"/>
    <p:restoredTop sz="73886"/>
  </p:normalViewPr>
  <p:slideViewPr>
    <p:cSldViewPr snapToGrid="0" snapToObjects="1">
      <p:cViewPr varScale="1">
        <p:scale>
          <a:sx n="179" d="100"/>
          <a:sy n="179" d="100"/>
        </p:scale>
        <p:origin x="328" y="2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3AD09-9720-9047-BB14-484CD98DBB2F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80D64-6F43-4C4D-BE6A-3F3482AA51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90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968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011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06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736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306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885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0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4162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2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3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29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024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18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98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10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15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88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313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25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30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6499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718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268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704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380D64-6F43-4C4D-BE6A-3F3482AA516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07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6C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1linerev(1c)1000-0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32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30124" y="228600"/>
            <a:ext cx="11731752" cy="6400800"/>
          </a:xfrm>
          <a:prstGeom prst="rect">
            <a:avLst/>
          </a:prstGeom>
          <a:solidFill>
            <a:srgbClr val="A514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328"/>
          <a:stretch/>
        </p:blipFill>
        <p:spPr>
          <a:xfrm>
            <a:off x="8702448" y="464974"/>
            <a:ext cx="3262720" cy="60258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4311" y="2253752"/>
            <a:ext cx="6650503" cy="121708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4311" y="3596777"/>
            <a:ext cx="6650503" cy="480836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1linerev(1c)1000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25" y="5880328"/>
            <a:ext cx="3608228" cy="5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7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  <a:lvl2pPr>
              <a:defRPr>
                <a:solidFill>
                  <a:srgbClr val="6C7373"/>
                </a:solidFill>
              </a:defRPr>
            </a:lvl2pPr>
            <a:lvl3pPr>
              <a:defRPr>
                <a:solidFill>
                  <a:srgbClr val="6C7373"/>
                </a:solidFill>
              </a:defRPr>
            </a:lvl3pPr>
            <a:lvl4pPr>
              <a:defRPr>
                <a:solidFill>
                  <a:srgbClr val="6C7373"/>
                </a:solidFill>
              </a:defRPr>
            </a:lvl4pPr>
            <a:lvl5pPr>
              <a:defRPr>
                <a:solidFill>
                  <a:srgbClr val="6C737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C737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5149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7671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059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6647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ash_U_PPT_Template-04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21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04800" y="228600"/>
            <a:ext cx="11582400" cy="6400800"/>
          </a:xfrm>
          <a:prstGeom prst="rect">
            <a:avLst/>
          </a:prstGeom>
          <a:solidFill>
            <a:srgbClr val="E1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8519" y="1600200"/>
            <a:ext cx="10856148" cy="4778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0905" y="435614"/>
            <a:ext cx="795528" cy="9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1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3" r:id="rId2"/>
    <p:sldLayoutId id="2147483650" r:id="rId3"/>
    <p:sldLayoutId id="2147483660" r:id="rId4"/>
    <p:sldLayoutId id="2147483652" r:id="rId5"/>
    <p:sldLayoutId id="2147483653" r:id="rId6"/>
    <p:sldLayoutId id="2147483654" r:id="rId7"/>
    <p:sldLayoutId id="2147483670" r:id="rId8"/>
    <p:sldLayoutId id="2147483655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6C7373"/>
          </a:solidFill>
          <a:latin typeface="Times New Roman" charset="0"/>
          <a:ea typeface="Times New Roman" charset="0"/>
          <a:cs typeface="Times New Roman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b="0" i="0" kern="1200">
          <a:solidFill>
            <a:srgbClr val="6C7373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articles/doordash-poised-to-tap-torrid-ipo-market-11607442406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articles/carvana-to-boost-capacity-betting-online-car-sales-are-here-to-stay-11616013522?mod=searchresults_pos15&amp;page=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articles/companies-are-hoarding-record-cash-amid-delta-fears-11629106380?mod=searchresults_pos17&amp;page=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j.com/articles/SB10001424127887324474004578442783946669310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wsj.com/articles/SB10001424127887323511804578298373069091776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CDB3-375F-9547-B02C-641B45386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 740: Corporate Finance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897D4F-E75A-3D44-9E5C-6FFBD76FC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312" y="3596776"/>
            <a:ext cx="5025358" cy="1027775"/>
          </a:xfrm>
        </p:spPr>
        <p:txBody>
          <a:bodyPr>
            <a:normAutofit/>
          </a:bodyPr>
          <a:lstStyle/>
          <a:p>
            <a:r>
              <a:rPr lang="en-US" dirty="0"/>
              <a:t>Topic #1 – Capital Markets and Financial Management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77475-4B10-EE48-BE37-D9338FA55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43FD3B-F320-AE98-6919-3CFB7BC0B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topic will cover three key questions…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capital market?</a:t>
            </a:r>
          </a:p>
          <a:p>
            <a:r>
              <a:rPr lang="en-US" dirty="0"/>
              <a:t>What do financial managers do?</a:t>
            </a:r>
          </a:p>
          <a:p>
            <a:r>
              <a:rPr lang="en-US" dirty="0"/>
              <a:t>How is something’s value determined?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28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capital market?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its purpose?</a:t>
            </a:r>
          </a:p>
          <a:p>
            <a:r>
              <a:rPr lang="en-US" dirty="0"/>
              <a:t>Who are the key players?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593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capital market?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5038088" cy="4778022"/>
          </a:xfrm>
        </p:spPr>
        <p:txBody>
          <a:bodyPr/>
          <a:lstStyle/>
          <a:p>
            <a:r>
              <a:rPr lang="en-US" dirty="0"/>
              <a:t>Capital market is where money from savers and investors is channeled to those seeking to raise cash </a:t>
            </a:r>
          </a:p>
          <a:p>
            <a:endParaRPr lang="en-US" sz="800" dirty="0"/>
          </a:p>
          <a:p>
            <a:r>
              <a:rPr lang="en-US" dirty="0"/>
              <a:t>Leads to what book calls “the financial cycle”</a:t>
            </a:r>
          </a:p>
          <a:p>
            <a:endParaRPr lang="en-US" dirty="0"/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CBA5D189-2EEF-A941-BC01-2976C2349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6443" y="927541"/>
            <a:ext cx="4181819" cy="47780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886676-F15C-4440-B6FC-41718F88B4A0}"/>
              </a:ext>
            </a:extLst>
          </p:cNvPr>
          <p:cNvSpPr txBox="1"/>
          <p:nvPr/>
        </p:nvSpPr>
        <p:spPr>
          <a:xfrm>
            <a:off x="6216443" y="5821568"/>
            <a:ext cx="3691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1.5: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137677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institutions help channel money to firms?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Banks &amp; credit unions </a:t>
            </a:r>
            <a:endParaRPr lang="en-US" i="1" dirty="0"/>
          </a:p>
          <a:p>
            <a:r>
              <a:rPr lang="en-US" dirty="0"/>
              <a:t>Insurance companies </a:t>
            </a:r>
            <a:endParaRPr lang="en-US" i="1" dirty="0"/>
          </a:p>
          <a:p>
            <a:r>
              <a:rPr lang="en-US" dirty="0"/>
              <a:t>Mutual funds</a:t>
            </a:r>
          </a:p>
          <a:p>
            <a:r>
              <a:rPr lang="en-US" dirty="0"/>
              <a:t>Pension funds</a:t>
            </a:r>
          </a:p>
          <a:p>
            <a:r>
              <a:rPr lang="en-US" dirty="0"/>
              <a:t>Hedge funds</a:t>
            </a:r>
          </a:p>
          <a:p>
            <a:r>
              <a:rPr lang="en-US" dirty="0"/>
              <a:t>Venture capital funds</a:t>
            </a:r>
          </a:p>
          <a:p>
            <a:r>
              <a:rPr lang="en-US" dirty="0"/>
              <a:t>Private equity funds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6772DE-2879-A041-A223-F959DF083FC3}"/>
              </a:ext>
            </a:extLst>
          </p:cNvPr>
          <p:cNvSpPr txBox="1"/>
          <p:nvPr/>
        </p:nvSpPr>
        <p:spPr>
          <a:xfrm>
            <a:off x="6190592" y="2301766"/>
            <a:ext cx="3478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51417"/>
                </a:solidFill>
              </a:rPr>
              <a:t>How do each of these work?  I.e., who do they get money from, </a:t>
            </a:r>
            <a:r>
              <a:rPr lang="en-US" sz="2400" u="sng" dirty="0">
                <a:solidFill>
                  <a:srgbClr val="A51417"/>
                </a:solidFill>
              </a:rPr>
              <a:t>and</a:t>
            </a:r>
            <a:r>
              <a:rPr lang="en-US" sz="2400" dirty="0">
                <a:solidFill>
                  <a:srgbClr val="A51417"/>
                </a:solidFill>
              </a:rPr>
              <a:t> how do they channel money to firms?</a:t>
            </a:r>
          </a:p>
        </p:txBody>
      </p:sp>
    </p:spTree>
    <p:extLst>
      <p:ext uri="{BB962C8B-B14F-4D97-AF65-F5344CB8AC3E}">
        <p14:creationId xmlns:p14="http://schemas.microsoft.com/office/powerpoint/2010/main" val="337927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6772DE-2879-A041-A223-F959DF083FC3}"/>
              </a:ext>
            </a:extLst>
          </p:cNvPr>
          <p:cNvSpPr txBox="1"/>
          <p:nvPr/>
        </p:nvSpPr>
        <p:spPr>
          <a:xfrm>
            <a:off x="6190592" y="2301766"/>
            <a:ext cx="3478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each of these work?  I.e., who do they get money from, and how they channel money to firms?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5C8B33-BC8D-D14B-8B19-0FFFECDD3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438" y="255774"/>
            <a:ext cx="7431080" cy="628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5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6772DE-2879-A041-A223-F959DF083FC3}"/>
              </a:ext>
            </a:extLst>
          </p:cNvPr>
          <p:cNvSpPr txBox="1"/>
          <p:nvPr/>
        </p:nvSpPr>
        <p:spPr>
          <a:xfrm>
            <a:off x="6190592" y="3090036"/>
            <a:ext cx="34789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each of these work?  I.e., who do they get money from, and how they channel money to firms?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5C8B33-BC8D-D14B-8B19-0FFFECDD3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438" y="676194"/>
            <a:ext cx="7431080" cy="6059625"/>
          </a:xfrm>
          <a:prstGeom prst="rect">
            <a:avLst/>
          </a:prstGeom>
        </p:spPr>
      </p:pic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E95BF83-790F-DB4C-B2FF-B3D27DF1C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8438" y="1225771"/>
            <a:ext cx="7394707" cy="4155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22D7537-A6DE-6544-A624-C92DB1BA422B}"/>
              </a:ext>
            </a:extLst>
          </p:cNvPr>
          <p:cNvSpPr/>
          <p:nvPr/>
        </p:nvSpPr>
        <p:spPr>
          <a:xfrm>
            <a:off x="1755228" y="5602008"/>
            <a:ext cx="8187558" cy="117037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A9685-4B13-2847-9763-8107AF9CC5F0}"/>
              </a:ext>
            </a:extLst>
          </p:cNvPr>
          <p:cNvSpPr txBox="1"/>
          <p:nvPr/>
        </p:nvSpPr>
        <p:spPr>
          <a:xfrm>
            <a:off x="2157931" y="5717622"/>
            <a:ext cx="3691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Figure 1.6: Berk, </a:t>
            </a:r>
            <a:r>
              <a:rPr lang="en-US" sz="1200" dirty="0" err="1">
                <a:solidFill>
                  <a:srgbClr val="566568"/>
                </a:solidFill>
              </a:rPr>
              <a:t>Demarzo</a:t>
            </a:r>
            <a:r>
              <a:rPr lang="en-US" sz="1200" dirty="0">
                <a:solidFill>
                  <a:srgbClr val="566568"/>
                </a:solidFill>
              </a:rPr>
              <a:t>, and Harford, </a:t>
            </a:r>
            <a:r>
              <a:rPr lang="en-US" sz="1200" i="1" dirty="0">
                <a:solidFill>
                  <a:srgbClr val="566568"/>
                </a:solidFill>
              </a:rPr>
              <a:t>Fundamentals of Corporate Finance, 5</a:t>
            </a:r>
            <a:r>
              <a:rPr lang="en-US" sz="1200" i="1" baseline="30000" dirty="0">
                <a:solidFill>
                  <a:srgbClr val="566568"/>
                </a:solidFill>
              </a:rPr>
              <a:t>th</a:t>
            </a:r>
            <a:r>
              <a:rPr lang="en-US" sz="1200" i="1" dirty="0">
                <a:solidFill>
                  <a:srgbClr val="566568"/>
                </a:solidFill>
              </a:rPr>
              <a:t> Edition</a:t>
            </a:r>
          </a:p>
        </p:txBody>
      </p:sp>
    </p:spTree>
    <p:extLst>
      <p:ext uri="{BB962C8B-B14F-4D97-AF65-F5344CB8AC3E}">
        <p14:creationId xmlns:p14="http://schemas.microsoft.com/office/powerpoint/2010/main" val="10597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money managers are massive!</a:t>
            </a:r>
          </a:p>
        </p:txBody>
      </p:sp>
      <p:pic>
        <p:nvPicPr>
          <p:cNvPr id="7" name="Content Placeholder 6" descr="Table&#10;&#10;Description automatically generated">
            <a:extLst>
              <a:ext uri="{FF2B5EF4-FFF2-40B4-BE49-F238E27FC236}">
                <a16:creationId xmlns:a16="http://schemas.microsoft.com/office/drawing/2014/main" id="{CD07764D-6F90-5843-A2CC-68E4804E6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4994" y="1417638"/>
            <a:ext cx="6921500" cy="46355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9F7D23-92FD-FD46-8F6A-52D47765FE3A}"/>
              </a:ext>
            </a:extLst>
          </p:cNvPr>
          <p:cNvSpPr txBox="1"/>
          <p:nvPr/>
        </p:nvSpPr>
        <p:spPr>
          <a:xfrm>
            <a:off x="1374994" y="6143557"/>
            <a:ext cx="513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566568"/>
                </a:solidFill>
              </a:rPr>
              <a:t>Global AUM as of March 31, 2021, as reported by </a:t>
            </a:r>
            <a:r>
              <a:rPr lang="en-US" sz="1200" dirty="0" err="1">
                <a:solidFill>
                  <a:srgbClr val="566568"/>
                </a:solidFill>
              </a:rPr>
              <a:t>www.advratings.com</a:t>
            </a:r>
            <a:endParaRPr lang="en-US" sz="1200" i="1" dirty="0">
              <a:solidFill>
                <a:srgbClr val="566568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B455CE-944D-5943-84FE-967B1C5F896B}"/>
              </a:ext>
            </a:extLst>
          </p:cNvPr>
          <p:cNvSpPr txBox="1"/>
          <p:nvPr/>
        </p:nvSpPr>
        <p:spPr>
          <a:xfrm>
            <a:off x="8586096" y="2765890"/>
            <a:ext cx="2323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are billions of US dollars!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1B4458-E5C7-B444-8957-EBC84AAA7F4A}"/>
              </a:ext>
            </a:extLst>
          </p:cNvPr>
          <p:cNvSpPr txBox="1"/>
          <p:nvPr/>
        </p:nvSpPr>
        <p:spPr>
          <a:xfrm>
            <a:off x="8586096" y="3599905"/>
            <a:ext cx="2449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51417"/>
                </a:solidFill>
              </a:rPr>
              <a:t>What is different about #1, #2, and #5 money managers?</a:t>
            </a: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C0DA9FBB-E3E2-794B-B27E-587342896D02}"/>
              </a:ext>
            </a:extLst>
          </p:cNvPr>
          <p:cNvSpPr/>
          <p:nvPr/>
        </p:nvSpPr>
        <p:spPr>
          <a:xfrm>
            <a:off x="6506169" y="1440567"/>
            <a:ext cx="1790325" cy="451294"/>
          </a:xfrm>
          <a:prstGeom prst="frame">
            <a:avLst/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29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remaining piece…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7" y="1857373"/>
            <a:ext cx="10657416" cy="3535009"/>
          </a:xfrm>
        </p:spPr>
        <p:txBody>
          <a:bodyPr>
            <a:normAutofit/>
          </a:bodyPr>
          <a:lstStyle/>
          <a:p>
            <a:r>
              <a:rPr lang="en-US" dirty="0"/>
              <a:t>So far, we have talked about the key players that help channel money to those seeking to raise cash… </a:t>
            </a:r>
          </a:p>
          <a:p>
            <a:endParaRPr lang="en-US" sz="4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A2EE5-52B9-6345-B943-DFF85C2F3AFF}"/>
              </a:ext>
            </a:extLst>
          </p:cNvPr>
          <p:cNvSpPr txBox="1"/>
          <p:nvPr/>
        </p:nvSpPr>
        <p:spPr>
          <a:xfrm>
            <a:off x="767292" y="3147825"/>
            <a:ext cx="7263763" cy="954107"/>
          </a:xfrm>
          <a:prstGeom prst="rect">
            <a:avLst/>
          </a:prstGeom>
          <a:solidFill>
            <a:srgbClr val="6C7373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A51417"/>
                </a:solidFill>
              </a:rPr>
              <a:t>But who are the buyers &amp; suppliers of money, and what are their motives?</a:t>
            </a:r>
          </a:p>
        </p:txBody>
      </p:sp>
    </p:spTree>
    <p:extLst>
      <p:ext uri="{BB962C8B-B14F-4D97-AF65-F5344CB8AC3E}">
        <p14:creationId xmlns:p14="http://schemas.microsoft.com/office/powerpoint/2010/main" val="595980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buyers &amp; suppliers of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7" y="1661495"/>
            <a:ext cx="10657416" cy="3535009"/>
          </a:xfrm>
        </p:spPr>
        <p:txBody>
          <a:bodyPr>
            <a:normAutofit/>
          </a:bodyPr>
          <a:lstStyle/>
          <a:p>
            <a:r>
              <a:rPr lang="en-US" dirty="0"/>
              <a:t>Buyers (i.e., those demanding money)</a:t>
            </a:r>
          </a:p>
          <a:p>
            <a:endParaRPr lang="en-US" sz="400" dirty="0"/>
          </a:p>
          <a:p>
            <a:pPr lvl="1"/>
            <a:r>
              <a:rPr lang="en-US" i="1" dirty="0"/>
              <a:t>Companies (use to invest in projects)</a:t>
            </a:r>
          </a:p>
          <a:p>
            <a:pPr lvl="1"/>
            <a:r>
              <a:rPr lang="en-US" i="1" dirty="0"/>
              <a:t>Governments (use to provide services)</a:t>
            </a:r>
          </a:p>
          <a:p>
            <a:pPr lvl="1"/>
            <a:r>
              <a:rPr lang="en-US" i="1" dirty="0"/>
              <a:t>Individuals (use to purchase home, car, college, etc.)</a:t>
            </a:r>
          </a:p>
          <a:p>
            <a:pPr lvl="1"/>
            <a:endParaRPr lang="en-US" sz="900" i="1" dirty="0"/>
          </a:p>
          <a:p>
            <a:r>
              <a:rPr lang="en-US" dirty="0"/>
              <a:t>Sellers (i.e., those supplying money)</a:t>
            </a:r>
          </a:p>
          <a:p>
            <a:endParaRPr lang="en-US" sz="400" i="1" dirty="0"/>
          </a:p>
          <a:p>
            <a:pPr lvl="1"/>
            <a:r>
              <a:rPr lang="en-US" dirty="0"/>
              <a:t>Individuals (save for retirement, college, or other large purchases)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55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u="sng" dirty="0"/>
              <a:t>price</a:t>
            </a:r>
            <a:r>
              <a:rPr lang="en-US" dirty="0"/>
              <a:t> of using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696666" cy="4778022"/>
          </a:xfrm>
        </p:spPr>
        <p:txBody>
          <a:bodyPr>
            <a:normAutofit/>
          </a:bodyPr>
          <a:lstStyle/>
          <a:p>
            <a:r>
              <a:rPr lang="en-US" b="1" dirty="0"/>
              <a:t>Price of using money </a:t>
            </a:r>
            <a:r>
              <a:rPr lang="en-US" dirty="0"/>
              <a:t>= return demanded by the suppliers of money (i.e., investors &amp; savers); i.e., it is the </a:t>
            </a:r>
            <a:r>
              <a:rPr lang="en-US" u="sng" dirty="0"/>
              <a:t>interest rate</a:t>
            </a:r>
          </a:p>
          <a:p>
            <a:endParaRPr lang="en-US" sz="800" dirty="0"/>
          </a:p>
          <a:p>
            <a:pPr lvl="1"/>
            <a:r>
              <a:rPr lang="en-US" i="1" dirty="0"/>
              <a:t>If you borrow money for a car, the interest rate on the loan is the “price” charged by bank to convert your future loan payments into car now</a:t>
            </a:r>
            <a:endParaRPr lang="en-US" dirty="0"/>
          </a:p>
          <a:p>
            <a:pPr lvl="1"/>
            <a:r>
              <a:rPr lang="en-US" i="1" dirty="0"/>
              <a:t>And the interest rate you earn on your bank deposits is the “price” the bank pays to use your money (for things like making a car loan)</a:t>
            </a:r>
            <a:endParaRPr lang="en-US" dirty="0"/>
          </a:p>
          <a:p>
            <a:endParaRPr lang="en-US" sz="800" dirty="0"/>
          </a:p>
          <a:p>
            <a:r>
              <a:rPr lang="en-US" dirty="0"/>
              <a:t>When we talk about firms, we call it their “</a:t>
            </a:r>
            <a:r>
              <a:rPr lang="en-US" b="1" dirty="0"/>
              <a:t>cost of capital</a:t>
            </a:r>
            <a:r>
              <a:rPr lang="en-US" dirty="0"/>
              <a:t>”</a:t>
            </a:r>
            <a:endParaRPr lang="en-US" sz="800" dirty="0"/>
          </a:p>
          <a:p>
            <a:r>
              <a:rPr lang="en-US" b="1" dirty="0">
                <a:solidFill>
                  <a:srgbClr val="A51417"/>
                </a:solidFill>
              </a:rPr>
              <a:t>Intuitively, what factors will affect this (</a:t>
            </a:r>
            <a:r>
              <a:rPr lang="en-US" b="1" u="sng" dirty="0">
                <a:solidFill>
                  <a:srgbClr val="A51417"/>
                </a:solidFill>
              </a:rPr>
              <a:t>or any</a:t>
            </a:r>
            <a:r>
              <a:rPr lang="en-US" b="1" dirty="0">
                <a:solidFill>
                  <a:srgbClr val="A51417"/>
                </a:solidFill>
              </a:rPr>
              <a:t>) price?</a:t>
            </a:r>
          </a:p>
        </p:txBody>
      </p:sp>
    </p:spTree>
    <p:extLst>
      <p:ext uri="{BB962C8B-B14F-4D97-AF65-F5344CB8AC3E}">
        <p14:creationId xmlns:p14="http://schemas.microsoft.com/office/powerpoint/2010/main" val="200837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Determinants of interest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990686" cy="4778022"/>
          </a:xfrm>
        </p:spPr>
        <p:txBody>
          <a:bodyPr>
            <a:normAutofit/>
          </a:bodyPr>
          <a:lstStyle/>
          <a:p>
            <a:r>
              <a:rPr lang="en-US" dirty="0"/>
              <a:t>Interest rates (i.e., “price”) are determined by market forces based on the relative </a:t>
            </a:r>
            <a:r>
              <a:rPr lang="en-US" u="sng" dirty="0"/>
              <a:t>supply and demand of money</a:t>
            </a:r>
          </a:p>
          <a:p>
            <a:endParaRPr lang="en-US" sz="800" dirty="0"/>
          </a:p>
          <a:p>
            <a:pPr lvl="1"/>
            <a:r>
              <a:rPr lang="en-US" dirty="0"/>
              <a:t>If </a:t>
            </a:r>
            <a:r>
              <a:rPr lang="en-US" u="sng" dirty="0"/>
              <a:t>supply</a:t>
            </a:r>
            <a:r>
              <a:rPr lang="en-US" dirty="0"/>
              <a:t> increases (i.e., more people willing to lend money), “price” falls</a:t>
            </a:r>
          </a:p>
          <a:p>
            <a:pPr lvl="1"/>
            <a:r>
              <a:rPr lang="en-US" dirty="0"/>
              <a:t>If </a:t>
            </a:r>
            <a:r>
              <a:rPr lang="en-US" u="sng" dirty="0"/>
              <a:t>demand</a:t>
            </a:r>
            <a:r>
              <a:rPr lang="en-US" dirty="0"/>
              <a:t> increases (i.e., more firms trying to borrow money), “price” rises</a:t>
            </a:r>
          </a:p>
          <a:p>
            <a:pPr lvl="1"/>
            <a:endParaRPr lang="en-US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2CD10-CC08-BF4A-AA62-9D632C0EC92A}"/>
              </a:ext>
            </a:extLst>
          </p:cNvPr>
          <p:cNvSpPr txBox="1"/>
          <p:nvPr/>
        </p:nvSpPr>
        <p:spPr>
          <a:xfrm>
            <a:off x="658519" y="4089932"/>
            <a:ext cx="8092741" cy="954107"/>
          </a:xfrm>
          <a:prstGeom prst="rect">
            <a:avLst/>
          </a:prstGeom>
          <a:solidFill>
            <a:srgbClr val="A51417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We will come back and talk in more detail in Topic #5 about what determines interest rates…</a:t>
            </a:r>
          </a:p>
        </p:txBody>
      </p:sp>
    </p:spTree>
    <p:extLst>
      <p:ext uri="{BB962C8B-B14F-4D97-AF65-F5344CB8AC3E}">
        <p14:creationId xmlns:p14="http://schemas.microsoft.com/office/powerpoint/2010/main" val="1568845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financial managers do?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I.e., what decisions do a company’s managers make?</a:t>
            </a:r>
          </a:p>
          <a:p>
            <a:r>
              <a:rPr lang="en-US" dirty="0"/>
              <a:t>How do these decisions interact with capital markets?</a:t>
            </a:r>
          </a:p>
          <a:p>
            <a:r>
              <a:rPr lang="en-US" dirty="0"/>
              <a:t>What is the goal of the financial manager?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62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decisions made – </a:t>
            </a:r>
            <a:r>
              <a:rPr lang="en-US" b="1" dirty="0"/>
              <a:t>Example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020254" cy="4778022"/>
          </a:xfrm>
        </p:spPr>
        <p:txBody>
          <a:bodyPr>
            <a:normAutofit/>
          </a:bodyPr>
          <a:lstStyle/>
          <a:p>
            <a:r>
              <a:rPr lang="en-US" dirty="0"/>
              <a:t>In December 2020, </a:t>
            </a:r>
            <a:r>
              <a:rPr lang="en-US" dirty="0" err="1"/>
              <a:t>DoorDash</a:t>
            </a:r>
            <a:r>
              <a:rPr lang="en-US" dirty="0"/>
              <a:t> did an initial public offering [i.e., it raised money by selling equity to institutions and retail investors for the first time].  Managers raised about $3.4 billion through the issuance, which is massive for a company valued at about $39 billion.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59F03-E51E-334E-88AE-AD8AC122447D}"/>
              </a:ext>
            </a:extLst>
          </p:cNvPr>
          <p:cNvSpPr txBox="1"/>
          <p:nvPr/>
        </p:nvSpPr>
        <p:spPr>
          <a:xfrm>
            <a:off x="779297" y="4121631"/>
            <a:ext cx="9493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https://www.wsj.com/articles/doordash-poised-to-tap-torrid-ipo-market-11607442406</a:t>
            </a:r>
            <a:r>
              <a:rPr lang="en-US" dirty="0">
                <a:solidFill>
                  <a:srgbClr val="A51417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81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decisions made – </a:t>
            </a:r>
            <a:r>
              <a:rPr lang="en-US" b="1" dirty="0"/>
              <a:t>Example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020254" cy="4778022"/>
          </a:xfrm>
        </p:spPr>
        <p:txBody>
          <a:bodyPr>
            <a:normAutofit/>
          </a:bodyPr>
          <a:lstStyle/>
          <a:p>
            <a:r>
              <a:rPr lang="en-US" dirty="0"/>
              <a:t>In March 2021, Carvana decided to invest $500 million on 10 new inspection and reconditioning centers and hiring five thousand additional employees.  As </a:t>
            </a:r>
            <a:r>
              <a:rPr lang="en-US" i="1" dirty="0"/>
              <a:t>The Wall Street Journal </a:t>
            </a:r>
            <a:r>
              <a:rPr lang="en-US" dirty="0"/>
              <a:t>reported, the company’s CFO, Mark Jenkins, felt consumer shifts to buying vehicles online would outlast pandemic.</a:t>
            </a:r>
          </a:p>
          <a:p>
            <a:endParaRPr lang="en-US" sz="800" dirty="0"/>
          </a:p>
          <a:p>
            <a:pPr lvl="1"/>
            <a:r>
              <a:rPr lang="en-US" i="1" dirty="0"/>
              <a:t>Big decision for company with only 10,400 employees and $5.6 billion in revenues for 2020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59F03-E51E-334E-88AE-AD8AC122447D}"/>
              </a:ext>
            </a:extLst>
          </p:cNvPr>
          <p:cNvSpPr txBox="1"/>
          <p:nvPr/>
        </p:nvSpPr>
        <p:spPr>
          <a:xfrm>
            <a:off x="991527" y="4997931"/>
            <a:ext cx="8912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https://www.wsj.com/articles/carvana-to-boost-capacity-betting-online-car-sales-are-here-to-stay-11616013522?mod=searchresults_pos15&amp;page=1</a:t>
            </a:r>
            <a:r>
              <a:rPr lang="en-US" dirty="0">
                <a:solidFill>
                  <a:srgbClr val="A51417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563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decisions made – </a:t>
            </a:r>
            <a:r>
              <a:rPr lang="en-US" b="1" dirty="0"/>
              <a:t>Example #3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020254" cy="4778022"/>
          </a:xfrm>
        </p:spPr>
        <p:txBody>
          <a:bodyPr>
            <a:normAutofit/>
          </a:bodyPr>
          <a:lstStyle/>
          <a:p>
            <a:r>
              <a:rPr lang="en-US" dirty="0"/>
              <a:t>During the Covid-19 pandemic, many companies cancelled their dividends and began “hoarding record amounts of cash” according to </a:t>
            </a:r>
            <a:r>
              <a:rPr lang="en-US" i="1" dirty="0"/>
              <a:t>The Wall Street Journal</a:t>
            </a:r>
            <a:r>
              <a:rPr lang="en-US" dirty="0"/>
              <a:t>.  </a:t>
            </a:r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59F03-E51E-334E-88AE-AD8AC122447D}"/>
              </a:ext>
            </a:extLst>
          </p:cNvPr>
          <p:cNvSpPr txBox="1"/>
          <p:nvPr/>
        </p:nvSpPr>
        <p:spPr>
          <a:xfrm>
            <a:off x="701116" y="3342880"/>
            <a:ext cx="9493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5141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https://www.wsj.com/articles/companies-are-hoarding-record-cash-amid-delta-fears-11629106380?mod=searchresults_pos17&amp;page=1</a:t>
            </a:r>
            <a:r>
              <a:rPr lang="en-US" dirty="0">
                <a:solidFill>
                  <a:srgbClr val="A51417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634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89929DC2-F428-EE4C-930D-E0829E7D8D68}"/>
              </a:ext>
            </a:extLst>
          </p:cNvPr>
          <p:cNvSpPr/>
          <p:nvPr/>
        </p:nvSpPr>
        <p:spPr>
          <a:xfrm>
            <a:off x="2737656" y="3988708"/>
            <a:ext cx="2576379" cy="661356"/>
          </a:xfrm>
          <a:prstGeom prst="rect">
            <a:avLst/>
          </a:prstGeom>
          <a:solidFill>
            <a:srgbClr val="E1E1E1"/>
          </a:solidFill>
          <a:ln>
            <a:solidFill>
              <a:srgbClr val="566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50">
            <a:extLst>
              <a:ext uri="{FF2B5EF4-FFF2-40B4-BE49-F238E27FC236}">
                <a16:creationId xmlns:a16="http://schemas.microsoft.com/office/drawing/2014/main" id="{7F0F6AA2-169D-8E4D-967C-8FF8DE0D0BB1}"/>
              </a:ext>
            </a:extLst>
          </p:cNvPr>
          <p:cNvSpPr>
            <a:spLocks/>
          </p:cNvSpPr>
          <p:nvPr/>
        </p:nvSpPr>
        <p:spPr bwMode="auto">
          <a:xfrm>
            <a:off x="5566851" y="3886877"/>
            <a:ext cx="3053099" cy="891413"/>
          </a:xfrm>
          <a:custGeom>
            <a:avLst/>
            <a:gdLst>
              <a:gd name="T0" fmla="*/ 884 w 885"/>
              <a:gd name="T1" fmla="*/ 52 h 105"/>
              <a:gd name="T2" fmla="*/ 802 w 885"/>
              <a:gd name="T3" fmla="*/ 0 h 105"/>
              <a:gd name="T4" fmla="*/ 802 w 885"/>
              <a:gd name="T5" fmla="*/ 34 h 105"/>
              <a:gd name="T6" fmla="*/ 0 w 885"/>
              <a:gd name="T7" fmla="*/ 34 h 105"/>
              <a:gd name="T8" fmla="*/ 0 w 885"/>
              <a:gd name="T9" fmla="*/ 69 h 105"/>
              <a:gd name="T10" fmla="*/ 802 w 885"/>
              <a:gd name="T11" fmla="*/ 69 h 105"/>
              <a:gd name="T12" fmla="*/ 802 w 885"/>
              <a:gd name="T13" fmla="*/ 104 h 105"/>
              <a:gd name="T14" fmla="*/ 884 w 885"/>
              <a:gd name="T15" fmla="*/ 52 h 10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85"/>
              <a:gd name="T25" fmla="*/ 0 h 105"/>
              <a:gd name="T26" fmla="*/ 885 w 885"/>
              <a:gd name="T27" fmla="*/ 105 h 10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85" h="105">
                <a:moveTo>
                  <a:pt x="884" y="52"/>
                </a:moveTo>
                <a:lnTo>
                  <a:pt x="802" y="0"/>
                </a:lnTo>
                <a:lnTo>
                  <a:pt x="802" y="34"/>
                </a:lnTo>
                <a:lnTo>
                  <a:pt x="0" y="34"/>
                </a:lnTo>
                <a:lnTo>
                  <a:pt x="0" y="69"/>
                </a:lnTo>
                <a:lnTo>
                  <a:pt x="802" y="69"/>
                </a:lnTo>
                <a:lnTo>
                  <a:pt x="802" y="104"/>
                </a:lnTo>
                <a:lnTo>
                  <a:pt x="884" y="52"/>
                </a:lnTo>
              </a:path>
            </a:pathLst>
          </a:custGeom>
          <a:solidFill>
            <a:srgbClr val="E1E1E1"/>
          </a:solidFill>
          <a:ln w="12700" cap="rnd">
            <a:solidFill>
              <a:srgbClr val="566568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Rectangle 51">
            <a:extLst>
              <a:ext uri="{FF2B5EF4-FFF2-40B4-BE49-F238E27FC236}">
                <a16:creationId xmlns:a16="http://schemas.microsoft.com/office/drawing/2014/main" id="{79314124-4A4C-0B43-9C27-1C720D388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0136" y="4149199"/>
            <a:ext cx="3337453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       Cash returned to investors</a:t>
            </a:r>
          </a:p>
        </p:txBody>
      </p:sp>
      <p:sp>
        <p:nvSpPr>
          <p:cNvPr id="45" name="Freeform 50">
            <a:extLst>
              <a:ext uri="{FF2B5EF4-FFF2-40B4-BE49-F238E27FC236}">
                <a16:creationId xmlns:a16="http://schemas.microsoft.com/office/drawing/2014/main" id="{585164FC-FFF0-3144-8BB0-F44F51BC9441}"/>
              </a:ext>
            </a:extLst>
          </p:cNvPr>
          <p:cNvSpPr>
            <a:spLocks/>
          </p:cNvSpPr>
          <p:nvPr/>
        </p:nvSpPr>
        <p:spPr bwMode="auto">
          <a:xfrm rot="10800000">
            <a:off x="2691838" y="2984106"/>
            <a:ext cx="2750036" cy="879228"/>
          </a:xfrm>
          <a:custGeom>
            <a:avLst/>
            <a:gdLst>
              <a:gd name="T0" fmla="*/ 884 w 885"/>
              <a:gd name="T1" fmla="*/ 52 h 105"/>
              <a:gd name="T2" fmla="*/ 802 w 885"/>
              <a:gd name="T3" fmla="*/ 0 h 105"/>
              <a:gd name="T4" fmla="*/ 802 w 885"/>
              <a:gd name="T5" fmla="*/ 34 h 105"/>
              <a:gd name="T6" fmla="*/ 0 w 885"/>
              <a:gd name="T7" fmla="*/ 34 h 105"/>
              <a:gd name="T8" fmla="*/ 0 w 885"/>
              <a:gd name="T9" fmla="*/ 69 h 105"/>
              <a:gd name="T10" fmla="*/ 802 w 885"/>
              <a:gd name="T11" fmla="*/ 69 h 105"/>
              <a:gd name="T12" fmla="*/ 802 w 885"/>
              <a:gd name="T13" fmla="*/ 104 h 105"/>
              <a:gd name="T14" fmla="*/ 884 w 885"/>
              <a:gd name="T15" fmla="*/ 52 h 10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85"/>
              <a:gd name="T25" fmla="*/ 0 h 105"/>
              <a:gd name="T26" fmla="*/ 885 w 885"/>
              <a:gd name="T27" fmla="*/ 105 h 105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85" h="105">
                <a:moveTo>
                  <a:pt x="884" y="52"/>
                </a:moveTo>
                <a:lnTo>
                  <a:pt x="802" y="0"/>
                </a:lnTo>
                <a:lnTo>
                  <a:pt x="802" y="34"/>
                </a:lnTo>
                <a:lnTo>
                  <a:pt x="0" y="34"/>
                </a:lnTo>
                <a:lnTo>
                  <a:pt x="0" y="69"/>
                </a:lnTo>
                <a:lnTo>
                  <a:pt x="802" y="69"/>
                </a:lnTo>
                <a:lnTo>
                  <a:pt x="802" y="104"/>
                </a:lnTo>
                <a:lnTo>
                  <a:pt x="884" y="52"/>
                </a:lnTo>
              </a:path>
            </a:pathLst>
          </a:custGeom>
          <a:solidFill>
            <a:srgbClr val="E1E1E1"/>
          </a:solidFill>
          <a:ln w="12700" cap="rnd">
            <a:solidFill>
              <a:srgbClr val="566568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1BF41E-833F-AA47-96A4-C4C293EAA0FA}"/>
              </a:ext>
            </a:extLst>
          </p:cNvPr>
          <p:cNvSpPr txBox="1">
            <a:spLocks noChangeArrowheads="1"/>
          </p:cNvSpPr>
          <p:nvPr/>
        </p:nvSpPr>
        <p:spPr>
          <a:xfrm>
            <a:off x="1995192" y="1706088"/>
            <a:ext cx="7772400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800" b="0" i="0" kern="1200">
                <a:solidFill>
                  <a:srgbClr val="6C7373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400" b="0" i="0" kern="1200">
                <a:solidFill>
                  <a:srgbClr val="6C7373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b="0" i="0" kern="1200">
                <a:solidFill>
                  <a:srgbClr val="6C7373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b="0" i="0" kern="1200">
                <a:solidFill>
                  <a:srgbClr val="6C7373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800" b="0" i="0" kern="1200">
                <a:solidFill>
                  <a:srgbClr val="6C7373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25">
            <a:extLst>
              <a:ext uri="{FF2B5EF4-FFF2-40B4-BE49-F238E27FC236}">
                <a16:creationId xmlns:a16="http://schemas.microsoft.com/office/drawing/2014/main" id="{D2545FCF-799C-7D45-A13C-488ABB5FD14A}"/>
              </a:ext>
            </a:extLst>
          </p:cNvPr>
          <p:cNvSpPr>
            <a:spLocks/>
          </p:cNvSpPr>
          <p:nvPr/>
        </p:nvSpPr>
        <p:spPr bwMode="auto">
          <a:xfrm>
            <a:off x="771260" y="1481174"/>
            <a:ext cx="1770178" cy="4246096"/>
          </a:xfrm>
          <a:custGeom>
            <a:avLst/>
            <a:gdLst>
              <a:gd name="T0" fmla="*/ 2147483647 w 1055"/>
              <a:gd name="T1" fmla="*/ 2147483647 h 2283"/>
              <a:gd name="T2" fmla="*/ 2147483647 w 1055"/>
              <a:gd name="T3" fmla="*/ 2147483647 h 2283"/>
              <a:gd name="T4" fmla="*/ 0 w 1055"/>
              <a:gd name="T5" fmla="*/ 0 h 2283"/>
              <a:gd name="T6" fmla="*/ 0 w 1055"/>
              <a:gd name="T7" fmla="*/ 2147483647 h 2283"/>
              <a:gd name="T8" fmla="*/ 0 w 1055"/>
              <a:gd name="T9" fmla="*/ 2147483647 h 2283"/>
              <a:gd name="T10" fmla="*/ 2147483647 w 1055"/>
              <a:gd name="T11" fmla="*/ 2147483647 h 22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5"/>
              <a:gd name="T19" fmla="*/ 0 h 2283"/>
              <a:gd name="T20" fmla="*/ 1055 w 1055"/>
              <a:gd name="T21" fmla="*/ 2283 h 22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5" h="2283">
                <a:moveTo>
                  <a:pt x="1054" y="1818"/>
                </a:moveTo>
                <a:lnTo>
                  <a:pt x="1054" y="414"/>
                </a:lnTo>
                <a:lnTo>
                  <a:pt x="0" y="0"/>
                </a:lnTo>
                <a:lnTo>
                  <a:pt x="0" y="2049"/>
                </a:lnTo>
                <a:lnTo>
                  <a:pt x="0" y="2282"/>
                </a:lnTo>
                <a:lnTo>
                  <a:pt x="1054" y="1818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" name="Rectangle 26">
            <a:extLst>
              <a:ext uri="{FF2B5EF4-FFF2-40B4-BE49-F238E27FC236}">
                <a16:creationId xmlns:a16="http://schemas.microsoft.com/office/drawing/2014/main" id="{544A2C12-6D6E-A340-A48C-D351C7408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23" y="2913667"/>
            <a:ext cx="1669549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dirty="0"/>
              <a:t>Firm’s operations</a:t>
            </a:r>
          </a:p>
        </p:txBody>
      </p:sp>
      <p:sp>
        <p:nvSpPr>
          <p:cNvPr id="9" name="Rectangle 28">
            <a:extLst>
              <a:ext uri="{FF2B5EF4-FFF2-40B4-BE49-F238E27FC236}">
                <a16:creationId xmlns:a16="http://schemas.microsoft.com/office/drawing/2014/main" id="{002C526A-09AF-0242-A2FF-5E4DF6757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989" y="3143018"/>
            <a:ext cx="1491859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dirty="0"/>
              <a:t>Financial markets</a:t>
            </a:r>
          </a:p>
        </p:txBody>
      </p:sp>
      <p:sp>
        <p:nvSpPr>
          <p:cNvPr id="14" name="Freeform 32">
            <a:extLst>
              <a:ext uri="{FF2B5EF4-FFF2-40B4-BE49-F238E27FC236}">
                <a16:creationId xmlns:a16="http://schemas.microsoft.com/office/drawing/2014/main" id="{978B7603-651D-0F47-9C4C-A299DF9724B4}"/>
              </a:ext>
            </a:extLst>
          </p:cNvPr>
          <p:cNvSpPr>
            <a:spLocks/>
          </p:cNvSpPr>
          <p:nvPr/>
        </p:nvSpPr>
        <p:spPr bwMode="auto">
          <a:xfrm>
            <a:off x="2667707" y="1887096"/>
            <a:ext cx="5952243" cy="1006475"/>
          </a:xfrm>
          <a:custGeom>
            <a:avLst/>
            <a:gdLst>
              <a:gd name="T0" fmla="*/ 0 w 885"/>
              <a:gd name="T1" fmla="*/ 60 h 120"/>
              <a:gd name="T2" fmla="*/ 81 w 885"/>
              <a:gd name="T3" fmla="*/ 0 h 120"/>
              <a:gd name="T4" fmla="*/ 81 w 885"/>
              <a:gd name="T5" fmla="*/ 40 h 120"/>
              <a:gd name="T6" fmla="*/ 884 w 885"/>
              <a:gd name="T7" fmla="*/ 40 h 120"/>
              <a:gd name="T8" fmla="*/ 884 w 885"/>
              <a:gd name="T9" fmla="*/ 79 h 120"/>
              <a:gd name="T10" fmla="*/ 81 w 885"/>
              <a:gd name="T11" fmla="*/ 79 h 120"/>
              <a:gd name="T12" fmla="*/ 81 w 885"/>
              <a:gd name="T13" fmla="*/ 119 h 120"/>
              <a:gd name="T14" fmla="*/ 0 w 885"/>
              <a:gd name="T15" fmla="*/ 60 h 12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885"/>
              <a:gd name="T25" fmla="*/ 0 h 120"/>
              <a:gd name="T26" fmla="*/ 885 w 885"/>
              <a:gd name="T27" fmla="*/ 120 h 12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885" h="120">
                <a:moveTo>
                  <a:pt x="0" y="60"/>
                </a:moveTo>
                <a:lnTo>
                  <a:pt x="81" y="0"/>
                </a:lnTo>
                <a:lnTo>
                  <a:pt x="81" y="40"/>
                </a:lnTo>
                <a:lnTo>
                  <a:pt x="884" y="40"/>
                </a:lnTo>
                <a:lnTo>
                  <a:pt x="884" y="79"/>
                </a:lnTo>
                <a:lnTo>
                  <a:pt x="81" y="79"/>
                </a:lnTo>
                <a:lnTo>
                  <a:pt x="81" y="119"/>
                </a:lnTo>
                <a:lnTo>
                  <a:pt x="0" y="60"/>
                </a:lnTo>
              </a:path>
            </a:pathLst>
          </a:custGeom>
          <a:solidFill>
            <a:srgbClr val="E1E1E1"/>
          </a:solidFill>
          <a:ln w="12700" cap="rnd">
            <a:solidFill>
              <a:srgbClr val="566568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15" name="Rectangle 33">
            <a:extLst>
              <a:ext uri="{FF2B5EF4-FFF2-40B4-BE49-F238E27FC236}">
                <a16:creationId xmlns:a16="http://schemas.microsoft.com/office/drawing/2014/main" id="{2AF9DF04-035F-0D4B-918C-6AEC84CC4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5362" y="2205100"/>
            <a:ext cx="2927084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Cash raised from investors</a:t>
            </a:r>
          </a:p>
        </p:txBody>
      </p:sp>
      <p:sp>
        <p:nvSpPr>
          <p:cNvPr id="18" name="Rectangle 37">
            <a:extLst>
              <a:ext uri="{FF2B5EF4-FFF2-40B4-BE49-F238E27FC236}">
                <a16:creationId xmlns:a16="http://schemas.microsoft.com/office/drawing/2014/main" id="{EB1523FB-5769-4440-989D-3B7F128A5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249" y="4030549"/>
            <a:ext cx="1510706" cy="92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dirty="0"/>
          </a:p>
          <a:p>
            <a:pPr algn="ctr"/>
            <a:r>
              <a:rPr lang="en-US" altLang="en-US" dirty="0"/>
              <a:t>Firm invests in assets</a:t>
            </a:r>
          </a:p>
        </p:txBody>
      </p:sp>
      <p:sp>
        <p:nvSpPr>
          <p:cNvPr id="22" name="Rectangle 41">
            <a:extLst>
              <a:ext uri="{FF2B5EF4-FFF2-40B4-BE49-F238E27FC236}">
                <a16:creationId xmlns:a16="http://schemas.microsoft.com/office/drawing/2014/main" id="{B2F6DC92-409B-6F4C-8676-1CBC386E2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1272" y="3991479"/>
            <a:ext cx="2254251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Cash flow from firm’s assets</a:t>
            </a:r>
          </a:p>
        </p:txBody>
      </p:sp>
      <p:sp>
        <p:nvSpPr>
          <p:cNvPr id="25" name="Rectangle 44">
            <a:extLst>
              <a:ext uri="{FF2B5EF4-FFF2-40B4-BE49-F238E27FC236}">
                <a16:creationId xmlns:a16="http://schemas.microsoft.com/office/drawing/2014/main" id="{141A2202-CEB7-0A40-A522-CCB1D7CDC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2261" y="3240364"/>
            <a:ext cx="2170467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     Cash reinvested</a:t>
            </a:r>
          </a:p>
        </p:txBody>
      </p:sp>
      <p:sp>
        <p:nvSpPr>
          <p:cNvPr id="34" name="Freeform 53">
            <a:extLst>
              <a:ext uri="{FF2B5EF4-FFF2-40B4-BE49-F238E27FC236}">
                <a16:creationId xmlns:a16="http://schemas.microsoft.com/office/drawing/2014/main" id="{B4477CAE-13C6-194A-8741-1D7FEF947448}"/>
              </a:ext>
            </a:extLst>
          </p:cNvPr>
          <p:cNvSpPr>
            <a:spLocks/>
          </p:cNvSpPr>
          <p:nvPr/>
        </p:nvSpPr>
        <p:spPr bwMode="auto">
          <a:xfrm>
            <a:off x="8815414" y="1564417"/>
            <a:ext cx="1756031" cy="4079609"/>
          </a:xfrm>
          <a:custGeom>
            <a:avLst/>
            <a:gdLst>
              <a:gd name="T0" fmla="*/ 0 w 1055"/>
              <a:gd name="T1" fmla="*/ 2147483647 h 2283"/>
              <a:gd name="T2" fmla="*/ 0 w 1055"/>
              <a:gd name="T3" fmla="*/ 2147483647 h 2283"/>
              <a:gd name="T4" fmla="*/ 2147483647 w 1055"/>
              <a:gd name="T5" fmla="*/ 0 h 2283"/>
              <a:gd name="T6" fmla="*/ 2147483647 w 1055"/>
              <a:gd name="T7" fmla="*/ 2147483647 h 2283"/>
              <a:gd name="T8" fmla="*/ 2147483647 w 1055"/>
              <a:gd name="T9" fmla="*/ 2147483647 h 2283"/>
              <a:gd name="T10" fmla="*/ 0 w 1055"/>
              <a:gd name="T11" fmla="*/ 2147483647 h 22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5"/>
              <a:gd name="T19" fmla="*/ 0 h 2283"/>
              <a:gd name="T20" fmla="*/ 1055 w 1055"/>
              <a:gd name="T21" fmla="*/ 2283 h 22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5" h="2283">
                <a:moveTo>
                  <a:pt x="0" y="1819"/>
                </a:moveTo>
                <a:lnTo>
                  <a:pt x="0" y="415"/>
                </a:lnTo>
                <a:lnTo>
                  <a:pt x="1054" y="0"/>
                </a:lnTo>
                <a:lnTo>
                  <a:pt x="1054" y="2050"/>
                </a:lnTo>
                <a:lnTo>
                  <a:pt x="1054" y="2282"/>
                </a:lnTo>
                <a:lnTo>
                  <a:pt x="0" y="1819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" name="Freeform 47">
            <a:extLst>
              <a:ext uri="{FF2B5EF4-FFF2-40B4-BE49-F238E27FC236}">
                <a16:creationId xmlns:a16="http://schemas.microsoft.com/office/drawing/2014/main" id="{78E9F00E-57EC-8D45-95E7-AD9FAF5EA93F}"/>
              </a:ext>
            </a:extLst>
          </p:cNvPr>
          <p:cNvSpPr>
            <a:spLocks/>
          </p:cNvSpPr>
          <p:nvPr/>
        </p:nvSpPr>
        <p:spPr bwMode="auto">
          <a:xfrm rot="16200000">
            <a:off x="4419021" y="3941440"/>
            <a:ext cx="2082107" cy="766256"/>
          </a:xfrm>
          <a:custGeom>
            <a:avLst/>
            <a:gdLst>
              <a:gd name="T0" fmla="*/ 0 w 508"/>
              <a:gd name="T1" fmla="*/ 48 h 98"/>
              <a:gd name="T2" fmla="*/ 99 w 508"/>
              <a:gd name="T3" fmla="*/ 0 h 98"/>
              <a:gd name="T4" fmla="*/ 99 w 508"/>
              <a:gd name="T5" fmla="*/ 32 h 98"/>
              <a:gd name="T6" fmla="*/ 507 w 508"/>
              <a:gd name="T7" fmla="*/ 32 h 98"/>
              <a:gd name="T8" fmla="*/ 507 w 508"/>
              <a:gd name="T9" fmla="*/ 64 h 98"/>
              <a:gd name="T10" fmla="*/ 99 w 508"/>
              <a:gd name="T11" fmla="*/ 64 h 98"/>
              <a:gd name="T12" fmla="*/ 99 w 508"/>
              <a:gd name="T13" fmla="*/ 97 h 98"/>
              <a:gd name="T14" fmla="*/ 0 w 508"/>
              <a:gd name="T15" fmla="*/ 48 h 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08"/>
              <a:gd name="T25" fmla="*/ 0 h 98"/>
              <a:gd name="T26" fmla="*/ 508 w 508"/>
              <a:gd name="T27" fmla="*/ 98 h 9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08" h="98">
                <a:moveTo>
                  <a:pt x="0" y="48"/>
                </a:moveTo>
                <a:lnTo>
                  <a:pt x="99" y="0"/>
                </a:lnTo>
                <a:lnTo>
                  <a:pt x="99" y="32"/>
                </a:lnTo>
                <a:lnTo>
                  <a:pt x="507" y="32"/>
                </a:lnTo>
                <a:lnTo>
                  <a:pt x="507" y="64"/>
                </a:lnTo>
                <a:lnTo>
                  <a:pt x="99" y="64"/>
                </a:lnTo>
                <a:lnTo>
                  <a:pt x="99" y="97"/>
                </a:lnTo>
                <a:lnTo>
                  <a:pt x="0" y="48"/>
                </a:lnTo>
              </a:path>
            </a:pathLst>
          </a:custGeom>
          <a:solidFill>
            <a:srgbClr val="E1E1E1"/>
          </a:solidFill>
          <a:ln w="12700" cap="rnd">
            <a:solidFill>
              <a:srgbClr val="566568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" name="Freeform 53">
            <a:extLst>
              <a:ext uri="{FF2B5EF4-FFF2-40B4-BE49-F238E27FC236}">
                <a16:creationId xmlns:a16="http://schemas.microsoft.com/office/drawing/2014/main" id="{28227BE0-247E-5D41-97DF-7081FC0F133A}"/>
              </a:ext>
            </a:extLst>
          </p:cNvPr>
          <p:cNvSpPr>
            <a:spLocks/>
          </p:cNvSpPr>
          <p:nvPr/>
        </p:nvSpPr>
        <p:spPr bwMode="auto">
          <a:xfrm rot="5400000">
            <a:off x="5325392" y="3318014"/>
            <a:ext cx="891413" cy="5214242"/>
          </a:xfrm>
          <a:custGeom>
            <a:avLst/>
            <a:gdLst>
              <a:gd name="T0" fmla="*/ 0 w 1055"/>
              <a:gd name="T1" fmla="*/ 2147483647 h 2283"/>
              <a:gd name="T2" fmla="*/ 0 w 1055"/>
              <a:gd name="T3" fmla="*/ 2147483647 h 2283"/>
              <a:gd name="T4" fmla="*/ 2147483647 w 1055"/>
              <a:gd name="T5" fmla="*/ 0 h 2283"/>
              <a:gd name="T6" fmla="*/ 2147483647 w 1055"/>
              <a:gd name="T7" fmla="*/ 2147483647 h 2283"/>
              <a:gd name="T8" fmla="*/ 2147483647 w 1055"/>
              <a:gd name="T9" fmla="*/ 2147483647 h 2283"/>
              <a:gd name="T10" fmla="*/ 0 w 1055"/>
              <a:gd name="T11" fmla="*/ 2147483647 h 22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55"/>
              <a:gd name="T19" fmla="*/ 0 h 2283"/>
              <a:gd name="T20" fmla="*/ 1055 w 1055"/>
              <a:gd name="T21" fmla="*/ 2283 h 22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55" h="2283">
                <a:moveTo>
                  <a:pt x="0" y="1819"/>
                </a:moveTo>
                <a:lnTo>
                  <a:pt x="0" y="415"/>
                </a:lnTo>
                <a:lnTo>
                  <a:pt x="1054" y="0"/>
                </a:lnTo>
                <a:lnTo>
                  <a:pt x="1054" y="2050"/>
                </a:lnTo>
                <a:lnTo>
                  <a:pt x="1054" y="2282"/>
                </a:lnTo>
                <a:lnTo>
                  <a:pt x="0" y="1819"/>
                </a:lnTo>
              </a:path>
            </a:pathLst>
          </a:custGeom>
          <a:noFill/>
          <a:ln w="50800" cap="rnd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" name="Rectangle 28">
            <a:extLst>
              <a:ext uri="{FF2B5EF4-FFF2-40B4-BE49-F238E27FC236}">
                <a16:creationId xmlns:a16="http://schemas.microsoft.com/office/drawing/2014/main" id="{03502705-8D2B-9A44-97A5-9D20C26A8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632" y="5510008"/>
            <a:ext cx="3015520" cy="82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dirty="0"/>
              <a:t>Government and          other stakeholders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8446FA5-6505-6B4F-83C9-09CB86CF1A84}"/>
              </a:ext>
            </a:extLst>
          </p:cNvPr>
          <p:cNvSpPr/>
          <p:nvPr/>
        </p:nvSpPr>
        <p:spPr>
          <a:xfrm>
            <a:off x="5307437" y="3983253"/>
            <a:ext cx="178506" cy="661356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D9D6307-56CF-3542-A8C2-8BEF91657C12}"/>
              </a:ext>
            </a:extLst>
          </p:cNvPr>
          <p:cNvSpPr/>
          <p:nvPr/>
        </p:nvSpPr>
        <p:spPr>
          <a:xfrm>
            <a:off x="5300505" y="4202859"/>
            <a:ext cx="280854" cy="233053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AD828F-4CBA-6A46-B4B3-04DBC26F7FA0}"/>
              </a:ext>
            </a:extLst>
          </p:cNvPr>
          <p:cNvSpPr/>
          <p:nvPr/>
        </p:nvSpPr>
        <p:spPr>
          <a:xfrm>
            <a:off x="5213039" y="3304987"/>
            <a:ext cx="280854" cy="260007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33">
            <a:extLst>
              <a:ext uri="{FF2B5EF4-FFF2-40B4-BE49-F238E27FC236}">
                <a16:creationId xmlns:a16="http://schemas.microsoft.com/office/drawing/2014/main" id="{5A345F5E-C090-A041-8A19-BEB0D500A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173" y="2196486"/>
            <a:ext cx="46487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(1)</a:t>
            </a:r>
          </a:p>
        </p:txBody>
      </p:sp>
      <p:sp>
        <p:nvSpPr>
          <p:cNvPr id="54" name="Rectangle 33">
            <a:extLst>
              <a:ext uri="{FF2B5EF4-FFF2-40B4-BE49-F238E27FC236}">
                <a16:creationId xmlns:a16="http://schemas.microsoft.com/office/drawing/2014/main" id="{3CC9A2DA-8649-B140-8A72-A1A425D38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913" y="4001109"/>
            <a:ext cx="464873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(2)</a:t>
            </a:r>
          </a:p>
        </p:txBody>
      </p:sp>
      <p:sp>
        <p:nvSpPr>
          <p:cNvPr id="55" name="Rectangle 33">
            <a:extLst>
              <a:ext uri="{FF2B5EF4-FFF2-40B4-BE49-F238E27FC236}">
                <a16:creationId xmlns:a16="http://schemas.microsoft.com/office/drawing/2014/main" id="{BD8A5EFE-3B7E-5C4C-ADB4-7F7D2D07D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359" y="4023927"/>
            <a:ext cx="272513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*</a:t>
            </a:r>
          </a:p>
        </p:txBody>
      </p:sp>
      <p:sp>
        <p:nvSpPr>
          <p:cNvPr id="56" name="Rectangle 33">
            <a:extLst>
              <a:ext uri="{FF2B5EF4-FFF2-40B4-BE49-F238E27FC236}">
                <a16:creationId xmlns:a16="http://schemas.microsoft.com/office/drawing/2014/main" id="{5B4FAB40-4609-B446-8515-E443679B0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350" y="4117416"/>
            <a:ext cx="827412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(3b)</a:t>
            </a:r>
          </a:p>
        </p:txBody>
      </p:sp>
      <p:sp>
        <p:nvSpPr>
          <p:cNvPr id="57" name="Rectangle 33">
            <a:extLst>
              <a:ext uri="{FF2B5EF4-FFF2-40B4-BE49-F238E27FC236}">
                <a16:creationId xmlns:a16="http://schemas.microsoft.com/office/drawing/2014/main" id="{41E89E65-E8DC-D549-8219-4D98B1291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8651" y="3237455"/>
            <a:ext cx="610199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(3a)</a:t>
            </a:r>
          </a:p>
        </p:txBody>
      </p:sp>
      <p:sp>
        <p:nvSpPr>
          <p:cNvPr id="58" name="Rectangle 33">
            <a:extLst>
              <a:ext uri="{FF2B5EF4-FFF2-40B4-BE49-F238E27FC236}">
                <a16:creationId xmlns:a16="http://schemas.microsoft.com/office/drawing/2014/main" id="{52E169A1-94B6-814C-9E89-3E75FA290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8879" y="5597372"/>
            <a:ext cx="610199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620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dirty="0"/>
              <a:t>**</a:t>
            </a:r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5B3358F5-BBC4-F746-A8EA-93357F3D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7" y="437444"/>
            <a:ext cx="9649953" cy="980194"/>
          </a:xfrm>
        </p:spPr>
        <p:txBody>
          <a:bodyPr/>
          <a:lstStyle/>
          <a:p>
            <a:r>
              <a:rPr lang="en-US" dirty="0"/>
              <a:t>Financial management visually…</a:t>
            </a:r>
          </a:p>
        </p:txBody>
      </p:sp>
    </p:spTree>
    <p:extLst>
      <p:ext uri="{BB962C8B-B14F-4D97-AF65-F5344CB8AC3E}">
        <p14:creationId xmlns:p14="http://schemas.microsoft.com/office/powerpoint/2010/main" val="86228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31" grpId="0" animBg="1"/>
      <p:bldP spid="32" grpId="0"/>
      <p:bldP spid="45" grpId="0" animBg="1"/>
      <p:bldP spid="6" grpId="0" animBg="1"/>
      <p:bldP spid="7" grpId="0"/>
      <p:bldP spid="9" grpId="0"/>
      <p:bldP spid="14" grpId="0" animBg="1"/>
      <p:bldP spid="15" grpId="0"/>
      <p:bldP spid="18" grpId="0"/>
      <p:bldP spid="22" grpId="0"/>
      <p:bldP spid="25" grpId="0"/>
      <p:bldP spid="34" grpId="0" animBg="1"/>
      <p:bldP spid="40" grpId="0" animBg="1"/>
      <p:bldP spid="42" grpId="0" animBg="1"/>
      <p:bldP spid="43" grpId="0"/>
      <p:bldP spid="50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primary financial management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b="1" dirty="0"/>
              <a:t>How to raise capital? </a:t>
            </a:r>
            <a:r>
              <a:rPr lang="en-US" i="1" dirty="0">
                <a:solidFill>
                  <a:srgbClr val="A51417"/>
                </a:solidFill>
              </a:rPr>
              <a:t>[“Capital structure” decision]</a:t>
            </a:r>
          </a:p>
          <a:p>
            <a:pPr lvl="1"/>
            <a:r>
              <a:rPr lang="en-US" dirty="0"/>
              <a:t>What mix of debt &amp; equity? </a:t>
            </a:r>
          </a:p>
          <a:p>
            <a:pPr lvl="1"/>
            <a:r>
              <a:rPr lang="en-US" dirty="0"/>
              <a:t>What type of debt (e.g., loan </a:t>
            </a:r>
            <a:r>
              <a:rPr lang="en-US" i="1" dirty="0"/>
              <a:t>vs. </a:t>
            </a:r>
            <a:r>
              <a:rPr lang="en-US" dirty="0"/>
              <a:t>bonds)?</a:t>
            </a:r>
          </a:p>
          <a:p>
            <a:pPr lvl="1"/>
            <a:endParaRPr lang="en-US" sz="800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How to allocate capital? </a:t>
            </a:r>
            <a:r>
              <a:rPr lang="en-US" i="1" dirty="0">
                <a:solidFill>
                  <a:srgbClr val="A51417"/>
                </a:solidFill>
              </a:rPr>
              <a:t>[“Capital budgeting” decision]</a:t>
            </a:r>
            <a:endParaRPr lang="en-US" dirty="0"/>
          </a:p>
          <a:p>
            <a:pPr lvl="1"/>
            <a:r>
              <a:rPr lang="en-US" dirty="0"/>
              <a:t>Should we launch a new product? </a:t>
            </a:r>
          </a:p>
          <a:p>
            <a:pPr lvl="1"/>
            <a:r>
              <a:rPr lang="en-US" dirty="0"/>
              <a:t>Should we acquire another company?</a:t>
            </a:r>
          </a:p>
          <a:p>
            <a:pPr lvl="1"/>
            <a:endParaRPr lang="en-US" sz="800" dirty="0"/>
          </a:p>
          <a:p>
            <a:pPr marL="514350" indent="-514350">
              <a:buFont typeface="+mj-lt"/>
              <a:buAutoNum type="arabicParenR"/>
            </a:pPr>
            <a:r>
              <a:rPr lang="en-US" b="1" dirty="0"/>
              <a:t>How to disperse net profits?</a:t>
            </a:r>
            <a:r>
              <a:rPr lang="en-US" b="1" i="1" dirty="0">
                <a:solidFill>
                  <a:srgbClr val="A51417"/>
                </a:solidFill>
              </a:rPr>
              <a:t> </a:t>
            </a:r>
            <a:r>
              <a:rPr lang="en-US" i="1" dirty="0">
                <a:solidFill>
                  <a:srgbClr val="A51417"/>
                </a:solidFill>
              </a:rPr>
              <a:t>[“Payout policy” decision]</a:t>
            </a:r>
            <a:endParaRPr lang="en-US" dirty="0"/>
          </a:p>
          <a:p>
            <a:pPr lvl="1"/>
            <a:r>
              <a:rPr lang="en-US" dirty="0"/>
              <a:t>Should we reinvest it in new projects?</a:t>
            </a:r>
          </a:p>
          <a:p>
            <a:pPr lvl="1"/>
            <a:r>
              <a:rPr lang="en-US" dirty="0"/>
              <a:t>Should we pay it out, and if so, how?  [e.g., repurchase vs. dividend]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0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– Apple Inc.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are some decisions Apple’s managers made:</a:t>
            </a:r>
          </a:p>
          <a:p>
            <a:endParaRPr lang="en-US" sz="800" dirty="0"/>
          </a:p>
          <a:p>
            <a:pPr lvl="1"/>
            <a:r>
              <a:rPr lang="en-US" i="1" dirty="0"/>
              <a:t>Decided to expend substantial amounts to produce first iPhone in 2007</a:t>
            </a:r>
          </a:p>
          <a:p>
            <a:pPr lvl="1"/>
            <a:r>
              <a:rPr lang="en-US" i="1" dirty="0"/>
              <a:t>Decided to issue bonds for very first time in 2013</a:t>
            </a:r>
          </a:p>
          <a:p>
            <a:pPr lvl="1"/>
            <a:r>
              <a:rPr lang="en-US" i="1" dirty="0"/>
              <a:t>Ramped up dividends and share buybacks in 2013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r>
              <a:rPr lang="en-US" b="1" dirty="0">
                <a:solidFill>
                  <a:srgbClr val="A51417"/>
                </a:solidFill>
              </a:rPr>
              <a:t>What are these decisions each examples of?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59F03-E51E-334E-88AE-AD8AC122447D}"/>
              </a:ext>
            </a:extLst>
          </p:cNvPr>
          <p:cNvSpPr txBox="1"/>
          <p:nvPr/>
        </p:nvSpPr>
        <p:spPr>
          <a:xfrm>
            <a:off x="1545021" y="3710151"/>
            <a:ext cx="8912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https://www.wsj.com/articles/SB10001424127887324474004578442783946669310</a:t>
            </a:r>
            <a:endParaRPr lang="en-US" dirty="0"/>
          </a:p>
          <a:p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https://www.wsj.com/articles/SB10001424127887323511804578298373069091776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65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goal of the financial manager?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13263"/>
            <a:ext cx="10856148" cy="477802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Choose one and choose wisely…</a:t>
            </a:r>
          </a:p>
          <a:p>
            <a:endParaRPr lang="en-US" sz="800" dirty="0"/>
          </a:p>
          <a:p>
            <a:pPr lvl="1"/>
            <a:r>
              <a:rPr lang="en-US" i="1" dirty="0"/>
              <a:t>Avoid bankruptcy and survive</a:t>
            </a:r>
          </a:p>
          <a:p>
            <a:pPr lvl="1"/>
            <a:r>
              <a:rPr lang="en-US" i="1" dirty="0"/>
              <a:t>Maximize market share</a:t>
            </a:r>
          </a:p>
          <a:p>
            <a:pPr lvl="1"/>
            <a:r>
              <a:rPr lang="en-US" i="1" dirty="0"/>
              <a:t>Maximize wealth of the owners, the stockholders</a:t>
            </a:r>
          </a:p>
          <a:p>
            <a:pPr lvl="1"/>
            <a:r>
              <a:rPr lang="en-US" i="1" dirty="0"/>
              <a:t>Maximize managers’ own wealth</a:t>
            </a:r>
          </a:p>
          <a:p>
            <a:pPr lvl="1"/>
            <a:r>
              <a:rPr lang="en-US" i="1" dirty="0"/>
              <a:t>Maximize profits</a:t>
            </a:r>
          </a:p>
          <a:p>
            <a:endParaRPr lang="en-US" sz="800" dirty="0"/>
          </a:p>
          <a:p>
            <a:r>
              <a:rPr lang="en-US" dirty="0">
                <a:solidFill>
                  <a:srgbClr val="A51417"/>
                </a:solidFill>
              </a:rPr>
              <a:t>Why not the other goals?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4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if destroy shareholder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vicious cycle ensues…</a:t>
            </a:r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5DE3FE-EAC7-C542-BB2B-1F04D6314950}"/>
              </a:ext>
            </a:extLst>
          </p:cNvPr>
          <p:cNvSpPr txBox="1"/>
          <p:nvPr/>
        </p:nvSpPr>
        <p:spPr>
          <a:xfrm>
            <a:off x="4866290" y="2409510"/>
            <a:ext cx="2036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destruction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B62A85-40D7-1A4E-9B78-B93B26FD36A6}"/>
              </a:ext>
            </a:extLst>
          </p:cNvPr>
          <p:cNvSpPr txBox="1"/>
          <p:nvPr/>
        </p:nvSpPr>
        <p:spPr>
          <a:xfrm>
            <a:off x="7912475" y="3164771"/>
            <a:ext cx="2831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Lower financial returns and cash 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71A56-0EC8-4E43-9627-9B09A48F1CF6}"/>
              </a:ext>
            </a:extLst>
          </p:cNvPr>
          <p:cNvSpPr txBox="1"/>
          <p:nvPr/>
        </p:nvSpPr>
        <p:spPr>
          <a:xfrm>
            <a:off x="7103588" y="5115308"/>
            <a:ext cx="2375338" cy="646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restricted access to capital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4BCFD-4F22-D642-974E-4A1BD0E308BA}"/>
              </a:ext>
            </a:extLst>
          </p:cNvPr>
          <p:cNvSpPr txBox="1"/>
          <p:nvPr/>
        </p:nvSpPr>
        <p:spPr>
          <a:xfrm>
            <a:off x="2561312" y="4838308"/>
            <a:ext cx="3017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resources available to do value-enhancing projects; instead, focus on cutting costs &amp; head count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66A6F-C9DC-B548-9CCD-8D4E50FA254A}"/>
              </a:ext>
            </a:extLst>
          </p:cNvPr>
          <p:cNvSpPr txBox="1"/>
          <p:nvPr/>
        </p:nvSpPr>
        <p:spPr>
          <a:xfrm>
            <a:off x="1536422" y="3384520"/>
            <a:ext cx="3017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Talented people leave</a:t>
            </a:r>
          </a:p>
        </p:txBody>
      </p:sp>
      <p:sp>
        <p:nvSpPr>
          <p:cNvPr id="20" name="Bent Arrow 19">
            <a:extLst>
              <a:ext uri="{FF2B5EF4-FFF2-40B4-BE49-F238E27FC236}">
                <a16:creationId xmlns:a16="http://schemas.microsoft.com/office/drawing/2014/main" id="{74B696C5-FFC9-BA4B-B590-8D0D638800FA}"/>
              </a:ext>
            </a:extLst>
          </p:cNvPr>
          <p:cNvSpPr/>
          <p:nvPr/>
        </p:nvSpPr>
        <p:spPr>
          <a:xfrm>
            <a:off x="3366609" y="2447780"/>
            <a:ext cx="1187668" cy="685740"/>
          </a:xfrm>
          <a:prstGeom prst="ben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Bent Arrow 21">
            <a:extLst>
              <a:ext uri="{FF2B5EF4-FFF2-40B4-BE49-F238E27FC236}">
                <a16:creationId xmlns:a16="http://schemas.microsoft.com/office/drawing/2014/main" id="{A5270C8A-9E39-FC40-BE74-D28A763D27BD}"/>
              </a:ext>
            </a:extLst>
          </p:cNvPr>
          <p:cNvSpPr/>
          <p:nvPr/>
        </p:nvSpPr>
        <p:spPr>
          <a:xfrm rot="3157236">
            <a:off x="6966390" y="2304474"/>
            <a:ext cx="1187668" cy="685740"/>
          </a:xfrm>
          <a:prstGeom prst="bentArrow">
            <a:avLst/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Bent Arrow 22">
            <a:extLst>
              <a:ext uri="{FF2B5EF4-FFF2-40B4-BE49-F238E27FC236}">
                <a16:creationId xmlns:a16="http://schemas.microsoft.com/office/drawing/2014/main" id="{0CE147AA-4C9C-6C4C-AC10-16CF5B98DC82}"/>
              </a:ext>
            </a:extLst>
          </p:cNvPr>
          <p:cNvSpPr/>
          <p:nvPr/>
        </p:nvSpPr>
        <p:spPr>
          <a:xfrm rot="8765300">
            <a:off x="8491642" y="4188857"/>
            <a:ext cx="840887" cy="685740"/>
          </a:xfrm>
          <a:prstGeom prst="bentArrow">
            <a:avLst>
              <a:gd name="adj1" fmla="val 25000"/>
              <a:gd name="adj2" fmla="val 29887"/>
              <a:gd name="adj3" fmla="val 25000"/>
              <a:gd name="adj4" fmla="val 43750"/>
            </a:avLst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Bent Arrow 23">
            <a:extLst>
              <a:ext uri="{FF2B5EF4-FFF2-40B4-BE49-F238E27FC236}">
                <a16:creationId xmlns:a16="http://schemas.microsoft.com/office/drawing/2014/main" id="{3634813D-1700-BB4A-BA21-AAE51269BC6D}"/>
              </a:ext>
            </a:extLst>
          </p:cNvPr>
          <p:cNvSpPr/>
          <p:nvPr/>
        </p:nvSpPr>
        <p:spPr>
          <a:xfrm rot="12058062">
            <a:off x="5652795" y="5590136"/>
            <a:ext cx="1516949" cy="692221"/>
          </a:xfrm>
          <a:prstGeom prst="bentArrow">
            <a:avLst>
              <a:gd name="adj1" fmla="val 25000"/>
              <a:gd name="adj2" fmla="val 21843"/>
              <a:gd name="adj3" fmla="val 25000"/>
              <a:gd name="adj4" fmla="val 43750"/>
            </a:avLst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Bent Arrow 24">
            <a:extLst>
              <a:ext uri="{FF2B5EF4-FFF2-40B4-BE49-F238E27FC236}">
                <a16:creationId xmlns:a16="http://schemas.microsoft.com/office/drawing/2014/main" id="{BE82700D-2158-ED41-AC16-D3940B8297A3}"/>
              </a:ext>
            </a:extLst>
          </p:cNvPr>
          <p:cNvSpPr/>
          <p:nvPr/>
        </p:nvSpPr>
        <p:spPr>
          <a:xfrm rot="17074189">
            <a:off x="1474992" y="4308925"/>
            <a:ext cx="1312485" cy="685740"/>
          </a:xfrm>
          <a:prstGeom prst="bentArrow">
            <a:avLst>
              <a:gd name="adj1" fmla="val 25000"/>
              <a:gd name="adj2" fmla="val 29887"/>
              <a:gd name="adj3" fmla="val 25000"/>
              <a:gd name="adj4" fmla="val 43750"/>
            </a:avLst>
          </a:prstGeom>
          <a:solidFill>
            <a:srgbClr val="A51417"/>
          </a:solidFill>
          <a:ln>
            <a:solidFill>
              <a:srgbClr val="A514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82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managers maximize shareholder value?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investments that create most value</a:t>
            </a:r>
          </a:p>
          <a:p>
            <a:endParaRPr lang="en-US" sz="800" dirty="0"/>
          </a:p>
          <a:p>
            <a:pPr lvl="1"/>
            <a:r>
              <a:rPr lang="en-US" i="1" dirty="0"/>
              <a:t>I.e., make good “capital budgeting” decisions</a:t>
            </a:r>
          </a:p>
          <a:p>
            <a:pPr lvl="1"/>
            <a:r>
              <a:rPr lang="en-US" i="1" dirty="0"/>
              <a:t>This will be a focus of the course</a:t>
            </a:r>
          </a:p>
          <a:p>
            <a:endParaRPr lang="en-US" sz="800" dirty="0"/>
          </a:p>
          <a:p>
            <a:r>
              <a:rPr lang="en-US" dirty="0"/>
              <a:t>Choose financing to minimize cost of capital</a:t>
            </a:r>
          </a:p>
          <a:p>
            <a:endParaRPr lang="en-US" sz="800" dirty="0"/>
          </a:p>
          <a:p>
            <a:pPr lvl="1"/>
            <a:r>
              <a:rPr lang="en-US" i="1" dirty="0"/>
              <a:t>I.e., make good “capital structure” decisions</a:t>
            </a:r>
          </a:p>
          <a:p>
            <a:pPr lvl="1"/>
            <a:r>
              <a:rPr lang="en-US" i="1" dirty="0"/>
              <a:t>This cost of capital is called “weighted average cost of capital” (WACC)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something’s value determined?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value of a firm’s assets?</a:t>
            </a:r>
          </a:p>
          <a:p>
            <a:r>
              <a:rPr lang="en-US" dirty="0"/>
              <a:t>What is the value of a firm’s shares?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883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(from finance perspective)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9526005" cy="4778022"/>
          </a:xfrm>
        </p:spPr>
        <p:txBody>
          <a:bodyPr/>
          <a:lstStyle/>
          <a:p>
            <a:r>
              <a:rPr lang="en-US" dirty="0"/>
              <a:t>A firm’s value is given by the present value of all the future cash flows the firm spins off, discounted at an appropriate, risk-adjusted cost of capital </a:t>
            </a:r>
          </a:p>
          <a:p>
            <a:endParaRPr lang="en-US" sz="800" dirty="0"/>
          </a:p>
          <a:p>
            <a:pPr lvl="1"/>
            <a:r>
              <a:rPr lang="en-US" i="1" dirty="0"/>
              <a:t>Similar idea applies to a company’s stock; price equals present value of cash flows (i.e., dividends) from owning stock </a:t>
            </a:r>
          </a:p>
          <a:p>
            <a:endParaRPr lang="en-US" sz="800" dirty="0"/>
          </a:p>
          <a:p>
            <a:r>
              <a:rPr lang="en-US" dirty="0"/>
              <a:t>Two key inputs</a:t>
            </a:r>
          </a:p>
          <a:p>
            <a:endParaRPr lang="en-US" sz="800" dirty="0"/>
          </a:p>
          <a:p>
            <a:pPr lvl="1"/>
            <a:r>
              <a:rPr lang="en-US" dirty="0"/>
              <a:t>Cash flows created from invested capital</a:t>
            </a:r>
          </a:p>
          <a:p>
            <a:pPr lvl="1"/>
            <a:r>
              <a:rPr lang="en-US" dirty="0"/>
              <a:t>Discount rate (i.e., cost of capital)</a:t>
            </a:r>
          </a:p>
          <a:p>
            <a:pPr lvl="1"/>
            <a:endParaRPr lang="en-US" i="1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0B0B24-980F-7640-B880-F3970E6917C1}"/>
              </a:ext>
            </a:extLst>
          </p:cNvPr>
          <p:cNvSpPr txBox="1"/>
          <p:nvPr/>
        </p:nvSpPr>
        <p:spPr>
          <a:xfrm>
            <a:off x="7888778" y="4350051"/>
            <a:ext cx="3000895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dirty="0"/>
              <a:t>Much of course will focus on teaching you how to find these two inputs!</a:t>
            </a:r>
          </a:p>
        </p:txBody>
      </p:sp>
    </p:spTree>
    <p:extLst>
      <p:ext uri="{BB962C8B-B14F-4D97-AF65-F5344CB8AC3E}">
        <p14:creationId xmlns:p14="http://schemas.microsoft.com/office/powerpoint/2010/main" val="310204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cover the tools managers use to make these decisions</a:t>
            </a:r>
          </a:p>
          <a:p>
            <a:endParaRPr lang="en-US" sz="800" dirty="0"/>
          </a:p>
          <a:p>
            <a:pPr lvl="1"/>
            <a:r>
              <a:rPr lang="en-US" b="1" dirty="0"/>
              <a:t>Basic idea: </a:t>
            </a:r>
            <a:r>
              <a:rPr lang="en-US" dirty="0"/>
              <a:t>managers must weigh the costs and benefits of each decision and compare them properly</a:t>
            </a:r>
          </a:p>
          <a:p>
            <a:pPr lvl="1"/>
            <a:endParaRPr lang="en-US" sz="800" dirty="0"/>
          </a:p>
          <a:p>
            <a:r>
              <a:rPr lang="en-US" dirty="0"/>
              <a:t>These tools will also be useful in your own personal financial decisions! For example, they can help you answer questions like:</a:t>
            </a:r>
          </a:p>
          <a:p>
            <a:endParaRPr lang="en-US" sz="800" dirty="0"/>
          </a:p>
          <a:p>
            <a:pPr lvl="1"/>
            <a:r>
              <a:rPr lang="en-US" i="1" dirty="0"/>
              <a:t>Is a particular stock a good investment?</a:t>
            </a:r>
          </a:p>
          <a:p>
            <a:pPr lvl="1"/>
            <a:r>
              <a:rPr lang="en-US" i="1" dirty="0"/>
              <a:t>How much should I save for retirement?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62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Warren Buffett case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few minutes, we’ll do a breakout session on the Warren Buffett case; let’s first setup the case &amp; our goals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74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setting – August 25, 1995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71481" cy="4778022"/>
          </a:xfrm>
        </p:spPr>
        <p:txBody>
          <a:bodyPr>
            <a:normAutofit/>
          </a:bodyPr>
          <a:lstStyle/>
          <a:p>
            <a:r>
              <a:rPr lang="en-US" dirty="0"/>
              <a:t>Warren Buffett, CEO of Berkshire Hathaway (BRK), announced his firm would acquire remaining 49.6% of GEICO Corp. </a:t>
            </a:r>
          </a:p>
          <a:p>
            <a:endParaRPr lang="en-US" sz="800" dirty="0"/>
          </a:p>
          <a:p>
            <a:pPr lvl="1"/>
            <a:r>
              <a:rPr lang="en-US" i="1" dirty="0"/>
              <a:t>Already owned 50.4%</a:t>
            </a:r>
          </a:p>
          <a:p>
            <a:pPr lvl="1"/>
            <a:r>
              <a:rPr lang="en-US" i="1" dirty="0"/>
              <a:t>Pre-announcement stock price of GEICO = $55.75</a:t>
            </a:r>
          </a:p>
          <a:p>
            <a:pPr lvl="1"/>
            <a:r>
              <a:rPr lang="en-US" i="1" dirty="0"/>
              <a:t>Announced purchase price = $70</a:t>
            </a:r>
          </a:p>
          <a:p>
            <a:endParaRPr lang="en-US" sz="800" dirty="0"/>
          </a:p>
          <a:p>
            <a:r>
              <a:rPr lang="en-US" dirty="0"/>
              <a:t>This is a big deal…</a:t>
            </a:r>
          </a:p>
          <a:p>
            <a:pPr marL="457200" lvl="1" indent="0">
              <a:buNone/>
            </a:pPr>
            <a:endParaRPr lang="en-US" sz="800" i="1" dirty="0"/>
          </a:p>
          <a:p>
            <a:pPr lvl="1"/>
            <a:r>
              <a:rPr lang="en-US" i="1" dirty="0"/>
              <a:t>Offering to buy remaining 33,673,229 shares @ $70/each</a:t>
            </a:r>
          </a:p>
          <a:p>
            <a:pPr lvl="1"/>
            <a:r>
              <a:rPr lang="en-US" i="1" dirty="0"/>
              <a:t>I.e., spending $2.35 billion!</a:t>
            </a:r>
          </a:p>
          <a:p>
            <a:endParaRPr lang="en-US" sz="800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453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Berkshire Hathaway &amp; market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6721" cy="4778022"/>
          </a:xfrm>
        </p:spPr>
        <p:txBody>
          <a:bodyPr/>
          <a:lstStyle/>
          <a:p>
            <a:r>
              <a:rPr lang="en-US" dirty="0"/>
              <a:t>It is a holding company with large investments in many firms</a:t>
            </a:r>
          </a:p>
          <a:p>
            <a:endParaRPr lang="en-US" sz="800" dirty="0"/>
          </a:p>
          <a:p>
            <a:pPr lvl="1"/>
            <a:r>
              <a:rPr lang="en-US" i="1" dirty="0"/>
              <a:t>E.g., owns newspaper, insurance, shoe, and candy companies</a:t>
            </a:r>
          </a:p>
          <a:p>
            <a:pPr lvl="1"/>
            <a:r>
              <a:rPr lang="en-US" i="1" dirty="0"/>
              <a:t>See Exhibits 1-3 of case</a:t>
            </a:r>
          </a:p>
          <a:p>
            <a:endParaRPr lang="en-US" sz="800" dirty="0"/>
          </a:p>
          <a:p>
            <a:r>
              <a:rPr lang="en-US" dirty="0"/>
              <a:t>On announcement of the acquisitions, BRK’s shares increased 2.4% for a gain in market value of $718 million</a:t>
            </a:r>
          </a:p>
          <a:p>
            <a:endParaRPr lang="en-US" sz="800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6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Warren Buffett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6721" cy="4778022"/>
          </a:xfrm>
        </p:spPr>
        <p:txBody>
          <a:bodyPr/>
          <a:lstStyle/>
          <a:p>
            <a:r>
              <a:rPr lang="en-US" dirty="0"/>
              <a:t>At time of case, estimated net worth of $7 billion</a:t>
            </a:r>
          </a:p>
          <a:p>
            <a:endParaRPr lang="en-US" sz="800" dirty="0"/>
          </a:p>
          <a:p>
            <a:pPr lvl="1"/>
            <a:r>
              <a:rPr lang="en-US" i="1" dirty="0"/>
              <a:t>99% of this is from his 47.9% ownership stake in Berkshire Hathaway</a:t>
            </a:r>
          </a:p>
          <a:p>
            <a:pPr lvl="1"/>
            <a:endParaRPr lang="en-US" sz="800" dirty="0"/>
          </a:p>
          <a:p>
            <a:r>
              <a:rPr lang="en-US" dirty="0"/>
              <a:t>Impressive investment track record: 28% annual growth in stock’s value from 1965 (when he bought BRK) to 1994</a:t>
            </a:r>
          </a:p>
          <a:p>
            <a:endParaRPr lang="en-US" sz="800" dirty="0"/>
          </a:p>
          <a:p>
            <a:pPr lvl="1"/>
            <a:r>
              <a:rPr lang="en-US" i="1" dirty="0"/>
              <a:t>S&amp;P 500 index averaged 14.3% annual return over the same period</a:t>
            </a:r>
          </a:p>
          <a:p>
            <a:endParaRPr lang="en-US" sz="800" dirty="0"/>
          </a:p>
          <a:p>
            <a:endParaRPr lang="en-US" sz="800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23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purposes for doing this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86721" cy="4778022"/>
          </a:xfrm>
        </p:spPr>
        <p:txBody>
          <a:bodyPr/>
          <a:lstStyle/>
          <a:p>
            <a:r>
              <a:rPr lang="en-US" dirty="0"/>
              <a:t>Establish basic, yet fundamental, finance themes</a:t>
            </a:r>
          </a:p>
          <a:p>
            <a:endParaRPr lang="en-US" sz="800" dirty="0"/>
          </a:p>
          <a:p>
            <a:pPr lvl="1"/>
            <a:r>
              <a:rPr lang="en-US" i="1" dirty="0"/>
              <a:t>Economic reality vs. accounting numbers</a:t>
            </a:r>
          </a:p>
          <a:p>
            <a:pPr lvl="1"/>
            <a:r>
              <a:rPr lang="en-US" i="1" dirty="0"/>
              <a:t>Time value of money</a:t>
            </a:r>
          </a:p>
          <a:p>
            <a:pPr lvl="1"/>
            <a:r>
              <a:rPr lang="en-US" i="1" dirty="0"/>
              <a:t>Opportunity costs</a:t>
            </a:r>
          </a:p>
          <a:p>
            <a:pPr lvl="1"/>
            <a:r>
              <a:rPr lang="en-US" i="1" dirty="0"/>
              <a:t>Risk &amp; return</a:t>
            </a:r>
          </a:p>
          <a:p>
            <a:pPr lvl="1"/>
            <a:endParaRPr lang="en-US" sz="800" dirty="0"/>
          </a:p>
          <a:p>
            <a:r>
              <a:rPr lang="en-US" dirty="0"/>
              <a:t>Link valuation to investor behavior</a:t>
            </a:r>
          </a:p>
          <a:p>
            <a:r>
              <a:rPr lang="en-US" dirty="0"/>
              <a:t>An understanding of what stock prices reflect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sz="800" dirty="0"/>
          </a:p>
          <a:p>
            <a:pPr lvl="1"/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7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assignment – </a:t>
            </a:r>
            <a:r>
              <a:rPr lang="en-US" i="1"/>
              <a:t>Warren Buffett </a:t>
            </a:r>
            <a:r>
              <a:rPr lang="en-US" i="1" dirty="0"/>
              <a:t>case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Take 60 </a:t>
            </a:r>
            <a:r>
              <a:rPr lang="en-US" dirty="0"/>
              <a:t>minutes as group to answer questions on handout about Warren Buffett, the acquisition, and the market reaction</a:t>
            </a:r>
          </a:p>
          <a:p>
            <a:endParaRPr lang="en-US" sz="800" dirty="0"/>
          </a:p>
          <a:p>
            <a:pPr lvl="1"/>
            <a:r>
              <a:rPr lang="en-US" dirty="0"/>
              <a:t>Upload answers as PDF, MS Word, or MS PowerPoint file to Canvas</a:t>
            </a:r>
          </a:p>
        </p:txBody>
      </p:sp>
    </p:spTree>
    <p:extLst>
      <p:ext uri="{BB962C8B-B14F-4D97-AF65-F5344CB8AC3E}">
        <p14:creationId xmlns:p14="http://schemas.microsoft.com/office/powerpoint/2010/main" val="395817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points to remember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Capital market is where money from savers and investors is channeled to those seeking to raise cash </a:t>
            </a:r>
          </a:p>
          <a:p>
            <a:r>
              <a:rPr lang="en-US" dirty="0"/>
              <a:t>Managers interact with this market through the 3 key decisions:</a:t>
            </a:r>
          </a:p>
          <a:p>
            <a:endParaRPr lang="en-US" sz="800" dirty="0"/>
          </a:p>
          <a:p>
            <a:pPr lvl="1"/>
            <a:r>
              <a:rPr lang="en-US" b="1" dirty="0"/>
              <a:t>How best to raise capital from the financial market?</a:t>
            </a:r>
          </a:p>
          <a:p>
            <a:pPr lvl="1"/>
            <a:r>
              <a:rPr lang="en-US" b="1" dirty="0"/>
              <a:t>How best to allocate capital that has been raised?</a:t>
            </a:r>
          </a:p>
          <a:p>
            <a:pPr lvl="1"/>
            <a:r>
              <a:rPr lang="en-US" b="1" dirty="0"/>
              <a:t>How best to disperse net profits to investors?</a:t>
            </a:r>
          </a:p>
          <a:p>
            <a:pPr lvl="1"/>
            <a:endParaRPr lang="en-US" sz="800" dirty="0"/>
          </a:p>
          <a:p>
            <a:r>
              <a:rPr lang="en-US" dirty="0"/>
              <a:t>Managers’ goal when making these decisions is to maximize shareholder value (i.e., the return to investors)</a:t>
            </a:r>
          </a:p>
        </p:txBody>
      </p:sp>
    </p:spTree>
    <p:extLst>
      <p:ext uri="{BB962C8B-B14F-4D97-AF65-F5344CB8AC3E}">
        <p14:creationId xmlns:p14="http://schemas.microsoft.com/office/powerpoint/2010/main" val="37259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 going…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19" y="1600200"/>
            <a:ext cx="10746544" cy="4778022"/>
          </a:xfrm>
        </p:spPr>
        <p:txBody>
          <a:bodyPr>
            <a:normAutofit/>
          </a:bodyPr>
          <a:lstStyle/>
          <a:p>
            <a:r>
              <a:rPr lang="en-US" dirty="0"/>
              <a:t>In next topic, we will discuss a key concept managers use to help them make decisions that maximize value, the “time value of money” mentioned in the Warren Buffett case</a:t>
            </a:r>
          </a:p>
          <a:p>
            <a:endParaRPr lang="en-US" sz="800" dirty="0"/>
          </a:p>
          <a:p>
            <a:r>
              <a:rPr lang="en-US" dirty="0"/>
              <a:t>We will also discuss how to properly measure “value,” which will also be key to making these decisions</a:t>
            </a:r>
          </a:p>
          <a:p>
            <a:endParaRPr lang="en-US" sz="800" dirty="0"/>
          </a:p>
          <a:p>
            <a:endParaRPr lang="en-US" sz="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6DC61-4AF7-D8AC-1556-714CC0BE7E13}"/>
              </a:ext>
            </a:extLst>
          </p:cNvPr>
          <p:cNvSpPr txBox="1"/>
          <p:nvPr/>
        </p:nvSpPr>
        <p:spPr>
          <a:xfrm>
            <a:off x="486370" y="4557665"/>
            <a:ext cx="8455093" cy="523220"/>
          </a:xfrm>
          <a:prstGeom prst="rect">
            <a:avLst/>
          </a:prstGeom>
          <a:solidFill>
            <a:schemeClr val="bg1">
              <a:lumMod val="50000"/>
              <a:alpha val="1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en-US" sz="2800" b="1" dirty="0">
                <a:solidFill>
                  <a:srgbClr val="A51417"/>
                </a:solidFill>
              </a:rPr>
              <a:t>But first, any questions before we move on?</a:t>
            </a:r>
          </a:p>
        </p:txBody>
      </p:sp>
    </p:spTree>
    <p:extLst>
      <p:ext uri="{BB962C8B-B14F-4D97-AF65-F5344CB8AC3E}">
        <p14:creationId xmlns:p14="http://schemas.microsoft.com/office/powerpoint/2010/main" val="285315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ＭＳ 明朝"/>
        <a:font script="Hang" typeface="바탕"/>
        <a:font script="Hans" typeface="华文新魏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1837</TotalTime>
  <Words>1900</Words>
  <Application>Microsoft Macintosh PowerPoint</Application>
  <PresentationFormat>Widescreen</PresentationFormat>
  <Paragraphs>269</Paragraphs>
  <Slides>33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Rockwell</vt:lpstr>
      <vt:lpstr>Times New Roman</vt:lpstr>
      <vt:lpstr>Office Theme</vt:lpstr>
      <vt:lpstr>FIN 740: Corporate Finance</vt:lpstr>
      <vt:lpstr>This topic will cover three key questions…</vt:lpstr>
      <vt:lpstr>What is the capital market?</vt:lpstr>
      <vt:lpstr>What is the capital market?</vt:lpstr>
      <vt:lpstr>What institutions help channel money to firms?</vt:lpstr>
      <vt:lpstr>PowerPoint Presentation</vt:lpstr>
      <vt:lpstr>PowerPoint Presentation</vt:lpstr>
      <vt:lpstr>Some money managers are massive!</vt:lpstr>
      <vt:lpstr>The remaining piece…</vt:lpstr>
      <vt:lpstr>The buyers &amp; suppliers of money</vt:lpstr>
      <vt:lpstr>The price of using money</vt:lpstr>
      <vt:lpstr>Determinants of interest rates</vt:lpstr>
      <vt:lpstr>What do financial managers do?</vt:lpstr>
      <vt:lpstr>Types of decisions made – Example #1</vt:lpstr>
      <vt:lpstr>Types of decisions made – Example #2</vt:lpstr>
      <vt:lpstr>Types of decisions made – Example #3</vt:lpstr>
      <vt:lpstr>Financial management visually…</vt:lpstr>
      <vt:lpstr>Three primary financial management decisions</vt:lpstr>
      <vt:lpstr>Examples – Apple Inc.</vt:lpstr>
      <vt:lpstr>What is the goal of the financial manager?</vt:lpstr>
      <vt:lpstr>What happens if destroy shareholder value?</vt:lpstr>
      <vt:lpstr>How do managers maximize shareholder value?</vt:lpstr>
      <vt:lpstr>How is something’s value determined?</vt:lpstr>
      <vt:lpstr>Value (from finance perspective)</vt:lpstr>
      <vt:lpstr>Outline of this course</vt:lpstr>
      <vt:lpstr>Warren Buffett case</vt:lpstr>
      <vt:lpstr>Case setting – August 25, 1995</vt:lpstr>
      <vt:lpstr>About Berkshire Hathaway &amp; market response</vt:lpstr>
      <vt:lpstr>About Warren Buffett</vt:lpstr>
      <vt:lpstr>Our purposes for doing this case</vt:lpstr>
      <vt:lpstr>Group assignment – Warren Buffett case</vt:lpstr>
      <vt:lpstr>Key points to remember</vt:lpstr>
      <vt:lpstr>Where we are going…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default</dc:creator>
  <cp:lastModifiedBy>Gormley, Todd</cp:lastModifiedBy>
  <cp:revision>83</cp:revision>
  <dcterms:created xsi:type="dcterms:W3CDTF">2013-07-09T17:46:55Z</dcterms:created>
  <dcterms:modified xsi:type="dcterms:W3CDTF">2025-04-28T16:25:12Z</dcterms:modified>
</cp:coreProperties>
</file>