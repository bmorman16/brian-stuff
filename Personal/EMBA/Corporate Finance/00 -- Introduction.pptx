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67" r:id="rId2"/>
    <p:sldId id="412" r:id="rId3"/>
    <p:sldId id="400" r:id="rId4"/>
    <p:sldId id="393" r:id="rId5"/>
    <p:sldId id="280" r:id="rId6"/>
    <p:sldId id="394" r:id="rId7"/>
    <p:sldId id="395" r:id="rId8"/>
    <p:sldId id="396" r:id="rId9"/>
    <p:sldId id="397" r:id="rId10"/>
    <p:sldId id="398" r:id="rId11"/>
    <p:sldId id="409" r:id="rId12"/>
    <p:sldId id="401" r:id="rId13"/>
    <p:sldId id="402" r:id="rId14"/>
    <p:sldId id="403" r:id="rId15"/>
    <p:sldId id="404" r:id="rId16"/>
    <p:sldId id="405" r:id="rId17"/>
    <p:sldId id="411" r:id="rId18"/>
    <p:sldId id="406" r:id="rId19"/>
    <p:sldId id="392" r:id="rId20"/>
    <p:sldId id="407" r:id="rId21"/>
    <p:sldId id="41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1417"/>
    <a:srgbClr val="6C7373"/>
    <a:srgbClr val="566568"/>
    <a:srgbClr val="E1E1E1"/>
    <a:srgbClr val="C41039"/>
    <a:srgbClr val="69787B"/>
    <a:srgbClr val="69780C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81" autoAdjust="0"/>
    <p:restoredTop sz="80876"/>
  </p:normalViewPr>
  <p:slideViewPr>
    <p:cSldViewPr snapToGrid="0" snapToObjects="1">
      <p:cViewPr varScale="1">
        <p:scale>
          <a:sx n="196" d="100"/>
          <a:sy n="196" d="100"/>
        </p:scale>
        <p:origin x="192" y="30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E3AD09-9720-9047-BB14-484CD98DBB2F}" type="datetimeFigureOut">
              <a:rPr lang="en-US" smtClean="0"/>
              <a:t>4/28/25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80D64-6F43-4C4D-BE6A-3F3482AA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9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03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68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38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13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11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801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42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64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803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67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97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516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26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427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6431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246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664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584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1440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3947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54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230124" y="228600"/>
            <a:ext cx="11731752" cy="6400800"/>
          </a:xfrm>
          <a:prstGeom prst="rect">
            <a:avLst/>
          </a:prstGeom>
          <a:solidFill>
            <a:srgbClr val="6C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1" y="2253752"/>
            <a:ext cx="6650503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1" y="3596777"/>
            <a:ext cx="6650503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 descr="1linerev(1c)1000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25" y="5880328"/>
            <a:ext cx="3608228" cy="5636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28"/>
          <a:stretch/>
        </p:blipFill>
        <p:spPr>
          <a:xfrm>
            <a:off x="8702448" y="464974"/>
            <a:ext cx="3262720" cy="602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3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230124" y="228600"/>
            <a:ext cx="11731752" cy="6400800"/>
          </a:xfrm>
          <a:prstGeom prst="rect">
            <a:avLst/>
          </a:prstGeom>
          <a:solidFill>
            <a:srgbClr val="A5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28"/>
          <a:stretch/>
        </p:blipFill>
        <p:spPr>
          <a:xfrm>
            <a:off x="8702448" y="464974"/>
            <a:ext cx="3262720" cy="60258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1" y="2253752"/>
            <a:ext cx="6650503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1" y="3596777"/>
            <a:ext cx="6650503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9" name="Picture 8" descr="1linerev(1c)1000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25" y="5880328"/>
            <a:ext cx="3608228" cy="56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7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6C7373"/>
                </a:solidFill>
              </a:defRPr>
            </a:lvl1pPr>
            <a:lvl2pPr>
              <a:defRPr>
                <a:solidFill>
                  <a:srgbClr val="6C7373"/>
                </a:solidFill>
              </a:defRPr>
            </a:lvl2pPr>
            <a:lvl3pPr>
              <a:defRPr>
                <a:solidFill>
                  <a:srgbClr val="6C7373"/>
                </a:solidFill>
              </a:defRPr>
            </a:lvl3pPr>
            <a:lvl4pPr>
              <a:defRPr>
                <a:solidFill>
                  <a:srgbClr val="6C7373"/>
                </a:solidFill>
              </a:defRPr>
            </a:lvl4pPr>
            <a:lvl5pPr>
              <a:defRPr>
                <a:solidFill>
                  <a:srgbClr val="6C737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C737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514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0905" y="435614"/>
            <a:ext cx="795528" cy="9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91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767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305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664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ash_U_PPT_Template-04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7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21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04800" y="228600"/>
            <a:ext cx="11582400" cy="640080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519" y="1600200"/>
            <a:ext cx="10856148" cy="4778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0905" y="435614"/>
            <a:ext cx="795528" cy="9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1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50" r:id="rId3"/>
    <p:sldLayoutId id="2147483660" r:id="rId4"/>
    <p:sldLayoutId id="2147483652" r:id="rId5"/>
    <p:sldLayoutId id="2147483653" r:id="rId6"/>
    <p:sldLayoutId id="2147483654" r:id="rId7"/>
    <p:sldLayoutId id="2147483670" r:id="rId8"/>
    <p:sldLayoutId id="2147483655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6C7373"/>
          </a:solidFill>
          <a:latin typeface="Times New Roman" charset="0"/>
          <a:ea typeface="Times New Roman" charset="0"/>
          <a:cs typeface="Times New Roman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rmley.info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ustl.instructure.com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gormley@wustl.edu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CDB3-375F-9547-B02C-641B45386B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 740: Corporate Finance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897D4F-E75A-3D44-9E5C-6FFBD76FC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4312" y="3596776"/>
            <a:ext cx="5025358" cy="1027775"/>
          </a:xfrm>
        </p:spPr>
        <p:txBody>
          <a:bodyPr>
            <a:normAutofit/>
          </a:bodyPr>
          <a:lstStyle/>
          <a:p>
            <a:r>
              <a:rPr lang="en-US" dirty="0"/>
              <a:t>Course Introduction &amp; Outline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847FE1-53A6-BA4A-87A1-D0388F525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ABC902-D0E1-7E42-AD62-8F8A8D6E7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0900D0-D3A3-504D-8A2D-532064FDF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AA6875-1333-94E0-9666-35EF17E4E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1B4715-D6C1-F167-A650-48F890E58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92FE7A-D9A7-110E-7B80-4A5533CD6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E0695F-6575-237D-3B49-CAAFDA073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bit about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PhD from MIT; Undergraduate work at Michigan State</a:t>
            </a:r>
          </a:p>
          <a:p>
            <a:r>
              <a:rPr lang="en-US" dirty="0"/>
              <a:t>9</a:t>
            </a:r>
            <a:r>
              <a:rPr lang="en-US" baseline="30000" dirty="0"/>
              <a:t>th</a:t>
            </a:r>
            <a:r>
              <a:rPr lang="en-US" dirty="0"/>
              <a:t> (12</a:t>
            </a:r>
            <a:r>
              <a:rPr lang="en-US" baseline="30000" dirty="0"/>
              <a:t>th</a:t>
            </a:r>
            <a:r>
              <a:rPr lang="en-US" dirty="0"/>
              <a:t>) year at Wash. U.</a:t>
            </a:r>
          </a:p>
          <a:p>
            <a:endParaRPr lang="en-US" sz="800" dirty="0"/>
          </a:p>
          <a:p>
            <a:pPr lvl="1"/>
            <a:r>
              <a:rPr lang="en-US" dirty="0"/>
              <a:t>Was at Wash. U. from 2006-09</a:t>
            </a:r>
          </a:p>
          <a:p>
            <a:pPr lvl="1"/>
            <a:r>
              <a:rPr lang="en-US" dirty="0"/>
              <a:t>Spent 7 years on faculty at The Wharton School</a:t>
            </a:r>
          </a:p>
          <a:p>
            <a:pPr lvl="1"/>
            <a:r>
              <a:rPr lang="en-US" dirty="0"/>
              <a:t>Returned in 2016, now the Vice Dean of Education</a:t>
            </a:r>
          </a:p>
          <a:p>
            <a:pPr lvl="1"/>
            <a:endParaRPr lang="en-US" sz="800" dirty="0"/>
          </a:p>
          <a:p>
            <a:r>
              <a:rPr lang="en-US" dirty="0"/>
              <a:t>Current research = index funds &amp; governance</a:t>
            </a:r>
          </a:p>
          <a:p>
            <a:r>
              <a:rPr lang="en-US" dirty="0"/>
              <a:t>Find out more at </a:t>
            </a:r>
            <a:r>
              <a:rPr lang="en-US" dirty="0">
                <a:solidFill>
                  <a:srgbClr val="A5141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www.gormley.info</a:t>
            </a:r>
            <a:r>
              <a:rPr lang="en-US" dirty="0">
                <a:solidFill>
                  <a:srgbClr val="A51417"/>
                </a:solidFill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41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By the end of this course, you will:</a:t>
            </a:r>
          </a:p>
          <a:p>
            <a:endParaRPr lang="en-US" sz="800" dirty="0"/>
          </a:p>
          <a:p>
            <a:pPr lvl="1"/>
            <a:r>
              <a:rPr lang="en-US" dirty="0"/>
              <a:t>Understand the key decisions financial managers make, how these decisions are made, and how they are connected to capital markets</a:t>
            </a:r>
          </a:p>
          <a:p>
            <a:pPr lvl="1"/>
            <a:r>
              <a:rPr lang="en-US" dirty="0"/>
              <a:t>Be able to estimate and compare properly the financial gains of various investment opportunities [both for yourself and a company]</a:t>
            </a:r>
          </a:p>
          <a:p>
            <a:pPr lvl="1"/>
            <a:r>
              <a:rPr lang="en-US" dirty="0"/>
              <a:t>Know the characteristics of basic financial instruments (bonds &amp; stocks) and how to value them correctly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210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to EMBA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Data-driven</a:t>
            </a:r>
            <a:r>
              <a:rPr lang="en-US" dirty="0"/>
              <a:t> – You will learn to:</a:t>
            </a:r>
          </a:p>
          <a:p>
            <a:endParaRPr lang="en-US" sz="800" dirty="0"/>
          </a:p>
          <a:p>
            <a:pPr lvl="1"/>
            <a:r>
              <a:rPr lang="en-US" dirty="0"/>
              <a:t>Use data to measure key metrics &amp; support actions</a:t>
            </a:r>
          </a:p>
          <a:p>
            <a:pPr lvl="1"/>
            <a:r>
              <a:rPr lang="en-US" dirty="0"/>
              <a:t>Leverage data for business insights</a:t>
            </a:r>
          </a:p>
          <a:p>
            <a:pPr lvl="1"/>
            <a:endParaRPr lang="en-US" sz="800" dirty="0"/>
          </a:p>
          <a:p>
            <a:r>
              <a:rPr lang="en-US" b="1" u="sng" dirty="0"/>
              <a:t>Values-based</a:t>
            </a:r>
            <a:r>
              <a:rPr lang="en-US" dirty="0"/>
              <a:t> – Course will touch upon:</a:t>
            </a:r>
          </a:p>
          <a:p>
            <a:endParaRPr lang="en-US" sz="800" dirty="0"/>
          </a:p>
          <a:p>
            <a:pPr lvl="1"/>
            <a:r>
              <a:rPr lang="en-US" dirty="0"/>
              <a:t>Clarifying organizational values &amp; purpose</a:t>
            </a:r>
          </a:p>
          <a:p>
            <a:pPr lvl="1"/>
            <a:r>
              <a:rPr lang="en-US" dirty="0"/>
              <a:t>Facilitating collaboration and mutual respect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156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will cover 6 topics 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Capital markets &amp; financial management</a:t>
            </a:r>
            <a:endParaRPr lang="en-US" i="1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Time value of money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Investment decision rules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Calculating free cash flows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Interest rates &amp; cost of capital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Bond &amp; stock valuation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04732-DF26-3248-BF11-C945F0CF8EE9}"/>
              </a:ext>
            </a:extLst>
          </p:cNvPr>
          <p:cNvSpPr txBox="1"/>
          <p:nvPr/>
        </p:nvSpPr>
        <p:spPr>
          <a:xfrm>
            <a:off x="7596034" y="2735778"/>
            <a:ext cx="39186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600" b="1" dirty="0">
                <a:solidFill>
                  <a:srgbClr val="A51417"/>
                </a:solidFill>
              </a:rPr>
              <a:t>Let’s now briefly discuss what these are how they all connect…</a:t>
            </a:r>
            <a:endParaRPr lang="en-US" altLang="en-US" sz="2600" i="1" dirty="0">
              <a:solidFill>
                <a:srgbClr val="A51417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27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Topic #1</a:t>
            </a:r>
            <a:r>
              <a:rPr lang="en-US" dirty="0"/>
              <a:t> – Capital markets &amp; financial managers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lecture will introduce you to capital markets &amp; the role of financial managers by answering two key questions:</a:t>
            </a:r>
          </a:p>
          <a:p>
            <a:endParaRPr lang="en-US" sz="800" dirty="0"/>
          </a:p>
          <a:p>
            <a:pPr lvl="1"/>
            <a:r>
              <a:rPr lang="en-US" b="1" dirty="0"/>
              <a:t>What is the capital market?</a:t>
            </a:r>
          </a:p>
          <a:p>
            <a:endParaRPr lang="en-US" sz="800" dirty="0"/>
          </a:p>
          <a:p>
            <a:pPr lvl="2"/>
            <a:r>
              <a:rPr lang="en-US" dirty="0"/>
              <a:t>What is its purpose?</a:t>
            </a:r>
          </a:p>
          <a:p>
            <a:pPr lvl="2"/>
            <a:r>
              <a:rPr lang="en-US" dirty="0"/>
              <a:t>Who are the key players?</a:t>
            </a:r>
          </a:p>
          <a:p>
            <a:pPr lvl="1"/>
            <a:endParaRPr lang="en-US" sz="800" dirty="0"/>
          </a:p>
          <a:p>
            <a:pPr lvl="1"/>
            <a:r>
              <a:rPr lang="en-US" b="1" dirty="0"/>
              <a:t>What do financial managers do?</a:t>
            </a:r>
          </a:p>
          <a:p>
            <a:endParaRPr lang="en-US" sz="800" dirty="0"/>
          </a:p>
          <a:p>
            <a:pPr lvl="2"/>
            <a:r>
              <a:rPr lang="en-US" dirty="0"/>
              <a:t>I.e., what decisions do a company’s managers make? </a:t>
            </a:r>
          </a:p>
          <a:p>
            <a:pPr lvl="2"/>
            <a:r>
              <a:rPr lang="en-US" dirty="0"/>
              <a:t>How do those decisions interact with capital markets?</a:t>
            </a:r>
          </a:p>
          <a:p>
            <a:pPr lvl="1"/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54BCB0-8A16-A642-A59A-7593A1A09D9B}"/>
              </a:ext>
            </a:extLst>
          </p:cNvPr>
          <p:cNvSpPr txBox="1"/>
          <p:nvPr/>
        </p:nvSpPr>
        <p:spPr>
          <a:xfrm>
            <a:off x="8761915" y="3800248"/>
            <a:ext cx="302194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300" dirty="0"/>
              <a:t>There are 3 key decisions, but we will focus on one [choosing projects]</a:t>
            </a:r>
            <a:endParaRPr lang="en-US" altLang="en-US" sz="2300" i="1" dirty="0"/>
          </a:p>
          <a:p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62CDAC2-59DC-3148-A86C-ECDDC0E41723}"/>
              </a:ext>
            </a:extLst>
          </p:cNvPr>
          <p:cNvCxnSpPr>
            <a:cxnSpLocks/>
          </p:cNvCxnSpPr>
          <p:nvPr/>
        </p:nvCxnSpPr>
        <p:spPr>
          <a:xfrm flipH="1">
            <a:off x="7977947" y="4755323"/>
            <a:ext cx="689314" cy="1561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764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Topic #2</a:t>
            </a:r>
            <a:r>
              <a:rPr lang="en-US" dirty="0"/>
              <a:t> – Time value of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understand how managers make decisions, one must understand the “time value of money”</a:t>
            </a:r>
          </a:p>
          <a:p>
            <a:endParaRPr lang="en-US" sz="800" dirty="0"/>
          </a:p>
          <a:p>
            <a:pPr lvl="1"/>
            <a:r>
              <a:rPr lang="en-US" dirty="0"/>
              <a:t>As will will discuss in topic #1, </a:t>
            </a:r>
            <a:r>
              <a:rPr lang="en-US" b="1" dirty="0"/>
              <a:t>financial managers will seek to compare the costs &amp; benefits of every decision they make</a:t>
            </a:r>
          </a:p>
          <a:p>
            <a:pPr lvl="1"/>
            <a:r>
              <a:rPr lang="en-US" u="sng" dirty="0"/>
              <a:t>But to do this comparison correctly</a:t>
            </a:r>
            <a:r>
              <a:rPr lang="en-US" dirty="0"/>
              <a:t>, managers must make sure these costs and benefits are expressed in similar ‘units’</a:t>
            </a:r>
          </a:p>
          <a:p>
            <a:endParaRPr lang="en-US" sz="800" dirty="0"/>
          </a:p>
          <a:p>
            <a:pPr lvl="2"/>
            <a:r>
              <a:rPr lang="en-US" dirty="0"/>
              <a:t>This will require understanding that receiving (or paying) $1 today has a different value than receiving (or paying) $1 a year from now </a:t>
            </a:r>
            <a:r>
              <a:rPr lang="en-US" i="1" dirty="0"/>
              <a:t>[i.e., time value of money]</a:t>
            </a:r>
          </a:p>
          <a:p>
            <a:pPr lvl="1"/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746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Topic #3</a:t>
            </a:r>
            <a:r>
              <a:rPr lang="en-US" dirty="0"/>
              <a:t> – Investment decision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9474388" cy="4778022"/>
          </a:xfrm>
        </p:spPr>
        <p:txBody>
          <a:bodyPr>
            <a:normAutofit/>
          </a:bodyPr>
          <a:lstStyle/>
          <a:p>
            <a:r>
              <a:rPr lang="en-US" dirty="0"/>
              <a:t>This lecture will discuss the three main ways managers make decisions about </a:t>
            </a:r>
            <a:r>
              <a:rPr lang="en-US" u="sng" dirty="0"/>
              <a:t>which projects to undertake</a:t>
            </a:r>
          </a:p>
          <a:p>
            <a:endParaRPr lang="en-US" sz="800" dirty="0"/>
          </a:p>
          <a:p>
            <a:pPr lvl="1"/>
            <a:r>
              <a:rPr lang="en-US" dirty="0"/>
              <a:t>‘Best-in-class’ approach is </a:t>
            </a:r>
            <a:r>
              <a:rPr lang="en-US" b="1" dirty="0"/>
              <a:t>net present value (NPV) rule</a:t>
            </a:r>
          </a:p>
          <a:p>
            <a:pPr lvl="1"/>
            <a:endParaRPr lang="en-US" sz="800" dirty="0"/>
          </a:p>
          <a:p>
            <a:pPr lvl="2"/>
            <a:r>
              <a:rPr lang="en-US" dirty="0"/>
              <a:t>It compares </a:t>
            </a:r>
            <a:r>
              <a:rPr lang="en-US" u="sng" dirty="0"/>
              <a:t>present value</a:t>
            </a:r>
            <a:r>
              <a:rPr lang="en-US" dirty="0"/>
              <a:t> of benefits to </a:t>
            </a:r>
            <a:r>
              <a:rPr lang="en-US" u="sng" dirty="0"/>
              <a:t>present value</a:t>
            </a:r>
            <a:r>
              <a:rPr lang="en-US" dirty="0"/>
              <a:t> of costs</a:t>
            </a:r>
          </a:p>
          <a:p>
            <a:pPr lvl="2"/>
            <a:r>
              <a:rPr lang="en-US" dirty="0"/>
              <a:t>I.e., this rule will use the time value of money </a:t>
            </a:r>
            <a:r>
              <a:rPr lang="en-US" i="1" dirty="0"/>
              <a:t>[topic #2] </a:t>
            </a:r>
            <a:r>
              <a:rPr lang="en-US" dirty="0"/>
              <a:t>correctly</a:t>
            </a:r>
          </a:p>
          <a:p>
            <a:pPr lvl="2"/>
            <a:endParaRPr lang="en-US" sz="800" dirty="0"/>
          </a:p>
          <a:p>
            <a:pPr lvl="1"/>
            <a:r>
              <a:rPr lang="en-US" dirty="0"/>
              <a:t>Two other approaches (</a:t>
            </a:r>
            <a:r>
              <a:rPr lang="en-US" b="1" dirty="0"/>
              <a:t>IRR &amp; payback rules</a:t>
            </a:r>
            <a:r>
              <a:rPr lang="en-US" dirty="0"/>
              <a:t>) have downsides</a:t>
            </a:r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880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Topics #4 &amp; #5</a:t>
            </a:r>
            <a:r>
              <a:rPr lang="en-US" dirty="0"/>
              <a:t> – Finding inputs for the NPV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These two lectures will teach you how to find the two key inputs needed to apply the net present value rule</a:t>
            </a:r>
          </a:p>
          <a:p>
            <a:endParaRPr lang="en-US" sz="800" dirty="0"/>
          </a:p>
          <a:p>
            <a:pPr lvl="1"/>
            <a:r>
              <a:rPr lang="en-US" dirty="0"/>
              <a:t>Calculating free cash flows (FCFs) [Topic #4]</a:t>
            </a:r>
          </a:p>
          <a:p>
            <a:pPr lvl="1"/>
            <a:endParaRPr lang="en-US" sz="800" dirty="0"/>
          </a:p>
          <a:p>
            <a:pPr lvl="2"/>
            <a:r>
              <a:rPr lang="en-US" dirty="0"/>
              <a:t>These are the cash flows generated by the project</a:t>
            </a:r>
          </a:p>
          <a:p>
            <a:pPr lvl="2"/>
            <a:endParaRPr lang="en-US" sz="800" dirty="0"/>
          </a:p>
          <a:p>
            <a:pPr lvl="1"/>
            <a:r>
              <a:rPr lang="en-US" dirty="0"/>
              <a:t>Interest rates &amp; cost of capital [Topic #5]</a:t>
            </a:r>
          </a:p>
          <a:p>
            <a:pPr lvl="1"/>
            <a:endParaRPr lang="en-US" sz="800" dirty="0"/>
          </a:p>
          <a:p>
            <a:pPr lvl="2"/>
            <a:r>
              <a:rPr lang="en-US" dirty="0"/>
              <a:t>We need the “cost of capital” to properly value the cash flows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932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Topic #6</a:t>
            </a:r>
            <a:r>
              <a:rPr lang="en-US" dirty="0"/>
              <a:t> – Bond and stock 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lecture will show you how the tools learned in earlier lectures can also be used to value bonds &amp; stocks</a:t>
            </a:r>
          </a:p>
          <a:p>
            <a:endParaRPr lang="en-US" sz="800" dirty="0"/>
          </a:p>
          <a:p>
            <a:pPr lvl="1"/>
            <a:r>
              <a:rPr lang="en-US" dirty="0"/>
              <a:t>Lecture will give you more practice at using course tools </a:t>
            </a:r>
          </a:p>
          <a:p>
            <a:pPr lvl="1"/>
            <a:r>
              <a:rPr lang="en-US" dirty="0"/>
              <a:t>It will also teach you how bond &amp; stock markets work and how to interpret changes in bond &amp; stock prices you read about in the news</a:t>
            </a:r>
          </a:p>
          <a:p>
            <a:pPr lvl="1"/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E3C6C0-4E5E-5D4D-BB10-179B981521D7}"/>
              </a:ext>
            </a:extLst>
          </p:cNvPr>
          <p:cNvSpPr txBox="1"/>
          <p:nvPr/>
        </p:nvSpPr>
        <p:spPr>
          <a:xfrm>
            <a:off x="677333" y="4309275"/>
            <a:ext cx="103996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600" b="1" dirty="0"/>
              <a:t>Note: </a:t>
            </a:r>
            <a:r>
              <a:rPr lang="en-US" altLang="en-US" sz="2600" dirty="0"/>
              <a:t>This topic is less about learning how managers make good decisions, but will be helpful for your </a:t>
            </a:r>
            <a:r>
              <a:rPr lang="en-US" altLang="en-US" sz="2600" u="sng" dirty="0"/>
              <a:t>personal</a:t>
            </a:r>
            <a:r>
              <a:rPr lang="en-US" altLang="en-US" sz="2600" dirty="0"/>
              <a:t> financial decisions</a:t>
            </a:r>
            <a:endParaRPr lang="en-US" altLang="en-US" sz="2600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34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Let’s now talk about course logistics…</a:t>
            </a: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Required course materials</a:t>
            </a:r>
          </a:p>
          <a:p>
            <a:r>
              <a:rPr lang="en-US" dirty="0"/>
              <a:t>Grading</a:t>
            </a:r>
          </a:p>
          <a:p>
            <a:r>
              <a:rPr lang="en-US" dirty="0"/>
              <a:t>Assignments [both group &amp; individual]</a:t>
            </a:r>
          </a:p>
          <a:p>
            <a:r>
              <a:rPr lang="en-US" dirty="0"/>
              <a:t>Course website [i.e., Canvas] </a:t>
            </a:r>
          </a:p>
          <a:p>
            <a:r>
              <a:rPr lang="en-US" dirty="0"/>
              <a:t>Where to ask questions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900" b="1" dirty="0"/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75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Required course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Textbook: </a:t>
            </a:r>
            <a:r>
              <a:rPr lang="en-US" i="1" dirty="0"/>
              <a:t>Fundamentals of Corporate Finance</a:t>
            </a:r>
            <a:endParaRPr lang="en-US" sz="900" b="1" dirty="0"/>
          </a:p>
          <a:p>
            <a:pPr lvl="1"/>
            <a:r>
              <a:rPr lang="en-US" dirty="0"/>
              <a:t>Lectures (while self-contained) will follow this textbook closely</a:t>
            </a:r>
            <a:endParaRPr lang="en-US" b="1" dirty="0"/>
          </a:p>
          <a:p>
            <a:pPr lvl="1"/>
            <a:endParaRPr lang="en-US" sz="800" b="1" dirty="0"/>
          </a:p>
          <a:p>
            <a:r>
              <a:rPr lang="en-US" b="1" dirty="0"/>
              <a:t>Assignment website: </a:t>
            </a:r>
            <a:r>
              <a:rPr lang="en-US" i="1" dirty="0" err="1"/>
              <a:t>MyLab</a:t>
            </a:r>
            <a:r>
              <a:rPr lang="en-US" i="1" dirty="0"/>
              <a:t> Finance</a:t>
            </a:r>
            <a:endParaRPr lang="en-US" sz="900" b="1" dirty="0"/>
          </a:p>
          <a:p>
            <a:pPr lvl="1"/>
            <a:r>
              <a:rPr lang="en-US" dirty="0"/>
              <a:t>Individual assignments, quizzes, and exam will be completed here</a:t>
            </a:r>
          </a:p>
          <a:p>
            <a:pPr lvl="1"/>
            <a:r>
              <a:rPr lang="en-US" dirty="0"/>
              <a:t>You must register; no other way to complete these course deliverables </a:t>
            </a:r>
            <a:r>
              <a:rPr lang="en-US" dirty="0">
                <a:solidFill>
                  <a:srgbClr val="A51417"/>
                </a:solidFill>
              </a:rPr>
              <a:t>[</a:t>
            </a:r>
            <a:r>
              <a:rPr lang="en-US" u="sng" dirty="0">
                <a:solidFill>
                  <a:srgbClr val="A51417"/>
                </a:solidFill>
              </a:rPr>
              <a:t>Please see end of syllabus on how to register</a:t>
            </a:r>
            <a:r>
              <a:rPr lang="en-US" dirty="0">
                <a:solidFill>
                  <a:srgbClr val="A51417"/>
                </a:solidFill>
              </a:rPr>
              <a:t>]</a:t>
            </a:r>
          </a:p>
          <a:p>
            <a:endParaRPr lang="en-US" sz="800" b="1" dirty="0"/>
          </a:p>
          <a:p>
            <a:r>
              <a:rPr lang="en-US" b="1" dirty="0"/>
              <a:t>Course pack</a:t>
            </a:r>
          </a:p>
          <a:p>
            <a:pPr lvl="1"/>
            <a:r>
              <a:rPr lang="en-US" dirty="0"/>
              <a:t>Contains three cases that will be used for in-class group assignments</a:t>
            </a:r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80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is a total of 100 points possible</a:t>
            </a:r>
          </a:p>
          <a:p>
            <a:r>
              <a:rPr lang="en-US" dirty="0"/>
              <a:t>Grading will be broken into </a:t>
            </a:r>
            <a:r>
              <a:rPr lang="en-US" u="sng" dirty="0"/>
              <a:t>four</a:t>
            </a:r>
            <a:r>
              <a:rPr lang="en-US" dirty="0"/>
              <a:t> components:</a:t>
            </a:r>
          </a:p>
          <a:p>
            <a:endParaRPr lang="en-US" sz="800" dirty="0"/>
          </a:p>
          <a:p>
            <a:pPr lvl="1"/>
            <a:r>
              <a:rPr lang="en-US" dirty="0"/>
              <a:t>5 group, in-class case reports </a:t>
            </a:r>
            <a:r>
              <a:rPr lang="en-US" i="1" dirty="0"/>
              <a:t>[6 points each]</a:t>
            </a:r>
          </a:p>
          <a:p>
            <a:pPr lvl="1"/>
            <a:r>
              <a:rPr lang="en-US" dirty="0"/>
              <a:t>4 individual assignments </a:t>
            </a:r>
            <a:r>
              <a:rPr lang="en-US" i="1" dirty="0"/>
              <a:t>[6 points each]</a:t>
            </a:r>
          </a:p>
          <a:p>
            <a:pPr lvl="1"/>
            <a:r>
              <a:rPr lang="en-US" dirty="0"/>
              <a:t>2 quizzes </a:t>
            </a:r>
            <a:r>
              <a:rPr lang="en-US" i="1" dirty="0"/>
              <a:t>[8 points each]</a:t>
            </a:r>
          </a:p>
          <a:p>
            <a:pPr lvl="1"/>
            <a:r>
              <a:rPr lang="en-US" dirty="0"/>
              <a:t>1 exam </a:t>
            </a:r>
            <a:r>
              <a:rPr lang="en-US" i="1" dirty="0"/>
              <a:t>[30 points]</a:t>
            </a:r>
          </a:p>
          <a:p>
            <a:endParaRPr lang="en-US" sz="900" b="1" dirty="0"/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615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case reports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486219" cy="4778022"/>
          </a:xfrm>
        </p:spPr>
        <p:txBody>
          <a:bodyPr>
            <a:normAutofit/>
          </a:bodyPr>
          <a:lstStyle/>
          <a:p>
            <a:r>
              <a:rPr lang="en-US" b="1" dirty="0"/>
              <a:t>These will be done </a:t>
            </a:r>
            <a:r>
              <a:rPr lang="en-US" b="1" u="sng" dirty="0"/>
              <a:t>in-class</a:t>
            </a:r>
            <a:r>
              <a:rPr lang="en-US" b="1" dirty="0"/>
              <a:t> [via breakout sessions]</a:t>
            </a:r>
          </a:p>
          <a:p>
            <a:endParaRPr lang="en-US" sz="800" b="1" dirty="0"/>
          </a:p>
          <a:p>
            <a:pPr lvl="1"/>
            <a:r>
              <a:rPr lang="en-US" dirty="0"/>
              <a:t>However, everyone should read the &amp; think about questions </a:t>
            </a:r>
            <a:r>
              <a:rPr lang="en-US" i="1" dirty="0"/>
              <a:t>prior</a:t>
            </a:r>
            <a:r>
              <a:rPr lang="en-US" dirty="0"/>
              <a:t> to the class in which we will cover the case </a:t>
            </a:r>
            <a:r>
              <a:rPr lang="en-US" i="1" dirty="0"/>
              <a:t>[see syllabus for dates]</a:t>
            </a:r>
          </a:p>
          <a:p>
            <a:pPr lvl="1"/>
            <a:endParaRPr lang="en-US" sz="800" i="1" dirty="0"/>
          </a:p>
          <a:p>
            <a:r>
              <a:rPr lang="en-US" dirty="0"/>
              <a:t>List of questions you and your group must answer for each of the five case reports are provided on Canvas</a:t>
            </a:r>
          </a:p>
          <a:p>
            <a:endParaRPr lang="en-US" sz="800" dirty="0"/>
          </a:p>
          <a:p>
            <a:pPr lvl="1"/>
            <a:r>
              <a:rPr lang="en-US" dirty="0"/>
              <a:t>One member from each group will upload completed report to Canvas at the end of breakout session; we will then go over solutions</a:t>
            </a:r>
            <a:endParaRPr lang="en-US" sz="800" dirty="0"/>
          </a:p>
          <a:p>
            <a:endParaRPr lang="en-US" sz="900" b="1" dirty="0"/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869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Individual</a:t>
            </a:r>
            <a:r>
              <a:rPr lang="en-US" dirty="0"/>
              <a:t> assignments </a:t>
            </a:r>
            <a:r>
              <a:rPr lang="en-US" i="1" dirty="0"/>
              <a:t>[to be done on </a:t>
            </a:r>
            <a:r>
              <a:rPr lang="en-US" i="1" dirty="0" err="1"/>
              <a:t>MyLab</a:t>
            </a:r>
            <a:r>
              <a:rPr lang="en-US" i="1" dirty="0"/>
              <a:t>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4 homework (unlimited attempts; I take your best one)</a:t>
            </a:r>
          </a:p>
          <a:p>
            <a:r>
              <a:rPr lang="en-US" dirty="0"/>
              <a:t>2 quizzes (two attempts each; I take your best one)</a:t>
            </a:r>
          </a:p>
          <a:p>
            <a:endParaRPr lang="en-US" sz="800" dirty="0"/>
          </a:p>
          <a:p>
            <a:pPr lvl="1"/>
            <a:r>
              <a:rPr lang="en-US" dirty="0"/>
              <a:t>You can see how to correctly solve each question after the first attempt; make sure to look at this before attempting again!</a:t>
            </a:r>
          </a:p>
          <a:p>
            <a:endParaRPr lang="en-US" sz="800" dirty="0"/>
          </a:p>
          <a:p>
            <a:r>
              <a:rPr lang="en-US" dirty="0"/>
              <a:t>1 exam (only </a:t>
            </a:r>
            <a:r>
              <a:rPr lang="en-US" u="sng" dirty="0"/>
              <a:t>one</a:t>
            </a:r>
            <a:r>
              <a:rPr lang="en-US" dirty="0"/>
              <a:t> attempt)</a:t>
            </a:r>
          </a:p>
          <a:p>
            <a:endParaRPr lang="en-US" sz="900" b="1" dirty="0"/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DA144F-AAE1-F340-8D12-D2E9F8208A29}"/>
              </a:ext>
            </a:extLst>
          </p:cNvPr>
          <p:cNvSpPr txBox="1"/>
          <p:nvPr/>
        </p:nvSpPr>
        <p:spPr>
          <a:xfrm>
            <a:off x="677333" y="4673024"/>
            <a:ext cx="103996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600" dirty="0"/>
              <a:t>Zero credit for late submissions; all due dates are provided on the syllabus and can be seen within the </a:t>
            </a:r>
            <a:r>
              <a:rPr lang="en-US" altLang="en-US" sz="2600" dirty="0" err="1"/>
              <a:t>MyLab</a:t>
            </a:r>
            <a:r>
              <a:rPr lang="en-US" altLang="en-US" sz="2600" dirty="0"/>
              <a:t> Finance website as well</a:t>
            </a:r>
            <a:endParaRPr lang="en-US" altLang="en-US" sz="2600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14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Notes about the </a:t>
            </a:r>
            <a:r>
              <a:rPr lang="en-US" u="sng" dirty="0" err="1"/>
              <a:t>MyLab</a:t>
            </a:r>
            <a:r>
              <a:rPr lang="en-US" u="sng" dirty="0"/>
              <a:t> exam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 is open-book, open-notes</a:t>
            </a:r>
          </a:p>
          <a:p>
            <a:r>
              <a:rPr lang="en-US" dirty="0"/>
              <a:t>Calculator, laptop (i.e., MS Excel) encouraged</a:t>
            </a:r>
          </a:p>
          <a:p>
            <a:r>
              <a:rPr lang="en-US" dirty="0"/>
              <a:t>Only one submission, but can enter and exit as many times as you want, saving your work automatically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900" b="1" dirty="0"/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DA144F-AAE1-F340-8D12-D2E9F8208A29}"/>
              </a:ext>
            </a:extLst>
          </p:cNvPr>
          <p:cNvSpPr txBox="1"/>
          <p:nvPr/>
        </p:nvSpPr>
        <p:spPr>
          <a:xfrm>
            <a:off x="622937" y="4086871"/>
            <a:ext cx="7934909" cy="1015663"/>
          </a:xfrm>
          <a:prstGeom prst="rect">
            <a:avLst/>
          </a:prstGeom>
          <a:solidFill>
            <a:srgbClr val="566568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en-US" sz="3000" dirty="0">
                <a:solidFill>
                  <a:srgbClr val="A51417"/>
                </a:solidFill>
              </a:rPr>
              <a:t>Please only hit </a:t>
            </a:r>
            <a:r>
              <a:rPr lang="en-US" altLang="en-US" sz="3000" b="1" dirty="0">
                <a:solidFill>
                  <a:srgbClr val="A51417"/>
                </a:solidFill>
              </a:rPr>
              <a:t>“Submit Test” </a:t>
            </a:r>
            <a:r>
              <a:rPr lang="en-US" altLang="en-US" sz="3000" dirty="0">
                <a:solidFill>
                  <a:srgbClr val="A51417"/>
                </a:solidFill>
              </a:rPr>
              <a:t>when you are satisfied you are completely done!</a:t>
            </a:r>
            <a:endParaRPr lang="en-US" altLang="en-US" sz="3000" i="1" dirty="0">
              <a:solidFill>
                <a:srgbClr val="A514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866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For students seeking a HP grade</a:t>
            </a: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226228" cy="4778022"/>
          </a:xfrm>
        </p:spPr>
        <p:txBody>
          <a:bodyPr>
            <a:normAutofit/>
          </a:bodyPr>
          <a:lstStyle/>
          <a:p>
            <a:r>
              <a:rPr lang="en-US" dirty="0"/>
              <a:t>You must </a:t>
            </a:r>
            <a:r>
              <a:rPr lang="en-US" u="sng" dirty="0"/>
              <a:t>also</a:t>
            </a:r>
            <a:r>
              <a:rPr lang="en-US" dirty="0"/>
              <a:t> complete the two “extra” quizzes and “extra” exam that can be found on the </a:t>
            </a:r>
            <a:r>
              <a:rPr lang="en-US" dirty="0" err="1"/>
              <a:t>MyLab</a:t>
            </a:r>
            <a:r>
              <a:rPr lang="en-US" dirty="0"/>
              <a:t> website</a:t>
            </a:r>
          </a:p>
          <a:p>
            <a:endParaRPr lang="en-US" sz="800" dirty="0"/>
          </a:p>
          <a:p>
            <a:pPr lvl="1"/>
            <a:r>
              <a:rPr lang="en-US" dirty="0"/>
              <a:t>They contain harder questions</a:t>
            </a:r>
          </a:p>
          <a:p>
            <a:pPr lvl="1"/>
            <a:r>
              <a:rPr lang="en-US" dirty="0"/>
              <a:t>I will use scores on these, </a:t>
            </a:r>
            <a:r>
              <a:rPr lang="en-US" b="1" dirty="0"/>
              <a:t>plus</a:t>
            </a:r>
            <a:r>
              <a:rPr lang="en-US" dirty="0"/>
              <a:t> your overall score, to determine which students receive a HP grade</a:t>
            </a:r>
          </a:p>
          <a:p>
            <a:pPr lvl="1"/>
            <a:endParaRPr lang="en-US" sz="800" dirty="0"/>
          </a:p>
          <a:p>
            <a:r>
              <a:rPr lang="en-US" dirty="0"/>
              <a:t>Doing these “extra” assessments does </a:t>
            </a:r>
            <a:r>
              <a:rPr lang="en-US" b="1" u="sng" dirty="0"/>
              <a:t>not</a:t>
            </a:r>
            <a:r>
              <a:rPr lang="en-US" dirty="0"/>
              <a:t> guarantee that you will receive a HP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900" b="1" dirty="0"/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638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website (i.e., Canvas)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A5141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https://wustl.instructure.com</a:t>
            </a:r>
            <a:endParaRPr lang="en-US" dirty="0">
              <a:solidFill>
                <a:srgbClr val="A51417"/>
              </a:solidFill>
            </a:endParaRPr>
          </a:p>
          <a:p>
            <a:r>
              <a:rPr lang="en-US" dirty="0"/>
              <a:t>Group cases will be submitted &amp; graded here</a:t>
            </a:r>
          </a:p>
          <a:p>
            <a:r>
              <a:rPr lang="en-US" dirty="0"/>
              <a:t>Items available to download</a:t>
            </a:r>
          </a:p>
          <a:p>
            <a:endParaRPr lang="en-US" sz="800" dirty="0"/>
          </a:p>
          <a:p>
            <a:pPr lvl="1"/>
            <a:r>
              <a:rPr lang="en-US" b="1" dirty="0"/>
              <a:t>Questions for each group case</a:t>
            </a:r>
          </a:p>
          <a:p>
            <a:pPr lvl="1"/>
            <a:r>
              <a:rPr lang="en-US" b="1" dirty="0"/>
              <a:t>Lecture notes for each topic</a:t>
            </a:r>
          </a:p>
          <a:p>
            <a:pPr lvl="1"/>
            <a:r>
              <a:rPr lang="en-US" b="1" dirty="0"/>
              <a:t>Other handouts [e.g., formula sheet &amp; case MS Excel files]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900" b="1" dirty="0"/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683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ground rules for FIN 740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408066" cy="4778022"/>
          </a:xfrm>
        </p:spPr>
        <p:txBody>
          <a:bodyPr/>
          <a:lstStyle/>
          <a:p>
            <a:r>
              <a:rPr lang="en-US" dirty="0"/>
              <a:t>I’m okay with you using laptops/iPads for notetaking</a:t>
            </a:r>
          </a:p>
          <a:p>
            <a:r>
              <a:rPr lang="en-US" dirty="0"/>
              <a:t>I will </a:t>
            </a:r>
            <a:r>
              <a:rPr lang="en-US" u="sng" dirty="0"/>
              <a:t>not</a:t>
            </a:r>
            <a:r>
              <a:rPr lang="en-US" dirty="0"/>
              <a:t> be posting solutions to the cases</a:t>
            </a:r>
          </a:p>
          <a:p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54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ask questions?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E-mail: </a:t>
            </a:r>
            <a:r>
              <a:rPr lang="en-US" dirty="0">
                <a:solidFill>
                  <a:srgbClr val="A5141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gormley@wustl.edu</a:t>
            </a:r>
            <a:r>
              <a:rPr lang="en-US" dirty="0">
                <a:solidFill>
                  <a:srgbClr val="A51417"/>
                </a:solidFill>
              </a:rPr>
              <a:t>  </a:t>
            </a:r>
          </a:p>
          <a:p>
            <a:r>
              <a:rPr lang="en-US" dirty="0"/>
              <a:t>In-person office hours </a:t>
            </a:r>
            <a:r>
              <a:rPr lang="en-US" i="1" dirty="0"/>
              <a:t>[by appointment; just e-mail me] 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900" b="1" dirty="0"/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60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In-class</a:t>
            </a:r>
            <a:r>
              <a:rPr lang="en-US" dirty="0"/>
              <a:t> questions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you have a question, please ask! </a:t>
            </a:r>
          </a:p>
          <a:p>
            <a:endParaRPr lang="en-US" sz="800" dirty="0"/>
          </a:p>
          <a:p>
            <a:pPr lvl="1"/>
            <a:r>
              <a:rPr lang="en-US" dirty="0"/>
              <a:t>If you are confused, you are probably not alone</a:t>
            </a:r>
          </a:p>
          <a:p>
            <a:pPr lvl="1"/>
            <a:r>
              <a:rPr lang="en-US" dirty="0"/>
              <a:t>I do </a:t>
            </a:r>
            <a:r>
              <a:rPr lang="en-US" u="sng" dirty="0"/>
              <a:t>not</a:t>
            </a:r>
            <a:r>
              <a:rPr lang="en-US" dirty="0"/>
              <a:t> mind being interrupted</a:t>
            </a:r>
          </a:p>
          <a:p>
            <a:pPr lvl="1"/>
            <a:endParaRPr lang="en-US" sz="800" dirty="0"/>
          </a:p>
          <a:p>
            <a:r>
              <a:rPr lang="en-US" b="1" dirty="0"/>
              <a:t>So, before we get started… </a:t>
            </a:r>
            <a:r>
              <a:rPr lang="en-US" b="1" dirty="0">
                <a:solidFill>
                  <a:srgbClr val="A51417"/>
                </a:solidFill>
              </a:rPr>
              <a:t>any questions?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900" b="1" dirty="0"/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176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华文新魏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华文新魏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2133</TotalTime>
  <Words>1288</Words>
  <Application>Microsoft Macintosh PowerPoint</Application>
  <PresentationFormat>Widescreen</PresentationFormat>
  <Paragraphs>209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Rockwell</vt:lpstr>
      <vt:lpstr>Times New Roman</vt:lpstr>
      <vt:lpstr>Office Theme</vt:lpstr>
      <vt:lpstr>FIN 740: Corporate Finance</vt:lpstr>
      <vt:lpstr>A bit about me</vt:lpstr>
      <vt:lpstr>Course objectives</vt:lpstr>
      <vt:lpstr>Connection to EMBA themes</vt:lpstr>
      <vt:lpstr>We will cover 6 topics </vt:lpstr>
      <vt:lpstr>Topic #1 – Capital markets &amp; financial managers</vt:lpstr>
      <vt:lpstr>Topic #2 – Time value of money</vt:lpstr>
      <vt:lpstr>Topic #3 – Investment decision rules</vt:lpstr>
      <vt:lpstr>Topics #4 &amp; #5 – Finding inputs for the NPV rule</vt:lpstr>
      <vt:lpstr>Topic #6 – Bond and stock valuation</vt:lpstr>
      <vt:lpstr>Let’s now talk about course logistics…</vt:lpstr>
      <vt:lpstr>Required course materials</vt:lpstr>
      <vt:lpstr>Grading</vt:lpstr>
      <vt:lpstr>Group case reports</vt:lpstr>
      <vt:lpstr>Individual assignments [to be done on MyLab]</vt:lpstr>
      <vt:lpstr>Notes about the MyLab exam</vt:lpstr>
      <vt:lpstr>For students seeking a HP grade</vt:lpstr>
      <vt:lpstr>Course website (i.e., Canvas)</vt:lpstr>
      <vt:lpstr>Additional ground rules for FIN 740</vt:lpstr>
      <vt:lpstr>Where to ask questions?</vt:lpstr>
      <vt:lpstr>In-class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default</dc:creator>
  <cp:lastModifiedBy>Gormley, Todd</cp:lastModifiedBy>
  <cp:revision>86</cp:revision>
  <cp:lastPrinted>2023-03-01T17:28:44Z</cp:lastPrinted>
  <dcterms:created xsi:type="dcterms:W3CDTF">2013-07-09T17:46:55Z</dcterms:created>
  <dcterms:modified xsi:type="dcterms:W3CDTF">2025-04-28T16:20:48Z</dcterms:modified>
</cp:coreProperties>
</file>