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67" r:id="rId2"/>
    <p:sldId id="442" r:id="rId3"/>
    <p:sldId id="370" r:id="rId4"/>
    <p:sldId id="415" r:id="rId5"/>
    <p:sldId id="334" r:id="rId6"/>
    <p:sldId id="417" r:id="rId7"/>
    <p:sldId id="335" r:id="rId8"/>
    <p:sldId id="441" r:id="rId9"/>
    <p:sldId id="360" r:id="rId10"/>
    <p:sldId id="562" r:id="rId11"/>
    <p:sldId id="443" r:id="rId12"/>
    <p:sldId id="754" r:id="rId13"/>
    <p:sldId id="403" r:id="rId14"/>
    <p:sldId id="326" r:id="rId15"/>
    <p:sldId id="419" r:id="rId16"/>
    <p:sldId id="420" r:id="rId17"/>
    <p:sldId id="421" r:id="rId18"/>
    <p:sldId id="423" r:id="rId19"/>
    <p:sldId id="433" r:id="rId20"/>
    <p:sldId id="424" r:id="rId21"/>
    <p:sldId id="430" r:id="rId22"/>
    <p:sldId id="431" r:id="rId23"/>
    <p:sldId id="425" r:id="rId24"/>
    <p:sldId id="426" r:id="rId25"/>
    <p:sldId id="427" r:id="rId26"/>
    <p:sldId id="429" r:id="rId27"/>
    <p:sldId id="336" r:id="rId28"/>
    <p:sldId id="446" r:id="rId29"/>
    <p:sldId id="438" r:id="rId30"/>
    <p:sldId id="439" r:id="rId31"/>
    <p:sldId id="440" r:id="rId32"/>
    <p:sldId id="444" r:id="rId33"/>
    <p:sldId id="324" r:id="rId34"/>
    <p:sldId id="323" r:id="rId35"/>
    <p:sldId id="434" r:id="rId36"/>
    <p:sldId id="435" r:id="rId37"/>
    <p:sldId id="436" r:id="rId38"/>
    <p:sldId id="437" r:id="rId39"/>
    <p:sldId id="471" r:id="rId40"/>
    <p:sldId id="478" r:id="rId41"/>
    <p:sldId id="384" r:id="rId42"/>
    <p:sldId id="473" r:id="rId43"/>
    <p:sldId id="474" r:id="rId44"/>
    <p:sldId id="475" r:id="rId45"/>
    <p:sldId id="472" r:id="rId46"/>
    <p:sldId id="476" r:id="rId47"/>
    <p:sldId id="445" r:id="rId48"/>
    <p:sldId id="477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1417"/>
    <a:srgbClr val="566568"/>
    <a:srgbClr val="69787B"/>
    <a:srgbClr val="800000"/>
    <a:srgbClr val="C41039"/>
    <a:srgbClr val="E1E1E1"/>
    <a:srgbClr val="6C7373"/>
    <a:srgbClr val="6978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53" autoAdjust="0"/>
    <p:restoredTop sz="84173"/>
  </p:normalViewPr>
  <p:slideViewPr>
    <p:cSldViewPr snapToGrid="0" snapToObjects="1">
      <p:cViewPr varScale="1">
        <p:scale>
          <a:sx n="113" d="100"/>
          <a:sy n="113" d="100"/>
        </p:scale>
        <p:origin x="1096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3AD09-9720-9047-BB14-484CD98DBB2F}" type="datetimeFigureOut">
              <a:rPr lang="en-US" smtClean="0"/>
              <a:t>5/23/24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80D64-6F43-4C4D-BE6A-3F3482AA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9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05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8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16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59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61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19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64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2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96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46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44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6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13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42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31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4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11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941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258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891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1818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897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12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369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290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986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0381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760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359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73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732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379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933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23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869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189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92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771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970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219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785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893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679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354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904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88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6C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1linerev(1c)1000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A5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 descr="1linerev(1c)1000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7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  <a:lvl2pPr>
              <a:defRPr>
                <a:solidFill>
                  <a:srgbClr val="6C7373"/>
                </a:solidFill>
              </a:defRPr>
            </a:lvl2pPr>
            <a:lvl3pPr>
              <a:defRPr>
                <a:solidFill>
                  <a:srgbClr val="6C7373"/>
                </a:solidFill>
              </a:defRPr>
            </a:lvl3pPr>
            <a:lvl4pPr>
              <a:defRPr>
                <a:solidFill>
                  <a:srgbClr val="6C7373"/>
                </a:solidFill>
              </a:defRPr>
            </a:lvl4pPr>
            <a:lvl5pPr>
              <a:defRPr>
                <a:solidFill>
                  <a:srgbClr val="6C737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51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767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305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664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sh_U_PPT_Template-0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21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228600"/>
            <a:ext cx="11582400" cy="640080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519" y="1600200"/>
            <a:ext cx="10856148" cy="4778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50" r:id="rId3"/>
    <p:sldLayoutId id="2147483660" r:id="rId4"/>
    <p:sldLayoutId id="2147483652" r:id="rId5"/>
    <p:sldLayoutId id="2147483653" r:id="rId6"/>
    <p:sldLayoutId id="2147483654" r:id="rId7"/>
    <p:sldLayoutId id="2147483670" r:id="rId8"/>
    <p:sldLayoutId id="2147483655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6C7373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CDB3-375F-9547-B02C-641B45386B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 740: Corporate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97D4F-E75A-3D44-9E5C-6FFBD76FC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312" y="3596776"/>
            <a:ext cx="5025358" cy="10277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Topic #4</a:t>
            </a:r>
          </a:p>
          <a:p>
            <a:r>
              <a:rPr lang="en-US" dirty="0"/>
              <a:t>Calculating Free Cash Flows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C9B75-A962-FB44-81BA-CF7FBE82C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EAA710-906A-7640-B374-534A2BDFD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5C8F14-B4C7-A49A-F791-F57E71E00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for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Continue “capital budgeting” decision by discussing how to calculate </a:t>
            </a:r>
            <a:r>
              <a:rPr lang="en-US" u="sng" dirty="0"/>
              <a:t>cash flows</a:t>
            </a:r>
            <a:r>
              <a:rPr lang="en-US" dirty="0"/>
              <a:t> for project valuation</a:t>
            </a:r>
          </a:p>
          <a:p>
            <a:endParaRPr lang="en-US" sz="800" dirty="0"/>
          </a:p>
          <a:p>
            <a:pPr lvl="1"/>
            <a:r>
              <a:rPr lang="en-US" dirty="0"/>
              <a:t>Discuss “free cash flows” (FCFs)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Define and explain FCFs</a:t>
            </a:r>
          </a:p>
          <a:p>
            <a:pPr lvl="2"/>
            <a:r>
              <a:rPr lang="en-US" dirty="0"/>
              <a:t>Steps to finding a project’s FCFs</a:t>
            </a:r>
          </a:p>
          <a:p>
            <a:pPr lvl="2"/>
            <a:endParaRPr lang="en-US" sz="800" dirty="0"/>
          </a:p>
          <a:p>
            <a:pPr lvl="1"/>
            <a:r>
              <a:rPr lang="en-US" dirty="0"/>
              <a:t>Miscellaneous issues with FCFs</a:t>
            </a:r>
            <a:endParaRPr lang="en-US" sz="800" dirty="0"/>
          </a:p>
          <a:p>
            <a:pPr lvl="1"/>
            <a:r>
              <a:rPr lang="en-US" dirty="0"/>
              <a:t>Apply tools using “Worldwide Paper” case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1FC2F-506F-D749-8742-7D69A32A7334}"/>
              </a:ext>
            </a:extLst>
          </p:cNvPr>
          <p:cNvSpPr/>
          <p:nvPr/>
        </p:nvSpPr>
        <p:spPr>
          <a:xfrm>
            <a:off x="1039831" y="2674339"/>
            <a:ext cx="6168092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78CAF7-54C7-3749-99F3-601518C3C61C}"/>
              </a:ext>
            </a:extLst>
          </p:cNvPr>
          <p:cNvSpPr/>
          <p:nvPr/>
        </p:nvSpPr>
        <p:spPr>
          <a:xfrm>
            <a:off x="1511264" y="3237258"/>
            <a:ext cx="3870543" cy="383483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93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266ED4-CB88-0A4C-9ADB-2E77D41D5E25}"/>
                  </a:ext>
                </a:extLst>
              </p:cNvPr>
              <p:cNvSpPr txBox="1"/>
              <p:nvPr/>
            </p:nvSpPr>
            <p:spPr>
              <a:xfrm>
                <a:off x="3730634" y="2823032"/>
                <a:ext cx="3434558" cy="1211935"/>
              </a:xfrm>
              <a:prstGeom prst="rect">
                <a:avLst/>
              </a:prstGeom>
              <a:solidFill>
                <a:srgbClr val="E1E1E1">
                  <a:alpha val="30000"/>
                </a:srgb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𝑁𝑃𝑉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266ED4-CB88-0A4C-9ADB-2E77D41D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634" y="2823032"/>
                <a:ext cx="3434558" cy="1211935"/>
              </a:xfrm>
              <a:prstGeom prst="rect">
                <a:avLst/>
              </a:prstGeom>
              <a:blipFill>
                <a:blip r:embed="rId3"/>
                <a:stretch>
                  <a:fillRect t="-112500" b="-1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calculating cash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NPV helps managers allocate resources wisely</a:t>
            </a:r>
          </a:p>
          <a:p>
            <a:r>
              <a:rPr lang="en-US" dirty="0"/>
              <a:t>As discussed in last unit, NPV is given by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r>
              <a:rPr lang="en-US" dirty="0"/>
              <a:t>To date, I have just told you the relevant cash flows… </a:t>
            </a:r>
            <a:r>
              <a:rPr lang="en-US" b="1" dirty="0"/>
              <a:t>This unit will discuss </a:t>
            </a:r>
            <a:r>
              <a:rPr lang="en-US" b="1" u="sng" dirty="0"/>
              <a:t>how</a:t>
            </a:r>
            <a:r>
              <a:rPr lang="en-US" b="1" dirty="0"/>
              <a:t> to calculate those cash flows, </a:t>
            </a:r>
            <a:r>
              <a:rPr lang="en-US" b="1" i="1" dirty="0"/>
              <a:t>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6ED718-B325-8146-861B-A14A7C5ECF01}"/>
              </a:ext>
            </a:extLst>
          </p:cNvPr>
          <p:cNvSpPr/>
          <p:nvPr/>
        </p:nvSpPr>
        <p:spPr>
          <a:xfrm>
            <a:off x="5986243" y="3024832"/>
            <a:ext cx="668241" cy="384917"/>
          </a:xfrm>
          <a:prstGeom prst="rect">
            <a:avLst/>
          </a:prstGeom>
          <a:solidFill>
            <a:srgbClr val="A5141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6E56C-A0CD-C144-B579-2D1F0398EDF0}"/>
              </a:ext>
            </a:extLst>
          </p:cNvPr>
          <p:cNvSpPr txBox="1"/>
          <p:nvPr/>
        </p:nvSpPr>
        <p:spPr>
          <a:xfrm>
            <a:off x="944165" y="5257799"/>
            <a:ext cx="904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Before doing that, let’s briefly discuss the </a:t>
            </a:r>
            <a:r>
              <a:rPr lang="en-US" sz="2400" u="sng" dirty="0"/>
              <a:t>DCF methodology</a:t>
            </a:r>
            <a:r>
              <a:rPr lang="en-US" sz="2400" dirty="0"/>
              <a:t>… </a:t>
            </a:r>
            <a:r>
              <a:rPr lang="en-US" sz="2400" dirty="0">
                <a:solidFill>
                  <a:srgbClr val="A51417"/>
                </a:solidFill>
              </a:rPr>
              <a:t>What does it stand for?  What is it?</a:t>
            </a:r>
          </a:p>
        </p:txBody>
      </p:sp>
    </p:spTree>
    <p:extLst>
      <p:ext uri="{BB962C8B-B14F-4D97-AF65-F5344CB8AC3E}">
        <p14:creationId xmlns:p14="http://schemas.microsoft.com/office/powerpoint/2010/main" val="236520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Discounted cash flows (DCF)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NPV is an </a:t>
            </a:r>
            <a:r>
              <a:rPr lang="en-US" i="1" dirty="0"/>
              <a:t>example</a:t>
            </a:r>
            <a:r>
              <a:rPr lang="en-US" dirty="0"/>
              <a:t> of the DCF methodology</a:t>
            </a:r>
          </a:p>
          <a:p>
            <a:r>
              <a:rPr lang="en-US" dirty="0"/>
              <a:t>DCF simply says that value of any asset is given by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r>
              <a:rPr lang="en-US" i="1" dirty="0" err="1"/>
              <a:t>CF</a:t>
            </a:r>
            <a:r>
              <a:rPr lang="en-US" i="1" baseline="-25000" dirty="0" err="1"/>
              <a:t>t</a:t>
            </a:r>
            <a:r>
              <a:rPr lang="en-US" i="1" dirty="0"/>
              <a:t> = </a:t>
            </a:r>
            <a:r>
              <a:rPr lang="en-US" dirty="0"/>
              <a:t>expected future cash stream in period </a:t>
            </a:r>
            <a:r>
              <a:rPr lang="en-US" i="1" dirty="0"/>
              <a:t>t</a:t>
            </a:r>
            <a:r>
              <a:rPr lang="en-US" dirty="0"/>
              <a:t>, where </a:t>
            </a:r>
            <a:r>
              <a:rPr lang="en-US" i="1" dirty="0"/>
              <a:t>CF</a:t>
            </a:r>
            <a:r>
              <a:rPr lang="en-US" dirty="0"/>
              <a:t> &gt; 0 represents a cash inflow and </a:t>
            </a:r>
            <a:r>
              <a:rPr lang="en-US" i="1" dirty="0"/>
              <a:t>CF</a:t>
            </a:r>
            <a:r>
              <a:rPr lang="en-US" dirty="0"/>
              <a:t> &lt; 0 represents a cash outflow</a:t>
            </a:r>
          </a:p>
          <a:p>
            <a:pPr lvl="1"/>
            <a:r>
              <a:rPr lang="en-US" i="1" dirty="0"/>
              <a:t>r = </a:t>
            </a:r>
            <a:r>
              <a:rPr lang="en-US" dirty="0"/>
              <a:t>discount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C13D72-D696-6E44-956B-75B5425AF981}"/>
                  </a:ext>
                </a:extLst>
              </p:cNvPr>
              <p:cNvSpPr txBox="1"/>
              <p:nvPr/>
            </p:nvSpPr>
            <p:spPr>
              <a:xfrm>
                <a:off x="1520791" y="2906923"/>
                <a:ext cx="9336505" cy="870366"/>
              </a:xfrm>
              <a:prstGeom prst="rect">
                <a:avLst/>
              </a:prstGeom>
              <a:solidFill>
                <a:srgbClr val="E1E1E1">
                  <a:alpha val="30000"/>
                </a:srgb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𝑉𝑎𝑙𝑢𝑒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C13D72-D696-6E44-956B-75B5425AF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791" y="2906923"/>
                <a:ext cx="9336505" cy="870366"/>
              </a:xfrm>
              <a:prstGeom prst="rect">
                <a:avLst/>
              </a:prstGeom>
              <a:blipFill>
                <a:blip r:embed="rId3"/>
                <a:stretch>
                  <a:fillRect t="-1429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66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DCF is used to value </a:t>
            </a:r>
            <a:r>
              <a:rPr lang="en-US" u="sng" dirty="0"/>
              <a:t>many</a:t>
            </a:r>
            <a:r>
              <a:rPr lang="en-US" dirty="0"/>
              <a:t>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882172" cy="4778022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Corporate bonds</a:t>
            </a:r>
          </a:p>
          <a:p>
            <a:pPr lvl="1"/>
            <a:r>
              <a:rPr lang="en-US" dirty="0"/>
              <a:t>Share of stock</a:t>
            </a:r>
          </a:p>
          <a:p>
            <a:pPr lvl="1"/>
            <a:r>
              <a:rPr lang="en-US" dirty="0"/>
              <a:t>Entire firm</a:t>
            </a:r>
          </a:p>
          <a:p>
            <a:pPr lvl="1"/>
            <a:r>
              <a:rPr lang="en-US" dirty="0"/>
              <a:t>Projects (i.e., NPV)</a:t>
            </a:r>
          </a:p>
          <a:p>
            <a:pPr lvl="1"/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159A9-0182-5142-82E0-C3420B1B8151}"/>
              </a:ext>
            </a:extLst>
          </p:cNvPr>
          <p:cNvSpPr txBox="1"/>
          <p:nvPr/>
        </p:nvSpPr>
        <p:spPr>
          <a:xfrm>
            <a:off x="1118391" y="4246278"/>
            <a:ext cx="6980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goal for today is to show you how to estimate the relevant cash flows for a project!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2F7A72-CFE7-0545-9845-0E4BF02F7C92}"/>
              </a:ext>
            </a:extLst>
          </p:cNvPr>
          <p:cNvSpPr txBox="1"/>
          <p:nvPr/>
        </p:nvSpPr>
        <p:spPr>
          <a:xfrm>
            <a:off x="5447913" y="1888958"/>
            <a:ext cx="43217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will return to valuing these assets in future topics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1C2F13-89D5-7840-B959-BC11E191BBBA}"/>
              </a:ext>
            </a:extLst>
          </p:cNvPr>
          <p:cNvSpPr/>
          <p:nvPr/>
        </p:nvSpPr>
        <p:spPr>
          <a:xfrm>
            <a:off x="858649" y="1600200"/>
            <a:ext cx="3407343" cy="1345131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4A588E-4CCE-C94D-8BFF-050F2079C99D}"/>
              </a:ext>
            </a:extLst>
          </p:cNvPr>
          <p:cNvCxnSpPr>
            <a:cxnSpLocks/>
          </p:cNvCxnSpPr>
          <p:nvPr/>
        </p:nvCxnSpPr>
        <p:spPr>
          <a:xfrm flipH="1">
            <a:off x="4466122" y="2312084"/>
            <a:ext cx="9394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3A6441-FF84-E643-9630-74BF7D729890}"/>
              </a:ext>
            </a:extLst>
          </p:cNvPr>
          <p:cNvCxnSpPr>
            <a:cxnSpLocks/>
          </p:cNvCxnSpPr>
          <p:nvPr/>
        </p:nvCxnSpPr>
        <p:spPr>
          <a:xfrm flipV="1">
            <a:off x="2538933" y="3532508"/>
            <a:ext cx="0" cy="6419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B9D3AC1-B307-F95C-517B-F9C9B8C8E06F}"/>
              </a:ext>
            </a:extLst>
          </p:cNvPr>
          <p:cNvSpPr/>
          <p:nvPr/>
        </p:nvSpPr>
        <p:spPr>
          <a:xfrm>
            <a:off x="1008872" y="4289337"/>
            <a:ext cx="6600242" cy="7879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85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 cause </a:t>
            </a:r>
            <a:r>
              <a:rPr lang="en-US" u="sng" dirty="0"/>
              <a:t>many</a:t>
            </a:r>
            <a:r>
              <a:rPr lang="en-US" dirty="0"/>
              <a:t> incremental cash flows 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04142" cy="4778022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r>
              <a:rPr lang="en-US" dirty="0"/>
              <a:t>To estimate a project’s value, one must first identify all the incremental cash flows caused by the project</a:t>
            </a:r>
          </a:p>
          <a:p>
            <a:r>
              <a:rPr lang="en-US" dirty="0"/>
              <a:t>This can be challenging because a project can have    numerous cash flow implications…</a:t>
            </a:r>
          </a:p>
          <a:p>
            <a:endParaRPr lang="en-US" sz="800" u="sng" dirty="0"/>
          </a:p>
          <a:p>
            <a:pPr lvl="1"/>
            <a:r>
              <a:rPr lang="en-US" b="1" dirty="0">
                <a:solidFill>
                  <a:srgbClr val="A51417"/>
                </a:solidFill>
              </a:rPr>
              <a:t>What are some examples cash flows caused by new investments?</a:t>
            </a:r>
          </a:p>
          <a:p>
            <a:pPr lvl="1"/>
            <a:r>
              <a:rPr lang="en-US" b="1" dirty="0">
                <a:solidFill>
                  <a:srgbClr val="A51417"/>
                </a:solidFill>
              </a:rPr>
              <a:t>Intuitively, how do you think we estimate them?</a:t>
            </a:r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5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project cash flows &amp; their timing</a:t>
            </a:r>
            <a:endParaRPr lang="en-US" i="1" dirty="0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0D3B6180-798F-F24A-B6EB-E3F790311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597" y="1628645"/>
            <a:ext cx="7410717" cy="46860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CEC2EC-DEC6-A64C-A204-584EBC15D8EF}"/>
              </a:ext>
            </a:extLst>
          </p:cNvPr>
          <p:cNvSpPr txBox="1"/>
          <p:nvPr/>
        </p:nvSpPr>
        <p:spPr>
          <a:xfrm>
            <a:off x="9327581" y="5579710"/>
            <a:ext cx="2587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Figure 9.1: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116567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free cash flows (FCFs)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04142" cy="4778022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r>
              <a:rPr lang="en-US" b="1" dirty="0"/>
              <a:t>Free cash flows </a:t>
            </a:r>
            <a:r>
              <a:rPr lang="en-US" dirty="0"/>
              <a:t>is our way of organizing these numerous cash flows to find the </a:t>
            </a:r>
            <a:r>
              <a:rPr lang="en-US" u="sng" dirty="0"/>
              <a:t>total net change</a:t>
            </a:r>
            <a:r>
              <a:rPr lang="en-US" dirty="0"/>
              <a:t> in cash flows…</a:t>
            </a:r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92DF5-1E86-DE1F-C949-B17290F7FE55}"/>
              </a:ext>
            </a:extLst>
          </p:cNvPr>
          <p:cNvSpPr txBox="1"/>
          <p:nvPr/>
        </p:nvSpPr>
        <p:spPr>
          <a:xfrm>
            <a:off x="658519" y="3251160"/>
            <a:ext cx="52375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A51417"/>
                </a:solidFill>
              </a:rPr>
              <a:t>How do you think we do this?</a:t>
            </a:r>
          </a:p>
          <a:p>
            <a:r>
              <a:rPr lang="en-US" sz="2800" b="1" dirty="0">
                <a:solidFill>
                  <a:srgbClr val="A51417"/>
                </a:solidFill>
              </a:rPr>
              <a:t>What do we mean by ‘free’?</a:t>
            </a:r>
          </a:p>
        </p:txBody>
      </p:sp>
    </p:spTree>
    <p:extLst>
      <p:ext uri="{BB962C8B-B14F-4D97-AF65-F5344CB8AC3E}">
        <p14:creationId xmlns:p14="http://schemas.microsoft.com/office/powerpoint/2010/main" val="272849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Organizing these cash flows to find FCF</a:t>
            </a:r>
            <a:endParaRPr lang="en-US" dirty="0">
              <a:solidFill>
                <a:srgbClr val="A51417"/>
              </a:solidFill>
            </a:endParaRPr>
          </a:p>
        </p:txBody>
      </p:sp>
      <p:pic>
        <p:nvPicPr>
          <p:cNvPr id="9" name="Picture 8" descr="Table&#10;&#10;Description automatically generated with medium confidence">
            <a:extLst>
              <a:ext uri="{FF2B5EF4-FFF2-40B4-BE49-F238E27FC236}">
                <a16:creationId xmlns:a16="http://schemas.microsoft.com/office/drawing/2014/main" id="{69C5366C-B02F-5D47-A4EE-F655F7232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66" y="2025664"/>
            <a:ext cx="2742280" cy="2560672"/>
          </a:xfrm>
          <a:prstGeom prst="rect">
            <a:avLst/>
          </a:prstGeom>
        </p:spPr>
      </p:pic>
      <p:pic>
        <p:nvPicPr>
          <p:cNvPr id="11" name="Picture 10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23EE0D41-B4EC-C44C-A27C-062C8B994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180" y="1780128"/>
            <a:ext cx="3931363" cy="305174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00DB01-EE81-1F4F-A507-14B26B9FFECE}"/>
              </a:ext>
            </a:extLst>
          </p:cNvPr>
          <p:cNvCxnSpPr/>
          <p:nvPr/>
        </p:nvCxnSpPr>
        <p:spPr bwMode="auto">
          <a:xfrm>
            <a:off x="5028813" y="3411646"/>
            <a:ext cx="8382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CE9E915C-8E68-954B-8C86-66B7AC8E5D49}"/>
              </a:ext>
            </a:extLst>
          </p:cNvPr>
          <p:cNvSpPr/>
          <p:nvPr/>
        </p:nvSpPr>
        <p:spPr bwMode="auto">
          <a:xfrm rot="5400000">
            <a:off x="5587880" y="2558589"/>
            <a:ext cx="381000" cy="5486400"/>
          </a:xfrm>
          <a:prstGeom prst="rightBrac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24DE16-9910-5145-8FBE-2302EDB48DDC}"/>
              </a:ext>
            </a:extLst>
          </p:cNvPr>
          <p:cNvSpPr txBox="1"/>
          <p:nvPr/>
        </p:nvSpPr>
        <p:spPr>
          <a:xfrm>
            <a:off x="4735646" y="5632944"/>
            <a:ext cx="5674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Free cash flow</a:t>
            </a:r>
          </a:p>
        </p:txBody>
      </p:sp>
    </p:spTree>
    <p:extLst>
      <p:ext uri="{BB962C8B-B14F-4D97-AF65-F5344CB8AC3E}">
        <p14:creationId xmlns:p14="http://schemas.microsoft.com/office/powerpoint/2010/main" val="310787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Free cash flow (FCF) – </a:t>
            </a:r>
            <a:r>
              <a:rPr lang="en-US" b="1" i="1" dirty="0"/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9614371" cy="4778022"/>
          </a:xfrm>
        </p:spPr>
        <p:txBody>
          <a:bodyPr>
            <a:normAutofit/>
          </a:bodyPr>
          <a:lstStyle/>
          <a:p>
            <a:r>
              <a:rPr lang="en-US" dirty="0"/>
              <a:t>FCF is what’s left over at the end of each year from the firm’s </a:t>
            </a:r>
            <a:r>
              <a:rPr lang="en-US" u="sng" dirty="0"/>
              <a:t>operations</a:t>
            </a:r>
            <a:r>
              <a:rPr lang="en-US" dirty="0"/>
              <a:t> that can be </a:t>
            </a:r>
            <a:r>
              <a:rPr lang="en-US" b="1" i="1" dirty="0"/>
              <a:t>freely</a:t>
            </a:r>
            <a:r>
              <a:rPr lang="en-US" dirty="0"/>
              <a:t> distributed to the investors of the firm, including…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lvl="1"/>
            <a:r>
              <a:rPr lang="en-US" dirty="0"/>
              <a:t>Lenders [Banks, bondholders, etc.]</a:t>
            </a:r>
          </a:p>
          <a:p>
            <a:pPr lvl="1"/>
            <a:r>
              <a:rPr lang="en-US" dirty="0"/>
              <a:t>Owners [Shareholders]</a:t>
            </a:r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1DC5F-AD0A-FCF0-44D3-AB8CD116F769}"/>
              </a:ext>
            </a:extLst>
          </p:cNvPr>
          <p:cNvSpPr txBox="1"/>
          <p:nvPr/>
        </p:nvSpPr>
        <p:spPr>
          <a:xfrm>
            <a:off x="7400907" y="3429000"/>
            <a:ext cx="4264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I.e., FCF measures the </a:t>
            </a:r>
            <a:r>
              <a:rPr lang="en-US" sz="2400" u="sng" dirty="0"/>
              <a:t>net</a:t>
            </a:r>
            <a:r>
              <a:rPr lang="en-US" sz="2400" dirty="0"/>
              <a:t> difference in cash </a:t>
            </a:r>
            <a:r>
              <a:rPr lang="en-US" sz="2400" b="1" dirty="0"/>
              <a:t>generated</a:t>
            </a:r>
            <a:r>
              <a:rPr lang="en-US" sz="2400" dirty="0"/>
              <a:t> and cash </a:t>
            </a:r>
            <a:r>
              <a:rPr lang="en-US" sz="2400" b="1" dirty="0"/>
              <a:t>used</a:t>
            </a:r>
            <a:r>
              <a:rPr lang="en-US" sz="2400" dirty="0"/>
              <a:t>, excluding financial items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B5A4E0A-7998-2A53-653C-9A38F034A9B7}"/>
              </a:ext>
            </a:extLst>
          </p:cNvPr>
          <p:cNvCxnSpPr>
            <a:cxnSpLocks/>
          </p:cNvCxnSpPr>
          <p:nvPr/>
        </p:nvCxnSpPr>
        <p:spPr>
          <a:xfrm flipH="1" flipV="1">
            <a:off x="7133665" y="2675965"/>
            <a:ext cx="504264" cy="7530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5AAC74-80AF-A90F-1476-87D69369D375}"/>
              </a:ext>
            </a:extLst>
          </p:cNvPr>
          <p:cNvSpPr txBox="1"/>
          <p:nvPr/>
        </p:nvSpPr>
        <p:spPr>
          <a:xfrm>
            <a:off x="870661" y="4953000"/>
            <a:ext cx="46608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51417"/>
                </a:solidFill>
              </a:rPr>
              <a:t>Where is FCF found in a firm’s financial statements?</a:t>
            </a:r>
          </a:p>
        </p:txBody>
      </p:sp>
    </p:spTree>
    <p:extLst>
      <p:ext uri="{BB962C8B-B14F-4D97-AF65-F5344CB8AC3E}">
        <p14:creationId xmlns:p14="http://schemas.microsoft.com/office/powerpoint/2010/main" val="357767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for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Continue “capital budgeting” decision by discussing how to calculate </a:t>
            </a:r>
            <a:r>
              <a:rPr lang="en-US" u="sng" dirty="0"/>
              <a:t>cash flows</a:t>
            </a:r>
            <a:r>
              <a:rPr lang="en-US" dirty="0"/>
              <a:t> for project valuation</a:t>
            </a:r>
          </a:p>
          <a:p>
            <a:endParaRPr lang="en-US" sz="800" dirty="0"/>
          </a:p>
          <a:p>
            <a:pPr lvl="1"/>
            <a:r>
              <a:rPr lang="en-US" dirty="0"/>
              <a:t>Discuss “free cash flows” (FCFs)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Define and explain FCFs</a:t>
            </a:r>
          </a:p>
          <a:p>
            <a:pPr lvl="2"/>
            <a:r>
              <a:rPr lang="en-US" dirty="0"/>
              <a:t>Steps to finding a project’s FCFs</a:t>
            </a:r>
          </a:p>
          <a:p>
            <a:pPr lvl="2"/>
            <a:endParaRPr lang="en-US" sz="800" dirty="0"/>
          </a:p>
          <a:p>
            <a:pPr lvl="1"/>
            <a:r>
              <a:rPr lang="en-US" dirty="0"/>
              <a:t>Miscellaneous issues with FCFs</a:t>
            </a:r>
            <a:endParaRPr lang="en-US" sz="800" dirty="0"/>
          </a:p>
          <a:p>
            <a:pPr lvl="1"/>
            <a:r>
              <a:rPr lang="en-US" dirty="0"/>
              <a:t>Apply tools using “Worldwide Paper” case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1FC2F-506F-D749-8742-7D69A32A7334}"/>
              </a:ext>
            </a:extLst>
          </p:cNvPr>
          <p:cNvSpPr/>
          <p:nvPr/>
        </p:nvSpPr>
        <p:spPr>
          <a:xfrm>
            <a:off x="1039832" y="2695878"/>
            <a:ext cx="6168092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78CAF7-54C7-3749-99F3-601518C3C61C}"/>
              </a:ext>
            </a:extLst>
          </p:cNvPr>
          <p:cNvSpPr/>
          <p:nvPr/>
        </p:nvSpPr>
        <p:spPr>
          <a:xfrm>
            <a:off x="1538999" y="3637493"/>
            <a:ext cx="4346534" cy="351718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42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steps to finding project’s FCF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519" y="1600200"/>
                <a:ext cx="10413433" cy="47780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Create project’s </a:t>
                </a:r>
                <a:r>
                  <a:rPr lang="en-US" u="sng" dirty="0"/>
                  <a:t>pro forma</a:t>
                </a:r>
                <a:r>
                  <a:rPr lang="en-US" dirty="0"/>
                  <a:t> income statement &amp; balance sheet</a:t>
                </a:r>
              </a:p>
              <a:p>
                <a:endParaRPr lang="en-US" sz="1000" dirty="0"/>
              </a:p>
              <a:p>
                <a:pPr lvl="1"/>
                <a:r>
                  <a:rPr lang="en-US" dirty="0"/>
                  <a:t>Basically, it’s a prediction of what the project’s incremental revenues, expenses, etc. would look like for each year of the project</a:t>
                </a:r>
              </a:p>
              <a:p>
                <a:endParaRPr lang="en-US" sz="1000" dirty="0"/>
              </a:p>
              <a:p>
                <a:r>
                  <a:rPr lang="en-US" dirty="0"/>
                  <a:t>Use pro forma to find EBIT [</a:t>
                </a:r>
                <a:r>
                  <a:rPr lang="en-US" i="1" dirty="0"/>
                  <a:t>i.e., revenues – COGS – SG&amp;A</a:t>
                </a:r>
                <a:r>
                  <a:rPr lang="en-US" dirty="0"/>
                  <a:t>] each year and subtract out taxes, EBIT 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Tax rate</a:t>
                </a:r>
              </a:p>
              <a:p>
                <a:r>
                  <a:rPr lang="en-US" dirty="0"/>
                  <a:t>Then adjust for depreciation, capital expenditures, and investments in net working capital to get FCF</a:t>
                </a:r>
              </a:p>
              <a:p>
                <a:endParaRPr lang="en-US" sz="800" dirty="0"/>
              </a:p>
              <a:p>
                <a:pPr lvl="2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19" y="1600200"/>
                <a:ext cx="10413433" cy="4778022"/>
              </a:xfrm>
              <a:blipFill>
                <a:blip r:embed="rId3"/>
                <a:stretch>
                  <a:fillRect l="-974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CCE1423-CFFF-4CFA-D577-210EB5604B6F}"/>
              </a:ext>
            </a:extLst>
          </p:cNvPr>
          <p:cNvSpPr txBox="1"/>
          <p:nvPr/>
        </p:nvSpPr>
        <p:spPr>
          <a:xfrm>
            <a:off x="8710076" y="5257800"/>
            <a:ext cx="28234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A51417"/>
                </a:solidFill>
              </a:rPr>
              <a:t>What does EBIT stand for?</a:t>
            </a:r>
            <a:endParaRPr lang="en-US" sz="2800" u="sng" dirty="0">
              <a:solidFill>
                <a:srgbClr val="A5141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E376E9-5F99-A35A-0D30-9707FF4E0481}"/>
              </a:ext>
            </a:extLst>
          </p:cNvPr>
          <p:cNvSpPr/>
          <p:nvPr/>
        </p:nvSpPr>
        <p:spPr>
          <a:xfrm>
            <a:off x="4457216" y="3292997"/>
            <a:ext cx="907650" cy="497712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1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FCF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519" y="1600200"/>
                <a:ext cx="8740207" cy="4778022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Free cash flow = </a:t>
                </a:r>
              </a:p>
              <a:p>
                <a:endParaRPr lang="en-US" sz="1000" dirty="0"/>
              </a:p>
              <a:p>
                <a:pPr marL="457200" lvl="1" indent="0">
                  <a:buNone/>
                </a:pPr>
                <a:r>
                  <a:rPr lang="en-US" dirty="0"/>
                  <a:t>EBIT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(1 – Tax rate) + depreciation</a:t>
                </a:r>
              </a:p>
              <a:p>
                <a:pPr lvl="1"/>
                <a:r>
                  <a:rPr lang="en-US" dirty="0"/>
                  <a:t>Capital expenditures (</a:t>
                </a:r>
                <a:r>
                  <a:rPr lang="en-US" dirty="0" err="1"/>
                  <a:t>CapEx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Change in net working capital (∆NWC)</a:t>
                </a:r>
              </a:p>
              <a:p>
                <a:endParaRPr lang="en-US" sz="1000" dirty="0"/>
              </a:p>
              <a:p>
                <a:r>
                  <a:rPr lang="en-US" dirty="0"/>
                  <a:t>More about each piece shortly; but let’s first see why we cannot use bottom line of income statement (i.e., net income) as our cash flow…</a:t>
                </a:r>
              </a:p>
              <a:p>
                <a:endParaRPr lang="en-US" sz="800" dirty="0"/>
              </a:p>
              <a:p>
                <a:pPr lvl="2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19" y="1600200"/>
                <a:ext cx="8740207" cy="4778022"/>
              </a:xfrm>
              <a:blipFill>
                <a:blip r:embed="rId3"/>
                <a:stretch>
                  <a:fillRect l="-1159" t="-1592" r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D90AEBF-DC42-6679-1B11-FBE0B8B13368}"/>
              </a:ext>
            </a:extLst>
          </p:cNvPr>
          <p:cNvSpPr/>
          <p:nvPr/>
        </p:nvSpPr>
        <p:spPr>
          <a:xfrm>
            <a:off x="1163224" y="2270049"/>
            <a:ext cx="2925450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6518A-F881-6629-A27D-B6C5CDA73DA8}"/>
              </a:ext>
            </a:extLst>
          </p:cNvPr>
          <p:cNvSpPr txBox="1"/>
          <p:nvPr/>
        </p:nvSpPr>
        <p:spPr>
          <a:xfrm>
            <a:off x="6187996" y="1069285"/>
            <a:ext cx="388242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Note: </a:t>
            </a:r>
            <a:r>
              <a:rPr lang="en-US" sz="2100" dirty="0"/>
              <a:t>Textbook </a:t>
            </a:r>
            <a:r>
              <a:rPr lang="en-US" sz="2100" u="sng" dirty="0"/>
              <a:t>also</a:t>
            </a:r>
            <a:r>
              <a:rPr lang="en-US" sz="2100" dirty="0"/>
              <a:t> calls this piece unlevered income </a:t>
            </a:r>
            <a:r>
              <a:rPr lang="en-US" sz="2100" i="1" dirty="0"/>
              <a:t>or</a:t>
            </a:r>
            <a:r>
              <a:rPr lang="en-US" sz="2100" dirty="0"/>
              <a:t> incremental earnings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92140B-B24E-BD1E-D439-5A496CA79F14}"/>
              </a:ext>
            </a:extLst>
          </p:cNvPr>
          <p:cNvCxnSpPr>
            <a:cxnSpLocks/>
          </p:cNvCxnSpPr>
          <p:nvPr/>
        </p:nvCxnSpPr>
        <p:spPr>
          <a:xfrm flipH="1">
            <a:off x="4157067" y="1711234"/>
            <a:ext cx="1929526" cy="506976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707F39C-1DC5-AE21-3850-015D8508E020}"/>
              </a:ext>
            </a:extLst>
          </p:cNvPr>
          <p:cNvSpPr/>
          <p:nvPr/>
        </p:nvSpPr>
        <p:spPr>
          <a:xfrm>
            <a:off x="6984904" y="1475415"/>
            <a:ext cx="2309319" cy="301134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2EFEBF-7AB1-077F-566E-2AC908CF8C57}"/>
              </a:ext>
            </a:extLst>
          </p:cNvPr>
          <p:cNvSpPr/>
          <p:nvPr/>
        </p:nvSpPr>
        <p:spPr>
          <a:xfrm>
            <a:off x="6187996" y="1803264"/>
            <a:ext cx="2773124" cy="301134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515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net income does </a:t>
            </a:r>
            <a:r>
              <a:rPr lang="en-US" b="1" dirty="0"/>
              <a:t>NOT</a:t>
            </a:r>
            <a:r>
              <a:rPr lang="en-US" dirty="0"/>
              <a:t> equal FCF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16793" cy="477802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Net income removes interest expense, which is a </a:t>
            </a:r>
            <a:r>
              <a:rPr lang="en-US" i="1" dirty="0"/>
              <a:t>use</a:t>
            </a:r>
            <a:r>
              <a:rPr lang="en-US" dirty="0"/>
              <a:t> of FCF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Net income includes revenues and expenses when they accrue (i.e., when they are realized), not when they are paid</a:t>
            </a:r>
          </a:p>
          <a:p>
            <a:endParaRPr lang="en-US" sz="800" dirty="0"/>
          </a:p>
          <a:p>
            <a:pPr lvl="1"/>
            <a:r>
              <a:rPr lang="en-US" dirty="0"/>
              <a:t>Hence, net income will include many things that are </a:t>
            </a:r>
            <a:r>
              <a:rPr lang="en-US" i="1" u="sng" dirty="0"/>
              <a:t>not</a:t>
            </a:r>
            <a:r>
              <a:rPr lang="en-US" dirty="0"/>
              <a:t> cash flows</a:t>
            </a:r>
            <a:endParaRPr lang="en-US" i="1" dirty="0"/>
          </a:p>
          <a:p>
            <a:pPr lvl="1"/>
            <a:r>
              <a:rPr lang="en-US" b="1" dirty="0"/>
              <a:t>Two main areas in which this is a problem</a:t>
            </a:r>
          </a:p>
          <a:p>
            <a:pPr lvl="1"/>
            <a:endParaRPr lang="en-US" sz="800" dirty="0"/>
          </a:p>
          <a:p>
            <a:pPr marL="914400" lvl="2" indent="0">
              <a:buNone/>
            </a:pPr>
            <a:r>
              <a:rPr lang="en-US" dirty="0"/>
              <a:t>#1 – Capital expenses and depreciation</a:t>
            </a:r>
          </a:p>
          <a:p>
            <a:pPr marL="914400" lvl="2" indent="0">
              <a:buNone/>
            </a:pPr>
            <a:r>
              <a:rPr lang="en-US" dirty="0"/>
              <a:t>#2 – Other non-cash items, e.g., accounts receivable</a:t>
            </a:r>
          </a:p>
          <a:p>
            <a:pPr lvl="1"/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3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– Capital expenses and depreciation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Capital expenses (purchase or sale of fixed assets) are not deducted, instead they are depreciated…</a:t>
            </a:r>
          </a:p>
          <a:p>
            <a:endParaRPr lang="en-US" sz="800" dirty="0"/>
          </a:p>
          <a:p>
            <a:pPr lvl="1"/>
            <a:r>
              <a:rPr lang="en-US" dirty="0"/>
              <a:t>Suppose firm purchase $10,000 piece of equipment in year 1, and it is expected to last 5 years of use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Accrual method deducts depreciation when finding net income</a:t>
            </a:r>
          </a:p>
          <a:p>
            <a:pPr lvl="2"/>
            <a:r>
              <a:rPr lang="en-US" dirty="0"/>
              <a:t>Using “straight-line” approach, this means $2,000 expensed per year for year 1-5</a:t>
            </a:r>
          </a:p>
          <a:p>
            <a:endParaRPr lang="en-US" sz="1000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A51417"/>
                </a:solidFill>
              </a:rPr>
              <a:t>But what is the actual cash flow in each year?</a:t>
            </a:r>
          </a:p>
        </p:txBody>
      </p:sp>
    </p:spTree>
    <p:extLst>
      <p:ext uri="{BB962C8B-B14F-4D97-AF65-F5344CB8AC3E}">
        <p14:creationId xmlns:p14="http://schemas.microsoft.com/office/powerpoint/2010/main" val="149299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 – Other non-cash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E.g., account receivables and payables</a:t>
            </a:r>
          </a:p>
          <a:p>
            <a:endParaRPr lang="en-US" sz="800" dirty="0"/>
          </a:p>
          <a:p>
            <a:pPr lvl="1"/>
            <a:r>
              <a:rPr lang="en-US" dirty="0"/>
              <a:t>Increase in accounts receivable is counted in sales…</a:t>
            </a:r>
          </a:p>
          <a:p>
            <a:pPr lvl="1"/>
            <a:r>
              <a:rPr lang="en-US" dirty="0"/>
              <a:t>Increase in accounts payable is counted as expense…</a:t>
            </a:r>
          </a:p>
          <a:p>
            <a:pPr lvl="1"/>
            <a:endParaRPr lang="en-US" sz="800" dirty="0"/>
          </a:p>
          <a:p>
            <a:pPr marL="914400" lvl="2" indent="0">
              <a:buNone/>
            </a:pPr>
            <a:r>
              <a:rPr lang="en-US" dirty="0">
                <a:solidFill>
                  <a:srgbClr val="A51417"/>
                </a:solidFill>
              </a:rPr>
              <a:t>What is an account receivable?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A51417"/>
                </a:solidFill>
              </a:rPr>
              <a:t>What is an account payable?</a:t>
            </a:r>
          </a:p>
          <a:p>
            <a:pPr marL="914400" lvl="2" indent="0">
              <a:buNone/>
            </a:pPr>
            <a:r>
              <a:rPr lang="en-US" b="1" dirty="0">
                <a:solidFill>
                  <a:srgbClr val="A51417"/>
                </a:solidFill>
              </a:rPr>
              <a:t>Did a cash flow occur in either case?</a:t>
            </a:r>
          </a:p>
        </p:txBody>
      </p:sp>
    </p:spTree>
    <p:extLst>
      <p:ext uri="{BB962C8B-B14F-4D97-AF65-F5344CB8AC3E}">
        <p14:creationId xmlns:p14="http://schemas.microsoft.com/office/powerpoint/2010/main" val="63950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pieces to calculate FCF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519" y="1600200"/>
                <a:ext cx="10817201" cy="4778022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Free cash flow = </a:t>
                </a:r>
              </a:p>
              <a:p>
                <a:endParaRPr lang="en-US" sz="1000" dirty="0"/>
              </a:p>
              <a:p>
                <a:pPr marL="457200" lvl="1" indent="0">
                  <a:buNone/>
                </a:pPr>
                <a:r>
                  <a:rPr lang="en-US" dirty="0"/>
                  <a:t>EBIT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(1 – Tax rate) + depreciation</a:t>
                </a:r>
              </a:p>
              <a:p>
                <a:pPr lvl="1"/>
                <a:r>
                  <a:rPr lang="en-US" dirty="0"/>
                  <a:t>Capital expenditures (</a:t>
                </a:r>
                <a:r>
                  <a:rPr lang="en-US" dirty="0" err="1"/>
                  <a:t>CapEx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Change in net working capital (∆NWC)</a:t>
                </a:r>
              </a:p>
              <a:p>
                <a:endParaRPr lang="en-US" sz="1000" dirty="0"/>
              </a:p>
              <a:p>
                <a:pPr lvl="2"/>
                <a:r>
                  <a:rPr lang="en-US" dirty="0"/>
                  <a:t>First line captures incremental revenues minus costs and taxes, while adding back in depreciation, which is a </a:t>
                </a:r>
                <a:r>
                  <a:rPr lang="en-US" u="sng" dirty="0"/>
                  <a:t>non-cash</a:t>
                </a:r>
                <a:r>
                  <a:rPr lang="en-US" dirty="0"/>
                  <a:t> expense included in EBIT</a:t>
                </a:r>
              </a:p>
              <a:p>
                <a:pPr lvl="2"/>
                <a:r>
                  <a:rPr lang="en-US" dirty="0"/>
                  <a:t>Second line (</a:t>
                </a:r>
                <a:r>
                  <a:rPr lang="en-US" dirty="0" err="1"/>
                  <a:t>CapEx</a:t>
                </a:r>
                <a:r>
                  <a:rPr lang="en-US" dirty="0"/>
                  <a:t>) captures cash flows from capital spending</a:t>
                </a:r>
              </a:p>
              <a:p>
                <a:pPr lvl="2"/>
                <a:r>
                  <a:rPr lang="en-US" dirty="0"/>
                  <a:t>Third line (∆NWC) corrects working capital items counted as revenues or expenses, but were not real cash flows (e.g., accounts receivable)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19" y="1600200"/>
                <a:ext cx="10817201" cy="4778022"/>
              </a:xfrm>
              <a:blipFill>
                <a:blip r:embed="rId3"/>
                <a:stretch>
                  <a:fillRect l="-938" t="-1592" r="-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B8E646D-1BD8-F14F-AEB4-9D483164E355}"/>
              </a:ext>
            </a:extLst>
          </p:cNvPr>
          <p:cNvSpPr/>
          <p:nvPr/>
        </p:nvSpPr>
        <p:spPr>
          <a:xfrm>
            <a:off x="975614" y="2288062"/>
            <a:ext cx="5462205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B5D14-E5F3-A90E-DB6E-FA9317D5B03F}"/>
              </a:ext>
            </a:extLst>
          </p:cNvPr>
          <p:cNvSpPr txBox="1"/>
          <p:nvPr/>
        </p:nvSpPr>
        <p:spPr>
          <a:xfrm>
            <a:off x="7800474" y="1515200"/>
            <a:ext cx="3067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important things to note about this </a:t>
            </a:r>
            <a:r>
              <a:rPr lang="en-US" sz="2400" u="sng" dirty="0"/>
              <a:t>first</a:t>
            </a:r>
            <a:r>
              <a:rPr lang="en-US" sz="2400" dirty="0"/>
              <a:t> step…</a:t>
            </a:r>
            <a:endParaRPr lang="en-US" sz="2400" u="sng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C18BC2C-4D03-A83F-6C6A-FD3BF4BCE693}"/>
              </a:ext>
            </a:extLst>
          </p:cNvPr>
          <p:cNvCxnSpPr>
            <a:cxnSpLocks/>
          </p:cNvCxnSpPr>
          <p:nvPr/>
        </p:nvCxnSpPr>
        <p:spPr>
          <a:xfrm flipH="1">
            <a:off x="6570670" y="2201091"/>
            <a:ext cx="1103759" cy="290906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15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724221" cy="980194"/>
          </a:xfrm>
        </p:spPr>
        <p:txBody>
          <a:bodyPr/>
          <a:lstStyle/>
          <a:p>
            <a:r>
              <a:rPr lang="en-US" i="1" dirty="0"/>
              <a:t>Note #1 </a:t>
            </a:r>
            <a:r>
              <a:rPr lang="en-US" dirty="0"/>
              <a:t>– We do </a:t>
            </a:r>
            <a:r>
              <a:rPr lang="en-US" b="1" u="sng" dirty="0"/>
              <a:t>not</a:t>
            </a:r>
            <a:r>
              <a:rPr lang="en-US" dirty="0"/>
              <a:t> include interest expenses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519" y="1600200"/>
                <a:ext cx="10631915" cy="47780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By using EBIT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Tax rate, we subtract </a:t>
                </a:r>
                <a:r>
                  <a:rPr lang="en-US" u="sng" dirty="0"/>
                  <a:t>full</a:t>
                </a:r>
                <a:r>
                  <a:rPr lang="en-US" dirty="0"/>
                  <a:t> taxes on the firm’s operating cash flows rather than the </a:t>
                </a:r>
                <a:r>
                  <a:rPr lang="en-US" i="1" dirty="0"/>
                  <a:t>actual</a:t>
                </a:r>
                <a:r>
                  <a:rPr lang="en-US" dirty="0"/>
                  <a:t> taxes paid</a:t>
                </a:r>
              </a:p>
              <a:p>
                <a:endParaRPr lang="en-US" sz="900" b="1" dirty="0"/>
              </a:p>
              <a:p>
                <a:pPr lvl="1"/>
                <a:r>
                  <a:rPr lang="en-US" dirty="0"/>
                  <a:t>We essentially pretend as if the firm had no debt (i.e., is unlevered) and ignore the “interest tax shield” a firm receives by expensing interest</a:t>
                </a:r>
              </a:p>
              <a:p>
                <a:pPr lvl="1"/>
                <a:endParaRPr lang="en-US" sz="800" b="1" dirty="0"/>
              </a:p>
              <a:p>
                <a:r>
                  <a:rPr lang="en-US" b="1" dirty="0"/>
                  <a:t>We do this for two reasons:</a:t>
                </a:r>
              </a:p>
              <a:p>
                <a:endParaRPr lang="en-US" sz="800" dirty="0"/>
              </a:p>
              <a:p>
                <a:pPr lvl="1"/>
                <a:r>
                  <a:rPr lang="en-US" dirty="0"/>
                  <a:t>Interest expenses are related to firm’s decision on </a:t>
                </a:r>
                <a:r>
                  <a:rPr lang="en-US" i="1" u="sng" dirty="0"/>
                  <a:t>how to fund</a:t>
                </a:r>
                <a:r>
                  <a:rPr lang="en-US" i="1" dirty="0"/>
                  <a:t> </a:t>
                </a:r>
                <a:r>
                  <a:rPr lang="en-US" dirty="0"/>
                  <a:t>the</a:t>
                </a:r>
                <a:r>
                  <a:rPr lang="en-US" i="1" dirty="0"/>
                  <a:t> </a:t>
                </a:r>
                <a:r>
                  <a:rPr lang="en-US" dirty="0"/>
                  <a:t>project, which is a separate decision the manager will solve</a:t>
                </a:r>
              </a:p>
              <a:p>
                <a:pPr lvl="1"/>
                <a:r>
                  <a:rPr lang="en-US" dirty="0"/>
                  <a:t>And any value created by interest tax shields will be captured in the discount rate we use</a:t>
                </a:r>
                <a:r>
                  <a:rPr lang="en-US" i="1" dirty="0"/>
                  <a:t> [more on that in a next topic unit]</a:t>
                </a:r>
              </a:p>
              <a:p>
                <a:endParaRPr lang="en-US" sz="10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19" y="1600200"/>
                <a:ext cx="10631915" cy="4778022"/>
              </a:xfrm>
              <a:blipFill>
                <a:blip r:embed="rId3"/>
                <a:stretch>
                  <a:fillRect l="-955" t="-1592" r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363C48E-F9A3-244D-B348-A9C8DD1A4EA6}"/>
              </a:ext>
            </a:extLst>
          </p:cNvPr>
          <p:cNvSpPr/>
          <p:nvPr/>
        </p:nvSpPr>
        <p:spPr>
          <a:xfrm>
            <a:off x="2525193" y="1625924"/>
            <a:ext cx="2534881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477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724221" cy="980194"/>
          </a:xfrm>
        </p:spPr>
        <p:txBody>
          <a:bodyPr/>
          <a:lstStyle/>
          <a:p>
            <a:r>
              <a:rPr lang="en-US" i="1" dirty="0"/>
              <a:t>Note #2 </a:t>
            </a:r>
            <a:r>
              <a:rPr lang="en-US" dirty="0"/>
              <a:t>– What’s up with the depreciation?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39923" cy="4778022"/>
          </a:xfrm>
        </p:spPr>
        <p:txBody>
          <a:bodyPr>
            <a:normAutofit/>
          </a:bodyPr>
          <a:lstStyle/>
          <a:p>
            <a:r>
              <a:rPr lang="en-US" dirty="0"/>
              <a:t>Students often wonder why this first step of FCF calculation subtracts depreciation but then adds it back in…</a:t>
            </a:r>
            <a:endParaRPr lang="en-US" sz="1000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E5213F5-9A23-494D-A1AE-455BEDC87B3F}"/>
                  </a:ext>
                </a:extLst>
              </p:cNvPr>
              <p:cNvSpPr/>
              <p:nvPr/>
            </p:nvSpPr>
            <p:spPr>
              <a:xfrm>
                <a:off x="943276" y="2897999"/>
                <a:ext cx="10116152" cy="830997"/>
              </a:xfrm>
              <a:prstGeom prst="rect">
                <a:avLst/>
              </a:prstGeom>
              <a:solidFill>
                <a:srgbClr val="566568">
                  <a:alpha val="20000"/>
                </a:srgbClr>
              </a:solidFill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Unlevered net income + depreciation = </a:t>
                </a:r>
              </a:p>
              <a:p>
                <a:pPr lvl="1"/>
                <a:r>
                  <a:rPr lang="en-US" sz="2400" dirty="0"/>
                  <a:t>(Revenues – costs – depreciation)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 (1 – Tax rate) + depreciation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E5213F5-9A23-494D-A1AE-455BEDC87B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76" y="2897999"/>
                <a:ext cx="10116152" cy="830997"/>
              </a:xfrm>
              <a:prstGeom prst="rect">
                <a:avLst/>
              </a:prstGeom>
              <a:blipFill>
                <a:blip r:embed="rId3"/>
                <a:stretch>
                  <a:fillRect t="-606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5BFA95-4414-CA42-A9E3-A9DF123A579A}"/>
              </a:ext>
            </a:extLst>
          </p:cNvPr>
          <p:cNvCxnSpPr>
            <a:cxnSpLocks/>
          </p:cNvCxnSpPr>
          <p:nvPr/>
        </p:nvCxnSpPr>
        <p:spPr>
          <a:xfrm flipH="1" flipV="1">
            <a:off x="5102415" y="3805590"/>
            <a:ext cx="993585" cy="554654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ABEB0A-9E95-D64B-9050-79F371CB6F2E}"/>
              </a:ext>
            </a:extLst>
          </p:cNvPr>
          <p:cNvCxnSpPr>
            <a:cxnSpLocks/>
          </p:cNvCxnSpPr>
          <p:nvPr/>
        </p:nvCxnSpPr>
        <p:spPr>
          <a:xfrm flipV="1">
            <a:off x="7911966" y="3805590"/>
            <a:ext cx="837398" cy="670158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2D5178F-F3FB-0E43-8ACD-996804200B90}"/>
              </a:ext>
            </a:extLst>
          </p:cNvPr>
          <p:cNvSpPr txBox="1"/>
          <p:nvPr/>
        </p:nvSpPr>
        <p:spPr>
          <a:xfrm>
            <a:off x="6128480" y="4365186"/>
            <a:ext cx="2071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Why do we do this?</a:t>
            </a:r>
            <a:endParaRPr lang="en-US" sz="2400" u="sng" dirty="0">
              <a:solidFill>
                <a:srgbClr val="A514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45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Next</a:t>
            </a:r>
            <a:r>
              <a:rPr lang="en-US" dirty="0"/>
              <a:t>, find and subtract capital expenditures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Free cash flow = </a:t>
                </a:r>
              </a:p>
              <a:p>
                <a:endParaRPr lang="en-US" sz="1000" dirty="0"/>
              </a:p>
              <a:p>
                <a:pPr marL="457200" lvl="1" indent="0">
                  <a:buNone/>
                </a:pPr>
                <a:r>
                  <a:rPr lang="en-US" dirty="0"/>
                  <a:t>EBIT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(1 – Tax rate) + depreciation</a:t>
                </a:r>
              </a:p>
              <a:p>
                <a:pPr lvl="1"/>
                <a:r>
                  <a:rPr lang="en-US" dirty="0"/>
                  <a:t>Capital expenditures (</a:t>
                </a:r>
                <a:r>
                  <a:rPr lang="en-US" dirty="0" err="1"/>
                  <a:t>CapEx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Change in net working capital (∆NWC)</a:t>
                </a:r>
              </a:p>
              <a:p>
                <a:endParaRPr lang="en-US" sz="1000" dirty="0"/>
              </a:p>
              <a:p>
                <a:r>
                  <a:rPr lang="en-US" dirty="0"/>
                  <a:t>First step doesn’t include cash flows from capital spending, only the depreciation; so, we now account for that…</a:t>
                </a:r>
              </a:p>
              <a:p>
                <a:endParaRPr lang="en-US" sz="800" dirty="0"/>
              </a:p>
              <a:p>
                <a:pPr lvl="2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5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1810628-8854-6C42-8AAD-927EEEDAE6A9}"/>
              </a:ext>
            </a:extLst>
          </p:cNvPr>
          <p:cNvSpPr/>
          <p:nvPr/>
        </p:nvSpPr>
        <p:spPr>
          <a:xfrm>
            <a:off x="948801" y="2743200"/>
            <a:ext cx="5885137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46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</a:t>
            </a:r>
            <a:r>
              <a:rPr lang="en-US" dirty="0" err="1"/>
              <a:t>CapEx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will need to estimate </a:t>
            </a:r>
            <a:r>
              <a:rPr lang="en-US" dirty="0" err="1"/>
              <a:t>CapEx</a:t>
            </a:r>
            <a:r>
              <a:rPr lang="en-US" dirty="0"/>
              <a:t> for each year of project</a:t>
            </a:r>
          </a:p>
          <a:p>
            <a:r>
              <a:rPr lang="en-US" dirty="0"/>
              <a:t>And don’t forget to account for any cash flows the firm gets when it sells off fixed assets, which are </a:t>
            </a:r>
            <a:r>
              <a:rPr lang="en-US" b="1" u="sng" dirty="0"/>
              <a:t>negative</a:t>
            </a:r>
            <a:r>
              <a:rPr lang="en-US" dirty="0"/>
              <a:t> </a:t>
            </a:r>
            <a:r>
              <a:rPr lang="en-US" dirty="0" err="1"/>
              <a:t>CapEx</a:t>
            </a:r>
            <a:r>
              <a:rPr lang="en-US" dirty="0"/>
              <a:t> flows</a:t>
            </a:r>
          </a:p>
          <a:p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514215-A2A3-0E51-E92F-CA47EC79CD7B}"/>
              </a:ext>
            </a:extLst>
          </p:cNvPr>
          <p:cNvSpPr txBox="1"/>
          <p:nvPr/>
        </p:nvSpPr>
        <p:spPr>
          <a:xfrm>
            <a:off x="4782955" y="4057471"/>
            <a:ext cx="5489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next slide for how to calculate this </a:t>
            </a:r>
            <a:r>
              <a:rPr lang="en-US" sz="2400" u="sng" dirty="0"/>
              <a:t>after-tax salvage value</a:t>
            </a:r>
            <a:r>
              <a:rPr lang="en-US" sz="2400" dirty="0"/>
              <a:t> cash flow</a:t>
            </a:r>
          </a:p>
          <a:p>
            <a:endParaRPr lang="en-US" sz="2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F6D4DD7-5A48-1A45-65E4-EFE408466768}"/>
              </a:ext>
            </a:extLst>
          </p:cNvPr>
          <p:cNvCxnSpPr>
            <a:cxnSpLocks/>
          </p:cNvCxnSpPr>
          <p:nvPr/>
        </p:nvCxnSpPr>
        <p:spPr>
          <a:xfrm flipV="1">
            <a:off x="7125841" y="3164734"/>
            <a:ext cx="0" cy="824477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07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</a:t>
            </a:r>
            <a:r>
              <a:rPr lang="en-US" u="sng" dirty="0"/>
              <a:t>after-tax salvage value</a:t>
            </a:r>
            <a:r>
              <a:rPr lang="en-US" dirty="0"/>
              <a:t> cash flow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13263"/>
            <a:ext cx="10856148" cy="4778022"/>
          </a:xfrm>
        </p:spPr>
        <p:txBody>
          <a:bodyPr>
            <a:normAutofit/>
          </a:bodyPr>
          <a:lstStyle/>
          <a:p>
            <a:r>
              <a:rPr lang="en-US" dirty="0"/>
              <a:t>First, find capital gain from sale of the asset: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800" dirty="0"/>
          </a:p>
          <a:p>
            <a:r>
              <a:rPr lang="en-US" dirty="0"/>
              <a:t>Then, find </a:t>
            </a:r>
            <a:r>
              <a:rPr lang="en-US" u="sng" dirty="0"/>
              <a:t>after-tax</a:t>
            </a:r>
            <a:r>
              <a:rPr lang="en-US" dirty="0"/>
              <a:t> cash flow from the asset sale:</a:t>
            </a:r>
          </a:p>
          <a:p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F4C0D5-F344-7B44-8798-7F9C8767E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021" y="2379378"/>
            <a:ext cx="4775200" cy="520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BCBF46-7777-E84F-9A5B-D2F186AE7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971" y="2951654"/>
            <a:ext cx="6591300" cy="584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025376-4B07-F740-8FF5-0FA5D3902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8371" y="4534065"/>
            <a:ext cx="8826500" cy="533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CC5627-F56A-A847-B4B9-64B90AA4B2E8}"/>
              </a:ext>
            </a:extLst>
          </p:cNvPr>
          <p:cNvSpPr txBox="1"/>
          <p:nvPr/>
        </p:nvSpPr>
        <p:spPr>
          <a:xfrm>
            <a:off x="6260419" y="5676222"/>
            <a:ext cx="4157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Why does the government tax the capital gain?</a:t>
            </a:r>
            <a:endParaRPr lang="en-US" sz="2400" u="sng" dirty="0">
              <a:solidFill>
                <a:srgbClr val="A51417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9924DF-C0A6-1B48-B4F9-0EF8B2001AF3}"/>
              </a:ext>
            </a:extLst>
          </p:cNvPr>
          <p:cNvCxnSpPr>
            <a:cxnSpLocks/>
          </p:cNvCxnSpPr>
          <p:nvPr/>
        </p:nvCxnSpPr>
        <p:spPr>
          <a:xfrm flipV="1">
            <a:off x="7951493" y="5144853"/>
            <a:ext cx="0" cy="531369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85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Last step</a:t>
            </a:r>
            <a:r>
              <a:rPr lang="en-US" dirty="0"/>
              <a:t>, subtract ∆NWC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518" y="1600200"/>
                <a:ext cx="11132429" cy="4778022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Free cash flow = </a:t>
                </a:r>
              </a:p>
              <a:p>
                <a:endParaRPr lang="en-US" sz="1000" dirty="0"/>
              </a:p>
              <a:p>
                <a:pPr marL="457200" lvl="1" indent="0">
                  <a:buNone/>
                </a:pPr>
                <a:r>
                  <a:rPr lang="en-US" dirty="0"/>
                  <a:t>EBIT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(1 – Tax rate) + depreciation</a:t>
                </a:r>
              </a:p>
              <a:p>
                <a:pPr lvl="1"/>
                <a:r>
                  <a:rPr lang="en-US" dirty="0"/>
                  <a:t>Capital expenditures (</a:t>
                </a:r>
                <a:r>
                  <a:rPr lang="en-US" dirty="0" err="1"/>
                  <a:t>CapEx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Change in net working capital (∆NWC)</a:t>
                </a:r>
              </a:p>
              <a:p>
                <a:endParaRPr lang="en-US" sz="10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See next 2 slides for examples of why we make this adjustment</a:t>
                </a:r>
              </a:p>
              <a:p>
                <a:endParaRPr lang="en-US" sz="800" dirty="0"/>
              </a:p>
              <a:p>
                <a:pPr lvl="2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18" y="1600200"/>
                <a:ext cx="11132429" cy="4778022"/>
              </a:xfrm>
              <a:blipFill>
                <a:blip r:embed="rId3"/>
                <a:stretch>
                  <a:fillRect l="-911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1810628-8854-6C42-8AAD-927EEEDAE6A9}"/>
              </a:ext>
            </a:extLst>
          </p:cNvPr>
          <p:cNvSpPr/>
          <p:nvPr/>
        </p:nvSpPr>
        <p:spPr>
          <a:xfrm>
            <a:off x="948801" y="3193181"/>
            <a:ext cx="5885137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E9DC13-AE7B-0B48-908D-FFA11908E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950" y="4107120"/>
            <a:ext cx="81661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Example #1 </a:t>
            </a:r>
            <a:r>
              <a:rPr lang="en-US" dirty="0"/>
              <a:t>– Accounts receivable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988049" cy="4778022"/>
          </a:xfrm>
        </p:spPr>
        <p:txBody>
          <a:bodyPr>
            <a:normAutofit/>
          </a:bodyPr>
          <a:lstStyle/>
          <a:p>
            <a:r>
              <a:rPr lang="en-US" dirty="0"/>
              <a:t>Why is subtracting changes in accounts receivable needed…</a:t>
            </a:r>
          </a:p>
          <a:p>
            <a:endParaRPr lang="en-US" sz="800" dirty="0"/>
          </a:p>
          <a:p>
            <a:pPr lvl="1"/>
            <a:r>
              <a:rPr lang="en-US" dirty="0">
                <a:solidFill>
                  <a:srgbClr val="A51417"/>
                </a:solidFill>
              </a:rPr>
              <a:t>When there is an increase in accounts receivable?</a:t>
            </a:r>
          </a:p>
          <a:p>
            <a:pPr lvl="1"/>
            <a:r>
              <a:rPr lang="en-US" dirty="0">
                <a:solidFill>
                  <a:srgbClr val="A51417"/>
                </a:solidFill>
              </a:rPr>
              <a:t>When there is a decrease in accounts receivable?</a:t>
            </a:r>
          </a:p>
          <a:p>
            <a:endParaRPr lang="en-US" sz="1000" dirty="0"/>
          </a:p>
          <a:p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80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Example #2 </a:t>
            </a:r>
            <a:r>
              <a:rPr lang="en-US" dirty="0"/>
              <a:t>– Inventory adjustment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988049" cy="4778022"/>
          </a:xfrm>
        </p:spPr>
        <p:txBody>
          <a:bodyPr>
            <a:normAutofit/>
          </a:bodyPr>
          <a:lstStyle/>
          <a:p>
            <a:r>
              <a:rPr lang="en-US" dirty="0"/>
              <a:t>Why is subtracting changes in inventories needed…</a:t>
            </a:r>
          </a:p>
          <a:p>
            <a:endParaRPr lang="en-US" sz="800" dirty="0"/>
          </a:p>
          <a:p>
            <a:pPr lvl="1"/>
            <a:r>
              <a:rPr lang="en-US" dirty="0">
                <a:solidFill>
                  <a:srgbClr val="A51417"/>
                </a:solidFill>
              </a:rPr>
              <a:t>When there is an increase in inventory?</a:t>
            </a:r>
          </a:p>
          <a:p>
            <a:pPr lvl="1"/>
            <a:r>
              <a:rPr lang="en-US" dirty="0">
                <a:solidFill>
                  <a:srgbClr val="A51417"/>
                </a:solidFill>
              </a:rPr>
              <a:t>When there is a decrease in inventory?</a:t>
            </a:r>
          </a:p>
          <a:p>
            <a:endParaRPr lang="en-US" sz="1000" dirty="0"/>
          </a:p>
          <a:p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42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find ∆NWC, you first need to estimate NWC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0988049" cy="4778022"/>
          </a:xfrm>
        </p:spPr>
        <p:txBody>
          <a:bodyPr>
            <a:normAutofit/>
          </a:bodyPr>
          <a:lstStyle/>
          <a:p>
            <a:r>
              <a:rPr lang="en-US" dirty="0"/>
              <a:t>Do this by estimating the amount of each current asset &amp; liability the investment will entail in future years; e.g., </a:t>
            </a:r>
          </a:p>
          <a:p>
            <a:endParaRPr lang="en-US" sz="800" dirty="0"/>
          </a:p>
          <a:p>
            <a:pPr lvl="1"/>
            <a:r>
              <a:rPr lang="en-US" dirty="0">
                <a:solidFill>
                  <a:srgbClr val="566568"/>
                </a:solidFill>
              </a:rPr>
              <a:t>What is predicted account receivables in each year of investment?</a:t>
            </a:r>
          </a:p>
          <a:p>
            <a:pPr lvl="1"/>
            <a:r>
              <a:rPr lang="en-US" dirty="0">
                <a:solidFill>
                  <a:srgbClr val="566568"/>
                </a:solidFill>
              </a:rPr>
              <a:t>What is predicted amount of inventory needed each year?</a:t>
            </a:r>
          </a:p>
          <a:p>
            <a:endParaRPr lang="en-US" sz="800" dirty="0"/>
          </a:p>
          <a:p>
            <a:r>
              <a:rPr lang="en-US" b="1" u="sng" dirty="0"/>
              <a:t>And</a:t>
            </a:r>
            <a:r>
              <a:rPr lang="en-US" dirty="0"/>
              <a:t> in last year of investment, you set NWC to zero </a:t>
            </a:r>
            <a:r>
              <a:rPr lang="en-US" b="1" dirty="0">
                <a:solidFill>
                  <a:srgbClr val="A51417"/>
                </a:solidFill>
              </a:rPr>
              <a:t>[Why?]</a:t>
            </a:r>
          </a:p>
          <a:p>
            <a:endParaRPr lang="en-US" sz="1000" dirty="0"/>
          </a:p>
          <a:p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83040-950A-EF41-B3DC-8EE61DDF54CD}"/>
              </a:ext>
            </a:extLst>
          </p:cNvPr>
          <p:cNvSpPr txBox="1"/>
          <p:nvPr/>
        </p:nvSpPr>
        <p:spPr>
          <a:xfrm>
            <a:off x="437137" y="4965876"/>
            <a:ext cx="8141118" cy="954107"/>
          </a:xfrm>
          <a:prstGeom prst="rect">
            <a:avLst/>
          </a:prstGeom>
          <a:solidFill>
            <a:srgbClr val="566568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This last step is often referred to as “recapturing” or “recovering” working capital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F8043E1-029C-C34D-8E6A-9D89C90F837F}"/>
              </a:ext>
            </a:extLst>
          </p:cNvPr>
          <p:cNvCxnSpPr>
            <a:cxnSpLocks/>
          </p:cNvCxnSpPr>
          <p:nvPr/>
        </p:nvCxnSpPr>
        <p:spPr>
          <a:xfrm flipV="1">
            <a:off x="2638347" y="4252861"/>
            <a:ext cx="0" cy="5304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408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</a:t>
            </a:r>
            <a:r>
              <a:rPr lang="en-US" i="1" dirty="0"/>
              <a:t>[Examples 9.4-9.5 of textbook]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8520" y="1600200"/>
            <a:ext cx="4019358" cy="4778022"/>
          </a:xfrm>
        </p:spPr>
        <p:txBody>
          <a:bodyPr>
            <a:normAutofit/>
          </a:bodyPr>
          <a:lstStyle/>
          <a:p>
            <a:r>
              <a:rPr lang="en-US" sz="2000" b="1" dirty="0"/>
              <a:t>Please take 10 minutes to answer the below questions.</a:t>
            </a:r>
          </a:p>
          <a:p>
            <a:endParaRPr lang="en-US" sz="800" dirty="0"/>
          </a:p>
          <a:p>
            <a:r>
              <a:rPr lang="en-US" sz="2000" dirty="0"/>
              <a:t>Cisco is thinking about developing a new networking device and has created these cash flow estimates.  If the investment will cost $7.5 million (and has no salvage value), what is the incremental FCF each year?  And if the appropriate cost of capital is 12%, what is the NPV?</a:t>
            </a:r>
          </a:p>
        </p:txBody>
      </p:sp>
      <p:pic>
        <p:nvPicPr>
          <p:cNvPr id="3" name="Picture 2" descr="Application, table&#10;&#10;Description automatically generated">
            <a:extLst>
              <a:ext uri="{FF2B5EF4-FFF2-40B4-BE49-F238E27FC236}">
                <a16:creationId xmlns:a16="http://schemas.microsoft.com/office/drawing/2014/main" id="{7DC02996-6BDF-504B-8DCA-B85966CBF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297" y="1700562"/>
            <a:ext cx="6691974" cy="2355652"/>
          </a:xfrm>
          <a:prstGeom prst="rect">
            <a:avLst/>
          </a:prstGeom>
        </p:spPr>
      </p:pic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B9203F92-1F67-9845-B5FB-FFCD09A2A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297" y="4339138"/>
            <a:ext cx="6691974" cy="173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551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</a:t>
            </a:r>
            <a:r>
              <a:rPr lang="en-US" i="1" dirty="0"/>
              <a:t>[available on Canvas]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now work </a:t>
            </a:r>
            <a:r>
              <a:rPr lang="en-US" u="sng" dirty="0"/>
              <a:t>together</a:t>
            </a:r>
            <a:r>
              <a:rPr lang="en-US" dirty="0"/>
              <a:t> to build our own pro forma estimates</a:t>
            </a:r>
          </a:p>
          <a:p>
            <a:r>
              <a:rPr lang="en-US" dirty="0"/>
              <a:t>Setup is as follows &amp; detailed projections are on next slide</a:t>
            </a:r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E57E246B-045B-E64A-925F-51C27114D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08" y="3063243"/>
            <a:ext cx="11204222" cy="277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133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</a:t>
            </a:r>
            <a:r>
              <a:rPr lang="en-US" i="1" dirty="0"/>
              <a:t>[see handout]</a:t>
            </a:r>
          </a:p>
        </p:txBody>
      </p:sp>
      <p:pic>
        <p:nvPicPr>
          <p:cNvPr id="13" name="Picture 12" descr="Text, letter&#10;&#10;Description automatically generated">
            <a:extLst>
              <a:ext uri="{FF2B5EF4-FFF2-40B4-BE49-F238E27FC236}">
                <a16:creationId xmlns:a16="http://schemas.microsoft.com/office/drawing/2014/main" id="{3F506426-3618-AC45-B47A-05949687F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72" y="331159"/>
            <a:ext cx="11336055" cy="619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28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</a:t>
            </a:r>
            <a:r>
              <a:rPr lang="en-US" i="1" dirty="0"/>
              <a:t>[continued]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2937" y="4634630"/>
            <a:ext cx="10856148" cy="1593279"/>
          </a:xfrm>
        </p:spPr>
        <p:txBody>
          <a:bodyPr/>
          <a:lstStyle/>
          <a:p>
            <a:r>
              <a:rPr lang="en-US" b="1" dirty="0"/>
              <a:t>Let’s now build out the necessary MS Excel file and work through the solution one piece at a time…</a:t>
            </a:r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E5347B05-A9AB-D548-9489-3A8EF67C4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95" y="1852375"/>
            <a:ext cx="11077210" cy="252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8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Practice solution </a:t>
            </a:r>
            <a:r>
              <a:rPr lang="en-US" i="1" dirty="0"/>
              <a:t>[available on Canvas]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67926" y="1891430"/>
            <a:ext cx="10856148" cy="2344841"/>
          </a:xfrm>
        </p:spPr>
        <p:txBody>
          <a:bodyPr>
            <a:normAutofit/>
          </a:bodyPr>
          <a:lstStyle/>
          <a:p>
            <a:r>
              <a:rPr lang="en-US" dirty="0"/>
              <a:t>If the solution we just worked through in class together went too quickly for you, please see the completed solution on Canvas</a:t>
            </a:r>
          </a:p>
          <a:p>
            <a:endParaRPr lang="en-US" sz="800" dirty="0"/>
          </a:p>
          <a:p>
            <a:pPr lvl="1"/>
            <a:r>
              <a:rPr lang="en-US" dirty="0"/>
              <a:t>See MS Excel file “FCF and NPV Practice Solution” under handouts</a:t>
            </a:r>
          </a:p>
          <a:p>
            <a:pPr lvl="1"/>
            <a:r>
              <a:rPr lang="en-US" dirty="0"/>
              <a:t>You can see solution formulas used by clicking on each cell</a:t>
            </a:r>
          </a:p>
        </p:txBody>
      </p:sp>
    </p:spTree>
    <p:extLst>
      <p:ext uri="{BB962C8B-B14F-4D97-AF65-F5344CB8AC3E}">
        <p14:creationId xmlns:p14="http://schemas.microsoft.com/office/powerpoint/2010/main" val="264665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for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Continue “capital budgeting” decision by discussing how to calculate </a:t>
            </a:r>
            <a:r>
              <a:rPr lang="en-US" u="sng" dirty="0"/>
              <a:t>cash flows</a:t>
            </a:r>
            <a:r>
              <a:rPr lang="en-US" dirty="0"/>
              <a:t> for project valuation</a:t>
            </a:r>
          </a:p>
          <a:p>
            <a:endParaRPr lang="en-US" sz="800" dirty="0"/>
          </a:p>
          <a:p>
            <a:pPr lvl="1"/>
            <a:r>
              <a:rPr lang="en-US" dirty="0"/>
              <a:t>Discuss “free cash flows” (FCFs)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Define and explain FCFs</a:t>
            </a:r>
          </a:p>
          <a:p>
            <a:pPr lvl="2"/>
            <a:r>
              <a:rPr lang="en-US" dirty="0"/>
              <a:t>Steps to finding a project’s FCFs</a:t>
            </a:r>
          </a:p>
          <a:p>
            <a:pPr lvl="2"/>
            <a:endParaRPr lang="en-US" sz="800" dirty="0"/>
          </a:p>
          <a:p>
            <a:pPr lvl="1"/>
            <a:r>
              <a:rPr lang="en-US" dirty="0"/>
              <a:t>Miscellaneous issues with FCFs</a:t>
            </a:r>
            <a:endParaRPr lang="en-US" sz="800" dirty="0"/>
          </a:p>
          <a:p>
            <a:pPr lvl="1"/>
            <a:r>
              <a:rPr lang="en-US" dirty="0"/>
              <a:t>Apply tools using “Worldwide Paper” case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1FC2F-506F-D749-8742-7D69A32A7334}"/>
              </a:ext>
            </a:extLst>
          </p:cNvPr>
          <p:cNvSpPr/>
          <p:nvPr/>
        </p:nvSpPr>
        <p:spPr>
          <a:xfrm>
            <a:off x="1034911" y="4123847"/>
            <a:ext cx="6168092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7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doing FCF case… a few more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45346" cy="4778022"/>
          </a:xfrm>
        </p:spPr>
        <p:txBody>
          <a:bodyPr>
            <a:normAutofit/>
          </a:bodyPr>
          <a:lstStyle/>
          <a:p>
            <a:r>
              <a:rPr lang="en-US" dirty="0"/>
              <a:t>Calculating depreciation</a:t>
            </a:r>
          </a:p>
          <a:p>
            <a:r>
              <a:rPr lang="en-US" dirty="0"/>
              <a:t>Negative tax expenses</a:t>
            </a:r>
          </a:p>
          <a:p>
            <a:r>
              <a:rPr lang="en-US" dirty="0"/>
              <a:t>Analyzing the NPV estimation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5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Calculating depreciation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Firms always depreciate assets to a book value of zero </a:t>
            </a:r>
            <a:r>
              <a:rPr lang="en-US" b="1" dirty="0">
                <a:solidFill>
                  <a:srgbClr val="A51417"/>
                </a:solidFill>
              </a:rPr>
              <a:t>[Why?]</a:t>
            </a:r>
          </a:p>
          <a:p>
            <a:r>
              <a:rPr lang="en-US" dirty="0"/>
              <a:t>Firms always want to depreciate as quickly as possible </a:t>
            </a:r>
            <a:r>
              <a:rPr lang="en-US" b="1" dirty="0">
                <a:solidFill>
                  <a:srgbClr val="A51417"/>
                </a:solidFill>
              </a:rPr>
              <a:t>[Why?]</a:t>
            </a:r>
          </a:p>
          <a:p>
            <a:r>
              <a:rPr lang="en-US" dirty="0"/>
              <a:t>So, government sets rules on how quickly assets can be depreciated; </a:t>
            </a:r>
            <a:r>
              <a:rPr lang="en-US" b="1" dirty="0"/>
              <a:t>Modified Accelerated Cost Recovery System</a:t>
            </a:r>
          </a:p>
          <a:p>
            <a:endParaRPr lang="en-US" sz="800" dirty="0"/>
          </a:p>
          <a:p>
            <a:pPr lvl="1"/>
            <a:r>
              <a:rPr lang="en-US" dirty="0"/>
              <a:t>Specifies # of years each type of asset is depreciated over</a:t>
            </a:r>
          </a:p>
          <a:p>
            <a:pPr lvl="1"/>
            <a:r>
              <a:rPr lang="en-US" dirty="0"/>
              <a:t>And specifies fraction of purchase price firm can depreciate each year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21391-8F8C-194E-9348-8A262C94FD00}"/>
              </a:ext>
            </a:extLst>
          </p:cNvPr>
          <p:cNvSpPr txBox="1"/>
          <p:nvPr/>
        </p:nvSpPr>
        <p:spPr>
          <a:xfrm>
            <a:off x="2546842" y="5331735"/>
            <a:ext cx="3539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Will be better than “straight-line” approach shown earlier</a:t>
            </a:r>
            <a:endParaRPr lang="en-US" u="sng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140FA4-CDF0-0A4D-BF38-69C770C679D3}"/>
              </a:ext>
            </a:extLst>
          </p:cNvPr>
          <p:cNvCxnSpPr>
            <a:cxnSpLocks/>
          </p:cNvCxnSpPr>
          <p:nvPr/>
        </p:nvCxnSpPr>
        <p:spPr>
          <a:xfrm flipH="1" flipV="1">
            <a:off x="3920088" y="4611468"/>
            <a:ext cx="1" cy="646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33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MACRS depreciation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600200"/>
            <a:ext cx="5477632" cy="4778022"/>
          </a:xfrm>
        </p:spPr>
        <p:txBody>
          <a:bodyPr>
            <a:normAutofit/>
          </a:bodyPr>
          <a:lstStyle/>
          <a:p>
            <a:r>
              <a:rPr lang="en-US" dirty="0"/>
              <a:t>Table shows percentage of asset’s cost that may be depreciated each year based on allowed recovery period</a:t>
            </a:r>
          </a:p>
          <a:p>
            <a:endParaRPr lang="en-US" sz="800" dirty="0"/>
          </a:p>
          <a:p>
            <a:pPr lvl="1"/>
            <a:r>
              <a:rPr lang="en-US" i="1" dirty="0"/>
              <a:t>See Chapter 9 appendix if you are interested in more details</a:t>
            </a:r>
            <a:endParaRPr lang="en-US" b="1" i="1" dirty="0">
              <a:solidFill>
                <a:srgbClr val="A51417"/>
              </a:solidFill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9BC1C084-4061-0245-B891-76087E129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264" y="437444"/>
            <a:ext cx="5477631" cy="5501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410FFE-77D1-6E46-8C92-9C76D3394E06}"/>
              </a:ext>
            </a:extLst>
          </p:cNvPr>
          <p:cNvSpPr txBox="1"/>
          <p:nvPr/>
        </p:nvSpPr>
        <p:spPr>
          <a:xfrm>
            <a:off x="6425264" y="6051348"/>
            <a:ext cx="3748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Table 9.4: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F45D8-C886-9B47-B517-755E1732A9C7}"/>
              </a:ext>
            </a:extLst>
          </p:cNvPr>
          <p:cNvSpPr txBox="1"/>
          <p:nvPr/>
        </p:nvSpPr>
        <p:spPr>
          <a:xfrm>
            <a:off x="7413798" y="4118952"/>
            <a:ext cx="1932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Columns always sum to 100%</a:t>
            </a:r>
            <a:endParaRPr lang="en-US" u="sng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C332FE-7A25-B04C-82A0-F6395115DB5A}"/>
              </a:ext>
            </a:extLst>
          </p:cNvPr>
          <p:cNvCxnSpPr>
            <a:cxnSpLocks/>
          </p:cNvCxnSpPr>
          <p:nvPr/>
        </p:nvCxnSpPr>
        <p:spPr>
          <a:xfrm flipH="1" flipV="1">
            <a:off x="8039702" y="2784449"/>
            <a:ext cx="259881" cy="1334503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1C09F7-BDC7-B84D-B7CC-821B1225635E}"/>
              </a:ext>
            </a:extLst>
          </p:cNvPr>
          <p:cNvCxnSpPr>
            <a:cxnSpLocks/>
          </p:cNvCxnSpPr>
          <p:nvPr/>
        </p:nvCxnSpPr>
        <p:spPr>
          <a:xfrm flipV="1">
            <a:off x="8766388" y="3584866"/>
            <a:ext cx="112935" cy="534086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13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Negative taxes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Sometimes, estimated EBIT of project is negative</a:t>
                </a:r>
              </a:p>
              <a:p>
                <a:r>
                  <a:rPr lang="en-US" dirty="0"/>
                  <a:t>In that case, your projected free cash flow will include a </a:t>
                </a:r>
                <a:r>
                  <a:rPr lang="en-US" u="sng" dirty="0"/>
                  <a:t>negative</a:t>
                </a:r>
                <a:r>
                  <a:rPr lang="en-US" dirty="0"/>
                  <a:t> tax expense, EBIT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Tax rate… </a:t>
                </a:r>
                <a:r>
                  <a:rPr lang="en-US" b="1" dirty="0">
                    <a:solidFill>
                      <a:srgbClr val="A51417"/>
                    </a:solidFill>
                  </a:rPr>
                  <a:t>Why do we include that?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5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28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Analyzing the NPV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Estimate of cash flows for NPV requires </a:t>
            </a:r>
            <a:r>
              <a:rPr lang="en-US" u="sng" dirty="0"/>
              <a:t>lots</a:t>
            </a:r>
            <a:r>
              <a:rPr lang="en-US" dirty="0"/>
              <a:t> of assumptions!</a:t>
            </a:r>
          </a:p>
          <a:p>
            <a:r>
              <a:rPr lang="en-US" dirty="0"/>
              <a:t>Given that, it is </a:t>
            </a:r>
            <a:r>
              <a:rPr lang="en-US" i="1" dirty="0"/>
              <a:t>always</a:t>
            </a:r>
            <a:r>
              <a:rPr lang="en-US" dirty="0"/>
              <a:t> important to determine what assumptions are most important in yielding a positive NPV</a:t>
            </a:r>
          </a:p>
          <a:p>
            <a:pPr lvl="1"/>
            <a:endParaRPr lang="en-US" b="1" dirty="0">
              <a:solidFill>
                <a:srgbClr val="A51417"/>
              </a:solidFill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58C79-436F-0542-8706-0EB3E5AC1779}"/>
              </a:ext>
            </a:extLst>
          </p:cNvPr>
          <p:cNvSpPr txBox="1"/>
          <p:nvPr/>
        </p:nvSpPr>
        <p:spPr>
          <a:xfrm>
            <a:off x="1896183" y="3995885"/>
            <a:ext cx="46332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Intuitively, what are some ways you think you could do that?</a:t>
            </a:r>
            <a:endParaRPr lang="en-US" sz="2400" u="sng" dirty="0">
              <a:solidFill>
                <a:srgbClr val="A51417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DA8260-B5B8-BB4F-A801-F85BEAC63B53}"/>
              </a:ext>
            </a:extLst>
          </p:cNvPr>
          <p:cNvCxnSpPr>
            <a:cxnSpLocks/>
          </p:cNvCxnSpPr>
          <p:nvPr/>
        </p:nvCxnSpPr>
        <p:spPr>
          <a:xfrm flipV="1">
            <a:off x="3831880" y="3132629"/>
            <a:ext cx="0" cy="863256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27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NPV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Sensitivity analysis</a:t>
            </a:r>
          </a:p>
          <a:p>
            <a:endParaRPr lang="en-US" sz="400" dirty="0"/>
          </a:p>
          <a:p>
            <a:pPr lvl="1"/>
            <a:r>
              <a:rPr lang="en-US" dirty="0"/>
              <a:t>Changing only one parameter at a time, calculate the NPV under the best- and worst-case assumption for each parameter…            </a:t>
            </a:r>
            <a:r>
              <a:rPr lang="en-US" i="1" dirty="0"/>
              <a:t>Parameters causing big NPV swings require more attention!</a:t>
            </a:r>
          </a:p>
          <a:p>
            <a:endParaRPr lang="en-US" sz="800" dirty="0"/>
          </a:p>
          <a:p>
            <a:r>
              <a:rPr lang="en-US" b="1" dirty="0"/>
              <a:t>Break-even analysis</a:t>
            </a:r>
          </a:p>
          <a:p>
            <a:endParaRPr lang="en-US" sz="400" dirty="0"/>
          </a:p>
          <a:p>
            <a:pPr lvl="1"/>
            <a:r>
              <a:rPr lang="en-US" dirty="0"/>
              <a:t>For each parameter, find the level at which NPV is zero (holding all other assumptions constant)... </a:t>
            </a:r>
            <a:r>
              <a:rPr lang="en-US" i="1" dirty="0"/>
              <a:t>Are you confident you can hit that level?</a:t>
            </a:r>
          </a:p>
          <a:p>
            <a:pPr lvl="1"/>
            <a:endParaRPr lang="en-US" sz="800" i="1" dirty="0"/>
          </a:p>
          <a:p>
            <a:r>
              <a:rPr lang="en-US" b="1" dirty="0"/>
              <a:t>Scenario analysis</a:t>
            </a:r>
          </a:p>
          <a:p>
            <a:endParaRPr lang="en-US" sz="400" b="1" dirty="0"/>
          </a:p>
          <a:p>
            <a:pPr lvl="1"/>
            <a:r>
              <a:rPr lang="en-US" dirty="0"/>
              <a:t>What does NPV look like if multiple parameters change at once…          </a:t>
            </a:r>
            <a:r>
              <a:rPr lang="en-US" i="1" dirty="0"/>
              <a:t>E.g., what if economy doesn’t bounce back after Covid?</a:t>
            </a:r>
          </a:p>
          <a:p>
            <a:pPr lvl="1"/>
            <a:endParaRPr lang="en-US" b="1" dirty="0">
              <a:solidFill>
                <a:srgbClr val="A51417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on doing these types of project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Build estimates in MS Excel in the following way:</a:t>
            </a:r>
          </a:p>
          <a:p>
            <a:endParaRPr lang="en-US" sz="800" b="1" dirty="0"/>
          </a:p>
          <a:p>
            <a:pPr lvl="1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tab includes &amp; organizes </a:t>
            </a:r>
            <a:r>
              <a:rPr lang="en-US" b="1" u="sng" dirty="0"/>
              <a:t>all</a:t>
            </a:r>
            <a:r>
              <a:rPr lang="en-US" dirty="0"/>
              <a:t> assumptions being made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tab includes incremental cash flow estimates (by year) that are constructed by referencing values on the 1</a:t>
            </a:r>
            <a:r>
              <a:rPr lang="en-US" baseline="30000" dirty="0"/>
              <a:t>st</a:t>
            </a:r>
            <a:r>
              <a:rPr lang="en-US" dirty="0"/>
              <a:t> tab</a:t>
            </a:r>
          </a:p>
          <a:p>
            <a:pPr lvl="1"/>
            <a:endParaRPr lang="en-US" sz="800" dirty="0"/>
          </a:p>
          <a:p>
            <a:pPr lvl="2"/>
            <a:r>
              <a:rPr lang="en-US" i="1" u="sng" dirty="0"/>
              <a:t>Never</a:t>
            </a:r>
            <a:r>
              <a:rPr lang="en-US" i="1" dirty="0"/>
              <a:t> type a value directly in this 2nd tab</a:t>
            </a:r>
          </a:p>
          <a:p>
            <a:pPr lvl="2"/>
            <a:r>
              <a:rPr lang="en-US" i="1" u="sng" dirty="0"/>
              <a:t>Every</a:t>
            </a:r>
            <a:r>
              <a:rPr lang="en-US" i="1" dirty="0"/>
              <a:t> cell on this 2</a:t>
            </a:r>
            <a:r>
              <a:rPr lang="en-US" i="1" baseline="30000" dirty="0"/>
              <a:t>nd</a:t>
            </a:r>
            <a:r>
              <a:rPr lang="en-US" i="1" dirty="0"/>
              <a:t> tab, including NPV calculation, should be a formula</a:t>
            </a:r>
          </a:p>
          <a:p>
            <a:endParaRPr lang="en-US" sz="800" b="1" dirty="0"/>
          </a:p>
          <a:p>
            <a:r>
              <a:rPr lang="en-US" b="1" dirty="0"/>
              <a:t>If done correctly, can then easily change assumptions on 1</a:t>
            </a:r>
            <a:r>
              <a:rPr lang="en-US" b="1" baseline="30000" dirty="0"/>
              <a:t>st</a:t>
            </a:r>
            <a:r>
              <a:rPr lang="en-US" b="1" dirty="0"/>
              <a:t> tab to see how cash flows &amp; NPV on 2</a:t>
            </a:r>
            <a:r>
              <a:rPr lang="en-US" b="1" baseline="30000" dirty="0"/>
              <a:t>nd</a:t>
            </a:r>
            <a:r>
              <a:rPr lang="en-US" b="1" dirty="0"/>
              <a:t> tab change</a:t>
            </a:r>
          </a:p>
          <a:p>
            <a:pPr lvl="1"/>
            <a:endParaRPr lang="en-US" b="1" dirty="0">
              <a:solidFill>
                <a:srgbClr val="A51417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16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MS Excel tips…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 one column (i.e., year) first, then copy &amp; paste those formulas to other columns (i.e., later years)</a:t>
            </a:r>
          </a:p>
          <a:p>
            <a:endParaRPr lang="en-US" sz="800" b="1" dirty="0"/>
          </a:p>
          <a:p>
            <a:pPr lvl="1"/>
            <a:r>
              <a:rPr lang="en-US" dirty="0"/>
              <a:t>Avoids redoing formulas again</a:t>
            </a:r>
          </a:p>
          <a:p>
            <a:pPr lvl="1"/>
            <a:r>
              <a:rPr lang="en-US" dirty="0"/>
              <a:t>To copy &amp; paste, just highlight column cells &amp; drag from bottom right box</a:t>
            </a:r>
          </a:p>
          <a:p>
            <a:endParaRPr lang="en-US" sz="800" u="sng" dirty="0"/>
          </a:p>
          <a:p>
            <a:r>
              <a:rPr lang="en-US" b="1" dirty="0"/>
              <a:t>Use “Command” + “T” to fix cell reference in formula</a:t>
            </a:r>
          </a:p>
          <a:p>
            <a:endParaRPr lang="en-US" sz="800" b="1" dirty="0"/>
          </a:p>
          <a:p>
            <a:pPr lvl="1"/>
            <a:r>
              <a:rPr lang="en-US" dirty="0"/>
              <a:t>This will add $ signs into selected cell reference that tells MS Excel to not change that cell when you later do the copy &amp; paste for other columns</a:t>
            </a:r>
          </a:p>
          <a:p>
            <a:pPr lvl="1"/>
            <a:endParaRPr lang="en-US" dirty="0"/>
          </a:p>
          <a:p>
            <a:pPr lvl="1"/>
            <a:endParaRPr lang="en-US" sz="800" dirty="0"/>
          </a:p>
          <a:p>
            <a:pPr lvl="1"/>
            <a:endParaRPr lang="en-US" b="1" dirty="0">
              <a:solidFill>
                <a:srgbClr val="A51417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73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assignment – </a:t>
            </a:r>
            <a:r>
              <a:rPr lang="en-US" i="1" dirty="0"/>
              <a:t>Worldwide Paper Company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8519" y="1600200"/>
            <a:ext cx="10901422" cy="4778022"/>
          </a:xfrm>
        </p:spPr>
        <p:txBody>
          <a:bodyPr/>
          <a:lstStyle/>
          <a:p>
            <a:r>
              <a:rPr lang="en-US"/>
              <a:t>Take 75 </a:t>
            </a:r>
            <a:r>
              <a:rPr lang="en-US" dirty="0"/>
              <a:t>minutes as group to answer questions on group case handout #3 about the “Worldwide Paper Company” (WPC)</a:t>
            </a:r>
          </a:p>
          <a:p>
            <a:endParaRPr lang="en-US" sz="800" dirty="0"/>
          </a:p>
          <a:p>
            <a:pPr lvl="1"/>
            <a:r>
              <a:rPr lang="en-US" b="1" dirty="0"/>
              <a:t>I would recommend starting with “Template” tab in the “FCF and NPV Practice Solution” MS Excel file, and making modifications to it as needed to account for assumptions in the WPC</a:t>
            </a:r>
          </a:p>
          <a:p>
            <a:pPr lvl="1"/>
            <a:r>
              <a:rPr lang="en-US" dirty="0"/>
              <a:t>Upload answers as MS Excel, MS Word, or MS PowerPoint file to Canvas</a:t>
            </a:r>
          </a:p>
        </p:txBody>
      </p:sp>
    </p:spTree>
    <p:extLst>
      <p:ext uri="{BB962C8B-B14F-4D97-AF65-F5344CB8AC3E}">
        <p14:creationId xmlns:p14="http://schemas.microsoft.com/office/powerpoint/2010/main" val="226147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Wrapping up FCF 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Before we wrap-up the FCF discussion, I want to show you one other powerful use of FCFs commonly done in finance…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4268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Valuing an </a:t>
            </a:r>
            <a:r>
              <a:rPr lang="en-US" b="1" u="sng" dirty="0"/>
              <a:t>entire</a:t>
            </a:r>
            <a:r>
              <a:rPr lang="en-US" b="1" dirty="0"/>
              <a:t> company </a:t>
            </a:r>
            <a:r>
              <a:rPr lang="en-US" dirty="0"/>
              <a:t>[not just a project]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also use DCF to value an entire firm!                               </a:t>
            </a:r>
            <a:r>
              <a:rPr lang="en-US" i="1" dirty="0"/>
              <a:t>[I.e., the value of all the firm’s assets &amp; projects]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C13D72-D696-6E44-956B-75B5425AF981}"/>
                  </a:ext>
                </a:extLst>
              </p:cNvPr>
              <p:cNvSpPr txBox="1"/>
              <p:nvPr/>
            </p:nvSpPr>
            <p:spPr>
              <a:xfrm>
                <a:off x="1545843" y="3557198"/>
                <a:ext cx="9336505" cy="870366"/>
              </a:xfrm>
              <a:prstGeom prst="rect">
                <a:avLst/>
              </a:prstGeom>
              <a:solidFill>
                <a:srgbClr val="E1E1E1">
                  <a:alpha val="30000"/>
                </a:srgb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𝐹𝑖𝑟𝑚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𝐶𝑎𝑠h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𝐹𝐶𝐹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C13D72-D696-6E44-956B-75B5425AF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843" y="3557198"/>
                <a:ext cx="9336505" cy="870366"/>
              </a:xfrm>
              <a:prstGeom prst="rect">
                <a:avLst/>
              </a:prstGeom>
              <a:blipFill>
                <a:blip r:embed="rId3"/>
                <a:stretch>
                  <a:fillRect t="-2899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ED2FDEE-FBB2-9B40-B21B-666A1753EB10}"/>
              </a:ext>
            </a:extLst>
          </p:cNvPr>
          <p:cNvSpPr txBox="1"/>
          <p:nvPr/>
        </p:nvSpPr>
        <p:spPr>
          <a:xfrm>
            <a:off x="9101786" y="2090188"/>
            <a:ext cx="2097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Now, use FCFs of </a:t>
            </a:r>
            <a:r>
              <a:rPr lang="en-US" sz="2100" u="sng" dirty="0"/>
              <a:t>entire</a:t>
            </a:r>
            <a:r>
              <a:rPr lang="en-US" sz="2100" dirty="0"/>
              <a:t> firm</a:t>
            </a:r>
            <a:endParaRPr lang="en-US" sz="2100" u="sng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C7CB4CF-8798-204C-BD7B-9D038665C3B6}"/>
              </a:ext>
            </a:extLst>
          </p:cNvPr>
          <p:cNvCxnSpPr>
            <a:cxnSpLocks/>
          </p:cNvCxnSpPr>
          <p:nvPr/>
        </p:nvCxnSpPr>
        <p:spPr>
          <a:xfrm flipH="1">
            <a:off x="8088778" y="2871768"/>
            <a:ext cx="1013008" cy="566906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73BAF5-9CD2-4B48-8064-80831F7F95CE}"/>
              </a:ext>
            </a:extLst>
          </p:cNvPr>
          <p:cNvSpPr txBox="1"/>
          <p:nvPr/>
        </p:nvSpPr>
        <p:spPr>
          <a:xfrm>
            <a:off x="3018866" y="5072552"/>
            <a:ext cx="28183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And, add in current cash holdings of firm</a:t>
            </a:r>
            <a:endParaRPr lang="en-US" sz="2100" u="sng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3244C7-9AD6-0F4D-B4D9-8B61328AA643}"/>
              </a:ext>
            </a:extLst>
          </p:cNvPr>
          <p:cNvCxnSpPr>
            <a:cxnSpLocks/>
          </p:cNvCxnSpPr>
          <p:nvPr/>
        </p:nvCxnSpPr>
        <p:spPr>
          <a:xfrm flipV="1">
            <a:off x="4428037" y="4349517"/>
            <a:ext cx="0" cy="723035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045703-F115-9648-8D2A-91D83716AC5D}"/>
              </a:ext>
            </a:extLst>
          </p:cNvPr>
          <p:cNvSpPr txBox="1"/>
          <p:nvPr/>
        </p:nvSpPr>
        <p:spPr>
          <a:xfrm>
            <a:off x="7490188" y="4987394"/>
            <a:ext cx="4024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When might knowing this value be useful in practice?</a:t>
            </a:r>
            <a:endParaRPr lang="en-US" sz="2400" u="sng" dirty="0">
              <a:solidFill>
                <a:srgbClr val="A51417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E14B4B-C6D2-C048-964A-3021CC9D569B}"/>
              </a:ext>
            </a:extLst>
          </p:cNvPr>
          <p:cNvSpPr/>
          <p:nvPr/>
        </p:nvSpPr>
        <p:spPr>
          <a:xfrm>
            <a:off x="7049497" y="3467760"/>
            <a:ext cx="881382" cy="508839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FB4524-47BA-E64F-8657-1EE83143AF7F}"/>
              </a:ext>
            </a:extLst>
          </p:cNvPr>
          <p:cNvSpPr/>
          <p:nvPr/>
        </p:nvSpPr>
        <p:spPr>
          <a:xfrm>
            <a:off x="5485316" y="3480372"/>
            <a:ext cx="881382" cy="508839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1AD15E-120A-EC44-9DA5-905AA96E1B4A}"/>
              </a:ext>
            </a:extLst>
          </p:cNvPr>
          <p:cNvSpPr/>
          <p:nvPr/>
        </p:nvSpPr>
        <p:spPr>
          <a:xfrm>
            <a:off x="9502427" y="3432217"/>
            <a:ext cx="881382" cy="508839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E48AD5-DC18-7A4D-A12A-26C33F9B87F6}"/>
              </a:ext>
            </a:extLst>
          </p:cNvPr>
          <p:cNvCxnSpPr>
            <a:cxnSpLocks/>
          </p:cNvCxnSpPr>
          <p:nvPr/>
        </p:nvCxnSpPr>
        <p:spPr>
          <a:xfrm>
            <a:off x="9943118" y="2871768"/>
            <a:ext cx="0" cy="509727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8F0CE5-8D3B-5940-9779-DE54E9223AF0}"/>
              </a:ext>
            </a:extLst>
          </p:cNvPr>
          <p:cNvCxnSpPr>
            <a:cxnSpLocks/>
          </p:cNvCxnSpPr>
          <p:nvPr/>
        </p:nvCxnSpPr>
        <p:spPr>
          <a:xfrm flipH="1">
            <a:off x="6310078" y="2683118"/>
            <a:ext cx="2791708" cy="734763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44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0" grpId="0"/>
      <p:bldP spid="13" grpId="0" animBg="1"/>
      <p:bldP spid="14" grpId="0" animBg="1"/>
      <p:bldP spid="1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use firm value to get stock price…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A51417"/>
                </a:solidFill>
              </a:rPr>
              <a:t>If prior formula equals asset value, how do we find equity value?</a:t>
            </a:r>
          </a:p>
          <a:p>
            <a:r>
              <a:rPr lang="en-US" dirty="0">
                <a:solidFill>
                  <a:srgbClr val="A51417"/>
                </a:solidFill>
              </a:rPr>
              <a:t>And once we have total equity value, how to find stock price?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38740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A00071-0132-D54B-996D-F35D5C2EC6D0}"/>
              </a:ext>
            </a:extLst>
          </p:cNvPr>
          <p:cNvSpPr/>
          <p:nvPr/>
        </p:nvSpPr>
        <p:spPr>
          <a:xfrm>
            <a:off x="1051103" y="2753862"/>
            <a:ext cx="7792272" cy="1003946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equity value &amp; stock price using DCF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600200"/>
            <a:ext cx="10727640" cy="4778022"/>
          </a:xfrm>
        </p:spPr>
        <p:txBody>
          <a:bodyPr>
            <a:normAutofit/>
          </a:bodyPr>
          <a:lstStyle/>
          <a:p>
            <a:r>
              <a:rPr lang="en-US" dirty="0"/>
              <a:t>Firm value obtained by DCF tells us value of firm to </a:t>
            </a:r>
            <a:r>
              <a:rPr lang="en-US" u="sng" dirty="0"/>
              <a:t>all</a:t>
            </a:r>
            <a:r>
              <a:rPr lang="en-US" dirty="0"/>
              <a:t> investors–both equity holders and debt holders; so,</a:t>
            </a:r>
          </a:p>
          <a:p>
            <a:pPr marL="0" indent="0">
              <a:buNone/>
            </a:pPr>
            <a:endParaRPr lang="en-US" sz="800" dirty="0"/>
          </a:p>
          <a:p>
            <a:endParaRPr lang="en-US" sz="800" dirty="0"/>
          </a:p>
          <a:p>
            <a:pPr lvl="1"/>
            <a:r>
              <a:rPr lang="en-US" b="1" dirty="0"/>
              <a:t>Equity value </a:t>
            </a:r>
            <a:r>
              <a:rPr lang="en-US" dirty="0"/>
              <a:t>= Firm value – Debt </a:t>
            </a:r>
          </a:p>
          <a:p>
            <a:pPr lvl="1"/>
            <a:r>
              <a:rPr lang="en-US" b="1" dirty="0"/>
              <a:t>Stock price </a:t>
            </a:r>
            <a:r>
              <a:rPr lang="en-US" dirty="0"/>
              <a:t>= Equity value / Shares outstanding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“Firm value” </a:t>
            </a:r>
            <a:r>
              <a:rPr lang="en-US" i="1" dirty="0"/>
              <a:t>versus</a:t>
            </a:r>
            <a:r>
              <a:rPr lang="en-US" dirty="0"/>
              <a:t> “Enterprise value”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519" y="1600200"/>
                <a:ext cx="10890751" cy="47780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Textbook prefers to use </a:t>
                </a:r>
                <a:r>
                  <a:rPr lang="en-US" u="sng" dirty="0"/>
                  <a:t>enterprise value</a:t>
                </a:r>
                <a:r>
                  <a:rPr lang="en-US" dirty="0"/>
                  <a:t> </a:t>
                </a:r>
              </a:p>
              <a:p>
                <a:r>
                  <a:rPr lang="en-US" b="1" dirty="0"/>
                  <a:t>Enterprise value = Firm value – cash</a:t>
                </a:r>
                <a:r>
                  <a:rPr lang="en-US" b="1" baseline="-25000" dirty="0"/>
                  <a:t>0</a:t>
                </a:r>
              </a:p>
              <a:p>
                <a:endParaRPr lang="en-US" sz="800" dirty="0"/>
              </a:p>
              <a:p>
                <a:pPr lvl="1"/>
                <a:r>
                  <a:rPr lang="en-US" dirty="0"/>
                  <a:t>I.e., enterprise value is the same as firm value, except that it ignores any of the current cash holdings of the firm and only takes PV of future FCFs</a:t>
                </a:r>
                <a:endParaRPr lang="en-US" b="1" baseline="-25000" dirty="0"/>
              </a:p>
              <a:p>
                <a:endParaRPr lang="en-US" b="1" baseline="-25000" dirty="0"/>
              </a:p>
              <a:p>
                <a:r>
                  <a:rPr lang="en-US" b="1" dirty="0"/>
                  <a:t>If using enterprise value, stock price is given by:</a:t>
                </a:r>
              </a:p>
              <a:p>
                <a:endParaRPr lang="en-US" sz="800" b="1" dirty="0"/>
              </a:p>
              <a:p>
                <a:pPr lvl="1"/>
                <a:endParaRPr lang="en-US" sz="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𝑺𝒕𝒐𝒄𝒌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𝒑𝒓𝒊𝒄𝒆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𝐸𝑛𝑡𝑒𝑟𝑝𝑟𝑖𝑠𝑒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𝐶𝑎𝑠h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𝐷𝑒𝑏𝑡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𝑆h𝑎𝑟𝑒𝑠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𝑜𝑢𝑡𝑠𝑡𝑎𝑛𝑑𝑖𝑛𝑔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sz="800" dirty="0"/>
              </a:p>
              <a:p>
                <a:endParaRPr lang="en-US" sz="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19" y="1600200"/>
                <a:ext cx="10890751" cy="4778022"/>
              </a:xfrm>
              <a:blipFill>
                <a:blip r:embed="rId3"/>
                <a:stretch>
                  <a:fillRect l="-931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37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points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NPV is the present value of a project’s incremental FCFs</a:t>
            </a:r>
          </a:p>
          <a:p>
            <a:r>
              <a:rPr lang="en-US" dirty="0"/>
              <a:t>To find these FCFs:</a:t>
            </a:r>
          </a:p>
          <a:p>
            <a:endParaRPr lang="en-US" sz="1000" dirty="0"/>
          </a:p>
          <a:p>
            <a:pPr lvl="1"/>
            <a:r>
              <a:rPr lang="en-US" dirty="0"/>
              <a:t>Create pro forma income statement and estimates of </a:t>
            </a:r>
            <a:r>
              <a:rPr lang="en-US" dirty="0" err="1"/>
              <a:t>CapEx</a:t>
            </a:r>
            <a:r>
              <a:rPr lang="en-US" dirty="0"/>
              <a:t> and NWC</a:t>
            </a:r>
          </a:p>
          <a:p>
            <a:pPr lvl="1"/>
            <a:r>
              <a:rPr lang="en-US" dirty="0"/>
              <a:t>Use these projected estimates to find FCF;</a:t>
            </a:r>
          </a:p>
          <a:p>
            <a:pPr lvl="2"/>
            <a:endParaRPr lang="en-US" sz="800" b="1" dirty="0"/>
          </a:p>
          <a:p>
            <a:pPr marL="914400" lvl="2" indent="0">
              <a:buNone/>
            </a:pPr>
            <a:r>
              <a:rPr lang="en-US" b="1" dirty="0"/>
              <a:t>	Free cash flow = </a:t>
            </a:r>
          </a:p>
          <a:p>
            <a:pPr marL="914400" lvl="2" indent="0">
              <a:buNone/>
            </a:pPr>
            <a:r>
              <a:rPr lang="en-US" b="1" dirty="0"/>
              <a:t>	   </a:t>
            </a:r>
            <a:r>
              <a:rPr lang="en-US" dirty="0"/>
              <a:t>EBIT × (1 – Tax rate) + depreciation</a:t>
            </a:r>
          </a:p>
          <a:p>
            <a:pPr marL="914400" lvl="2" indent="0">
              <a:buNone/>
            </a:pPr>
            <a:r>
              <a:rPr lang="en-US" dirty="0"/>
              <a:t>	– Capital expenditures (</a:t>
            </a:r>
            <a:r>
              <a:rPr lang="en-US" dirty="0" err="1"/>
              <a:t>CapEx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dirty="0"/>
              <a:t>	– Change in net working capital (∆NWC)</a:t>
            </a:r>
          </a:p>
          <a:p>
            <a:pPr marL="914400" lvl="2" indent="0">
              <a:buNone/>
            </a:pPr>
            <a:endParaRPr lang="en-US" sz="800" dirty="0"/>
          </a:p>
          <a:p>
            <a:r>
              <a:rPr lang="en-US" dirty="0"/>
              <a:t>Don’t forget about recovery of NWC and assets’ salvage value!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1E030D-B2C5-844A-AE20-2741206034CE}"/>
              </a:ext>
            </a:extLst>
          </p:cNvPr>
          <p:cNvSpPr txBox="1"/>
          <p:nvPr/>
        </p:nvSpPr>
        <p:spPr>
          <a:xfrm>
            <a:off x="7710693" y="3639674"/>
            <a:ext cx="4038721" cy="1446550"/>
          </a:xfrm>
          <a:prstGeom prst="rect">
            <a:avLst/>
          </a:prstGeom>
          <a:solidFill>
            <a:srgbClr val="E1E1E1"/>
          </a:solidFill>
        </p:spPr>
        <p:txBody>
          <a:bodyPr wrap="square" rtlCol="0">
            <a:spAutoFit/>
          </a:bodyPr>
          <a:lstStyle/>
          <a:p>
            <a:r>
              <a:rPr lang="en-US" sz="2200" dirty="0"/>
              <a:t>See </a:t>
            </a:r>
            <a:r>
              <a:rPr lang="en-US" sz="2200" dirty="0" err="1"/>
              <a:t>MyLab</a:t>
            </a:r>
            <a:r>
              <a:rPr lang="en-US" sz="2200" dirty="0"/>
              <a:t> Finance homework for yet even more opportunities to practice these concepts &amp; calculations</a:t>
            </a:r>
          </a:p>
        </p:txBody>
      </p:sp>
    </p:spTree>
    <p:extLst>
      <p:ext uri="{BB962C8B-B14F-4D97-AF65-F5344CB8AC3E}">
        <p14:creationId xmlns:p14="http://schemas.microsoft.com/office/powerpoint/2010/main" val="372853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 going…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890751" cy="4778022"/>
          </a:xfrm>
        </p:spPr>
        <p:txBody>
          <a:bodyPr>
            <a:normAutofit/>
          </a:bodyPr>
          <a:lstStyle/>
          <a:p>
            <a:r>
              <a:rPr lang="en-US" dirty="0"/>
              <a:t>What I haven’t told you yet, is how we find the appropriate discount rate, </a:t>
            </a:r>
            <a:r>
              <a:rPr lang="en-US" i="1" dirty="0"/>
              <a:t>r</a:t>
            </a:r>
            <a:r>
              <a:rPr lang="en-US" dirty="0"/>
              <a:t>, to use for our DCF valuations</a:t>
            </a:r>
          </a:p>
          <a:p>
            <a:endParaRPr lang="en-US" sz="800" dirty="0"/>
          </a:p>
          <a:p>
            <a:pPr lvl="1"/>
            <a:r>
              <a:rPr lang="en-US" b="1" dirty="0"/>
              <a:t>The discount rate will capture riskiness of cash flows</a:t>
            </a:r>
          </a:p>
          <a:p>
            <a:pPr lvl="1"/>
            <a:r>
              <a:rPr lang="en-US" b="1" dirty="0"/>
              <a:t>And when valuing company, it equals what we call the weighted average cost of capital (WACC)</a:t>
            </a:r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CD667-0C16-F38B-1A15-C7711E4F23BC}"/>
              </a:ext>
            </a:extLst>
          </p:cNvPr>
          <p:cNvSpPr txBox="1"/>
          <p:nvPr/>
        </p:nvSpPr>
        <p:spPr>
          <a:xfrm>
            <a:off x="553565" y="4484693"/>
            <a:ext cx="8455093" cy="523220"/>
          </a:xfrm>
          <a:prstGeom prst="rect">
            <a:avLst/>
          </a:prstGeom>
          <a:solidFill>
            <a:schemeClr val="bg1">
              <a:lumMod val="50000"/>
              <a:alpha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rgbClr val="A51417"/>
                </a:solidFill>
              </a:rPr>
              <a:t>But first, any questions before we move on?</a:t>
            </a:r>
          </a:p>
        </p:txBody>
      </p:sp>
    </p:spTree>
    <p:extLst>
      <p:ext uri="{BB962C8B-B14F-4D97-AF65-F5344CB8AC3E}">
        <p14:creationId xmlns:p14="http://schemas.microsoft.com/office/powerpoint/2010/main" val="180058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9221</TotalTime>
  <Words>2836</Words>
  <Application>Microsoft Macintosh PowerPoint</Application>
  <PresentationFormat>Widescreen</PresentationFormat>
  <Paragraphs>463</Paragraphs>
  <Slides>48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Cambria Math</vt:lpstr>
      <vt:lpstr>Rockwell</vt:lpstr>
      <vt:lpstr>Times New Roman</vt:lpstr>
      <vt:lpstr>Office Theme</vt:lpstr>
      <vt:lpstr>FIN 740: Corporate Finance</vt:lpstr>
      <vt:lpstr>Outline for this topic</vt:lpstr>
      <vt:lpstr>Motivation for calculating cash flows</vt:lpstr>
      <vt:lpstr>Discounted cash flows (DCF) methodology</vt:lpstr>
      <vt:lpstr>DCF is used to value many assets</vt:lpstr>
      <vt:lpstr>Projects cause many incremental cash flows </vt:lpstr>
      <vt:lpstr>Typical project cash flows &amp; their timing</vt:lpstr>
      <vt:lpstr>Introduction to free cash flows (FCFs)</vt:lpstr>
      <vt:lpstr>Organizing these cash flows to find FCF</vt:lpstr>
      <vt:lpstr>Free cash flow (FCF) – Definition</vt:lpstr>
      <vt:lpstr>Outline for this topic</vt:lpstr>
      <vt:lpstr>Basic steps to finding project’s FCF</vt:lpstr>
      <vt:lpstr>FCF formula</vt:lpstr>
      <vt:lpstr>Why net income does NOT equal FCF</vt:lpstr>
      <vt:lpstr>#1 – Capital expenses and depreciation</vt:lpstr>
      <vt:lpstr>#2 – Other non-cash items</vt:lpstr>
      <vt:lpstr>Three pieces to calculate FCF</vt:lpstr>
      <vt:lpstr>Note #1 – We do not include interest expenses</vt:lpstr>
      <vt:lpstr>Note #2 – What’s up with the depreciation?</vt:lpstr>
      <vt:lpstr>Next, find and subtract capital expenditures</vt:lpstr>
      <vt:lpstr>Estimating CapEx</vt:lpstr>
      <vt:lpstr>Finding after-tax salvage value cash flow</vt:lpstr>
      <vt:lpstr>Last step, subtract ∆NWC</vt:lpstr>
      <vt:lpstr>Example #1 – Accounts receivable</vt:lpstr>
      <vt:lpstr>Example #2 – Inventory adjustment</vt:lpstr>
      <vt:lpstr>To find ∆NWC, you first need to estimate NWC</vt:lpstr>
      <vt:lpstr>Practice question [Examples 9.4-9.5 of textbook]</vt:lpstr>
      <vt:lpstr>Practice question [available on Canvas]</vt:lpstr>
      <vt:lpstr>Practice question [see handout]</vt:lpstr>
      <vt:lpstr>Practice question [continued]</vt:lpstr>
      <vt:lpstr>Practice solution [available on Canvas]</vt:lpstr>
      <vt:lpstr>Outline for this topic</vt:lpstr>
      <vt:lpstr>Before doing FCF case… a few more things</vt:lpstr>
      <vt:lpstr>Calculating depreciation</vt:lpstr>
      <vt:lpstr>MACRS depreciation table</vt:lpstr>
      <vt:lpstr>Negative taxes</vt:lpstr>
      <vt:lpstr>Analyzing the NPV estimation</vt:lpstr>
      <vt:lpstr>Types of NPV analysis</vt:lpstr>
      <vt:lpstr>Tips on doing these types of project analysis</vt:lpstr>
      <vt:lpstr>Additional MS Excel tips…</vt:lpstr>
      <vt:lpstr>Group assignment – Worldwide Paper Company</vt:lpstr>
      <vt:lpstr>Wrapping up FCF discussion</vt:lpstr>
      <vt:lpstr>Valuing an entire company [not just a project]</vt:lpstr>
      <vt:lpstr>Can use firm value to get stock price…</vt:lpstr>
      <vt:lpstr>Finding equity value &amp; stock price using DCF</vt:lpstr>
      <vt:lpstr>“Firm value” versus “Enterprise value”</vt:lpstr>
      <vt:lpstr>Key points to remember</vt:lpstr>
      <vt:lpstr>Where we are going…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default</dc:creator>
  <cp:lastModifiedBy>Gormley, Todd</cp:lastModifiedBy>
  <cp:revision>108</cp:revision>
  <dcterms:created xsi:type="dcterms:W3CDTF">2013-07-09T17:46:55Z</dcterms:created>
  <dcterms:modified xsi:type="dcterms:W3CDTF">2024-05-23T21:56:47Z</dcterms:modified>
</cp:coreProperties>
</file>