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67" r:id="rId2"/>
    <p:sldId id="294" r:id="rId3"/>
    <p:sldId id="370" r:id="rId4"/>
    <p:sldId id="325" r:id="rId5"/>
    <p:sldId id="326" r:id="rId6"/>
    <p:sldId id="324" r:id="rId7"/>
    <p:sldId id="323" r:id="rId8"/>
    <p:sldId id="327" r:id="rId9"/>
    <p:sldId id="260" r:id="rId10"/>
    <p:sldId id="366" r:id="rId11"/>
    <p:sldId id="329" r:id="rId12"/>
    <p:sldId id="341" r:id="rId13"/>
    <p:sldId id="330" r:id="rId14"/>
    <p:sldId id="331" r:id="rId15"/>
    <p:sldId id="328" r:id="rId16"/>
    <p:sldId id="332" r:id="rId17"/>
    <p:sldId id="301" r:id="rId18"/>
    <p:sldId id="334" r:id="rId19"/>
    <p:sldId id="335" r:id="rId20"/>
    <p:sldId id="337" r:id="rId21"/>
    <p:sldId id="342" r:id="rId22"/>
    <p:sldId id="343" r:id="rId23"/>
    <p:sldId id="279" r:id="rId24"/>
    <p:sldId id="344" r:id="rId25"/>
    <p:sldId id="346" r:id="rId26"/>
    <p:sldId id="280" r:id="rId27"/>
    <p:sldId id="348" r:id="rId28"/>
    <p:sldId id="349" r:id="rId29"/>
    <p:sldId id="347" r:id="rId30"/>
    <p:sldId id="338" r:id="rId31"/>
    <p:sldId id="339" r:id="rId32"/>
    <p:sldId id="340" r:id="rId33"/>
    <p:sldId id="351" r:id="rId34"/>
    <p:sldId id="352" r:id="rId35"/>
    <p:sldId id="354" r:id="rId36"/>
    <p:sldId id="355" r:id="rId37"/>
    <p:sldId id="357" r:id="rId38"/>
    <p:sldId id="356" r:id="rId39"/>
    <p:sldId id="358" r:id="rId40"/>
    <p:sldId id="359" r:id="rId41"/>
    <p:sldId id="360" r:id="rId42"/>
    <p:sldId id="353" r:id="rId43"/>
    <p:sldId id="364" r:id="rId44"/>
    <p:sldId id="361" r:id="rId45"/>
    <p:sldId id="368" r:id="rId46"/>
    <p:sldId id="369" r:id="rId47"/>
    <p:sldId id="350" r:id="rId48"/>
    <p:sldId id="362" r:id="rId49"/>
    <p:sldId id="363" r:id="rId50"/>
    <p:sldId id="371" r:id="rId51"/>
    <p:sldId id="365" r:id="rId52"/>
    <p:sldId id="367" r:id="rId53"/>
    <p:sldId id="309" r:id="rId54"/>
    <p:sldId id="372" r:id="rId55"/>
    <p:sldId id="373" r:id="rId56"/>
    <p:sldId id="374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1417"/>
    <a:srgbClr val="566568"/>
    <a:srgbClr val="E1E1E1"/>
    <a:srgbClr val="6C7373"/>
    <a:srgbClr val="C41039"/>
    <a:srgbClr val="69787B"/>
    <a:srgbClr val="69780C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0" autoAdjust="0"/>
    <p:restoredTop sz="80959"/>
  </p:normalViewPr>
  <p:slideViewPr>
    <p:cSldViewPr snapToGrid="0" snapToObjects="1">
      <p:cViewPr varScale="1">
        <p:scale>
          <a:sx n="105" d="100"/>
          <a:sy n="105" d="100"/>
        </p:scale>
        <p:origin x="108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3AD09-9720-9047-BB14-484CD98DBB2F}" type="datetimeFigureOut">
              <a:rPr lang="en-US" smtClean="0"/>
              <a:t>1/11/24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80D64-6F43-4C4D-BE6A-3F3482AA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9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68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8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7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13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37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93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14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30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4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39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38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13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20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97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20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38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59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19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330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513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148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686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659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116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396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557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793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036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20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136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540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135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031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332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737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085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404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095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26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503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907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1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657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31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027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951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100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084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383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861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6557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2486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92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6C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1linerev(1c)1000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 descr="1linerev(1c)1000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  <a:lvl2pPr>
              <a:defRPr>
                <a:solidFill>
                  <a:srgbClr val="6C7373"/>
                </a:solidFill>
              </a:defRPr>
            </a:lvl2pPr>
            <a:lvl3pPr>
              <a:defRPr>
                <a:solidFill>
                  <a:srgbClr val="6C7373"/>
                </a:solidFill>
              </a:defRPr>
            </a:lvl3pPr>
            <a:lvl4pPr>
              <a:defRPr>
                <a:solidFill>
                  <a:srgbClr val="6C7373"/>
                </a:solidFill>
              </a:defRPr>
            </a:lvl4pPr>
            <a:lvl5pPr>
              <a:defRPr>
                <a:solidFill>
                  <a:srgbClr val="6C737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767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0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64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sh_U_PPT_Template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228600"/>
            <a:ext cx="11582400" cy="64008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519" y="1600200"/>
            <a:ext cx="10856148" cy="477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0" r:id="rId3"/>
    <p:sldLayoutId id="2147483660" r:id="rId4"/>
    <p:sldLayoutId id="2147483652" r:id="rId5"/>
    <p:sldLayoutId id="2147483653" r:id="rId6"/>
    <p:sldLayoutId id="2147483654" r:id="rId7"/>
    <p:sldLayoutId id="2147483670" r:id="rId8"/>
    <p:sldLayoutId id="2147483655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6C7373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CDB3-375F-9547-B02C-641B45386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 740: Corporate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97D4F-E75A-3D44-9E5C-6FFBD76FC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312" y="3596776"/>
            <a:ext cx="5025358" cy="10277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Topic #2</a:t>
            </a:r>
          </a:p>
          <a:p>
            <a:r>
              <a:rPr lang="en-US" dirty="0"/>
              <a:t>Time Value of Money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6F58A-48F4-9992-9131-7CF91B55A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 the “time value of money” and its importance</a:t>
            </a:r>
          </a:p>
          <a:p>
            <a:endParaRPr lang="en-US" sz="800" dirty="0"/>
          </a:p>
          <a:p>
            <a:pPr lvl="1"/>
            <a:r>
              <a:rPr lang="en-US" dirty="0"/>
              <a:t>Define present </a:t>
            </a:r>
            <a:r>
              <a:rPr lang="en-US" i="1" dirty="0"/>
              <a:t>versus</a:t>
            </a:r>
            <a:r>
              <a:rPr lang="en-US" dirty="0"/>
              <a:t> future value</a:t>
            </a:r>
          </a:p>
          <a:p>
            <a:pPr lvl="1"/>
            <a:r>
              <a:rPr lang="en-US" dirty="0"/>
              <a:t>Cover mathematical concepts key to course; e.g., 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How to value a stream of cash flows</a:t>
            </a:r>
          </a:p>
          <a:p>
            <a:pPr lvl="2"/>
            <a:r>
              <a:rPr lang="en-US" dirty="0"/>
              <a:t>How to calculate net present value (NPV)</a:t>
            </a:r>
          </a:p>
          <a:p>
            <a:pPr lvl="2"/>
            <a:r>
              <a:rPr lang="en-US" dirty="0"/>
              <a:t>How to apply annuity and perpetuity formulas</a:t>
            </a:r>
          </a:p>
          <a:p>
            <a:pPr lvl="2"/>
            <a:endParaRPr lang="en-US" sz="800" dirty="0"/>
          </a:p>
          <a:p>
            <a:pPr lvl="1"/>
            <a:r>
              <a:rPr lang="en-US" u="sng" dirty="0"/>
              <a:t>Lots</a:t>
            </a:r>
            <a:r>
              <a:rPr lang="en-US" dirty="0"/>
              <a:t> of application problems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28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goal is to understand how managers decide whether a particular course of action will create value </a:t>
            </a:r>
          </a:p>
          <a:p>
            <a:endParaRPr lang="en-US" sz="800" dirty="0"/>
          </a:p>
          <a:p>
            <a:pPr lvl="1"/>
            <a:r>
              <a:rPr lang="en-US" dirty="0"/>
              <a:t>How did Disney decide in 2019 it should launch Disney+?</a:t>
            </a:r>
          </a:p>
          <a:p>
            <a:pPr lvl="1"/>
            <a:r>
              <a:rPr lang="en-US" dirty="0"/>
              <a:t>How did Apple decide in 2015 to produce the Apple Watch?</a:t>
            </a:r>
          </a:p>
          <a:p>
            <a:pPr lvl="1"/>
            <a:r>
              <a:rPr lang="en-US" dirty="0"/>
              <a:t>How did Amazon decide in 2017 to buy Whole Foods?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5808D-7549-9B40-A04B-05029D91AE62}"/>
              </a:ext>
            </a:extLst>
          </p:cNvPr>
          <p:cNvSpPr txBox="1"/>
          <p:nvPr/>
        </p:nvSpPr>
        <p:spPr>
          <a:xfrm>
            <a:off x="977032" y="4412293"/>
            <a:ext cx="56169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A51417"/>
                </a:solidFill>
              </a:rPr>
              <a:t>Intuitively, how do you think managers make such decisions?</a:t>
            </a:r>
          </a:p>
        </p:txBody>
      </p:sp>
    </p:spTree>
    <p:extLst>
      <p:ext uri="{BB962C8B-B14F-4D97-AF65-F5344CB8AC3E}">
        <p14:creationId xmlns:p14="http://schemas.microsoft.com/office/powerpoint/2010/main" val="236520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 </a:t>
            </a:r>
            <a:r>
              <a:rPr lang="en-US" dirty="0"/>
              <a:t>= Cost-benefit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Financial managers need to weigh the costs and benefits of every decision they make</a:t>
            </a:r>
          </a:p>
          <a:p>
            <a:endParaRPr lang="en-US" sz="800" dirty="0"/>
          </a:p>
          <a:p>
            <a:pPr lvl="1"/>
            <a:r>
              <a:rPr lang="en-US" dirty="0"/>
              <a:t>Intuitively, good decisions are those where benefits exceed the costs </a:t>
            </a:r>
          </a:p>
          <a:p>
            <a:pPr lvl="1"/>
            <a:r>
              <a:rPr lang="en-US" dirty="0"/>
              <a:t>This logic applies to </a:t>
            </a:r>
            <a:r>
              <a:rPr lang="en-US" b="1" u="sng" dirty="0"/>
              <a:t>all</a:t>
            </a:r>
            <a:r>
              <a:rPr lang="en-US" dirty="0"/>
              <a:t> decisions we will discuss in this course: capital budgeting, capital structure, and payout policy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05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costs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Quantifying costs &amp; benefits will require skills and inputs from all other areas of management disciplines</a:t>
            </a:r>
          </a:p>
          <a:p>
            <a:endParaRPr lang="en-US" sz="800" dirty="0"/>
          </a:p>
          <a:p>
            <a:pPr lvl="1"/>
            <a:r>
              <a:rPr lang="en-US" dirty="0"/>
              <a:t>Marketing</a:t>
            </a:r>
          </a:p>
          <a:p>
            <a:pPr lvl="1"/>
            <a:r>
              <a:rPr lang="en-US" dirty="0"/>
              <a:t>Economics</a:t>
            </a:r>
          </a:p>
          <a:p>
            <a:pPr lvl="1"/>
            <a:r>
              <a:rPr lang="en-US" dirty="0"/>
              <a:t>Organizational behavior</a:t>
            </a:r>
          </a:p>
          <a:p>
            <a:pPr lvl="1"/>
            <a:r>
              <a:rPr lang="en-US" dirty="0"/>
              <a:t>Strategy</a:t>
            </a:r>
          </a:p>
          <a:p>
            <a:pPr lvl="1"/>
            <a:r>
              <a:rPr lang="en-US" dirty="0"/>
              <a:t>Operations</a:t>
            </a:r>
          </a:p>
          <a:p>
            <a:endParaRPr lang="en-US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B788C925-64F6-7047-8406-BB5DBE4CEF36}"/>
              </a:ext>
            </a:extLst>
          </p:cNvPr>
          <p:cNvSpPr/>
          <p:nvPr/>
        </p:nvSpPr>
        <p:spPr bwMode="auto">
          <a:xfrm rot="10800000">
            <a:off x="5011546" y="2717619"/>
            <a:ext cx="1075047" cy="2180057"/>
          </a:xfrm>
          <a:prstGeom prst="leftBrace">
            <a:avLst/>
          </a:prstGeom>
          <a:solidFill>
            <a:srgbClr val="A51417">
              <a:alpha val="2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D4447-3866-C547-A09F-D901A46B516E}"/>
              </a:ext>
            </a:extLst>
          </p:cNvPr>
          <p:cNvSpPr txBox="1"/>
          <p:nvPr/>
        </p:nvSpPr>
        <p:spPr>
          <a:xfrm>
            <a:off x="6281488" y="3392149"/>
            <a:ext cx="3815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Finance touches everyone within a firm!</a:t>
            </a:r>
          </a:p>
        </p:txBody>
      </p:sp>
    </p:spTree>
    <p:extLst>
      <p:ext uri="{BB962C8B-B14F-4D97-AF65-F5344CB8AC3E}">
        <p14:creationId xmlns:p14="http://schemas.microsoft.com/office/powerpoint/2010/main" val="23813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 of this course &amp; unit 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45346" cy="4778022"/>
          </a:xfrm>
        </p:spPr>
        <p:txBody>
          <a:bodyPr>
            <a:normAutofit/>
          </a:bodyPr>
          <a:lstStyle/>
          <a:p>
            <a:r>
              <a:rPr lang="en-US" b="1" dirty="0"/>
              <a:t>Managers must make sure these costs and benefits are expressed in similar ‘units’; e.g., two examples…</a:t>
            </a:r>
          </a:p>
          <a:p>
            <a:endParaRPr lang="en-US" sz="800" dirty="0"/>
          </a:p>
          <a:p>
            <a:pPr marL="457200" lvl="1" indent="0">
              <a:buNone/>
            </a:pPr>
            <a:r>
              <a:rPr lang="en-US" dirty="0"/>
              <a:t>#1 – Should firm trade 200 oz. of silver (cost) for 10 oz. of gold (benefit)? </a:t>
            </a:r>
          </a:p>
          <a:p>
            <a:pPr marL="457200" lvl="1" indent="0">
              <a:buNone/>
            </a:pPr>
            <a:r>
              <a:rPr lang="en-US" dirty="0"/>
              <a:t>#2 – Should company invest $1 million (cost) today in machine that will return $1.08 million cash flows (benefit) next year?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5808D-7549-9B40-A04B-05029D91AE62}"/>
              </a:ext>
            </a:extLst>
          </p:cNvPr>
          <p:cNvSpPr txBox="1"/>
          <p:nvPr/>
        </p:nvSpPr>
        <p:spPr>
          <a:xfrm>
            <a:off x="798844" y="4190309"/>
            <a:ext cx="4935255" cy="84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How would you convert these costs &amp; benefits into similar units?</a:t>
            </a:r>
          </a:p>
        </p:txBody>
      </p:sp>
    </p:spTree>
    <p:extLst>
      <p:ext uri="{BB962C8B-B14F-4D97-AF65-F5344CB8AC3E}">
        <p14:creationId xmlns:p14="http://schemas.microsoft.com/office/powerpoint/2010/main" val="23905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Example #1 </a:t>
            </a:r>
            <a:r>
              <a:rPr lang="en-US" dirty="0"/>
              <a:t>– Converting units using market prices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To make sure we are comparing “apples to apples,” we convert to common unit ($) using market prices; e.g., suppose…</a:t>
                </a:r>
              </a:p>
              <a:p>
                <a:endParaRPr lang="en-US" sz="800" dirty="0"/>
              </a:p>
              <a:p>
                <a:pPr lvl="1"/>
                <a:r>
                  <a:rPr lang="en-US" dirty="0"/>
                  <a:t>Each oz. of silver can be bought/sold for $20</a:t>
                </a:r>
              </a:p>
              <a:p>
                <a:pPr lvl="1"/>
                <a:r>
                  <a:rPr lang="en-US" dirty="0"/>
                  <a:t>Each oz. of gold can be bought/sold for $1,000</a:t>
                </a:r>
              </a:p>
              <a:p>
                <a:pPr lvl="1"/>
                <a:r>
                  <a:rPr lang="en-US" dirty="0"/>
                  <a:t>Should we make the trade?</a:t>
                </a:r>
              </a:p>
              <a:p>
                <a:pPr lvl="1"/>
                <a:endParaRPr lang="en-US" sz="800" dirty="0"/>
              </a:p>
              <a:p>
                <a:pPr lvl="2"/>
                <a:r>
                  <a:rPr lang="en-US" dirty="0"/>
                  <a:t>Yes!  Our silver is worth 200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20=$4,000.  The gold is worth 1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1000=$10,000. 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5" t="-1592" r="-1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3B5C671-09C0-924D-8057-79C80E936C19}"/>
              </a:ext>
            </a:extLst>
          </p:cNvPr>
          <p:cNvSpPr txBox="1"/>
          <p:nvPr/>
        </p:nvSpPr>
        <p:spPr>
          <a:xfrm>
            <a:off x="1036236" y="4842301"/>
            <a:ext cx="6138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What if we don’t need gold for our products?  Do we make the trade then?</a:t>
            </a:r>
          </a:p>
        </p:txBody>
      </p:sp>
    </p:spTree>
    <p:extLst>
      <p:ext uri="{BB962C8B-B14F-4D97-AF65-F5344CB8AC3E}">
        <p14:creationId xmlns:p14="http://schemas.microsoft.com/office/powerpoint/2010/main" val="318133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Summary</a:t>
            </a:r>
            <a:r>
              <a:rPr lang="en-US" dirty="0"/>
              <a:t> – Use market prices to covert to dollars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idea: convert all costs &amp; benefits to </a:t>
            </a:r>
            <a:r>
              <a:rPr lang="en-US" u="sng" dirty="0"/>
              <a:t>dollars today</a:t>
            </a:r>
          </a:p>
          <a:p>
            <a:endParaRPr lang="en-US" sz="800" dirty="0"/>
          </a:p>
          <a:p>
            <a:pPr lvl="1"/>
            <a:r>
              <a:rPr lang="en-US" dirty="0"/>
              <a:t>If $ benefits today exceed $ costs today, you do it; it creates value</a:t>
            </a:r>
          </a:p>
          <a:p>
            <a:pPr lvl="1"/>
            <a:r>
              <a:rPr lang="en-US" dirty="0"/>
              <a:t>If not, don’t do it; it destroys value</a:t>
            </a:r>
          </a:p>
          <a:p>
            <a:pPr lvl="1"/>
            <a:endParaRPr lang="en-US" sz="800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46051-C0DE-8D49-8C17-170168AEE0E6}"/>
              </a:ext>
            </a:extLst>
          </p:cNvPr>
          <p:cNvSpPr txBox="1"/>
          <p:nvPr/>
        </p:nvSpPr>
        <p:spPr>
          <a:xfrm>
            <a:off x="863238" y="3566457"/>
            <a:ext cx="7559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benefits – costs calculation is what we call a “Net Present Value.”  We’ll return to this later.</a:t>
            </a:r>
          </a:p>
        </p:txBody>
      </p:sp>
    </p:spTree>
    <p:extLst>
      <p:ext uri="{BB962C8B-B14F-4D97-AF65-F5344CB8AC3E}">
        <p14:creationId xmlns:p14="http://schemas.microsoft.com/office/powerpoint/2010/main" val="198396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</a:t>
            </a:r>
            <a:r>
              <a:rPr lang="en-US" i="1" dirty="0"/>
              <a:t>[Example 3.2 from textbook]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5 minutes to answer below question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FC4764-4E60-4F40-B491-BF0C9B6D6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18" y="2609938"/>
            <a:ext cx="10856149" cy="312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9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18728" cy="4778022"/>
          </a:xfrm>
        </p:spPr>
        <p:txBody>
          <a:bodyPr>
            <a:normAutofit/>
          </a:bodyPr>
          <a:lstStyle/>
          <a:p>
            <a:r>
              <a:rPr lang="en-US" dirty="0"/>
              <a:t>For most of these textbook practice questions [like the last one], I will work out the solutions on the whiteboard, but you can always find a detailed solution in the textbook</a:t>
            </a:r>
          </a:p>
          <a:p>
            <a:endParaRPr lang="en-US" sz="800" dirty="0"/>
          </a:p>
          <a:p>
            <a:pPr lvl="1"/>
            <a:r>
              <a:rPr lang="en-US" dirty="0"/>
              <a:t>I.e., there is no need to copy down what I write on the whiteboard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where to find typed solutions</a:t>
            </a:r>
          </a:p>
        </p:txBody>
      </p:sp>
    </p:spTree>
    <p:extLst>
      <p:ext uri="{BB962C8B-B14F-4D97-AF65-F5344CB8AC3E}">
        <p14:creationId xmlns:p14="http://schemas.microsoft.com/office/powerpoint/2010/main" val="39150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1065843" cy="4778022"/>
          </a:xfrm>
        </p:spPr>
        <p:txBody>
          <a:bodyPr>
            <a:normAutofit/>
          </a:bodyPr>
          <a:lstStyle/>
          <a:p>
            <a:r>
              <a:rPr lang="en-US" b="1" dirty="0"/>
              <a:t>Financial managers also need to compare costs and benefits at the </a:t>
            </a:r>
            <a:r>
              <a:rPr lang="en-US" b="1" u="sng" dirty="0"/>
              <a:t>same point in time</a:t>
            </a:r>
            <a:r>
              <a:rPr lang="en-US" b="1" dirty="0"/>
              <a:t> to make a valid comparison</a:t>
            </a:r>
          </a:p>
          <a:p>
            <a:endParaRPr lang="en-US" sz="800" dirty="0"/>
          </a:p>
          <a:p>
            <a:endParaRPr lang="en-US" sz="800" dirty="0"/>
          </a:p>
          <a:p>
            <a:pPr lvl="1"/>
            <a:r>
              <a:rPr lang="en-US" dirty="0"/>
              <a:t>Two cash flows at different points in time have different values</a:t>
            </a:r>
          </a:p>
          <a:p>
            <a:pPr lvl="1"/>
            <a:r>
              <a:rPr lang="en-US" dirty="0"/>
              <a:t>I.e., a $ received today is worth </a:t>
            </a:r>
            <a:r>
              <a:rPr lang="en-US" u="sng" dirty="0"/>
              <a:t>more</a:t>
            </a:r>
            <a:r>
              <a:rPr lang="en-US" dirty="0"/>
              <a:t> than a $ received in one year </a:t>
            </a:r>
            <a:r>
              <a:rPr lang="en-US" b="1" dirty="0">
                <a:solidFill>
                  <a:srgbClr val="A51417"/>
                </a:solidFill>
              </a:rPr>
              <a:t>[Why?]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A5AF90-4B35-0544-AB35-3CB7343CFC67}"/>
              </a:ext>
            </a:extLst>
          </p:cNvPr>
          <p:cNvSpPr/>
          <p:nvPr/>
        </p:nvSpPr>
        <p:spPr>
          <a:xfrm>
            <a:off x="1116623" y="2788075"/>
            <a:ext cx="10607738" cy="1019212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value of money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55CD5-47E0-6441-B866-297888617B30}"/>
              </a:ext>
            </a:extLst>
          </p:cNvPr>
          <p:cNvSpPr txBox="1"/>
          <p:nvPr/>
        </p:nvSpPr>
        <p:spPr>
          <a:xfrm>
            <a:off x="2166980" y="4741157"/>
            <a:ext cx="4027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referred to as the “time value of money”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094882E-1AEF-A84B-B4F3-700544DEA896}"/>
              </a:ext>
            </a:extLst>
          </p:cNvPr>
          <p:cNvCxnSpPr>
            <a:cxnSpLocks/>
          </p:cNvCxnSpPr>
          <p:nvPr/>
        </p:nvCxnSpPr>
        <p:spPr>
          <a:xfrm flipV="1">
            <a:off x="3795182" y="3981057"/>
            <a:ext cx="1" cy="721406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17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8" y="1600200"/>
                <a:ext cx="11065843" cy="47780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you could earn 5% interest rate in bank</a:t>
                </a:r>
              </a:p>
              <a:p>
                <a:r>
                  <a:rPr lang="en-US" dirty="0"/>
                  <a:t>Saving $1 today, it would be worth $1.05 next year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lvl="1"/>
                <a:r>
                  <a:rPr lang="en-US" dirty="0"/>
                  <a:t>I.e., $1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(1 + interest rate) = $1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(1.05) = $1.05</a:t>
                </a:r>
              </a:p>
              <a:p>
                <a:pPr lvl="1"/>
                <a:r>
                  <a:rPr lang="en-US" b="1" dirty="0"/>
                  <a:t>Hence, that $1 today is worth </a:t>
                </a:r>
                <a:r>
                  <a:rPr lang="en-US" b="1" u="sng" dirty="0"/>
                  <a:t>more</a:t>
                </a:r>
                <a:r>
                  <a:rPr lang="en-US" b="1" dirty="0"/>
                  <a:t> than $1 next year.  Or vice versa, $1 next year is worth less than $1 today</a:t>
                </a:r>
              </a:p>
              <a:p>
                <a:pPr lvl="1"/>
                <a:endParaRPr lang="en-US" sz="800" dirty="0"/>
              </a:p>
              <a:p>
                <a:r>
                  <a:rPr lang="en-US" dirty="0"/>
                  <a:t>How much is that $1 in one year be worth today?  I.e., how much would you need to save today to have $1 next year?</a:t>
                </a:r>
              </a:p>
              <a:p>
                <a:endParaRPr lang="en-US" sz="800" dirty="0"/>
              </a:p>
              <a:p>
                <a:pPr lvl="1"/>
                <a:r>
                  <a:rPr lang="en-US" dirty="0"/>
                  <a:t>$ savings today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1.05 = 1</a:t>
                </a:r>
              </a:p>
              <a:p>
                <a:pPr lvl="1"/>
                <a:r>
                  <a:rPr lang="en-US" dirty="0"/>
                  <a:t>Solving, savings today must equal 1 / 1.05 = $0.952</a:t>
                </a:r>
              </a:p>
              <a:p>
                <a:endParaRPr lang="en-US" sz="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8" y="1600200"/>
                <a:ext cx="11065843" cy="4778022"/>
              </a:xfrm>
              <a:blipFill>
                <a:blip r:embed="rId3"/>
                <a:stretch>
                  <a:fillRect l="-916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value of money </a:t>
            </a:r>
            <a:r>
              <a:rPr lang="en-US" i="1" dirty="0"/>
              <a:t>[continued]</a:t>
            </a:r>
          </a:p>
        </p:txBody>
      </p:sp>
    </p:spTree>
    <p:extLst>
      <p:ext uri="{BB962C8B-B14F-4D97-AF65-F5344CB8AC3E}">
        <p14:creationId xmlns:p14="http://schemas.microsoft.com/office/powerpoint/2010/main" val="45477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cash flows using interest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Interest rates are way to compare values of cash </a:t>
            </a:r>
            <a:r>
              <a:rPr lang="en-US" b="1" u="sng" dirty="0"/>
              <a:t>at different points in time</a:t>
            </a:r>
            <a:r>
              <a:rPr lang="en-US" dirty="0"/>
              <a:t>; it is the ‘market price’ of moving cash across time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6948D01-7AF2-F145-BD8D-116F3AAB9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58" y="2833693"/>
            <a:ext cx="7693875" cy="358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FA7DA1-B642-974A-A726-F79B5F69DFA0}"/>
              </a:ext>
            </a:extLst>
          </p:cNvPr>
          <p:cNvSpPr txBox="1"/>
          <p:nvPr/>
        </p:nvSpPr>
        <p:spPr>
          <a:xfrm>
            <a:off x="9637316" y="5731891"/>
            <a:ext cx="2335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3.1: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412829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Example #2 </a:t>
            </a:r>
            <a:r>
              <a:rPr lang="en-US" dirty="0"/>
              <a:t>– Converting using interest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 to the earlier example, and now suppose the company can borrow &amp; invest at 10% risk-free, interest rate</a:t>
            </a:r>
          </a:p>
          <a:p>
            <a:endParaRPr lang="en-US" sz="800" dirty="0"/>
          </a:p>
          <a:p>
            <a:pPr lvl="1"/>
            <a:r>
              <a:rPr lang="en-US" dirty="0"/>
              <a:t>Should company invest $1 million (cost) today in machine that will return $1.08 million cash flows (benefit) next year? </a:t>
            </a:r>
          </a:p>
          <a:p>
            <a:pPr lvl="1"/>
            <a:r>
              <a:rPr lang="en-US" b="1" dirty="0"/>
              <a:t>There are two different ways to answer this question; both will always give the same answer</a:t>
            </a:r>
          </a:p>
          <a:p>
            <a:pPr lvl="1"/>
            <a:endParaRPr lang="en-US" sz="800" b="1" dirty="0"/>
          </a:p>
          <a:p>
            <a:pPr lvl="2"/>
            <a:r>
              <a:rPr lang="en-US" dirty="0"/>
              <a:t>Compare </a:t>
            </a:r>
            <a:r>
              <a:rPr lang="en-US" u="sng" dirty="0"/>
              <a:t>future values</a:t>
            </a:r>
            <a:r>
              <a:rPr lang="en-US" dirty="0"/>
              <a:t> of costs &amp; benefits</a:t>
            </a:r>
          </a:p>
          <a:p>
            <a:pPr lvl="2"/>
            <a:r>
              <a:rPr lang="en-US" dirty="0"/>
              <a:t>Compare </a:t>
            </a:r>
            <a:r>
              <a:rPr lang="en-US" u="sng" dirty="0"/>
              <a:t>present values</a:t>
            </a:r>
            <a:r>
              <a:rPr lang="en-US" dirty="0"/>
              <a:t> of costs &amp; benefits</a:t>
            </a:r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01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Future value</a:t>
            </a:r>
            <a:r>
              <a:rPr lang="en-US" dirty="0"/>
              <a:t> 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Benefit </a:t>
                </a:r>
                <a:r>
                  <a:rPr lang="en-US" u="sng" dirty="0"/>
                  <a:t>one year from now</a:t>
                </a:r>
                <a:r>
                  <a:rPr lang="en-US" dirty="0"/>
                  <a:t> = $1.08 million</a:t>
                </a:r>
              </a:p>
              <a:p>
                <a:r>
                  <a:rPr lang="en-US" dirty="0"/>
                  <a:t>Cost </a:t>
                </a:r>
                <a:r>
                  <a:rPr lang="en-US" u="sng" dirty="0"/>
                  <a:t>one year from now</a:t>
                </a:r>
                <a:r>
                  <a:rPr lang="en-US" dirty="0"/>
                  <a:t>…</a:t>
                </a:r>
              </a:p>
              <a:p>
                <a:endParaRPr lang="en-US" sz="800" dirty="0"/>
              </a:p>
              <a:p>
                <a:pPr lvl="1"/>
                <a:r>
                  <a:rPr lang="en-US" dirty="0"/>
                  <a:t>Cost </a:t>
                </a:r>
                <a:r>
                  <a:rPr lang="en-US" u="sng" dirty="0"/>
                  <a:t>today</a:t>
                </a:r>
                <a:r>
                  <a:rPr lang="en-US" dirty="0"/>
                  <a:t> is $1 million</a:t>
                </a:r>
              </a:p>
              <a:p>
                <a:pPr lvl="1"/>
                <a:r>
                  <a:rPr lang="en-US" dirty="0"/>
                  <a:t>If firm invested that $1 million instead and earned 10%, it would be worth $1 million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(1 + 0.10) = $1.1 million in one year</a:t>
                </a:r>
              </a:p>
              <a:p>
                <a:pPr lvl="1"/>
                <a:r>
                  <a:rPr lang="en-US" dirty="0"/>
                  <a:t>So, by doing investment, firm foregoes $1.1 million a year from now</a:t>
                </a:r>
              </a:p>
              <a:p>
                <a:pPr lvl="1"/>
                <a:endParaRPr lang="en-US" sz="80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5" t="-1592" r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CC46051-C0DE-8D49-8C17-170168AEE0E6}"/>
              </a:ext>
            </a:extLst>
          </p:cNvPr>
          <p:cNvSpPr txBox="1"/>
          <p:nvPr/>
        </p:nvSpPr>
        <p:spPr>
          <a:xfrm>
            <a:off x="622936" y="4842301"/>
            <a:ext cx="9072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Future value of benefit ($1.08 million) in is less than the future value of cost ($1.10 million)… You should </a:t>
            </a:r>
            <a:r>
              <a:rPr lang="en-US" sz="2400" u="sng" dirty="0"/>
              <a:t>not</a:t>
            </a:r>
            <a:r>
              <a:rPr lang="en-US" sz="2400" dirty="0"/>
              <a:t> do the investment!</a:t>
            </a:r>
          </a:p>
        </p:txBody>
      </p:sp>
    </p:spTree>
    <p:extLst>
      <p:ext uri="{BB962C8B-B14F-4D97-AF65-F5344CB8AC3E}">
        <p14:creationId xmlns:p14="http://schemas.microsoft.com/office/powerpoint/2010/main" val="17243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Present value</a:t>
            </a:r>
            <a:r>
              <a:rPr lang="en-US" dirty="0"/>
              <a:t> 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Cost </a:t>
                </a:r>
                <a:r>
                  <a:rPr lang="en-US" b="1" dirty="0"/>
                  <a:t>in today’s dollars</a:t>
                </a:r>
                <a:r>
                  <a:rPr lang="en-US" dirty="0"/>
                  <a:t> is $1 million</a:t>
                </a:r>
              </a:p>
              <a:p>
                <a:r>
                  <a:rPr lang="en-US" dirty="0"/>
                  <a:t>Benefit </a:t>
                </a:r>
                <a:r>
                  <a:rPr lang="en-US" b="1" dirty="0"/>
                  <a:t>in today’s dollars</a:t>
                </a:r>
                <a:r>
                  <a:rPr lang="en-US" dirty="0"/>
                  <a:t> is…</a:t>
                </a:r>
              </a:p>
              <a:p>
                <a:endParaRPr lang="en-US" sz="800" dirty="0"/>
              </a:p>
              <a:p>
                <a:pPr lvl="1"/>
                <a:r>
                  <a:rPr lang="en-US" dirty="0"/>
                  <a:t>Firm gets $1.08 million in one year</a:t>
                </a:r>
              </a:p>
              <a:p>
                <a:pPr lvl="1"/>
                <a:r>
                  <a:rPr lang="en-US" dirty="0"/>
                  <a:t>Ask yourself, “How much would the firm need to save today to get $1.08 million in one year?” That is the </a:t>
                </a:r>
                <a:r>
                  <a:rPr lang="en-US" u="sng" dirty="0"/>
                  <a:t>present value</a:t>
                </a:r>
                <a:r>
                  <a:rPr lang="en-US" dirty="0"/>
                  <a:t> of the future benefit:</a:t>
                </a:r>
              </a:p>
              <a:p>
                <a:pPr lvl="1"/>
                <a:endParaRPr lang="en-US" sz="800" dirty="0"/>
              </a:p>
              <a:p>
                <a:pPr lvl="2"/>
                <a:r>
                  <a:rPr lang="en-US" dirty="0"/>
                  <a:t>Present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(1 + 0.10) = $1.08 million </a:t>
                </a:r>
              </a:p>
              <a:p>
                <a:pPr lvl="2"/>
                <a:r>
                  <a:rPr lang="en-US" dirty="0"/>
                  <a:t>Present value = $981,818</a:t>
                </a:r>
              </a:p>
              <a:p>
                <a:pPr lvl="1"/>
                <a:endParaRPr lang="en-US" sz="80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5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CC46051-C0DE-8D49-8C17-170168AEE0E6}"/>
              </a:ext>
            </a:extLst>
          </p:cNvPr>
          <p:cNvSpPr txBox="1"/>
          <p:nvPr/>
        </p:nvSpPr>
        <p:spPr>
          <a:xfrm>
            <a:off x="677333" y="5257800"/>
            <a:ext cx="9373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Present value of benefit ($981,818) in is less than present value of the cost ($1 million)… Again, you should </a:t>
            </a:r>
            <a:r>
              <a:rPr lang="en-US" sz="2400" u="sng" dirty="0"/>
              <a:t>not</a:t>
            </a:r>
            <a:r>
              <a:rPr lang="en-US" sz="2400" dirty="0"/>
              <a:t> do the investment!</a:t>
            </a:r>
          </a:p>
        </p:txBody>
      </p:sp>
    </p:spTree>
    <p:extLst>
      <p:ext uri="{BB962C8B-B14F-4D97-AF65-F5344CB8AC3E}">
        <p14:creationId xmlns:p14="http://schemas.microsoft.com/office/powerpoint/2010/main" val="25718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recap so far…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54184" cy="4778022"/>
          </a:xfrm>
        </p:spPr>
        <p:txBody>
          <a:bodyPr>
            <a:normAutofit/>
          </a:bodyPr>
          <a:lstStyle/>
          <a:p>
            <a:r>
              <a:rPr lang="en-US" dirty="0"/>
              <a:t>To evaluate a decision, must value incremental costs &amp; benefits</a:t>
            </a:r>
          </a:p>
          <a:p>
            <a:r>
              <a:rPr lang="en-US" dirty="0"/>
              <a:t>To compare costs &amp; benefits that occur at different points in time, we must convert them all into values in today’s dollars</a:t>
            </a:r>
          </a:p>
          <a:p>
            <a:endParaRPr lang="en-US" sz="800" dirty="0"/>
          </a:p>
          <a:p>
            <a:pPr lvl="1"/>
            <a:r>
              <a:rPr lang="en-US" dirty="0"/>
              <a:t>A dollar one year from now is worth less than a dollar today</a:t>
            </a:r>
          </a:p>
          <a:p>
            <a:pPr lvl="1"/>
            <a:r>
              <a:rPr lang="en-US" dirty="0"/>
              <a:t>Can convert future cash flow, </a:t>
            </a:r>
            <a:r>
              <a:rPr lang="en-US" i="1" dirty="0"/>
              <a:t>C</a:t>
            </a:r>
            <a:r>
              <a:rPr lang="en-US" dirty="0"/>
              <a:t>, to a present value (PV) using the discount rate, </a:t>
            </a:r>
            <a:r>
              <a:rPr lang="en-US" i="1" dirty="0"/>
              <a:t>r</a:t>
            </a:r>
            <a:r>
              <a:rPr lang="en-US" dirty="0"/>
              <a:t>; specifically, PV = C / (1+r)</a:t>
            </a:r>
            <a:endParaRPr lang="en-US" baseline="300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82010-CBF9-2342-B0E7-04E3492EF956}"/>
              </a:ext>
            </a:extLst>
          </p:cNvPr>
          <p:cNvSpPr txBox="1"/>
          <p:nvPr/>
        </p:nvSpPr>
        <p:spPr>
          <a:xfrm>
            <a:off x="895560" y="4842301"/>
            <a:ext cx="60327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Now, we will talk more about net present value (NPV)… Do you recall what it was?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78142A-7609-795B-19BB-547DE75C2A50}"/>
              </a:ext>
            </a:extLst>
          </p:cNvPr>
          <p:cNvSpPr/>
          <p:nvPr/>
        </p:nvSpPr>
        <p:spPr>
          <a:xfrm>
            <a:off x="7255130" y="2621214"/>
            <a:ext cx="2442845" cy="422337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B3197F-1E60-6B41-7EBF-3DAE81514A18}"/>
              </a:ext>
            </a:extLst>
          </p:cNvPr>
          <p:cNvSpPr txBox="1"/>
          <p:nvPr/>
        </p:nvSpPr>
        <p:spPr>
          <a:xfrm>
            <a:off x="8572287" y="4574950"/>
            <a:ext cx="323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Otherwise, you make a “Henry” mistake…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91D8B7-BE4A-C075-9FA6-EE3DA96D59F1}"/>
              </a:ext>
            </a:extLst>
          </p:cNvPr>
          <p:cNvCxnSpPr>
            <a:cxnSpLocks/>
          </p:cNvCxnSpPr>
          <p:nvPr/>
        </p:nvCxnSpPr>
        <p:spPr>
          <a:xfrm flipH="1" flipV="1">
            <a:off x="9624561" y="3203737"/>
            <a:ext cx="508484" cy="1371213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1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 (NPV)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1003213" cy="4778022"/>
          </a:xfrm>
        </p:spPr>
        <p:txBody>
          <a:bodyPr>
            <a:normAutofit/>
          </a:bodyPr>
          <a:lstStyle/>
          <a:p>
            <a:r>
              <a:rPr lang="en-US" dirty="0"/>
              <a:t>In Finance, we typically do comparisons using present values</a:t>
            </a:r>
          </a:p>
          <a:p>
            <a:endParaRPr lang="en-US" sz="800" dirty="0"/>
          </a:p>
          <a:p>
            <a:pPr lvl="1"/>
            <a:r>
              <a:rPr lang="en-US" dirty="0"/>
              <a:t>First, convert all future costs &amp; benefits to present values</a:t>
            </a:r>
          </a:p>
          <a:p>
            <a:pPr lvl="1"/>
            <a:r>
              <a:rPr lang="en-US" dirty="0"/>
              <a:t>Then, calculate net present value (NPV), where</a:t>
            </a:r>
          </a:p>
          <a:p>
            <a:pPr lvl="1"/>
            <a:endParaRPr lang="en-US" dirty="0"/>
          </a:p>
          <a:p>
            <a:pPr lvl="1"/>
            <a:endParaRPr lang="en-US" sz="800" b="1" dirty="0"/>
          </a:p>
          <a:p>
            <a:pPr lvl="1"/>
            <a:endParaRPr lang="en-US" sz="800" b="1" dirty="0"/>
          </a:p>
          <a:p>
            <a:pPr lvl="1"/>
            <a:endParaRPr lang="en-US" sz="800" b="1" dirty="0"/>
          </a:p>
          <a:p>
            <a:pPr lvl="1"/>
            <a:endParaRPr lang="en-US" sz="800" b="1" dirty="0"/>
          </a:p>
          <a:p>
            <a:pPr lvl="1"/>
            <a:endParaRPr lang="en-US" sz="800" b="1" dirty="0"/>
          </a:p>
          <a:p>
            <a:pPr lvl="1"/>
            <a:endParaRPr lang="en-US" sz="800" b="1" dirty="0"/>
          </a:p>
          <a:p>
            <a:r>
              <a:rPr lang="en-US" b="1" dirty="0">
                <a:solidFill>
                  <a:srgbClr val="A51417"/>
                </a:solidFill>
              </a:rPr>
              <a:t>When should you do a project?</a:t>
            </a:r>
          </a:p>
          <a:p>
            <a:r>
              <a:rPr lang="en-US" b="1" dirty="0">
                <a:solidFill>
                  <a:srgbClr val="A51417"/>
                </a:solidFill>
              </a:rPr>
              <a:t>If choosing between projects, how might you do that?</a:t>
            </a:r>
            <a:endParaRPr lang="en-US" dirty="0">
              <a:solidFill>
                <a:srgbClr val="A51417"/>
              </a:solidFill>
            </a:endParaRPr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E6D7B-4F07-BD4C-8955-E05E2971C731}"/>
              </a:ext>
            </a:extLst>
          </p:cNvPr>
          <p:cNvSpPr txBox="1"/>
          <p:nvPr/>
        </p:nvSpPr>
        <p:spPr>
          <a:xfrm>
            <a:off x="1379411" y="3465991"/>
            <a:ext cx="8893479" cy="523220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NPV = Present value(benefits) – Present value(costs)</a:t>
            </a:r>
          </a:p>
        </p:txBody>
      </p:sp>
    </p:spTree>
    <p:extLst>
      <p:ext uri="{BB962C8B-B14F-4D97-AF65-F5344CB8AC3E}">
        <p14:creationId xmlns:p14="http://schemas.microsoft.com/office/powerpoint/2010/main" val="272785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NPV decision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237008" cy="4778022"/>
          </a:xfrm>
        </p:spPr>
        <p:txBody>
          <a:bodyPr>
            <a:normAutofit/>
          </a:bodyPr>
          <a:lstStyle/>
          <a:p>
            <a:r>
              <a:rPr lang="en-US" dirty="0"/>
              <a:t>If deciding whether to accept or reject a particular project, you accept the project if its NPV &gt; 0!</a:t>
            </a:r>
          </a:p>
          <a:p>
            <a:endParaRPr lang="en-US" sz="800" dirty="0"/>
          </a:p>
          <a:p>
            <a:pPr lvl="1"/>
            <a:r>
              <a:rPr lang="en-US" dirty="0"/>
              <a:t>Positive NPV project creates value; share price will go up</a:t>
            </a:r>
          </a:p>
          <a:p>
            <a:pPr lvl="1"/>
            <a:r>
              <a:rPr lang="en-US" dirty="0"/>
              <a:t>Negative NPV projects destroy value; share price will fall</a:t>
            </a:r>
          </a:p>
          <a:p>
            <a:pPr lvl="1"/>
            <a:endParaRPr lang="en-US" sz="800" dirty="0"/>
          </a:p>
          <a:p>
            <a:r>
              <a:rPr lang="en-US" dirty="0"/>
              <a:t>If choosing between multiple investments </a:t>
            </a:r>
            <a:r>
              <a:rPr lang="en-US" i="1" dirty="0"/>
              <a:t>[and you can only pick one]</a:t>
            </a:r>
            <a:r>
              <a:rPr lang="en-US" dirty="0"/>
              <a:t>, choose the one with the highest NPV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67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tools of financial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The evaluation of financial decisions involves computing the net present value of a project’s cash flows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b="1" dirty="0"/>
              <a:t>We will now cover 4 topics that will help you do this:</a:t>
            </a:r>
          </a:p>
          <a:p>
            <a:endParaRPr lang="en-US" sz="800" dirty="0"/>
          </a:p>
          <a:p>
            <a:pPr lvl="1"/>
            <a:r>
              <a:rPr lang="en-US" dirty="0"/>
              <a:t>Using timelines</a:t>
            </a:r>
          </a:p>
          <a:p>
            <a:pPr lvl="1"/>
            <a:r>
              <a:rPr lang="en-US" dirty="0"/>
              <a:t>Three rules for valuing cash flows</a:t>
            </a:r>
          </a:p>
          <a:p>
            <a:pPr lvl="1"/>
            <a:r>
              <a:rPr lang="en-US" dirty="0"/>
              <a:t>Valuing a stream of cash flows</a:t>
            </a:r>
          </a:p>
          <a:p>
            <a:pPr lvl="1"/>
            <a:r>
              <a:rPr lang="en-US" dirty="0"/>
              <a:t>Valuing perpetuities and annuities</a:t>
            </a:r>
          </a:p>
          <a:p>
            <a:pPr lvl="1"/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E0B8F-B876-FB4C-ACF9-E64712AF3ECF}"/>
              </a:ext>
            </a:extLst>
          </p:cNvPr>
          <p:cNvSpPr/>
          <p:nvPr/>
        </p:nvSpPr>
        <p:spPr>
          <a:xfrm>
            <a:off x="978763" y="3363986"/>
            <a:ext cx="5337705" cy="413240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96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Using Timelines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15444" cy="4778022"/>
          </a:xfrm>
        </p:spPr>
        <p:txBody>
          <a:bodyPr>
            <a:normAutofit/>
          </a:bodyPr>
          <a:lstStyle/>
          <a:p>
            <a:r>
              <a:rPr lang="en-US" dirty="0"/>
              <a:t>Cash flows from projects can be complicated!</a:t>
            </a:r>
          </a:p>
          <a:p>
            <a:endParaRPr lang="en-US" sz="800" dirty="0"/>
          </a:p>
          <a:p>
            <a:pPr lvl="1"/>
            <a:r>
              <a:rPr lang="en-US" dirty="0"/>
              <a:t>Some years will be negative, some will be positive</a:t>
            </a:r>
          </a:p>
          <a:p>
            <a:pPr lvl="1"/>
            <a:r>
              <a:rPr lang="en-US" dirty="0"/>
              <a:t>And cash flows can occur over many years</a:t>
            </a:r>
          </a:p>
          <a:p>
            <a:pPr lvl="1"/>
            <a:endParaRPr lang="en-US" sz="800" dirty="0"/>
          </a:p>
          <a:p>
            <a:r>
              <a:rPr lang="en-US" dirty="0"/>
              <a:t>So, it is important to create timelines to keep track of when cash flows occur and whether they are an outflow or inflow</a:t>
            </a:r>
          </a:p>
          <a:p>
            <a:endParaRPr lang="en-US" sz="800" dirty="0"/>
          </a:p>
          <a:p>
            <a:pPr lvl="1"/>
            <a:r>
              <a:rPr lang="en-US" dirty="0"/>
              <a:t>We typically do this in MS Excel (where each column or row represents a different period); you’ll see examples of this later in the next case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1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Timelines – </a:t>
            </a:r>
            <a:r>
              <a:rPr lang="en-US" i="1" dirty="0"/>
              <a:t>The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Designating the timing</a:t>
            </a:r>
          </a:p>
          <a:p>
            <a:endParaRPr lang="en-US" sz="800" dirty="0"/>
          </a:p>
          <a:p>
            <a:pPr lvl="1"/>
            <a:r>
              <a:rPr lang="en-US" dirty="0"/>
              <a:t>Put cash flows that occur </a:t>
            </a:r>
            <a:r>
              <a:rPr lang="en-US" u="sng" dirty="0"/>
              <a:t>immediately</a:t>
            </a:r>
            <a:r>
              <a:rPr lang="en-US" dirty="0"/>
              <a:t> at date </a:t>
            </a:r>
            <a:r>
              <a:rPr lang="en-US" i="1" dirty="0"/>
              <a:t>t</a:t>
            </a:r>
            <a:r>
              <a:rPr lang="en-US" dirty="0"/>
              <a:t> = 0</a:t>
            </a:r>
          </a:p>
          <a:p>
            <a:pPr lvl="1"/>
            <a:r>
              <a:rPr lang="en-US" dirty="0"/>
              <a:t>Put cash flows that occur one year from now at date </a:t>
            </a:r>
            <a:r>
              <a:rPr lang="en-US" i="1" dirty="0"/>
              <a:t>t </a:t>
            </a:r>
            <a:r>
              <a:rPr lang="en-US" dirty="0"/>
              <a:t>= 1</a:t>
            </a:r>
          </a:p>
          <a:p>
            <a:pPr lvl="1"/>
            <a:r>
              <a:rPr lang="en-US" dirty="0"/>
              <a:t>Put cash flows that occur two years from now at date </a:t>
            </a:r>
            <a:r>
              <a:rPr lang="en-US" i="1" dirty="0"/>
              <a:t>t</a:t>
            </a:r>
            <a:r>
              <a:rPr lang="en-US" dirty="0"/>
              <a:t> = 2</a:t>
            </a:r>
          </a:p>
          <a:p>
            <a:pPr lvl="1"/>
            <a:r>
              <a:rPr lang="en-US" dirty="0"/>
              <a:t>And so on…</a:t>
            </a:r>
          </a:p>
          <a:p>
            <a:pPr lvl="1"/>
            <a:endParaRPr lang="en-US" sz="800" dirty="0"/>
          </a:p>
          <a:p>
            <a:r>
              <a:rPr lang="en-US" dirty="0"/>
              <a:t>Inflows versus outflows</a:t>
            </a:r>
          </a:p>
          <a:p>
            <a:endParaRPr lang="en-US" sz="800" dirty="0"/>
          </a:p>
          <a:p>
            <a:pPr lvl="1"/>
            <a:r>
              <a:rPr lang="en-US" dirty="0"/>
              <a:t>Inflows are positive cash flows</a:t>
            </a:r>
          </a:p>
          <a:p>
            <a:pPr lvl="1"/>
            <a:r>
              <a:rPr lang="en-US" dirty="0"/>
              <a:t>Outflows are negative cash flows, which are indicated with a minus sign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57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80951" cy="4778022"/>
          </a:xfrm>
        </p:spPr>
        <p:txBody>
          <a:bodyPr/>
          <a:lstStyle/>
          <a:p>
            <a:r>
              <a:rPr lang="en-US" dirty="0"/>
              <a:t>Product costs $10,000 to launch</a:t>
            </a:r>
          </a:p>
          <a:p>
            <a:r>
              <a:rPr lang="en-US" dirty="0"/>
              <a:t>Generates positive cash flows of $6,000 one year from now and and two years from now</a:t>
            </a:r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7" name="Picture 6" descr="Box and whisker chart&#10;&#10;Description automatically generated with medium confidence">
            <a:extLst>
              <a:ext uri="{FF2B5EF4-FFF2-40B4-BE49-F238E27FC236}">
                <a16:creationId xmlns:a16="http://schemas.microsoft.com/office/drawing/2014/main" id="{28D06EA3-97BC-5C49-8571-06262AA94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50" y="3244930"/>
            <a:ext cx="8674100" cy="1930400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6E2E103F-6CAC-8A49-8EB3-4AAB7215B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706" y="5175330"/>
            <a:ext cx="4936990" cy="65503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5A2F47-6278-3B4B-AE0F-92511692F0CC}"/>
              </a:ext>
            </a:extLst>
          </p:cNvPr>
          <p:cNvSpPr/>
          <p:nvPr/>
        </p:nvSpPr>
        <p:spPr>
          <a:xfrm>
            <a:off x="3630449" y="4631052"/>
            <a:ext cx="1456706" cy="548407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1122-B7FF-9048-8700-6A3A50A7667F}"/>
              </a:ext>
            </a:extLst>
          </p:cNvPr>
          <p:cNvSpPr txBox="1"/>
          <p:nvPr/>
        </p:nvSpPr>
        <p:spPr>
          <a:xfrm>
            <a:off x="652531" y="5589559"/>
            <a:ext cx="2761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Negative because it is an outflow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5DA20B-19C6-3A40-B89D-B19B3A844097}"/>
              </a:ext>
            </a:extLst>
          </p:cNvPr>
          <p:cNvCxnSpPr>
            <a:cxnSpLocks/>
          </p:cNvCxnSpPr>
          <p:nvPr/>
        </p:nvCxnSpPr>
        <p:spPr>
          <a:xfrm flipV="1">
            <a:off x="3052293" y="5225925"/>
            <a:ext cx="452390" cy="363634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77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Three rules for valuing cash flows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902111" cy="477802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Only values at same point in time can be compared or combined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 calculate a cash flow’s future value, we must compound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 calculate a cash flow’s present value, we must discount it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03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967091" cy="980194"/>
          </a:xfrm>
        </p:spPr>
        <p:txBody>
          <a:bodyPr/>
          <a:lstStyle/>
          <a:p>
            <a:r>
              <a:rPr lang="en-US" dirty="0"/>
              <a:t>Rule #1 – Compare values at same point in time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746673" cy="4778022"/>
          </a:xfrm>
        </p:spPr>
        <p:txBody>
          <a:bodyPr>
            <a:normAutofit/>
          </a:bodyPr>
          <a:lstStyle/>
          <a:p>
            <a:r>
              <a:rPr lang="en-US" dirty="0"/>
              <a:t>Returning to prior example, we can’t directly compare or combine the cash flows because they occur at different times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do a proper comparison, we need to apply Rules #2 and #3 to convert all cash flows to the same time period…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4" name="Picture 3" descr="Box and whisker chart&#10;&#10;Description automatically generated with medium confidence">
            <a:extLst>
              <a:ext uri="{FF2B5EF4-FFF2-40B4-BE49-F238E27FC236}">
                <a16:creationId xmlns:a16="http://schemas.microsoft.com/office/drawing/2014/main" id="{1508498C-161E-674B-AC72-C38D8A368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950" y="2918359"/>
            <a:ext cx="86741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7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#2 – Finding </a:t>
            </a:r>
            <a:r>
              <a:rPr lang="en-US" u="sng" dirty="0"/>
              <a:t>future</a:t>
            </a:r>
            <a:r>
              <a:rPr lang="en-US" dirty="0"/>
              <a:t> values of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 move a cash flow forward in time, you must </a:t>
            </a:r>
            <a:r>
              <a:rPr lang="en-US" b="1" u="sng" dirty="0"/>
              <a:t>compound</a:t>
            </a:r>
            <a:r>
              <a:rPr lang="en-US" b="1" dirty="0"/>
              <a:t> it</a:t>
            </a:r>
            <a:endParaRPr lang="en-US" sz="800" b="1" dirty="0"/>
          </a:p>
          <a:p>
            <a:r>
              <a:rPr lang="en-US" dirty="0"/>
              <a:t>Let’s do an example:</a:t>
            </a:r>
          </a:p>
          <a:p>
            <a:endParaRPr lang="en-US" sz="800" dirty="0"/>
          </a:p>
          <a:p>
            <a:pPr lvl="1"/>
            <a:r>
              <a:rPr lang="en-US" dirty="0"/>
              <a:t>Suppose you have can receive $1,000 today </a:t>
            </a:r>
            <a:r>
              <a:rPr lang="en-US" b="1" u="sng" dirty="0"/>
              <a:t>or</a:t>
            </a:r>
            <a:r>
              <a:rPr lang="en-US" dirty="0"/>
              <a:t> $1,200 in two years</a:t>
            </a:r>
          </a:p>
          <a:p>
            <a:pPr lvl="1"/>
            <a:r>
              <a:rPr lang="en-US" dirty="0"/>
              <a:t>You can earn 10% annually on the $1,000 today if you invest it </a:t>
            </a:r>
          </a:p>
          <a:p>
            <a:pPr lvl="1"/>
            <a:r>
              <a:rPr lang="en-US" dirty="0"/>
              <a:t>Which is better? To answer, you could find future value of that $1,000 today and compare it to the $1,200 in two years </a:t>
            </a:r>
            <a:r>
              <a:rPr lang="en-US" i="1" dirty="0"/>
              <a:t>[see next slide]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27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F039AE75-8E41-A047-9CCC-C12CBBB2F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888" y="1600200"/>
            <a:ext cx="7160986" cy="19513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#2 – Example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  <a:p>
            <a:r>
              <a:rPr lang="en-US" dirty="0"/>
              <a:t>In this example, you prefer $1,000 today</a:t>
            </a:r>
          </a:p>
          <a:p>
            <a:pPr marL="457200" lvl="1" indent="0">
              <a:buNone/>
            </a:pPr>
            <a:endParaRPr lang="en-US" sz="400" dirty="0"/>
          </a:p>
          <a:p>
            <a:endParaRPr lang="en-US" sz="800" dirty="0"/>
          </a:p>
          <a:p>
            <a:pPr lvl="1"/>
            <a:r>
              <a:rPr lang="en-US" dirty="0"/>
              <a:t>$1,000 today has the same value as $1,210 in two years, which is greater than the $1,200 you could get otherwise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52FF5D-A432-6F48-A8A6-B321FC50010D}"/>
              </a:ext>
            </a:extLst>
          </p:cNvPr>
          <p:cNvSpPr/>
          <p:nvPr/>
        </p:nvSpPr>
        <p:spPr>
          <a:xfrm>
            <a:off x="3487967" y="2742480"/>
            <a:ext cx="1712841" cy="5666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9CC04-339B-4941-A624-E4E55917EB13}"/>
              </a:ext>
            </a:extLst>
          </p:cNvPr>
          <p:cNvSpPr/>
          <p:nvPr/>
        </p:nvSpPr>
        <p:spPr>
          <a:xfrm>
            <a:off x="5345168" y="2801599"/>
            <a:ext cx="939518" cy="5666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480B62-E03F-AB43-A868-7824A1AC1168}"/>
              </a:ext>
            </a:extLst>
          </p:cNvPr>
          <p:cNvSpPr/>
          <p:nvPr/>
        </p:nvSpPr>
        <p:spPr>
          <a:xfrm>
            <a:off x="6350620" y="2742479"/>
            <a:ext cx="1791894" cy="5666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07706C-6759-DA4A-927F-305F3375E931}"/>
              </a:ext>
            </a:extLst>
          </p:cNvPr>
          <p:cNvSpPr/>
          <p:nvPr/>
        </p:nvSpPr>
        <p:spPr>
          <a:xfrm>
            <a:off x="8142514" y="2772571"/>
            <a:ext cx="994229" cy="5666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7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#2 – Future value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More generally, for the cash flow </a:t>
            </a:r>
            <a:r>
              <a:rPr lang="en-US" i="1" dirty="0"/>
              <a:t>C</a:t>
            </a:r>
            <a:r>
              <a:rPr lang="en-US" dirty="0"/>
              <a:t> that occurs today, its future value (FV) in year </a:t>
            </a:r>
            <a:r>
              <a:rPr lang="en-US" i="1" dirty="0"/>
              <a:t>n </a:t>
            </a:r>
            <a:r>
              <a:rPr lang="en-US" dirty="0"/>
              <a:t>using interest rate </a:t>
            </a:r>
            <a:r>
              <a:rPr lang="en-US" i="1" dirty="0"/>
              <a:t>r </a:t>
            </a:r>
            <a:r>
              <a:rPr lang="en-US" dirty="0"/>
              <a:t>is given by</a:t>
            </a:r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EC1AC6A2-BAE8-3246-99C3-289113D07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258" y="2908281"/>
            <a:ext cx="4256314" cy="104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1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#3 – Finding </a:t>
            </a:r>
            <a:r>
              <a:rPr lang="en-US" u="sng" dirty="0"/>
              <a:t>present</a:t>
            </a:r>
            <a:r>
              <a:rPr lang="en-US" dirty="0"/>
              <a:t> values of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 move a cash flow back in time, you must </a:t>
            </a:r>
            <a:r>
              <a:rPr lang="en-US" b="1" u="sng" dirty="0"/>
              <a:t>discount</a:t>
            </a:r>
            <a:r>
              <a:rPr lang="en-US" b="1" dirty="0"/>
              <a:t> it</a:t>
            </a:r>
            <a:endParaRPr lang="en-US" sz="800" b="1" dirty="0"/>
          </a:p>
          <a:p>
            <a:endParaRPr lang="en-US" sz="800" dirty="0"/>
          </a:p>
          <a:p>
            <a:r>
              <a:rPr lang="en-US" dirty="0"/>
              <a:t>Let’s do an example:</a:t>
            </a:r>
          </a:p>
          <a:p>
            <a:endParaRPr lang="en-US" sz="800" dirty="0"/>
          </a:p>
          <a:p>
            <a:pPr lvl="1"/>
            <a:r>
              <a:rPr lang="en-US" dirty="0"/>
              <a:t>Firm will receive $1,000 two years from now</a:t>
            </a:r>
          </a:p>
          <a:p>
            <a:pPr lvl="1"/>
            <a:r>
              <a:rPr lang="en-US" dirty="0"/>
              <a:t>Current interest rate is 10%</a:t>
            </a:r>
          </a:p>
          <a:p>
            <a:pPr lvl="1"/>
            <a:r>
              <a:rPr lang="en-US" b="1" dirty="0">
                <a:solidFill>
                  <a:srgbClr val="A51417"/>
                </a:solidFill>
              </a:rPr>
              <a:t>What is present value of that $1,000 today?</a:t>
            </a:r>
          </a:p>
          <a:p>
            <a:endParaRPr lang="en-US" dirty="0"/>
          </a:p>
        </p:txBody>
      </p:sp>
      <p:pic>
        <p:nvPicPr>
          <p:cNvPr id="8" name="Picture 7" descr="Chart, box and whisker chart&#10;&#10;Description automatically generated">
            <a:extLst>
              <a:ext uri="{FF2B5EF4-FFF2-40B4-BE49-F238E27FC236}">
                <a16:creationId xmlns:a16="http://schemas.microsoft.com/office/drawing/2014/main" id="{69D22754-AA22-1949-8BA6-91E0434D3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580" y="4471200"/>
            <a:ext cx="7370025" cy="194935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652FF5D-A432-6F48-A8A6-B321FC50010D}"/>
              </a:ext>
            </a:extLst>
          </p:cNvPr>
          <p:cNvSpPr/>
          <p:nvPr/>
        </p:nvSpPr>
        <p:spPr>
          <a:xfrm>
            <a:off x="6928835" y="5641822"/>
            <a:ext cx="1506828" cy="5666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9CC04-339B-4941-A624-E4E55917EB13}"/>
              </a:ext>
            </a:extLst>
          </p:cNvPr>
          <p:cNvSpPr/>
          <p:nvPr/>
        </p:nvSpPr>
        <p:spPr>
          <a:xfrm>
            <a:off x="5592893" y="5591717"/>
            <a:ext cx="1184858" cy="5666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480B62-E03F-AB43-A868-7824A1AC1168}"/>
              </a:ext>
            </a:extLst>
          </p:cNvPr>
          <p:cNvSpPr/>
          <p:nvPr/>
        </p:nvSpPr>
        <p:spPr>
          <a:xfrm>
            <a:off x="3849831" y="5669866"/>
            <a:ext cx="1591978" cy="5666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07706C-6759-DA4A-927F-305F3375E931}"/>
              </a:ext>
            </a:extLst>
          </p:cNvPr>
          <p:cNvSpPr/>
          <p:nvPr/>
        </p:nvSpPr>
        <p:spPr>
          <a:xfrm>
            <a:off x="2599039" y="5627532"/>
            <a:ext cx="1250792" cy="5666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6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#3 – Present value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More generally, we can calculate the present value of cash flow </a:t>
            </a:r>
            <a:r>
              <a:rPr lang="en-US" i="1" dirty="0"/>
              <a:t>C</a:t>
            </a:r>
            <a:r>
              <a:rPr lang="en-US" dirty="0"/>
              <a:t> that occurs </a:t>
            </a:r>
            <a:r>
              <a:rPr lang="en-US" i="1" dirty="0"/>
              <a:t>n</a:t>
            </a:r>
            <a:r>
              <a:rPr lang="en-US" dirty="0"/>
              <a:t> years away using</a:t>
            </a:r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3D3A2132-A1E9-1641-BDFA-37881B64A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853" y="3043976"/>
            <a:ext cx="6245448" cy="169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9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</a:t>
            </a:r>
            <a:r>
              <a:rPr lang="en-US" i="1" dirty="0"/>
              <a:t>[Example 3.4 from textbook]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5 minutes to answer below question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233E0F-3B10-6742-9138-817DD48BC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203977"/>
            <a:ext cx="10717561" cy="116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4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Valuing a stream of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Can combine the 3 rules to value an entire stream of cash flows</a:t>
            </a:r>
          </a:p>
          <a:p>
            <a:endParaRPr lang="en-US" sz="800" dirty="0"/>
          </a:p>
          <a:p>
            <a:pPr lvl="1"/>
            <a:r>
              <a:rPr lang="en-US" b="1" dirty="0"/>
              <a:t>Basic idea </a:t>
            </a:r>
            <a:r>
              <a:rPr lang="en-US" dirty="0"/>
              <a:t>= Calculate present value of each cash flow; then add them all together to find total present value!</a:t>
            </a:r>
          </a:p>
          <a:p>
            <a:endParaRPr lang="en-US" sz="800" dirty="0"/>
          </a:p>
          <a:p>
            <a:r>
              <a:rPr lang="en-US" u="sng" dirty="0"/>
              <a:t>Let’s do this now using earlier example</a:t>
            </a:r>
          </a:p>
          <a:p>
            <a:endParaRPr lang="en-US" sz="800" dirty="0"/>
          </a:p>
          <a:p>
            <a:pPr lvl="1"/>
            <a:r>
              <a:rPr lang="en-US" dirty="0"/>
              <a:t>Product costs $10,000 to launch</a:t>
            </a:r>
          </a:p>
          <a:p>
            <a:pPr lvl="1"/>
            <a:r>
              <a:rPr lang="en-US" dirty="0"/>
              <a:t>Generates cash flow of $6,000 both one and two years from now</a:t>
            </a:r>
          </a:p>
          <a:p>
            <a:pPr lvl="1"/>
            <a:r>
              <a:rPr lang="en-US" dirty="0"/>
              <a:t>We’ll assume appropriate discount rate is 10%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00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Valuing cash flow streams – </a:t>
            </a:r>
            <a:r>
              <a:rPr lang="en-US" i="1" dirty="0"/>
              <a:t>Example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The present value of all three cash flows is $413.22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4" name="Picture 3" descr="Box and whisker chart&#10;&#10;Description automatically generated with medium confidence">
            <a:extLst>
              <a:ext uri="{FF2B5EF4-FFF2-40B4-BE49-F238E27FC236}">
                <a16:creationId xmlns:a16="http://schemas.microsoft.com/office/drawing/2014/main" id="{B135C692-74F0-6149-91D2-FE4BC33D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419" y="1660869"/>
            <a:ext cx="7581161" cy="1687169"/>
          </a:xfrm>
          <a:prstGeom prst="rect">
            <a:avLst/>
          </a:prstGeom>
        </p:spPr>
      </p:pic>
      <p:sp>
        <p:nvSpPr>
          <p:cNvPr id="5" name="Line 12">
            <a:extLst>
              <a:ext uri="{FF2B5EF4-FFF2-40B4-BE49-F238E27FC236}">
                <a16:creationId xmlns:a16="http://schemas.microsoft.com/office/drawing/2014/main" id="{F6C86750-4326-A94A-823B-54AA5A5BFF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6626" y="3729606"/>
            <a:ext cx="1409693" cy="0"/>
          </a:xfrm>
          <a:prstGeom prst="line">
            <a:avLst/>
          </a:prstGeom>
          <a:noFill/>
          <a:ln w="22225">
            <a:solidFill>
              <a:srgbClr val="566568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4">
            <a:extLst>
              <a:ext uri="{FF2B5EF4-FFF2-40B4-BE49-F238E27FC236}">
                <a16:creationId xmlns:a16="http://schemas.microsoft.com/office/drawing/2014/main" id="{28036340-9E3E-AC47-8274-B4CFD8AD9E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37892" y="3283811"/>
            <a:ext cx="1" cy="392787"/>
          </a:xfrm>
          <a:prstGeom prst="line">
            <a:avLst/>
          </a:prstGeom>
          <a:noFill/>
          <a:ln w="22225">
            <a:solidFill>
              <a:srgbClr val="566568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2312C-A797-7649-BB48-1C25DBE4347C}"/>
              </a:ext>
            </a:extLst>
          </p:cNvPr>
          <p:cNvSpPr txBox="1"/>
          <p:nvPr/>
        </p:nvSpPr>
        <p:spPr>
          <a:xfrm>
            <a:off x="4334738" y="349825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$5,454.55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A032F0-62E8-8C46-8BA0-5CDED6454A00}"/>
                  </a:ext>
                </a:extLst>
              </p:cNvPr>
              <p:cNvSpPr txBox="1"/>
              <p:nvPr/>
            </p:nvSpPr>
            <p:spPr>
              <a:xfrm>
                <a:off x="5841806" y="3391360"/>
                <a:ext cx="8996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A032F0-62E8-8C46-8BA0-5CDED6454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06" y="3391360"/>
                <a:ext cx="8996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12">
            <a:extLst>
              <a:ext uri="{FF2B5EF4-FFF2-40B4-BE49-F238E27FC236}">
                <a16:creationId xmlns:a16="http://schemas.microsoft.com/office/drawing/2014/main" id="{F4D96E69-11AA-E84E-AD80-8D4572DE7D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6626" y="4205798"/>
            <a:ext cx="3728990" cy="0"/>
          </a:xfrm>
          <a:prstGeom prst="line">
            <a:avLst/>
          </a:prstGeom>
          <a:noFill/>
          <a:ln w="22225">
            <a:solidFill>
              <a:srgbClr val="566568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658A3C-E84F-224E-8419-CB0FFEE06B7D}"/>
                  </a:ext>
                </a:extLst>
              </p:cNvPr>
              <p:cNvSpPr txBox="1"/>
              <p:nvPr/>
            </p:nvSpPr>
            <p:spPr>
              <a:xfrm>
                <a:off x="7577239" y="3867591"/>
                <a:ext cx="10069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658A3C-E84F-224E-8419-CB0FFEE0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239" y="3867591"/>
                <a:ext cx="100694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7945A43-1CEA-294B-A36F-DF7D2DCACC63}"/>
              </a:ext>
            </a:extLst>
          </p:cNvPr>
          <p:cNvSpPr txBox="1"/>
          <p:nvPr/>
        </p:nvSpPr>
        <p:spPr>
          <a:xfrm>
            <a:off x="4327453" y="4021130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$4,958.68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D7357FA-96F7-D044-871D-D0D6857C40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30512" y="3313514"/>
            <a:ext cx="1" cy="892282"/>
          </a:xfrm>
          <a:prstGeom prst="line">
            <a:avLst/>
          </a:prstGeom>
          <a:noFill/>
          <a:ln w="22225">
            <a:solidFill>
              <a:srgbClr val="566568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1ECF7C87-FE91-394F-965E-2B1BBCDE1C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51031" y="4487264"/>
            <a:ext cx="159688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5E940C-2171-3E49-8DA0-5C25D6E67501}"/>
              </a:ext>
            </a:extLst>
          </p:cNvPr>
          <p:cNvSpPr txBox="1"/>
          <p:nvPr/>
        </p:nvSpPr>
        <p:spPr>
          <a:xfrm>
            <a:off x="3520348" y="4628952"/>
            <a:ext cx="2024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=     $413.22</a:t>
            </a:r>
          </a:p>
        </p:txBody>
      </p:sp>
    </p:spTree>
    <p:extLst>
      <p:ext uri="{BB962C8B-B14F-4D97-AF65-F5344CB8AC3E}">
        <p14:creationId xmlns:p14="http://schemas.microsoft.com/office/powerpoint/2010/main" val="74269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10" grpId="0" animBg="1"/>
      <p:bldP spid="11" grpId="0"/>
      <p:bldP spid="12" grpId="0"/>
      <p:bldP spid="13" grpId="0" animBg="1"/>
      <p:bldP spid="14" grpId="0" animBg="1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formula for valuing stream of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4727" y="1642534"/>
            <a:ext cx="5153197" cy="4778022"/>
          </a:xfrm>
        </p:spPr>
        <p:txBody>
          <a:bodyPr>
            <a:normAutofit/>
          </a:bodyPr>
          <a:lstStyle/>
          <a:p>
            <a:r>
              <a:rPr lang="en-US" dirty="0"/>
              <a:t>Applying the rules more generally, we can express present value (PV) of a cash flow stream using:</a:t>
            </a:r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E10EFF5-0A14-094C-A7DF-A40252935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93" y="1642534"/>
            <a:ext cx="4742720" cy="4237893"/>
          </a:xfrm>
          <a:prstGeom prst="rect">
            <a:avLst/>
          </a:prstGeom>
        </p:spPr>
      </p:pic>
      <p:pic>
        <p:nvPicPr>
          <p:cNvPr id="10" name="Picture 9" descr="Diagram&#10;&#10;Description automatically generated with low confidence">
            <a:extLst>
              <a:ext uri="{FF2B5EF4-FFF2-40B4-BE49-F238E27FC236}">
                <a16:creationId xmlns:a16="http://schemas.microsoft.com/office/drawing/2014/main" id="{F54F2A6D-5FF5-1D43-BDC9-E6755F16D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074" y="3688155"/>
            <a:ext cx="5580706" cy="9102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FCAC02-361D-2547-8D3B-C5E1A07F77DD}"/>
              </a:ext>
            </a:extLst>
          </p:cNvPr>
          <p:cNvSpPr/>
          <p:nvPr/>
        </p:nvSpPr>
        <p:spPr>
          <a:xfrm>
            <a:off x="871275" y="2479431"/>
            <a:ext cx="1827963" cy="7737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8BF10C-5258-4142-8759-24C7ED54E546}"/>
              </a:ext>
            </a:extLst>
          </p:cNvPr>
          <p:cNvSpPr/>
          <p:nvPr/>
        </p:nvSpPr>
        <p:spPr>
          <a:xfrm>
            <a:off x="3253154" y="2479431"/>
            <a:ext cx="958361" cy="1257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CAF56-FD4E-9844-80B4-B1134F879F97}"/>
              </a:ext>
            </a:extLst>
          </p:cNvPr>
          <p:cNvSpPr/>
          <p:nvPr/>
        </p:nvSpPr>
        <p:spPr>
          <a:xfrm>
            <a:off x="871275" y="3429000"/>
            <a:ext cx="2909418" cy="6874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3ABA01-0450-BE40-BFDF-E35ABD8BECFB}"/>
              </a:ext>
            </a:extLst>
          </p:cNvPr>
          <p:cNvSpPr/>
          <p:nvPr/>
        </p:nvSpPr>
        <p:spPr>
          <a:xfrm>
            <a:off x="4967653" y="2470638"/>
            <a:ext cx="117231" cy="23035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AE806A-2598-1D4C-A5F5-59457EC24173}"/>
              </a:ext>
            </a:extLst>
          </p:cNvPr>
          <p:cNvSpPr/>
          <p:nvPr/>
        </p:nvSpPr>
        <p:spPr>
          <a:xfrm>
            <a:off x="853691" y="4107635"/>
            <a:ext cx="4235604" cy="9583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EF39D5-D742-CD43-827B-714610F31E61}"/>
              </a:ext>
            </a:extLst>
          </p:cNvPr>
          <p:cNvSpPr/>
          <p:nvPr/>
        </p:nvSpPr>
        <p:spPr>
          <a:xfrm>
            <a:off x="849280" y="5065996"/>
            <a:ext cx="4235604" cy="6649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8C35F50-D315-074F-8DC7-E889960CED15}"/>
                  </a:ext>
                </a:extLst>
              </p:cNvPr>
              <p:cNvSpPr txBox="1"/>
              <p:nvPr/>
            </p:nvSpPr>
            <p:spPr>
              <a:xfrm>
                <a:off x="5950074" y="4774223"/>
                <a:ext cx="2599594" cy="1038811"/>
              </a:xfrm>
              <a:prstGeom prst="rect">
                <a:avLst/>
              </a:prstGeom>
              <a:solidFill>
                <a:srgbClr val="E1E1E1">
                  <a:alpha val="30000"/>
                </a:srgb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8C35F50-D315-074F-8DC7-E889960CE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074" y="4774223"/>
                <a:ext cx="2599594" cy="1038811"/>
              </a:xfrm>
              <a:prstGeom prst="rect">
                <a:avLst/>
              </a:prstGeom>
              <a:blipFill>
                <a:blip r:embed="rId5"/>
                <a:stretch>
                  <a:fillRect l="-9709" t="-114458" b="-175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66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Valuing perpetuities and annuities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In next few slides, I’ll show you shortcuts you can use to find the  present value for two common types of cash flow streams</a:t>
            </a:r>
          </a:p>
          <a:p>
            <a:endParaRPr lang="en-US" sz="800" dirty="0"/>
          </a:p>
          <a:p>
            <a:pPr lvl="1"/>
            <a:r>
              <a:rPr lang="en-US" b="1" dirty="0"/>
              <a:t>Note: I’m </a:t>
            </a:r>
            <a:r>
              <a:rPr lang="en-US" b="1" u="sng" dirty="0"/>
              <a:t>not</a:t>
            </a:r>
            <a:r>
              <a:rPr lang="en-US" b="1" dirty="0"/>
              <a:t> showing you how these formulas are derived; if you are interested in that, please see Chapter 4 of textbook</a:t>
            </a:r>
            <a:endParaRPr lang="en-US" dirty="0"/>
          </a:p>
          <a:p>
            <a:endParaRPr lang="en-US" sz="800" dirty="0"/>
          </a:p>
          <a:p>
            <a:r>
              <a:rPr lang="en-US" dirty="0"/>
              <a:t>The two cash flows are:</a:t>
            </a:r>
          </a:p>
          <a:p>
            <a:endParaRPr lang="en-US" sz="800" dirty="0"/>
          </a:p>
          <a:p>
            <a:pPr lvl="1"/>
            <a:r>
              <a:rPr lang="en-US" dirty="0"/>
              <a:t>Perpetuity</a:t>
            </a:r>
          </a:p>
          <a:p>
            <a:pPr lvl="1"/>
            <a:r>
              <a:rPr lang="en-US" dirty="0"/>
              <a:t>Annuity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907B4F-0B58-5E41-B0D6-2363A255D68D}"/>
              </a:ext>
            </a:extLst>
          </p:cNvPr>
          <p:cNvSpPr txBox="1"/>
          <p:nvPr/>
        </p:nvSpPr>
        <p:spPr>
          <a:xfrm>
            <a:off x="6830369" y="4357363"/>
            <a:ext cx="4388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What type of cash flow stream do they each refer to?</a:t>
            </a:r>
          </a:p>
        </p:txBody>
      </p:sp>
    </p:spTree>
    <p:extLst>
      <p:ext uri="{BB962C8B-B14F-4D97-AF65-F5344CB8AC3E}">
        <p14:creationId xmlns:p14="http://schemas.microsoft.com/office/powerpoint/2010/main" val="11296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to value a perpetuity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370" y="1694020"/>
            <a:ext cx="4886498" cy="4778022"/>
          </a:xfrm>
        </p:spPr>
        <p:txBody>
          <a:bodyPr>
            <a:normAutofit/>
          </a:bodyPr>
          <a:lstStyle/>
          <a:p>
            <a:r>
              <a:rPr lang="en-US" b="1" dirty="0"/>
              <a:t>Perpetuity </a:t>
            </a:r>
            <a:r>
              <a:rPr lang="en-US" dirty="0"/>
              <a:t>= a stream of equal cash flows that occurs at regular intervals and lasts </a:t>
            </a:r>
            <a:r>
              <a:rPr lang="en-US" u="sng" dirty="0"/>
              <a:t>forever</a:t>
            </a:r>
          </a:p>
          <a:p>
            <a:endParaRPr lang="en-US" sz="800" dirty="0"/>
          </a:p>
          <a:p>
            <a:r>
              <a:rPr lang="en-US" dirty="0"/>
              <a:t>To find present value, simply divide cash flow by the interest rate</a:t>
            </a:r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7B31580B-C695-794C-99D2-D82BF9FFA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846" y="2177597"/>
            <a:ext cx="5844695" cy="1045460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A302C8A6-BF3B-FE41-BF85-436ED42C6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70" y="5243111"/>
            <a:ext cx="4074747" cy="814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6628BA-2B40-3D47-9AF3-2BB4D3401101}"/>
              </a:ext>
            </a:extLst>
          </p:cNvPr>
          <p:cNvSpPr txBox="1"/>
          <p:nvPr/>
        </p:nvSpPr>
        <p:spPr>
          <a:xfrm>
            <a:off x="6547556" y="3966443"/>
            <a:ext cx="27613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Notice first cash flow always starts </a:t>
            </a:r>
            <a:r>
              <a:rPr lang="en-US" sz="2400" u="sng" dirty="0"/>
              <a:t>one period away</a:t>
            </a:r>
            <a:r>
              <a:rPr lang="en-US" sz="2400" dirty="0"/>
              <a:t>! This will also be true for annuities.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39BC01-0F4D-9E4F-BB00-A33ED642F15B}"/>
              </a:ext>
            </a:extLst>
          </p:cNvPr>
          <p:cNvCxnSpPr>
            <a:cxnSpLocks/>
          </p:cNvCxnSpPr>
          <p:nvPr/>
        </p:nvCxnSpPr>
        <p:spPr>
          <a:xfrm flipV="1">
            <a:off x="7689822" y="3318236"/>
            <a:ext cx="0" cy="594341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05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to value a </a:t>
            </a:r>
            <a:r>
              <a:rPr lang="en-US" u="sng" dirty="0">
                <a:solidFill>
                  <a:srgbClr val="A51417"/>
                </a:solidFill>
              </a:rPr>
              <a:t>growing</a:t>
            </a:r>
            <a:r>
              <a:rPr lang="en-US" dirty="0"/>
              <a:t> perpetuity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370" y="1694020"/>
            <a:ext cx="10445260" cy="4778022"/>
          </a:xfrm>
        </p:spPr>
        <p:txBody>
          <a:bodyPr>
            <a:normAutofit/>
          </a:bodyPr>
          <a:lstStyle/>
          <a:p>
            <a:r>
              <a:rPr lang="en-US" dirty="0"/>
              <a:t>Now, the cash flow each period grows at a constant rate </a:t>
            </a:r>
            <a:r>
              <a:rPr lang="en-US" i="1" dirty="0"/>
              <a:t>g</a:t>
            </a:r>
          </a:p>
          <a:p>
            <a:endParaRPr lang="en-US" sz="800" i="1" dirty="0"/>
          </a:p>
          <a:p>
            <a:pPr lvl="1"/>
            <a:r>
              <a:rPr lang="en-US" b="1" dirty="0"/>
              <a:t>For example, a growing perpetuity where the first payment is $100 and grows at 3% would look like:</a:t>
            </a:r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To value, use:</a:t>
            </a:r>
          </a:p>
          <a:p>
            <a:endParaRPr lang="en-US" sz="800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5" name="Picture 4" descr="Timeline&#10;&#10;Description automatically generated with low confidence">
            <a:extLst>
              <a:ext uri="{FF2B5EF4-FFF2-40B4-BE49-F238E27FC236}">
                <a16:creationId xmlns:a16="http://schemas.microsoft.com/office/drawing/2014/main" id="{BA29474C-634F-8F4B-BAD6-7CC2A5D38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014" y="3401185"/>
            <a:ext cx="7502525" cy="1319593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D2687D1D-69DA-FE41-8944-A88BA51D0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492" y="5100996"/>
            <a:ext cx="4114800" cy="825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95E358-D8BC-2941-86B4-C3F6612085C6}"/>
              </a:ext>
            </a:extLst>
          </p:cNvPr>
          <p:cNvSpPr txBox="1"/>
          <p:nvPr/>
        </p:nvSpPr>
        <p:spPr>
          <a:xfrm>
            <a:off x="8760069" y="5052081"/>
            <a:ext cx="2558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  <a:r>
              <a:rPr lang="en-US" dirty="0"/>
              <a:t> is the first cash flow; in this example, it would be $100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A8BE5E-C82C-074F-B647-882198B4277A}"/>
              </a:ext>
            </a:extLst>
          </p:cNvPr>
          <p:cNvCxnSpPr>
            <a:cxnSpLocks/>
          </p:cNvCxnSpPr>
          <p:nvPr/>
        </p:nvCxnSpPr>
        <p:spPr>
          <a:xfrm flipH="1" flipV="1">
            <a:off x="7930919" y="5513745"/>
            <a:ext cx="717522" cy="1"/>
          </a:xfrm>
          <a:prstGeom prst="straightConnector1">
            <a:avLst/>
          </a:prstGeom>
          <a:ln w="254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26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AB4E8C85-F13D-4945-816B-A36ECB0D5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842" y="2177597"/>
            <a:ext cx="5844693" cy="11919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to value an annuity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369" y="1694020"/>
            <a:ext cx="5017473" cy="4778022"/>
          </a:xfrm>
        </p:spPr>
        <p:txBody>
          <a:bodyPr>
            <a:normAutofit/>
          </a:bodyPr>
          <a:lstStyle/>
          <a:p>
            <a:r>
              <a:rPr lang="en-US" b="1" dirty="0"/>
              <a:t>Annuity </a:t>
            </a:r>
            <a:r>
              <a:rPr lang="en-US" dirty="0"/>
              <a:t>= a stream of equal cash flows arriving at a regular interval and ending after a specific period</a:t>
            </a:r>
          </a:p>
          <a:p>
            <a:endParaRPr lang="en-US" sz="800" dirty="0"/>
          </a:p>
          <a:p>
            <a:r>
              <a:rPr lang="en-US" dirty="0"/>
              <a:t>To find present value, use the below formula:</a:t>
            </a:r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95FB2C-3346-954D-820E-ADA0F841F57D}"/>
              </a:ext>
            </a:extLst>
          </p:cNvPr>
          <p:cNvSpPr txBox="1"/>
          <p:nvPr/>
        </p:nvSpPr>
        <p:spPr>
          <a:xfrm>
            <a:off x="10408735" y="4129512"/>
            <a:ext cx="1819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Ends after </a:t>
            </a:r>
            <a:r>
              <a:rPr lang="en-US" sz="2400" i="1" dirty="0"/>
              <a:t>N</a:t>
            </a:r>
            <a:r>
              <a:rPr lang="en-US" sz="2400" dirty="0"/>
              <a:t> periods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ABE064-7351-5641-B116-17A289FDF9A1}"/>
              </a:ext>
            </a:extLst>
          </p:cNvPr>
          <p:cNvCxnSpPr>
            <a:cxnSpLocks/>
          </p:cNvCxnSpPr>
          <p:nvPr/>
        </p:nvCxnSpPr>
        <p:spPr>
          <a:xfrm flipV="1">
            <a:off x="11411900" y="3488337"/>
            <a:ext cx="0" cy="594341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793EAFE-DF65-2A42-88C1-9A09246EE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94" y="4816102"/>
            <a:ext cx="90805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5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to value a </a:t>
            </a:r>
            <a:r>
              <a:rPr lang="en-US" u="sng" dirty="0">
                <a:solidFill>
                  <a:srgbClr val="A51417"/>
                </a:solidFill>
              </a:rPr>
              <a:t>growing</a:t>
            </a:r>
            <a:r>
              <a:rPr lang="en-US" dirty="0"/>
              <a:t> annuity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370" y="1694020"/>
            <a:ext cx="10240107" cy="4778022"/>
          </a:xfrm>
        </p:spPr>
        <p:txBody>
          <a:bodyPr>
            <a:normAutofit/>
          </a:bodyPr>
          <a:lstStyle/>
          <a:p>
            <a:r>
              <a:rPr lang="en-US" dirty="0"/>
              <a:t>Now, the cash flow each period grows at a constant rate </a:t>
            </a:r>
            <a:r>
              <a:rPr lang="en-US" i="1" dirty="0"/>
              <a:t>g </a:t>
            </a:r>
            <a:r>
              <a:rPr lang="en-US" dirty="0"/>
              <a:t>[but still ends after </a:t>
            </a:r>
            <a:r>
              <a:rPr lang="en-US" i="1" dirty="0"/>
              <a:t>N</a:t>
            </a:r>
            <a:r>
              <a:rPr lang="en-US" dirty="0"/>
              <a:t> periods, because it is an annuity]</a:t>
            </a:r>
          </a:p>
          <a:p>
            <a:endParaRPr lang="en-US" sz="800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To value, use:</a:t>
            </a:r>
          </a:p>
          <a:p>
            <a:endParaRPr lang="en-US" sz="800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657129-DCBC-4D44-82A9-B308CDABE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259" y="2856655"/>
            <a:ext cx="6914496" cy="1371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0944C0-D449-5E4E-B9DD-1B2E5CCCB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973" y="4632413"/>
            <a:ext cx="44069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9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</a:t>
            </a:r>
            <a:endParaRPr lang="en-US" i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5 minutes to answer below question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FC13A3-0DD1-6140-8532-9F8AD0DA63A2}"/>
              </a:ext>
            </a:extLst>
          </p:cNvPr>
          <p:cNvSpPr txBox="1"/>
          <p:nvPr/>
        </p:nvSpPr>
        <p:spPr>
          <a:xfrm>
            <a:off x="1258555" y="2800902"/>
            <a:ext cx="9674889" cy="1508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300" dirty="0"/>
              <a:t>Your firm is considering an investment that will cost it $5,000 immediately, but it will generate cash flows of $3,000 one year from now, $2,000 two years from now, and $1,000 three years from now.  If the appropriate discount rate is 7%, should the firm do the project? </a:t>
            </a:r>
          </a:p>
        </p:txBody>
      </p:sp>
    </p:spTree>
    <p:extLst>
      <p:ext uri="{BB962C8B-B14F-4D97-AF65-F5344CB8AC3E}">
        <p14:creationId xmlns:p14="http://schemas.microsoft.com/office/powerpoint/2010/main" val="165091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51417"/>
                </a:solidFill>
              </a:rPr>
              <a:t>Solution to practice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8" y="1600200"/>
                <a:ext cx="10816557" cy="47780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Start with drawing timeline for benefits</a:t>
                </a:r>
              </a:p>
              <a:p>
                <a:endParaRPr lang="en-US" sz="800" dirty="0"/>
              </a:p>
              <a:p>
                <a:pPr lvl="1"/>
                <a:endParaRPr lang="en-US" b="1" dirty="0"/>
              </a:p>
              <a:p>
                <a:endParaRPr lang="en-US" sz="800" b="1" dirty="0"/>
              </a:p>
              <a:p>
                <a:endParaRPr lang="en-US" sz="800" b="1" dirty="0"/>
              </a:p>
              <a:p>
                <a:endParaRPr lang="en-US" sz="800" b="1" dirty="0"/>
              </a:p>
              <a:p>
                <a:endParaRPr lang="en-US" sz="8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endParaRPr lang="en-US" sz="800" dirty="0"/>
              </a:p>
              <a:p>
                <a:r>
                  <a:rPr lang="en-US" dirty="0"/>
                  <a:t>PV(Benefits)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1.07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2000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1.07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1.07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= </a:t>
                </a:r>
                <a:r>
                  <a:rPr lang="en-US"/>
                  <a:t>$5,366.91</a:t>
                </a:r>
                <a:endParaRPr lang="en-US" dirty="0"/>
              </a:p>
              <a:p>
                <a:r>
                  <a:rPr lang="en-US" dirty="0"/>
                  <a:t>PV(Costs) = $5,000</a:t>
                </a:r>
              </a:p>
              <a:p>
                <a:endParaRPr lang="en-US" sz="400" dirty="0"/>
              </a:p>
              <a:p>
                <a:r>
                  <a:rPr lang="en-US" dirty="0"/>
                  <a:t>NPV = PV(Benefits) – PV(Costs) = $366.91</a:t>
                </a:r>
              </a:p>
              <a:p>
                <a:endParaRPr lang="en-US" sz="400" dirty="0"/>
              </a:p>
              <a:p>
                <a:r>
                  <a:rPr lang="en-US" b="1" dirty="0"/>
                  <a:t>Conclusion: </a:t>
                </a:r>
                <a:r>
                  <a:rPr lang="en-US" dirty="0"/>
                  <a:t>Make investment because NPV &gt; 0!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sz="80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sz="800" dirty="0"/>
              </a:p>
              <a:p>
                <a:endParaRPr lang="en-US" sz="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8" y="1600200"/>
                <a:ext cx="10816557" cy="4778022"/>
              </a:xfrm>
              <a:blipFill>
                <a:blip r:embed="rId3"/>
                <a:stretch>
                  <a:fillRect l="-938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Diagram&#10;&#10;Description automatically generated with low confidence">
            <a:extLst>
              <a:ext uri="{FF2B5EF4-FFF2-40B4-BE49-F238E27FC236}">
                <a16:creationId xmlns:a16="http://schemas.microsoft.com/office/drawing/2014/main" id="{4161E129-3562-2840-A841-927BC1677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549" y="2206381"/>
            <a:ext cx="3877076" cy="122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7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</a:t>
            </a:r>
            <a:r>
              <a:rPr lang="en-US" i="1" dirty="0"/>
              <a:t>[Example 4.4 from textbook]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5 minutes to answer below question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DEC55FD-65AC-8C45-B7FA-361F6817D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0" y="3039206"/>
            <a:ext cx="10095088" cy="16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37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Tip #1: </a:t>
            </a:r>
            <a:r>
              <a:rPr lang="en-US" dirty="0"/>
              <a:t>Use MS Excel functions to solve stuff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MS Excel has a lot of functions that can solve these quickly</a:t>
            </a:r>
          </a:p>
          <a:p>
            <a:r>
              <a:rPr lang="en-US" dirty="0"/>
              <a:t>E.g., in the prior example, you could have gotten the present value of the 29-year annuity using the PV function:</a:t>
            </a:r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617FF-3A94-3D40-88C1-FF929D0E3EE2}"/>
              </a:ext>
            </a:extLst>
          </p:cNvPr>
          <p:cNvSpPr txBox="1"/>
          <p:nvPr/>
        </p:nvSpPr>
        <p:spPr>
          <a:xfrm>
            <a:off x="5263602" y="4334470"/>
            <a:ext cx="16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Tells Excel the interest rate = 8%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8F08E3-0913-FC4B-AC71-AE3BB92C1508}"/>
              </a:ext>
            </a:extLst>
          </p:cNvPr>
          <p:cNvCxnSpPr>
            <a:cxnSpLocks/>
          </p:cNvCxnSpPr>
          <p:nvPr/>
        </p:nvCxnSpPr>
        <p:spPr>
          <a:xfrm flipV="1">
            <a:off x="6540500" y="3887764"/>
            <a:ext cx="705453" cy="510174"/>
          </a:xfrm>
          <a:prstGeom prst="straightConnector1">
            <a:avLst/>
          </a:prstGeom>
          <a:ln w="254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31F87A-D758-624A-8C01-A36975B2DDE5}"/>
              </a:ext>
            </a:extLst>
          </p:cNvPr>
          <p:cNvSpPr txBox="1"/>
          <p:nvPr/>
        </p:nvSpPr>
        <p:spPr>
          <a:xfrm>
            <a:off x="6893226" y="5116271"/>
            <a:ext cx="1758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Tells Excel     the number of periods is 29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D462FD-6E2E-6B43-98A7-2B22390C15EB}"/>
              </a:ext>
            </a:extLst>
          </p:cNvPr>
          <p:cNvCxnSpPr>
            <a:cxnSpLocks/>
          </p:cNvCxnSpPr>
          <p:nvPr/>
        </p:nvCxnSpPr>
        <p:spPr>
          <a:xfrm flipV="1">
            <a:off x="7538170" y="3883299"/>
            <a:ext cx="199146" cy="1145901"/>
          </a:xfrm>
          <a:prstGeom prst="straightConnector1">
            <a:avLst/>
          </a:prstGeom>
          <a:ln w="254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7057898-DF7C-F046-BCC5-D9CA0CB1AE0D}"/>
              </a:ext>
            </a:extLst>
          </p:cNvPr>
          <p:cNvSpPr txBox="1"/>
          <p:nvPr/>
        </p:nvSpPr>
        <p:spPr>
          <a:xfrm>
            <a:off x="9081477" y="4606813"/>
            <a:ext cx="1966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Tells Excel     annual cash flow is 1,000,000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875846-2FAE-FB4F-9F90-6EE97903E7C0}"/>
              </a:ext>
            </a:extLst>
          </p:cNvPr>
          <p:cNvCxnSpPr>
            <a:cxnSpLocks/>
          </p:cNvCxnSpPr>
          <p:nvPr/>
        </p:nvCxnSpPr>
        <p:spPr>
          <a:xfrm flipH="1" flipV="1">
            <a:off x="8610831" y="3887765"/>
            <a:ext cx="470646" cy="631481"/>
          </a:xfrm>
          <a:prstGeom prst="straightConnector1">
            <a:avLst/>
          </a:prstGeom>
          <a:ln w="254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A2CCA31-4F9D-BF49-A34F-5FF2BCD8F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596" y="3457298"/>
            <a:ext cx="4876800" cy="342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D5703-67FF-F3E2-E683-E52A9CC82C0D}"/>
              </a:ext>
            </a:extLst>
          </p:cNvPr>
          <p:cNvSpPr txBox="1"/>
          <p:nvPr/>
        </p:nvSpPr>
        <p:spPr>
          <a:xfrm>
            <a:off x="622937" y="4239108"/>
            <a:ext cx="32807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Note! </a:t>
            </a:r>
            <a:r>
              <a:rPr lang="en-US" i="1" dirty="0">
                <a:solidFill>
                  <a:srgbClr val="A51417"/>
                </a:solidFill>
              </a:rPr>
              <a:t>This formula will give you negative value of -11.18 because Excel thinks of PMT as </a:t>
            </a:r>
            <a:r>
              <a:rPr lang="en-US" i="1" u="sng" dirty="0">
                <a:solidFill>
                  <a:srgbClr val="A51417"/>
                </a:solidFill>
              </a:rPr>
              <a:t>outflow</a:t>
            </a:r>
            <a:r>
              <a:rPr lang="en-US" i="1" dirty="0">
                <a:solidFill>
                  <a:srgbClr val="A51417"/>
                </a:solidFill>
              </a:rPr>
              <a:t> payment.  So, you should instead put -1,000,000 as PMT, not 1,000,000.</a:t>
            </a:r>
            <a:endParaRPr lang="en-US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88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5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Tip #2: </a:t>
            </a:r>
            <a:r>
              <a:rPr lang="en-US" dirty="0"/>
              <a:t>Make sure time periods 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The interest rate, </a:t>
            </a:r>
            <a:r>
              <a:rPr lang="en-US" i="1" dirty="0"/>
              <a:t>r</a:t>
            </a:r>
            <a:r>
              <a:rPr lang="en-US" dirty="0"/>
              <a:t>, in these formulas represents the interest rate for the period of the cash flow</a:t>
            </a:r>
          </a:p>
          <a:p>
            <a:endParaRPr lang="en-US" sz="800" dirty="0"/>
          </a:p>
          <a:p>
            <a:pPr lvl="1"/>
            <a:r>
              <a:rPr lang="en-US" dirty="0"/>
              <a:t>If cash flows occur annually, then use the </a:t>
            </a:r>
            <a:r>
              <a:rPr lang="en-US" u="sng" dirty="0"/>
              <a:t>annual</a:t>
            </a:r>
            <a:r>
              <a:rPr lang="en-US" dirty="0"/>
              <a:t> interest rate</a:t>
            </a:r>
          </a:p>
          <a:p>
            <a:pPr lvl="1"/>
            <a:r>
              <a:rPr lang="en-US" dirty="0"/>
              <a:t>If cash flows occur monthly, then use the </a:t>
            </a:r>
            <a:r>
              <a:rPr lang="en-US" u="sng" dirty="0"/>
              <a:t>monthly</a:t>
            </a:r>
            <a:r>
              <a:rPr lang="en-US" dirty="0"/>
              <a:t> interest rate</a:t>
            </a:r>
          </a:p>
          <a:p>
            <a:pPr lvl="1"/>
            <a:r>
              <a:rPr lang="en-US" dirty="0"/>
              <a:t>And so on…</a:t>
            </a:r>
          </a:p>
          <a:p>
            <a:pPr lvl="1"/>
            <a:endParaRPr lang="en-US" sz="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91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Tip #3: </a:t>
            </a:r>
            <a:r>
              <a:rPr lang="en-US" dirty="0"/>
              <a:t>Be careful with timing in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E.g., suppose company has project that will generate $30,000 per year forever starting two years from now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lvl="1"/>
            <a:endParaRPr lang="en-US" sz="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23CF0935-AD66-4642-956B-F3A85FB73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646" y="2854080"/>
            <a:ext cx="4782038" cy="933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36CD68-89D1-9946-B316-AEA095B7FFA3}"/>
              </a:ext>
            </a:extLst>
          </p:cNvPr>
          <p:cNvSpPr txBox="1"/>
          <p:nvPr/>
        </p:nvSpPr>
        <p:spPr>
          <a:xfrm>
            <a:off x="930730" y="4202723"/>
            <a:ext cx="89430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A51417"/>
                </a:solidFill>
              </a:rPr>
              <a:t>If the appropriate discount rate is 8%, is the value of this project equal to $30,000 / 0.08 = $375,000?</a:t>
            </a:r>
          </a:p>
          <a:p>
            <a:endParaRPr lang="en-US" sz="2400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89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this common mistake!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No. $375,000 is value in year 1.  </a:t>
            </a:r>
          </a:p>
          <a:p>
            <a:endParaRPr lang="en-US" sz="800" dirty="0"/>
          </a:p>
          <a:p>
            <a:pPr lvl="1"/>
            <a:r>
              <a:rPr lang="en-US" dirty="0"/>
              <a:t>Perpetuity and annuity formulas always find value </a:t>
            </a:r>
            <a:r>
              <a:rPr lang="en-US" u="sng" dirty="0"/>
              <a:t>one period before</a:t>
            </a:r>
            <a:r>
              <a:rPr lang="en-US" dirty="0"/>
              <a:t> the first cash flow.  In this case, that would be year 1.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find present value, we need to discount it back one more time</a:t>
            </a:r>
          </a:p>
          <a:p>
            <a:endParaRPr lang="en-US" sz="800" dirty="0"/>
          </a:p>
          <a:p>
            <a:pPr lvl="1"/>
            <a:r>
              <a:rPr lang="en-US" dirty="0"/>
              <a:t>I.e., Present value = $375,000 / 1.08 = $347,222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lvl="1"/>
            <a:endParaRPr lang="en-US" sz="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7" name="Picture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F4FA94A4-CA19-AD41-8A3A-3750C64EA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714" y="3275439"/>
            <a:ext cx="5532571" cy="114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7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Tangent</a:t>
            </a:r>
            <a:r>
              <a:rPr lang="en-US" dirty="0"/>
              <a:t> – Solving for other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Can use same formulas to solve for other variables</a:t>
            </a:r>
          </a:p>
          <a:p>
            <a:endParaRPr lang="en-US" sz="800" dirty="0"/>
          </a:p>
          <a:p>
            <a:pPr lvl="1"/>
            <a:r>
              <a:rPr lang="en-US" dirty="0"/>
              <a:t>E.g., Present value of annuity formula is what banks use to solve for your loan payment on a mortgage or car loan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PV(annuity) = value of the loan</a:t>
            </a:r>
          </a:p>
          <a:p>
            <a:pPr lvl="2"/>
            <a:r>
              <a:rPr lang="en-US" i="1" dirty="0"/>
              <a:t>r</a:t>
            </a:r>
            <a:r>
              <a:rPr lang="en-US" dirty="0"/>
              <a:t> = interest rate they want to charge you (per period)</a:t>
            </a:r>
          </a:p>
          <a:p>
            <a:pPr lvl="2"/>
            <a:r>
              <a:rPr lang="en-US" i="1" dirty="0"/>
              <a:t>N</a:t>
            </a:r>
            <a:r>
              <a:rPr lang="en-US" dirty="0"/>
              <a:t> = number of periods</a:t>
            </a:r>
          </a:p>
          <a:p>
            <a:pPr lvl="2"/>
            <a:r>
              <a:rPr lang="en-US" dirty="0"/>
              <a:t>C = what bank solves for… it’s the payment you need to make each period to ensure the value of the payments you make equal the value of the loan!</a:t>
            </a:r>
          </a:p>
          <a:p>
            <a:pPr lvl="1"/>
            <a:endParaRPr lang="en-US" sz="800" dirty="0"/>
          </a:p>
          <a:p>
            <a:r>
              <a:rPr lang="en-US" dirty="0"/>
              <a:t>Let’s do an example…</a:t>
            </a:r>
          </a:p>
        </p:txBody>
      </p:sp>
    </p:spTree>
    <p:extLst>
      <p:ext uri="{BB962C8B-B14F-4D97-AF65-F5344CB8AC3E}">
        <p14:creationId xmlns:p14="http://schemas.microsoft.com/office/powerpoint/2010/main" val="142612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Example – </a:t>
            </a:r>
            <a:r>
              <a:rPr lang="en-US" dirty="0"/>
              <a:t>Solving for payment on a loan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Suppose your firm wants to borrow $100,000 from the bank</a:t>
            </a:r>
          </a:p>
          <a:p>
            <a:endParaRPr lang="en-US" sz="800" dirty="0"/>
          </a:p>
          <a:p>
            <a:pPr lvl="1"/>
            <a:r>
              <a:rPr lang="en-US" dirty="0"/>
              <a:t>They bank offers a 10-year loan, where your firm will make one payment per year, starting one year from now, with 10 payments in total</a:t>
            </a:r>
          </a:p>
          <a:p>
            <a:pPr lvl="1"/>
            <a:r>
              <a:rPr lang="en-US" dirty="0"/>
              <a:t>The interest rate is 8%</a:t>
            </a:r>
          </a:p>
          <a:p>
            <a:pPr lvl="1"/>
            <a:r>
              <a:rPr lang="en-US" b="1" dirty="0"/>
              <a:t>What is your annual loan payment going to be?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085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Example – </a:t>
            </a:r>
            <a:r>
              <a:rPr lang="en-US" dirty="0"/>
              <a:t>Solving for payment on a loan [Part 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From bank’s perspective, cash flows look like: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1600" dirty="0"/>
          </a:p>
          <a:p>
            <a:r>
              <a:rPr lang="en-US" dirty="0"/>
              <a:t>And your 10 payments of </a:t>
            </a:r>
            <a:r>
              <a:rPr lang="en-US" i="1" dirty="0"/>
              <a:t>C</a:t>
            </a:r>
            <a:r>
              <a:rPr lang="en-US" dirty="0"/>
              <a:t> need to have PV of $100,000; i.e.,</a:t>
            </a:r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  <a:p>
            <a:r>
              <a:rPr lang="en-US" dirty="0"/>
              <a:t>Solving for </a:t>
            </a:r>
            <a:r>
              <a:rPr lang="en-US" i="1" dirty="0"/>
              <a:t>C</a:t>
            </a:r>
            <a:r>
              <a:rPr lang="en-US" dirty="0"/>
              <a:t>, we find </a:t>
            </a:r>
            <a:r>
              <a:rPr lang="en-US" i="1" dirty="0"/>
              <a:t>C</a:t>
            </a:r>
            <a:r>
              <a:rPr lang="en-US" dirty="0"/>
              <a:t> = $14,902.95 </a:t>
            </a:r>
          </a:p>
          <a:p>
            <a:endParaRPr lang="en-US" dirty="0"/>
          </a:p>
          <a:p>
            <a:endParaRPr lang="en-US" sz="800" dirty="0"/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E559A9D-0251-F342-8599-D941AD256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544" y="2276310"/>
            <a:ext cx="5472689" cy="991541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28347E67-C611-2648-AD66-45402AC92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676" y="4113822"/>
            <a:ext cx="5410672" cy="95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8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Example – </a:t>
            </a:r>
            <a:r>
              <a:rPr lang="en-US" dirty="0"/>
              <a:t>Loan amortization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sz="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7990B-0B78-BB46-B0CB-76CF2D265637}"/>
              </a:ext>
            </a:extLst>
          </p:cNvPr>
          <p:cNvSpPr/>
          <p:nvPr/>
        </p:nvSpPr>
        <p:spPr>
          <a:xfrm>
            <a:off x="9440966" y="2228850"/>
            <a:ext cx="1327639" cy="1116623"/>
          </a:xfrm>
          <a:prstGeom prst="rect">
            <a:avLst/>
          </a:prstGeom>
          <a:solidFill>
            <a:schemeClr val="bg1"/>
          </a:solidFill>
          <a:ln w="25400" cmpd="thickThin"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!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E9607D83-BED1-4146-A97A-3F21B1881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71" y="1600200"/>
            <a:ext cx="7088173" cy="433775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42BD4BC-EBDE-BB4F-808E-ADC469002526}"/>
              </a:ext>
            </a:extLst>
          </p:cNvPr>
          <p:cNvSpPr/>
          <p:nvPr/>
        </p:nvSpPr>
        <p:spPr>
          <a:xfrm>
            <a:off x="2602523" y="2520898"/>
            <a:ext cx="4466492" cy="266264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car driving on a road&#10;&#10;Description automatically generated with medium confidence">
            <a:extLst>
              <a:ext uri="{FF2B5EF4-FFF2-40B4-BE49-F238E27FC236}">
                <a16:creationId xmlns:a16="http://schemas.microsoft.com/office/drawing/2014/main" id="{0E09C1A8-8948-0746-B348-42801D70E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3368" y="3769078"/>
            <a:ext cx="3222834" cy="201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3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note on interest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816557" cy="4778022"/>
          </a:xfrm>
        </p:spPr>
        <p:txBody>
          <a:bodyPr>
            <a:normAutofit/>
          </a:bodyPr>
          <a:lstStyle/>
          <a:p>
            <a:r>
              <a:rPr lang="en-US" dirty="0"/>
              <a:t>When using interest rates to transfer values across time, need to use interest rate that reflects the </a:t>
            </a:r>
            <a:r>
              <a:rPr lang="en-US" u="sng" dirty="0"/>
              <a:t>riskiness</a:t>
            </a:r>
            <a:r>
              <a:rPr lang="en-US" dirty="0"/>
              <a:t> of those cash flows</a:t>
            </a:r>
          </a:p>
          <a:p>
            <a:endParaRPr lang="en-US" sz="800" dirty="0"/>
          </a:p>
          <a:p>
            <a:pPr lvl="1"/>
            <a:r>
              <a:rPr lang="en-US" dirty="0"/>
              <a:t>If cash flows are risk-free, use the risk-free interest rate you could receive otherwise as the discount rate (i.e., </a:t>
            </a:r>
            <a:r>
              <a:rPr lang="en-US" i="1" dirty="0"/>
              <a:t>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If cash flows are risky, you want to use the interest rate you could earn on an investment of </a:t>
            </a:r>
            <a:r>
              <a:rPr lang="en-US" b="1" dirty="0"/>
              <a:t>similar</a:t>
            </a:r>
            <a:r>
              <a:rPr lang="en-US" dirty="0"/>
              <a:t> risk</a:t>
            </a:r>
          </a:p>
          <a:p>
            <a:pPr lvl="1"/>
            <a:endParaRPr lang="en-US" sz="800" dirty="0"/>
          </a:p>
          <a:p>
            <a:r>
              <a:rPr lang="en-US" dirty="0"/>
              <a:t>We will talk more about risk later…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marL="457200" lvl="1" indent="0">
              <a:buNone/>
            </a:pPr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9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points to remember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9" y="1529864"/>
                <a:ext cx="10586843" cy="47780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NPV = PV(benefits) – PV(costs)</a:t>
                </a:r>
              </a:p>
              <a:p>
                <a:r>
                  <a:rPr lang="en-US" dirty="0"/>
                  <a:t>Positive NPV projects create shareholder value</a:t>
                </a:r>
              </a:p>
              <a:p>
                <a:r>
                  <a:rPr lang="en-US" dirty="0"/>
                  <a:t>To calculate the NPV of a stream of cash flows:</a:t>
                </a:r>
              </a:p>
              <a:p>
                <a:endParaRPr lang="en-US" sz="800" dirty="0"/>
              </a:p>
              <a:p>
                <a:pPr lvl="1"/>
                <a:r>
                  <a:rPr lang="en-US" dirty="0"/>
                  <a:t>Create a timeline,</a:t>
                </a:r>
              </a:p>
              <a:p>
                <a:pPr lvl="1"/>
                <a:endParaRPr lang="en-US" sz="400" dirty="0"/>
              </a:p>
              <a:p>
                <a:pPr lvl="1"/>
                <a:r>
                  <a:rPr lang="en-US" dirty="0"/>
                  <a:t>Find PV of all cash flows &amp; add together: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dirty="0"/>
                  <a:t> ,</a:t>
                </a:r>
              </a:p>
              <a:p>
                <a:pPr lvl="1"/>
                <a:r>
                  <a:rPr lang="en-US" dirty="0"/>
                  <a:t>Use annuity &amp; perpetuity formulas, when applicable, to make the present value calculation easier</a:t>
                </a:r>
                <a:endParaRPr lang="en-US" sz="800" dirty="0"/>
              </a:p>
              <a:p>
                <a:endParaRPr lang="en-US" sz="800" dirty="0"/>
              </a:p>
              <a:p>
                <a:endParaRPr lang="en-US" sz="800" dirty="0"/>
              </a:p>
              <a:p>
                <a:endParaRPr lang="en-US" sz="800" dirty="0"/>
              </a:p>
              <a:p>
                <a:endParaRPr lang="en-US" sz="800" dirty="0"/>
              </a:p>
              <a:p>
                <a:endParaRPr lang="en-US" sz="800" dirty="0"/>
              </a:p>
              <a:p>
                <a:endParaRPr lang="en-US" sz="800" dirty="0"/>
              </a:p>
              <a:p>
                <a:endParaRPr lang="en-US" sz="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9" y="1529864"/>
                <a:ext cx="10586843" cy="4778022"/>
              </a:xfrm>
              <a:blipFill>
                <a:blip r:embed="rId3"/>
                <a:stretch>
                  <a:fillRect l="-958" t="-1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AB8BF67-331B-CE4B-BA27-648EF9E9A418}"/>
              </a:ext>
            </a:extLst>
          </p:cNvPr>
          <p:cNvSpPr txBox="1"/>
          <p:nvPr/>
        </p:nvSpPr>
        <p:spPr>
          <a:xfrm>
            <a:off x="6628083" y="5199890"/>
            <a:ext cx="5004140" cy="1107996"/>
          </a:xfrm>
          <a:prstGeom prst="rect">
            <a:avLst/>
          </a:prstGeom>
          <a:solidFill>
            <a:srgbClr val="E1E1E1"/>
          </a:solidFill>
        </p:spPr>
        <p:txBody>
          <a:bodyPr wrap="square" rtlCol="0">
            <a:spAutoFit/>
          </a:bodyPr>
          <a:lstStyle/>
          <a:p>
            <a:r>
              <a:rPr lang="en-US" sz="2200" dirty="0"/>
              <a:t>See </a:t>
            </a:r>
            <a:r>
              <a:rPr lang="en-US" sz="2200" dirty="0" err="1"/>
              <a:t>MyLab</a:t>
            </a:r>
            <a:r>
              <a:rPr lang="en-US" sz="2200" dirty="0"/>
              <a:t> Finance homework for yet even more opportunities to practice these concepts &amp; calculations</a:t>
            </a:r>
          </a:p>
        </p:txBody>
      </p:sp>
    </p:spTree>
    <p:extLst>
      <p:ext uri="{BB962C8B-B14F-4D97-AF65-F5344CB8AC3E}">
        <p14:creationId xmlns:p14="http://schemas.microsoft.com/office/powerpoint/2010/main" val="1458035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breakout session </a:t>
            </a:r>
            <a:endParaRPr lang="en-US" i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25 minutes as group to value the below project.  This is </a:t>
            </a:r>
            <a:r>
              <a:rPr lang="en-US" u="sng" dirty="0"/>
              <a:t>ungraded</a:t>
            </a:r>
            <a:r>
              <a:rPr lang="en-US" dirty="0"/>
              <a:t> and more difficult… See if you can do it.</a:t>
            </a:r>
          </a:p>
          <a:p>
            <a:endParaRPr lang="en-US" sz="800" dirty="0"/>
          </a:p>
          <a:p>
            <a:pPr lvl="1"/>
            <a:r>
              <a:rPr lang="en-US" dirty="0"/>
              <a:t>Your employee has approached you with a project that she thinks will create a lot of value for your firm’s shareholders.  The project will generate $15,000 in cash flows one year from now, and after that, the cash flows will grow by 10% per year for 3 years.  After these initial 4 cash flows, the growth rate will stabilize at 5% per year.  There is no upfront cost to launch the project, but it will require $5,000 in expenses every year, with the first expense being in one year.  If the appropriate discount rate for the project is 20%, what is the NPV of the investment?</a:t>
            </a:r>
          </a:p>
        </p:txBody>
      </p:sp>
    </p:spTree>
    <p:extLst>
      <p:ext uri="{BB962C8B-B14F-4D97-AF65-F5344CB8AC3E}">
        <p14:creationId xmlns:p14="http://schemas.microsoft.com/office/powerpoint/2010/main" val="395817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51417"/>
                </a:solidFill>
              </a:rPr>
              <a:t>First, I’ll find PV(Costs)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529864"/>
            <a:ext cx="10586843" cy="4778022"/>
          </a:xfrm>
        </p:spPr>
        <p:txBody>
          <a:bodyPr>
            <a:normAutofit/>
          </a:bodyPr>
          <a:lstStyle/>
          <a:p>
            <a:r>
              <a:rPr lang="en-US" dirty="0"/>
              <a:t>This is a perpetuity, where the cash flow is -$5,000 each year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Present value = -5000 / 0.20 = -$25,000</a:t>
            </a:r>
          </a:p>
          <a:p>
            <a:r>
              <a:rPr lang="en-US" dirty="0"/>
              <a:t>I.e., PV(Costs) = $25,000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6D5689-27AB-2E4F-BC8D-70BEC3F2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511" y="2370991"/>
            <a:ext cx="7750977" cy="81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6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51417"/>
                </a:solidFill>
              </a:rPr>
              <a:t>Next, I’ll find PV(Benefits)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529864"/>
            <a:ext cx="10586843" cy="4778022"/>
          </a:xfrm>
        </p:spPr>
        <p:txBody>
          <a:bodyPr>
            <a:normAutofit/>
          </a:bodyPr>
          <a:lstStyle/>
          <a:p>
            <a:r>
              <a:rPr lang="en-US" dirty="0"/>
              <a:t>I will divide this into two separate cash flow streams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333EE-6669-9B42-A1FE-118FCE942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800" y="2255227"/>
            <a:ext cx="9890562" cy="9803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3BA3DE-323E-F74B-97B3-33351E970DF2}"/>
              </a:ext>
            </a:extLst>
          </p:cNvPr>
          <p:cNvSpPr/>
          <p:nvPr/>
        </p:nvSpPr>
        <p:spPr>
          <a:xfrm>
            <a:off x="3657600" y="2767912"/>
            <a:ext cx="3903784" cy="414905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00787E-4FB5-7347-BD9F-4BE5904E8D05}"/>
              </a:ext>
            </a:extLst>
          </p:cNvPr>
          <p:cNvSpPr/>
          <p:nvPr/>
        </p:nvSpPr>
        <p:spPr>
          <a:xfrm>
            <a:off x="7655621" y="2767912"/>
            <a:ext cx="3484233" cy="414905"/>
          </a:xfrm>
          <a:prstGeom prst="rect">
            <a:avLst/>
          </a:prstGeom>
          <a:solidFill>
            <a:srgbClr val="56656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4C086-79CA-C045-ACEF-0990FDB0124D}"/>
              </a:ext>
            </a:extLst>
          </p:cNvPr>
          <p:cNvSpPr txBox="1"/>
          <p:nvPr/>
        </p:nvSpPr>
        <p:spPr>
          <a:xfrm>
            <a:off x="2074005" y="3876746"/>
            <a:ext cx="2162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This is a 4-year growing annuity, where C = $15,000 and g = 10%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52F2F1-77ED-B146-BAC8-B82B917A25B5}"/>
              </a:ext>
            </a:extLst>
          </p:cNvPr>
          <p:cNvCxnSpPr>
            <a:cxnSpLocks/>
          </p:cNvCxnSpPr>
          <p:nvPr/>
        </p:nvCxnSpPr>
        <p:spPr>
          <a:xfrm flipV="1">
            <a:off x="3155458" y="3208773"/>
            <a:ext cx="447428" cy="641177"/>
          </a:xfrm>
          <a:prstGeom prst="straightConnector1">
            <a:avLst/>
          </a:prstGeom>
          <a:ln w="254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725A0D-E249-FE45-94FF-C6F9A22DC6AC}"/>
                  </a:ext>
                </a:extLst>
              </p:cNvPr>
              <p:cNvSpPr txBox="1"/>
              <p:nvPr/>
            </p:nvSpPr>
            <p:spPr>
              <a:xfrm>
                <a:off x="743048" y="5189301"/>
                <a:ext cx="4704865" cy="735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15,000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0.20−0.10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1.10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1.20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=$44,090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725A0D-E249-FE45-94FF-C6F9A22DC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48" y="5189301"/>
                <a:ext cx="4704865" cy="7354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EBBF14D-BC7D-7846-926F-0E06F8F56830}"/>
              </a:ext>
            </a:extLst>
          </p:cNvPr>
          <p:cNvSpPr txBox="1"/>
          <p:nvPr/>
        </p:nvSpPr>
        <p:spPr>
          <a:xfrm>
            <a:off x="7367955" y="3752107"/>
            <a:ext cx="3428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This is a growing perpetuity, where C = $20,963, g = 5%, and first cash flow is in year 5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63ACD6-1E6E-F74D-9F36-299515B62E90}"/>
              </a:ext>
            </a:extLst>
          </p:cNvPr>
          <p:cNvCxnSpPr>
            <a:cxnSpLocks/>
          </p:cNvCxnSpPr>
          <p:nvPr/>
        </p:nvCxnSpPr>
        <p:spPr>
          <a:xfrm flipV="1">
            <a:off x="8954400" y="3293848"/>
            <a:ext cx="0" cy="398921"/>
          </a:xfrm>
          <a:prstGeom prst="straightConnector1">
            <a:avLst/>
          </a:prstGeom>
          <a:ln w="254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8C0A05-B6D1-EE47-A90C-832AC96C0803}"/>
                  </a:ext>
                </a:extLst>
              </p:cNvPr>
              <p:cNvSpPr txBox="1"/>
              <p:nvPr/>
            </p:nvSpPr>
            <p:spPr>
              <a:xfrm>
                <a:off x="6979287" y="4734775"/>
                <a:ext cx="3950225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20,963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0.20−0.05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=$139,755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8C0A05-B6D1-EE47-A90C-832AC96C0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287" y="4734775"/>
                <a:ext cx="3950225" cy="612796"/>
              </a:xfrm>
              <a:prstGeom prst="rect">
                <a:avLst/>
              </a:prstGeom>
              <a:blipFill>
                <a:blip r:embed="rId5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5B35F3-3E89-E94B-943C-C9FE5E0BE365}"/>
              </a:ext>
            </a:extLst>
          </p:cNvPr>
          <p:cNvCxnSpPr>
            <a:cxnSpLocks/>
          </p:cNvCxnSpPr>
          <p:nvPr/>
        </p:nvCxnSpPr>
        <p:spPr>
          <a:xfrm flipV="1">
            <a:off x="7761578" y="5347571"/>
            <a:ext cx="0" cy="367429"/>
          </a:xfrm>
          <a:prstGeom prst="straightConnector1">
            <a:avLst/>
          </a:prstGeom>
          <a:ln w="254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255452-2264-DA4A-A86F-45EDAD90C18C}"/>
              </a:ext>
            </a:extLst>
          </p:cNvPr>
          <p:cNvSpPr txBox="1"/>
          <p:nvPr/>
        </p:nvSpPr>
        <p:spPr>
          <a:xfrm>
            <a:off x="6900188" y="5783792"/>
            <a:ext cx="368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Note! This value is as of year 4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6F29C8-FA94-F640-B81C-6E18580D7063}"/>
              </a:ext>
            </a:extLst>
          </p:cNvPr>
          <p:cNvSpPr/>
          <p:nvPr/>
        </p:nvSpPr>
        <p:spPr>
          <a:xfrm>
            <a:off x="7655621" y="5050699"/>
            <a:ext cx="187117" cy="201703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9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5" grpId="0"/>
      <p:bldP spid="20" grpId="0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725A0D-E249-FE45-94FF-C6F9A22DC6AC}"/>
                  </a:ext>
                </a:extLst>
              </p:cNvPr>
              <p:cNvSpPr txBox="1"/>
              <p:nvPr/>
            </p:nvSpPr>
            <p:spPr>
              <a:xfrm>
                <a:off x="1185891" y="2722139"/>
                <a:ext cx="8524044" cy="919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𝑁𝑃𝑉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44,090+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139,755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1.20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−25,000=$86,487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725A0D-E249-FE45-94FF-C6F9A22DC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91" y="2722139"/>
                <a:ext cx="8524044" cy="919675"/>
              </a:xfrm>
              <a:prstGeom prst="rect">
                <a:avLst/>
              </a:prstGeom>
              <a:blipFill>
                <a:blip r:embed="rId3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51417"/>
                </a:solidFill>
              </a:rPr>
              <a:t>Bringing it all together for NPV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529864"/>
            <a:ext cx="10586843" cy="4778022"/>
          </a:xfrm>
        </p:spPr>
        <p:txBody>
          <a:bodyPr>
            <a:normAutofit/>
          </a:bodyPr>
          <a:lstStyle/>
          <a:p>
            <a:r>
              <a:rPr lang="en-US" dirty="0"/>
              <a:t>NPV = PV(Benefits) – PV(Costs)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3BA3DE-323E-F74B-97B3-33351E970DF2}"/>
              </a:ext>
            </a:extLst>
          </p:cNvPr>
          <p:cNvSpPr/>
          <p:nvPr/>
        </p:nvSpPr>
        <p:spPr>
          <a:xfrm>
            <a:off x="4536380" y="2767912"/>
            <a:ext cx="1265563" cy="873902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4C086-79CA-C045-ACEF-0990FDB0124D}"/>
              </a:ext>
            </a:extLst>
          </p:cNvPr>
          <p:cNvSpPr txBox="1"/>
          <p:nvPr/>
        </p:nvSpPr>
        <p:spPr>
          <a:xfrm>
            <a:off x="4195203" y="4174683"/>
            <a:ext cx="2419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Taking present value of that PV</a:t>
            </a:r>
            <a:r>
              <a:rPr lang="en-US" i="1" baseline="-25000" dirty="0"/>
              <a:t>4</a:t>
            </a:r>
            <a:r>
              <a:rPr lang="en-US" i="1" dirty="0"/>
              <a:t> value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5B35F3-3E89-E94B-943C-C9FE5E0BE365}"/>
              </a:ext>
            </a:extLst>
          </p:cNvPr>
          <p:cNvCxnSpPr>
            <a:cxnSpLocks/>
          </p:cNvCxnSpPr>
          <p:nvPr/>
        </p:nvCxnSpPr>
        <p:spPr>
          <a:xfrm flipV="1">
            <a:off x="5176639" y="3692770"/>
            <a:ext cx="0" cy="448407"/>
          </a:xfrm>
          <a:prstGeom prst="straightConnector1">
            <a:avLst/>
          </a:prstGeom>
          <a:ln w="254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97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4937</TotalTime>
  <Words>3503</Words>
  <Application>Microsoft Macintosh PowerPoint</Application>
  <PresentationFormat>Widescreen</PresentationFormat>
  <Paragraphs>640</Paragraphs>
  <Slides>56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Calibri</vt:lpstr>
      <vt:lpstr>Cambria Math</vt:lpstr>
      <vt:lpstr>Rockwell</vt:lpstr>
      <vt:lpstr>Times New Roman</vt:lpstr>
      <vt:lpstr>Office Theme</vt:lpstr>
      <vt:lpstr>FIN 740: Corporate Finance</vt:lpstr>
      <vt:lpstr>Agenda for this topic</vt:lpstr>
      <vt:lpstr>Motivation</vt:lpstr>
      <vt:lpstr>Answer = Cost-benefit analysis</vt:lpstr>
      <vt:lpstr>Identifying costs and benefits</vt:lpstr>
      <vt:lpstr>Key idea of this course &amp; unit =</vt:lpstr>
      <vt:lpstr>Example #1 – Converting units using market prices</vt:lpstr>
      <vt:lpstr>Summary – Use market prices to covert to dollars</vt:lpstr>
      <vt:lpstr>Practice question [Example 3.2 from textbook]</vt:lpstr>
      <vt:lpstr>A note on where to find typed solutions</vt:lpstr>
      <vt:lpstr>Time value of money</vt:lpstr>
      <vt:lpstr>Time value of money [continued]</vt:lpstr>
      <vt:lpstr>Converting cash flows using interest rates</vt:lpstr>
      <vt:lpstr>Example #2 – Converting using interest rates</vt:lpstr>
      <vt:lpstr>Future value comparison</vt:lpstr>
      <vt:lpstr>Present value comparison</vt:lpstr>
      <vt:lpstr>Quick recap so far…</vt:lpstr>
      <vt:lpstr>Net present value (NPV)</vt:lpstr>
      <vt:lpstr>NPV decision rule</vt:lpstr>
      <vt:lpstr>Basic tools of financial decision making</vt:lpstr>
      <vt:lpstr>Using Timelines</vt:lpstr>
      <vt:lpstr>Timelines – The Basics</vt:lpstr>
      <vt:lpstr>Example timeline</vt:lpstr>
      <vt:lpstr>Three rules for valuing cash flows</vt:lpstr>
      <vt:lpstr>Rule #1 – Compare values at same point in time</vt:lpstr>
      <vt:lpstr>Rule #2 – Finding future values of cash flows</vt:lpstr>
      <vt:lpstr>Rule #2 – Example continued</vt:lpstr>
      <vt:lpstr>Rule #2 – Future value formula</vt:lpstr>
      <vt:lpstr>Rule #3 – Finding present values of cash flows</vt:lpstr>
      <vt:lpstr>Rule #3 – Present value formula</vt:lpstr>
      <vt:lpstr>Practice question [Example 3.4 from textbook]</vt:lpstr>
      <vt:lpstr>Valuing a stream of cash flows</vt:lpstr>
      <vt:lpstr>Valuing cash flow streams – Example </vt:lpstr>
      <vt:lpstr>General formula for valuing stream of cash flows</vt:lpstr>
      <vt:lpstr>Valuing perpetuities and annuities</vt:lpstr>
      <vt:lpstr>Formula to value a perpetuity</vt:lpstr>
      <vt:lpstr>Formula to value a growing perpetuity</vt:lpstr>
      <vt:lpstr>Formula to value an annuity</vt:lpstr>
      <vt:lpstr>Formula to value a growing annuity</vt:lpstr>
      <vt:lpstr>Practice question</vt:lpstr>
      <vt:lpstr>Solution to practice question</vt:lpstr>
      <vt:lpstr>Practice question [Example 4.4 from textbook]</vt:lpstr>
      <vt:lpstr>Tip #1: Use MS Excel functions to solve stuff</vt:lpstr>
      <vt:lpstr>Tip #2: Make sure time periods match</vt:lpstr>
      <vt:lpstr>Tip #3: Be careful with timing in formulas</vt:lpstr>
      <vt:lpstr>Avoid this common mistake!</vt:lpstr>
      <vt:lpstr>Tangent – Solving for other variables</vt:lpstr>
      <vt:lpstr>Example – Solving for payment on a loan</vt:lpstr>
      <vt:lpstr>Example – Solving for payment on a loan [Part 2]</vt:lpstr>
      <vt:lpstr>Example – Loan amortization table</vt:lpstr>
      <vt:lpstr>A quick note on interest rates</vt:lpstr>
      <vt:lpstr>Key points to remember</vt:lpstr>
      <vt:lpstr>Group breakout session </vt:lpstr>
      <vt:lpstr>First, I’ll find PV(Costs)</vt:lpstr>
      <vt:lpstr>Next, I’ll find PV(Benefits)</vt:lpstr>
      <vt:lpstr>Bringing it all together for NPV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default</dc:creator>
  <cp:lastModifiedBy>Gormley, Todd</cp:lastModifiedBy>
  <cp:revision>86</cp:revision>
  <dcterms:created xsi:type="dcterms:W3CDTF">2013-07-09T17:46:55Z</dcterms:created>
  <dcterms:modified xsi:type="dcterms:W3CDTF">2024-01-12T04:16:03Z</dcterms:modified>
</cp:coreProperties>
</file>