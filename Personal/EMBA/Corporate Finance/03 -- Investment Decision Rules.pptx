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67" r:id="rId2"/>
    <p:sldId id="294" r:id="rId3"/>
    <p:sldId id="370" r:id="rId4"/>
    <p:sldId id="334" r:id="rId5"/>
    <p:sldId id="402" r:id="rId6"/>
    <p:sldId id="335" r:id="rId7"/>
    <p:sldId id="360" r:id="rId8"/>
    <p:sldId id="403" r:id="rId9"/>
    <p:sldId id="325" r:id="rId10"/>
    <p:sldId id="326" r:id="rId11"/>
    <p:sldId id="324" r:id="rId12"/>
    <p:sldId id="323" r:id="rId13"/>
    <p:sldId id="327" r:id="rId14"/>
    <p:sldId id="366" r:id="rId15"/>
    <p:sldId id="376" r:id="rId16"/>
    <p:sldId id="377" r:id="rId17"/>
    <p:sldId id="378" r:id="rId18"/>
    <p:sldId id="379" r:id="rId19"/>
    <p:sldId id="404" r:id="rId20"/>
    <p:sldId id="380" r:id="rId21"/>
    <p:sldId id="382" r:id="rId22"/>
    <p:sldId id="383" r:id="rId23"/>
    <p:sldId id="384" r:id="rId24"/>
    <p:sldId id="312" r:id="rId25"/>
    <p:sldId id="396" r:id="rId26"/>
    <p:sldId id="395" r:id="rId27"/>
    <p:sldId id="313" r:id="rId28"/>
    <p:sldId id="397" r:id="rId29"/>
    <p:sldId id="398" r:id="rId30"/>
    <p:sldId id="405" r:id="rId31"/>
    <p:sldId id="399" r:id="rId32"/>
    <p:sldId id="400" r:id="rId33"/>
    <p:sldId id="406" r:id="rId34"/>
    <p:sldId id="401" r:id="rId35"/>
    <p:sldId id="260" r:id="rId36"/>
    <p:sldId id="407" r:id="rId37"/>
    <p:sldId id="341" r:id="rId38"/>
    <p:sldId id="408" r:id="rId39"/>
    <p:sldId id="409" r:id="rId40"/>
    <p:sldId id="411" r:id="rId41"/>
    <p:sldId id="412" r:id="rId42"/>
    <p:sldId id="415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1417"/>
    <a:srgbClr val="566568"/>
    <a:srgbClr val="69787B"/>
    <a:srgbClr val="800000"/>
    <a:srgbClr val="C41039"/>
    <a:srgbClr val="E1E1E1"/>
    <a:srgbClr val="6C7373"/>
    <a:srgbClr val="6978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0" autoAdjust="0"/>
    <p:restoredTop sz="80896"/>
  </p:normalViewPr>
  <p:slideViewPr>
    <p:cSldViewPr snapToGrid="0" snapToObjects="1">
      <p:cViewPr varScale="1">
        <p:scale>
          <a:sx n="156" d="100"/>
          <a:sy n="156" d="100"/>
        </p:scale>
        <p:origin x="680" y="1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3AD09-9720-9047-BB14-484CD98DBB2F}" type="datetimeFigureOut">
              <a:rPr lang="en-US" smtClean="0"/>
              <a:t>11/6/23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80D64-6F43-4C4D-BE6A-3F3482AA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9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50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68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38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59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86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19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2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6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7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134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37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933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6146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48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086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919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9940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618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880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637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046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60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494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7296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254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565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856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751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441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1305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871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836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167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308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1526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8386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256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438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3080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100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54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30124" y="228600"/>
            <a:ext cx="11731752" cy="6400800"/>
          </a:xfrm>
          <a:prstGeom prst="rect">
            <a:avLst/>
          </a:prstGeom>
          <a:solidFill>
            <a:srgbClr val="6C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1" y="2253752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1" y="3596777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 descr="1linerev(1c)1000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5" y="5880328"/>
            <a:ext cx="3608228" cy="5636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8"/>
          <a:stretch/>
        </p:blipFill>
        <p:spPr>
          <a:xfrm>
            <a:off x="8702448" y="464974"/>
            <a:ext cx="3262720" cy="602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3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30124" y="228600"/>
            <a:ext cx="11731752" cy="6400800"/>
          </a:xfrm>
          <a:prstGeom prst="rect">
            <a:avLst/>
          </a:prstGeom>
          <a:solidFill>
            <a:srgbClr val="A5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8"/>
          <a:stretch/>
        </p:blipFill>
        <p:spPr>
          <a:xfrm>
            <a:off x="8702448" y="464974"/>
            <a:ext cx="3262720" cy="6025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1" y="2253752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1" y="3596777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" name="Picture 8" descr="1linerev(1c)1000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5" y="5880328"/>
            <a:ext cx="3608228" cy="5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7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6C7373"/>
                </a:solidFill>
              </a:defRPr>
            </a:lvl1pPr>
            <a:lvl2pPr>
              <a:defRPr>
                <a:solidFill>
                  <a:srgbClr val="6C7373"/>
                </a:solidFill>
              </a:defRPr>
            </a:lvl2pPr>
            <a:lvl3pPr>
              <a:defRPr>
                <a:solidFill>
                  <a:srgbClr val="6C7373"/>
                </a:solidFill>
              </a:defRPr>
            </a:lvl3pPr>
            <a:lvl4pPr>
              <a:defRPr>
                <a:solidFill>
                  <a:srgbClr val="6C7373"/>
                </a:solidFill>
              </a:defRPr>
            </a:lvl4pPr>
            <a:lvl5pPr>
              <a:defRPr>
                <a:solidFill>
                  <a:srgbClr val="6C737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C737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514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905" y="435614"/>
            <a:ext cx="795528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9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767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305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664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sh_U_PPT_Template-04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21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04800" y="228600"/>
            <a:ext cx="11582400" cy="640080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519" y="1600200"/>
            <a:ext cx="10856148" cy="4778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905" y="435614"/>
            <a:ext cx="795528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1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50" r:id="rId3"/>
    <p:sldLayoutId id="2147483660" r:id="rId4"/>
    <p:sldLayoutId id="2147483652" r:id="rId5"/>
    <p:sldLayoutId id="2147483653" r:id="rId6"/>
    <p:sldLayoutId id="2147483654" r:id="rId7"/>
    <p:sldLayoutId id="2147483670" r:id="rId8"/>
    <p:sldLayoutId id="2147483655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6C7373"/>
          </a:solidFill>
          <a:latin typeface="Times New Roman" charset="0"/>
          <a:ea typeface="Times New Roman" charset="0"/>
          <a:cs typeface="Times New Roman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CDB3-375F-9547-B02C-641B45386B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 740: Corporate Finance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97D4F-E75A-3D44-9E5C-6FFBD76FC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312" y="3596776"/>
            <a:ext cx="5025358" cy="10277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Topic #3</a:t>
            </a:r>
          </a:p>
          <a:p>
            <a:r>
              <a:rPr lang="en-US" dirty="0"/>
              <a:t>Investment Decision Rules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653478-6B26-F07A-6594-C9810A0F2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7021D0-5584-60E5-950E-8CF650C4C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for this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Discuss capital budgeting and investment decision rules used</a:t>
            </a:r>
          </a:p>
          <a:p>
            <a:endParaRPr lang="en-US" sz="800" dirty="0"/>
          </a:p>
          <a:p>
            <a:pPr lvl="1"/>
            <a:r>
              <a:rPr lang="en-US" dirty="0"/>
              <a:t>Review net present value (NPV)</a:t>
            </a:r>
          </a:p>
          <a:p>
            <a:pPr lvl="1"/>
            <a:r>
              <a:rPr lang="en-US" dirty="0"/>
              <a:t>Other decision rules &amp; their drawbacks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Payback rule</a:t>
            </a:r>
          </a:p>
          <a:p>
            <a:pPr lvl="2"/>
            <a:r>
              <a:rPr lang="en-US" dirty="0"/>
              <a:t>Internal rate of return (IRR) rule</a:t>
            </a:r>
          </a:p>
          <a:p>
            <a:pPr lvl="2"/>
            <a:endParaRPr lang="en-US" sz="800" dirty="0"/>
          </a:p>
          <a:p>
            <a:pPr lvl="1"/>
            <a:r>
              <a:rPr lang="en-US" dirty="0"/>
              <a:t>Apply rules using “Investment Detective” case</a:t>
            </a:r>
          </a:p>
          <a:p>
            <a:pPr lvl="1"/>
            <a:r>
              <a:rPr lang="en-US" dirty="0"/>
              <a:t>Miscellaneous decision issues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Handling budget constraints </a:t>
            </a:r>
            <a:r>
              <a:rPr lang="en-US" i="1" dirty="0"/>
              <a:t>[using profitability index]</a:t>
            </a:r>
          </a:p>
          <a:p>
            <a:pPr lvl="2"/>
            <a:r>
              <a:rPr lang="en-US" dirty="0"/>
              <a:t>Handling unequal periods </a:t>
            </a:r>
            <a:r>
              <a:rPr lang="en-US" i="1" dirty="0"/>
              <a:t>[using equivalent annual annuity]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1FC2F-506F-D749-8742-7D69A32A7334}"/>
              </a:ext>
            </a:extLst>
          </p:cNvPr>
          <p:cNvSpPr/>
          <p:nvPr/>
        </p:nvSpPr>
        <p:spPr>
          <a:xfrm>
            <a:off x="910300" y="2261937"/>
            <a:ext cx="5885137" cy="471638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283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Managers constantly make major investment decisions; e.g.,</a:t>
            </a:r>
          </a:p>
          <a:p>
            <a:endParaRPr lang="en-US" sz="800" dirty="0"/>
          </a:p>
          <a:p>
            <a:pPr lvl="1"/>
            <a:r>
              <a:rPr lang="en-US" dirty="0"/>
              <a:t>Netflix spent $15 billion on original content in 2019</a:t>
            </a:r>
          </a:p>
          <a:p>
            <a:pPr lvl="1"/>
            <a:r>
              <a:rPr lang="en-US" dirty="0"/>
              <a:t>In 2016, Amazon invested billions to lease its own cargo planes</a:t>
            </a:r>
          </a:p>
          <a:p>
            <a:pPr lvl="1"/>
            <a:endParaRPr lang="en-US" sz="800" dirty="0"/>
          </a:p>
          <a:p>
            <a:r>
              <a:rPr lang="en-US" dirty="0"/>
              <a:t>These are big decisions, and we now want to understand the various tools used by managers to make them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5808D-7549-9B40-A04B-05029D91AE62}"/>
              </a:ext>
            </a:extLst>
          </p:cNvPr>
          <p:cNvSpPr txBox="1"/>
          <p:nvPr/>
        </p:nvSpPr>
        <p:spPr>
          <a:xfrm>
            <a:off x="622937" y="4674563"/>
            <a:ext cx="59553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Using net present value is the preferred approach; in words, what is it?</a:t>
            </a:r>
          </a:p>
        </p:txBody>
      </p:sp>
    </p:spTree>
    <p:extLst>
      <p:ext uri="{BB962C8B-B14F-4D97-AF65-F5344CB8AC3E}">
        <p14:creationId xmlns:p14="http://schemas.microsoft.com/office/powerpoint/2010/main" val="236520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of net present value (NPV)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04142" cy="4778022"/>
          </a:xfrm>
        </p:spPr>
        <p:txBody>
          <a:bodyPr>
            <a:normAutofit/>
          </a:bodyPr>
          <a:lstStyle/>
          <a:p>
            <a:r>
              <a:rPr lang="en-US" dirty="0"/>
              <a:t>NPV = difference between the present value of a project’s benefits and the present value of its costs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Alternatively (and more commonly), NPV is expressed as the present value of all cash flows associated with the project</a:t>
            </a:r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E6D7B-4F07-BD4C-8955-E05E2971C731}"/>
              </a:ext>
            </a:extLst>
          </p:cNvPr>
          <p:cNvSpPr txBox="1"/>
          <p:nvPr/>
        </p:nvSpPr>
        <p:spPr>
          <a:xfrm>
            <a:off x="1457383" y="2813861"/>
            <a:ext cx="8893479" cy="523220"/>
          </a:xfrm>
          <a:prstGeom prst="rect">
            <a:avLst/>
          </a:prstGeom>
          <a:solidFill>
            <a:srgbClr val="A51417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NPV = Present value(benefits) – Present value(costs)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42E85C-E21F-C145-B168-BE2FFB48C3E8}"/>
                  </a:ext>
                </a:extLst>
              </p:cNvPr>
              <p:cNvSpPr txBox="1"/>
              <p:nvPr/>
            </p:nvSpPr>
            <p:spPr>
              <a:xfrm>
                <a:off x="4236777" y="4851225"/>
                <a:ext cx="3434558" cy="1211935"/>
              </a:xfrm>
              <a:prstGeom prst="rect">
                <a:avLst/>
              </a:prstGeom>
              <a:solidFill>
                <a:srgbClr val="E1E1E1">
                  <a:alpha val="30000"/>
                </a:srgb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𝑁𝑃𝑉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42E85C-E21F-C145-B168-BE2FFB48C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777" y="4851225"/>
                <a:ext cx="3434558" cy="1211935"/>
              </a:xfrm>
              <a:prstGeom prst="rect">
                <a:avLst/>
              </a:prstGeom>
              <a:blipFill>
                <a:blip r:embed="rId3"/>
                <a:stretch>
                  <a:fillRect t="-113542" b="-1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785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rules using NPV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04142" cy="4778022"/>
          </a:xfrm>
        </p:spPr>
        <p:txBody>
          <a:bodyPr>
            <a:normAutofit/>
          </a:bodyPr>
          <a:lstStyle/>
          <a:p>
            <a:r>
              <a:rPr lang="en-US" b="1" dirty="0"/>
              <a:t>Important: </a:t>
            </a:r>
            <a:r>
              <a:rPr lang="en-US" dirty="0"/>
              <a:t>NPV captures the dollar impact on firm value; it is </a:t>
            </a:r>
            <a:r>
              <a:rPr lang="en-US" u="sng" dirty="0"/>
              <a:t>equivalent</a:t>
            </a:r>
            <a:r>
              <a:rPr lang="en-US" dirty="0"/>
              <a:t> to receiving that amount in cash today</a:t>
            </a:r>
          </a:p>
          <a:p>
            <a:endParaRPr lang="en-US" sz="800" dirty="0"/>
          </a:p>
          <a:p>
            <a:r>
              <a:rPr lang="en-US" dirty="0"/>
              <a:t>This leads to two decision rules:</a:t>
            </a:r>
          </a:p>
          <a:p>
            <a:endParaRPr lang="en-US" sz="800" dirty="0"/>
          </a:p>
          <a:p>
            <a:pPr lvl="1"/>
            <a:r>
              <a:rPr lang="en-US" dirty="0"/>
              <a:t>Do projects with NPV &gt; 0; they will create shareholder value </a:t>
            </a:r>
          </a:p>
          <a:p>
            <a:pPr lvl="1"/>
            <a:r>
              <a:rPr lang="en-US" dirty="0"/>
              <a:t>When choosing among projects, take the highest NPV projects</a:t>
            </a:r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91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NPV is same as getting cash now – </a:t>
            </a:r>
            <a:r>
              <a:rPr lang="en-US" i="1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555286" cy="4778022"/>
          </a:xfrm>
        </p:spPr>
        <p:txBody>
          <a:bodyPr>
            <a:normAutofit/>
          </a:bodyPr>
          <a:lstStyle/>
          <a:p>
            <a:r>
              <a:rPr lang="en-US" dirty="0"/>
              <a:t>Employee approaches you with following project</a:t>
            </a:r>
          </a:p>
          <a:p>
            <a:endParaRPr lang="en-US" sz="800" dirty="0"/>
          </a:p>
          <a:p>
            <a:pPr lvl="1"/>
            <a:r>
              <a:rPr lang="en-US" dirty="0"/>
              <a:t>Requires immediate investment of $500,000 </a:t>
            </a:r>
            <a:r>
              <a:rPr lang="en-US" i="1" dirty="0"/>
              <a:t>[i.e., year 0 cash outflow]</a:t>
            </a:r>
          </a:p>
          <a:p>
            <a:pPr lvl="1"/>
            <a:r>
              <a:rPr lang="en-US" dirty="0"/>
              <a:t>Expected benefit = $550,000 next year </a:t>
            </a:r>
            <a:r>
              <a:rPr lang="en-US" i="1" dirty="0"/>
              <a:t>[i.e., year 1 cash inflow]</a:t>
            </a:r>
            <a:endParaRPr lang="en-US" sz="800" dirty="0"/>
          </a:p>
          <a:p>
            <a:pPr lvl="1"/>
            <a:r>
              <a:rPr lang="en-US" dirty="0"/>
              <a:t>Appropriate discount rate and firm’s cost of borrowing is 8%</a:t>
            </a:r>
          </a:p>
          <a:p>
            <a:endParaRPr lang="en-US" sz="800" dirty="0"/>
          </a:p>
          <a:p>
            <a:r>
              <a:rPr lang="en-US" dirty="0"/>
              <a:t>What is the NPV? </a:t>
            </a:r>
          </a:p>
          <a:p>
            <a:r>
              <a:rPr lang="en-US" dirty="0"/>
              <a:t>And how can firm convert NPV into cash immediately?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672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NPV is same as getting cash now – </a:t>
            </a:r>
            <a:r>
              <a:rPr lang="en-US" i="1" dirty="0"/>
              <a:t>Example</a:t>
            </a:r>
            <a:endParaRPr lang="en-US" dirty="0">
              <a:solidFill>
                <a:srgbClr val="A5141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8518" y="1472616"/>
                <a:ext cx="10816557" cy="477802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800" dirty="0"/>
              </a:p>
              <a:p>
                <a:r>
                  <a:rPr lang="en-US" dirty="0"/>
                  <a:t>NPV =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−50000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0+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550000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1.08</m:t>
                        </m:r>
                      </m:den>
                    </m:f>
                  </m:oMath>
                </a14:m>
                <a:r>
                  <a:rPr lang="en-US" dirty="0"/>
                  <a:t> = $9,259.26</a:t>
                </a:r>
              </a:p>
              <a:p>
                <a:endParaRPr lang="en-US" sz="800" dirty="0"/>
              </a:p>
              <a:p>
                <a:r>
                  <a:rPr lang="en-US" dirty="0"/>
                  <a:t>And to create this cash flow now, firm can do the following:</a:t>
                </a:r>
              </a:p>
              <a:p>
                <a:endParaRPr lang="en-US" sz="800" dirty="0"/>
              </a:p>
              <a:p>
                <a:pPr lvl="1"/>
                <a:r>
                  <a:rPr lang="en-US" dirty="0"/>
                  <a:t>Take out $509,259.26 loan now</a:t>
                </a:r>
              </a:p>
              <a:p>
                <a:pPr lvl="1"/>
                <a:r>
                  <a:rPr lang="en-US" dirty="0"/>
                  <a:t>Invest $500,000 in project and pocket the remaining $9,259.26</a:t>
                </a:r>
              </a:p>
              <a:p>
                <a:pPr lvl="1"/>
                <a:r>
                  <a:rPr lang="en-US" dirty="0"/>
                  <a:t>$550,000 received next year will be exactly what is needed to pay off the loan balance, which will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$509,259.26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×1.08=$550,000</m:t>
                    </m:r>
                  </m:oMath>
                </a14:m>
                <a:r>
                  <a:rPr lang="en-US" dirty="0"/>
                  <a:t>!</a:t>
                </a:r>
              </a:p>
              <a:p>
                <a:endParaRPr lang="en-US" sz="400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sz="800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sz="800" dirty="0"/>
              </a:p>
              <a:p>
                <a:endParaRPr lang="en-US" sz="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518" y="1472616"/>
                <a:ext cx="10816557" cy="4778022"/>
              </a:xfrm>
              <a:blipFill>
                <a:blip r:embed="rId3"/>
                <a:stretch>
                  <a:fillRect l="-938" r="-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87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for this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Discuss capital budgeting and investment decision rules used</a:t>
            </a:r>
          </a:p>
          <a:p>
            <a:endParaRPr lang="en-US" sz="800" dirty="0"/>
          </a:p>
          <a:p>
            <a:pPr lvl="1"/>
            <a:r>
              <a:rPr lang="en-US" dirty="0"/>
              <a:t>Review net present value (NPV)</a:t>
            </a:r>
          </a:p>
          <a:p>
            <a:pPr lvl="1"/>
            <a:r>
              <a:rPr lang="en-US" dirty="0"/>
              <a:t>Other decision rules &amp; their drawbacks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Payback rule</a:t>
            </a:r>
          </a:p>
          <a:p>
            <a:pPr lvl="2"/>
            <a:r>
              <a:rPr lang="en-US" dirty="0"/>
              <a:t>Internal rate of return (IRR) rule</a:t>
            </a:r>
          </a:p>
          <a:p>
            <a:pPr lvl="2"/>
            <a:endParaRPr lang="en-US" sz="800" dirty="0"/>
          </a:p>
          <a:p>
            <a:pPr lvl="1"/>
            <a:r>
              <a:rPr lang="en-US" dirty="0"/>
              <a:t>Apply rules using “Investment Detective” case</a:t>
            </a:r>
          </a:p>
          <a:p>
            <a:pPr lvl="1"/>
            <a:r>
              <a:rPr lang="en-US" dirty="0"/>
              <a:t>Miscellaneous decision issues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Handling budget constraints </a:t>
            </a:r>
            <a:r>
              <a:rPr lang="en-US" i="1" dirty="0"/>
              <a:t>[using profitability index]</a:t>
            </a:r>
          </a:p>
          <a:p>
            <a:pPr lvl="2"/>
            <a:r>
              <a:rPr lang="en-US" dirty="0"/>
              <a:t>Handling unequal periods </a:t>
            </a:r>
            <a:r>
              <a:rPr lang="en-US" i="1" dirty="0"/>
              <a:t>[using equivalent annual annuity]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1FC2F-506F-D749-8742-7D69A32A7334}"/>
              </a:ext>
            </a:extLst>
          </p:cNvPr>
          <p:cNvSpPr/>
          <p:nvPr/>
        </p:nvSpPr>
        <p:spPr>
          <a:xfrm>
            <a:off x="1025803" y="2704698"/>
            <a:ext cx="6741784" cy="471639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F8A68E-FD3C-0248-BFA6-8C06A58FD9CD}"/>
              </a:ext>
            </a:extLst>
          </p:cNvPr>
          <p:cNvSpPr/>
          <p:nvPr/>
        </p:nvSpPr>
        <p:spPr>
          <a:xfrm>
            <a:off x="1463039" y="3210025"/>
            <a:ext cx="4215865" cy="851836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515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Other popular decision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20" y="1600200"/>
            <a:ext cx="4558522" cy="4778022"/>
          </a:xfrm>
        </p:spPr>
        <p:txBody>
          <a:bodyPr>
            <a:normAutofit/>
          </a:bodyPr>
          <a:lstStyle/>
          <a:p>
            <a:r>
              <a:rPr lang="en-US" dirty="0"/>
              <a:t>CFO survey showed   that three most common decision rules were IRR, NPV, and Payback</a:t>
            </a:r>
          </a:p>
          <a:p>
            <a:endParaRPr lang="en-US" sz="800" dirty="0"/>
          </a:p>
          <a:p>
            <a:r>
              <a:rPr lang="en-US" b="1" dirty="0"/>
              <a:t>You will encounter them; so, let’s discuss!</a:t>
            </a:r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DD5CF2-1EFF-B049-9FEE-CA2C32E534A3}"/>
              </a:ext>
            </a:extLst>
          </p:cNvPr>
          <p:cNvSpPr txBox="1"/>
          <p:nvPr/>
        </p:nvSpPr>
        <p:spPr>
          <a:xfrm>
            <a:off x="5447912" y="5978734"/>
            <a:ext cx="6266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6568"/>
                </a:solidFill>
              </a:rPr>
              <a:t>Figure 8.2: Berk, </a:t>
            </a:r>
            <a:r>
              <a:rPr lang="en-US" sz="1200" dirty="0" err="1">
                <a:solidFill>
                  <a:srgbClr val="566568"/>
                </a:solidFill>
              </a:rPr>
              <a:t>Demarzo</a:t>
            </a:r>
            <a:r>
              <a:rPr lang="en-US" sz="1200" dirty="0">
                <a:solidFill>
                  <a:srgbClr val="566568"/>
                </a:solidFill>
              </a:rPr>
              <a:t>, and Harford, </a:t>
            </a:r>
            <a:r>
              <a:rPr lang="en-US" sz="1200" i="1" dirty="0">
                <a:solidFill>
                  <a:srgbClr val="566568"/>
                </a:solidFill>
              </a:rPr>
              <a:t>Fundamentals of Corporate Finance, 5</a:t>
            </a:r>
            <a:r>
              <a:rPr lang="en-US" sz="1200" i="1" baseline="30000" dirty="0">
                <a:solidFill>
                  <a:srgbClr val="566568"/>
                </a:solidFill>
              </a:rPr>
              <a:t>th</a:t>
            </a:r>
            <a:r>
              <a:rPr lang="en-US" sz="1200" i="1" dirty="0">
                <a:solidFill>
                  <a:srgbClr val="566568"/>
                </a:solidFill>
              </a:rPr>
              <a:t> Edition</a:t>
            </a:r>
          </a:p>
        </p:txBody>
      </p:sp>
      <p:pic>
        <p:nvPicPr>
          <p:cNvPr id="8" name="Picture 7" descr="Chart, bar chart&#10;&#10;Description automatically generated">
            <a:extLst>
              <a:ext uri="{FF2B5EF4-FFF2-40B4-BE49-F238E27FC236}">
                <a16:creationId xmlns:a16="http://schemas.microsoft.com/office/drawing/2014/main" id="{1D8EB9EC-4E6A-3647-AE38-7434EABEE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913" y="2313332"/>
            <a:ext cx="6266378" cy="36494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FF569D-07C8-4843-9878-1B5A02B4ECAB}"/>
              </a:ext>
            </a:extLst>
          </p:cNvPr>
          <p:cNvSpPr txBox="1"/>
          <p:nvPr/>
        </p:nvSpPr>
        <p:spPr>
          <a:xfrm>
            <a:off x="5447913" y="1651052"/>
            <a:ext cx="6266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566568"/>
                </a:solidFill>
              </a:rPr>
              <a:t>Percent of CFOs that said they use the following decision rules when making investment decisions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C2CE21-879E-954D-A2C8-FF534E3164DA}"/>
              </a:ext>
            </a:extLst>
          </p:cNvPr>
          <p:cNvSpPr txBox="1"/>
          <p:nvPr/>
        </p:nvSpPr>
        <p:spPr>
          <a:xfrm>
            <a:off x="658520" y="4955548"/>
            <a:ext cx="40128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Does anyone know what these two other rules are?</a:t>
            </a:r>
          </a:p>
        </p:txBody>
      </p:sp>
    </p:spTree>
    <p:extLst>
      <p:ext uri="{BB962C8B-B14F-4D97-AF65-F5344CB8AC3E}">
        <p14:creationId xmlns:p14="http://schemas.microsoft.com/office/powerpoint/2010/main" val="399405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The payback investment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916793" cy="4778022"/>
          </a:xfrm>
        </p:spPr>
        <p:txBody>
          <a:bodyPr>
            <a:normAutofit/>
          </a:bodyPr>
          <a:lstStyle/>
          <a:p>
            <a:r>
              <a:rPr lang="en-US" b="1" dirty="0"/>
              <a:t>Payback period = </a:t>
            </a:r>
            <a:r>
              <a:rPr lang="en-US" dirty="0"/>
              <a:t>the amount of time until the cash flows from a project offset the initial investment cost</a:t>
            </a:r>
          </a:p>
          <a:p>
            <a:endParaRPr lang="en-US" sz="800" dirty="0"/>
          </a:p>
          <a:p>
            <a:pPr lvl="1"/>
            <a:r>
              <a:rPr lang="en-US" u="sng" dirty="0"/>
              <a:t>To compute</a:t>
            </a:r>
            <a:r>
              <a:rPr lang="en-US" dirty="0"/>
              <a:t>, first estimate cash flows of project </a:t>
            </a:r>
            <a:endParaRPr lang="en-US" i="1" dirty="0"/>
          </a:p>
          <a:p>
            <a:pPr lvl="1"/>
            <a:r>
              <a:rPr lang="en-US" dirty="0"/>
              <a:t>Then, subtract the future cash flows from the initial cost until initial investment cost is recovered; this yields the “payback period”</a:t>
            </a:r>
          </a:p>
          <a:p>
            <a:pPr lvl="1"/>
            <a:endParaRPr lang="en-US" sz="800" dirty="0"/>
          </a:p>
          <a:p>
            <a:r>
              <a:rPr lang="en-US" b="1" dirty="0"/>
              <a:t>Payback investment rule</a:t>
            </a:r>
            <a:r>
              <a:rPr lang="en-US" dirty="0"/>
              <a:t> = only undertake projects where their payback period is less than some prespecified number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3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payback investment rule – </a:t>
            </a:r>
            <a:r>
              <a:rPr lang="en-US" i="1" dirty="0"/>
              <a:t>Example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945346" cy="4778022"/>
          </a:xfrm>
        </p:spPr>
        <p:txBody>
          <a:bodyPr>
            <a:normAutofit/>
          </a:bodyPr>
          <a:lstStyle/>
          <a:p>
            <a:r>
              <a:rPr lang="en-US" dirty="0"/>
              <a:t>Suppose a project has immediate cost of $81.6 million and yields $28 million in cash flows per year for next 4 years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pPr lvl="1"/>
            <a:r>
              <a:rPr lang="en-US" dirty="0">
                <a:solidFill>
                  <a:srgbClr val="A51417"/>
                </a:solidFill>
              </a:rPr>
              <a:t>What is the payback period?</a:t>
            </a:r>
          </a:p>
          <a:p>
            <a:pPr lvl="1"/>
            <a:r>
              <a:rPr lang="en-US" dirty="0">
                <a:solidFill>
                  <a:srgbClr val="A51417"/>
                </a:solidFill>
              </a:rPr>
              <a:t>Would a firm do project if it requires payback period of 2 or fewer years?</a:t>
            </a:r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6" name="Picture 5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A8D00D1B-BF3E-7241-A860-7E1278BB5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650" y="2825750"/>
            <a:ext cx="890270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5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Answers – </a:t>
            </a:r>
            <a:r>
              <a:rPr lang="en-US" dirty="0"/>
              <a:t>Computing the payback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Payback period is 3 years</a:t>
            </a:r>
          </a:p>
          <a:p>
            <a:endParaRPr lang="en-US" sz="800" dirty="0"/>
          </a:p>
          <a:p>
            <a:pPr lvl="1"/>
            <a:r>
              <a:rPr lang="en-US" dirty="0"/>
              <a:t>Year 1: 81.6 – 28 = $53.6 million still to recover </a:t>
            </a:r>
          </a:p>
          <a:p>
            <a:pPr lvl="1"/>
            <a:r>
              <a:rPr lang="en-US" dirty="0"/>
              <a:t>Year 2: 53.6 – 28 = $25.6 million still to recover</a:t>
            </a:r>
          </a:p>
          <a:p>
            <a:pPr lvl="1"/>
            <a:r>
              <a:rPr lang="en-US" dirty="0"/>
              <a:t>Year 3: 25.6– 28 = -$2.4 million </a:t>
            </a:r>
            <a:r>
              <a:rPr lang="en-US" i="1" dirty="0"/>
              <a:t>[project pays back in year 3]</a:t>
            </a:r>
            <a:endParaRPr lang="en-US" sz="800" i="1" dirty="0"/>
          </a:p>
          <a:p>
            <a:endParaRPr lang="en-US" sz="800" dirty="0"/>
          </a:p>
          <a:p>
            <a:r>
              <a:rPr lang="en-US" dirty="0"/>
              <a:t>Firm would </a:t>
            </a:r>
            <a:r>
              <a:rPr lang="en-US" b="1" u="sng" dirty="0"/>
              <a:t>reject</a:t>
            </a:r>
            <a:r>
              <a:rPr lang="en-US" dirty="0"/>
              <a:t> since it requires 2-year payback period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5C671-09C0-924D-8057-79C80E936C19}"/>
              </a:ext>
            </a:extLst>
          </p:cNvPr>
          <p:cNvSpPr txBox="1"/>
          <p:nvPr/>
        </p:nvSpPr>
        <p:spPr>
          <a:xfrm>
            <a:off x="677332" y="4780746"/>
            <a:ext cx="9838268" cy="954107"/>
          </a:xfrm>
          <a:prstGeom prst="rect">
            <a:avLst/>
          </a:prstGeom>
          <a:solidFill>
            <a:srgbClr val="E1E1E1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To illustrate weakness of this approach, let’s now assume appropriate discount rate is 10% and find the NPV…</a:t>
            </a:r>
          </a:p>
        </p:txBody>
      </p:sp>
    </p:spTree>
    <p:extLst>
      <p:ext uri="{BB962C8B-B14F-4D97-AF65-F5344CB8AC3E}">
        <p14:creationId xmlns:p14="http://schemas.microsoft.com/office/powerpoint/2010/main" val="318133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Weakness of payback rule </a:t>
            </a:r>
            <a:r>
              <a:rPr lang="en-US" i="1" dirty="0"/>
              <a:t>– Example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NPV of project is $7.2 million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800" dirty="0"/>
          </a:p>
          <a:p>
            <a:pPr lvl="1"/>
            <a:r>
              <a:rPr lang="en-US" dirty="0"/>
              <a:t>Plug in for </a:t>
            </a:r>
            <a:r>
              <a:rPr lang="en-US" i="1" dirty="0"/>
              <a:t>r</a:t>
            </a:r>
            <a:r>
              <a:rPr lang="en-US" dirty="0"/>
              <a:t> = 10%, and you find NPV = $7.2 million</a:t>
            </a:r>
          </a:p>
          <a:p>
            <a:pPr lvl="1"/>
            <a:endParaRPr lang="en-US" sz="800" dirty="0"/>
          </a:p>
          <a:p>
            <a:r>
              <a:rPr lang="en-US" dirty="0"/>
              <a:t>NPV rule says the firm should do project!</a:t>
            </a:r>
          </a:p>
          <a:p>
            <a:pPr lvl="1"/>
            <a:endParaRPr lang="en-US" sz="800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EDD156A3-3C13-9049-8227-A28084CF2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534" y="2473728"/>
            <a:ext cx="4724400" cy="1028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4047C5-984E-9A4D-B78A-C5A55143FAF9}"/>
              </a:ext>
            </a:extLst>
          </p:cNvPr>
          <p:cNvSpPr txBox="1"/>
          <p:nvPr/>
        </p:nvSpPr>
        <p:spPr>
          <a:xfrm>
            <a:off x="9296152" y="2203248"/>
            <a:ext cx="25677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What formula did I use to create the second term?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21B497-E912-E246-87E1-474099D42BF5}"/>
              </a:ext>
            </a:extLst>
          </p:cNvPr>
          <p:cNvSpPr txBox="1"/>
          <p:nvPr/>
        </p:nvSpPr>
        <p:spPr>
          <a:xfrm>
            <a:off x="622937" y="5167097"/>
            <a:ext cx="51477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Intuitively, what are the problems with using the payback rule?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5D036B-4122-FA46-974C-AFD2D93E389E}"/>
              </a:ext>
            </a:extLst>
          </p:cNvPr>
          <p:cNvCxnSpPr>
            <a:cxnSpLocks/>
          </p:cNvCxnSpPr>
          <p:nvPr/>
        </p:nvCxnSpPr>
        <p:spPr>
          <a:xfrm flipH="1">
            <a:off x="8330953" y="2990457"/>
            <a:ext cx="906180" cy="0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960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46081" cy="4778022"/>
          </a:xfrm>
        </p:spPr>
        <p:txBody>
          <a:bodyPr>
            <a:normAutofit/>
          </a:bodyPr>
          <a:lstStyle/>
          <a:p>
            <a:r>
              <a:rPr lang="en-US" dirty="0"/>
              <a:t>While simple to use, payback rule has problems:</a:t>
            </a:r>
          </a:p>
          <a:p>
            <a:endParaRPr lang="en-US" sz="800" dirty="0"/>
          </a:p>
          <a:p>
            <a:pPr lvl="1"/>
            <a:r>
              <a:rPr lang="en-US" dirty="0"/>
              <a:t>No guidance on economically based (i.e., correct) payback period</a:t>
            </a:r>
          </a:p>
          <a:p>
            <a:pPr lvl="1"/>
            <a:r>
              <a:rPr lang="en-US" dirty="0"/>
              <a:t>Ignores time value of money </a:t>
            </a:r>
            <a:r>
              <a:rPr lang="en-US" i="1" dirty="0"/>
              <a:t>[didn’t discount future cash flows]</a:t>
            </a:r>
            <a:endParaRPr lang="en-US" dirty="0"/>
          </a:p>
          <a:p>
            <a:pPr lvl="1"/>
            <a:r>
              <a:rPr lang="en-US" dirty="0"/>
              <a:t>All cash flows after payback period are ignored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Punchline = </a:t>
            </a:r>
            <a:r>
              <a:rPr lang="en-US" dirty="0"/>
              <a:t>Use of the payback rule can lead to decisions that are </a:t>
            </a:r>
            <a:r>
              <a:rPr lang="en-US" u="sng" dirty="0"/>
              <a:t>not</a:t>
            </a:r>
            <a:r>
              <a:rPr lang="en-US" dirty="0"/>
              <a:t> consistent with maximizing shareholder value!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payback rule</a:t>
            </a:r>
          </a:p>
        </p:txBody>
      </p:sp>
    </p:spTree>
    <p:extLst>
      <p:ext uri="{BB962C8B-B14F-4D97-AF65-F5344CB8AC3E}">
        <p14:creationId xmlns:p14="http://schemas.microsoft.com/office/powerpoint/2010/main" val="391509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The IRR investment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916793" cy="4778022"/>
          </a:xfrm>
        </p:spPr>
        <p:txBody>
          <a:bodyPr>
            <a:normAutofit/>
          </a:bodyPr>
          <a:lstStyle/>
          <a:p>
            <a:r>
              <a:rPr lang="en-US" b="1" dirty="0"/>
              <a:t>Internal rate of return (IRR) = </a:t>
            </a:r>
            <a:r>
              <a:rPr lang="en-US" dirty="0"/>
              <a:t>interest rate that sets the net present value of the project equal to zero</a:t>
            </a:r>
          </a:p>
          <a:p>
            <a:endParaRPr lang="en-US" sz="800" dirty="0"/>
          </a:p>
          <a:p>
            <a:pPr lvl="1"/>
            <a:r>
              <a:rPr lang="en-US" dirty="0"/>
              <a:t>To compute, must use “trial-and-error” approach </a:t>
            </a:r>
            <a:r>
              <a:rPr lang="en-US" i="1" dirty="0"/>
              <a:t>[i.e., you make an initial educated guess and keep trying until you find the IRR]</a:t>
            </a:r>
          </a:p>
          <a:p>
            <a:pPr lvl="1"/>
            <a:r>
              <a:rPr lang="en-US" u="sng" dirty="0"/>
              <a:t>Or better yet</a:t>
            </a:r>
            <a:r>
              <a:rPr lang="en-US" dirty="0"/>
              <a:t>, let MS Excel or financial calculator do this for you</a:t>
            </a:r>
          </a:p>
          <a:p>
            <a:pPr lvl="1"/>
            <a:endParaRPr lang="en-US" sz="800" dirty="0"/>
          </a:p>
          <a:p>
            <a:r>
              <a:rPr lang="en-US" b="1" dirty="0"/>
              <a:t>IRR investment rule</a:t>
            </a:r>
            <a:r>
              <a:rPr lang="en-US" dirty="0"/>
              <a:t> = accept the project if the IRR exceeds the required return [i.e., cost of capital]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29250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IRR investment rule – </a:t>
            </a:r>
            <a:r>
              <a:rPr lang="en-US" i="1" dirty="0"/>
              <a:t>Example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945346" cy="4778022"/>
          </a:xfrm>
        </p:spPr>
        <p:txBody>
          <a:bodyPr>
            <a:normAutofit/>
          </a:bodyPr>
          <a:lstStyle/>
          <a:p>
            <a:r>
              <a:rPr lang="en-US" dirty="0"/>
              <a:t>Go back to earlier project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endParaRPr lang="en-US" sz="800" dirty="0"/>
          </a:p>
          <a:p>
            <a:pPr lvl="1"/>
            <a:r>
              <a:rPr lang="en-US" dirty="0">
                <a:solidFill>
                  <a:srgbClr val="69787B"/>
                </a:solidFill>
              </a:rPr>
              <a:t>What is the internal rate of return of this project?</a:t>
            </a:r>
          </a:p>
          <a:p>
            <a:pPr lvl="1"/>
            <a:r>
              <a:rPr lang="en-US" dirty="0">
                <a:solidFill>
                  <a:srgbClr val="69787B"/>
                </a:solidFill>
              </a:rPr>
              <a:t>Given appropriate discount rate is 10%, should firm do project?</a:t>
            </a:r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AF53D218-5735-CE48-B337-66A4729B8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934" y="2338261"/>
            <a:ext cx="47244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67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Answers – </a:t>
            </a:r>
            <a:r>
              <a:rPr lang="en-US" dirty="0"/>
              <a:t>Computing the IRR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20" y="1600200"/>
            <a:ext cx="4260614" cy="4778022"/>
          </a:xfrm>
        </p:spPr>
        <p:txBody>
          <a:bodyPr>
            <a:normAutofit/>
          </a:bodyPr>
          <a:lstStyle/>
          <a:p>
            <a:r>
              <a:rPr lang="en-US" dirty="0"/>
              <a:t>Graph shows NPV for </a:t>
            </a:r>
            <a:r>
              <a:rPr lang="en-US" u="sng" dirty="0"/>
              <a:t>each</a:t>
            </a:r>
            <a:r>
              <a:rPr lang="en-US" dirty="0"/>
              <a:t> possible </a:t>
            </a:r>
            <a:r>
              <a:rPr lang="en-US" i="1" dirty="0"/>
              <a:t>r</a:t>
            </a:r>
          </a:p>
          <a:p>
            <a:endParaRPr lang="en-US" sz="800" dirty="0"/>
          </a:p>
          <a:p>
            <a:endParaRPr lang="en-US" sz="800" dirty="0"/>
          </a:p>
          <a:p>
            <a:r>
              <a:rPr lang="en-US" dirty="0"/>
              <a:t>IRR is 14%; so yes, firm would do project since this exceeds the required return of 10%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49E0B431-D084-1747-A30D-2E3A36F30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241" y="1756833"/>
            <a:ext cx="6456508" cy="4288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7A37DC-D217-2140-9225-AF2958E05C13}"/>
              </a:ext>
            </a:extLst>
          </p:cNvPr>
          <p:cNvSpPr txBox="1"/>
          <p:nvPr/>
        </p:nvSpPr>
        <p:spPr>
          <a:xfrm>
            <a:off x="7683114" y="2435157"/>
            <a:ext cx="3501354" cy="468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6568"/>
                </a:solidFill>
              </a:rPr>
              <a:t>Figure 8.1: Berk, </a:t>
            </a:r>
            <a:r>
              <a:rPr lang="en-US" sz="1200" dirty="0" err="1">
                <a:solidFill>
                  <a:srgbClr val="566568"/>
                </a:solidFill>
              </a:rPr>
              <a:t>Demarzo</a:t>
            </a:r>
            <a:r>
              <a:rPr lang="en-US" sz="1200" dirty="0">
                <a:solidFill>
                  <a:srgbClr val="566568"/>
                </a:solidFill>
              </a:rPr>
              <a:t>, and Harford, </a:t>
            </a:r>
            <a:r>
              <a:rPr lang="en-US" sz="1200" i="1" dirty="0">
                <a:solidFill>
                  <a:srgbClr val="566568"/>
                </a:solidFill>
              </a:rPr>
              <a:t>Fundamentals of Corporate Finance, 5</a:t>
            </a:r>
            <a:r>
              <a:rPr lang="en-US" sz="1200" i="1" baseline="30000" dirty="0">
                <a:solidFill>
                  <a:srgbClr val="566568"/>
                </a:solidFill>
              </a:rPr>
              <a:t>th</a:t>
            </a:r>
            <a:r>
              <a:rPr lang="en-US" sz="1200" i="1" dirty="0">
                <a:solidFill>
                  <a:srgbClr val="566568"/>
                </a:solidFill>
              </a:rPr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val="93875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46081" cy="4778022"/>
          </a:xfrm>
        </p:spPr>
        <p:txBody>
          <a:bodyPr>
            <a:normAutofit/>
          </a:bodyPr>
          <a:lstStyle/>
          <a:p>
            <a:r>
              <a:rPr lang="en-US" dirty="0"/>
              <a:t>It often gives same answer as NPV rule, </a:t>
            </a:r>
            <a:r>
              <a:rPr lang="en-US" u="sng" dirty="0"/>
              <a:t>but not always</a:t>
            </a:r>
          </a:p>
          <a:p>
            <a:endParaRPr lang="en-US" sz="800" dirty="0"/>
          </a:p>
          <a:p>
            <a:pPr lvl="1"/>
            <a:r>
              <a:rPr lang="en-US" dirty="0"/>
              <a:t>We will discuss this in more detail after “Investment Detective” case</a:t>
            </a:r>
          </a:p>
          <a:p>
            <a:pPr lvl="1"/>
            <a:r>
              <a:rPr lang="en-US" b="1" dirty="0"/>
              <a:t>See if you and your group can spot the concerns on your own!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the IRR rule</a:t>
            </a:r>
          </a:p>
        </p:txBody>
      </p:sp>
    </p:spTree>
    <p:extLst>
      <p:ext uri="{BB962C8B-B14F-4D97-AF65-F5344CB8AC3E}">
        <p14:creationId xmlns:p14="http://schemas.microsoft.com/office/powerpoint/2010/main" val="1457628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for this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Discuss capital budgeting and investment decision rules used</a:t>
            </a:r>
          </a:p>
          <a:p>
            <a:endParaRPr lang="en-US" sz="800" dirty="0"/>
          </a:p>
          <a:p>
            <a:pPr lvl="1"/>
            <a:r>
              <a:rPr lang="en-US" dirty="0"/>
              <a:t>Review net present value (NPV)</a:t>
            </a:r>
          </a:p>
          <a:p>
            <a:pPr lvl="1"/>
            <a:r>
              <a:rPr lang="en-US" dirty="0"/>
              <a:t>Other decision rules &amp; their drawbacks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Payback rule</a:t>
            </a:r>
          </a:p>
          <a:p>
            <a:pPr lvl="2"/>
            <a:r>
              <a:rPr lang="en-US" dirty="0"/>
              <a:t>Internal rate of return (IRR) rule</a:t>
            </a:r>
          </a:p>
          <a:p>
            <a:pPr lvl="2"/>
            <a:endParaRPr lang="en-US" sz="800" dirty="0"/>
          </a:p>
          <a:p>
            <a:pPr lvl="1"/>
            <a:r>
              <a:rPr lang="en-US" dirty="0"/>
              <a:t>Apply rules using “Investment Detective” case</a:t>
            </a:r>
          </a:p>
          <a:p>
            <a:pPr lvl="1"/>
            <a:r>
              <a:rPr lang="en-US" dirty="0"/>
              <a:t>Miscellaneous decision issues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Handling budget constraints </a:t>
            </a:r>
            <a:r>
              <a:rPr lang="en-US" i="1" dirty="0"/>
              <a:t>[using profitability index]</a:t>
            </a:r>
          </a:p>
          <a:p>
            <a:pPr lvl="2"/>
            <a:r>
              <a:rPr lang="en-US" dirty="0"/>
              <a:t>Handling unequal periods </a:t>
            </a:r>
            <a:r>
              <a:rPr lang="en-US" i="1" dirty="0"/>
              <a:t>[using equivalent annual annuity]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1FC2F-506F-D749-8742-7D69A32A7334}"/>
              </a:ext>
            </a:extLst>
          </p:cNvPr>
          <p:cNvSpPr/>
          <p:nvPr/>
        </p:nvSpPr>
        <p:spPr>
          <a:xfrm>
            <a:off x="1035428" y="4148488"/>
            <a:ext cx="6982416" cy="510139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67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46081" cy="4778022"/>
          </a:xfrm>
        </p:spPr>
        <p:txBody>
          <a:bodyPr>
            <a:normAutofit/>
          </a:bodyPr>
          <a:lstStyle/>
          <a:p>
            <a:r>
              <a:rPr lang="en-US" dirty="0"/>
              <a:t>I recommend using MS Excel formulas to solve next case</a:t>
            </a:r>
          </a:p>
          <a:p>
            <a:r>
              <a:rPr lang="en-US" b="1" dirty="0"/>
              <a:t>See next slide for example formulas</a:t>
            </a:r>
          </a:p>
          <a:p>
            <a:endParaRPr lang="en-US" dirty="0"/>
          </a:p>
          <a:p>
            <a:r>
              <a:rPr lang="en-US" u="sng" dirty="0"/>
              <a:t>However, one needs to be careful</a:t>
            </a:r>
          </a:p>
          <a:p>
            <a:endParaRPr lang="en-US" sz="800" dirty="0"/>
          </a:p>
          <a:p>
            <a:pPr lvl="1"/>
            <a:r>
              <a:rPr lang="en-US" dirty="0"/>
              <a:t>You need to manually include year 0 cash flow because Excel’s NPV formula assumes first cash flow is in year 1</a:t>
            </a:r>
          </a:p>
          <a:p>
            <a:pPr lvl="1"/>
            <a:r>
              <a:rPr lang="en-US" dirty="0"/>
              <a:t>Don’t leave blank cells because NPV and IRR will ignore them; instead, you should always put ‘0’ for years with no cash flow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MS Excel to find NPV &amp; IRR</a:t>
            </a:r>
          </a:p>
        </p:txBody>
      </p:sp>
    </p:spTree>
    <p:extLst>
      <p:ext uri="{BB962C8B-B14F-4D97-AF65-F5344CB8AC3E}">
        <p14:creationId xmlns:p14="http://schemas.microsoft.com/office/powerpoint/2010/main" val="3957417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26309C01-67F7-8345-9A7C-4F9E127B9618}"/>
              </a:ext>
            </a:extLst>
          </p:cNvPr>
          <p:cNvSpPr/>
          <p:nvPr/>
        </p:nvSpPr>
        <p:spPr>
          <a:xfrm>
            <a:off x="7462876" y="3442056"/>
            <a:ext cx="2646324" cy="1178805"/>
          </a:xfrm>
          <a:prstGeom prst="rect">
            <a:avLst/>
          </a:prstGeom>
          <a:solidFill>
            <a:srgbClr val="8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E4AACEA-9C7C-0E45-9563-7E40DF48BF61}"/>
              </a:ext>
            </a:extLst>
          </p:cNvPr>
          <p:cNvSpPr/>
          <p:nvPr/>
        </p:nvSpPr>
        <p:spPr>
          <a:xfrm>
            <a:off x="7222067" y="591181"/>
            <a:ext cx="2489200" cy="1569660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CB4D59-314F-F044-8B86-716B25755BE1}"/>
              </a:ext>
            </a:extLst>
          </p:cNvPr>
          <p:cNvSpPr txBox="1"/>
          <p:nvPr/>
        </p:nvSpPr>
        <p:spPr>
          <a:xfrm>
            <a:off x="7217343" y="591181"/>
            <a:ext cx="27145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2nd entry tells Excel the cash flows, beginning with </a:t>
            </a:r>
            <a:r>
              <a:rPr lang="en-US" sz="2400" u="sng" dirty="0"/>
              <a:t>year =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48A41D-E163-434E-B188-D859C86D1574}"/>
              </a:ext>
            </a:extLst>
          </p:cNvPr>
          <p:cNvSpPr txBox="1"/>
          <p:nvPr/>
        </p:nvSpPr>
        <p:spPr>
          <a:xfrm>
            <a:off x="1734917" y="1528292"/>
            <a:ext cx="4027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First entry tells Excel what discount rate to use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3C74BB-9F5E-0843-B2A5-245E4AEE0E8C}"/>
              </a:ext>
            </a:extLst>
          </p:cNvPr>
          <p:cNvSpPr/>
          <p:nvPr/>
        </p:nvSpPr>
        <p:spPr>
          <a:xfrm>
            <a:off x="1734917" y="1547462"/>
            <a:ext cx="3920816" cy="830996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NPV formula in MS Excel</a:t>
            </a:r>
          </a:p>
        </p:txBody>
      </p:sp>
      <p:pic>
        <p:nvPicPr>
          <p:cNvPr id="5" name="Picture 4" descr="Graphical user interface, application, table, Excel&#10;&#10;Description automatically generated">
            <a:extLst>
              <a:ext uri="{FF2B5EF4-FFF2-40B4-BE49-F238E27FC236}">
                <a16:creationId xmlns:a16="http://schemas.microsoft.com/office/drawing/2014/main" id="{BDD3D47A-390D-024E-8A97-BF6C0A321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7" y="2857042"/>
            <a:ext cx="6339417" cy="306500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A829410-D37A-E846-9721-F6A7D82287A2}"/>
              </a:ext>
            </a:extLst>
          </p:cNvPr>
          <p:cNvCxnSpPr>
            <a:cxnSpLocks/>
          </p:cNvCxnSpPr>
          <p:nvPr/>
        </p:nvCxnSpPr>
        <p:spPr>
          <a:xfrm>
            <a:off x="4575047" y="2336466"/>
            <a:ext cx="301753" cy="456924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634A608-3166-5843-B15B-E293268CAD10}"/>
              </a:ext>
            </a:extLst>
          </p:cNvPr>
          <p:cNvCxnSpPr>
            <a:cxnSpLocks/>
          </p:cNvCxnSpPr>
          <p:nvPr/>
        </p:nvCxnSpPr>
        <p:spPr>
          <a:xfrm flipH="1">
            <a:off x="5867400" y="1701800"/>
            <a:ext cx="1236133" cy="1091590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1440452-8718-0C4E-AEA9-2B78B78C4BEC}"/>
              </a:ext>
            </a:extLst>
          </p:cNvPr>
          <p:cNvSpPr txBox="1"/>
          <p:nvPr/>
        </p:nvSpPr>
        <p:spPr>
          <a:xfrm>
            <a:off x="7462876" y="3420533"/>
            <a:ext cx="2714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Then, need to manually add year = 0 cash flow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6B95A05-A2FD-C94D-8729-7DC2E665BCFE}"/>
              </a:ext>
            </a:extLst>
          </p:cNvPr>
          <p:cNvCxnSpPr>
            <a:cxnSpLocks/>
          </p:cNvCxnSpPr>
          <p:nvPr/>
        </p:nvCxnSpPr>
        <p:spPr>
          <a:xfrm flipH="1" flipV="1">
            <a:off x="6366933" y="3291143"/>
            <a:ext cx="982135" cy="459590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6F588FA-EAE1-EE4E-8D74-1FD4F887EFF5}"/>
              </a:ext>
            </a:extLst>
          </p:cNvPr>
          <p:cNvSpPr/>
          <p:nvPr/>
        </p:nvSpPr>
        <p:spPr>
          <a:xfrm>
            <a:off x="2734732" y="4776684"/>
            <a:ext cx="790625" cy="283991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ACFF6AF-5EF4-1D48-BAD9-C5A1038A65BD}"/>
              </a:ext>
            </a:extLst>
          </p:cNvPr>
          <p:cNvSpPr/>
          <p:nvPr/>
        </p:nvSpPr>
        <p:spPr>
          <a:xfrm>
            <a:off x="5236140" y="2982467"/>
            <a:ext cx="588927" cy="308676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F3CCA90-4CDF-7340-8751-3784BA8B3D76}"/>
              </a:ext>
            </a:extLst>
          </p:cNvPr>
          <p:cNvSpPr/>
          <p:nvPr/>
        </p:nvSpPr>
        <p:spPr>
          <a:xfrm>
            <a:off x="5909730" y="2982467"/>
            <a:ext cx="457204" cy="308676"/>
          </a:xfrm>
          <a:prstGeom prst="rect">
            <a:avLst/>
          </a:prstGeom>
          <a:solidFill>
            <a:srgbClr val="8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05D24E-0FB4-7841-AF00-A05F78CFAA1A}"/>
              </a:ext>
            </a:extLst>
          </p:cNvPr>
          <p:cNvSpPr/>
          <p:nvPr/>
        </p:nvSpPr>
        <p:spPr>
          <a:xfrm>
            <a:off x="3525358" y="4159333"/>
            <a:ext cx="3137910" cy="308676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358619B-334E-D94D-B511-F47419169F03}"/>
              </a:ext>
            </a:extLst>
          </p:cNvPr>
          <p:cNvSpPr/>
          <p:nvPr/>
        </p:nvSpPr>
        <p:spPr>
          <a:xfrm flipV="1">
            <a:off x="2749689" y="4176267"/>
            <a:ext cx="775668" cy="283991"/>
          </a:xfrm>
          <a:prstGeom prst="rect">
            <a:avLst/>
          </a:prstGeom>
          <a:solidFill>
            <a:srgbClr val="8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226101-1BCC-2E47-97E7-0C1C2FF0B02F}"/>
              </a:ext>
            </a:extLst>
          </p:cNvPr>
          <p:cNvSpPr/>
          <p:nvPr/>
        </p:nvSpPr>
        <p:spPr>
          <a:xfrm>
            <a:off x="4889392" y="2982468"/>
            <a:ext cx="262086" cy="308676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352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39" grpId="0" animBg="1"/>
      <p:bldP spid="15" grpId="0"/>
      <p:bldP spid="6" grpId="0"/>
      <p:bldP spid="37" grpId="0" animBg="1"/>
      <p:bldP spid="31" grpId="0"/>
      <p:bldP spid="36" grpId="0" animBg="1"/>
      <p:bldP spid="38" grpId="0" animBg="1"/>
      <p:bldP spid="40" grpId="0" animBg="1"/>
      <p:bldP spid="42" grpId="0" animBg="1"/>
      <p:bldP spid="43" grpId="0" animBg="1"/>
      <p:bldP spid="4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E4AACEA-9C7C-0E45-9563-7E40DF48BF61}"/>
              </a:ext>
            </a:extLst>
          </p:cNvPr>
          <p:cNvSpPr/>
          <p:nvPr/>
        </p:nvSpPr>
        <p:spPr>
          <a:xfrm>
            <a:off x="7826796" y="2153606"/>
            <a:ext cx="2968665" cy="2308287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10158A-05C1-9046-8221-1C9CB8C7A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6" y="2850266"/>
            <a:ext cx="6398192" cy="30650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BCB4D59-314F-F044-8B86-716B25755BE1}"/>
              </a:ext>
            </a:extLst>
          </p:cNvPr>
          <p:cNvSpPr txBox="1"/>
          <p:nvPr/>
        </p:nvSpPr>
        <p:spPr>
          <a:xfrm>
            <a:off x="7850043" y="2153607"/>
            <a:ext cx="29454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2nd entry tells Excel where to begin guessing; remember, it is necessary to “guess and check”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48A41D-E163-434E-B188-D859C86D1574}"/>
              </a:ext>
            </a:extLst>
          </p:cNvPr>
          <p:cNvSpPr txBox="1"/>
          <p:nvPr/>
        </p:nvSpPr>
        <p:spPr>
          <a:xfrm>
            <a:off x="1223922" y="1470614"/>
            <a:ext cx="4534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First entry tells Excel the cash flows, beginning with </a:t>
            </a:r>
            <a:r>
              <a:rPr lang="en-US" sz="2400" u="sng" dirty="0"/>
              <a:t>year 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3C74BB-9F5E-0843-B2A5-245E4AEE0E8C}"/>
              </a:ext>
            </a:extLst>
          </p:cNvPr>
          <p:cNvSpPr/>
          <p:nvPr/>
        </p:nvSpPr>
        <p:spPr>
          <a:xfrm>
            <a:off x="1154289" y="1471559"/>
            <a:ext cx="4456087" cy="830996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 formula in MS Excel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A829410-D37A-E846-9721-F6A7D82287A2}"/>
              </a:ext>
            </a:extLst>
          </p:cNvPr>
          <p:cNvCxnSpPr>
            <a:cxnSpLocks/>
          </p:cNvCxnSpPr>
          <p:nvPr/>
        </p:nvCxnSpPr>
        <p:spPr>
          <a:xfrm>
            <a:off x="5029200" y="2379133"/>
            <a:ext cx="0" cy="537897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634A608-3166-5843-B15B-E293268CAD10}"/>
              </a:ext>
            </a:extLst>
          </p:cNvPr>
          <p:cNvCxnSpPr>
            <a:cxnSpLocks/>
          </p:cNvCxnSpPr>
          <p:nvPr/>
        </p:nvCxnSpPr>
        <p:spPr>
          <a:xfrm flipH="1">
            <a:off x="6096000" y="3136806"/>
            <a:ext cx="1642769" cy="0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ACFF6AF-5EF4-1D48-BAD9-C5A1038A65BD}"/>
              </a:ext>
            </a:extLst>
          </p:cNvPr>
          <p:cNvSpPr/>
          <p:nvPr/>
        </p:nvSpPr>
        <p:spPr>
          <a:xfrm>
            <a:off x="5467593" y="2982468"/>
            <a:ext cx="588927" cy="308676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358619B-334E-D94D-B511-F47419169F03}"/>
              </a:ext>
            </a:extLst>
          </p:cNvPr>
          <p:cNvSpPr/>
          <p:nvPr/>
        </p:nvSpPr>
        <p:spPr>
          <a:xfrm flipV="1">
            <a:off x="2742210" y="4143708"/>
            <a:ext cx="3913338" cy="318223"/>
          </a:xfrm>
          <a:prstGeom prst="rect">
            <a:avLst/>
          </a:prstGeom>
          <a:solidFill>
            <a:srgbClr val="8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226101-1BCC-2E47-97E7-0C1C2FF0B02F}"/>
              </a:ext>
            </a:extLst>
          </p:cNvPr>
          <p:cNvSpPr/>
          <p:nvPr/>
        </p:nvSpPr>
        <p:spPr>
          <a:xfrm>
            <a:off x="4817533" y="2982468"/>
            <a:ext cx="588927" cy="308676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785F4A-6229-4741-ACB1-7C86E3A365A2}"/>
              </a:ext>
            </a:extLst>
          </p:cNvPr>
          <p:cNvSpPr txBox="1"/>
          <p:nvPr/>
        </p:nvSpPr>
        <p:spPr>
          <a:xfrm>
            <a:off x="7569432" y="5067315"/>
            <a:ext cx="3792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Note: </a:t>
            </a:r>
            <a:r>
              <a:rPr lang="en-US" sz="2400" dirty="0"/>
              <a:t>If any year has no cash flow, put a ‘0’ so that formulas don’t skip it</a:t>
            </a:r>
          </a:p>
        </p:txBody>
      </p:sp>
    </p:spTree>
    <p:extLst>
      <p:ext uri="{BB962C8B-B14F-4D97-AF65-F5344CB8AC3E}">
        <p14:creationId xmlns:p14="http://schemas.microsoft.com/office/powerpoint/2010/main" val="4136682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15" grpId="0"/>
      <p:bldP spid="6" grpId="0"/>
      <p:bldP spid="37" grpId="0" animBg="1"/>
      <p:bldP spid="38" grpId="0" animBg="1"/>
      <p:bldP spid="43" grpId="0" animBg="1"/>
      <p:bldP spid="44" grpId="0" animBg="1"/>
      <p:bldP spid="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assignment – </a:t>
            </a:r>
            <a:r>
              <a:rPr lang="en-US" i="1" dirty="0"/>
              <a:t>Investment detective case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60 minutes as group to answer questions on handout about the “Investment Detective” case</a:t>
            </a:r>
          </a:p>
          <a:p>
            <a:endParaRPr lang="en-US" sz="800" dirty="0"/>
          </a:p>
          <a:p>
            <a:pPr lvl="1"/>
            <a:r>
              <a:rPr lang="en-US" dirty="0"/>
              <a:t>Upload answers as MS Excel, MS Word, or MS PowerPoint file to Canvas [though, it will probably be easiest for you to just use the MS Excel file on Canvas, enter you answers there, and then upload that]</a:t>
            </a:r>
          </a:p>
        </p:txBody>
      </p:sp>
    </p:spTree>
    <p:extLst>
      <p:ext uri="{BB962C8B-B14F-4D97-AF65-F5344CB8AC3E}">
        <p14:creationId xmlns:p14="http://schemas.microsoft.com/office/powerpoint/2010/main" val="226147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Conflicts between NPV and IRR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832441" cy="4778022"/>
          </a:xfrm>
        </p:spPr>
        <p:txBody>
          <a:bodyPr>
            <a:normAutofit/>
          </a:bodyPr>
          <a:lstStyle/>
          <a:p>
            <a:r>
              <a:rPr lang="en-US" dirty="0"/>
              <a:t>NPV directly measures the increase in value to the firm</a:t>
            </a:r>
          </a:p>
          <a:p>
            <a:r>
              <a:rPr lang="en-US" dirty="0"/>
              <a:t>Whenever there is a conflict between NPV and another decision rule, </a:t>
            </a:r>
            <a:r>
              <a:rPr lang="en-US" i="1" dirty="0"/>
              <a:t>including</a:t>
            </a:r>
            <a:r>
              <a:rPr lang="en-US" dirty="0"/>
              <a:t> IRR, you should </a:t>
            </a:r>
            <a:r>
              <a:rPr lang="en-US" b="1" u="sng" dirty="0"/>
              <a:t>always</a:t>
            </a:r>
            <a:r>
              <a:rPr lang="en-US" dirty="0"/>
              <a:t> use NPV</a:t>
            </a:r>
          </a:p>
          <a:p>
            <a:endParaRPr lang="en-US" dirty="0"/>
          </a:p>
          <a:p>
            <a:r>
              <a:rPr lang="en-US" b="1" dirty="0"/>
              <a:t>IRR rule is problematic in following scenarios:</a:t>
            </a:r>
          </a:p>
          <a:p>
            <a:endParaRPr lang="en-US" sz="800" dirty="0"/>
          </a:p>
          <a:p>
            <a:pPr lvl="1"/>
            <a:r>
              <a:rPr lang="en-US" dirty="0"/>
              <a:t>Mutually exclusive projects of different scale</a:t>
            </a:r>
            <a:endParaRPr lang="en-US" i="1" dirty="0"/>
          </a:p>
          <a:p>
            <a:pPr lvl="1"/>
            <a:r>
              <a:rPr lang="en-US" dirty="0"/>
              <a:t>Non-conventional cash flows [which can lead to multiple IRRs]</a:t>
            </a:r>
            <a:endParaRPr lang="en-US" i="1" dirty="0"/>
          </a:p>
          <a:p>
            <a:endParaRPr lang="en-US" sz="800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804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IRR problem #1 – </a:t>
            </a:r>
            <a:r>
              <a:rPr lang="en-US" i="1" dirty="0">
                <a:ea typeface="ＭＳ Ｐゴシック" panose="020B0600070205080204" pitchFamily="34" charset="-128"/>
              </a:rPr>
              <a:t>Differences in scale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832441" cy="4778022"/>
          </a:xfrm>
        </p:spPr>
        <p:txBody>
          <a:bodyPr>
            <a:normAutofit/>
          </a:bodyPr>
          <a:lstStyle/>
          <a:p>
            <a:r>
              <a:rPr lang="en-US" dirty="0"/>
              <a:t>IRR tells you you the </a:t>
            </a:r>
            <a:r>
              <a:rPr lang="en-US" u="sng" dirty="0"/>
              <a:t>average percentage return</a:t>
            </a:r>
            <a:r>
              <a:rPr lang="en-US" dirty="0"/>
              <a:t> on each invested dollar while NPV tells </a:t>
            </a:r>
            <a:r>
              <a:rPr lang="en-US" u="sng" dirty="0"/>
              <a:t>total dollar impact on value</a:t>
            </a:r>
          </a:p>
          <a:p>
            <a:r>
              <a:rPr lang="en-US" dirty="0"/>
              <a:t>To see why this is important, consider the following example…</a:t>
            </a:r>
          </a:p>
          <a:p>
            <a:pPr marL="0" indent="0">
              <a:buNone/>
            </a:pPr>
            <a:endParaRPr lang="en-US" dirty="0">
              <a:solidFill>
                <a:srgbClr val="A51417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A51417"/>
                </a:solidFill>
              </a:rPr>
              <a:t>Which of the below would you prefer?</a:t>
            </a:r>
          </a:p>
          <a:p>
            <a:pPr marL="0" indent="0">
              <a:buNone/>
            </a:pPr>
            <a:endParaRPr lang="en-US" sz="800" dirty="0"/>
          </a:p>
          <a:p>
            <a:pPr lvl="1"/>
            <a:r>
              <a:rPr lang="en-US" dirty="0"/>
              <a:t>200% return on $1 investment</a:t>
            </a:r>
          </a:p>
          <a:p>
            <a:pPr lvl="1"/>
            <a:r>
              <a:rPr lang="en-US" dirty="0"/>
              <a:t>10% return on $1 million investment</a:t>
            </a:r>
          </a:p>
          <a:p>
            <a:pPr lvl="1"/>
            <a:endParaRPr lang="en-US" sz="800" dirty="0"/>
          </a:p>
          <a:p>
            <a:endParaRPr lang="en-US" sz="800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468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IRR problem #1 – </a:t>
            </a:r>
            <a:r>
              <a:rPr lang="en-US" i="1" dirty="0">
                <a:ea typeface="ＭＳ Ｐゴシック" panose="020B0600070205080204" pitchFamily="34" charset="-128"/>
              </a:rPr>
              <a:t>Differences in scale [Part 2]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832441" cy="4778022"/>
          </a:xfrm>
        </p:spPr>
        <p:txBody>
          <a:bodyPr>
            <a:normAutofit/>
          </a:bodyPr>
          <a:lstStyle/>
          <a:p>
            <a:r>
              <a:rPr lang="en-US" dirty="0"/>
              <a:t>Answer is obvious.  First investment makes $2; second one makes $100,000.  Second is clearly better and IRR misses this!</a:t>
            </a:r>
          </a:p>
          <a:p>
            <a:endParaRPr lang="en-US" sz="800" dirty="0"/>
          </a:p>
          <a:p>
            <a:pPr lvl="1"/>
            <a:r>
              <a:rPr lang="en-US" dirty="0"/>
              <a:t>Cannot use IRR to compare projects of different scale </a:t>
            </a:r>
          </a:p>
          <a:p>
            <a:pPr lvl="1"/>
            <a:r>
              <a:rPr lang="en-US" dirty="0"/>
              <a:t>Partly why it gave incorrect answer on choice between projects #7 &amp; #8</a:t>
            </a:r>
          </a:p>
          <a:p>
            <a:endParaRPr lang="en-US" sz="800" dirty="0"/>
          </a:p>
          <a:p>
            <a:r>
              <a:rPr lang="en-US" dirty="0"/>
              <a:t>Similar issue for length of cash flows; earning lower IRR for more years can lead to higher NPV </a:t>
            </a:r>
            <a:r>
              <a:rPr lang="en-US" i="1" dirty="0"/>
              <a:t>[see textbook for examples]</a:t>
            </a:r>
          </a:p>
          <a:p>
            <a:endParaRPr lang="en-US" sz="800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97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IRR problem #2 – </a:t>
            </a:r>
            <a:r>
              <a:rPr lang="en-US" altLang="en-US" i="1" dirty="0">
                <a:ea typeface="ＭＳ Ｐゴシック" panose="020B0600070205080204" pitchFamily="34" charset="-128"/>
              </a:rPr>
              <a:t>Non-conventional cash flows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263481" cy="4778022"/>
          </a:xfrm>
        </p:spPr>
        <p:txBody>
          <a:bodyPr>
            <a:normAutofit/>
          </a:bodyPr>
          <a:lstStyle/>
          <a:p>
            <a:r>
              <a:rPr lang="en-US" b="1" dirty="0"/>
              <a:t>Two type of cash flows cash problems for IRR rule</a:t>
            </a:r>
          </a:p>
          <a:p>
            <a:endParaRPr lang="en-US" sz="800" dirty="0"/>
          </a:p>
          <a:p>
            <a:pPr lvl="1"/>
            <a:r>
              <a:rPr lang="en-US" dirty="0"/>
              <a:t>If cash inflows come </a:t>
            </a:r>
            <a:r>
              <a:rPr lang="en-US" u="sng" dirty="0"/>
              <a:t>before</a:t>
            </a:r>
            <a:r>
              <a:rPr lang="en-US" dirty="0"/>
              <a:t> the outflows, the positive NPV projects are those with IRR </a:t>
            </a:r>
            <a:r>
              <a:rPr lang="en-US" u="sng" dirty="0"/>
              <a:t>less than</a:t>
            </a:r>
            <a:r>
              <a:rPr lang="en-US" dirty="0"/>
              <a:t> cost of capital!</a:t>
            </a:r>
          </a:p>
          <a:p>
            <a:pPr lvl="1"/>
            <a:r>
              <a:rPr lang="en-US" dirty="0"/>
              <a:t>If cash flows switch sign from one year to the next multiple times, there will be more than one IRR!</a:t>
            </a:r>
            <a:endParaRPr lang="en-US" dirty="0">
              <a:solidFill>
                <a:srgbClr val="A51417"/>
              </a:solidFill>
            </a:endParaRPr>
          </a:p>
          <a:p>
            <a:endParaRPr lang="en-US" sz="800" dirty="0"/>
          </a:p>
          <a:p>
            <a:r>
              <a:rPr lang="en-US" dirty="0"/>
              <a:t>To see example of last point, consider this stream of cash: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sz="800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endParaRPr lang="en-US" dirty="0"/>
          </a:p>
        </p:txBody>
      </p:sp>
      <p:pic>
        <p:nvPicPr>
          <p:cNvPr id="6" name="Picture 5" descr="Timeline&#10;&#10;Description automatically generated">
            <a:extLst>
              <a:ext uri="{FF2B5EF4-FFF2-40B4-BE49-F238E27FC236}">
                <a16:creationId xmlns:a16="http://schemas.microsoft.com/office/drawing/2014/main" id="{D67150D3-EAC5-6C4F-A35A-78B691F1B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133" y="4737099"/>
            <a:ext cx="88900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5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IRR problem #2 – </a:t>
            </a:r>
            <a:r>
              <a:rPr lang="en-US" altLang="en-US" i="1" dirty="0">
                <a:ea typeface="ＭＳ Ｐゴシック" panose="020B0600070205080204" pitchFamily="34" charset="-128"/>
              </a:rPr>
              <a:t>Example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20" y="1600200"/>
            <a:ext cx="4311414" cy="4778022"/>
          </a:xfrm>
        </p:spPr>
        <p:txBody>
          <a:bodyPr>
            <a:normAutofit/>
          </a:bodyPr>
          <a:lstStyle/>
          <a:p>
            <a:r>
              <a:rPr lang="en-US" dirty="0"/>
              <a:t>Because cash flows switch signs twice, there are two IRRs</a:t>
            </a:r>
          </a:p>
          <a:p>
            <a:endParaRPr lang="en-US" sz="800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sz="800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endParaRPr lang="en-US" dirty="0"/>
          </a:p>
        </p:txBody>
      </p:sp>
      <p:pic>
        <p:nvPicPr>
          <p:cNvPr id="5" name="Picture 4" descr="Chart&#10;&#10;Description automatically generated with medium confidence">
            <a:extLst>
              <a:ext uri="{FF2B5EF4-FFF2-40B4-BE49-F238E27FC236}">
                <a16:creationId xmlns:a16="http://schemas.microsoft.com/office/drawing/2014/main" id="{0028F597-EEEB-E84C-A6D6-1085683F5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934" y="1675693"/>
            <a:ext cx="6045199" cy="40931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8E6D63-9B38-B140-A83A-BAD4E93208E3}"/>
              </a:ext>
            </a:extLst>
          </p:cNvPr>
          <p:cNvSpPr txBox="1"/>
          <p:nvPr/>
        </p:nvSpPr>
        <p:spPr>
          <a:xfrm>
            <a:off x="4969934" y="5979570"/>
            <a:ext cx="3501354" cy="468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6568"/>
                </a:solidFill>
              </a:rPr>
              <a:t>Figure 8.4: Berk, </a:t>
            </a:r>
            <a:r>
              <a:rPr lang="en-US" sz="1200" dirty="0" err="1">
                <a:solidFill>
                  <a:srgbClr val="566568"/>
                </a:solidFill>
              </a:rPr>
              <a:t>Demarzo</a:t>
            </a:r>
            <a:r>
              <a:rPr lang="en-US" sz="1200" dirty="0">
                <a:solidFill>
                  <a:srgbClr val="566568"/>
                </a:solidFill>
              </a:rPr>
              <a:t>, and Harford, </a:t>
            </a:r>
            <a:r>
              <a:rPr lang="en-US" sz="1200" i="1" dirty="0">
                <a:solidFill>
                  <a:srgbClr val="566568"/>
                </a:solidFill>
              </a:rPr>
              <a:t>Fundamentals of Corporate Finance, 5</a:t>
            </a:r>
            <a:r>
              <a:rPr lang="en-US" sz="1200" i="1" baseline="30000" dirty="0">
                <a:solidFill>
                  <a:srgbClr val="566568"/>
                </a:solidFill>
              </a:rPr>
              <a:t>th</a:t>
            </a:r>
            <a:r>
              <a:rPr lang="en-US" sz="1200" i="1" dirty="0">
                <a:solidFill>
                  <a:srgbClr val="566568"/>
                </a:solidFill>
              </a:rPr>
              <a:t> Edition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929D19-7627-8D47-B5EA-80BB1B7E88C2}"/>
              </a:ext>
            </a:extLst>
          </p:cNvPr>
          <p:cNvSpPr/>
          <p:nvPr/>
        </p:nvSpPr>
        <p:spPr>
          <a:xfrm>
            <a:off x="7306733" y="4910667"/>
            <a:ext cx="685800" cy="575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E3756D-4E62-0340-A55F-A141A252B22B}"/>
              </a:ext>
            </a:extLst>
          </p:cNvPr>
          <p:cNvSpPr/>
          <p:nvPr/>
        </p:nvSpPr>
        <p:spPr>
          <a:xfrm>
            <a:off x="6754477" y="3911601"/>
            <a:ext cx="1117601" cy="279400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D2D19B-3C0C-5645-A815-0FD61AF2A31D}"/>
              </a:ext>
            </a:extLst>
          </p:cNvPr>
          <p:cNvSpPr/>
          <p:nvPr/>
        </p:nvSpPr>
        <p:spPr>
          <a:xfrm>
            <a:off x="7992533" y="5042607"/>
            <a:ext cx="1219200" cy="279400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8D2251-7E33-8443-96ED-B08773EBBBD3}"/>
              </a:ext>
            </a:extLst>
          </p:cNvPr>
          <p:cNvSpPr txBox="1"/>
          <p:nvPr/>
        </p:nvSpPr>
        <p:spPr>
          <a:xfrm>
            <a:off x="6661346" y="2805152"/>
            <a:ext cx="2421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A51417"/>
                </a:solidFill>
              </a:rPr>
              <a:t>There are two IRRs!</a:t>
            </a:r>
            <a:endParaRPr lang="en-US" u="sng" dirty="0">
              <a:solidFill>
                <a:srgbClr val="A514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466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Summary of NPV &amp; IRR investment criteria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832441" cy="4778022"/>
          </a:xfrm>
        </p:spPr>
        <p:txBody>
          <a:bodyPr>
            <a:normAutofit/>
          </a:bodyPr>
          <a:lstStyle/>
          <a:p>
            <a:r>
              <a:rPr lang="en-US" dirty="0"/>
              <a:t>Net present value</a:t>
            </a:r>
          </a:p>
          <a:p>
            <a:endParaRPr lang="en-US" sz="800" dirty="0"/>
          </a:p>
          <a:p>
            <a:pPr lvl="1"/>
            <a:r>
              <a:rPr lang="en-US" dirty="0"/>
              <a:t>Gives </a:t>
            </a:r>
            <a:r>
              <a:rPr lang="en-US" u="sng" dirty="0"/>
              <a:t>dollar impact on value</a:t>
            </a:r>
            <a:r>
              <a:rPr lang="en-US" dirty="0"/>
              <a:t>; rule says take project if NPV &gt; 0, and if choosing between projects, you take the one with highest NPV</a:t>
            </a:r>
          </a:p>
          <a:p>
            <a:pPr lvl="1"/>
            <a:r>
              <a:rPr lang="en-US" dirty="0"/>
              <a:t>Has no serious problems… </a:t>
            </a:r>
            <a:r>
              <a:rPr lang="en-US" b="1" dirty="0"/>
              <a:t>it is our preferred decision criterion!</a:t>
            </a:r>
          </a:p>
          <a:p>
            <a:endParaRPr lang="en-US" sz="800" dirty="0"/>
          </a:p>
          <a:p>
            <a:r>
              <a:rPr lang="en-US" dirty="0"/>
              <a:t>Internal rate of return</a:t>
            </a:r>
          </a:p>
          <a:p>
            <a:endParaRPr lang="en-US" sz="800" dirty="0"/>
          </a:p>
          <a:p>
            <a:pPr lvl="1"/>
            <a:r>
              <a:rPr lang="en-US" dirty="0"/>
              <a:t>Gives </a:t>
            </a:r>
            <a:r>
              <a:rPr lang="en-US" u="sng" dirty="0"/>
              <a:t>average return</a:t>
            </a:r>
            <a:r>
              <a:rPr lang="en-US" dirty="0"/>
              <a:t>; rule says to take project if IRR &gt; cost of capital</a:t>
            </a:r>
          </a:p>
          <a:p>
            <a:pPr lvl="1"/>
            <a:r>
              <a:rPr lang="en-US" dirty="0"/>
              <a:t>IRR cannot can be used to compare projects of different scale </a:t>
            </a:r>
            <a:r>
              <a:rPr lang="en-US" u="sng" dirty="0"/>
              <a:t>and</a:t>
            </a:r>
            <a:r>
              <a:rPr lang="en-US" dirty="0"/>
              <a:t> IRR rule is unreliable when cash flows are non-conventional</a:t>
            </a:r>
            <a:endParaRPr lang="en-US" sz="800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29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for this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Discuss capital budgeting and investment decision rules used</a:t>
            </a:r>
          </a:p>
          <a:p>
            <a:endParaRPr lang="en-US" sz="800" dirty="0"/>
          </a:p>
          <a:p>
            <a:pPr lvl="1"/>
            <a:r>
              <a:rPr lang="en-US" dirty="0"/>
              <a:t>Review net present value (NPV)</a:t>
            </a:r>
          </a:p>
          <a:p>
            <a:pPr lvl="1"/>
            <a:r>
              <a:rPr lang="en-US" dirty="0"/>
              <a:t>Other decision rules &amp; their drawbacks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Payback rule</a:t>
            </a:r>
          </a:p>
          <a:p>
            <a:pPr lvl="2"/>
            <a:r>
              <a:rPr lang="en-US" dirty="0"/>
              <a:t>Internal rate of return (IRR) rule</a:t>
            </a:r>
          </a:p>
          <a:p>
            <a:pPr lvl="2"/>
            <a:endParaRPr lang="en-US" sz="800" dirty="0"/>
          </a:p>
          <a:p>
            <a:pPr lvl="1"/>
            <a:r>
              <a:rPr lang="en-US" dirty="0"/>
              <a:t>Apply rules using “Investment Detective” case</a:t>
            </a:r>
          </a:p>
          <a:p>
            <a:pPr lvl="1"/>
            <a:r>
              <a:rPr lang="en-US" dirty="0"/>
              <a:t>Miscellaneous decision issues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Handling budget constraints </a:t>
            </a:r>
            <a:r>
              <a:rPr lang="en-US" i="1" dirty="0"/>
              <a:t>[using profitability index]</a:t>
            </a:r>
          </a:p>
          <a:p>
            <a:pPr lvl="2"/>
            <a:r>
              <a:rPr lang="en-US" dirty="0"/>
              <a:t>Handling unequal periods </a:t>
            </a:r>
            <a:r>
              <a:rPr lang="en-US" i="1" dirty="0"/>
              <a:t>[using equivalent annual annuity]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1FC2F-506F-D749-8742-7D69A32A7334}"/>
              </a:ext>
            </a:extLst>
          </p:cNvPr>
          <p:cNvSpPr/>
          <p:nvPr/>
        </p:nvSpPr>
        <p:spPr>
          <a:xfrm>
            <a:off x="977677" y="4600877"/>
            <a:ext cx="7964192" cy="462012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754F35-8B00-3448-94ED-BD6C69398E62}"/>
              </a:ext>
            </a:extLst>
          </p:cNvPr>
          <p:cNvSpPr/>
          <p:nvPr/>
        </p:nvSpPr>
        <p:spPr>
          <a:xfrm>
            <a:off x="1486291" y="5175592"/>
            <a:ext cx="7455578" cy="820948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37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Handling resource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946741" cy="4778022"/>
          </a:xfrm>
        </p:spPr>
        <p:txBody>
          <a:bodyPr>
            <a:normAutofit/>
          </a:bodyPr>
          <a:lstStyle/>
          <a:p>
            <a:r>
              <a:rPr lang="en-US" dirty="0"/>
              <a:t>When projects use up a limited resource, you might </a:t>
            </a:r>
            <a:r>
              <a:rPr lang="en-US" u="sng" dirty="0"/>
              <a:t>not</a:t>
            </a:r>
            <a:r>
              <a:rPr lang="en-US" dirty="0"/>
              <a:t> want to just undertake the projects with the highest NPVs</a:t>
            </a:r>
          </a:p>
          <a:p>
            <a:r>
              <a:rPr lang="en-US" dirty="0">
                <a:solidFill>
                  <a:srgbClr val="A51417"/>
                </a:solidFill>
              </a:rPr>
              <a:t>For example, suppose company only has $200 million that it can invest; which of the below projects should it choose?</a:t>
            </a:r>
            <a:endParaRPr lang="en-US" i="1" dirty="0">
              <a:solidFill>
                <a:srgbClr val="A51417"/>
              </a:solidFill>
            </a:endParaRPr>
          </a:p>
          <a:p>
            <a:endParaRPr lang="en-US" b="1" dirty="0"/>
          </a:p>
          <a:p>
            <a:pPr lvl="1"/>
            <a:endParaRPr lang="en-US" i="1" dirty="0"/>
          </a:p>
          <a:p>
            <a:endParaRPr lang="en-US" dirty="0"/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7CDA5653-E4D7-2F40-ACE4-03EEF926B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534" y="3697722"/>
            <a:ext cx="5164667" cy="208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5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resource constraints </a:t>
            </a:r>
            <a:r>
              <a:rPr lang="en-US" i="1" dirty="0"/>
              <a:t>[Part 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946741" cy="4778022"/>
          </a:xfrm>
        </p:spPr>
        <p:txBody>
          <a:bodyPr>
            <a:normAutofit/>
          </a:bodyPr>
          <a:lstStyle/>
          <a:p>
            <a:r>
              <a:rPr lang="en-US" b="1" dirty="0"/>
              <a:t>Answer </a:t>
            </a:r>
            <a:r>
              <a:rPr lang="en-US" dirty="0"/>
              <a:t>= Should do projects B &amp; C for NPV of $145 million</a:t>
            </a:r>
          </a:p>
          <a:p>
            <a:endParaRPr lang="en-US" sz="800" dirty="0"/>
          </a:p>
          <a:p>
            <a:pPr lvl="1"/>
            <a:r>
              <a:rPr lang="en-US" dirty="0"/>
              <a:t>While project A has highest NPV of $100 million, doing it would consume all the resources and prevent firm from doing a second project</a:t>
            </a:r>
          </a:p>
          <a:p>
            <a:endParaRPr lang="en-US" b="1" dirty="0"/>
          </a:p>
          <a:p>
            <a:pPr lvl="1"/>
            <a:endParaRPr lang="en-US" i="1" dirty="0"/>
          </a:p>
          <a:p>
            <a:endParaRPr lang="en-US" dirty="0"/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7CDA5653-E4D7-2F40-ACE4-03EEF926B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734" y="3429000"/>
            <a:ext cx="5164667" cy="208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63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Profitability index provides a solution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822281" cy="4778022"/>
          </a:xfrm>
        </p:spPr>
        <p:txBody>
          <a:bodyPr>
            <a:normAutofit/>
          </a:bodyPr>
          <a:lstStyle/>
          <a:p>
            <a:r>
              <a:rPr lang="en-US" b="1" dirty="0"/>
              <a:t>Profitability index = </a:t>
            </a:r>
            <a:r>
              <a:rPr lang="en-US" dirty="0"/>
              <a:t>NPV per unit of resource consumed [think of this as “bang for your buck”]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43E361-53F6-A345-A2FD-C6749C223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600" y="2927350"/>
            <a:ext cx="76708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9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Profitability index rule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822281" cy="4778022"/>
          </a:xfrm>
        </p:spPr>
        <p:txBody>
          <a:bodyPr>
            <a:normAutofit/>
          </a:bodyPr>
          <a:lstStyle/>
          <a:p>
            <a:r>
              <a:rPr lang="en-US" b="1" dirty="0"/>
              <a:t>Profitability index rule = </a:t>
            </a:r>
            <a:r>
              <a:rPr lang="en-US" dirty="0"/>
              <a:t>Sort projects by profitability index, then choose from highest to lowest until resource is consumed [skipping projects you lack resources to choose]</a:t>
            </a:r>
          </a:p>
          <a:p>
            <a:endParaRPr lang="en-US" sz="800" dirty="0"/>
          </a:p>
          <a:p>
            <a:pPr lvl="1"/>
            <a:r>
              <a:rPr lang="en-US" dirty="0"/>
              <a:t>I.e., you might choose projects ranked #1, #2, and #4 because after doing #1 and #2 you lack the resources for doing #3, but have the necessary resources to do project #4</a:t>
            </a:r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026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158492" y="1503947"/>
            <a:ext cx="3361922" cy="980194"/>
          </a:xfrm>
        </p:spPr>
        <p:txBody>
          <a:bodyPr/>
          <a:lstStyle/>
          <a:p>
            <a:r>
              <a:rPr lang="en-US" dirty="0"/>
              <a:t>Practice question </a:t>
            </a:r>
            <a:r>
              <a:rPr lang="en-US" i="1" dirty="0"/>
              <a:t>[Example 8.6 from textbook]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950089" y="3089708"/>
            <a:ext cx="4182988" cy="3307763"/>
          </a:xfrm>
        </p:spPr>
        <p:txBody>
          <a:bodyPr/>
          <a:lstStyle/>
          <a:p>
            <a:r>
              <a:rPr lang="en-US" dirty="0"/>
              <a:t>Take 10 minutes to answer this question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E1DC91-779F-6B4C-A948-8D95D0A8B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63" y="422028"/>
            <a:ext cx="6150550" cy="609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9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Handling unequal periods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946741" cy="4778022"/>
          </a:xfrm>
        </p:spPr>
        <p:txBody>
          <a:bodyPr>
            <a:normAutofit/>
          </a:bodyPr>
          <a:lstStyle/>
          <a:p>
            <a:r>
              <a:rPr lang="en-US" dirty="0"/>
              <a:t>Often companies need to choose between two solutions</a:t>
            </a:r>
          </a:p>
          <a:p>
            <a:r>
              <a:rPr lang="en-US" dirty="0"/>
              <a:t>E.g., firm needs to choose between two network servers: A or B</a:t>
            </a:r>
          </a:p>
          <a:p>
            <a:endParaRPr lang="en-US" sz="800" dirty="0"/>
          </a:p>
          <a:p>
            <a:pPr lvl="1"/>
            <a:r>
              <a:rPr lang="en-US" dirty="0"/>
              <a:t>‘A’ is more expensive, but uses less energy and lasts longer</a:t>
            </a:r>
          </a:p>
          <a:p>
            <a:pPr lvl="1"/>
            <a:r>
              <a:rPr lang="en-US" dirty="0"/>
              <a:t>‘B’ is cheaper, but uses more energy and burns out quickly</a:t>
            </a:r>
          </a:p>
          <a:p>
            <a:endParaRPr lang="en-US" b="1" dirty="0"/>
          </a:p>
          <a:p>
            <a:pPr lvl="1"/>
            <a:endParaRPr lang="en-US" i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C2FB92-1643-9D4F-B598-6C4B4A2FE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7" y="3933867"/>
            <a:ext cx="7529661" cy="18417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CEBB80-B6F2-8045-BB80-912E775C85CC}"/>
              </a:ext>
            </a:extLst>
          </p:cNvPr>
          <p:cNvSpPr txBox="1"/>
          <p:nvPr/>
        </p:nvSpPr>
        <p:spPr>
          <a:xfrm>
            <a:off x="8325852" y="5257800"/>
            <a:ext cx="3104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How would you make the decision?</a:t>
            </a:r>
            <a:endParaRPr lang="en-US" sz="2400" u="sng" dirty="0">
              <a:solidFill>
                <a:srgbClr val="A5141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EBE917-DC53-F241-BEC3-512DFB13F88C}"/>
              </a:ext>
            </a:extLst>
          </p:cNvPr>
          <p:cNvSpPr txBox="1"/>
          <p:nvPr/>
        </p:nvSpPr>
        <p:spPr>
          <a:xfrm>
            <a:off x="8325852" y="3933867"/>
            <a:ext cx="34128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Cash flows are all negative because they are costs;      Firm wants to minimize costs given its 10% discount rate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965666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1065843" cy="4778022"/>
          </a:xfrm>
        </p:spPr>
        <p:txBody>
          <a:bodyPr>
            <a:normAutofit/>
          </a:bodyPr>
          <a:lstStyle/>
          <a:p>
            <a:r>
              <a:rPr lang="en-US" b="1" dirty="0"/>
              <a:t>Answer </a:t>
            </a:r>
            <a:r>
              <a:rPr lang="en-US" dirty="0"/>
              <a:t>= Break total PV of costs into “equivalent annual annuity” (EAA) and take choice that has lower EAA </a:t>
            </a:r>
          </a:p>
          <a:p>
            <a:endParaRPr lang="en-US" sz="800" dirty="0"/>
          </a:p>
          <a:p>
            <a:pPr lvl="1"/>
            <a:r>
              <a:rPr lang="en-US" b="1" dirty="0"/>
              <a:t>Equivalent annual annuity (EAA) </a:t>
            </a:r>
            <a:r>
              <a:rPr lang="en-US" dirty="0"/>
              <a:t>= The level of annual cash flow that has same present value as the cash flows of the project; e.g., 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r>
              <a:rPr lang="en-US" dirty="0"/>
              <a:t>Intuitively, you compare costs on annual basis</a:t>
            </a:r>
          </a:p>
          <a:p>
            <a:pPr marL="0" indent="0">
              <a:buNone/>
            </a:pPr>
            <a:endParaRPr lang="en-US" sz="800" dirty="0"/>
          </a:p>
          <a:p>
            <a:pPr lvl="1"/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unequal periods </a:t>
            </a:r>
            <a:r>
              <a:rPr lang="en-US" i="1" dirty="0"/>
              <a:t>[Part 2]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071F33-7662-BB44-B1BF-63623DF4D734}"/>
              </a:ext>
            </a:extLst>
          </p:cNvPr>
          <p:cNvSpPr txBox="1"/>
          <p:nvPr/>
        </p:nvSpPr>
        <p:spPr>
          <a:xfrm>
            <a:off x="9043584" y="4115148"/>
            <a:ext cx="28051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Can find EAA using present value annuity formula; see next slide for example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620BECB-914F-DB4F-AB5C-F4E276132899}"/>
              </a:ext>
            </a:extLst>
          </p:cNvPr>
          <p:cNvCxnSpPr>
            <a:cxnSpLocks/>
          </p:cNvCxnSpPr>
          <p:nvPr/>
        </p:nvCxnSpPr>
        <p:spPr>
          <a:xfrm flipH="1" flipV="1">
            <a:off x="8200731" y="4511667"/>
            <a:ext cx="718514" cy="1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Table&#10;&#10;Description automatically generated with low confidence">
            <a:extLst>
              <a:ext uri="{FF2B5EF4-FFF2-40B4-BE49-F238E27FC236}">
                <a16:creationId xmlns:a16="http://schemas.microsoft.com/office/drawing/2014/main" id="{3D300051-82A8-4C40-A1B1-9CE07B4F3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365" y="3807077"/>
            <a:ext cx="6598101" cy="121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7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1065843" cy="4778022"/>
          </a:xfrm>
        </p:spPr>
        <p:txBody>
          <a:bodyPr>
            <a:normAutofit/>
          </a:bodyPr>
          <a:lstStyle/>
          <a:p>
            <a:r>
              <a:rPr lang="en-US" dirty="0"/>
              <a:t>EAA of network server ‘A’ given by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lvl="1"/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unequal periods </a:t>
            </a:r>
            <a:r>
              <a:rPr lang="en-US" i="1" dirty="0"/>
              <a:t>– Example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071F33-7662-BB44-B1BF-63623DF4D734}"/>
              </a:ext>
            </a:extLst>
          </p:cNvPr>
          <p:cNvSpPr txBox="1"/>
          <p:nvPr/>
        </p:nvSpPr>
        <p:spPr>
          <a:xfrm>
            <a:off x="8306602" y="1047780"/>
            <a:ext cx="1746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Total PV of ‘A’ costs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620BECB-914F-DB4F-AB5C-F4E276132899}"/>
              </a:ext>
            </a:extLst>
          </p:cNvPr>
          <p:cNvCxnSpPr>
            <a:cxnSpLocks/>
          </p:cNvCxnSpPr>
          <p:nvPr/>
        </p:nvCxnSpPr>
        <p:spPr>
          <a:xfrm flipH="1">
            <a:off x="8017852" y="1878777"/>
            <a:ext cx="404253" cy="542784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1416F9A9-F1C5-A846-A99F-402B29C33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022" y="2512842"/>
            <a:ext cx="7632700" cy="1206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3EE7E3-00D1-0B4D-87C9-27EE23691DC0}"/>
              </a:ext>
            </a:extLst>
          </p:cNvPr>
          <p:cNvSpPr txBox="1"/>
          <p:nvPr/>
        </p:nvSpPr>
        <p:spPr>
          <a:xfrm>
            <a:off x="8730114" y="4379059"/>
            <a:ext cx="1746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Total # of years ‘A’ will last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2D89A36-AC0D-3E47-8863-F308A5FB3A16}"/>
              </a:ext>
            </a:extLst>
          </p:cNvPr>
          <p:cNvCxnSpPr>
            <a:cxnSpLocks/>
          </p:cNvCxnSpPr>
          <p:nvPr/>
        </p:nvCxnSpPr>
        <p:spPr>
          <a:xfrm flipH="1" flipV="1">
            <a:off x="8422106" y="3563567"/>
            <a:ext cx="308008" cy="789840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3D8BCD9-77A8-FB46-B181-BEA4CAFDB555}"/>
              </a:ext>
            </a:extLst>
          </p:cNvPr>
          <p:cNvSpPr txBox="1"/>
          <p:nvPr/>
        </p:nvSpPr>
        <p:spPr>
          <a:xfrm>
            <a:off x="5553777" y="4353407"/>
            <a:ext cx="22165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Firm’s cost of capital, which was 10%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9F0FDDB-E074-2045-A96B-041E739A9D5F}"/>
              </a:ext>
            </a:extLst>
          </p:cNvPr>
          <p:cNvCxnSpPr>
            <a:cxnSpLocks/>
          </p:cNvCxnSpPr>
          <p:nvPr/>
        </p:nvCxnSpPr>
        <p:spPr>
          <a:xfrm flipV="1">
            <a:off x="6754473" y="3693691"/>
            <a:ext cx="0" cy="659716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7C6FDB3-789D-E44E-8E8A-4BC6DA44749B}"/>
              </a:ext>
            </a:extLst>
          </p:cNvPr>
          <p:cNvSpPr txBox="1"/>
          <p:nvPr/>
        </p:nvSpPr>
        <p:spPr>
          <a:xfrm>
            <a:off x="308010" y="4088817"/>
            <a:ext cx="36479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just rearranged present value of annuity formula, where we now solve for implied cash flow (i.e., EAA)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A52E4E-EBBE-594C-9C89-B6010F3853C3}"/>
              </a:ext>
            </a:extLst>
          </p:cNvPr>
          <p:cNvCxnSpPr>
            <a:cxnSpLocks/>
          </p:cNvCxnSpPr>
          <p:nvPr/>
        </p:nvCxnSpPr>
        <p:spPr>
          <a:xfrm flipV="1">
            <a:off x="2624047" y="3429000"/>
            <a:ext cx="706294" cy="659817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9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600200"/>
            <a:ext cx="11065843" cy="4778022"/>
          </a:xfrm>
        </p:spPr>
        <p:txBody>
          <a:bodyPr>
            <a:normAutofit/>
          </a:bodyPr>
          <a:lstStyle/>
          <a:p>
            <a:r>
              <a:rPr lang="en-US" dirty="0"/>
              <a:t>EAA of network server ‘A’ given by -$5.02 million</a:t>
            </a:r>
          </a:p>
          <a:p>
            <a:r>
              <a:rPr lang="en-US" dirty="0"/>
              <a:t>Using same approach, can find EAA of ‘B’ is -$6.03 million</a:t>
            </a:r>
          </a:p>
          <a:p>
            <a:endParaRPr lang="en-US" dirty="0"/>
          </a:p>
          <a:p>
            <a:r>
              <a:rPr lang="en-US" b="1" dirty="0"/>
              <a:t>Which should firm choose? </a:t>
            </a:r>
          </a:p>
          <a:p>
            <a:endParaRPr lang="en-US" sz="800" dirty="0"/>
          </a:p>
          <a:p>
            <a:pPr lvl="1"/>
            <a:r>
              <a:rPr lang="en-US" dirty="0"/>
              <a:t>Company should choose server ‘A’ because its implied annual cost, $5.02 million, is less than implied annual cost of server ‘B’, $6.03 million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lvl="1"/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unequal periods </a:t>
            </a:r>
            <a:r>
              <a:rPr lang="en-US" i="1" dirty="0"/>
              <a:t>– Example </a:t>
            </a:r>
          </a:p>
        </p:txBody>
      </p:sp>
    </p:spTree>
    <p:extLst>
      <p:ext uri="{BB962C8B-B14F-4D97-AF65-F5344CB8AC3E}">
        <p14:creationId xmlns:p14="http://schemas.microsoft.com/office/powerpoint/2010/main" val="187461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</a:t>
            </a:r>
            <a:r>
              <a:rPr lang="en-US" i="1" dirty="0"/>
              <a:t>[Example 8.5 from textbook]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5 minutes to answer below question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9DCFB8-399B-EE41-9790-C971BB602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393" y="2559318"/>
            <a:ext cx="90424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61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points to 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529864"/>
            <a:ext cx="10586843" cy="4778022"/>
          </a:xfrm>
        </p:spPr>
        <p:txBody>
          <a:bodyPr>
            <a:normAutofit/>
          </a:bodyPr>
          <a:lstStyle/>
          <a:p>
            <a:r>
              <a:rPr lang="en-US" dirty="0"/>
              <a:t>Firms use many investment decision rules</a:t>
            </a:r>
          </a:p>
          <a:p>
            <a:endParaRPr lang="en-US" sz="800" dirty="0"/>
          </a:p>
          <a:p>
            <a:pPr lvl="1"/>
            <a:r>
              <a:rPr lang="en-US" dirty="0"/>
              <a:t>But NPV rule is ‘best-in-class’ in maximizing shareholder value</a:t>
            </a:r>
          </a:p>
          <a:p>
            <a:pPr lvl="1"/>
            <a:r>
              <a:rPr lang="en-US" dirty="0"/>
              <a:t>IRR and payback rules each have serious downsides</a:t>
            </a:r>
          </a:p>
          <a:p>
            <a:pPr lvl="1"/>
            <a:endParaRPr lang="en-US" sz="800" dirty="0"/>
          </a:p>
          <a:p>
            <a:r>
              <a:rPr lang="en-US" dirty="0"/>
              <a:t>Can use profitability index to help choose between projects when there is a resource constraint to consider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8BF67-331B-CE4B-BA27-648EF9E9A418}"/>
              </a:ext>
            </a:extLst>
          </p:cNvPr>
          <p:cNvSpPr txBox="1"/>
          <p:nvPr/>
        </p:nvSpPr>
        <p:spPr>
          <a:xfrm>
            <a:off x="946638" y="4516496"/>
            <a:ext cx="5004140" cy="1107996"/>
          </a:xfrm>
          <a:prstGeom prst="rect">
            <a:avLst/>
          </a:prstGeom>
          <a:solidFill>
            <a:srgbClr val="E1E1E1"/>
          </a:solidFill>
        </p:spPr>
        <p:txBody>
          <a:bodyPr wrap="square" rtlCol="0">
            <a:spAutoFit/>
          </a:bodyPr>
          <a:lstStyle/>
          <a:p>
            <a:r>
              <a:rPr lang="en-US" sz="2200" dirty="0"/>
              <a:t>See </a:t>
            </a:r>
            <a:r>
              <a:rPr lang="en-US" sz="2200" dirty="0" err="1"/>
              <a:t>MyLab</a:t>
            </a:r>
            <a:r>
              <a:rPr lang="en-US" sz="2200" dirty="0"/>
              <a:t> Finance homework for yet even more opportunities to practice these concepts &amp; calculations</a:t>
            </a:r>
          </a:p>
        </p:txBody>
      </p:sp>
    </p:spTree>
    <p:extLst>
      <p:ext uri="{BB962C8B-B14F-4D97-AF65-F5344CB8AC3E}">
        <p14:creationId xmlns:p14="http://schemas.microsoft.com/office/powerpoint/2010/main" val="246549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 going next…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529864"/>
            <a:ext cx="10586843" cy="4778022"/>
          </a:xfrm>
        </p:spPr>
        <p:txBody>
          <a:bodyPr>
            <a:normAutofit/>
          </a:bodyPr>
          <a:lstStyle/>
          <a:p>
            <a:r>
              <a:rPr lang="en-US" dirty="0"/>
              <a:t>Thus far, I’ve always given you needed inputs for NPV</a:t>
            </a:r>
          </a:p>
          <a:p>
            <a:r>
              <a:rPr lang="en-US" dirty="0"/>
              <a:t>In the next two topics, I will show you how to find the two key inputs needed in the NPV calculation:</a:t>
            </a:r>
          </a:p>
          <a:p>
            <a:endParaRPr lang="en-US" sz="800" dirty="0"/>
          </a:p>
          <a:p>
            <a:pPr lvl="1"/>
            <a:r>
              <a:rPr lang="en-US" b="1" dirty="0"/>
              <a:t>Cash flows [Topic #4]</a:t>
            </a:r>
          </a:p>
          <a:p>
            <a:pPr lvl="1"/>
            <a:r>
              <a:rPr lang="en-US" b="1" dirty="0"/>
              <a:t>Discount rate [Topic #5]</a:t>
            </a:r>
          </a:p>
          <a:p>
            <a:pPr lvl="1"/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47A782-CD5E-4535-C952-4CC8F8BF5F31}"/>
              </a:ext>
            </a:extLst>
          </p:cNvPr>
          <p:cNvSpPr txBox="1"/>
          <p:nvPr/>
        </p:nvSpPr>
        <p:spPr>
          <a:xfrm>
            <a:off x="486370" y="4557665"/>
            <a:ext cx="8455093" cy="523220"/>
          </a:xfrm>
          <a:prstGeom prst="rect">
            <a:avLst/>
          </a:prstGeom>
          <a:solidFill>
            <a:schemeClr val="bg1">
              <a:lumMod val="50000"/>
              <a:alpha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rgbClr val="A51417"/>
                </a:solidFill>
              </a:rPr>
              <a:t>But first, any questions before we move on?</a:t>
            </a:r>
          </a:p>
        </p:txBody>
      </p:sp>
    </p:spTree>
    <p:extLst>
      <p:ext uri="{BB962C8B-B14F-4D97-AF65-F5344CB8AC3E}">
        <p14:creationId xmlns:p14="http://schemas.microsoft.com/office/powerpoint/2010/main" val="211911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4999</TotalTime>
  <Words>2580</Words>
  <Application>Microsoft Macintosh PowerPoint</Application>
  <PresentationFormat>Widescreen</PresentationFormat>
  <Paragraphs>504</Paragraphs>
  <Slides>42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Cambria Math</vt:lpstr>
      <vt:lpstr>Rockwell</vt:lpstr>
      <vt:lpstr>Times New Roman</vt:lpstr>
      <vt:lpstr>Office Theme</vt:lpstr>
      <vt:lpstr>FIN 740: Corporate Finance</vt:lpstr>
      <vt:lpstr>Outline for this topic</vt:lpstr>
      <vt:lpstr>Motivation</vt:lpstr>
      <vt:lpstr>Review of net present value (NPV)</vt:lpstr>
      <vt:lpstr>Decision rules using NPV</vt:lpstr>
      <vt:lpstr>NPV is same as getting cash now – Example</vt:lpstr>
      <vt:lpstr>NPV is same as getting cash now – Example</vt:lpstr>
      <vt:lpstr>Outline for this topic</vt:lpstr>
      <vt:lpstr>Other popular decision rules</vt:lpstr>
      <vt:lpstr>The payback investment rule</vt:lpstr>
      <vt:lpstr>The payback investment rule – Example </vt:lpstr>
      <vt:lpstr>Answers – Computing the payback period</vt:lpstr>
      <vt:lpstr>Weakness of payback rule – Example </vt:lpstr>
      <vt:lpstr>Disadvantages of payback rule</vt:lpstr>
      <vt:lpstr>The IRR investment rule</vt:lpstr>
      <vt:lpstr>The IRR investment rule – Example </vt:lpstr>
      <vt:lpstr>Answers – Computing the IRR</vt:lpstr>
      <vt:lpstr>Disadvantages of the IRR rule</vt:lpstr>
      <vt:lpstr>Outline for this topic</vt:lpstr>
      <vt:lpstr>Using MS Excel to find NPV &amp; IRR</vt:lpstr>
      <vt:lpstr>NPV formula in MS Excel</vt:lpstr>
      <vt:lpstr>IRR formula in MS Excel</vt:lpstr>
      <vt:lpstr>Group assignment – Investment detective case</vt:lpstr>
      <vt:lpstr>Conflicts between NPV and IRR rules</vt:lpstr>
      <vt:lpstr>IRR problem #1 – Differences in scale</vt:lpstr>
      <vt:lpstr>IRR problem #1 – Differences in scale [Part 2]</vt:lpstr>
      <vt:lpstr>IRR problem #2 – Non-conventional cash flows</vt:lpstr>
      <vt:lpstr>IRR problem #2 – Example</vt:lpstr>
      <vt:lpstr>Summary of NPV &amp; IRR investment criteria</vt:lpstr>
      <vt:lpstr>Outline for this topic</vt:lpstr>
      <vt:lpstr>Handling resource constraints</vt:lpstr>
      <vt:lpstr>Handling resource constraints [Part 2]</vt:lpstr>
      <vt:lpstr>Profitability index provides a solution</vt:lpstr>
      <vt:lpstr>Profitability index rule</vt:lpstr>
      <vt:lpstr>Practice question [Example 8.6 from textbook]</vt:lpstr>
      <vt:lpstr>Handling unequal periods</vt:lpstr>
      <vt:lpstr>Handling unequal periods [Part 2]</vt:lpstr>
      <vt:lpstr>Handling unequal periods – Example </vt:lpstr>
      <vt:lpstr>Handling unequal periods – Example </vt:lpstr>
      <vt:lpstr>Practice question [Example 8.5 from textbook]</vt:lpstr>
      <vt:lpstr>Key points to remember</vt:lpstr>
      <vt:lpstr>Where we are going next…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default</dc:creator>
  <cp:lastModifiedBy>Gormley, Todd</cp:lastModifiedBy>
  <cp:revision>89</cp:revision>
  <dcterms:created xsi:type="dcterms:W3CDTF">2013-07-09T17:46:55Z</dcterms:created>
  <dcterms:modified xsi:type="dcterms:W3CDTF">2023-11-06T21:13:17Z</dcterms:modified>
</cp:coreProperties>
</file>