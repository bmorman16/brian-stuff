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67" r:id="rId2"/>
    <p:sldId id="294" r:id="rId3"/>
    <p:sldId id="370" r:id="rId4"/>
    <p:sldId id="717" r:id="rId5"/>
    <p:sldId id="594" r:id="rId6"/>
    <p:sldId id="577" r:id="rId7"/>
    <p:sldId id="478" r:id="rId8"/>
    <p:sldId id="417" r:id="rId9"/>
    <p:sldId id="499" r:id="rId10"/>
    <p:sldId id="335" r:id="rId11"/>
    <p:sldId id="501" r:id="rId12"/>
    <p:sldId id="502" r:id="rId13"/>
    <p:sldId id="503" r:id="rId14"/>
    <p:sldId id="663" r:id="rId15"/>
    <p:sldId id="480" r:id="rId16"/>
    <p:sldId id="402" r:id="rId17"/>
    <p:sldId id="685" r:id="rId18"/>
    <p:sldId id="487" r:id="rId19"/>
    <p:sldId id="490" r:id="rId20"/>
    <p:sldId id="491" r:id="rId21"/>
    <p:sldId id="504" r:id="rId22"/>
    <p:sldId id="481" r:id="rId23"/>
    <p:sldId id="584" r:id="rId24"/>
    <p:sldId id="599" r:id="rId25"/>
    <p:sldId id="597" r:id="rId26"/>
    <p:sldId id="602" r:id="rId27"/>
    <p:sldId id="443" r:id="rId28"/>
    <p:sldId id="603" r:id="rId29"/>
    <p:sldId id="506" r:id="rId30"/>
    <p:sldId id="509" r:id="rId31"/>
    <p:sldId id="508" r:id="rId32"/>
    <p:sldId id="384" r:id="rId33"/>
    <p:sldId id="474" r:id="rId34"/>
    <p:sldId id="498" r:id="rId35"/>
    <p:sldId id="592" r:id="rId36"/>
    <p:sldId id="47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566568"/>
    <a:srgbClr val="69787B"/>
    <a:srgbClr val="800000"/>
    <a:srgbClr val="C41039"/>
    <a:srgbClr val="E1E1E1"/>
    <a:srgbClr val="6C7373"/>
    <a:srgbClr val="697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4" autoAdjust="0"/>
    <p:restoredTop sz="80959"/>
  </p:normalViewPr>
  <p:slideViewPr>
    <p:cSldViewPr snapToGrid="0" snapToObjects="1">
      <p:cViewPr varScale="1">
        <p:scale>
          <a:sx n="102" d="100"/>
          <a:sy n="102" d="100"/>
        </p:scale>
        <p:origin x="181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93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8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7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30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65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2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61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54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19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49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03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33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53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54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86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49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09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599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51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3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50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181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30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672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549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464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218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10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17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541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785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455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833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8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bloomberg.com/markets/rates-bonds/government-bonds/u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finance.yahoo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361688" cy="10277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Topic #5</a:t>
            </a:r>
          </a:p>
          <a:p>
            <a:r>
              <a:rPr lang="en-US" dirty="0"/>
              <a:t>Interest Rates &amp; Cost of Capital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C9B75-A962-FB44-81BA-CF7FBE82C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EAA710-906A-7640-B374-534A2BDFD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62B2EF-FE6F-DD47-8AB2-042310F8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E7E8D7-1260-384C-B3C6-C6FFEC460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3007" cy="4778022"/>
          </a:xfrm>
        </p:spPr>
        <p:txBody>
          <a:bodyPr>
            <a:normAutofit/>
          </a:bodyPr>
          <a:lstStyle/>
          <a:p>
            <a:r>
              <a:rPr lang="en-US" dirty="0"/>
              <a:t>Finish “capital budgeting” decision by discussing how to calculate the </a:t>
            </a:r>
            <a:r>
              <a:rPr lang="en-US" u="sng" dirty="0"/>
              <a:t>discount rate</a:t>
            </a:r>
            <a:r>
              <a:rPr lang="en-US" dirty="0"/>
              <a:t> for project valuation</a:t>
            </a:r>
          </a:p>
          <a:p>
            <a:endParaRPr lang="en-US" sz="800" dirty="0"/>
          </a:p>
          <a:p>
            <a:pPr lvl="1"/>
            <a:r>
              <a:rPr lang="en-US" dirty="0"/>
              <a:t>Discuss where interest rates come from</a:t>
            </a:r>
          </a:p>
          <a:p>
            <a:pPr lvl="1"/>
            <a:r>
              <a:rPr lang="en-US" dirty="0"/>
              <a:t>Connection between risk &amp; expected return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Risk premium </a:t>
            </a:r>
          </a:p>
          <a:p>
            <a:pPr lvl="2"/>
            <a:r>
              <a:rPr lang="en-US" dirty="0"/>
              <a:t>CAPM [a model for risk premium]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Bringing it together: the “cost of capital”</a:t>
            </a:r>
            <a:endParaRPr lang="en-US" sz="800" dirty="0"/>
          </a:p>
          <a:p>
            <a:pPr lvl="1"/>
            <a:r>
              <a:rPr lang="en-US" dirty="0"/>
              <a:t>Apply tools using “Worldwide Paper” case [again]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90794" y="2668281"/>
            <a:ext cx="6168092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8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discussed in last unit, NPV is given by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r>
              <a:rPr lang="en-US" dirty="0"/>
              <a:t>To date, I have just told you the relevant discount rate… </a:t>
            </a:r>
            <a:r>
              <a:rPr lang="en-US" b="1" dirty="0"/>
              <a:t>This unit will discuss where this </a:t>
            </a:r>
            <a:r>
              <a:rPr lang="en-US" b="1" u="sng" dirty="0"/>
              <a:t>discount rate</a:t>
            </a:r>
            <a:r>
              <a:rPr lang="en-US" b="1" dirty="0"/>
              <a:t>, </a:t>
            </a:r>
            <a:r>
              <a:rPr lang="en-US" b="1" i="1" dirty="0"/>
              <a:t>r</a:t>
            </a:r>
            <a:r>
              <a:rPr lang="en-US" b="1" dirty="0"/>
              <a:t>, comes from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266ED4-CB88-0A4C-9ADB-2E77D41D5E25}"/>
                  </a:ext>
                </a:extLst>
              </p:cNvPr>
              <p:cNvSpPr txBox="1"/>
              <p:nvPr/>
            </p:nvSpPr>
            <p:spPr>
              <a:xfrm>
                <a:off x="3730634" y="2312232"/>
                <a:ext cx="3434558" cy="1211935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𝑁𝑃𝑉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266ED4-CB88-0A4C-9ADB-2E77D41D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634" y="2312232"/>
                <a:ext cx="3434558" cy="1211935"/>
              </a:xfrm>
              <a:prstGeom prst="rect">
                <a:avLst/>
              </a:prstGeom>
              <a:blipFill>
                <a:blip r:embed="rId3"/>
                <a:stretch>
                  <a:fillRect t="-111340" b="-173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understanding the </a:t>
            </a:r>
            <a:r>
              <a:rPr lang="en-US" b="1" dirty="0"/>
              <a:t>cost of capital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6ED718-B325-8146-861B-A14A7C5ECF01}"/>
              </a:ext>
            </a:extLst>
          </p:cNvPr>
          <p:cNvSpPr/>
          <p:nvPr/>
        </p:nvSpPr>
        <p:spPr>
          <a:xfrm>
            <a:off x="6375748" y="3027952"/>
            <a:ext cx="300625" cy="384917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DA54C1-3C7A-7649-A047-0FD2825B1E4D}"/>
              </a:ext>
            </a:extLst>
          </p:cNvPr>
          <p:cNvSpPr txBox="1"/>
          <p:nvPr/>
        </p:nvSpPr>
        <p:spPr>
          <a:xfrm>
            <a:off x="2840261" y="5187376"/>
            <a:ext cx="7070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you will see, we also call this </a:t>
            </a:r>
            <a:r>
              <a:rPr lang="en-US" sz="2400" i="1" dirty="0"/>
              <a:t>r </a:t>
            </a:r>
            <a:r>
              <a:rPr lang="en-US" sz="2400" dirty="0"/>
              <a:t>the “required return,” “opportunity cost,” and “cost of capital”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A7E8A3-D850-864B-BEAB-9D7F313AF16D}"/>
              </a:ext>
            </a:extLst>
          </p:cNvPr>
          <p:cNvCxnSpPr>
            <a:cxnSpLocks/>
          </p:cNvCxnSpPr>
          <p:nvPr/>
        </p:nvCxnSpPr>
        <p:spPr>
          <a:xfrm flipV="1">
            <a:off x="5329919" y="4545405"/>
            <a:ext cx="0" cy="641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2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Investor’s required return…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442028" cy="4778022"/>
          </a:xfrm>
        </p:spPr>
        <p:txBody>
          <a:bodyPr>
            <a:normAutofit/>
          </a:bodyPr>
          <a:lstStyle/>
          <a:p>
            <a:r>
              <a:rPr lang="en-US" dirty="0"/>
              <a:t>Companies typically raise the money needed for new investments (e.g., new product) using two sources…</a:t>
            </a:r>
          </a:p>
          <a:p>
            <a:endParaRPr lang="en-US" sz="800" dirty="0"/>
          </a:p>
          <a:p>
            <a:pPr lvl="1"/>
            <a:r>
              <a:rPr lang="en-US" dirty="0"/>
              <a:t>Debt </a:t>
            </a:r>
          </a:p>
          <a:p>
            <a:pPr lvl="1"/>
            <a:r>
              <a:rPr lang="en-US" dirty="0"/>
              <a:t>Equity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7FF7A-3B1A-12A2-3BC8-E21AB852556E}"/>
              </a:ext>
            </a:extLst>
          </p:cNvPr>
          <p:cNvSpPr txBox="1"/>
          <p:nvPr/>
        </p:nvSpPr>
        <p:spPr>
          <a:xfrm>
            <a:off x="875758" y="4058523"/>
            <a:ext cx="61496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1417"/>
                </a:solidFill>
              </a:rPr>
              <a:t>What factors will determine the return </a:t>
            </a:r>
            <a:r>
              <a:rPr lang="en-US" sz="2400" b="1" u="sng" dirty="0">
                <a:solidFill>
                  <a:srgbClr val="A51417"/>
                </a:solidFill>
              </a:rPr>
              <a:t>required</a:t>
            </a:r>
            <a:r>
              <a:rPr lang="en-US" sz="2400" b="1" dirty="0">
                <a:solidFill>
                  <a:srgbClr val="A51417"/>
                </a:solidFill>
              </a:rPr>
              <a:t> by each group of investors?</a:t>
            </a:r>
          </a:p>
        </p:txBody>
      </p:sp>
      <p:pic>
        <p:nvPicPr>
          <p:cNvPr id="1026" name="Picture 2" descr="Free 100 US Dollar Banknotes Stock Photo">
            <a:extLst>
              <a:ext uri="{FF2B5EF4-FFF2-40B4-BE49-F238E27FC236}">
                <a16:creationId xmlns:a16="http://schemas.microsoft.com/office/drawing/2014/main" id="{97413C0D-306A-070E-BF76-139AF6FF6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546" y="2923332"/>
            <a:ext cx="3501702" cy="233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9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determines investors’ </a:t>
            </a:r>
            <a:r>
              <a:rPr lang="en-US" b="1" u="sng" dirty="0"/>
              <a:t>required return</a:t>
            </a:r>
            <a:r>
              <a:rPr lang="en-US" dirty="0"/>
              <a:t>?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48221"/>
            <a:ext cx="10704142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marL="457200" lvl="1" indent="0">
              <a:buNone/>
            </a:pPr>
            <a:r>
              <a:rPr lang="en-US" sz="2800" b="1" dirty="0"/>
              <a:t>Required return = risk-free rate + risk premium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61985-DAF4-4541-A7EE-4B2CA02B85F8}"/>
              </a:ext>
            </a:extLst>
          </p:cNvPr>
          <p:cNvSpPr txBox="1"/>
          <p:nvPr/>
        </p:nvSpPr>
        <p:spPr>
          <a:xfrm>
            <a:off x="1358158" y="3221313"/>
            <a:ext cx="4823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Return they’ll accept if risk-free; </a:t>
            </a:r>
            <a:r>
              <a:rPr lang="en-US" sz="2400" i="1" dirty="0"/>
              <a:t>[i.e., sweetener offered investor for delay in buying stuff]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5B21F6-94B0-9A4E-B58C-69A3EF8D0258}"/>
              </a:ext>
            </a:extLst>
          </p:cNvPr>
          <p:cNvCxnSpPr>
            <a:cxnSpLocks/>
          </p:cNvCxnSpPr>
          <p:nvPr/>
        </p:nvCxnSpPr>
        <p:spPr>
          <a:xfrm flipV="1">
            <a:off x="5254877" y="2432445"/>
            <a:ext cx="0" cy="6745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0B4D2A-E1C6-8644-B620-8E08A21EA024}"/>
              </a:ext>
            </a:extLst>
          </p:cNvPr>
          <p:cNvSpPr txBox="1"/>
          <p:nvPr/>
        </p:nvSpPr>
        <p:spPr>
          <a:xfrm>
            <a:off x="7222437" y="3215331"/>
            <a:ext cx="3373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Extra bit investors demand for risk</a:t>
            </a:r>
            <a:endParaRPr lang="en-US" sz="2400" i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B37AF4-8361-4242-AE21-2B5EA99DD474}"/>
              </a:ext>
            </a:extLst>
          </p:cNvPr>
          <p:cNvCxnSpPr>
            <a:cxnSpLocks/>
          </p:cNvCxnSpPr>
          <p:nvPr/>
        </p:nvCxnSpPr>
        <p:spPr>
          <a:xfrm flipH="1" flipV="1">
            <a:off x="8086169" y="2432445"/>
            <a:ext cx="222600" cy="6399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0A01C7-5492-CBF4-7B17-B4D9415FFCF5}"/>
              </a:ext>
            </a:extLst>
          </p:cNvPr>
          <p:cNvSpPr txBox="1"/>
          <p:nvPr/>
        </p:nvSpPr>
        <p:spPr>
          <a:xfrm>
            <a:off x="1051936" y="5100719"/>
            <a:ext cx="5847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 will now talk about how each piece is determined…</a:t>
            </a:r>
          </a:p>
        </p:txBody>
      </p:sp>
    </p:spTree>
    <p:extLst>
      <p:ext uri="{BB962C8B-B14F-4D97-AF65-F5344CB8AC3E}">
        <p14:creationId xmlns:p14="http://schemas.microsoft.com/office/powerpoint/2010/main" val="59366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Determination of </a:t>
            </a:r>
            <a:r>
              <a:rPr lang="en-US" u="sng" dirty="0"/>
              <a:t>risk-free rate</a:t>
            </a:r>
            <a:endParaRPr lang="en-US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41782"/>
            <a:ext cx="10704142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dirty="0"/>
              <a:t>Let’s now discuss the first piece of investors’ required return…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457200" lvl="1" indent="0">
              <a:buNone/>
            </a:pPr>
            <a:r>
              <a:rPr lang="en-US" sz="2800" b="1" dirty="0"/>
              <a:t>Required return = risk-free rate + risk premium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61985-DAF4-4541-A7EE-4B2CA02B85F8}"/>
              </a:ext>
            </a:extLst>
          </p:cNvPr>
          <p:cNvSpPr txBox="1"/>
          <p:nvPr/>
        </p:nvSpPr>
        <p:spPr>
          <a:xfrm>
            <a:off x="2259107" y="3804802"/>
            <a:ext cx="51434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you’ll see, this piece is determined by market conditions that affect overall “price” of money</a:t>
            </a:r>
            <a:endParaRPr lang="en-US" sz="2400" i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5B21F6-94B0-9A4E-B58C-69A3EF8D0258}"/>
              </a:ext>
            </a:extLst>
          </p:cNvPr>
          <p:cNvCxnSpPr>
            <a:cxnSpLocks/>
          </p:cNvCxnSpPr>
          <p:nvPr/>
        </p:nvCxnSpPr>
        <p:spPr>
          <a:xfrm flipV="1">
            <a:off x="4702659" y="3112994"/>
            <a:ext cx="319817" cy="6177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E46A268-485C-5946-7FF8-7DA185A18D01}"/>
              </a:ext>
            </a:extLst>
          </p:cNvPr>
          <p:cNvSpPr/>
          <p:nvPr/>
        </p:nvSpPr>
        <p:spPr>
          <a:xfrm>
            <a:off x="4229100" y="2478095"/>
            <a:ext cx="2245659" cy="55592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01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 of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90686" cy="4778022"/>
          </a:xfrm>
        </p:spPr>
        <p:txBody>
          <a:bodyPr>
            <a:normAutofit/>
          </a:bodyPr>
          <a:lstStyle/>
          <a:p>
            <a:r>
              <a:rPr lang="en-US" dirty="0"/>
              <a:t>Interest rates (i.e., “price”) are determined by market forces based on the relative </a:t>
            </a:r>
            <a:r>
              <a:rPr lang="en-US" u="sng" dirty="0"/>
              <a:t>supply and demand of money</a:t>
            </a:r>
          </a:p>
          <a:p>
            <a:endParaRPr lang="en-US" sz="800" dirty="0"/>
          </a:p>
          <a:p>
            <a:pPr lvl="1"/>
            <a:r>
              <a:rPr lang="en-US" dirty="0"/>
              <a:t>If </a:t>
            </a:r>
            <a:r>
              <a:rPr lang="en-US" u="sng" dirty="0"/>
              <a:t>supply</a:t>
            </a:r>
            <a:r>
              <a:rPr lang="en-US" dirty="0"/>
              <a:t> increases (i.e., more people willing to lend money), “price” falls</a:t>
            </a:r>
          </a:p>
          <a:p>
            <a:pPr lvl="1"/>
            <a:r>
              <a:rPr lang="en-US" dirty="0"/>
              <a:t>If </a:t>
            </a:r>
            <a:r>
              <a:rPr lang="en-US" u="sng" dirty="0"/>
              <a:t>demand</a:t>
            </a:r>
            <a:r>
              <a:rPr lang="en-US" dirty="0"/>
              <a:t> increases (i.e., more firms trying to borrow money), “price” rises</a:t>
            </a:r>
          </a:p>
          <a:p>
            <a:pPr lvl="1"/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E2BE9-6C1C-3E42-8F66-8723907293BB}"/>
              </a:ext>
            </a:extLst>
          </p:cNvPr>
          <p:cNvSpPr txBox="1"/>
          <p:nvPr/>
        </p:nvSpPr>
        <p:spPr>
          <a:xfrm>
            <a:off x="875758" y="4058523"/>
            <a:ext cx="10527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1417"/>
                </a:solidFill>
              </a:rPr>
              <a:t>What factors will tend to increase interest rates?</a:t>
            </a:r>
          </a:p>
          <a:p>
            <a:r>
              <a:rPr lang="en-US" sz="2400" dirty="0">
                <a:solidFill>
                  <a:srgbClr val="A51417"/>
                </a:solidFill>
              </a:rPr>
              <a:t>I.e., what</a:t>
            </a:r>
            <a:r>
              <a:rPr lang="en-US" sz="2400" b="1" dirty="0">
                <a:solidFill>
                  <a:srgbClr val="A51417"/>
                </a:solidFill>
              </a:rPr>
              <a:t> </a:t>
            </a:r>
            <a:r>
              <a:rPr lang="en-US" sz="2400" dirty="0">
                <a:solidFill>
                  <a:srgbClr val="A51417"/>
                </a:solidFill>
              </a:rPr>
              <a:t>factors will </a:t>
            </a:r>
            <a:r>
              <a:rPr lang="en-US" sz="2400" i="1" dirty="0"/>
              <a:t>increase</a:t>
            </a:r>
            <a:r>
              <a:rPr lang="en-US" sz="2400" dirty="0">
                <a:solidFill>
                  <a:srgbClr val="A51417"/>
                </a:solidFill>
              </a:rPr>
              <a:t> firms’ </a:t>
            </a:r>
            <a:r>
              <a:rPr lang="en-US" sz="2400" b="1" u="sng" dirty="0">
                <a:solidFill>
                  <a:srgbClr val="A51417"/>
                </a:solidFill>
              </a:rPr>
              <a:t>demand</a:t>
            </a:r>
            <a:r>
              <a:rPr lang="en-US" sz="2400" dirty="0">
                <a:solidFill>
                  <a:srgbClr val="A51417"/>
                </a:solidFill>
              </a:rPr>
              <a:t> for funds?  What</a:t>
            </a:r>
            <a:r>
              <a:rPr lang="en-US" sz="2400" b="1" dirty="0">
                <a:solidFill>
                  <a:srgbClr val="A51417"/>
                </a:solidFill>
              </a:rPr>
              <a:t> </a:t>
            </a:r>
            <a:r>
              <a:rPr lang="en-US" sz="2400" dirty="0">
                <a:solidFill>
                  <a:srgbClr val="A51417"/>
                </a:solidFill>
              </a:rPr>
              <a:t>factors will </a:t>
            </a:r>
            <a:r>
              <a:rPr lang="en-US" sz="2400" i="1" dirty="0"/>
              <a:t>decrease</a:t>
            </a:r>
            <a:r>
              <a:rPr lang="en-US" sz="2400" dirty="0">
                <a:solidFill>
                  <a:srgbClr val="A51417"/>
                </a:solidFill>
              </a:rPr>
              <a:t> households’ willingness to </a:t>
            </a:r>
            <a:r>
              <a:rPr lang="en-US" sz="2400" b="1" u="sng" dirty="0">
                <a:solidFill>
                  <a:srgbClr val="A51417"/>
                </a:solidFill>
              </a:rPr>
              <a:t>supply</a:t>
            </a:r>
            <a:r>
              <a:rPr lang="en-US" sz="2400" dirty="0">
                <a:solidFill>
                  <a:srgbClr val="A51417"/>
                </a:solidFill>
              </a:rPr>
              <a:t> funds? </a:t>
            </a:r>
          </a:p>
        </p:txBody>
      </p:sp>
    </p:spTree>
    <p:extLst>
      <p:ext uri="{BB962C8B-B14F-4D97-AF65-F5344CB8AC3E}">
        <p14:creationId xmlns:p14="http://schemas.microsoft.com/office/powerpoint/2010/main" val="345763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that </a:t>
            </a:r>
            <a:r>
              <a:rPr lang="en-US" b="1" dirty="0"/>
              <a:t>increases</a:t>
            </a:r>
            <a:r>
              <a:rPr lang="en-US" dirty="0"/>
              <a:t> the </a:t>
            </a:r>
            <a:r>
              <a:rPr lang="en-US" u="sng" dirty="0"/>
              <a:t>demand</a:t>
            </a:r>
            <a:r>
              <a:rPr lang="en-US" dirty="0"/>
              <a:t> of money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436201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b="1" dirty="0"/>
              <a:t>Firms’ investment opportunities</a:t>
            </a:r>
          </a:p>
          <a:p>
            <a:endParaRPr lang="en-US" sz="800" b="1" dirty="0"/>
          </a:p>
          <a:p>
            <a:pPr lvl="1"/>
            <a:r>
              <a:rPr lang="en-US" dirty="0"/>
              <a:t>If firms have many good investments [e.g., because they anticipate a strong economy], they will seek to raise a lot of capital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FBBBE-BA65-C542-8986-A098C2A91D6C}"/>
              </a:ext>
            </a:extLst>
          </p:cNvPr>
          <p:cNvSpPr txBox="1"/>
          <p:nvPr/>
        </p:nvSpPr>
        <p:spPr>
          <a:xfrm>
            <a:off x="2560512" y="3749985"/>
            <a:ext cx="7390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I.e., more firms competing to use money will tend to push up interest rates [i.e., price of using money]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E39B12-7AA8-7040-BD9E-EF140CD202DD}"/>
              </a:ext>
            </a:extLst>
          </p:cNvPr>
          <p:cNvCxnSpPr>
            <a:cxnSpLocks/>
          </p:cNvCxnSpPr>
          <p:nvPr/>
        </p:nvCxnSpPr>
        <p:spPr>
          <a:xfrm flipV="1">
            <a:off x="6070148" y="3108014"/>
            <a:ext cx="0" cy="641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</a:t>
            </a:r>
            <a:r>
              <a:rPr lang="en-US" b="1" dirty="0"/>
              <a:t>reduce</a:t>
            </a:r>
            <a:r>
              <a:rPr lang="en-US" dirty="0"/>
              <a:t> the </a:t>
            </a:r>
            <a:r>
              <a:rPr lang="en-US" u="sng" dirty="0"/>
              <a:t>supply</a:t>
            </a:r>
            <a:r>
              <a:rPr lang="en-US" dirty="0"/>
              <a:t> of money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575538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b="1" dirty="0"/>
              <a:t>Risk </a:t>
            </a:r>
            <a:r>
              <a:rPr lang="en-US" dirty="0"/>
              <a:t>– Increased risk that investment will not yield a return makes households less likely to lend (i.e., supply) money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r>
              <a:rPr lang="en-US" b="1" dirty="0"/>
              <a:t>Inflation </a:t>
            </a:r>
            <a:r>
              <a:rPr lang="en-US" dirty="0"/>
              <a:t>– An increase in inflation will make households less willing to save (i.e., supply) money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AFA-B3DF-3148-A9B8-130741C95FD1}"/>
              </a:ext>
            </a:extLst>
          </p:cNvPr>
          <p:cNvSpPr txBox="1"/>
          <p:nvPr/>
        </p:nvSpPr>
        <p:spPr>
          <a:xfrm>
            <a:off x="724028" y="4349867"/>
            <a:ext cx="8900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I.e., increases in risk or inflation will tend to push up interest rates; otherwise, households won’t be willing to supply money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6B0E90-C159-5643-AC4F-2CC73BB71639}"/>
              </a:ext>
            </a:extLst>
          </p:cNvPr>
          <p:cNvCxnSpPr>
            <a:cxnSpLocks/>
          </p:cNvCxnSpPr>
          <p:nvPr/>
        </p:nvCxnSpPr>
        <p:spPr>
          <a:xfrm flipV="1">
            <a:off x="3065692" y="3699860"/>
            <a:ext cx="0" cy="6419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6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U.S. interest rates and inflation rates, 1962-2018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EC2EC-DEC6-A64C-A204-584EBC15D8EF}"/>
              </a:ext>
            </a:extLst>
          </p:cNvPr>
          <p:cNvSpPr txBox="1"/>
          <p:nvPr/>
        </p:nvSpPr>
        <p:spPr>
          <a:xfrm>
            <a:off x="8979194" y="5334203"/>
            <a:ext cx="2587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5.2: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  <p:pic>
        <p:nvPicPr>
          <p:cNvPr id="6" name="Picture 5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134B2EEE-5EC5-6342-BD77-C26A90AFC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7" y="1583101"/>
            <a:ext cx="8251097" cy="43974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1A7211-A8D9-E741-B667-D522010693B0}"/>
              </a:ext>
            </a:extLst>
          </p:cNvPr>
          <p:cNvSpPr txBox="1"/>
          <p:nvPr/>
        </p:nvSpPr>
        <p:spPr>
          <a:xfrm>
            <a:off x="8979194" y="1875510"/>
            <a:ext cx="295155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Figure provides evidence of interest rates responding to reduced supply:  </a:t>
            </a:r>
            <a:r>
              <a:rPr lang="en-US" sz="2100" dirty="0"/>
              <a:t>When inflation is high, interest rates paid by US government needs to be higher to attract investors’ savings</a:t>
            </a:r>
          </a:p>
        </p:txBody>
      </p:sp>
    </p:spTree>
    <p:extLst>
      <p:ext uri="{BB962C8B-B14F-4D97-AF65-F5344CB8AC3E}">
        <p14:creationId xmlns:p14="http://schemas.microsoft.com/office/powerpoint/2010/main" val="116567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 for </a:t>
            </a:r>
            <a:r>
              <a:rPr lang="en-US" u="sng" dirty="0"/>
              <a:t>risk-free</a:t>
            </a:r>
            <a:r>
              <a:rPr lang="en-US" dirty="0"/>
              <a:t> rate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10460278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It is the </a:t>
            </a:r>
            <a:r>
              <a:rPr lang="en-US" b="1" dirty="0"/>
              <a:t>sweetener</a:t>
            </a:r>
            <a:r>
              <a:rPr lang="en-US" dirty="0"/>
              <a:t> offered to entice households to delay buying stuff and to instead supply money (i.e., save)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pPr lvl="1"/>
            <a:r>
              <a:rPr lang="en-US" dirty="0">
                <a:solidFill>
                  <a:srgbClr val="69787B"/>
                </a:solidFill>
              </a:rPr>
              <a:t>We consider US Treasury rates to be risk-free </a:t>
            </a:r>
            <a:r>
              <a:rPr lang="en-US" b="1" dirty="0">
                <a:solidFill>
                  <a:srgbClr val="A51417"/>
                </a:solidFill>
              </a:rPr>
              <a:t>[Why?]</a:t>
            </a:r>
          </a:p>
          <a:p>
            <a:pPr lvl="1"/>
            <a:r>
              <a:rPr lang="en-US" dirty="0">
                <a:solidFill>
                  <a:srgbClr val="69787B"/>
                </a:solidFill>
              </a:rPr>
              <a:t>The </a:t>
            </a:r>
            <a:r>
              <a:rPr lang="en-US" b="1" dirty="0">
                <a:solidFill>
                  <a:srgbClr val="69787B"/>
                </a:solidFill>
              </a:rPr>
              <a:t>yield curve </a:t>
            </a:r>
            <a:r>
              <a:rPr lang="en-US" dirty="0">
                <a:solidFill>
                  <a:srgbClr val="69787B"/>
                </a:solidFill>
              </a:rPr>
              <a:t>reflects interest rates paid by US government for bonds that mature at different points in time</a:t>
            </a: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2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yield curve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61367"/>
            <a:ext cx="6287847" cy="47780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Typically, yield curve is upward sloping [i.e., US government pays a higher interest rate on bonds that pay off in the more distant future]</a:t>
            </a:r>
          </a:p>
          <a:p>
            <a:pPr lvl="1"/>
            <a:endParaRPr lang="en-US" sz="800" b="1" dirty="0">
              <a:solidFill>
                <a:srgbClr val="A51417"/>
              </a:solidFill>
            </a:endParaRPr>
          </a:p>
          <a:p>
            <a:endParaRPr lang="en-US" sz="800" dirty="0"/>
          </a:p>
          <a:p>
            <a:endParaRPr lang="en-US" sz="800" u="sng" dirty="0"/>
          </a:p>
          <a:p>
            <a:endParaRPr lang="en-US" sz="8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68AFA-B3DF-3148-A9B8-130741C95FD1}"/>
              </a:ext>
            </a:extLst>
          </p:cNvPr>
          <p:cNvSpPr txBox="1"/>
          <p:nvPr/>
        </p:nvSpPr>
        <p:spPr>
          <a:xfrm>
            <a:off x="5348374" y="5154573"/>
            <a:ext cx="4410350" cy="830997"/>
          </a:xfrm>
          <a:prstGeom prst="rect">
            <a:avLst/>
          </a:prstGeom>
          <a:solidFill>
            <a:srgbClr val="69787B">
              <a:alpha val="1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What does downward sloping yield curve typically predict?</a:t>
            </a:r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004C1C19-D610-FD45-97E5-60563AA24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953" y="1233693"/>
            <a:ext cx="3523221" cy="2803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A4F910-649D-1341-8D5B-EE5C7546B247}"/>
              </a:ext>
            </a:extLst>
          </p:cNvPr>
          <p:cNvSpPr txBox="1"/>
          <p:nvPr/>
        </p:nvSpPr>
        <p:spPr>
          <a:xfrm>
            <a:off x="997770" y="3572403"/>
            <a:ext cx="4934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find current yield curve at:</a:t>
            </a:r>
          </a:p>
          <a:p>
            <a:r>
              <a:rPr lang="en-US" dirty="0">
                <a:solidFill>
                  <a:srgbClr val="A5141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https://www.bloomberg.com/markets/rates-bonds/government-bonds/us</a:t>
            </a:r>
            <a:r>
              <a:rPr lang="en-US" dirty="0">
                <a:solidFill>
                  <a:srgbClr val="A51417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F85DA6-CEF8-844F-8381-89F0FF036B9A}"/>
              </a:ext>
            </a:extLst>
          </p:cNvPr>
          <p:cNvSpPr txBox="1"/>
          <p:nvPr/>
        </p:nvSpPr>
        <p:spPr>
          <a:xfrm>
            <a:off x="7172953" y="4099994"/>
            <a:ext cx="3156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5.4: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Ed.</a:t>
            </a:r>
          </a:p>
        </p:txBody>
      </p:sp>
    </p:spTree>
    <p:extLst>
      <p:ext uri="{BB962C8B-B14F-4D97-AF65-F5344CB8AC3E}">
        <p14:creationId xmlns:p14="http://schemas.microsoft.com/office/powerpoint/2010/main" val="227794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3007" cy="4778022"/>
          </a:xfrm>
        </p:spPr>
        <p:txBody>
          <a:bodyPr>
            <a:normAutofit/>
          </a:bodyPr>
          <a:lstStyle/>
          <a:p>
            <a:r>
              <a:rPr lang="en-US" dirty="0"/>
              <a:t>Finish “capital budgeting” decision by discussing how to calculate the </a:t>
            </a:r>
            <a:r>
              <a:rPr lang="en-US" u="sng" dirty="0"/>
              <a:t>discount rate</a:t>
            </a:r>
            <a:r>
              <a:rPr lang="en-US" dirty="0"/>
              <a:t> for project valuation</a:t>
            </a:r>
          </a:p>
          <a:p>
            <a:endParaRPr lang="en-US" sz="800" dirty="0"/>
          </a:p>
          <a:p>
            <a:pPr lvl="1"/>
            <a:r>
              <a:rPr lang="en-US" dirty="0"/>
              <a:t>Discuss where interest rates come from</a:t>
            </a:r>
          </a:p>
          <a:p>
            <a:pPr lvl="1"/>
            <a:r>
              <a:rPr lang="en-US" dirty="0"/>
              <a:t>Connection between risk &amp; expected return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Risk premium </a:t>
            </a:r>
          </a:p>
          <a:p>
            <a:pPr lvl="2"/>
            <a:r>
              <a:rPr lang="en-US" dirty="0"/>
              <a:t>CAPM [a model for risk premium]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Bringing it together: the “cost of capital”</a:t>
            </a:r>
            <a:endParaRPr lang="en-US" sz="800" dirty="0"/>
          </a:p>
          <a:p>
            <a:pPr lvl="1"/>
            <a:r>
              <a:rPr lang="en-US" dirty="0"/>
              <a:t>Apply tools using “Worldwide Paper” case [again]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98477" y="3113954"/>
            <a:ext cx="6470295" cy="471638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414F6C-93F8-7846-945A-5B68426ED058}"/>
              </a:ext>
            </a:extLst>
          </p:cNvPr>
          <p:cNvSpPr/>
          <p:nvPr/>
        </p:nvSpPr>
        <p:spPr>
          <a:xfrm>
            <a:off x="1496767" y="3680652"/>
            <a:ext cx="4435308" cy="814508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75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Connection between risk and return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341782"/>
            <a:ext cx="10704142" cy="4778022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dirty="0"/>
              <a:t>Increases in risk will increase the risk premium component!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marL="457200" lvl="1" indent="0">
              <a:buNone/>
            </a:pPr>
            <a:r>
              <a:rPr lang="en-US" sz="2800" b="1" dirty="0"/>
              <a:t>Required return = risk-free rate + risk premium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B4D2A-E1C6-8644-B620-8E08A21EA024}"/>
              </a:ext>
            </a:extLst>
          </p:cNvPr>
          <p:cNvSpPr txBox="1"/>
          <p:nvPr/>
        </p:nvSpPr>
        <p:spPr>
          <a:xfrm>
            <a:off x="5273899" y="4232627"/>
            <a:ext cx="5795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Individuals will only supply money to riskier ventures if those investments offer a higher expected return!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B37AF4-8361-4242-AE21-2B5EA99DD474}"/>
              </a:ext>
            </a:extLst>
          </p:cNvPr>
          <p:cNvCxnSpPr>
            <a:cxnSpLocks/>
          </p:cNvCxnSpPr>
          <p:nvPr/>
        </p:nvCxnSpPr>
        <p:spPr>
          <a:xfrm flipV="1">
            <a:off x="7757295" y="3182734"/>
            <a:ext cx="0" cy="10008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E46A268-485C-5946-7FF8-7DA185A18D01}"/>
              </a:ext>
            </a:extLst>
          </p:cNvPr>
          <p:cNvSpPr/>
          <p:nvPr/>
        </p:nvSpPr>
        <p:spPr>
          <a:xfrm>
            <a:off x="6488206" y="2522627"/>
            <a:ext cx="2689412" cy="55592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99592-2872-5CAC-2E94-839AFD0BD7D6}"/>
              </a:ext>
            </a:extLst>
          </p:cNvPr>
          <p:cNvSpPr txBox="1"/>
          <p:nvPr/>
        </p:nvSpPr>
        <p:spPr>
          <a:xfrm>
            <a:off x="5273897" y="5545547"/>
            <a:ext cx="636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1417"/>
                </a:solidFill>
              </a:rPr>
              <a:t>But what do we mean by “riskier”?</a:t>
            </a:r>
          </a:p>
        </p:txBody>
      </p:sp>
    </p:spTree>
    <p:extLst>
      <p:ext uri="{BB962C8B-B14F-4D97-AF65-F5344CB8AC3E}">
        <p14:creationId xmlns:p14="http://schemas.microsoft.com/office/powerpoint/2010/main" val="410714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evidence on risk &amp; return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1577148"/>
            <a:ext cx="10841055" cy="4778022"/>
          </a:xfrm>
        </p:spPr>
        <p:txBody>
          <a:bodyPr>
            <a:normAutofit/>
          </a:bodyPr>
          <a:lstStyle/>
          <a:p>
            <a:r>
              <a:rPr lang="en-US" dirty="0"/>
              <a:t>Bonds issued by US companies are riskier than US government bonds; so, they will have to offer a higher return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88BA49C3-6463-DB4E-8751-9EAC8B6D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8" y="2821491"/>
            <a:ext cx="8890000" cy="3035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59696C-E73A-D84E-AFF5-BC968939EEBD}"/>
              </a:ext>
            </a:extLst>
          </p:cNvPr>
          <p:cNvSpPr txBox="1"/>
          <p:nvPr/>
        </p:nvSpPr>
        <p:spPr>
          <a:xfrm>
            <a:off x="9764318" y="5210460"/>
            <a:ext cx="2146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Table 6.5: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Ed.</a:t>
            </a:r>
          </a:p>
        </p:txBody>
      </p:sp>
    </p:spTree>
    <p:extLst>
      <p:ext uri="{BB962C8B-B14F-4D97-AF65-F5344CB8AC3E}">
        <p14:creationId xmlns:p14="http://schemas.microsoft.com/office/powerpoint/2010/main" val="245442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More</a:t>
            </a:r>
            <a:r>
              <a:rPr lang="en-US" dirty="0"/>
              <a:t> evidence on risk &amp; return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20" y="1600200"/>
            <a:ext cx="4102324" cy="4778022"/>
          </a:xfrm>
        </p:spPr>
        <p:txBody>
          <a:bodyPr>
            <a:normAutofit/>
          </a:bodyPr>
          <a:lstStyle/>
          <a:p>
            <a:r>
              <a:rPr lang="en-US" dirty="0"/>
              <a:t>This figure plots the average risk premium paid by firms with different credit ratings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b="1" dirty="0" err="1"/>
              <a:t>Aaa</a:t>
            </a:r>
            <a:r>
              <a:rPr lang="en-US" dirty="0"/>
              <a:t>-rated firms are least risky, </a:t>
            </a:r>
            <a:r>
              <a:rPr lang="en-US" b="1" dirty="0"/>
              <a:t>A</a:t>
            </a:r>
            <a:r>
              <a:rPr lang="en-US" dirty="0"/>
              <a:t> is riskier, and </a:t>
            </a:r>
            <a:r>
              <a:rPr lang="en-US" b="1" dirty="0"/>
              <a:t>Baa</a:t>
            </a:r>
            <a:r>
              <a:rPr lang="en-US" dirty="0"/>
              <a:t> is even riskier</a:t>
            </a:r>
          </a:p>
          <a:p>
            <a:pPr lvl="1"/>
            <a:r>
              <a:rPr lang="en-US" b="1" dirty="0">
                <a:solidFill>
                  <a:srgbClr val="A51417"/>
                </a:solidFill>
              </a:rPr>
              <a:t>What is going on 2008-09, and why?</a:t>
            </a:r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pic>
        <p:nvPicPr>
          <p:cNvPr id="5" name="Picture 4" descr="Chart, line chart, histogram&#10;&#10;Description automatically generated">
            <a:extLst>
              <a:ext uri="{FF2B5EF4-FFF2-40B4-BE49-F238E27FC236}">
                <a16:creationId xmlns:a16="http://schemas.microsoft.com/office/drawing/2014/main" id="{CD4BE73E-CF75-0644-B9ED-BD9D68CD5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175" y="1600200"/>
            <a:ext cx="6559826" cy="4008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D6FDC9-A7C4-B546-8779-238C1BC12776}"/>
              </a:ext>
            </a:extLst>
          </p:cNvPr>
          <p:cNvSpPr txBox="1"/>
          <p:nvPr/>
        </p:nvSpPr>
        <p:spPr>
          <a:xfrm>
            <a:off x="5090105" y="5774978"/>
            <a:ext cx="3721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Table 6.6: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263991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the </a:t>
            </a:r>
            <a:r>
              <a:rPr lang="en-US" u="sng" dirty="0"/>
              <a:t>risk premium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519" y="1600200"/>
                <a:ext cx="10253769" cy="47780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Investors use various models, but a common one is the capital asset pricing model (CAPM)</a:t>
                </a:r>
              </a:p>
              <a:p>
                <a:endParaRPr lang="en-US" sz="800" dirty="0"/>
              </a:p>
              <a:p>
                <a:pPr lvl="1"/>
                <a:r>
                  <a:rPr lang="en-US" dirty="0"/>
                  <a:t>According to CAPM, risk premium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𝐸𝑥𝑝𝑒𝑐𝑡𝑒𝑑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𝑚𝑘𝑡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𝑝𝑟𝑒𝑚𝑖𝑢𝑚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lvl="1"/>
                <a:endParaRPr lang="en-US" sz="800" dirty="0"/>
              </a:p>
              <a:p>
                <a:pPr lvl="2"/>
                <a:r>
                  <a:rPr lang="en-US" i="1" dirty="0"/>
                  <a:t>Expected mkt. premium = </a:t>
                </a:r>
                <a:r>
                  <a:rPr lang="en-US" dirty="0"/>
                  <a:t>how much better something like the S&amp;P 500 market index will do relative to the yield provided on US Treasuries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= beta [this is our measure of ‘risk’; easily found on financial websites]</a:t>
                </a:r>
              </a:p>
              <a:p>
                <a:pPr lvl="1"/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19" y="1600200"/>
                <a:ext cx="10253769" cy="4778022"/>
              </a:xfrm>
              <a:blipFill>
                <a:blip r:embed="rId3"/>
                <a:stretch>
                  <a:fillRect l="-989" t="-1592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2366D3B-887E-24B7-EA8F-BE53E2CD01A0}"/>
              </a:ext>
            </a:extLst>
          </p:cNvPr>
          <p:cNvSpPr txBox="1"/>
          <p:nvPr/>
        </p:nvSpPr>
        <p:spPr>
          <a:xfrm>
            <a:off x="998451" y="4700433"/>
            <a:ext cx="5238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Any guesses on what historical market premium has been?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5BFE4-ED0D-1C22-7534-A5ED618379BF}"/>
              </a:ext>
            </a:extLst>
          </p:cNvPr>
          <p:cNvSpPr/>
          <p:nvPr/>
        </p:nvSpPr>
        <p:spPr>
          <a:xfrm>
            <a:off x="6410726" y="2700382"/>
            <a:ext cx="3254867" cy="435624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4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Interpreting</a:t>
            </a:r>
            <a:r>
              <a:rPr lang="en-US" dirty="0"/>
              <a:t> the risk premium of CAPM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𝑅𝑒𝑞𝑢𝑖𝑟𝑒𝑑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𝐸𝑥𝑝𝑒𝑐𝑡𝑒𝑑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𝑚𝑘𝑡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𝑝𝑟𝑒𝑚𝑖𝑢𝑚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sz="800" dirty="0"/>
              </a:p>
              <a:p>
                <a:pPr lvl="1"/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DFDA47-925B-354E-A92C-71F3307197AF}"/>
              </a:ext>
            </a:extLst>
          </p:cNvPr>
          <p:cNvSpPr txBox="1"/>
          <p:nvPr/>
        </p:nvSpPr>
        <p:spPr>
          <a:xfrm>
            <a:off x="622937" y="3186234"/>
            <a:ext cx="5377064" cy="1200329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This is premium </a:t>
            </a:r>
            <a:r>
              <a:rPr lang="en-US" sz="2400" b="1" u="sng" dirty="0"/>
              <a:t>per unit</a:t>
            </a:r>
            <a:r>
              <a:rPr lang="en-US" sz="2400" b="1" dirty="0"/>
              <a:t> of risk </a:t>
            </a:r>
            <a:r>
              <a:rPr lang="en-US" sz="2400" i="1" dirty="0"/>
              <a:t>[reflects the risk premium from holding an asset of average risk level]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ABBD6D-24FA-EC41-80A6-B8A95B77BAF3}"/>
              </a:ext>
            </a:extLst>
          </p:cNvPr>
          <p:cNvCxnSpPr>
            <a:cxnSpLocks/>
          </p:cNvCxnSpPr>
          <p:nvPr/>
        </p:nvCxnSpPr>
        <p:spPr>
          <a:xfrm flipV="1">
            <a:off x="4874759" y="2275182"/>
            <a:ext cx="578124" cy="7284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952129D-E02F-BE44-BE8D-2725977C1BB9}"/>
              </a:ext>
            </a:extLst>
          </p:cNvPr>
          <p:cNvSpPr txBox="1"/>
          <p:nvPr/>
        </p:nvSpPr>
        <p:spPr>
          <a:xfrm>
            <a:off x="7613374" y="2892287"/>
            <a:ext cx="4212383" cy="2308324"/>
          </a:xfrm>
          <a:prstGeom prst="rect">
            <a:avLst/>
          </a:prstGeom>
          <a:solidFill>
            <a:srgbClr val="566568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Units of risk</a:t>
            </a:r>
          </a:p>
          <a:p>
            <a:r>
              <a:rPr lang="en-US" sz="2400" i="1" dirty="0"/>
              <a:t>[Relative measure of risk; e.g., beta = 1 means you have same risk as average risky asset; beta = 2 means you have twice the average risk]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375B5E-1B00-A342-BDF4-6550D61F3D49}"/>
              </a:ext>
            </a:extLst>
          </p:cNvPr>
          <p:cNvCxnSpPr>
            <a:cxnSpLocks/>
          </p:cNvCxnSpPr>
          <p:nvPr/>
        </p:nvCxnSpPr>
        <p:spPr>
          <a:xfrm flipV="1">
            <a:off x="9049527" y="2157612"/>
            <a:ext cx="0" cy="6168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06C8ED9-8327-F94B-A391-0F4E70D8280E}"/>
              </a:ext>
            </a:extLst>
          </p:cNvPr>
          <p:cNvSpPr/>
          <p:nvPr/>
        </p:nvSpPr>
        <p:spPr>
          <a:xfrm>
            <a:off x="4874759" y="1649586"/>
            <a:ext cx="3815949" cy="443034"/>
          </a:xfrm>
          <a:prstGeom prst="rect">
            <a:avLst/>
          </a:prstGeom>
          <a:solidFill>
            <a:srgbClr val="A51417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643F23-D2C6-D248-A090-CF0609809A4F}"/>
              </a:ext>
            </a:extLst>
          </p:cNvPr>
          <p:cNvSpPr/>
          <p:nvPr/>
        </p:nvSpPr>
        <p:spPr>
          <a:xfrm>
            <a:off x="8910522" y="1657389"/>
            <a:ext cx="278011" cy="443034"/>
          </a:xfrm>
          <a:prstGeom prst="rect">
            <a:avLst/>
          </a:prstGeom>
          <a:solidFill>
            <a:srgbClr val="56656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7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three CAPM inputs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Risk-free rate, </a:t>
                </a:r>
                <a:r>
                  <a:rPr lang="en-US" b="1" i="1" dirty="0"/>
                  <a:t>r</a:t>
                </a:r>
                <a:r>
                  <a:rPr lang="en-US" b="1" i="1" baseline="-25000" dirty="0"/>
                  <a:t>f</a:t>
                </a:r>
              </a:p>
              <a:p>
                <a:endParaRPr lang="en-US" sz="800" b="1" i="1" baseline="-25000" dirty="0"/>
              </a:p>
              <a:p>
                <a:pPr lvl="1"/>
                <a:r>
                  <a:rPr lang="en-US" dirty="0"/>
                  <a:t>Just use current risk-free rate on US government bonds</a:t>
                </a:r>
              </a:p>
              <a:p>
                <a:pPr lvl="1"/>
                <a:r>
                  <a:rPr lang="en-US" dirty="0"/>
                  <a:t>Usually select return on bond of similar length to project’s life</a:t>
                </a:r>
              </a:p>
              <a:p>
                <a:pPr lvl="1"/>
                <a:endParaRPr lang="en-US" sz="800" dirty="0"/>
              </a:p>
              <a:p>
                <a:r>
                  <a:rPr lang="en-US" b="1" dirty="0">
                    <a:solidFill>
                      <a:srgbClr val="69787B"/>
                    </a:solidFill>
                  </a:rPr>
                  <a:t>Market risk premium</a:t>
                </a:r>
              </a:p>
              <a:p>
                <a:endParaRPr lang="en-US" sz="800" b="1" i="1" dirty="0">
                  <a:solidFill>
                    <a:srgbClr val="69787B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69787B"/>
                    </a:solidFill>
                  </a:rPr>
                  <a:t>Typically use historical data to calculate avg. historical premium of S&amp;P 500 [i.e., market index] over US Treasuries </a:t>
                </a:r>
                <a:endParaRPr lang="en-US" b="1" i="1" dirty="0">
                  <a:solidFill>
                    <a:srgbClr val="A51417"/>
                  </a:solidFill>
                </a:endParaRPr>
              </a:p>
              <a:p>
                <a:pPr lvl="1"/>
                <a:r>
                  <a:rPr lang="en-US" b="1" dirty="0">
                    <a:solidFill>
                      <a:srgbClr val="69787B"/>
                    </a:solidFill>
                  </a:rPr>
                  <a:t>Basic idea: </a:t>
                </a:r>
                <a:r>
                  <a:rPr lang="en-US" dirty="0">
                    <a:solidFill>
                      <a:srgbClr val="69787B"/>
                    </a:solidFill>
                  </a:rPr>
                  <a:t>past market premium is good predictor of future premium</a:t>
                </a:r>
              </a:p>
              <a:p>
                <a:pPr lvl="1"/>
                <a:endParaRPr lang="en-US" sz="800" dirty="0">
                  <a:solidFill>
                    <a:srgbClr val="69787B"/>
                  </a:solidFill>
                </a:endParaRPr>
              </a:p>
              <a:p>
                <a:r>
                  <a:rPr lang="en-US" b="1" dirty="0">
                    <a:solidFill>
                      <a:srgbClr val="69787B"/>
                    </a:solidFill>
                  </a:rPr>
                  <a:t>Beta,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69787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>
                    <a:solidFill>
                      <a:srgbClr val="69787B"/>
                    </a:solidFill>
                  </a:rPr>
                  <a:t> </a:t>
                </a:r>
                <a:r>
                  <a:rPr lang="en-US" dirty="0">
                    <a:solidFill>
                      <a:srgbClr val="69787B"/>
                    </a:solidFill>
                  </a:rPr>
                  <a:t>– Use financial website</a:t>
                </a:r>
              </a:p>
              <a:p>
                <a:pPr lvl="1"/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30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beta is reported for every public stock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9649953" cy="4778022"/>
          </a:xfrm>
        </p:spPr>
        <p:txBody>
          <a:bodyPr>
            <a:normAutofit/>
          </a:bodyPr>
          <a:lstStyle/>
          <a:p>
            <a:r>
              <a:rPr lang="en-US" dirty="0"/>
              <a:t>E.g., just go to </a:t>
            </a:r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http://finance.yahoo.com</a:t>
            </a:r>
            <a:r>
              <a:rPr lang="en-US" dirty="0">
                <a:solidFill>
                  <a:srgbClr val="A51417"/>
                </a:solidFill>
              </a:rPr>
              <a:t> </a:t>
            </a:r>
          </a:p>
          <a:p>
            <a:r>
              <a:rPr lang="en-US" dirty="0"/>
              <a:t>Type in favorite company ticker; see beta reported</a:t>
            </a:r>
          </a:p>
          <a:p>
            <a:endParaRPr lang="en-US" sz="800" dirty="0"/>
          </a:p>
          <a:p>
            <a:pPr lvl="1"/>
            <a:r>
              <a:rPr lang="en-US" dirty="0"/>
              <a:t>You will likely see more on how to estimate this beta and where it comes from in a later course of your program</a:t>
            </a:r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2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for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3007" cy="4778022"/>
          </a:xfrm>
        </p:spPr>
        <p:txBody>
          <a:bodyPr>
            <a:normAutofit/>
          </a:bodyPr>
          <a:lstStyle/>
          <a:p>
            <a:r>
              <a:rPr lang="en-US" dirty="0"/>
              <a:t>Finish “capital budgeting” decision by discussing how to calculate the </a:t>
            </a:r>
            <a:r>
              <a:rPr lang="en-US" u="sng" dirty="0"/>
              <a:t>discount rate</a:t>
            </a:r>
            <a:r>
              <a:rPr lang="en-US" dirty="0"/>
              <a:t> for project valuation</a:t>
            </a:r>
          </a:p>
          <a:p>
            <a:endParaRPr lang="en-US" sz="800" dirty="0"/>
          </a:p>
          <a:p>
            <a:pPr lvl="1"/>
            <a:r>
              <a:rPr lang="en-US" dirty="0"/>
              <a:t>Discuss where interest rates come from</a:t>
            </a:r>
          </a:p>
          <a:p>
            <a:pPr lvl="1"/>
            <a:r>
              <a:rPr lang="en-US" dirty="0"/>
              <a:t>Connection between risk &amp; expected return</a:t>
            </a:r>
          </a:p>
          <a:p>
            <a:pPr lvl="1"/>
            <a:endParaRPr lang="en-US" sz="800" dirty="0"/>
          </a:p>
          <a:p>
            <a:pPr lvl="2"/>
            <a:r>
              <a:rPr lang="en-US" dirty="0"/>
              <a:t>Risk premium </a:t>
            </a:r>
          </a:p>
          <a:p>
            <a:pPr lvl="2"/>
            <a:r>
              <a:rPr lang="en-US" dirty="0"/>
              <a:t>CAPM [a model for risk premium]</a:t>
            </a:r>
          </a:p>
          <a:p>
            <a:pPr lvl="2"/>
            <a:endParaRPr lang="en-US" sz="800" dirty="0"/>
          </a:p>
          <a:p>
            <a:pPr lvl="1"/>
            <a:r>
              <a:rPr lang="en-US" dirty="0"/>
              <a:t>Bringing it together: the “cost of capital”</a:t>
            </a:r>
            <a:endParaRPr lang="en-US" sz="800" dirty="0"/>
          </a:p>
          <a:p>
            <a:pPr lvl="1"/>
            <a:r>
              <a:rPr lang="en-US" dirty="0"/>
              <a:t>Apply tools using “Worldwide Paper” case [again]</a:t>
            </a:r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1FC2F-506F-D749-8742-7D69A32A7334}"/>
              </a:ext>
            </a:extLst>
          </p:cNvPr>
          <p:cNvSpPr/>
          <p:nvPr/>
        </p:nvSpPr>
        <p:spPr>
          <a:xfrm>
            <a:off x="1060057" y="4573920"/>
            <a:ext cx="7561429" cy="973951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5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Circling back to the discount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attract investors’ funds, a financial manager </a:t>
            </a:r>
            <a:r>
              <a:rPr lang="en-US" u="sng" dirty="0"/>
              <a:t>must</a:t>
            </a:r>
            <a:r>
              <a:rPr lang="en-US" dirty="0"/>
              <a:t> offer an expected return at least as good as what investors could get elsewhere for investments of similar risk &amp; length</a:t>
            </a:r>
          </a:p>
          <a:p>
            <a:endParaRPr lang="en-US" sz="800" dirty="0"/>
          </a:p>
          <a:p>
            <a:pPr lvl="1"/>
            <a:r>
              <a:rPr lang="en-US" dirty="0"/>
              <a:t>This return is </a:t>
            </a:r>
            <a:r>
              <a:rPr lang="en-US" b="1" dirty="0"/>
              <a:t>“opportunity cost” </a:t>
            </a:r>
            <a:r>
              <a:rPr lang="en-US" dirty="0"/>
              <a:t>investors forgo by investing with you</a:t>
            </a:r>
          </a:p>
          <a:p>
            <a:pPr lvl="1"/>
            <a:r>
              <a:rPr lang="en-US" dirty="0"/>
              <a:t>Thus, it becomes firm’s </a:t>
            </a:r>
            <a:r>
              <a:rPr lang="en-US" b="1" dirty="0"/>
              <a:t>“cost of capital” </a:t>
            </a:r>
            <a:r>
              <a:rPr lang="en-US" i="1" dirty="0"/>
              <a:t>[the return investors demand]</a:t>
            </a:r>
          </a:p>
          <a:p>
            <a:pPr lvl="1"/>
            <a:r>
              <a:rPr lang="en-US" dirty="0"/>
              <a:t>Therefore, it will be the </a:t>
            </a:r>
            <a:r>
              <a:rPr lang="en-US" b="1" dirty="0"/>
              <a:t>“discount rate” </a:t>
            </a:r>
            <a:r>
              <a:rPr lang="en-US" dirty="0"/>
              <a:t>we use in valuation</a:t>
            </a:r>
          </a:p>
          <a:p>
            <a:pPr lvl="1"/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8526F-8CE5-674B-8FE7-8A485AA39C86}"/>
              </a:ext>
            </a:extLst>
          </p:cNvPr>
          <p:cNvSpPr txBox="1"/>
          <p:nvPr/>
        </p:nvSpPr>
        <p:spPr>
          <a:xfrm>
            <a:off x="2882351" y="5053851"/>
            <a:ext cx="5851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Why is it the appropriate discount rate?  I.e., if NPV &lt; 0 using this discount rate, what would firm be better off doing?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4A64EC-3B16-FD46-89E3-C9FC91D2D0EB}"/>
              </a:ext>
            </a:extLst>
          </p:cNvPr>
          <p:cNvCxnSpPr>
            <a:cxnSpLocks/>
          </p:cNvCxnSpPr>
          <p:nvPr/>
        </p:nvCxnSpPr>
        <p:spPr>
          <a:xfrm flipV="1">
            <a:off x="5712072" y="4472217"/>
            <a:ext cx="0" cy="58163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84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Why the cost of capital is important</a:t>
            </a:r>
            <a:endParaRPr lang="en-US" b="1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295030" cy="4778022"/>
          </a:xfrm>
        </p:spPr>
        <p:txBody>
          <a:bodyPr>
            <a:normAutofit/>
          </a:bodyPr>
          <a:lstStyle/>
          <a:p>
            <a:r>
              <a:rPr lang="en-US" dirty="0"/>
              <a:t>If project’s expected return is less than cost of capital (i.e., investors’ opportunity cost), </a:t>
            </a:r>
            <a:r>
              <a:rPr lang="en-US" u="sng" dirty="0"/>
              <a:t>both</a:t>
            </a:r>
            <a:r>
              <a:rPr lang="en-US" dirty="0"/>
              <a:t> the firm and its investors would be better off investing the cash in that </a:t>
            </a:r>
            <a:r>
              <a:rPr lang="en-US" i="1" u="sng" dirty="0"/>
              <a:t>other</a:t>
            </a:r>
            <a:r>
              <a:rPr lang="en-US" dirty="0"/>
              <a:t> opportunity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Investors could earn a higher return elsewhere for similar risk</a:t>
            </a:r>
          </a:p>
          <a:p>
            <a:pPr lvl="1"/>
            <a:r>
              <a:rPr lang="en-US" u="sng" dirty="0"/>
              <a:t>Same for firm</a:t>
            </a:r>
            <a:r>
              <a:rPr lang="en-US" dirty="0"/>
              <a:t>; even if it had cash to fund project, it would be better off investing that cash in the other opportunity of similar risk</a:t>
            </a:r>
          </a:p>
          <a:p>
            <a:pPr lvl="1"/>
            <a:r>
              <a:rPr lang="en-US" dirty="0"/>
              <a:t>For this reason, cost of capital is sometimes called the </a:t>
            </a:r>
            <a:r>
              <a:rPr lang="en-US" b="1" dirty="0"/>
              <a:t>“hurdle rate”</a:t>
            </a:r>
            <a:r>
              <a:rPr lang="en-US" dirty="0"/>
              <a:t>;</a:t>
            </a:r>
            <a:r>
              <a:rPr lang="en-US" b="1" dirty="0"/>
              <a:t> </a:t>
            </a:r>
            <a:r>
              <a:rPr lang="en-US" dirty="0"/>
              <a:t>if project’s return does not exceed hurdle, don’t do it!</a:t>
            </a:r>
          </a:p>
          <a:p>
            <a:pPr lvl="1"/>
            <a:endParaRPr lang="en-US" dirty="0"/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9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cost of capital for a firm (or project)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9867020" cy="4778022"/>
          </a:xfrm>
        </p:spPr>
        <p:txBody>
          <a:bodyPr>
            <a:normAutofit/>
          </a:bodyPr>
          <a:lstStyle/>
          <a:p>
            <a:r>
              <a:rPr lang="en-US" dirty="0"/>
              <a:t>As mentioned, firms typically use two sources of funding, debt &amp; equity, to acquire their assets</a:t>
            </a:r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Let </a:t>
            </a:r>
            <a:r>
              <a:rPr lang="en-US" b="1" i="1" dirty="0" err="1"/>
              <a:t>r</a:t>
            </a:r>
            <a:r>
              <a:rPr lang="en-US" b="1" i="1" baseline="-25000" dirty="0" err="1"/>
              <a:t>D</a:t>
            </a:r>
            <a:r>
              <a:rPr lang="en-US" b="1" i="1" dirty="0"/>
              <a:t> </a:t>
            </a:r>
            <a:r>
              <a:rPr lang="en-US" dirty="0"/>
              <a:t>equal return demanded by firm’s </a:t>
            </a:r>
            <a:r>
              <a:rPr lang="en-US" u="sng" dirty="0"/>
              <a:t>debt</a:t>
            </a:r>
            <a:r>
              <a:rPr lang="en-US" dirty="0"/>
              <a:t> investors</a:t>
            </a:r>
          </a:p>
          <a:p>
            <a:pPr lvl="1"/>
            <a:r>
              <a:rPr lang="en-US" dirty="0"/>
              <a:t>Let </a:t>
            </a:r>
            <a:r>
              <a:rPr lang="en-US" b="1" i="1" dirty="0" err="1"/>
              <a:t>r</a:t>
            </a:r>
            <a:r>
              <a:rPr lang="en-US" b="1" i="1" baseline="-25000" dirty="0" err="1"/>
              <a:t>E</a:t>
            </a:r>
            <a:r>
              <a:rPr lang="en-US" dirty="0"/>
              <a:t> equal return demanded by firm’s </a:t>
            </a:r>
            <a:r>
              <a:rPr lang="en-US" u="sng" dirty="0"/>
              <a:t>equity</a:t>
            </a:r>
            <a:r>
              <a:rPr lang="en-US" dirty="0"/>
              <a:t> investors</a:t>
            </a:r>
          </a:p>
          <a:p>
            <a:pPr lvl="1"/>
            <a:r>
              <a:rPr lang="en-US" dirty="0"/>
              <a:t>Let </a:t>
            </a:r>
            <a:r>
              <a:rPr lang="en-US" b="1" i="1" dirty="0"/>
              <a:t>T</a:t>
            </a:r>
            <a:r>
              <a:rPr lang="en-US" dirty="0"/>
              <a:t> equal firm’s corporate tax rate</a:t>
            </a:r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DE50D-3726-6D4D-B6CB-EF19FA0C0CA8}"/>
              </a:ext>
            </a:extLst>
          </p:cNvPr>
          <p:cNvSpPr txBox="1"/>
          <p:nvPr/>
        </p:nvSpPr>
        <p:spPr>
          <a:xfrm>
            <a:off x="1582749" y="4689741"/>
            <a:ext cx="5851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How do you think we combine these to find the firm’s </a:t>
            </a:r>
            <a:r>
              <a:rPr lang="en-US" sz="2400" u="sng" dirty="0">
                <a:solidFill>
                  <a:srgbClr val="A51417"/>
                </a:solidFill>
              </a:rPr>
              <a:t>average</a:t>
            </a:r>
            <a:r>
              <a:rPr lang="en-US" sz="2400" dirty="0">
                <a:solidFill>
                  <a:srgbClr val="A51417"/>
                </a:solidFill>
              </a:rPr>
              <a:t> cost of capital?</a:t>
            </a:r>
            <a:endParaRPr lang="en-US" sz="2400" u="sng" dirty="0">
              <a:solidFill>
                <a:srgbClr val="A51417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57A5D1-61D6-5143-8413-7868FD8942FC}"/>
              </a:ext>
            </a:extLst>
          </p:cNvPr>
          <p:cNvCxnSpPr>
            <a:cxnSpLocks/>
          </p:cNvCxnSpPr>
          <p:nvPr/>
        </p:nvCxnSpPr>
        <p:spPr>
          <a:xfrm flipV="1">
            <a:off x="4083326" y="4081621"/>
            <a:ext cx="0" cy="58163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average cost of capital (WACC)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2882351"/>
            <a:ext cx="10612455" cy="32672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8BAE3-BD27-B4CC-EEE4-9E99A5AB27DB}"/>
              </a:ext>
            </a:extLst>
          </p:cNvPr>
          <p:cNvSpPr txBox="1"/>
          <p:nvPr/>
        </p:nvSpPr>
        <p:spPr>
          <a:xfrm>
            <a:off x="2133600" y="3988189"/>
            <a:ext cx="6830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Weights on two financing costs are determined by how much of each type the firm uses;             </a:t>
            </a:r>
            <a:r>
              <a:rPr lang="en-US" sz="2400" dirty="0">
                <a:solidFill>
                  <a:srgbClr val="566568"/>
                </a:solidFill>
              </a:rPr>
              <a:t>e.g., % fin. from equity = </a:t>
            </a:r>
            <a:r>
              <a:rPr lang="en-US" sz="2400" i="1" dirty="0">
                <a:solidFill>
                  <a:srgbClr val="566568"/>
                </a:solidFill>
              </a:rPr>
              <a:t>E</a:t>
            </a:r>
            <a:r>
              <a:rPr lang="en-US" sz="2400" dirty="0">
                <a:solidFill>
                  <a:srgbClr val="566568"/>
                </a:solidFill>
              </a:rPr>
              <a:t>/(</a:t>
            </a:r>
            <a:r>
              <a:rPr lang="en-US" sz="2400" i="1" dirty="0">
                <a:solidFill>
                  <a:srgbClr val="566568"/>
                </a:solidFill>
              </a:rPr>
              <a:t>D</a:t>
            </a:r>
            <a:r>
              <a:rPr lang="en-US" sz="2400" dirty="0">
                <a:solidFill>
                  <a:srgbClr val="566568"/>
                </a:solidFill>
              </a:rPr>
              <a:t>+</a:t>
            </a:r>
            <a:r>
              <a:rPr lang="en-US" sz="2400" i="1" dirty="0">
                <a:solidFill>
                  <a:srgbClr val="566568"/>
                </a:solidFill>
              </a:rPr>
              <a:t>E</a:t>
            </a:r>
            <a:r>
              <a:rPr lang="en-US" sz="2400" dirty="0">
                <a:solidFill>
                  <a:srgbClr val="566568"/>
                </a:solidFill>
              </a:rPr>
              <a:t>), where </a:t>
            </a:r>
            <a:r>
              <a:rPr lang="en-US" sz="2400" i="1" dirty="0">
                <a:solidFill>
                  <a:srgbClr val="566568"/>
                </a:solidFill>
              </a:rPr>
              <a:t>E</a:t>
            </a:r>
            <a:r>
              <a:rPr lang="en-US" sz="2400" dirty="0">
                <a:solidFill>
                  <a:srgbClr val="566568"/>
                </a:solidFill>
              </a:rPr>
              <a:t> = value of firm’s equity, and </a:t>
            </a:r>
            <a:r>
              <a:rPr lang="en-US" sz="2400" i="1" dirty="0">
                <a:solidFill>
                  <a:srgbClr val="566568"/>
                </a:solidFill>
              </a:rPr>
              <a:t>D</a:t>
            </a:r>
            <a:r>
              <a:rPr lang="en-US" sz="2400" dirty="0">
                <a:solidFill>
                  <a:srgbClr val="566568"/>
                </a:solidFill>
              </a:rPr>
              <a:t> equals debt value</a:t>
            </a:r>
            <a:endParaRPr lang="en-US" sz="2400" i="1" dirty="0">
              <a:solidFill>
                <a:srgbClr val="566568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AC58CB-3439-24D9-E4F8-4C95F603759A}"/>
              </a:ext>
            </a:extLst>
          </p:cNvPr>
          <p:cNvCxnSpPr>
            <a:cxnSpLocks/>
          </p:cNvCxnSpPr>
          <p:nvPr/>
        </p:nvCxnSpPr>
        <p:spPr>
          <a:xfrm flipH="1" flipV="1">
            <a:off x="4672562" y="2957330"/>
            <a:ext cx="437321" cy="943340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931B61-C111-5233-804B-14749346727C}"/>
              </a:ext>
            </a:extLst>
          </p:cNvPr>
          <p:cNvCxnSpPr>
            <a:cxnSpLocks/>
          </p:cNvCxnSpPr>
          <p:nvPr/>
        </p:nvCxnSpPr>
        <p:spPr>
          <a:xfrm flipV="1">
            <a:off x="6559924" y="2926884"/>
            <a:ext cx="526676" cy="1014714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-up of a face&#10;&#10;Description automatically generated">
            <a:extLst>
              <a:ext uri="{FF2B5EF4-FFF2-40B4-BE49-F238E27FC236}">
                <a16:creationId xmlns:a16="http://schemas.microsoft.com/office/drawing/2014/main" id="{6B179A20-17F6-B036-F2FE-45A0C1EAB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544" y="1654603"/>
            <a:ext cx="9872365" cy="12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5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WACC explained </a:t>
            </a:r>
            <a:r>
              <a:rPr lang="en-US" i="1" dirty="0"/>
              <a:t>[Part 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8" y="2882351"/>
            <a:ext cx="10612455" cy="32672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800" dirty="0"/>
          </a:p>
          <a:p>
            <a:pPr lvl="1"/>
            <a:endParaRPr lang="en-US" sz="400" dirty="0"/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73C99-AAE8-9C2B-FBAF-61F6132ED6E9}"/>
              </a:ext>
            </a:extLst>
          </p:cNvPr>
          <p:cNvSpPr txBox="1"/>
          <p:nvPr/>
        </p:nvSpPr>
        <p:spPr>
          <a:xfrm>
            <a:off x="2581906" y="3792295"/>
            <a:ext cx="3275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 of equity used </a:t>
            </a:r>
            <a:r>
              <a:rPr lang="en-US" sz="2400" i="1" dirty="0"/>
              <a:t>[i.e., required return of firm’s equity investors]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FA01B5-6122-81DC-2125-8B07763742AC}"/>
              </a:ext>
            </a:extLst>
          </p:cNvPr>
          <p:cNvCxnSpPr>
            <a:cxnSpLocks/>
          </p:cNvCxnSpPr>
          <p:nvPr/>
        </p:nvCxnSpPr>
        <p:spPr>
          <a:xfrm flipV="1">
            <a:off x="5328401" y="2991922"/>
            <a:ext cx="239024" cy="7436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3082D7-4149-86B0-268A-12154D557B8A}"/>
              </a:ext>
            </a:extLst>
          </p:cNvPr>
          <p:cNvCxnSpPr>
            <a:cxnSpLocks/>
          </p:cNvCxnSpPr>
          <p:nvPr/>
        </p:nvCxnSpPr>
        <p:spPr>
          <a:xfrm flipV="1">
            <a:off x="9799048" y="3037308"/>
            <a:ext cx="0" cy="7833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19D322-845E-4BF5-3C2D-F11614AEBD08}"/>
              </a:ext>
            </a:extLst>
          </p:cNvPr>
          <p:cNvSpPr txBox="1"/>
          <p:nvPr/>
        </p:nvSpPr>
        <p:spPr>
          <a:xfrm>
            <a:off x="7611167" y="3858012"/>
            <a:ext cx="38188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After-tax cost of debt </a:t>
            </a:r>
            <a:r>
              <a:rPr lang="en-US" sz="2400" i="1" dirty="0"/>
              <a:t>[i.e., required return of firm’s debt investors, adjusted down for taxes]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2F437-026F-BB30-4163-436338D37760}"/>
              </a:ext>
            </a:extLst>
          </p:cNvPr>
          <p:cNvSpPr txBox="1"/>
          <p:nvPr/>
        </p:nvSpPr>
        <p:spPr>
          <a:xfrm>
            <a:off x="7551644" y="5488896"/>
            <a:ext cx="3361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51417"/>
                </a:solidFill>
              </a:rPr>
              <a:t>Why is cost of debt reduced by taxes?</a:t>
            </a:r>
            <a:endParaRPr lang="en-US" sz="2400" i="1" dirty="0">
              <a:solidFill>
                <a:srgbClr val="A51417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32A6E-1AD8-629A-79D7-DB10A7CB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87" y="1806368"/>
            <a:ext cx="10190796" cy="12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WACC, cost of debt, and taxes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Firm pays </a:t>
                </a:r>
                <a:r>
                  <a:rPr lang="en-US" i="1" dirty="0" err="1"/>
                  <a:t>r</a:t>
                </a:r>
                <a:r>
                  <a:rPr lang="en-US" i="1" baseline="-25000" dirty="0" err="1"/>
                  <a:t>d</a:t>
                </a:r>
                <a:r>
                  <a:rPr lang="en-US" dirty="0"/>
                  <a:t> to debtors as interest expense</a:t>
                </a:r>
              </a:p>
              <a:p>
                <a:r>
                  <a:rPr lang="en-US" dirty="0"/>
                  <a:t>But then saves </a:t>
                </a:r>
                <a:r>
                  <a:rPr lang="en-US" i="1" dirty="0" err="1"/>
                  <a:t>r</a:t>
                </a:r>
                <a:r>
                  <a:rPr lang="en-US" i="1" baseline="-25000" dirty="0" err="1"/>
                  <a:t>d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i="1" dirty="0"/>
                  <a:t>T</a:t>
                </a:r>
                <a:r>
                  <a:rPr lang="en-US" dirty="0"/>
                  <a:t> in taxes [because the interest expense reduces the firm’s taxable income by </a:t>
                </a:r>
                <a:r>
                  <a:rPr lang="en-US" i="1" dirty="0" err="1"/>
                  <a:t>r</a:t>
                </a:r>
                <a:r>
                  <a:rPr lang="en-US" i="1" baseline="-25000" dirty="0" err="1"/>
                  <a:t>d</a:t>
                </a:r>
                <a:r>
                  <a:rPr lang="en-US" dirty="0"/>
                  <a:t>]</a:t>
                </a:r>
              </a:p>
              <a:p>
                <a:r>
                  <a:rPr lang="en-US" dirty="0"/>
                  <a:t>Hence, true “</a:t>
                </a:r>
                <a:r>
                  <a:rPr lang="en-US" u="sng" dirty="0"/>
                  <a:t>effective cost of debt</a:t>
                </a:r>
                <a:r>
                  <a:rPr lang="en-US" dirty="0"/>
                  <a:t>”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sz="800" dirty="0"/>
              </a:p>
              <a:p>
                <a:pPr lvl="2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5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18FF0C8-B03A-EC4F-A4E3-1F5126E5B80B}"/>
              </a:ext>
            </a:extLst>
          </p:cNvPr>
          <p:cNvSpPr txBox="1"/>
          <p:nvPr/>
        </p:nvSpPr>
        <p:spPr>
          <a:xfrm>
            <a:off x="613796" y="3989211"/>
            <a:ext cx="8791462" cy="954107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This is where value created by interest tax shield is captured; remember, we ignored it in estimate FCFs</a:t>
            </a:r>
            <a:endParaRPr lang="en-US" sz="28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38A68-3ECD-7E47-823D-083481A33DFB}"/>
              </a:ext>
            </a:extLst>
          </p:cNvPr>
          <p:cNvSpPr txBox="1"/>
          <p:nvPr/>
        </p:nvSpPr>
        <p:spPr>
          <a:xfrm>
            <a:off x="622937" y="5134194"/>
            <a:ext cx="6584687" cy="954107"/>
          </a:xfrm>
          <a:prstGeom prst="rect">
            <a:avLst/>
          </a:prstGeom>
          <a:solidFill>
            <a:srgbClr val="69787B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And because dividends are not tax deductible, there is no tax impact for </a:t>
            </a:r>
            <a:r>
              <a:rPr lang="en-US" sz="2800" i="1" dirty="0"/>
              <a:t>r</a:t>
            </a:r>
            <a:r>
              <a:rPr lang="en-US" sz="2800" i="1" baseline="-250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07742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Interpreting</a:t>
            </a:r>
            <a:r>
              <a:rPr lang="en-US" dirty="0"/>
              <a:t> WACC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682029" cy="4778022"/>
          </a:xfrm>
        </p:spPr>
        <p:txBody>
          <a:bodyPr>
            <a:normAutofit/>
          </a:bodyPr>
          <a:lstStyle/>
          <a:p>
            <a:r>
              <a:rPr lang="en-US" dirty="0"/>
              <a:t>The cost of capital reflects the </a:t>
            </a:r>
            <a:r>
              <a:rPr lang="en-US" b="1" dirty="0"/>
              <a:t>required return</a:t>
            </a:r>
            <a:r>
              <a:rPr lang="en-US" dirty="0"/>
              <a:t> on the firm’s assets, which sum up to its total capital (debt + equity)</a:t>
            </a:r>
          </a:p>
          <a:p>
            <a:endParaRPr lang="en-US" sz="800" dirty="0"/>
          </a:p>
          <a:p>
            <a:pPr lvl="1"/>
            <a:r>
              <a:rPr lang="en-US" dirty="0"/>
              <a:t>It reflects the market’s perception of how risky the assets are             </a:t>
            </a:r>
            <a:r>
              <a:rPr lang="en-US" i="1" dirty="0"/>
              <a:t>[i.e., riskier cash flows </a:t>
            </a:r>
            <a:r>
              <a:rPr lang="en-US" i="1" dirty="0">
                <a:sym typeface="Wingdings" pitchFamily="2" charset="2"/>
              </a:rPr>
              <a:t> higher required return demanded by investors]</a:t>
            </a:r>
          </a:p>
          <a:p>
            <a:pPr lvl="1"/>
            <a:r>
              <a:rPr lang="en-US" dirty="0">
                <a:sym typeface="Wingdings" pitchFamily="2" charset="2"/>
              </a:rPr>
              <a:t>And it reflects the the mixture of debt &amp; equity used</a:t>
            </a:r>
            <a:endParaRPr lang="en-US" dirty="0"/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3779A-94E7-3F4A-F9F6-A02B2EFA3E96}"/>
              </a:ext>
            </a:extLst>
          </p:cNvPr>
          <p:cNvSpPr txBox="1"/>
          <p:nvPr/>
        </p:nvSpPr>
        <p:spPr>
          <a:xfrm>
            <a:off x="1486920" y="4711423"/>
            <a:ext cx="6130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making “capital structure” decision, manager typically chooses the mixture to </a:t>
            </a:r>
            <a:r>
              <a:rPr lang="en-US" sz="2400" b="1" u="sng" dirty="0"/>
              <a:t>minimize</a:t>
            </a:r>
            <a:r>
              <a:rPr lang="en-US" sz="2400" b="1" dirty="0"/>
              <a:t> the cost of capital</a:t>
            </a:r>
            <a:endParaRPr lang="en-US" sz="2400" i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3A96E8-6A9D-19B7-F073-2C6FF5E4DE76}"/>
              </a:ext>
            </a:extLst>
          </p:cNvPr>
          <p:cNvCxnSpPr>
            <a:cxnSpLocks/>
          </p:cNvCxnSpPr>
          <p:nvPr/>
        </p:nvCxnSpPr>
        <p:spPr>
          <a:xfrm flipV="1">
            <a:off x="4938436" y="3990892"/>
            <a:ext cx="0" cy="7205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9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WACC will vary considerably by company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71953278-F2FE-6744-8211-4C4B0AC5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04" y="1602121"/>
            <a:ext cx="8398268" cy="4300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96708B-A22A-DA47-88F5-E73F99D881D4}"/>
              </a:ext>
            </a:extLst>
          </p:cNvPr>
          <p:cNvSpPr txBox="1"/>
          <p:nvPr/>
        </p:nvSpPr>
        <p:spPr>
          <a:xfrm>
            <a:off x="9451892" y="1994008"/>
            <a:ext cx="25366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Do these differences make sense? I.e., What causes this variation?</a:t>
            </a:r>
            <a:endParaRPr lang="en-US" sz="2400" i="1" dirty="0">
              <a:solidFill>
                <a:srgbClr val="A5141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C3305-7F72-2044-B2AD-000AFA77982A}"/>
              </a:ext>
            </a:extLst>
          </p:cNvPr>
          <p:cNvSpPr txBox="1"/>
          <p:nvPr/>
        </p:nvSpPr>
        <p:spPr>
          <a:xfrm>
            <a:off x="9324007" y="5256180"/>
            <a:ext cx="2355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13.3: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365737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WACC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431512" cy="4778022"/>
          </a:xfrm>
        </p:spPr>
        <p:txBody>
          <a:bodyPr>
            <a:normAutofit/>
          </a:bodyPr>
          <a:lstStyle/>
          <a:p>
            <a:r>
              <a:rPr lang="en-US" dirty="0"/>
              <a:t>When calculating % of financing from debt &amp; equity, use </a:t>
            </a:r>
            <a:r>
              <a:rPr lang="en-US" u="sng" dirty="0"/>
              <a:t>market</a:t>
            </a:r>
            <a:r>
              <a:rPr lang="en-US" dirty="0"/>
              <a:t> values of debt and equity </a:t>
            </a:r>
          </a:p>
          <a:p>
            <a:r>
              <a:rPr lang="en-US" dirty="0"/>
              <a:t>Use </a:t>
            </a:r>
            <a:r>
              <a:rPr lang="en-US" u="sng" dirty="0"/>
              <a:t>forward-looking</a:t>
            </a:r>
            <a:r>
              <a:rPr lang="en-US" dirty="0"/>
              <a:t> </a:t>
            </a:r>
            <a:r>
              <a:rPr lang="en-US" i="1" dirty="0" err="1"/>
              <a:t>r</a:t>
            </a:r>
            <a:r>
              <a:rPr lang="en-US" i="1" baseline="-25000" dirty="0" err="1"/>
              <a:t>d</a:t>
            </a:r>
            <a:r>
              <a:rPr lang="en-US" dirty="0"/>
              <a:t> &amp; </a:t>
            </a:r>
            <a:r>
              <a:rPr lang="en-US" i="1" dirty="0"/>
              <a:t>r</a:t>
            </a:r>
            <a:r>
              <a:rPr lang="en-US" i="1" baseline="-25000" dirty="0"/>
              <a:t>e</a:t>
            </a:r>
            <a:r>
              <a:rPr lang="en-US" dirty="0"/>
              <a:t> demanded by investors</a:t>
            </a:r>
          </a:p>
          <a:p>
            <a:endParaRPr lang="en-US" sz="800" dirty="0"/>
          </a:p>
          <a:p>
            <a:pPr lvl="1"/>
            <a:r>
              <a:rPr lang="en-US" dirty="0"/>
              <a:t>Typically use CAPM and firm’s equity beta to find </a:t>
            </a:r>
            <a:r>
              <a:rPr lang="en-US" i="1" dirty="0"/>
              <a:t>r</a:t>
            </a:r>
            <a:r>
              <a:rPr lang="en-US" i="1" baseline="-25000" dirty="0"/>
              <a:t>e</a:t>
            </a:r>
            <a:endParaRPr lang="en-US" i="1" baseline="-25000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Typically use interest rate on firm’s own bonds or that of firms with similar credit rating to find </a:t>
            </a:r>
            <a:r>
              <a:rPr lang="en-US" i="1" dirty="0" err="1">
                <a:sym typeface="Wingdings" pitchFamily="2" charset="2"/>
              </a:rPr>
              <a:t>r</a:t>
            </a:r>
            <a:r>
              <a:rPr lang="en-US" i="1" baseline="-25000" dirty="0" err="1">
                <a:sym typeface="Wingdings" pitchFamily="2" charset="2"/>
              </a:rPr>
              <a:t>d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i="1" dirty="0">
                <a:sym typeface="Wingdings" pitchFamily="2" charset="2"/>
              </a:rPr>
              <a:t>[more on how to find this in next unit]</a:t>
            </a:r>
            <a:endParaRPr lang="en-US" i="1" dirty="0"/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27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WACC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11238" cy="4778022"/>
          </a:xfrm>
        </p:spPr>
        <p:txBody>
          <a:bodyPr>
            <a:normAutofit/>
          </a:bodyPr>
          <a:lstStyle/>
          <a:p>
            <a:r>
              <a:rPr lang="en-US" dirty="0"/>
              <a:t>Can easily extend basic WACC formula to include other types of financing; e.g., if a company also uses preferred stock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800" dirty="0"/>
          </a:p>
          <a:p>
            <a:pPr lvl="1"/>
            <a:r>
              <a:rPr lang="en-US" dirty="0"/>
              <a:t>Still weight each financing cost by proportion of funding from that source</a:t>
            </a:r>
          </a:p>
          <a:p>
            <a:pPr lvl="1"/>
            <a:endParaRPr lang="en-US" sz="800" dirty="0"/>
          </a:p>
          <a:p>
            <a:pPr lvl="2"/>
            <a:r>
              <a:rPr lang="en-US" i="1" dirty="0">
                <a:sym typeface="Wingdings" pitchFamily="2" charset="2"/>
              </a:rPr>
              <a:t>V = E + D + P, </a:t>
            </a:r>
            <a:r>
              <a:rPr lang="en-US" dirty="0">
                <a:sym typeface="Wingdings" pitchFamily="2" charset="2"/>
              </a:rPr>
              <a:t>where </a:t>
            </a:r>
            <a:r>
              <a:rPr lang="en-US" i="1" dirty="0">
                <a:sym typeface="Wingdings" pitchFamily="2" charset="2"/>
              </a:rPr>
              <a:t>P</a:t>
            </a:r>
            <a:r>
              <a:rPr lang="en-US" dirty="0">
                <a:sym typeface="Wingdings" pitchFamily="2" charset="2"/>
              </a:rPr>
              <a:t> is market value of preferred equity</a:t>
            </a:r>
            <a:endParaRPr lang="en-US" dirty="0"/>
          </a:p>
          <a:p>
            <a:pPr lvl="2"/>
            <a:r>
              <a:rPr lang="en-US" i="1" dirty="0" err="1">
                <a:sym typeface="Wingdings" pitchFamily="2" charset="2"/>
              </a:rPr>
              <a:t>r</a:t>
            </a:r>
            <a:r>
              <a:rPr lang="en-US" i="1" baseline="-25000" dirty="0" err="1">
                <a:sym typeface="Wingdings" pitchFamily="2" charset="2"/>
              </a:rPr>
              <a:t>p</a:t>
            </a:r>
            <a:r>
              <a:rPr lang="en-US" dirty="0">
                <a:sym typeface="Wingdings" pitchFamily="2" charset="2"/>
              </a:rPr>
              <a:t> = cost of preferred equity</a:t>
            </a:r>
          </a:p>
          <a:p>
            <a:endParaRPr lang="en-US" sz="800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BFBF82-0458-E046-B794-D8BD1F9C1AF1}"/>
                  </a:ext>
                </a:extLst>
              </p:cNvPr>
              <p:cNvSpPr txBox="1"/>
              <p:nvPr/>
            </p:nvSpPr>
            <p:spPr>
              <a:xfrm>
                <a:off x="129653" y="2678599"/>
                <a:ext cx="11580125" cy="1024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𝑊𝐴𝐶𝐶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BFBF82-0458-E046-B794-D8BD1F9C1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3" y="2678599"/>
                <a:ext cx="11580125" cy="1024768"/>
              </a:xfrm>
              <a:prstGeom prst="rect">
                <a:avLst/>
              </a:prstGeom>
              <a:blipFill>
                <a:blip r:embed="rId3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6F22751-B29F-0B4C-8BB3-A07F3E50F2A7}"/>
              </a:ext>
            </a:extLst>
          </p:cNvPr>
          <p:cNvSpPr txBox="1"/>
          <p:nvPr/>
        </p:nvSpPr>
        <p:spPr>
          <a:xfrm>
            <a:off x="6939887" y="5163952"/>
            <a:ext cx="362247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A51417"/>
                </a:solidFill>
              </a:rPr>
              <a:t>Anyone know how preferred equity is different than common equity?</a:t>
            </a:r>
            <a:endParaRPr lang="en-US" sz="2100" i="1" dirty="0">
              <a:solidFill>
                <a:srgbClr val="A514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51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assignment – </a:t>
            </a:r>
            <a:r>
              <a:rPr lang="en-US" i="1" dirty="0"/>
              <a:t>Worldwide Paper Company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8519" y="1600200"/>
            <a:ext cx="10901422" cy="4778022"/>
          </a:xfrm>
        </p:spPr>
        <p:txBody>
          <a:bodyPr/>
          <a:lstStyle/>
          <a:p>
            <a:r>
              <a:rPr lang="en-US" dirty="0"/>
              <a:t>Take 45 minutes to answer questions on the Group Case #4 handout, which is again </a:t>
            </a:r>
            <a:r>
              <a:rPr lang="en-US"/>
              <a:t>about the Worldwide </a:t>
            </a:r>
            <a:r>
              <a:rPr lang="en-US" dirty="0"/>
              <a:t>Paper Company</a:t>
            </a:r>
          </a:p>
          <a:p>
            <a:endParaRPr lang="en-US" sz="800" dirty="0"/>
          </a:p>
          <a:p>
            <a:pPr lvl="1"/>
            <a:r>
              <a:rPr lang="en-US" dirty="0"/>
              <a:t>In our earlier group assignment, I told you to use 8% discount rate; this assignment will have you analyze whether that was reasonable</a:t>
            </a:r>
          </a:p>
          <a:p>
            <a:pPr lvl="1"/>
            <a:r>
              <a:rPr lang="en-US" dirty="0"/>
              <a:t>Upload answers as MS Excel, MS Word, or MS PowerPoint file to Canvas</a:t>
            </a:r>
          </a:p>
        </p:txBody>
      </p:sp>
    </p:spTree>
    <p:extLst>
      <p:ext uri="{BB962C8B-B14F-4D97-AF65-F5344CB8AC3E}">
        <p14:creationId xmlns:p14="http://schemas.microsoft.com/office/powerpoint/2010/main" val="22614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Valuing an </a:t>
            </a:r>
            <a:r>
              <a:rPr lang="en-US" u="sng" dirty="0"/>
              <a:t>entire</a:t>
            </a:r>
            <a:r>
              <a:rPr lang="en-US" dirty="0"/>
              <a:t> company </a:t>
            </a:r>
            <a:r>
              <a:rPr lang="en-US" i="1" dirty="0"/>
              <a:t>[revisited]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 have everything needed to value an entire firm!                               </a:t>
            </a:r>
            <a:r>
              <a:rPr lang="en-US" i="1" dirty="0"/>
              <a:t>[I.e., the value of all the firm’s assets &amp; projects]</a:t>
            </a:r>
          </a:p>
          <a:p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C13D72-D696-6E44-956B-75B5425AF981}"/>
                  </a:ext>
                </a:extLst>
              </p:cNvPr>
              <p:cNvSpPr txBox="1"/>
              <p:nvPr/>
            </p:nvSpPr>
            <p:spPr>
              <a:xfrm>
                <a:off x="622937" y="3042410"/>
                <a:ext cx="10856148" cy="882229"/>
              </a:xfrm>
              <a:prstGeom prst="rect">
                <a:avLst/>
              </a:prstGeom>
              <a:solidFill>
                <a:srgbClr val="E1E1E1">
                  <a:alpha val="30000"/>
                </a:srgb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𝐹𝑖𝑟𝑚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𝐶𝑎𝑠h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𝐹𝐶𝐹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𝑤𝑎𝑐𝑐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𝑤𝑎𝑐𝑐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𝑤𝑎𝑐𝑐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C13D72-D696-6E44-956B-75B5425AF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7" y="3042410"/>
                <a:ext cx="10856148" cy="882229"/>
              </a:xfrm>
              <a:prstGeom prst="rect">
                <a:avLst/>
              </a:prstGeom>
              <a:blipFill>
                <a:blip r:embed="rId3"/>
                <a:stretch>
                  <a:fillRect t="-1408"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C73BAF5-9CD2-4B48-8064-80831F7F95CE}"/>
              </a:ext>
            </a:extLst>
          </p:cNvPr>
          <p:cNvSpPr txBox="1"/>
          <p:nvPr/>
        </p:nvSpPr>
        <p:spPr>
          <a:xfrm>
            <a:off x="3740317" y="4856913"/>
            <a:ext cx="39146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WACC is appropriate discount rate when valuing entire firm as it captures average risk of firm’s FCFs</a:t>
            </a:r>
            <a:endParaRPr lang="en-US" sz="2100" u="sng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3244C7-9AD6-0F4D-B4D9-8B61328AA643}"/>
              </a:ext>
            </a:extLst>
          </p:cNvPr>
          <p:cNvCxnSpPr>
            <a:cxnSpLocks/>
          </p:cNvCxnSpPr>
          <p:nvPr/>
        </p:nvCxnSpPr>
        <p:spPr>
          <a:xfrm flipV="1">
            <a:off x="5477949" y="4110978"/>
            <a:ext cx="0" cy="723035"/>
          </a:xfrm>
          <a:prstGeom prst="straightConnector1">
            <a:avLst/>
          </a:prstGeom>
          <a:ln w="38100">
            <a:solidFill>
              <a:srgbClr val="A5141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14B4B-C6D2-C048-964A-3021CC9D569B}"/>
              </a:ext>
            </a:extLst>
          </p:cNvPr>
          <p:cNvSpPr/>
          <p:nvPr/>
        </p:nvSpPr>
        <p:spPr>
          <a:xfrm>
            <a:off x="7207396" y="3483524"/>
            <a:ext cx="881382" cy="5088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B4524-47BA-E64F-8657-1EE83143AF7F}"/>
              </a:ext>
            </a:extLst>
          </p:cNvPr>
          <p:cNvSpPr/>
          <p:nvPr/>
        </p:nvSpPr>
        <p:spPr>
          <a:xfrm>
            <a:off x="5037258" y="3483524"/>
            <a:ext cx="881382" cy="5088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1AD15E-120A-EC44-9DA5-905AA96E1B4A}"/>
              </a:ext>
            </a:extLst>
          </p:cNvPr>
          <p:cNvSpPr/>
          <p:nvPr/>
        </p:nvSpPr>
        <p:spPr>
          <a:xfrm>
            <a:off x="10150731" y="3480372"/>
            <a:ext cx="881382" cy="508839"/>
          </a:xfrm>
          <a:prstGeom prst="rect">
            <a:avLst/>
          </a:prstGeom>
          <a:solidFill>
            <a:srgbClr val="A51417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44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Valuing a project using NPV </a:t>
            </a:r>
            <a:r>
              <a:rPr lang="en-US" i="1" dirty="0"/>
              <a:t>[revisited]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WACC is the appropriate discount rate for projects of </a:t>
            </a:r>
            <a:r>
              <a:rPr lang="en-US" u="sng" dirty="0"/>
              <a:t>similar</a:t>
            </a:r>
            <a:r>
              <a:rPr lang="en-US" dirty="0"/>
              <a:t> riskiness to the firm’s existing operations</a:t>
            </a:r>
          </a:p>
          <a:p>
            <a:r>
              <a:rPr lang="en-US" i="1" dirty="0"/>
              <a:t>But, if riskiness of project differs, adjustments needed</a:t>
            </a:r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  <a:p>
            <a:pPr lvl="1"/>
            <a:endParaRPr lang="en-US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CF338E-311F-4042-BE70-798377B40F28}"/>
              </a:ext>
            </a:extLst>
          </p:cNvPr>
          <p:cNvSpPr txBox="1"/>
          <p:nvPr/>
        </p:nvSpPr>
        <p:spPr>
          <a:xfrm>
            <a:off x="561464" y="3537051"/>
            <a:ext cx="10498950" cy="1384995"/>
          </a:xfrm>
          <a:prstGeom prst="rect">
            <a:avLst/>
          </a:prstGeom>
          <a:solidFill>
            <a:srgbClr val="E1E1E1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Key takeaway: </a:t>
            </a:r>
            <a:r>
              <a:rPr lang="en-US" sz="2800" dirty="0"/>
              <a:t>Discount rate needs to reflect riskiness of the cash flows; i.e., it will be the return the investors (or firm) could get elsewhere on investment of similar risk</a:t>
            </a:r>
          </a:p>
        </p:txBody>
      </p:sp>
    </p:spTree>
    <p:extLst>
      <p:ext uri="{BB962C8B-B14F-4D97-AF65-F5344CB8AC3E}">
        <p14:creationId xmlns:p14="http://schemas.microsoft.com/office/powerpoint/2010/main" val="348267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 to remember about cost of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Households are less willing to supply money to riskier ventures; so, riskier investments (or firms) must offer higher return</a:t>
            </a:r>
          </a:p>
          <a:p>
            <a:endParaRPr lang="en-US" sz="800" dirty="0"/>
          </a:p>
          <a:p>
            <a:pPr lvl="1"/>
            <a:r>
              <a:rPr lang="en-US" b="1" dirty="0"/>
              <a:t>Required return = risk-free rate + risk premium</a:t>
            </a:r>
          </a:p>
          <a:p>
            <a:pPr marL="914400" lvl="2" indent="0">
              <a:buNone/>
            </a:pPr>
            <a:endParaRPr lang="en-US" sz="800" dirty="0"/>
          </a:p>
          <a:p>
            <a:r>
              <a:rPr lang="en-US" dirty="0"/>
              <a:t>Firm’s cost of capital, which we find using WACC, reflects investors’ opportunity cost for investments of </a:t>
            </a:r>
            <a:r>
              <a:rPr lang="en-US" u="sng" dirty="0"/>
              <a:t>similar</a:t>
            </a:r>
            <a:r>
              <a:rPr lang="en-US" dirty="0"/>
              <a:t> risk</a:t>
            </a:r>
          </a:p>
          <a:p>
            <a:endParaRPr lang="en-US" sz="800" dirty="0"/>
          </a:p>
          <a:p>
            <a:pPr lvl="1"/>
            <a:r>
              <a:rPr lang="en-US" dirty="0"/>
              <a:t>Hence, firms should only do investment </a:t>
            </a:r>
            <a:r>
              <a:rPr lang="en-US" b="1" dirty="0"/>
              <a:t>if</a:t>
            </a:r>
            <a:r>
              <a:rPr lang="en-US" dirty="0"/>
              <a:t> its return exceeds this cost </a:t>
            </a:r>
            <a:r>
              <a:rPr lang="en-US" i="1" dirty="0"/>
              <a:t>[I.e., only if this is true will the investment create value]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4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going…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890751" cy="4778022"/>
          </a:xfrm>
        </p:spPr>
        <p:txBody>
          <a:bodyPr>
            <a:normAutofit/>
          </a:bodyPr>
          <a:lstStyle/>
          <a:p>
            <a:r>
              <a:rPr lang="en-US" dirty="0"/>
              <a:t>Discussion of </a:t>
            </a:r>
            <a:r>
              <a:rPr lang="en-US" b="1" u="sng" dirty="0"/>
              <a:t>capital budgeting</a:t>
            </a:r>
            <a:r>
              <a:rPr lang="en-US" b="1" dirty="0"/>
              <a:t> </a:t>
            </a:r>
            <a:r>
              <a:rPr lang="en-US" dirty="0"/>
              <a:t>is now done</a:t>
            </a:r>
          </a:p>
          <a:p>
            <a:r>
              <a:rPr lang="en-US" dirty="0"/>
              <a:t>Will next talk about how we can value other assets like corporate bonds and stocks using DCF method, which has two steps:</a:t>
            </a:r>
          </a:p>
          <a:p>
            <a:endParaRPr lang="en-US" sz="800" dirty="0"/>
          </a:p>
          <a:p>
            <a:pPr lvl="1"/>
            <a:r>
              <a:rPr lang="en-US" b="1" dirty="0"/>
              <a:t>Identify the cash flows from owning that asset</a:t>
            </a:r>
          </a:p>
          <a:p>
            <a:pPr lvl="1"/>
            <a:r>
              <a:rPr lang="en-US" b="1" dirty="0"/>
              <a:t>Take present value using correct discount rate</a:t>
            </a:r>
            <a:endParaRPr lang="en-US" sz="800" dirty="0"/>
          </a:p>
          <a:p>
            <a:endParaRPr lang="en-US" sz="800" dirty="0"/>
          </a:p>
          <a:p>
            <a:r>
              <a:rPr lang="en-US" dirty="0"/>
              <a:t>Will also discuss institutional details of these markets</a:t>
            </a:r>
          </a:p>
          <a:p>
            <a:pPr lvl="1"/>
            <a:endParaRPr lang="en-US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6A320-7053-C887-5154-7D40F671A570}"/>
              </a:ext>
            </a:extLst>
          </p:cNvPr>
          <p:cNvSpPr txBox="1"/>
          <p:nvPr/>
        </p:nvSpPr>
        <p:spPr>
          <a:xfrm>
            <a:off x="541899" y="5172280"/>
            <a:ext cx="8455093" cy="523220"/>
          </a:xfrm>
          <a:prstGeom prst="rect">
            <a:avLst/>
          </a:prstGeom>
          <a:solidFill>
            <a:schemeClr val="bg1">
              <a:lumMod val="50000"/>
              <a:alpha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A51417"/>
                </a:solidFill>
              </a:rPr>
              <a:t>But first, any questions before we move on?</a:t>
            </a:r>
          </a:p>
        </p:txBody>
      </p:sp>
    </p:spTree>
    <p:extLst>
      <p:ext uri="{BB962C8B-B14F-4D97-AF65-F5344CB8AC3E}">
        <p14:creationId xmlns:p14="http://schemas.microsoft.com/office/powerpoint/2010/main" val="180058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11444</TotalTime>
  <Words>2465</Words>
  <Application>Microsoft Macintosh PowerPoint</Application>
  <PresentationFormat>Widescreen</PresentationFormat>
  <Paragraphs>370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Cambria Math</vt:lpstr>
      <vt:lpstr>Rockwell</vt:lpstr>
      <vt:lpstr>Times New Roman</vt:lpstr>
      <vt:lpstr>Wingdings</vt:lpstr>
      <vt:lpstr>Office Theme</vt:lpstr>
      <vt:lpstr>FIN 740: Corporate Finance</vt:lpstr>
      <vt:lpstr>Outline for this topic</vt:lpstr>
      <vt:lpstr>Motivation for understanding the cost of capital</vt:lpstr>
      <vt:lpstr>Investor’s required return…</vt:lpstr>
      <vt:lpstr>What determines investors’ required return?</vt:lpstr>
      <vt:lpstr>Determination of risk-free rate</vt:lpstr>
      <vt:lpstr>Determinants of interest rates</vt:lpstr>
      <vt:lpstr>Factor that increases the demand of money</vt:lpstr>
      <vt:lpstr>Factors that reduce the supply of money</vt:lpstr>
      <vt:lpstr>U.S. interest rates and inflation rates, 1962-2018</vt:lpstr>
      <vt:lpstr>Intuition for risk-free rate</vt:lpstr>
      <vt:lpstr>Example yield curve</vt:lpstr>
      <vt:lpstr>Outline for this topic</vt:lpstr>
      <vt:lpstr>Connection between risk and return</vt:lpstr>
      <vt:lpstr>Some evidence on risk &amp; return</vt:lpstr>
      <vt:lpstr>More evidence on risk &amp; return</vt:lpstr>
      <vt:lpstr>How to find the risk premium?</vt:lpstr>
      <vt:lpstr>Interpreting the risk premium of CAPM</vt:lpstr>
      <vt:lpstr>Finding the three CAPM inputs</vt:lpstr>
      <vt:lpstr>A beta is reported for every public stock</vt:lpstr>
      <vt:lpstr>Outline for this topic</vt:lpstr>
      <vt:lpstr>Circling back to the discount rate</vt:lpstr>
      <vt:lpstr>Why the cost of capital is important</vt:lpstr>
      <vt:lpstr>Finding the cost of capital for a firm (or project)</vt:lpstr>
      <vt:lpstr>Weighted average cost of capital (WACC)</vt:lpstr>
      <vt:lpstr>WACC explained [Part 2]</vt:lpstr>
      <vt:lpstr>WACC, cost of debt, and taxes</vt:lpstr>
      <vt:lpstr>Interpreting WACC</vt:lpstr>
      <vt:lpstr>WACC will vary considerably by company</vt:lpstr>
      <vt:lpstr>Estimating WACC</vt:lpstr>
      <vt:lpstr>Extending WACC</vt:lpstr>
      <vt:lpstr>Group assignment – Worldwide Paper Company</vt:lpstr>
      <vt:lpstr>Valuing an entire company [revisited]</vt:lpstr>
      <vt:lpstr>Valuing a project using NPV [revisited]</vt:lpstr>
      <vt:lpstr>Key points to remember about cost of capital</vt:lpstr>
      <vt:lpstr>Where we are going…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116</cp:revision>
  <dcterms:created xsi:type="dcterms:W3CDTF">2013-07-09T17:46:55Z</dcterms:created>
  <dcterms:modified xsi:type="dcterms:W3CDTF">2025-04-28T16:33:20Z</dcterms:modified>
</cp:coreProperties>
</file>