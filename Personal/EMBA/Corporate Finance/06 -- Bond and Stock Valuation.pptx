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267" r:id="rId2"/>
    <p:sldId id="294" r:id="rId3"/>
    <p:sldId id="370" r:id="rId4"/>
    <p:sldId id="415" r:id="rId5"/>
    <p:sldId id="478" r:id="rId6"/>
    <p:sldId id="508" r:id="rId7"/>
    <p:sldId id="521" r:id="rId8"/>
    <p:sldId id="499" r:id="rId9"/>
    <p:sldId id="511" r:id="rId10"/>
    <p:sldId id="417" r:id="rId11"/>
    <p:sldId id="520" r:id="rId12"/>
    <p:sldId id="509" r:id="rId13"/>
    <p:sldId id="514" r:id="rId14"/>
    <p:sldId id="441" r:id="rId15"/>
    <p:sldId id="515" r:id="rId16"/>
    <p:sldId id="336" r:id="rId17"/>
    <p:sldId id="517" r:id="rId18"/>
    <p:sldId id="501" r:id="rId19"/>
    <p:sldId id="513" r:id="rId20"/>
    <p:sldId id="526" r:id="rId21"/>
    <p:sldId id="530" r:id="rId22"/>
    <p:sldId id="522" r:id="rId23"/>
    <p:sldId id="523" r:id="rId24"/>
    <p:sldId id="527" r:id="rId25"/>
    <p:sldId id="528" r:id="rId26"/>
    <p:sldId id="525" r:id="rId27"/>
    <p:sldId id="531" r:id="rId28"/>
    <p:sldId id="532" r:id="rId29"/>
    <p:sldId id="533" r:id="rId30"/>
    <p:sldId id="503" r:id="rId31"/>
    <p:sldId id="502" r:id="rId32"/>
    <p:sldId id="480" r:id="rId33"/>
    <p:sldId id="534" r:id="rId34"/>
    <p:sldId id="535" r:id="rId35"/>
    <p:sldId id="442" r:id="rId36"/>
    <p:sldId id="537" r:id="rId37"/>
    <p:sldId id="505" r:id="rId38"/>
    <p:sldId id="538" r:id="rId39"/>
    <p:sldId id="539" r:id="rId40"/>
    <p:sldId id="547" r:id="rId41"/>
    <p:sldId id="384" r:id="rId42"/>
    <p:sldId id="540" r:id="rId43"/>
    <p:sldId id="541" r:id="rId44"/>
    <p:sldId id="536" r:id="rId45"/>
    <p:sldId id="542" r:id="rId46"/>
    <p:sldId id="543" r:id="rId47"/>
    <p:sldId id="545" r:id="rId48"/>
    <p:sldId id="546" r:id="rId49"/>
    <p:sldId id="500" r:id="rId50"/>
    <p:sldId id="552" r:id="rId51"/>
    <p:sldId id="551" r:id="rId52"/>
    <p:sldId id="557" r:id="rId53"/>
    <p:sldId id="556" r:id="rId54"/>
    <p:sldId id="553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1417"/>
    <a:srgbClr val="800000"/>
    <a:srgbClr val="69787B"/>
    <a:srgbClr val="566568"/>
    <a:srgbClr val="C41039"/>
    <a:srgbClr val="E1E1E1"/>
    <a:srgbClr val="6C7373"/>
    <a:srgbClr val="6978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43" autoAdjust="0"/>
    <p:restoredTop sz="80959"/>
  </p:normalViewPr>
  <p:slideViewPr>
    <p:cSldViewPr snapToGrid="0" snapToObjects="1">
      <p:cViewPr varScale="1">
        <p:scale>
          <a:sx n="102" d="100"/>
          <a:sy n="102" d="100"/>
        </p:scale>
        <p:origin x="856" y="1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E3AD09-9720-9047-BB14-484CD98DBB2F}" type="datetimeFigureOut">
              <a:rPr lang="en-US" smtClean="0"/>
              <a:t>4/28/25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380D64-6F43-4C4D-BE6A-3F3482AA5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390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968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38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16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2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019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6431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541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7675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5618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941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3048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6396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643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7011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6986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8498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6492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2585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7217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6624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0108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1598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8777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605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657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4427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5135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0933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333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7034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6540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859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7344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5055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134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2734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7351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087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2178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9148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3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72550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09476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59834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1705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70134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13048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8807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89057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3953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162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041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230124" y="228600"/>
            <a:ext cx="11731752" cy="6400800"/>
          </a:xfrm>
          <a:prstGeom prst="rect">
            <a:avLst/>
          </a:prstGeom>
          <a:solidFill>
            <a:srgbClr val="6C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4311" y="2253752"/>
            <a:ext cx="6650503" cy="121708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4311" y="3596777"/>
            <a:ext cx="6650503" cy="48083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 descr="1linerev(1c)1000-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25" y="5880328"/>
            <a:ext cx="3608228" cy="56368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328"/>
          <a:stretch/>
        </p:blipFill>
        <p:spPr>
          <a:xfrm>
            <a:off x="8702448" y="464974"/>
            <a:ext cx="3262720" cy="602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32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230124" y="228600"/>
            <a:ext cx="11731752" cy="6400800"/>
          </a:xfrm>
          <a:prstGeom prst="rect">
            <a:avLst/>
          </a:prstGeom>
          <a:solidFill>
            <a:srgbClr val="A5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328"/>
          <a:stretch/>
        </p:blipFill>
        <p:spPr>
          <a:xfrm>
            <a:off x="8702448" y="464974"/>
            <a:ext cx="3262720" cy="60258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4311" y="2253752"/>
            <a:ext cx="6650503" cy="121708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4311" y="3596777"/>
            <a:ext cx="6650503" cy="48083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9" name="Picture 8" descr="1linerev(1c)1000-0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25" y="5880328"/>
            <a:ext cx="3608228" cy="56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172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6C7373"/>
                </a:solidFill>
              </a:defRPr>
            </a:lvl1pPr>
            <a:lvl2pPr>
              <a:defRPr>
                <a:solidFill>
                  <a:srgbClr val="6C7373"/>
                </a:solidFill>
              </a:defRPr>
            </a:lvl2pPr>
            <a:lvl3pPr>
              <a:defRPr>
                <a:solidFill>
                  <a:srgbClr val="6C7373"/>
                </a:solidFill>
              </a:defRPr>
            </a:lvl3pPr>
            <a:lvl4pPr>
              <a:defRPr>
                <a:solidFill>
                  <a:srgbClr val="6C7373"/>
                </a:solidFill>
              </a:defRPr>
            </a:lvl4pPr>
            <a:lvl5pPr>
              <a:defRPr>
                <a:solidFill>
                  <a:srgbClr val="6C737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6C737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514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0905" y="435614"/>
            <a:ext cx="795528" cy="92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591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7671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3059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46647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ash_U_PPT_Template-04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47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217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04800" y="228600"/>
            <a:ext cx="11582400" cy="640080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2937" y="437444"/>
            <a:ext cx="9649953" cy="9801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519" y="1600200"/>
            <a:ext cx="10856148" cy="4778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0905" y="435614"/>
            <a:ext cx="795528" cy="92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81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3" r:id="rId2"/>
    <p:sldLayoutId id="2147483650" r:id="rId3"/>
    <p:sldLayoutId id="2147483660" r:id="rId4"/>
    <p:sldLayoutId id="2147483652" r:id="rId5"/>
    <p:sldLayoutId id="2147483653" r:id="rId6"/>
    <p:sldLayoutId id="2147483654" r:id="rId7"/>
    <p:sldLayoutId id="2147483670" r:id="rId8"/>
    <p:sldLayoutId id="2147483655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rgbClr val="6C7373"/>
          </a:solidFill>
          <a:latin typeface="Times New Roman" charset="0"/>
          <a:ea typeface="Times New Roman" charset="0"/>
          <a:cs typeface="Times New Roman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1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nra.org/finra-data/fixed-income/about-cna-data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f3eSQeGIICSTrP5ozzOaP9-PqJoXBLL38WB04AyezMWoKZcg/viewform?usp=sharing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evals.wustl.edu/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mailto:gormley@wustl.edu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3CDB3-375F-9547-B02C-641B45386B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 740: Corporate Finance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897D4F-E75A-3D44-9E5C-6FFBD76FC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4312" y="3596776"/>
            <a:ext cx="5361688" cy="10277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Topic #6</a:t>
            </a:r>
          </a:p>
          <a:p>
            <a:r>
              <a:rPr lang="en-US" dirty="0"/>
              <a:t>Bond &amp; Stock Valuation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FC9B75-A962-FB44-81BA-CF7FBE82C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EAA710-906A-7640-B374-534A2BDFD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62B2EF-FE6F-DD47-8AB2-042310F82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E7E8D7-1260-384C-B3C6-C6FFEC460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91FAA9-6A3B-DC48-9A32-C526D9567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EF758D-AE73-1B4F-ACAA-9A9955408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9856F4-7928-9842-8BBF-4D739A884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08EF7AE-434F-BF4A-841D-E333BBEFE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A15B25-028D-0638-FDCC-325FC3781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 for this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783007" cy="4778022"/>
          </a:xfrm>
        </p:spPr>
        <p:txBody>
          <a:bodyPr>
            <a:normAutofit/>
          </a:bodyPr>
          <a:lstStyle/>
          <a:p>
            <a:r>
              <a:rPr lang="en-US" dirty="0"/>
              <a:t>Discuss how to value two other assets using DCF method</a:t>
            </a:r>
          </a:p>
          <a:p>
            <a:endParaRPr lang="en-US" sz="800" dirty="0"/>
          </a:p>
          <a:p>
            <a:pPr lvl="1"/>
            <a:r>
              <a:rPr lang="en-US" dirty="0"/>
              <a:t>Corporate bonds</a:t>
            </a:r>
          </a:p>
          <a:p>
            <a:pPr lvl="1"/>
            <a:r>
              <a:rPr lang="en-US" dirty="0"/>
              <a:t>Stocks</a:t>
            </a:r>
          </a:p>
          <a:p>
            <a:endParaRPr lang="en-US" sz="800" dirty="0"/>
          </a:p>
          <a:p>
            <a:r>
              <a:rPr lang="en-US" dirty="0"/>
              <a:t>Discuss institutional details of these two markets</a:t>
            </a:r>
          </a:p>
          <a:p>
            <a:r>
              <a:rPr lang="en-US" dirty="0"/>
              <a:t>Apply tools using “Warren Buffett” case [again]</a:t>
            </a:r>
          </a:p>
          <a:p>
            <a:endParaRPr lang="en-US" sz="800" dirty="0"/>
          </a:p>
          <a:p>
            <a:pPr lvl="1"/>
            <a:endParaRPr lang="en-US" sz="800" dirty="0"/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41FC2F-506F-D749-8742-7D69A32A7334}"/>
              </a:ext>
            </a:extLst>
          </p:cNvPr>
          <p:cNvSpPr/>
          <p:nvPr/>
        </p:nvSpPr>
        <p:spPr>
          <a:xfrm>
            <a:off x="1075296" y="2257575"/>
            <a:ext cx="6168092" cy="471638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283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u="sng" dirty="0"/>
              <a:t>Fact #1</a:t>
            </a:r>
            <a:r>
              <a:rPr lang="en-US" dirty="0"/>
              <a:t>: Market is massive; e.g., at end of 2018, there were $42 trillion in bonds outstanding in US alone</a:t>
            </a:r>
          </a:p>
          <a:p>
            <a:r>
              <a:rPr lang="en-US" u="sng" dirty="0"/>
              <a:t>Fact #2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en-US" dirty="0"/>
              <a:t>While stock markets get a lot of attention</a:t>
            </a:r>
            <a:r>
              <a:rPr lang="en-US" b="1" dirty="0"/>
              <a:t>, </a:t>
            </a:r>
            <a:r>
              <a:rPr lang="en-US" dirty="0"/>
              <a:t>US debt market is </a:t>
            </a:r>
            <a:r>
              <a:rPr lang="en-US" u="sng" dirty="0"/>
              <a:t>twice</a:t>
            </a:r>
            <a:r>
              <a:rPr lang="en-US" dirty="0"/>
              <a:t> the size of all US stock markets combined</a:t>
            </a:r>
            <a:endParaRPr lang="en-US" sz="800" dirty="0"/>
          </a:p>
          <a:p>
            <a:pPr lvl="1"/>
            <a:endParaRPr lang="en-US" sz="800" dirty="0"/>
          </a:p>
          <a:p>
            <a:pPr lvl="1"/>
            <a:r>
              <a:rPr lang="en-US" b="1" dirty="0"/>
              <a:t>I.e., corporations rely (a lot) on bonds for financing</a:t>
            </a:r>
          </a:p>
          <a:p>
            <a:pPr lvl="1"/>
            <a:r>
              <a:rPr lang="en-US" b="1" dirty="0"/>
              <a:t>And investors (like you), own them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studying bond market &amp; valuation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DA54C1-3C7A-7649-A047-0FD2825B1E4D}"/>
              </a:ext>
            </a:extLst>
          </p:cNvPr>
          <p:cNvSpPr txBox="1"/>
          <p:nvPr/>
        </p:nvSpPr>
        <p:spPr>
          <a:xfrm>
            <a:off x="976946" y="5257800"/>
            <a:ext cx="60170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So, knowing how this market works and how to value these bonds is important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4A7E8A3-D850-864B-BEAB-9D7F313AF16D}"/>
              </a:ext>
            </a:extLst>
          </p:cNvPr>
          <p:cNvCxnSpPr>
            <a:cxnSpLocks/>
          </p:cNvCxnSpPr>
          <p:nvPr/>
        </p:nvCxnSpPr>
        <p:spPr>
          <a:xfrm flipV="1">
            <a:off x="3110804" y="4554276"/>
            <a:ext cx="0" cy="6419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202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 of corporate bond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 bond &amp; basic terminology</a:t>
            </a:r>
          </a:p>
          <a:p>
            <a:r>
              <a:rPr lang="en-US" dirty="0"/>
              <a:t>Using DCF to value bonds</a:t>
            </a:r>
          </a:p>
          <a:p>
            <a:r>
              <a:rPr lang="en-US" dirty="0"/>
              <a:t>General information about bond market</a:t>
            </a:r>
          </a:p>
          <a:p>
            <a:endParaRPr lang="en-US" sz="800" dirty="0"/>
          </a:p>
          <a:p>
            <a:pPr marL="457200" lvl="1" indent="0">
              <a:buNone/>
            </a:pPr>
            <a:endParaRPr lang="en-US" b="1" dirty="0">
              <a:solidFill>
                <a:srgbClr val="A5141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030DED-3665-FB4F-AC11-13EE39A5F40A}"/>
              </a:ext>
            </a:extLst>
          </p:cNvPr>
          <p:cNvSpPr/>
          <p:nvPr/>
        </p:nvSpPr>
        <p:spPr>
          <a:xfrm>
            <a:off x="658519" y="1660890"/>
            <a:ext cx="6168092" cy="471638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66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bond?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990686" cy="4778022"/>
          </a:xfrm>
        </p:spPr>
        <p:txBody>
          <a:bodyPr>
            <a:normAutofit/>
          </a:bodyPr>
          <a:lstStyle/>
          <a:p>
            <a:r>
              <a:rPr lang="en-US" dirty="0"/>
              <a:t>Bonds are basically interest-only loans</a:t>
            </a:r>
          </a:p>
          <a:p>
            <a:endParaRPr lang="en-US" sz="800" dirty="0"/>
          </a:p>
          <a:p>
            <a:pPr lvl="1"/>
            <a:r>
              <a:rPr lang="en-US" dirty="0"/>
              <a:t>Issuer pays interest (i.e., </a:t>
            </a:r>
            <a:r>
              <a:rPr lang="en-US" u="sng" dirty="0"/>
              <a:t>coupon</a:t>
            </a:r>
            <a:r>
              <a:rPr lang="en-US" dirty="0"/>
              <a:t>) each period until maturity</a:t>
            </a:r>
          </a:p>
          <a:p>
            <a:pPr lvl="1"/>
            <a:r>
              <a:rPr lang="en-US" dirty="0"/>
              <a:t>And at maturity, issuer pays principal (i.e., </a:t>
            </a:r>
            <a:r>
              <a:rPr lang="en-US" u="sng" dirty="0"/>
              <a:t>face value</a:t>
            </a:r>
            <a:r>
              <a:rPr lang="en-US" dirty="0"/>
              <a:t>)</a:t>
            </a:r>
          </a:p>
          <a:p>
            <a:pPr lvl="1"/>
            <a:endParaRPr lang="en-US" sz="800" dirty="0"/>
          </a:p>
          <a:p>
            <a:r>
              <a:rPr lang="en-US" dirty="0"/>
              <a:t>E.g., a company might issue a bond with a face value of $1,000, an annual coupon of $60, and maturity of 10 years.  This means…</a:t>
            </a:r>
          </a:p>
          <a:p>
            <a:endParaRPr lang="en-US" sz="800" dirty="0"/>
          </a:p>
          <a:p>
            <a:pPr lvl="1"/>
            <a:r>
              <a:rPr lang="en-US" dirty="0"/>
              <a:t>Bond will pay $60 per year for first 9 years</a:t>
            </a:r>
          </a:p>
          <a:p>
            <a:pPr lvl="1"/>
            <a:r>
              <a:rPr lang="en-US" dirty="0"/>
              <a:t>In 10</a:t>
            </a:r>
            <a:r>
              <a:rPr lang="en-US" baseline="30000" dirty="0"/>
              <a:t>th</a:t>
            </a:r>
            <a:r>
              <a:rPr lang="en-US" dirty="0"/>
              <a:t> year, bond will pay $60 + $1,000 = $1,060</a:t>
            </a:r>
          </a:p>
          <a:p>
            <a:pPr lvl="1"/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45763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bond certificate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4730604" cy="4778022"/>
          </a:xfrm>
        </p:spPr>
        <p:txBody>
          <a:bodyPr>
            <a:normAutofit/>
          </a:bodyPr>
          <a:lstStyle/>
          <a:p>
            <a:r>
              <a:rPr lang="en-US" dirty="0"/>
              <a:t>It states the terms of a bond as well as the amounts and dates of all payments to be made</a:t>
            </a:r>
          </a:p>
          <a:p>
            <a:pPr lvl="1"/>
            <a:endParaRPr lang="en-US" sz="800" dirty="0"/>
          </a:p>
        </p:txBody>
      </p:sp>
      <p:pic>
        <p:nvPicPr>
          <p:cNvPr id="6" name="Picture 5" descr="Text&#10;&#10;Description automatically generated with medium confidence">
            <a:extLst>
              <a:ext uri="{FF2B5EF4-FFF2-40B4-BE49-F238E27FC236}">
                <a16:creationId xmlns:a16="http://schemas.microsoft.com/office/drawing/2014/main" id="{9FAD13CE-688D-D248-BF8C-2CE96D543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7970" y="1535821"/>
            <a:ext cx="5705702" cy="41624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8D5794-216E-464B-BF9B-07F1B7467CCC}"/>
              </a:ext>
            </a:extLst>
          </p:cNvPr>
          <p:cNvSpPr txBox="1"/>
          <p:nvPr/>
        </p:nvSpPr>
        <p:spPr>
          <a:xfrm>
            <a:off x="5727970" y="5698314"/>
            <a:ext cx="31714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66568"/>
                </a:solidFill>
              </a:rPr>
              <a:t>Figure 6.1: Berk, </a:t>
            </a:r>
            <a:r>
              <a:rPr lang="en-US" sz="1200" dirty="0" err="1">
                <a:solidFill>
                  <a:srgbClr val="566568"/>
                </a:solidFill>
              </a:rPr>
              <a:t>Demarzo</a:t>
            </a:r>
            <a:r>
              <a:rPr lang="en-US" sz="1200" dirty="0">
                <a:solidFill>
                  <a:srgbClr val="566568"/>
                </a:solidFill>
              </a:rPr>
              <a:t>, and Harford, </a:t>
            </a:r>
            <a:r>
              <a:rPr lang="en-US" sz="1200" i="1" dirty="0">
                <a:solidFill>
                  <a:srgbClr val="566568"/>
                </a:solidFill>
              </a:rPr>
              <a:t>Fundamentals of Corporate Finance, 5</a:t>
            </a:r>
            <a:r>
              <a:rPr lang="en-US" sz="1200" i="1" baseline="30000" dirty="0">
                <a:solidFill>
                  <a:srgbClr val="566568"/>
                </a:solidFill>
              </a:rPr>
              <a:t>th</a:t>
            </a:r>
            <a:r>
              <a:rPr lang="en-US" sz="1200" i="1" dirty="0">
                <a:solidFill>
                  <a:srgbClr val="566568"/>
                </a:solidFill>
              </a:rPr>
              <a:t> 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270410-9690-2A40-8A53-6638C47DC8B5}"/>
              </a:ext>
            </a:extLst>
          </p:cNvPr>
          <p:cNvSpPr txBox="1"/>
          <p:nvPr/>
        </p:nvSpPr>
        <p:spPr>
          <a:xfrm>
            <a:off x="658519" y="4141998"/>
            <a:ext cx="29922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51417"/>
                </a:solidFill>
              </a:rPr>
              <a:t>Anyone know what the small, repeated images here are?</a:t>
            </a:r>
            <a:endParaRPr lang="en-US" sz="2400" u="sng" dirty="0">
              <a:solidFill>
                <a:srgbClr val="A514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956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Bond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1089196" cy="4778022"/>
          </a:xfrm>
        </p:spPr>
        <p:txBody>
          <a:bodyPr>
            <a:normAutofit/>
          </a:bodyPr>
          <a:lstStyle/>
          <a:p>
            <a:r>
              <a:rPr lang="en-US" b="1" dirty="0"/>
              <a:t>Coupon </a:t>
            </a:r>
            <a:r>
              <a:rPr lang="en-US" dirty="0"/>
              <a:t>= promised interest payment each period</a:t>
            </a:r>
          </a:p>
          <a:p>
            <a:r>
              <a:rPr lang="en-US" b="1" dirty="0"/>
              <a:t>Face value </a:t>
            </a:r>
            <a:r>
              <a:rPr lang="en-US" dirty="0"/>
              <a:t>= amount bond pays at maturity </a:t>
            </a:r>
            <a:r>
              <a:rPr lang="en-US" i="1" dirty="0"/>
              <a:t>[Also called par value]</a:t>
            </a:r>
          </a:p>
          <a:p>
            <a:r>
              <a:rPr lang="en-US" b="1" dirty="0"/>
              <a:t>Maturity date </a:t>
            </a:r>
            <a:r>
              <a:rPr lang="en-US" dirty="0"/>
              <a:t>= final repayment date</a:t>
            </a:r>
          </a:p>
          <a:p>
            <a:r>
              <a:rPr lang="en-US" b="1" dirty="0"/>
              <a:t>Coupon rate </a:t>
            </a:r>
            <a:r>
              <a:rPr lang="en-US" dirty="0"/>
              <a:t>= </a:t>
            </a:r>
            <a:r>
              <a:rPr lang="en-US" u="sng" dirty="0"/>
              <a:t>annual</a:t>
            </a:r>
            <a:r>
              <a:rPr lang="en-US" dirty="0"/>
              <a:t> coupon of bond divided by its face value</a:t>
            </a:r>
          </a:p>
          <a:p>
            <a:endParaRPr lang="en-US" sz="800" dirty="0"/>
          </a:p>
          <a:p>
            <a:pPr lvl="1"/>
            <a:r>
              <a:rPr lang="en-US" dirty="0"/>
              <a:t>E.g., bond with $1,000 face value that pays a $25 coupon twice a year (i.e., semiannually) would have a stated coupon rate of (25 + 25) / 1000 = 5%.</a:t>
            </a:r>
          </a:p>
          <a:p>
            <a:pPr lvl="1"/>
            <a:endParaRPr lang="en-US"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F5EC65-A9D2-FD44-9B60-BF590032E689}"/>
              </a:ext>
            </a:extLst>
          </p:cNvPr>
          <p:cNvSpPr txBox="1"/>
          <p:nvPr/>
        </p:nvSpPr>
        <p:spPr>
          <a:xfrm>
            <a:off x="542795" y="4936856"/>
            <a:ext cx="8900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Next, let’s talk about valuation… </a:t>
            </a:r>
            <a:r>
              <a:rPr lang="en-US" sz="2400" dirty="0">
                <a:solidFill>
                  <a:srgbClr val="A51417"/>
                </a:solidFill>
              </a:rPr>
              <a:t>How do you think investors determine how much is most they should pay to buy a bond?</a:t>
            </a:r>
          </a:p>
        </p:txBody>
      </p:sp>
    </p:spTree>
    <p:extLst>
      <p:ext uri="{BB962C8B-B14F-4D97-AF65-F5344CB8AC3E}">
        <p14:creationId xmlns:p14="http://schemas.microsoft.com/office/powerpoint/2010/main" val="4102220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Valuing a bond using DCF</a:t>
            </a:r>
            <a:endParaRPr lang="en-US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361367"/>
            <a:ext cx="10575538" cy="4778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800" dirty="0"/>
          </a:p>
          <a:p>
            <a:r>
              <a:rPr lang="en-US" dirty="0"/>
              <a:t>The amount investors will be willing to pay to own a bond should equal present value of expected cash flows</a:t>
            </a:r>
          </a:p>
          <a:p>
            <a:r>
              <a:rPr lang="en-US" b="1" dirty="0"/>
              <a:t>I.e., can value bonds using DCF just like any other asset! </a:t>
            </a:r>
          </a:p>
          <a:p>
            <a:endParaRPr lang="en-US" sz="800" b="1" dirty="0"/>
          </a:p>
          <a:p>
            <a:pPr lvl="1"/>
            <a:r>
              <a:rPr lang="en-US" dirty="0"/>
              <a:t>First, identify the expected cash flows and create timeline</a:t>
            </a:r>
          </a:p>
          <a:p>
            <a:pPr lvl="1"/>
            <a:r>
              <a:rPr lang="en-US" dirty="0"/>
              <a:t>Then, take present value using correct discount rate</a:t>
            </a:r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A68AFA-B3DF-3148-A9B8-130741C95FD1}"/>
              </a:ext>
            </a:extLst>
          </p:cNvPr>
          <p:cNvSpPr txBox="1"/>
          <p:nvPr/>
        </p:nvSpPr>
        <p:spPr>
          <a:xfrm>
            <a:off x="658519" y="4394416"/>
            <a:ext cx="107637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Let’s work through an example</a:t>
            </a:r>
            <a:r>
              <a:rPr lang="en-US" sz="2400" dirty="0"/>
              <a:t>… 10-year bond with annual coupon of $60 &amp; face value of $1,000.  We will assume appropriate discount rate is 6%. </a:t>
            </a:r>
          </a:p>
        </p:txBody>
      </p:sp>
    </p:spTree>
    <p:extLst>
      <p:ext uri="{BB962C8B-B14F-4D97-AF65-F5344CB8AC3E}">
        <p14:creationId xmlns:p14="http://schemas.microsoft.com/office/powerpoint/2010/main" val="3546063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361367"/>
            <a:ext cx="10575538" cy="4778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800" dirty="0"/>
          </a:p>
          <a:p>
            <a:r>
              <a:rPr lang="en-US" dirty="0"/>
              <a:t>Using timeline, I break it into two cash flow streams (CFS)</a:t>
            </a:r>
          </a:p>
          <a:p>
            <a:pPr lvl="1"/>
            <a:endParaRPr lang="en-US" b="1" dirty="0"/>
          </a:p>
          <a:p>
            <a:pPr lvl="1"/>
            <a:endParaRPr lang="en-US" b="1" dirty="0"/>
          </a:p>
          <a:p>
            <a:pPr lvl="1"/>
            <a:endParaRPr lang="en-US" b="1" dirty="0"/>
          </a:p>
          <a:p>
            <a:pPr lvl="1"/>
            <a:endParaRPr lang="en-US" b="1" dirty="0"/>
          </a:p>
          <a:p>
            <a:pPr lvl="1"/>
            <a:r>
              <a:rPr lang="en-US" b="1" dirty="0"/>
              <a:t>Value of CFS</a:t>
            </a:r>
            <a:r>
              <a:rPr lang="en-US" b="1" baseline="-25000" dirty="0"/>
              <a:t>1</a:t>
            </a:r>
            <a:r>
              <a:rPr lang="en-US" b="1" dirty="0"/>
              <a:t> </a:t>
            </a:r>
            <a:r>
              <a:rPr lang="en-US" dirty="0"/>
              <a:t>= 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Value of CFS</a:t>
            </a:r>
            <a:r>
              <a:rPr lang="en-US" b="1" baseline="-25000" dirty="0"/>
              <a:t>2</a:t>
            </a:r>
            <a:r>
              <a:rPr lang="en-US" b="1" dirty="0"/>
              <a:t> </a:t>
            </a:r>
            <a:r>
              <a:rPr lang="en-US" dirty="0"/>
              <a:t>= 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So, bond is worth 441.61 + 558.59 = $1,000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pPr lvl="1"/>
            <a:endParaRPr lang="en-US" sz="800" b="1" dirty="0">
              <a:solidFill>
                <a:srgbClr val="A51417"/>
              </a:solidFill>
            </a:endParaRPr>
          </a:p>
          <a:p>
            <a:endParaRPr lang="en-US" sz="800" u="sng" dirty="0"/>
          </a:p>
          <a:p>
            <a:endParaRPr lang="en-US" sz="8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EF7CF4E-4435-B94D-94E8-98244B905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614" y="3077656"/>
            <a:ext cx="8182779" cy="2571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bond valuation</a:t>
            </a:r>
            <a:endParaRPr lang="en-US" i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056AEC-8BA2-4441-A5D9-83A2AF4DD4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1924" y="2266805"/>
            <a:ext cx="7904736" cy="5484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712BF0-D918-FB4F-AA9B-C53EAADE28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2819" y="2794125"/>
            <a:ext cx="8123574" cy="29523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D4ECA5C-C551-5B4B-A30E-CDAF54F78AB1}"/>
              </a:ext>
            </a:extLst>
          </p:cNvPr>
          <p:cNvSpPr/>
          <p:nvPr/>
        </p:nvSpPr>
        <p:spPr>
          <a:xfrm>
            <a:off x="1906614" y="2862932"/>
            <a:ext cx="8020046" cy="214724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F6FAF3-F0AB-7540-8796-6BE889E09653}"/>
              </a:ext>
            </a:extLst>
          </p:cNvPr>
          <p:cNvSpPr/>
          <p:nvPr/>
        </p:nvSpPr>
        <p:spPr>
          <a:xfrm>
            <a:off x="1906614" y="3091815"/>
            <a:ext cx="8020046" cy="214724"/>
          </a:xfrm>
          <a:prstGeom prst="rect">
            <a:avLst/>
          </a:prstGeom>
          <a:solidFill>
            <a:srgbClr val="56656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 descr="Diagram&#10;&#10;Description automatically generated">
            <a:extLst>
              <a:ext uri="{FF2B5EF4-FFF2-40B4-BE49-F238E27FC236}">
                <a16:creationId xmlns:a16="http://schemas.microsoft.com/office/drawing/2014/main" id="{35A92BD6-285A-4F4E-8F5A-0B21D1E1E5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6242" y="3671427"/>
            <a:ext cx="4243522" cy="761491"/>
          </a:xfrm>
          <a:prstGeom prst="rect">
            <a:avLst/>
          </a:prstGeom>
        </p:spPr>
      </p:pic>
      <p:pic>
        <p:nvPicPr>
          <p:cNvPr id="20" name="Picture 19" descr="A picture containing shape&#10;&#10;Description automatically generated">
            <a:extLst>
              <a:ext uri="{FF2B5EF4-FFF2-40B4-BE49-F238E27FC236}">
                <a16:creationId xmlns:a16="http://schemas.microsoft.com/office/drawing/2014/main" id="{1D193B66-43EC-1240-9DE7-BF301D6709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6241" y="4611799"/>
            <a:ext cx="2586548" cy="62077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948FA57-8774-D941-AA92-78789A8CA45F}"/>
              </a:ext>
            </a:extLst>
          </p:cNvPr>
          <p:cNvSpPr txBox="1"/>
          <p:nvPr/>
        </p:nvSpPr>
        <p:spPr>
          <a:xfrm>
            <a:off x="9316445" y="3701011"/>
            <a:ext cx="24700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51417"/>
                </a:solidFill>
              </a:rPr>
              <a:t>What valuation shortcut did I use here?</a:t>
            </a:r>
            <a:endParaRPr lang="en-US" sz="2400" u="sng" dirty="0">
              <a:solidFill>
                <a:srgbClr val="A51417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EB96E7C-DC05-6443-BEC1-481DC3022096}"/>
              </a:ext>
            </a:extLst>
          </p:cNvPr>
          <p:cNvCxnSpPr>
            <a:cxnSpLocks/>
          </p:cNvCxnSpPr>
          <p:nvPr/>
        </p:nvCxnSpPr>
        <p:spPr>
          <a:xfrm flipH="1">
            <a:off x="8359217" y="4052172"/>
            <a:ext cx="808031" cy="0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E5B67D48-F2AD-884D-8921-032FE6B1F4EA}"/>
              </a:ext>
            </a:extLst>
          </p:cNvPr>
          <p:cNvSpPr/>
          <p:nvPr/>
        </p:nvSpPr>
        <p:spPr>
          <a:xfrm>
            <a:off x="1433593" y="3861880"/>
            <a:ext cx="2100021" cy="396834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122BB5-DA5B-E44A-BDBE-54F4C767AFCA}"/>
              </a:ext>
            </a:extLst>
          </p:cNvPr>
          <p:cNvSpPr/>
          <p:nvPr/>
        </p:nvSpPr>
        <p:spPr>
          <a:xfrm>
            <a:off x="1433593" y="4749373"/>
            <a:ext cx="2100021" cy="396834"/>
          </a:xfrm>
          <a:prstGeom prst="rect">
            <a:avLst/>
          </a:prstGeom>
          <a:solidFill>
            <a:srgbClr val="56656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F605BD-3F54-AA4D-8490-740A9E0ABA37}"/>
              </a:ext>
            </a:extLst>
          </p:cNvPr>
          <p:cNvSpPr txBox="1"/>
          <p:nvPr/>
        </p:nvSpPr>
        <p:spPr>
          <a:xfrm>
            <a:off x="9540181" y="5262040"/>
            <a:ext cx="24700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$1,000 is not a coincidence!  More later…</a:t>
            </a:r>
            <a:endParaRPr lang="en-US" sz="2400" u="sng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AE5A542-A5A8-FA46-821F-C134771DFEA5}"/>
              </a:ext>
            </a:extLst>
          </p:cNvPr>
          <p:cNvCxnSpPr>
            <a:cxnSpLocks/>
          </p:cNvCxnSpPr>
          <p:nvPr/>
        </p:nvCxnSpPr>
        <p:spPr>
          <a:xfrm flipH="1">
            <a:off x="8569983" y="5863964"/>
            <a:ext cx="8080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0623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6" grpId="0" animBg="1"/>
      <p:bldP spid="27" grpId="0" animBg="1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Bond valuation formula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361367"/>
            <a:ext cx="10221291" cy="4778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800" dirty="0"/>
          </a:p>
          <a:p>
            <a:r>
              <a:rPr lang="en-US" b="1" dirty="0"/>
              <a:t>In general, can value bond using following formula</a:t>
            </a:r>
          </a:p>
          <a:p>
            <a:endParaRPr lang="en-US" b="1" dirty="0"/>
          </a:p>
          <a:p>
            <a:endParaRPr lang="en-US" b="1" dirty="0"/>
          </a:p>
          <a:p>
            <a:endParaRPr lang="en-US" sz="800" b="1" dirty="0"/>
          </a:p>
          <a:p>
            <a:pPr lvl="1"/>
            <a:endParaRPr lang="en-US" dirty="0"/>
          </a:p>
          <a:p>
            <a:pPr lvl="1"/>
            <a:r>
              <a:rPr lang="en-US" i="1" dirty="0"/>
              <a:t>C</a:t>
            </a:r>
            <a:r>
              <a:rPr lang="en-US" dirty="0"/>
              <a:t> = coupon</a:t>
            </a:r>
          </a:p>
          <a:p>
            <a:pPr lvl="1"/>
            <a:r>
              <a:rPr lang="en-US" i="1" dirty="0"/>
              <a:t>F </a:t>
            </a:r>
            <a:r>
              <a:rPr lang="en-US" dirty="0"/>
              <a:t>= face value of bond</a:t>
            </a:r>
          </a:p>
          <a:p>
            <a:pPr lvl="1"/>
            <a:r>
              <a:rPr lang="en-US" dirty="0"/>
              <a:t>t = years until maturity</a:t>
            </a:r>
          </a:p>
          <a:p>
            <a:pPr lvl="1"/>
            <a:r>
              <a:rPr lang="en-US" i="1" dirty="0"/>
              <a:t>r </a:t>
            </a:r>
            <a:r>
              <a:rPr lang="en-US" dirty="0"/>
              <a:t>= appropriate discount rate</a:t>
            </a:r>
          </a:p>
          <a:p>
            <a:pPr lvl="1"/>
            <a:endParaRPr lang="en-US" sz="800" dirty="0"/>
          </a:p>
          <a:p>
            <a:endParaRPr lang="en-US" sz="800" b="1" dirty="0"/>
          </a:p>
          <a:p>
            <a:pPr lvl="1"/>
            <a:endParaRPr lang="en-US" sz="800" b="1" dirty="0">
              <a:solidFill>
                <a:srgbClr val="A51417"/>
              </a:solidFill>
            </a:endParaRPr>
          </a:p>
          <a:p>
            <a:endParaRPr lang="en-US" sz="800" dirty="0"/>
          </a:p>
          <a:p>
            <a:endParaRPr lang="en-US" sz="800" u="sng" dirty="0"/>
          </a:p>
          <a:p>
            <a:endParaRPr lang="en-US" sz="8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pic>
        <p:nvPicPr>
          <p:cNvPr id="9" name="Picture 8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5139E313-5C9B-7548-BF9C-BACE3490D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629" y="2403555"/>
            <a:ext cx="5506957" cy="11588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D34708-B191-7745-91D6-C61A178C4DF2}"/>
              </a:ext>
            </a:extLst>
          </p:cNvPr>
          <p:cNvSpPr txBox="1"/>
          <p:nvPr/>
        </p:nvSpPr>
        <p:spPr>
          <a:xfrm>
            <a:off x="6270677" y="4548359"/>
            <a:ext cx="2223692" cy="830997"/>
          </a:xfrm>
          <a:prstGeom prst="rect">
            <a:avLst/>
          </a:prstGeom>
          <a:solidFill>
            <a:srgbClr val="A51417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Present value of coupons</a:t>
            </a:r>
            <a:endParaRPr lang="en-US" sz="2400" i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6B344CF-BE6C-3A4B-97B8-C7AA749708CC}"/>
              </a:ext>
            </a:extLst>
          </p:cNvPr>
          <p:cNvCxnSpPr>
            <a:cxnSpLocks/>
          </p:cNvCxnSpPr>
          <p:nvPr/>
        </p:nvCxnSpPr>
        <p:spPr>
          <a:xfrm flipH="1" flipV="1">
            <a:off x="6331010" y="3634490"/>
            <a:ext cx="290283" cy="7955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14D05E9-61A8-9340-82AE-115D9B3C6060}"/>
              </a:ext>
            </a:extLst>
          </p:cNvPr>
          <p:cNvSpPr txBox="1"/>
          <p:nvPr/>
        </p:nvSpPr>
        <p:spPr>
          <a:xfrm>
            <a:off x="9161044" y="2993683"/>
            <a:ext cx="2223692" cy="1569660"/>
          </a:xfrm>
          <a:prstGeom prst="rect">
            <a:avLst/>
          </a:prstGeom>
          <a:solidFill>
            <a:srgbClr val="566568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Present value of face value payment at maturity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B986739-51D5-2E4F-BF8A-330DEDE7EB1E}"/>
              </a:ext>
            </a:extLst>
          </p:cNvPr>
          <p:cNvCxnSpPr>
            <a:cxnSpLocks/>
          </p:cNvCxnSpPr>
          <p:nvPr/>
        </p:nvCxnSpPr>
        <p:spPr>
          <a:xfrm flipH="1" flipV="1">
            <a:off x="8250604" y="3173610"/>
            <a:ext cx="710890" cy="2553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1D5A9A2-6569-2B44-817E-3A877FF10D15}"/>
              </a:ext>
            </a:extLst>
          </p:cNvPr>
          <p:cNvSpPr/>
          <p:nvPr/>
        </p:nvSpPr>
        <p:spPr>
          <a:xfrm>
            <a:off x="4851580" y="2381780"/>
            <a:ext cx="2061543" cy="1157509"/>
          </a:xfrm>
          <a:prstGeom prst="rect">
            <a:avLst/>
          </a:prstGeom>
          <a:solidFill>
            <a:srgbClr val="A51417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4940DB-D7E3-304E-A32C-0C91553A085E}"/>
              </a:ext>
            </a:extLst>
          </p:cNvPr>
          <p:cNvSpPr/>
          <p:nvPr/>
        </p:nvSpPr>
        <p:spPr>
          <a:xfrm>
            <a:off x="7164847" y="2550649"/>
            <a:ext cx="986932" cy="925368"/>
          </a:xfrm>
          <a:prstGeom prst="rect">
            <a:avLst/>
          </a:prstGeom>
          <a:solidFill>
            <a:srgbClr val="56656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154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4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appropriate discount rate…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361367"/>
            <a:ext cx="10910544" cy="4778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800" dirty="0"/>
          </a:p>
          <a:p>
            <a:r>
              <a:rPr lang="en-US" dirty="0"/>
              <a:t>As discussed before, the discount rate should reflect the riskiness of the expected payments and investors’ opportunity cost</a:t>
            </a:r>
          </a:p>
          <a:p>
            <a:endParaRPr lang="en-US" b="1" dirty="0"/>
          </a:p>
          <a:p>
            <a:endParaRPr lang="en-US" b="1" dirty="0"/>
          </a:p>
          <a:p>
            <a:endParaRPr lang="en-US" sz="800" b="1" dirty="0"/>
          </a:p>
          <a:p>
            <a:pPr lvl="1"/>
            <a:endParaRPr lang="en-US" dirty="0"/>
          </a:p>
          <a:p>
            <a:pPr lvl="1"/>
            <a:endParaRPr lang="en-US" sz="800" dirty="0"/>
          </a:p>
          <a:p>
            <a:endParaRPr lang="en-US" sz="800" b="1" dirty="0"/>
          </a:p>
          <a:p>
            <a:pPr lvl="1"/>
            <a:endParaRPr lang="en-US" sz="800" b="1" dirty="0">
              <a:solidFill>
                <a:srgbClr val="A51417"/>
              </a:solidFill>
            </a:endParaRPr>
          </a:p>
          <a:p>
            <a:endParaRPr lang="en-US" sz="800" dirty="0"/>
          </a:p>
          <a:p>
            <a:endParaRPr lang="en-US" sz="800" u="sng" dirty="0"/>
          </a:p>
          <a:p>
            <a:endParaRPr lang="en-US" sz="8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pic>
        <p:nvPicPr>
          <p:cNvPr id="9" name="Picture 8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5139E313-5C9B-7548-BF9C-BACE3490D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7174" y="2763507"/>
            <a:ext cx="5506957" cy="11588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7BFA29-F3F7-3E45-8FF6-237F48C39C02}"/>
              </a:ext>
            </a:extLst>
          </p:cNvPr>
          <p:cNvSpPr txBox="1"/>
          <p:nvPr/>
        </p:nvSpPr>
        <p:spPr>
          <a:xfrm>
            <a:off x="1601930" y="4762203"/>
            <a:ext cx="74837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51417"/>
                </a:solidFill>
              </a:rPr>
              <a:t>However, if we replace “bond value” with the bond’s </a:t>
            </a:r>
            <a:r>
              <a:rPr lang="en-US" sz="2400" b="1" u="sng" dirty="0">
                <a:solidFill>
                  <a:srgbClr val="A51417"/>
                </a:solidFill>
              </a:rPr>
              <a:t>market</a:t>
            </a:r>
            <a:r>
              <a:rPr lang="en-US" sz="2400" dirty="0">
                <a:solidFill>
                  <a:srgbClr val="A51417"/>
                </a:solidFill>
              </a:rPr>
              <a:t> price, </a:t>
            </a:r>
            <a:r>
              <a:rPr lang="en-US" sz="2400" i="1" dirty="0">
                <a:solidFill>
                  <a:srgbClr val="A51417"/>
                </a:solidFill>
              </a:rPr>
              <a:t>P</a:t>
            </a:r>
            <a:r>
              <a:rPr lang="en-US" sz="2400" dirty="0">
                <a:solidFill>
                  <a:srgbClr val="A51417"/>
                </a:solidFill>
              </a:rPr>
              <a:t>, and instead use this formula to solve for </a:t>
            </a:r>
            <a:r>
              <a:rPr lang="en-US" sz="2400" i="1" dirty="0">
                <a:solidFill>
                  <a:srgbClr val="A51417"/>
                </a:solidFill>
              </a:rPr>
              <a:t>r</a:t>
            </a:r>
            <a:r>
              <a:rPr lang="en-US" sz="2400" dirty="0">
                <a:solidFill>
                  <a:srgbClr val="A51417"/>
                </a:solidFill>
              </a:rPr>
              <a:t>, </a:t>
            </a:r>
            <a:r>
              <a:rPr lang="en-US" sz="2400" b="1" dirty="0">
                <a:solidFill>
                  <a:srgbClr val="A51417"/>
                </a:solidFill>
              </a:rPr>
              <a:t>what do we call the resulting </a:t>
            </a:r>
            <a:r>
              <a:rPr lang="en-US" sz="2400" b="1" i="1" dirty="0">
                <a:solidFill>
                  <a:srgbClr val="A51417"/>
                </a:solidFill>
              </a:rPr>
              <a:t>r</a:t>
            </a:r>
            <a:r>
              <a:rPr lang="en-US" sz="2400" dirty="0">
                <a:solidFill>
                  <a:srgbClr val="A51417"/>
                </a:solidFill>
              </a:rPr>
              <a:t>?</a:t>
            </a:r>
            <a:endParaRPr lang="en-US" sz="2400" u="sng" dirty="0">
              <a:solidFill>
                <a:srgbClr val="A51417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5C03633-49FC-FC4D-840E-639608DB4E21}"/>
              </a:ext>
            </a:extLst>
          </p:cNvPr>
          <p:cNvCxnSpPr>
            <a:cxnSpLocks/>
          </p:cNvCxnSpPr>
          <p:nvPr/>
        </p:nvCxnSpPr>
        <p:spPr>
          <a:xfrm flipV="1">
            <a:off x="4597940" y="3797086"/>
            <a:ext cx="355860" cy="948669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7948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Yield to Maturity (YTM)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361367"/>
            <a:ext cx="10453766" cy="4778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800" dirty="0"/>
          </a:p>
          <a:p>
            <a:r>
              <a:rPr lang="en-US" b="1" dirty="0"/>
              <a:t>YTM = </a:t>
            </a:r>
            <a:r>
              <a:rPr lang="en-US" dirty="0"/>
              <a:t>discount rate, </a:t>
            </a:r>
            <a:r>
              <a:rPr lang="en-US" i="1" dirty="0"/>
              <a:t>r</a:t>
            </a:r>
            <a:r>
              <a:rPr lang="en-US" dirty="0"/>
              <a:t>, that sets present value of </a:t>
            </a:r>
            <a:r>
              <a:rPr lang="en-US" u="sng" dirty="0"/>
              <a:t>promised</a:t>
            </a:r>
            <a:r>
              <a:rPr lang="en-US" dirty="0"/>
              <a:t> bond payments equal to the current market price of the bond</a:t>
            </a:r>
          </a:p>
          <a:p>
            <a:pPr lvl="1"/>
            <a:endParaRPr lang="en-US" sz="800" b="1" dirty="0">
              <a:solidFill>
                <a:srgbClr val="A51417"/>
              </a:solidFill>
            </a:endParaRPr>
          </a:p>
          <a:p>
            <a:pPr lvl="1"/>
            <a:r>
              <a:rPr lang="en-US" dirty="0"/>
              <a:t>I.e., it is the </a:t>
            </a:r>
            <a:r>
              <a:rPr lang="en-US" b="1" dirty="0"/>
              <a:t>internal rate of return </a:t>
            </a:r>
            <a:r>
              <a:rPr lang="en-US" dirty="0"/>
              <a:t>(IRR) an investor will receive if they buy the bond at its current price given its coupons, etc.</a:t>
            </a:r>
          </a:p>
          <a:p>
            <a:pPr lvl="1"/>
            <a:r>
              <a:rPr lang="en-US" dirty="0"/>
              <a:t>Can also think of it as the return demanded by investors buying the bond at that price (i.e., their </a:t>
            </a:r>
            <a:r>
              <a:rPr lang="en-US" b="1" dirty="0"/>
              <a:t>required return</a:t>
            </a:r>
            <a:r>
              <a:rPr lang="en-US" dirty="0"/>
              <a:t>)</a:t>
            </a:r>
          </a:p>
          <a:p>
            <a:endParaRPr lang="en-US" sz="800" dirty="0"/>
          </a:p>
          <a:p>
            <a:endParaRPr lang="en-US" sz="800" u="sng" dirty="0"/>
          </a:p>
          <a:p>
            <a:endParaRPr lang="en-US" sz="8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A68AFA-B3DF-3148-A9B8-130741C95FD1}"/>
              </a:ext>
            </a:extLst>
          </p:cNvPr>
          <p:cNvSpPr txBox="1"/>
          <p:nvPr/>
        </p:nvSpPr>
        <p:spPr>
          <a:xfrm>
            <a:off x="2330222" y="5054689"/>
            <a:ext cx="7110359" cy="830997"/>
          </a:xfrm>
          <a:prstGeom prst="rect">
            <a:avLst/>
          </a:prstGeom>
          <a:solidFill>
            <a:srgbClr val="566568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Can use IRR formula in MS Excel to solve for YTM; see Topic #3 for details on using that formula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56B0E90-C159-5643-AC4F-2CC73BB71639}"/>
              </a:ext>
            </a:extLst>
          </p:cNvPr>
          <p:cNvCxnSpPr>
            <a:cxnSpLocks/>
          </p:cNvCxnSpPr>
          <p:nvPr/>
        </p:nvCxnSpPr>
        <p:spPr>
          <a:xfrm flipV="1">
            <a:off x="5638410" y="4319792"/>
            <a:ext cx="0" cy="6419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5278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YTM is useful…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361367"/>
            <a:ext cx="10453766" cy="4778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800" dirty="0"/>
          </a:p>
          <a:p>
            <a:r>
              <a:rPr lang="en-US" b="1" dirty="0"/>
              <a:t>Calculating the yield curve </a:t>
            </a:r>
            <a:r>
              <a:rPr lang="en-US" i="1" dirty="0"/>
              <a:t>[see topic #5]</a:t>
            </a:r>
          </a:p>
          <a:p>
            <a:endParaRPr lang="en-US" sz="800" dirty="0"/>
          </a:p>
          <a:p>
            <a:pPr lvl="1"/>
            <a:r>
              <a:rPr lang="en-US" dirty="0"/>
              <a:t>Yield curve (i.e., the interest rate paid by the US government for bonds of different maturities) is calculated using the YTM of US gov’t bonds!</a:t>
            </a:r>
            <a:endParaRPr lang="en-US" sz="800" dirty="0"/>
          </a:p>
          <a:p>
            <a:endParaRPr lang="en-US" sz="800" dirty="0"/>
          </a:p>
          <a:p>
            <a:r>
              <a:rPr lang="en-US" b="1" dirty="0"/>
              <a:t>Finding firm’s cost of debt, </a:t>
            </a:r>
            <a:r>
              <a:rPr lang="en-US" b="1" i="1" dirty="0" err="1"/>
              <a:t>r</a:t>
            </a:r>
            <a:r>
              <a:rPr lang="en-US" b="1" i="1" baseline="-25000" dirty="0" err="1"/>
              <a:t>d</a:t>
            </a:r>
            <a:r>
              <a:rPr lang="en-US" b="1" dirty="0"/>
              <a:t>, for WACC </a:t>
            </a:r>
            <a:r>
              <a:rPr lang="en-US" i="1" dirty="0"/>
              <a:t>[see topic #5]</a:t>
            </a:r>
          </a:p>
          <a:p>
            <a:endParaRPr lang="en-US" sz="800" dirty="0"/>
          </a:p>
          <a:p>
            <a:pPr lvl="1"/>
            <a:r>
              <a:rPr lang="en-US" dirty="0"/>
              <a:t>YTM on a firm’s bonds can be used to find the return the firm must pay investors to make them willing to hold the risky debt!</a:t>
            </a:r>
          </a:p>
          <a:p>
            <a:endParaRPr lang="en-US" sz="800" dirty="0"/>
          </a:p>
          <a:p>
            <a:endParaRPr lang="en-US" sz="800" u="sng" dirty="0"/>
          </a:p>
          <a:p>
            <a:endParaRPr lang="en-US" sz="8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63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937" y="437444"/>
            <a:ext cx="9742394" cy="980194"/>
          </a:xfrm>
        </p:spPr>
        <p:txBody>
          <a:bodyPr/>
          <a:lstStyle/>
          <a:p>
            <a:r>
              <a:rPr lang="en-US" dirty="0"/>
              <a:t>How to handle </a:t>
            </a:r>
            <a:r>
              <a:rPr lang="en-US" b="1" u="sng" dirty="0"/>
              <a:t>semiannual</a:t>
            </a:r>
            <a:r>
              <a:rPr lang="en-US" dirty="0"/>
              <a:t> coupons</a:t>
            </a:r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8519" y="1341782"/>
                <a:ext cx="10910544" cy="4778022"/>
              </a:xfrm>
            </p:spPr>
            <p:txBody>
              <a:bodyPr>
                <a:normAutofit/>
              </a:bodyPr>
              <a:lstStyle/>
              <a:p>
                <a:endParaRPr lang="en-US" sz="800" dirty="0"/>
              </a:p>
              <a:p>
                <a:r>
                  <a:rPr lang="en-US" dirty="0"/>
                  <a:t>In US, coupon payments usually done </a:t>
                </a:r>
                <a:r>
                  <a:rPr lang="en-US" b="1" u="sng" dirty="0"/>
                  <a:t>twice</a:t>
                </a:r>
                <a:r>
                  <a:rPr lang="en-US" dirty="0"/>
                  <a:t> a year</a:t>
                </a:r>
              </a:p>
              <a:p>
                <a:endParaRPr lang="en-US" sz="800" dirty="0"/>
              </a:p>
              <a:p>
                <a:pPr lvl="1"/>
                <a:r>
                  <a:rPr lang="en-US" dirty="0"/>
                  <a:t>So, if coupon rate on $1,000 bond with semiannual coupons is quoted as 12%, that means you get (12%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$1,000) / 2 = </a:t>
                </a:r>
                <a:r>
                  <a:rPr lang="en-US" b="1" dirty="0"/>
                  <a:t>$60 </a:t>
                </a:r>
                <a:r>
                  <a:rPr lang="en-US" dirty="0"/>
                  <a:t>every six months </a:t>
                </a:r>
              </a:p>
              <a:p>
                <a:pPr lvl="1"/>
                <a:r>
                  <a:rPr lang="en-US" dirty="0">
                    <a:solidFill>
                      <a:srgbClr val="69787B"/>
                    </a:solidFill>
                  </a:rPr>
                  <a:t>Moreover, if YTM is quoted as 14% for a bond with semiannual coupons, this means the YTM was 14% / 2 =</a:t>
                </a:r>
                <a:r>
                  <a:rPr lang="en-US" b="1" dirty="0">
                    <a:solidFill>
                      <a:srgbClr val="69787B"/>
                    </a:solidFill>
                  </a:rPr>
                  <a:t> 7% </a:t>
                </a:r>
                <a:r>
                  <a:rPr lang="en-US" dirty="0">
                    <a:solidFill>
                      <a:srgbClr val="69787B"/>
                    </a:solidFill>
                  </a:rPr>
                  <a:t>per 6-month interval</a:t>
                </a:r>
              </a:p>
              <a:p>
                <a:endParaRPr lang="en-US" sz="800" u="sng" dirty="0"/>
              </a:p>
              <a:p>
                <a:endParaRPr lang="en-US" sz="800" dirty="0"/>
              </a:p>
              <a:p>
                <a:pPr marL="457200" lvl="1" indent="0">
                  <a:buNone/>
                </a:pPr>
                <a:r>
                  <a:rPr lang="en-US" sz="2800" b="1" dirty="0"/>
                  <a:t>Admittedly, this is a bit tricky, and it is easiest to see how this works with a practice question…</a:t>
                </a:r>
              </a:p>
              <a:p>
                <a:endParaRPr lang="en-US" sz="800" dirty="0"/>
              </a:p>
              <a:p>
                <a:endParaRPr lang="en-US" sz="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8519" y="1341782"/>
                <a:ext cx="10910544" cy="4778022"/>
              </a:xfrm>
              <a:blipFill>
                <a:blip r:embed="rId3"/>
                <a:stretch>
                  <a:fillRect l="-929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8496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Example valuation with semiannual coupons…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341782"/>
            <a:ext cx="10910544" cy="4778022"/>
          </a:xfrm>
        </p:spPr>
        <p:txBody>
          <a:bodyPr>
            <a:normAutofit/>
          </a:bodyPr>
          <a:lstStyle/>
          <a:p>
            <a:endParaRPr lang="en-US" sz="800" dirty="0"/>
          </a:p>
          <a:p>
            <a:r>
              <a:rPr lang="en-US" dirty="0"/>
              <a:t>What is the price (i.e., value) of a 7-year $1,000 bond that has semiannual payments, coupon rate of 14%, and a YTM of 16%?</a:t>
            </a:r>
          </a:p>
          <a:p>
            <a:endParaRPr lang="en-US" sz="800" dirty="0"/>
          </a:p>
          <a:p>
            <a:endParaRPr lang="en-US" sz="800" u="sng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pic>
        <p:nvPicPr>
          <p:cNvPr id="5" name="Picture 4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01A4ABA1-D3D9-0D4D-B1FF-F3E111AE6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3520" y="2714356"/>
            <a:ext cx="5016720" cy="1043080"/>
          </a:xfrm>
          <a:prstGeom prst="rect">
            <a:avLst/>
          </a:prstGeom>
        </p:spPr>
      </p:pic>
      <p:pic>
        <p:nvPicPr>
          <p:cNvPr id="8" name="Picture 7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CAB672B1-2B29-474C-8CB4-E1AB6E2B38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020" y="3909478"/>
            <a:ext cx="5332225" cy="10430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3F4B31A-62EB-F740-A71F-AB140AF7169C}"/>
                  </a:ext>
                </a:extLst>
              </p:cNvPr>
              <p:cNvSpPr txBox="1"/>
              <p:nvPr/>
            </p:nvSpPr>
            <p:spPr>
              <a:xfrm>
                <a:off x="301446" y="3034526"/>
                <a:ext cx="2309987" cy="1061829"/>
              </a:xfrm>
              <a:prstGeom prst="rect">
                <a:avLst/>
              </a:prstGeom>
              <a:solidFill>
                <a:srgbClr val="A51417">
                  <a:alpha val="20000"/>
                </a:srgb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/>
                  <a:t>Coupon is $70 per period </a:t>
                </a:r>
              </a:p>
              <a:p>
                <a:r>
                  <a:rPr lang="en-US" sz="2100" dirty="0"/>
                  <a:t>[(14%</a:t>
                </a:r>
                <a14:m>
                  <m:oMath xmlns:m="http://schemas.openxmlformats.org/officeDocument/2006/math">
                    <m:r>
                      <a:rPr lang="en-US" sz="21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100" dirty="0"/>
                  <a:t>$1000)/2] </a:t>
                </a:r>
                <a:endParaRPr lang="en-US" sz="2100" i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3F4B31A-62EB-F740-A71F-AB140AF71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446" y="3034526"/>
                <a:ext cx="2309987" cy="1061829"/>
              </a:xfrm>
              <a:prstGeom prst="rect">
                <a:avLst/>
              </a:prstGeom>
              <a:blipFill>
                <a:blip r:embed="rId5"/>
                <a:stretch>
                  <a:fillRect l="-2732" t="-3571" r="-6011"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B511901-7948-9F4E-B7FA-5E008F3F634A}"/>
              </a:ext>
            </a:extLst>
          </p:cNvPr>
          <p:cNvCxnSpPr>
            <a:cxnSpLocks/>
          </p:cNvCxnSpPr>
          <p:nvPr/>
        </p:nvCxnSpPr>
        <p:spPr>
          <a:xfrm>
            <a:off x="2719953" y="3595396"/>
            <a:ext cx="2480953" cy="4310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DAFD54-AF71-E049-B82D-0A837FAA8A18}"/>
                  </a:ext>
                </a:extLst>
              </p:cNvPr>
              <p:cNvSpPr txBox="1"/>
              <p:nvPr/>
            </p:nvSpPr>
            <p:spPr>
              <a:xfrm>
                <a:off x="9265634" y="5252762"/>
                <a:ext cx="2602483" cy="1061829"/>
              </a:xfrm>
              <a:prstGeom prst="rect">
                <a:avLst/>
              </a:prstGeom>
              <a:solidFill>
                <a:srgbClr val="566568">
                  <a:alpha val="20000"/>
                </a:srgb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/>
                  <a:t># of periods is 7 years </a:t>
                </a:r>
                <a14:m>
                  <m:oMath xmlns:m="http://schemas.openxmlformats.org/officeDocument/2006/math">
                    <m:r>
                      <a:rPr lang="en-US" sz="21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100" dirty="0"/>
                  <a:t> 2 payments a year = 14 </a:t>
                </a:r>
                <a:endParaRPr lang="en-US" sz="2100" i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DAFD54-AF71-E049-B82D-0A837FAA8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5634" y="5252762"/>
                <a:ext cx="2602483" cy="1061829"/>
              </a:xfrm>
              <a:prstGeom prst="rect">
                <a:avLst/>
              </a:prstGeom>
              <a:blipFill>
                <a:blip r:embed="rId6"/>
                <a:stretch>
                  <a:fillRect l="-2913" t="-3529" r="-4369" b="-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8676E58-66C4-D44F-BB18-B02178A776DA}"/>
              </a:ext>
            </a:extLst>
          </p:cNvPr>
          <p:cNvCxnSpPr>
            <a:cxnSpLocks/>
          </p:cNvCxnSpPr>
          <p:nvPr/>
        </p:nvCxnSpPr>
        <p:spPr>
          <a:xfrm flipH="1" flipV="1">
            <a:off x="8722442" y="4662499"/>
            <a:ext cx="543192" cy="5063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6D4590B-1A02-AE4E-B347-DFA29CB8BAD2}"/>
              </a:ext>
            </a:extLst>
          </p:cNvPr>
          <p:cNvSpPr/>
          <p:nvPr/>
        </p:nvSpPr>
        <p:spPr>
          <a:xfrm>
            <a:off x="5312663" y="4030531"/>
            <a:ext cx="321491" cy="342925"/>
          </a:xfrm>
          <a:prstGeom prst="rect">
            <a:avLst/>
          </a:prstGeom>
          <a:solidFill>
            <a:srgbClr val="A51417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539D04-ACBC-8447-ACD6-A9169DE45F18}"/>
              </a:ext>
            </a:extLst>
          </p:cNvPr>
          <p:cNvSpPr/>
          <p:nvPr/>
        </p:nvSpPr>
        <p:spPr>
          <a:xfrm>
            <a:off x="7053227" y="4456819"/>
            <a:ext cx="195528" cy="204955"/>
          </a:xfrm>
          <a:prstGeom prst="rect">
            <a:avLst/>
          </a:prstGeom>
          <a:solidFill>
            <a:srgbClr val="56656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85A3ED-6053-2F4E-9B02-E579DE7ABC05}"/>
              </a:ext>
            </a:extLst>
          </p:cNvPr>
          <p:cNvSpPr/>
          <p:nvPr/>
        </p:nvSpPr>
        <p:spPr>
          <a:xfrm>
            <a:off x="8470606" y="4437270"/>
            <a:ext cx="195528" cy="204955"/>
          </a:xfrm>
          <a:prstGeom prst="rect">
            <a:avLst/>
          </a:prstGeom>
          <a:solidFill>
            <a:srgbClr val="56656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483A5C-4739-CA47-8F62-74153BD1CBA1}"/>
              </a:ext>
            </a:extLst>
          </p:cNvPr>
          <p:cNvSpPr txBox="1"/>
          <p:nvPr/>
        </p:nvSpPr>
        <p:spPr>
          <a:xfrm>
            <a:off x="323883" y="5329967"/>
            <a:ext cx="2602483" cy="738664"/>
          </a:xfrm>
          <a:prstGeom prst="rect">
            <a:avLst/>
          </a:prstGeom>
          <a:solidFill>
            <a:schemeClr val="accent5">
              <a:lumMod val="75000"/>
              <a:alpha val="2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100" dirty="0"/>
              <a:t>YTM is 16%/2 = 8% for each period</a:t>
            </a:r>
            <a:endParaRPr lang="en-US" sz="2100" i="1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CB4BC6-0BB3-D34E-A657-A29C5C42B7ED}"/>
              </a:ext>
            </a:extLst>
          </p:cNvPr>
          <p:cNvSpPr/>
          <p:nvPr/>
        </p:nvSpPr>
        <p:spPr>
          <a:xfrm>
            <a:off x="5200906" y="4509138"/>
            <a:ext cx="577180" cy="307738"/>
          </a:xfrm>
          <a:prstGeom prst="rect">
            <a:avLst/>
          </a:prstGeom>
          <a:solidFill>
            <a:schemeClr val="accent5">
              <a:lumMod val="75000"/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080C3F-290B-A546-A32B-7030523B8C7D}"/>
              </a:ext>
            </a:extLst>
          </p:cNvPr>
          <p:cNvSpPr/>
          <p:nvPr/>
        </p:nvSpPr>
        <p:spPr>
          <a:xfrm>
            <a:off x="6444933" y="4559296"/>
            <a:ext cx="525859" cy="307738"/>
          </a:xfrm>
          <a:prstGeom prst="rect">
            <a:avLst/>
          </a:prstGeom>
          <a:solidFill>
            <a:schemeClr val="accent5">
              <a:lumMod val="75000"/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981224F-FA95-1E49-8D42-58AC2F0A7312}"/>
              </a:ext>
            </a:extLst>
          </p:cNvPr>
          <p:cNvSpPr/>
          <p:nvPr/>
        </p:nvSpPr>
        <p:spPr>
          <a:xfrm>
            <a:off x="7857049" y="4548219"/>
            <a:ext cx="525858" cy="307738"/>
          </a:xfrm>
          <a:prstGeom prst="rect">
            <a:avLst/>
          </a:prstGeom>
          <a:solidFill>
            <a:schemeClr val="accent5">
              <a:lumMod val="75000"/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EEC8566-433E-FE43-8A19-279FB6A442D0}"/>
              </a:ext>
            </a:extLst>
          </p:cNvPr>
          <p:cNvCxnSpPr>
            <a:cxnSpLocks/>
          </p:cNvCxnSpPr>
          <p:nvPr/>
        </p:nvCxnSpPr>
        <p:spPr>
          <a:xfrm flipV="1">
            <a:off x="3003701" y="4839456"/>
            <a:ext cx="2046981" cy="4838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Text&#10;&#10;Description automatically generated with medium confidence">
            <a:extLst>
              <a:ext uri="{FF2B5EF4-FFF2-40B4-BE49-F238E27FC236}">
                <a16:creationId xmlns:a16="http://schemas.microsoft.com/office/drawing/2014/main" id="{372B22B4-CF3B-2D47-BC99-66240C5D70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9433" y="5351250"/>
            <a:ext cx="2810095" cy="51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905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4" grpId="0" animBg="1"/>
      <p:bldP spid="15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 – </a:t>
            </a:r>
            <a:r>
              <a:rPr lang="en-US" b="1" dirty="0"/>
              <a:t>Finding YTM</a:t>
            </a:r>
            <a:endParaRPr lang="en-US" b="1" i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58520" y="1600200"/>
            <a:ext cx="10662150" cy="4778022"/>
          </a:xfrm>
        </p:spPr>
        <p:txBody>
          <a:bodyPr>
            <a:normAutofit/>
          </a:bodyPr>
          <a:lstStyle/>
          <a:p>
            <a:r>
              <a:rPr lang="en-US" dirty="0"/>
              <a:t>Please take 10 minutes to answer the below question        </a:t>
            </a:r>
            <a:r>
              <a:rPr lang="en-US" i="1" dirty="0"/>
              <a:t>[which is based on examples 6.3 and 6.4 of the textbook]</a:t>
            </a:r>
          </a:p>
          <a:p>
            <a:endParaRPr lang="en-US" sz="800" dirty="0"/>
          </a:p>
          <a:p>
            <a:pPr lvl="1"/>
            <a:r>
              <a:rPr lang="en-US" b="1" dirty="0"/>
              <a:t>Consider a five-year, $1,000 bond with a 2.2% coupon rate and semiannual coupons.  If this bond is currently trading for a price of $963.11, what is the bond’s yield to maturity? </a:t>
            </a:r>
          </a:p>
          <a:p>
            <a:pPr lvl="1"/>
            <a:r>
              <a:rPr lang="en-US" b="1" dirty="0"/>
              <a:t>Hint: </a:t>
            </a:r>
            <a:r>
              <a:rPr lang="en-US" dirty="0"/>
              <a:t>You should first create a timeline of promised cash flows. Then, you should use IRR function in MS Excel to solve for what the IRR will be if pay $963.11 to get this stream of cash flows.</a:t>
            </a:r>
          </a:p>
          <a:p>
            <a:pPr lvl="1"/>
            <a:endParaRPr lang="en-US" sz="400" i="1" dirty="0"/>
          </a:p>
        </p:txBody>
      </p:sp>
    </p:spTree>
    <p:extLst>
      <p:ext uri="{BB962C8B-B14F-4D97-AF65-F5344CB8AC3E}">
        <p14:creationId xmlns:p14="http://schemas.microsoft.com/office/powerpoint/2010/main" val="869551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 – </a:t>
            </a:r>
            <a:r>
              <a:rPr lang="en-US" b="1" dirty="0"/>
              <a:t>Valuing a bond</a:t>
            </a:r>
            <a:endParaRPr lang="en-US" b="1" i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58520" y="1600200"/>
            <a:ext cx="10662150" cy="4778022"/>
          </a:xfrm>
        </p:spPr>
        <p:txBody>
          <a:bodyPr>
            <a:normAutofit/>
          </a:bodyPr>
          <a:lstStyle/>
          <a:p>
            <a:r>
              <a:rPr lang="en-US" dirty="0"/>
              <a:t>Now, please take 10 minutes to answer the below question             </a:t>
            </a:r>
            <a:r>
              <a:rPr lang="en-US" i="1" dirty="0"/>
              <a:t>[which is based on example 6.5 of the textbook]</a:t>
            </a:r>
          </a:p>
          <a:p>
            <a:endParaRPr lang="en-US" sz="800" i="1" dirty="0"/>
          </a:p>
          <a:p>
            <a:pPr lvl="1"/>
            <a:r>
              <a:rPr lang="en-US" b="1" dirty="0"/>
              <a:t>Using the same information as last question, now suppose the YTM of the bond drops to 2%... what will the new bond price be?</a:t>
            </a:r>
          </a:p>
          <a:p>
            <a:pPr lvl="1"/>
            <a:r>
              <a:rPr lang="en-US" b="1" dirty="0"/>
              <a:t>And explain why the bond price changes in the direction that it does.  I.e., if it rises, explain why.  If it falls, explain why.</a:t>
            </a:r>
          </a:p>
          <a:p>
            <a:pPr lvl="1"/>
            <a:endParaRPr lang="en-US" sz="400" i="1" dirty="0"/>
          </a:p>
        </p:txBody>
      </p:sp>
    </p:spTree>
    <p:extLst>
      <p:ext uri="{BB962C8B-B14F-4D97-AF65-F5344CB8AC3E}">
        <p14:creationId xmlns:p14="http://schemas.microsoft.com/office/powerpoint/2010/main" val="2266128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Bond prices and yields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361367"/>
            <a:ext cx="10460278" cy="4778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800" dirty="0"/>
          </a:p>
          <a:p>
            <a:r>
              <a:rPr lang="en-US" dirty="0"/>
              <a:t>Bond prices and interest rates (i.e., the YTM demanded by investors) are </a:t>
            </a:r>
            <a:r>
              <a:rPr lang="en-US" b="1" u="sng" dirty="0"/>
              <a:t>always</a:t>
            </a:r>
            <a:r>
              <a:rPr lang="en-US" dirty="0"/>
              <a:t> inversely related</a:t>
            </a:r>
          </a:p>
          <a:p>
            <a:pPr lvl="1"/>
            <a:endParaRPr lang="en-US" sz="800" b="1" dirty="0">
              <a:solidFill>
                <a:srgbClr val="A51417"/>
              </a:solidFill>
            </a:endParaRPr>
          </a:p>
          <a:p>
            <a:pPr lvl="1"/>
            <a:r>
              <a:rPr lang="en-US" dirty="0">
                <a:solidFill>
                  <a:srgbClr val="69787B"/>
                </a:solidFill>
              </a:rPr>
              <a:t>As interest rates rise, investors discount the future cash flow stream more (i.e., value it less), and the bond’s price will fall</a:t>
            </a:r>
          </a:p>
          <a:p>
            <a:pPr lvl="1"/>
            <a:r>
              <a:rPr lang="en-US" dirty="0">
                <a:solidFill>
                  <a:srgbClr val="69787B"/>
                </a:solidFill>
              </a:rPr>
              <a:t>As interest rates fall, investors discount the future cash flow stream less (i.e., value it more), and the bond’s price will rise</a:t>
            </a:r>
          </a:p>
          <a:p>
            <a:endParaRPr lang="en-US" sz="800" dirty="0"/>
          </a:p>
          <a:p>
            <a:r>
              <a:rPr lang="en-US" b="1" dirty="0"/>
              <a:t>Key point </a:t>
            </a:r>
            <a:r>
              <a:rPr lang="en-US" dirty="0"/>
              <a:t>= a bond’s coupon &amp; face value does not change over time; only our value of them changes</a:t>
            </a:r>
          </a:p>
          <a:p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u="sng" dirty="0"/>
          </a:p>
          <a:p>
            <a:endParaRPr lang="en-US" sz="8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29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General information about bond markets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361367"/>
            <a:ext cx="10221291" cy="4778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800" dirty="0"/>
          </a:p>
          <a:p>
            <a:r>
              <a:rPr lang="en-US" dirty="0"/>
              <a:t>Let’s now finish our discussion of bonds with some additional information about bond markets</a:t>
            </a:r>
          </a:p>
          <a:p>
            <a:endParaRPr lang="en-US" sz="400" b="1" dirty="0"/>
          </a:p>
          <a:p>
            <a:pPr lvl="1"/>
            <a:r>
              <a:rPr lang="en-US" dirty="0"/>
              <a:t>Bond price terminology</a:t>
            </a:r>
          </a:p>
          <a:p>
            <a:pPr lvl="1"/>
            <a:r>
              <a:rPr lang="en-US" dirty="0"/>
              <a:t>Zero-coupon bonds</a:t>
            </a:r>
          </a:p>
          <a:p>
            <a:pPr lvl="1"/>
            <a:r>
              <a:rPr lang="en-US" dirty="0"/>
              <a:t>US Treasury terminology</a:t>
            </a:r>
          </a:p>
          <a:p>
            <a:pPr lvl="1"/>
            <a:r>
              <a:rPr lang="en-US" dirty="0"/>
              <a:t>Corporate bonds, credit ratings, credit spreads</a:t>
            </a:r>
          </a:p>
          <a:p>
            <a:pPr lvl="1"/>
            <a:r>
              <a:rPr lang="en-US" dirty="0"/>
              <a:t>Where to find bond price information?</a:t>
            </a:r>
          </a:p>
          <a:p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b="1" dirty="0">
              <a:solidFill>
                <a:srgbClr val="A51417"/>
              </a:solidFill>
            </a:endParaRPr>
          </a:p>
          <a:p>
            <a:endParaRPr lang="en-US" sz="800" dirty="0"/>
          </a:p>
          <a:p>
            <a:endParaRPr lang="en-US" sz="800" u="sng" dirty="0"/>
          </a:p>
          <a:p>
            <a:endParaRPr lang="en-US" sz="8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052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Bond price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489" y="1259142"/>
            <a:ext cx="10221291" cy="4778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800" dirty="0"/>
          </a:p>
          <a:p>
            <a:r>
              <a:rPr lang="en-US" dirty="0"/>
              <a:t>A bond is said to be selling at…</a:t>
            </a:r>
          </a:p>
          <a:p>
            <a:endParaRPr lang="en-US" sz="400" b="1" dirty="0"/>
          </a:p>
          <a:p>
            <a:pPr lvl="1"/>
            <a:r>
              <a:rPr lang="en-US" b="1" u="sng" dirty="0"/>
              <a:t>Discount</a:t>
            </a:r>
            <a:r>
              <a:rPr lang="en-US" dirty="0"/>
              <a:t> if price is less than face value</a:t>
            </a:r>
          </a:p>
          <a:p>
            <a:pPr lvl="1"/>
            <a:r>
              <a:rPr lang="en-US" b="1" u="sng" dirty="0"/>
              <a:t>Par</a:t>
            </a:r>
            <a:r>
              <a:rPr lang="en-US" dirty="0"/>
              <a:t> if the price is equal to the face value</a:t>
            </a:r>
          </a:p>
          <a:p>
            <a:pPr lvl="1"/>
            <a:r>
              <a:rPr lang="en-US" b="1" u="sng" dirty="0"/>
              <a:t>Premium</a:t>
            </a:r>
            <a:r>
              <a:rPr lang="en-US" dirty="0"/>
              <a:t> if price is greater than face value</a:t>
            </a:r>
          </a:p>
          <a:p>
            <a:endParaRPr lang="en-US" sz="800" dirty="0"/>
          </a:p>
          <a:p>
            <a:r>
              <a:rPr lang="en-US" dirty="0"/>
              <a:t>Whether coupon rate exceeds YTM determines this…</a:t>
            </a:r>
          </a:p>
          <a:p>
            <a:pPr lvl="1"/>
            <a:endParaRPr lang="en-US" sz="800" dirty="0"/>
          </a:p>
          <a:p>
            <a:pPr lvl="1"/>
            <a:endParaRPr lang="en-US" sz="800" b="1" dirty="0">
              <a:solidFill>
                <a:srgbClr val="A51417"/>
              </a:solidFill>
            </a:endParaRPr>
          </a:p>
          <a:p>
            <a:endParaRPr lang="en-US" sz="800" dirty="0"/>
          </a:p>
          <a:p>
            <a:endParaRPr lang="en-US" sz="800" u="sng" dirty="0"/>
          </a:p>
          <a:p>
            <a:endParaRPr lang="en-US" sz="8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2FDA85CF-A6A4-5448-85F0-6932D25F8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017" y="4170309"/>
            <a:ext cx="5725358" cy="17134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8860A8-8ED2-4048-A94B-068411C380B7}"/>
              </a:ext>
            </a:extLst>
          </p:cNvPr>
          <p:cNvSpPr txBox="1"/>
          <p:nvPr/>
        </p:nvSpPr>
        <p:spPr>
          <a:xfrm>
            <a:off x="7956954" y="5237406"/>
            <a:ext cx="2126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66568"/>
                </a:solidFill>
              </a:rPr>
              <a:t>Table 6.3: Berk, </a:t>
            </a:r>
            <a:r>
              <a:rPr lang="en-US" sz="1200" dirty="0" err="1">
                <a:solidFill>
                  <a:srgbClr val="566568"/>
                </a:solidFill>
              </a:rPr>
              <a:t>Demarzo</a:t>
            </a:r>
            <a:r>
              <a:rPr lang="en-US" sz="1200" dirty="0">
                <a:solidFill>
                  <a:srgbClr val="566568"/>
                </a:solidFill>
              </a:rPr>
              <a:t>, and Harford, </a:t>
            </a:r>
            <a:r>
              <a:rPr lang="en-US" sz="1200" i="1" dirty="0">
                <a:solidFill>
                  <a:srgbClr val="566568"/>
                </a:solidFill>
              </a:rPr>
              <a:t>Fundamentals of Corporate Finance, 5</a:t>
            </a:r>
            <a:r>
              <a:rPr lang="en-US" sz="1200" i="1" baseline="30000" dirty="0">
                <a:solidFill>
                  <a:srgbClr val="566568"/>
                </a:solidFill>
              </a:rPr>
              <a:t>th</a:t>
            </a:r>
            <a:r>
              <a:rPr lang="en-US" sz="1200" i="1" dirty="0">
                <a:solidFill>
                  <a:srgbClr val="566568"/>
                </a:solidFill>
              </a:rPr>
              <a:t> Ed.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74FFEFE-D7B3-5E4B-A280-FB18F7A55038}"/>
              </a:ext>
            </a:extLst>
          </p:cNvPr>
          <p:cNvCxnSpPr>
            <a:cxnSpLocks/>
          </p:cNvCxnSpPr>
          <p:nvPr/>
        </p:nvCxnSpPr>
        <p:spPr>
          <a:xfrm flipH="1">
            <a:off x="7185499" y="2412348"/>
            <a:ext cx="1147863" cy="2571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1B58304-A222-4543-9C69-F0EE778DEEDA}"/>
              </a:ext>
            </a:extLst>
          </p:cNvPr>
          <p:cNvSpPr txBox="1"/>
          <p:nvPr/>
        </p:nvSpPr>
        <p:spPr>
          <a:xfrm>
            <a:off x="8479938" y="1756113"/>
            <a:ext cx="3253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Most firms set coupon rate such that bonds initially sell at par value </a:t>
            </a:r>
            <a:r>
              <a:rPr lang="en-US" sz="2400" dirty="0">
                <a:solidFill>
                  <a:srgbClr val="A51417"/>
                </a:solidFill>
              </a:rPr>
              <a:t>[How?]</a:t>
            </a:r>
            <a:endParaRPr lang="en-US" sz="2400" i="1" dirty="0">
              <a:solidFill>
                <a:srgbClr val="A514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34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Zero-coupon bonds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361367"/>
            <a:ext cx="10221291" cy="4778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800" dirty="0"/>
          </a:p>
          <a:p>
            <a:r>
              <a:rPr lang="en-US" dirty="0"/>
              <a:t>These bonds do </a:t>
            </a:r>
            <a:r>
              <a:rPr lang="en-US" b="1" u="sng" dirty="0"/>
              <a:t>not</a:t>
            </a:r>
            <a:r>
              <a:rPr lang="en-US" dirty="0"/>
              <a:t> make any coupon payments; they only return principal (the face value) at maturity</a:t>
            </a:r>
          </a:p>
          <a:p>
            <a:endParaRPr lang="en-US" sz="800" b="1" dirty="0"/>
          </a:p>
          <a:p>
            <a:pPr lvl="1"/>
            <a:r>
              <a:rPr lang="en-US" dirty="0"/>
              <a:t>Investors’ compensation is difference between price &amp; the face value</a:t>
            </a:r>
          </a:p>
          <a:p>
            <a:pPr lvl="1"/>
            <a:endParaRPr lang="en-US" sz="800" dirty="0"/>
          </a:p>
          <a:p>
            <a:pPr lvl="2"/>
            <a:r>
              <a:rPr lang="en-US" b="1" dirty="0"/>
              <a:t>E.g., a zero-coupon bond with $100,000 face value that matures in one year might have an initial price of $99,910</a:t>
            </a:r>
          </a:p>
          <a:p>
            <a:endParaRPr lang="en-US" sz="800" b="1" dirty="0"/>
          </a:p>
          <a:p>
            <a:pPr lvl="1"/>
            <a:r>
              <a:rPr lang="en-US" dirty="0">
                <a:solidFill>
                  <a:srgbClr val="A51417"/>
                </a:solidFill>
              </a:rPr>
              <a:t>When issued, will these bonds sell at a discount or premium?</a:t>
            </a:r>
          </a:p>
          <a:p>
            <a:pPr lvl="1"/>
            <a:r>
              <a:rPr lang="en-US" dirty="0">
                <a:solidFill>
                  <a:srgbClr val="A51417"/>
                </a:solidFill>
              </a:rPr>
              <a:t>And does anyone know a classic example of such a bond? </a:t>
            </a:r>
            <a:endParaRPr lang="en-US" sz="800" b="1" dirty="0">
              <a:solidFill>
                <a:srgbClr val="A51417"/>
              </a:solidFill>
            </a:endParaRPr>
          </a:p>
          <a:p>
            <a:endParaRPr lang="en-US" sz="800" dirty="0"/>
          </a:p>
          <a:p>
            <a:endParaRPr lang="en-US" sz="800" u="sng" dirty="0"/>
          </a:p>
          <a:p>
            <a:endParaRPr lang="en-US" sz="8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510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 Treasuries [the risk-free benchmark]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361367"/>
            <a:ext cx="10221291" cy="4778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800" dirty="0"/>
          </a:p>
          <a:p>
            <a:r>
              <a:rPr lang="en-US" dirty="0"/>
              <a:t>For US Treasuries, the different names (“bill” </a:t>
            </a:r>
            <a:r>
              <a:rPr lang="en-US" i="1" dirty="0"/>
              <a:t>vs. “</a:t>
            </a:r>
            <a:r>
              <a:rPr lang="en-US" dirty="0"/>
              <a:t>note” </a:t>
            </a:r>
            <a:r>
              <a:rPr lang="en-US" i="1" dirty="0"/>
              <a:t>vs. “</a:t>
            </a:r>
            <a:r>
              <a:rPr lang="en-US" dirty="0"/>
              <a:t>bond”) refer to the types of US government bonds</a:t>
            </a:r>
            <a:endParaRPr lang="en-US" sz="800" dirty="0"/>
          </a:p>
          <a:p>
            <a:endParaRPr lang="en-US" sz="800" u="sng" dirty="0"/>
          </a:p>
          <a:p>
            <a:endParaRPr lang="en-US" sz="8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F742E119-5FEB-0F43-8601-BAF17823F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490" y="2899923"/>
            <a:ext cx="8788400" cy="20828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9D29929-E902-AD49-B0FD-28603B371466}"/>
              </a:ext>
            </a:extLst>
          </p:cNvPr>
          <p:cNvCxnSpPr>
            <a:cxnSpLocks/>
          </p:cNvCxnSpPr>
          <p:nvPr/>
        </p:nvCxnSpPr>
        <p:spPr>
          <a:xfrm flipH="1" flipV="1">
            <a:off x="5292509" y="3746419"/>
            <a:ext cx="868342" cy="15193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3D001A7-4EDB-6649-B10A-8904265D2DC9}"/>
              </a:ext>
            </a:extLst>
          </p:cNvPr>
          <p:cNvSpPr txBox="1"/>
          <p:nvPr/>
        </p:nvSpPr>
        <p:spPr>
          <a:xfrm>
            <a:off x="5769164" y="5334514"/>
            <a:ext cx="3499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“Discount” is another term for “zero-coupon”</a:t>
            </a:r>
            <a:endParaRPr lang="en-US" sz="2400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84A228-2BEF-4F41-BD01-F8DDC9702210}"/>
              </a:ext>
            </a:extLst>
          </p:cNvPr>
          <p:cNvSpPr txBox="1"/>
          <p:nvPr/>
        </p:nvSpPr>
        <p:spPr>
          <a:xfrm>
            <a:off x="1484490" y="5034968"/>
            <a:ext cx="3120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66568"/>
                </a:solidFill>
              </a:rPr>
              <a:t>Table 6.2: Berk, </a:t>
            </a:r>
            <a:r>
              <a:rPr lang="en-US" sz="1200" dirty="0" err="1">
                <a:solidFill>
                  <a:srgbClr val="566568"/>
                </a:solidFill>
              </a:rPr>
              <a:t>Demarzo</a:t>
            </a:r>
            <a:r>
              <a:rPr lang="en-US" sz="1200" dirty="0">
                <a:solidFill>
                  <a:srgbClr val="566568"/>
                </a:solidFill>
              </a:rPr>
              <a:t>, and Harford, </a:t>
            </a:r>
            <a:r>
              <a:rPr lang="en-US" sz="1200" i="1" dirty="0">
                <a:solidFill>
                  <a:srgbClr val="566568"/>
                </a:solidFill>
              </a:rPr>
              <a:t>Fundamentals of Corporate Finance, 5</a:t>
            </a:r>
            <a:r>
              <a:rPr lang="en-US" sz="1200" i="1" baseline="30000" dirty="0">
                <a:solidFill>
                  <a:srgbClr val="566568"/>
                </a:solidFill>
              </a:rPr>
              <a:t>th</a:t>
            </a:r>
            <a:r>
              <a:rPr lang="en-US" sz="1200" i="1" dirty="0">
                <a:solidFill>
                  <a:srgbClr val="566568"/>
                </a:solidFill>
              </a:rPr>
              <a:t> Ed.</a:t>
            </a:r>
          </a:p>
        </p:txBody>
      </p:sp>
    </p:spTree>
    <p:extLst>
      <p:ext uri="{BB962C8B-B14F-4D97-AF65-F5344CB8AC3E}">
        <p14:creationId xmlns:p14="http://schemas.microsoft.com/office/powerpoint/2010/main" val="324226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Corporate bonds &amp; credit risk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20" y="1361367"/>
            <a:ext cx="9458246" cy="4778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800" dirty="0"/>
          </a:p>
          <a:p>
            <a:r>
              <a:rPr lang="en-US" dirty="0"/>
              <a:t>Corporate bonds are bonds issued by companies</a:t>
            </a:r>
          </a:p>
          <a:p>
            <a:r>
              <a:rPr lang="en-US" dirty="0"/>
              <a:t>These bonds have a risk of default (i.e., “credit risk”), and hence, will provide a higher expected return</a:t>
            </a:r>
          </a:p>
          <a:p>
            <a:endParaRPr lang="en-US" sz="800" dirty="0"/>
          </a:p>
          <a:p>
            <a:pPr lvl="1"/>
            <a:r>
              <a:rPr lang="en-US" dirty="0"/>
              <a:t>Also, bond coupons are “promised” payments, and not necessarily what investors “expect” to receive</a:t>
            </a:r>
          </a:p>
          <a:p>
            <a:pPr lvl="1"/>
            <a:r>
              <a:rPr lang="en-US" dirty="0"/>
              <a:t>Likewise, YTM is “promised” yield, and not necessarily what investors’ “expected return” </a:t>
            </a:r>
            <a:endParaRPr lang="en-US" sz="800" dirty="0"/>
          </a:p>
          <a:p>
            <a:endParaRPr lang="en-US" sz="800" dirty="0"/>
          </a:p>
          <a:p>
            <a:endParaRPr lang="en-US" sz="800" u="sng" dirty="0"/>
          </a:p>
          <a:p>
            <a:endParaRPr lang="en-US" sz="8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9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Bond ratings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20" y="1361367"/>
            <a:ext cx="10093786" cy="477802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800" dirty="0"/>
          </a:p>
          <a:p>
            <a:r>
              <a:rPr lang="en-US" dirty="0"/>
              <a:t>Credit rating agencies (e.g., S&amp;P, Moody’s, and Fitch) rate bonds based on likelihood of default; e.g., for S&amp;P…</a:t>
            </a:r>
          </a:p>
          <a:p>
            <a:endParaRPr lang="en-US" sz="800" dirty="0"/>
          </a:p>
          <a:p>
            <a:pPr lvl="1"/>
            <a:r>
              <a:rPr lang="en-US" dirty="0"/>
              <a:t>AAA </a:t>
            </a:r>
            <a:r>
              <a:rPr lang="en-US" i="1" dirty="0"/>
              <a:t>[highest rating, least risk of default]</a:t>
            </a:r>
          </a:p>
          <a:p>
            <a:pPr lvl="1"/>
            <a:r>
              <a:rPr lang="en-US" dirty="0"/>
              <a:t>AA </a:t>
            </a:r>
          </a:p>
          <a:p>
            <a:pPr lvl="1"/>
            <a:r>
              <a:rPr lang="en-US" dirty="0"/>
              <a:t>A</a:t>
            </a:r>
          </a:p>
          <a:p>
            <a:pPr lvl="1"/>
            <a:r>
              <a:rPr lang="en-US" dirty="0"/>
              <a:t>BBB</a:t>
            </a:r>
          </a:p>
          <a:p>
            <a:pPr lvl="1"/>
            <a:r>
              <a:rPr lang="en-US" dirty="0"/>
              <a:t>BB</a:t>
            </a:r>
          </a:p>
          <a:p>
            <a:pPr lvl="1"/>
            <a:r>
              <a:rPr lang="en-US" dirty="0"/>
              <a:t>B</a:t>
            </a:r>
          </a:p>
          <a:p>
            <a:pPr lvl="1"/>
            <a:r>
              <a:rPr lang="en-US" dirty="0"/>
              <a:t>CCC</a:t>
            </a:r>
          </a:p>
          <a:p>
            <a:pPr lvl="1"/>
            <a:r>
              <a:rPr lang="en-US" dirty="0"/>
              <a:t>CC</a:t>
            </a:r>
          </a:p>
          <a:p>
            <a:pPr lvl="1"/>
            <a:r>
              <a:rPr lang="en-US" dirty="0"/>
              <a:t>C </a:t>
            </a:r>
            <a:r>
              <a:rPr lang="en-US" i="1" dirty="0"/>
              <a:t>[lowest rating, greatest risk of default]</a:t>
            </a:r>
            <a:endParaRPr lang="en-US" sz="800" u="sng" dirty="0"/>
          </a:p>
          <a:p>
            <a:endParaRPr lang="en-US" sz="8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4C75D1-24DA-6A4C-A9CC-8450852FDA9F}"/>
              </a:ext>
            </a:extLst>
          </p:cNvPr>
          <p:cNvSpPr txBox="1"/>
          <p:nvPr/>
        </p:nvSpPr>
        <p:spPr>
          <a:xfrm>
            <a:off x="7546791" y="3003646"/>
            <a:ext cx="3999036" cy="461665"/>
          </a:xfrm>
          <a:prstGeom prst="rect">
            <a:avLst/>
          </a:prstGeom>
          <a:solidFill>
            <a:srgbClr val="A51417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“Investment grade” bonds</a:t>
            </a:r>
            <a:endParaRPr lang="en-US" sz="2400" i="1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F70373E-5B69-554B-AF48-47D8607B7498}"/>
              </a:ext>
            </a:extLst>
          </p:cNvPr>
          <p:cNvCxnSpPr>
            <a:cxnSpLocks/>
          </p:cNvCxnSpPr>
          <p:nvPr/>
        </p:nvCxnSpPr>
        <p:spPr>
          <a:xfrm flipH="1">
            <a:off x="6599861" y="3234479"/>
            <a:ext cx="80846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E57958E-7531-BF44-9026-6B98D2C5E2B5}"/>
              </a:ext>
            </a:extLst>
          </p:cNvPr>
          <p:cNvSpPr txBox="1"/>
          <p:nvPr/>
        </p:nvSpPr>
        <p:spPr>
          <a:xfrm>
            <a:off x="7546791" y="4198842"/>
            <a:ext cx="3630008" cy="1200329"/>
          </a:xfrm>
          <a:prstGeom prst="rect">
            <a:avLst/>
          </a:prstGeom>
          <a:solidFill>
            <a:srgbClr val="566568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These are referred to as “junk,” “high-yield,” or “speculative” bonds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BDD929F-25AD-5746-9B9F-BB755B8308F0}"/>
              </a:ext>
            </a:extLst>
          </p:cNvPr>
          <p:cNvCxnSpPr>
            <a:cxnSpLocks/>
          </p:cNvCxnSpPr>
          <p:nvPr/>
        </p:nvCxnSpPr>
        <p:spPr>
          <a:xfrm flipH="1">
            <a:off x="6599861" y="4448089"/>
            <a:ext cx="80846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666C0FE7-2EB6-C644-8EAE-29AB111C2E76}"/>
              </a:ext>
            </a:extLst>
          </p:cNvPr>
          <p:cNvSpPr/>
          <p:nvPr/>
        </p:nvSpPr>
        <p:spPr>
          <a:xfrm>
            <a:off x="1083013" y="2434578"/>
            <a:ext cx="5467007" cy="1450000"/>
          </a:xfrm>
          <a:prstGeom prst="rect">
            <a:avLst/>
          </a:prstGeom>
          <a:solidFill>
            <a:srgbClr val="A51417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FE2DCE-D754-6D4C-AA3B-C9988897F18B}"/>
              </a:ext>
            </a:extLst>
          </p:cNvPr>
          <p:cNvSpPr/>
          <p:nvPr/>
        </p:nvSpPr>
        <p:spPr>
          <a:xfrm>
            <a:off x="1083013" y="3930756"/>
            <a:ext cx="5467007" cy="1847474"/>
          </a:xfrm>
          <a:prstGeom prst="rect">
            <a:avLst/>
          </a:prstGeom>
          <a:solidFill>
            <a:srgbClr val="56656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482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Credit spread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20" y="1361367"/>
            <a:ext cx="5437480" cy="4778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800" dirty="0"/>
          </a:p>
          <a:p>
            <a:r>
              <a:rPr lang="en-US" dirty="0"/>
              <a:t>Credit spread is difference between YTM on corporate bond and risk-free rate on US Treasury of same maturity</a:t>
            </a:r>
          </a:p>
          <a:p>
            <a:endParaRPr lang="en-US" sz="800" dirty="0"/>
          </a:p>
          <a:p>
            <a:pPr lvl="1"/>
            <a:r>
              <a:rPr lang="en-US" dirty="0"/>
              <a:t>Also called the “default spread”</a:t>
            </a:r>
          </a:p>
          <a:p>
            <a:pPr lvl="1"/>
            <a:r>
              <a:rPr lang="en-US" dirty="0"/>
              <a:t>Riskier firms pay higher spread </a:t>
            </a:r>
            <a:r>
              <a:rPr lang="en-US" i="1" dirty="0"/>
              <a:t>[i.e., their cost of debt is higher]</a:t>
            </a:r>
          </a:p>
          <a:p>
            <a:endParaRPr lang="en-US" sz="800" dirty="0"/>
          </a:p>
          <a:p>
            <a:endParaRPr lang="en-US" sz="800" u="sng" dirty="0"/>
          </a:p>
          <a:p>
            <a:endParaRPr lang="en-US" sz="8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757BB4-B2D4-6E46-A818-B55328DF3E94}"/>
              </a:ext>
            </a:extLst>
          </p:cNvPr>
          <p:cNvSpPr txBox="1"/>
          <p:nvPr/>
        </p:nvSpPr>
        <p:spPr>
          <a:xfrm>
            <a:off x="6241479" y="5839263"/>
            <a:ext cx="3120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66568"/>
                </a:solidFill>
              </a:rPr>
              <a:t>Figure 6.6: Berk, </a:t>
            </a:r>
            <a:r>
              <a:rPr lang="en-US" sz="1200" dirty="0" err="1">
                <a:solidFill>
                  <a:srgbClr val="566568"/>
                </a:solidFill>
              </a:rPr>
              <a:t>Demarzo</a:t>
            </a:r>
            <a:r>
              <a:rPr lang="en-US" sz="1200" dirty="0">
                <a:solidFill>
                  <a:srgbClr val="566568"/>
                </a:solidFill>
              </a:rPr>
              <a:t>, and Harford, </a:t>
            </a:r>
            <a:r>
              <a:rPr lang="en-US" sz="1200" i="1" dirty="0">
                <a:solidFill>
                  <a:srgbClr val="566568"/>
                </a:solidFill>
              </a:rPr>
              <a:t>Fundamentals of Corporate Finance, 5</a:t>
            </a:r>
            <a:r>
              <a:rPr lang="en-US" sz="1200" i="1" baseline="30000" dirty="0">
                <a:solidFill>
                  <a:srgbClr val="566568"/>
                </a:solidFill>
              </a:rPr>
              <a:t>th</a:t>
            </a:r>
            <a:r>
              <a:rPr lang="en-US" sz="1200" i="1" dirty="0">
                <a:solidFill>
                  <a:srgbClr val="566568"/>
                </a:solidFill>
              </a:rPr>
              <a:t> Ed.</a:t>
            </a: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48E1C860-DD17-6343-A39D-D0463A7C8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479" y="1412147"/>
            <a:ext cx="4556825" cy="443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400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find bond prices, ratings, &amp; yields?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20" y="1361367"/>
            <a:ext cx="9458246" cy="4778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800" dirty="0"/>
          </a:p>
          <a:p>
            <a:r>
              <a:rPr lang="en-US" dirty="0"/>
              <a:t>No central location where bonds are traded</a:t>
            </a:r>
          </a:p>
          <a:p>
            <a:r>
              <a:rPr lang="en-US" dirty="0"/>
              <a:t>However, FINRA is trying to make it easier to find most recent trade price (and implied yield) on their website</a:t>
            </a:r>
          </a:p>
          <a:p>
            <a:endParaRPr lang="en-US" sz="800" dirty="0"/>
          </a:p>
          <a:p>
            <a:pPr lvl="1"/>
            <a:r>
              <a:rPr lang="en-US" dirty="0">
                <a:solidFill>
                  <a:srgbClr val="A5141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https://www.finra.org/finra-data/fixed-income/about-cna-data</a:t>
            </a:r>
            <a:endParaRPr lang="en-US" dirty="0">
              <a:solidFill>
                <a:srgbClr val="A51417"/>
              </a:solidFill>
            </a:endParaRPr>
          </a:p>
          <a:p>
            <a:pPr lvl="1"/>
            <a:r>
              <a:rPr lang="en-US" dirty="0"/>
              <a:t>Let’s click the above link to see an example…</a:t>
            </a:r>
          </a:p>
          <a:p>
            <a:endParaRPr lang="en-US" sz="800" dirty="0"/>
          </a:p>
          <a:p>
            <a:endParaRPr lang="en-US" sz="800" u="sng" dirty="0"/>
          </a:p>
          <a:p>
            <a:endParaRPr lang="en-US" sz="8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322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 of stock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Motivation for valuing stocks</a:t>
            </a:r>
          </a:p>
          <a:p>
            <a:r>
              <a:rPr lang="en-US" dirty="0"/>
              <a:t>Difference between stocks &amp; bonds</a:t>
            </a:r>
          </a:p>
          <a:p>
            <a:r>
              <a:rPr lang="en-US" dirty="0"/>
              <a:t>Using DCF to value stocks</a:t>
            </a:r>
          </a:p>
          <a:p>
            <a:endParaRPr lang="en-US" sz="800" dirty="0"/>
          </a:p>
          <a:p>
            <a:pPr lvl="1"/>
            <a:r>
              <a:rPr lang="en-US" dirty="0"/>
              <a:t>Dividend-discount model</a:t>
            </a:r>
          </a:p>
          <a:p>
            <a:pPr lvl="1"/>
            <a:r>
              <a:rPr lang="en-US" dirty="0"/>
              <a:t>Total payout model</a:t>
            </a:r>
          </a:p>
          <a:p>
            <a:pPr lvl="1"/>
            <a:r>
              <a:rPr lang="en-US" dirty="0"/>
              <a:t>Discounted free cash flow model</a:t>
            </a:r>
          </a:p>
          <a:p>
            <a:endParaRPr lang="en-US" sz="800" dirty="0"/>
          </a:p>
          <a:p>
            <a:pPr marL="457200" lvl="1" indent="0">
              <a:buNone/>
            </a:pPr>
            <a:endParaRPr lang="en-US" b="1" dirty="0">
              <a:solidFill>
                <a:srgbClr val="A5141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030DED-3665-FB4F-AC11-13EE39A5F40A}"/>
              </a:ext>
            </a:extLst>
          </p:cNvPr>
          <p:cNvSpPr/>
          <p:nvPr/>
        </p:nvSpPr>
        <p:spPr>
          <a:xfrm>
            <a:off x="658519" y="1660890"/>
            <a:ext cx="6168092" cy="471638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808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Motivation for valuing stocks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help with personal investments</a:t>
            </a:r>
          </a:p>
          <a:p>
            <a:pPr marL="0" indent="0">
              <a:buNone/>
            </a:pPr>
            <a:endParaRPr lang="en-US" sz="800" dirty="0"/>
          </a:p>
          <a:p>
            <a:pPr lvl="1"/>
            <a:r>
              <a:rPr lang="en-US" dirty="0"/>
              <a:t>E.g., if Meta (i.e., Facebook) stock is trading at $85.32, should you buy it? Should you sell it?  </a:t>
            </a:r>
            <a:r>
              <a:rPr lang="en-US" b="1" dirty="0">
                <a:solidFill>
                  <a:srgbClr val="A51417"/>
                </a:solidFill>
              </a:rPr>
              <a:t>Intuitively, how do you make this decision?</a:t>
            </a:r>
          </a:p>
          <a:p>
            <a:pPr lvl="1"/>
            <a:endParaRPr lang="en-US" sz="800" dirty="0"/>
          </a:p>
          <a:p>
            <a:r>
              <a:rPr lang="en-US" dirty="0"/>
              <a:t>Knowing how to value stocks will also help you see how positive NPV projects affect a company’s share price</a:t>
            </a:r>
          </a:p>
          <a:p>
            <a:endParaRPr lang="en-US" sz="800" dirty="0"/>
          </a:p>
          <a:p>
            <a:pPr lvl="1"/>
            <a:r>
              <a:rPr lang="en-US" dirty="0"/>
              <a:t>E.g., if Apple were to announce tomorrow that it will produce an Apple car and its share price falls by 5% [which is about $50 billion drop in the total market value of its equity], </a:t>
            </a:r>
            <a:r>
              <a:rPr lang="en-US" b="1" dirty="0">
                <a:solidFill>
                  <a:srgbClr val="A51417"/>
                </a:solidFill>
              </a:rPr>
              <a:t>what would that mean?</a:t>
            </a:r>
          </a:p>
          <a:p>
            <a:pPr lvl="1"/>
            <a:endParaRPr lang="en-US" dirty="0"/>
          </a:p>
          <a:p>
            <a:endParaRPr lang="en-US" sz="800" dirty="0"/>
          </a:p>
          <a:p>
            <a:pPr marL="457200" lvl="1" indent="0">
              <a:buNone/>
            </a:pPr>
            <a:endParaRPr lang="en-US" b="1" dirty="0">
              <a:solidFill>
                <a:srgbClr val="A514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1062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difference between stocks &amp; bonds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Stock is a form of </a:t>
            </a:r>
            <a:r>
              <a:rPr lang="en-US" b="1" dirty="0"/>
              <a:t>‘equity’</a:t>
            </a:r>
          </a:p>
          <a:p>
            <a:pPr marL="0" indent="0">
              <a:buNone/>
            </a:pPr>
            <a:endParaRPr lang="en-US" sz="800" dirty="0"/>
          </a:p>
          <a:p>
            <a:pPr lvl="1"/>
            <a:r>
              <a:rPr lang="en-US" dirty="0"/>
              <a:t>It provides ownership &amp; (typically) control rights </a:t>
            </a:r>
            <a:r>
              <a:rPr lang="en-US" b="1" dirty="0">
                <a:solidFill>
                  <a:srgbClr val="A51417"/>
                </a:solidFill>
              </a:rPr>
              <a:t>[How?]</a:t>
            </a:r>
          </a:p>
          <a:p>
            <a:pPr lvl="1"/>
            <a:r>
              <a:rPr lang="en-US" dirty="0"/>
              <a:t>It is not a liability that must be repaid; i.e., a firm’s failure to pay dividends does not result in the bankruptcy of the firm</a:t>
            </a:r>
          </a:p>
          <a:p>
            <a:pPr lvl="1"/>
            <a:endParaRPr lang="en-US" sz="800" dirty="0"/>
          </a:p>
          <a:p>
            <a:r>
              <a:rPr lang="en-US" dirty="0"/>
              <a:t>This is different than bonds, which are a </a:t>
            </a:r>
            <a:r>
              <a:rPr lang="en-US" b="1" dirty="0"/>
              <a:t>‘debt’</a:t>
            </a:r>
          </a:p>
          <a:p>
            <a:endParaRPr lang="en-US" sz="800" dirty="0"/>
          </a:p>
          <a:p>
            <a:pPr lvl="1"/>
            <a:r>
              <a:rPr lang="en-US" dirty="0"/>
              <a:t>Debt does </a:t>
            </a:r>
            <a:r>
              <a:rPr lang="en-US" u="sng" dirty="0"/>
              <a:t>not</a:t>
            </a:r>
            <a:r>
              <a:rPr lang="en-US" dirty="0"/>
              <a:t> provide ownership or control rights</a:t>
            </a:r>
          </a:p>
          <a:p>
            <a:pPr lvl="1"/>
            <a:r>
              <a:rPr lang="en-US" dirty="0"/>
              <a:t>And coupons &amp; face value must be paid; otherwise, the firm is bankrupt, and debtors can legally claim assets of the firm</a:t>
            </a:r>
          </a:p>
          <a:p>
            <a:pPr marL="457200" lvl="1" indent="0">
              <a:buNone/>
            </a:pPr>
            <a:endParaRPr lang="en-US" b="1" dirty="0">
              <a:solidFill>
                <a:srgbClr val="A51417"/>
              </a:solidFill>
            </a:endParaRPr>
          </a:p>
          <a:p>
            <a:pPr lvl="1"/>
            <a:endParaRPr lang="en-US" dirty="0"/>
          </a:p>
          <a:p>
            <a:endParaRPr lang="en-US" sz="800" dirty="0"/>
          </a:p>
          <a:p>
            <a:pPr marL="457200" lvl="1" indent="0">
              <a:buNone/>
            </a:pPr>
            <a:endParaRPr lang="en-US" b="1" dirty="0">
              <a:solidFill>
                <a:srgbClr val="A514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170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783007" cy="4778022"/>
          </a:xfrm>
        </p:spPr>
        <p:txBody>
          <a:bodyPr>
            <a:normAutofit/>
          </a:bodyPr>
          <a:lstStyle/>
          <a:p>
            <a:r>
              <a:rPr lang="en-US" dirty="0"/>
              <a:t>We do it like any other asset using DCF!</a:t>
            </a:r>
          </a:p>
          <a:p>
            <a:endParaRPr lang="en-US" sz="900" dirty="0"/>
          </a:p>
          <a:p>
            <a:pPr lvl="1"/>
            <a:r>
              <a:rPr lang="en-US" dirty="0"/>
              <a:t>First, estimate the expected cash flows from owning it</a:t>
            </a:r>
          </a:p>
          <a:p>
            <a:pPr lvl="1"/>
            <a:r>
              <a:rPr lang="en-US" dirty="0"/>
              <a:t>Then, take present value using discount rate that reflects the return investors could get on investment of similar riskiness</a:t>
            </a:r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r>
              <a:rPr lang="en-US" b="1" dirty="0">
                <a:solidFill>
                  <a:srgbClr val="A51417"/>
                </a:solidFill>
              </a:rPr>
              <a:t>If you own a stock, what are the possible cash flows? </a:t>
            </a:r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414F6C-93F8-7846-945A-5B68426ED058}"/>
              </a:ext>
            </a:extLst>
          </p:cNvPr>
          <p:cNvSpPr/>
          <p:nvPr/>
        </p:nvSpPr>
        <p:spPr>
          <a:xfrm>
            <a:off x="622937" y="3835304"/>
            <a:ext cx="9649952" cy="494650"/>
          </a:xfrm>
          <a:prstGeom prst="rect">
            <a:avLst/>
          </a:prstGeom>
          <a:solidFill>
            <a:srgbClr val="56656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value stocks</a:t>
            </a:r>
          </a:p>
        </p:txBody>
      </p:sp>
    </p:spTree>
    <p:extLst>
      <p:ext uri="{BB962C8B-B14F-4D97-AF65-F5344CB8AC3E}">
        <p14:creationId xmlns:p14="http://schemas.microsoft.com/office/powerpoint/2010/main" val="4008759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937" y="437444"/>
            <a:ext cx="10129369" cy="980194"/>
          </a:xfrm>
        </p:spPr>
        <p:txBody>
          <a:bodyPr/>
          <a:lstStyle/>
          <a:p>
            <a:r>
              <a:rPr lang="en-US" dirty="0"/>
              <a:t>Consider investor that plans to sell in one year…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9251" y="1361367"/>
            <a:ext cx="9260732" cy="4778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800" dirty="0"/>
          </a:p>
          <a:p>
            <a:r>
              <a:rPr lang="en-US" dirty="0"/>
              <a:t>Equity cost of capital, </a:t>
            </a:r>
            <a:r>
              <a:rPr lang="en-US" i="1" dirty="0" err="1"/>
              <a:t>r</a:t>
            </a:r>
            <a:r>
              <a:rPr lang="en-US" i="1" baseline="-25000" dirty="0" err="1"/>
              <a:t>E</a:t>
            </a:r>
            <a:r>
              <a:rPr lang="en-US" dirty="0"/>
              <a:t>, is appropriate discount rate</a:t>
            </a:r>
          </a:p>
          <a:p>
            <a:r>
              <a:rPr lang="en-US" dirty="0"/>
              <a:t>And, expected cash flows are…</a:t>
            </a:r>
          </a:p>
          <a:p>
            <a:endParaRPr lang="en-US" sz="800" dirty="0"/>
          </a:p>
          <a:p>
            <a:pPr lvl="1"/>
            <a:r>
              <a:rPr lang="en-US" dirty="0"/>
              <a:t>Buy at current price, </a:t>
            </a:r>
            <a:r>
              <a:rPr lang="en-US" i="1" dirty="0"/>
              <a:t>P</a:t>
            </a:r>
            <a:r>
              <a:rPr lang="en-US" i="1" baseline="-25000" dirty="0"/>
              <a:t>0</a:t>
            </a:r>
          </a:p>
          <a:p>
            <a:pPr lvl="1"/>
            <a:r>
              <a:rPr lang="en-US" dirty="0"/>
              <a:t>Receive dividend of that year, </a:t>
            </a:r>
            <a:r>
              <a:rPr lang="en-US" i="1" dirty="0"/>
              <a:t>Div</a:t>
            </a:r>
            <a:r>
              <a:rPr lang="en-US" i="1" baseline="-25000" dirty="0"/>
              <a:t>1</a:t>
            </a:r>
          </a:p>
          <a:p>
            <a:pPr lvl="1"/>
            <a:r>
              <a:rPr lang="en-US" dirty="0"/>
              <a:t>And sell one year from now at price </a:t>
            </a:r>
            <a:r>
              <a:rPr lang="en-US" i="1" dirty="0"/>
              <a:t>P</a:t>
            </a:r>
            <a:r>
              <a:rPr lang="en-US" i="1" baseline="-25000" dirty="0"/>
              <a:t>1</a:t>
            </a:r>
            <a:endParaRPr lang="en-US" sz="800" dirty="0"/>
          </a:p>
          <a:p>
            <a:pPr lvl="1"/>
            <a:endParaRPr lang="en-US" sz="800" dirty="0"/>
          </a:p>
          <a:p>
            <a:r>
              <a:rPr lang="en-US" dirty="0"/>
              <a:t>So, it must be the case that…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A68AFA-B3DF-3148-A9B8-130741C95FD1}"/>
              </a:ext>
            </a:extLst>
          </p:cNvPr>
          <p:cNvSpPr txBox="1"/>
          <p:nvPr/>
        </p:nvSpPr>
        <p:spPr>
          <a:xfrm>
            <a:off x="6607117" y="4400881"/>
            <a:ext cx="51556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Cost of buying, </a:t>
            </a:r>
            <a:r>
              <a:rPr lang="en-US" sz="2400" i="1" dirty="0"/>
              <a:t>P</a:t>
            </a:r>
            <a:r>
              <a:rPr lang="en-US" sz="2400" i="1" baseline="-25000" dirty="0"/>
              <a:t>0</a:t>
            </a:r>
            <a:r>
              <a:rPr lang="en-US" sz="2400" dirty="0"/>
              <a:t>, must equal present value of expected cash flows, </a:t>
            </a:r>
            <a:r>
              <a:rPr lang="en-US" sz="2400" i="1" dirty="0"/>
              <a:t>Div</a:t>
            </a:r>
            <a:r>
              <a:rPr lang="en-US" sz="2400" i="1" baseline="-25000" dirty="0"/>
              <a:t>1</a:t>
            </a:r>
            <a:r>
              <a:rPr lang="en-US" sz="2400" dirty="0"/>
              <a:t> + </a:t>
            </a:r>
            <a:r>
              <a:rPr lang="en-US" sz="2400" i="1" dirty="0"/>
              <a:t>P</a:t>
            </a:r>
            <a:r>
              <a:rPr lang="en-US" sz="2400" i="1" baseline="-25000" dirty="0"/>
              <a:t>1</a:t>
            </a:r>
            <a:r>
              <a:rPr lang="en-US" sz="2400" dirty="0"/>
              <a:t>; otherwise, investors could profit by selling or buying the stock </a:t>
            </a:r>
            <a:r>
              <a:rPr lang="en-US" sz="2400" dirty="0">
                <a:solidFill>
                  <a:srgbClr val="A51417"/>
                </a:solidFill>
              </a:rPr>
              <a:t>[Give example?]</a:t>
            </a:r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1DD44AA7-8CF2-8440-AEBC-E870A4B86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0273" y="2637691"/>
            <a:ext cx="3289348" cy="1374969"/>
          </a:xfrm>
          <a:prstGeom prst="rect">
            <a:avLst/>
          </a:prstGeom>
        </p:spPr>
      </p:pic>
      <p:pic>
        <p:nvPicPr>
          <p:cNvPr id="10" name="Picture 9" descr="Diagram, schematic&#10;&#10;Description automatically generated">
            <a:extLst>
              <a:ext uri="{FF2B5EF4-FFF2-40B4-BE49-F238E27FC236}">
                <a16:creationId xmlns:a16="http://schemas.microsoft.com/office/drawing/2014/main" id="{BB7FC325-F716-9045-87A9-FE050FBD0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6207" y="4960963"/>
            <a:ext cx="2721133" cy="98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944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Breaking return into dividend yield &amp; capital gain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577148"/>
            <a:ext cx="10657993" cy="4778022"/>
          </a:xfrm>
        </p:spPr>
        <p:txBody>
          <a:bodyPr>
            <a:normAutofit/>
          </a:bodyPr>
          <a:lstStyle/>
          <a:p>
            <a:r>
              <a:rPr lang="en-US" dirty="0"/>
              <a:t>Can rewrite equation to see that </a:t>
            </a:r>
            <a:r>
              <a:rPr lang="en-US" b="1" dirty="0"/>
              <a:t>total return</a:t>
            </a:r>
            <a:r>
              <a:rPr lang="en-US" dirty="0"/>
              <a:t>, </a:t>
            </a:r>
            <a:r>
              <a:rPr lang="en-US" i="1" dirty="0" err="1"/>
              <a:t>r</a:t>
            </a:r>
            <a:r>
              <a:rPr lang="en-US" i="1" baseline="-25000" dirty="0" err="1"/>
              <a:t>E</a:t>
            </a:r>
            <a:r>
              <a:rPr lang="en-US" dirty="0"/>
              <a:t>, has two parts: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b="1" dirty="0"/>
              <a:t>Dividend yield </a:t>
            </a:r>
            <a:r>
              <a:rPr lang="en-US" dirty="0"/>
              <a:t>= percentage return an investor expects to earn from the dividends paid by the stock over the next year</a:t>
            </a:r>
          </a:p>
          <a:p>
            <a:pPr lvl="1"/>
            <a:r>
              <a:rPr lang="en-US" b="1" dirty="0"/>
              <a:t>Capital gain rate </a:t>
            </a:r>
            <a:r>
              <a:rPr lang="en-US" dirty="0"/>
              <a:t>= amount by which the selling price exceeds initial purchase price (i.e., capital gain, </a:t>
            </a:r>
            <a:r>
              <a:rPr lang="en-US" i="1" dirty="0"/>
              <a:t>P</a:t>
            </a:r>
            <a:r>
              <a:rPr lang="en-US" i="1" baseline="-25000" dirty="0"/>
              <a:t>1</a:t>
            </a:r>
            <a:r>
              <a:rPr lang="en-US" i="1" dirty="0"/>
              <a:t> </a:t>
            </a:r>
            <a:r>
              <a:rPr lang="en-US" dirty="0"/>
              <a:t>– </a:t>
            </a:r>
            <a:r>
              <a:rPr lang="en-US" i="1" dirty="0"/>
              <a:t>P</a:t>
            </a:r>
            <a:r>
              <a:rPr lang="en-US" i="1" baseline="-25000" dirty="0"/>
              <a:t>0</a:t>
            </a:r>
            <a:r>
              <a:rPr lang="en-US" dirty="0"/>
              <a:t>) as percentage of initial price</a:t>
            </a:r>
          </a:p>
          <a:p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lvl="1"/>
            <a:endParaRPr lang="en-US" sz="4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pic>
        <p:nvPicPr>
          <p:cNvPr id="7" name="Picture 6" descr="Text&#10;&#10;Description automatically generated with low confidence">
            <a:extLst>
              <a:ext uri="{FF2B5EF4-FFF2-40B4-BE49-F238E27FC236}">
                <a16:creationId xmlns:a16="http://schemas.microsoft.com/office/drawing/2014/main" id="{E0563F49-925A-1946-BCDC-1792D5850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598" y="2232634"/>
            <a:ext cx="6311492" cy="10943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94E1B7-637B-AD4C-83EE-E85E0AFAE412}"/>
              </a:ext>
            </a:extLst>
          </p:cNvPr>
          <p:cNvSpPr txBox="1"/>
          <p:nvPr/>
        </p:nvSpPr>
        <p:spPr>
          <a:xfrm>
            <a:off x="733184" y="5180462"/>
            <a:ext cx="88716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51417"/>
                </a:solidFill>
              </a:rPr>
              <a:t>What would happen if return </a:t>
            </a:r>
            <a:r>
              <a:rPr lang="en-US" sz="2400" i="1" dirty="0" err="1">
                <a:solidFill>
                  <a:srgbClr val="A51417"/>
                </a:solidFill>
              </a:rPr>
              <a:t>r</a:t>
            </a:r>
            <a:r>
              <a:rPr lang="en-US" sz="2400" i="1" baseline="-25000" dirty="0" err="1">
                <a:solidFill>
                  <a:srgbClr val="A51417"/>
                </a:solidFill>
              </a:rPr>
              <a:t>E</a:t>
            </a:r>
            <a:r>
              <a:rPr lang="en-US" sz="2400" dirty="0">
                <a:solidFill>
                  <a:srgbClr val="A51417"/>
                </a:solidFill>
              </a:rPr>
              <a:t> is higher than return that can be earned elsewhere by taking same risk?</a:t>
            </a:r>
          </a:p>
        </p:txBody>
      </p:sp>
    </p:spTree>
    <p:extLst>
      <p:ext uri="{BB962C8B-B14F-4D97-AF65-F5344CB8AC3E}">
        <p14:creationId xmlns:p14="http://schemas.microsoft.com/office/powerpoint/2010/main" val="2454424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 – </a:t>
            </a:r>
            <a:r>
              <a:rPr lang="en-US" b="1" dirty="0"/>
              <a:t>Valuing a stock</a:t>
            </a:r>
            <a:endParaRPr lang="en-US" b="1" i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58520" y="1600200"/>
            <a:ext cx="10662150" cy="4778022"/>
          </a:xfrm>
        </p:spPr>
        <p:txBody>
          <a:bodyPr>
            <a:normAutofit/>
          </a:bodyPr>
          <a:lstStyle/>
          <a:p>
            <a:r>
              <a:rPr lang="en-US" dirty="0"/>
              <a:t>Please take 10 minutes to answer the below question        </a:t>
            </a:r>
            <a:r>
              <a:rPr lang="en-US" i="1" dirty="0"/>
              <a:t>[which is Example 7.1 of the textbook]</a:t>
            </a:r>
          </a:p>
          <a:p>
            <a:endParaRPr lang="en-US" sz="800" dirty="0"/>
          </a:p>
          <a:p>
            <a:pPr lvl="1"/>
            <a:endParaRPr lang="en-US" sz="400" i="1" dirty="0"/>
          </a:p>
        </p:txBody>
      </p:sp>
      <p:pic>
        <p:nvPicPr>
          <p:cNvPr id="3" name="Picture 2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EFBCAA4C-A8B6-F548-AEFB-4A86030F2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900" y="2990985"/>
            <a:ext cx="8966200" cy="210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84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937" y="437444"/>
            <a:ext cx="10129369" cy="980194"/>
          </a:xfrm>
        </p:spPr>
        <p:txBody>
          <a:bodyPr/>
          <a:lstStyle/>
          <a:p>
            <a:r>
              <a:rPr lang="en-US" dirty="0"/>
              <a:t>Now consider investor that plans to sell in 2 years…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9251" y="1361367"/>
            <a:ext cx="9260732" cy="4778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800" dirty="0"/>
          </a:p>
          <a:p>
            <a:r>
              <a:rPr lang="en-US" dirty="0"/>
              <a:t>Expected cash flows are now…</a:t>
            </a:r>
          </a:p>
          <a:p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marL="457200" lvl="1" indent="0">
              <a:buNone/>
            </a:pPr>
            <a:endParaRPr lang="en-US" sz="800" dirty="0"/>
          </a:p>
          <a:p>
            <a:pPr lvl="1"/>
            <a:endParaRPr lang="en-US" sz="800" dirty="0"/>
          </a:p>
          <a:p>
            <a:r>
              <a:rPr lang="en-US" dirty="0"/>
              <a:t>So, it must be the case that…</a:t>
            </a:r>
          </a:p>
          <a:p>
            <a:pPr lvl="1"/>
            <a:endParaRPr lang="en-US" sz="800" b="1" dirty="0">
              <a:solidFill>
                <a:srgbClr val="A51417"/>
              </a:solidFill>
            </a:endParaRPr>
          </a:p>
          <a:p>
            <a:endParaRPr lang="en-US" sz="800" dirty="0"/>
          </a:p>
          <a:p>
            <a:endParaRPr lang="en-US" sz="800" u="sng" dirty="0"/>
          </a:p>
          <a:p>
            <a:endParaRPr lang="en-US" sz="8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A68AFA-B3DF-3148-A9B8-130741C95FD1}"/>
              </a:ext>
            </a:extLst>
          </p:cNvPr>
          <p:cNvSpPr txBox="1"/>
          <p:nvPr/>
        </p:nvSpPr>
        <p:spPr>
          <a:xfrm>
            <a:off x="6827897" y="2993683"/>
            <a:ext cx="40411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51417"/>
                </a:solidFill>
              </a:rPr>
              <a:t>Does this mean that the two-year investor will value the stock differently than the one-year investor? </a:t>
            </a:r>
          </a:p>
        </p:txBody>
      </p:sp>
      <p:pic>
        <p:nvPicPr>
          <p:cNvPr id="7" name="Picture 6" descr="Chart&#10;&#10;Description automatically generated">
            <a:extLst>
              <a:ext uri="{FF2B5EF4-FFF2-40B4-BE49-F238E27FC236}">
                <a16:creationId xmlns:a16="http://schemas.microsoft.com/office/drawing/2014/main" id="{9EC4DA65-0102-B54C-93CC-ADFACB447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238" y="2199417"/>
            <a:ext cx="4370962" cy="1159150"/>
          </a:xfrm>
          <a:prstGeom prst="rect">
            <a:avLst/>
          </a:prstGeom>
        </p:spPr>
      </p:pic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F38E1DDC-CD02-C746-A3F4-A63A9B545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238" y="4378677"/>
            <a:ext cx="3809739" cy="109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848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one-year &amp; multi-year investor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While the two valuations seem different, one can show that the stock values of the two investors are the </a:t>
            </a:r>
            <a:r>
              <a:rPr lang="en-US" u="sng" dirty="0"/>
              <a:t>same</a:t>
            </a:r>
            <a:r>
              <a:rPr lang="en-US" dirty="0"/>
              <a:t>…</a:t>
            </a:r>
          </a:p>
          <a:p>
            <a:endParaRPr lang="en-US" sz="800" dirty="0"/>
          </a:p>
          <a:p>
            <a:pPr lvl="1"/>
            <a:r>
              <a:rPr lang="en-US" b="1" dirty="0"/>
              <a:t>Why?  </a:t>
            </a:r>
            <a:r>
              <a:rPr lang="en-US" dirty="0"/>
              <a:t>Because the one-year investor also cares about dividends and stock price in year 2 as they determine selling price in year 1, </a:t>
            </a:r>
            <a:r>
              <a:rPr lang="en-US" i="1" dirty="0"/>
              <a:t>P</a:t>
            </a:r>
            <a:r>
              <a:rPr lang="en-US" i="1" baseline="-25000" dirty="0"/>
              <a:t>1</a:t>
            </a:r>
          </a:p>
          <a:p>
            <a:endParaRPr lang="en-US" dirty="0"/>
          </a:p>
          <a:p>
            <a:endParaRPr lang="en-US" dirty="0"/>
          </a:p>
          <a:p>
            <a:endParaRPr lang="en-US" sz="1500" dirty="0"/>
          </a:p>
          <a:p>
            <a:pPr lvl="1"/>
            <a:r>
              <a:rPr lang="en-US" dirty="0"/>
              <a:t>And if you plug this </a:t>
            </a:r>
            <a:r>
              <a:rPr lang="en-US" i="1" dirty="0"/>
              <a:t>P</a:t>
            </a:r>
            <a:r>
              <a:rPr lang="en-US" i="1" baseline="-25000" dirty="0"/>
              <a:t>1</a:t>
            </a:r>
            <a:r>
              <a:rPr lang="en-US" dirty="0"/>
              <a:t> into the one-year valuation, you will see that it equals the valuation of the two-year investor </a:t>
            </a:r>
            <a:r>
              <a:rPr lang="en-US" i="1" dirty="0"/>
              <a:t>[see textbook for math]</a:t>
            </a:r>
          </a:p>
          <a:p>
            <a:endParaRPr lang="en-US" sz="800" dirty="0"/>
          </a:p>
          <a:p>
            <a:pPr lvl="1"/>
            <a:endParaRPr lang="en-US" sz="800" dirty="0"/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C9B4B0BF-8C74-014C-9D8C-0E88E82BB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515" y="3653817"/>
            <a:ext cx="21717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934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Dividend-discount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repeat this to arrive at the </a:t>
            </a:r>
            <a:r>
              <a:rPr lang="en-US" b="1" u="sng" dirty="0"/>
              <a:t>dividend-discount model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sz="1500" dirty="0"/>
          </a:p>
          <a:p>
            <a:r>
              <a:rPr lang="en-US" dirty="0"/>
              <a:t>And, if you take it out forever…</a:t>
            </a:r>
          </a:p>
          <a:p>
            <a:endParaRPr lang="en-US" sz="800" dirty="0"/>
          </a:p>
          <a:p>
            <a:endParaRPr lang="en-US" dirty="0"/>
          </a:p>
          <a:p>
            <a:endParaRPr lang="en-US" dirty="0"/>
          </a:p>
          <a:p>
            <a:endParaRPr lang="en-US" sz="1500" dirty="0"/>
          </a:p>
          <a:p>
            <a:endParaRPr lang="en-US" sz="800" dirty="0"/>
          </a:p>
          <a:p>
            <a:pPr lvl="1"/>
            <a:endParaRPr lang="en-US" sz="800" dirty="0"/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F18A65-3A31-9B4D-A3D8-39EA72960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465" y="2360712"/>
            <a:ext cx="6572371" cy="787399"/>
          </a:xfrm>
          <a:prstGeom prst="rect">
            <a:avLst/>
          </a:prstGeom>
        </p:spPr>
      </p:pic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6485CA6E-89D7-E143-876F-FDFB2DF45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805" y="4123043"/>
            <a:ext cx="4864100" cy="787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916AFE9-7A9D-714F-A7FA-DCF6F886D78E}"/>
              </a:ext>
            </a:extLst>
          </p:cNvPr>
          <p:cNvSpPr txBox="1"/>
          <p:nvPr/>
        </p:nvSpPr>
        <p:spPr>
          <a:xfrm>
            <a:off x="6213230" y="3908623"/>
            <a:ext cx="3552840" cy="1200329"/>
          </a:xfrm>
          <a:prstGeom prst="rect">
            <a:avLst/>
          </a:prstGeom>
          <a:solidFill>
            <a:schemeClr val="bg1">
              <a:lumMod val="50000"/>
              <a:alpha val="2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51417"/>
                </a:solidFill>
              </a:rPr>
              <a:t>In words, what is last equation saying the value of a stock equals?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4D7446-78E0-0E40-A6BF-A5F561BC7178}"/>
              </a:ext>
            </a:extLst>
          </p:cNvPr>
          <p:cNvSpPr txBox="1"/>
          <p:nvPr/>
        </p:nvSpPr>
        <p:spPr>
          <a:xfrm>
            <a:off x="6213230" y="5177893"/>
            <a:ext cx="5602634" cy="830997"/>
          </a:xfrm>
          <a:prstGeom prst="rect">
            <a:avLst/>
          </a:prstGeom>
          <a:solidFill>
            <a:srgbClr val="A51417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Estimating dividends forever would be hard… what is a possible shortcut?</a:t>
            </a:r>
          </a:p>
        </p:txBody>
      </p:sp>
    </p:spTree>
    <p:extLst>
      <p:ext uri="{BB962C8B-B14F-4D97-AF65-F5344CB8AC3E}">
        <p14:creationId xmlns:p14="http://schemas.microsoft.com/office/powerpoint/2010/main" val="4110462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 special case</a:t>
            </a:r>
            <a:r>
              <a:rPr lang="en-US" dirty="0"/>
              <a:t> – Constant dividend growth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398805" cy="4778022"/>
          </a:xfrm>
        </p:spPr>
        <p:txBody>
          <a:bodyPr>
            <a:normAutofit/>
          </a:bodyPr>
          <a:lstStyle/>
          <a:p>
            <a:r>
              <a:rPr lang="en-US" dirty="0"/>
              <a:t>Can assume dividends grow at constant rate </a:t>
            </a:r>
            <a:r>
              <a:rPr lang="en-US" i="1" dirty="0"/>
              <a:t>g</a:t>
            </a:r>
            <a:r>
              <a:rPr lang="en-US" dirty="0"/>
              <a:t> forever…</a:t>
            </a:r>
            <a:endParaRPr lang="en-US" b="1" dirty="0"/>
          </a:p>
          <a:p>
            <a:endParaRPr lang="en-US" sz="800" dirty="0"/>
          </a:p>
          <a:p>
            <a:endParaRPr lang="en-US" sz="800" b="1" dirty="0"/>
          </a:p>
          <a:p>
            <a:endParaRPr lang="en-US" sz="800" b="1" dirty="0"/>
          </a:p>
          <a:p>
            <a:endParaRPr lang="en-US" sz="800" b="1" dirty="0"/>
          </a:p>
          <a:p>
            <a:endParaRPr lang="en-US" sz="800" b="1" dirty="0"/>
          </a:p>
          <a:p>
            <a:endParaRPr lang="en-US" sz="800" b="1" dirty="0"/>
          </a:p>
          <a:p>
            <a:endParaRPr lang="en-US" sz="800" b="1" dirty="0"/>
          </a:p>
          <a:p>
            <a:endParaRPr lang="en-US" sz="800" b="1" dirty="0"/>
          </a:p>
          <a:p>
            <a:endParaRPr lang="en-US" sz="800" b="1" dirty="0"/>
          </a:p>
          <a:p>
            <a:endParaRPr lang="en-US" sz="800" b="1" dirty="0"/>
          </a:p>
          <a:p>
            <a:r>
              <a:rPr lang="en-US" b="1" dirty="0"/>
              <a:t>Then, value simplifies to…</a:t>
            </a:r>
          </a:p>
          <a:p>
            <a:endParaRPr lang="en-US" sz="800" b="1" dirty="0"/>
          </a:p>
          <a:p>
            <a:pPr lvl="1"/>
            <a:endParaRPr lang="en-US" sz="800" dirty="0"/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picture containing timeline&#10;&#10;Description automatically generated">
            <a:extLst>
              <a:ext uri="{FF2B5EF4-FFF2-40B4-BE49-F238E27FC236}">
                <a16:creationId xmlns:a16="http://schemas.microsoft.com/office/drawing/2014/main" id="{52A95858-2613-D148-8EAD-780DDEE2B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676" y="2213313"/>
            <a:ext cx="5760531" cy="994038"/>
          </a:xfrm>
          <a:prstGeom prst="rect">
            <a:avLst/>
          </a:prstGeom>
        </p:spPr>
      </p:pic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F1ADD6A3-AB04-0C49-B98E-E11D20324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921" y="3429000"/>
            <a:ext cx="2300458" cy="8864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9E232C-358C-D948-A288-25D6347C7072}"/>
              </a:ext>
            </a:extLst>
          </p:cNvPr>
          <p:cNvSpPr txBox="1"/>
          <p:nvPr/>
        </p:nvSpPr>
        <p:spPr>
          <a:xfrm>
            <a:off x="7697681" y="4907851"/>
            <a:ext cx="4212383" cy="1200329"/>
          </a:xfrm>
          <a:prstGeom prst="rect">
            <a:avLst/>
          </a:prstGeom>
          <a:solidFill>
            <a:srgbClr val="566568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Just used growing perpetuity present value formula </a:t>
            </a:r>
            <a:r>
              <a:rPr lang="en-US" sz="2400" i="1" dirty="0"/>
              <a:t>[see Topic #2]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546A8B1-DDB7-7740-85FA-DE5824FB4D99}"/>
              </a:ext>
            </a:extLst>
          </p:cNvPr>
          <p:cNvCxnSpPr>
            <a:cxnSpLocks/>
          </p:cNvCxnSpPr>
          <p:nvPr/>
        </p:nvCxnSpPr>
        <p:spPr>
          <a:xfrm flipH="1" flipV="1">
            <a:off x="7556244" y="4380795"/>
            <a:ext cx="282873" cy="4616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8645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 more realistic case</a:t>
            </a:r>
            <a:r>
              <a:rPr lang="en-US" dirty="0"/>
              <a:t> – Changing growth 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20" y="1600200"/>
            <a:ext cx="10240322" cy="4778022"/>
          </a:xfrm>
        </p:spPr>
        <p:txBody>
          <a:bodyPr>
            <a:normAutofit/>
          </a:bodyPr>
          <a:lstStyle/>
          <a:p>
            <a:r>
              <a:rPr lang="en-US" dirty="0"/>
              <a:t>Assuming a constant growth rate often not realistic for younger firms that do not yet pay dividends or ones that do not yet grow at a steady rate; for those firms, we:</a:t>
            </a:r>
          </a:p>
          <a:p>
            <a:endParaRPr lang="en-US" sz="800" dirty="0"/>
          </a:p>
          <a:p>
            <a:pPr lvl="1"/>
            <a:r>
              <a:rPr lang="en-US" b="1" dirty="0"/>
              <a:t>Estimate dividends each year initially</a:t>
            </a:r>
          </a:p>
          <a:p>
            <a:pPr lvl="1"/>
            <a:r>
              <a:rPr lang="en-US" b="1" dirty="0"/>
              <a:t>Then, calculate expected future price after assuming the dividend growth rate eventually stabilizes to a constant value</a:t>
            </a:r>
            <a:endParaRPr lang="en-US" sz="800" b="1" dirty="0"/>
          </a:p>
          <a:p>
            <a:endParaRPr lang="en-US" sz="800" b="1" dirty="0"/>
          </a:p>
          <a:p>
            <a:r>
              <a:rPr lang="en-US" dirty="0"/>
              <a:t>See next slide for example…</a:t>
            </a:r>
          </a:p>
          <a:p>
            <a:endParaRPr lang="en-US" sz="800" b="1" dirty="0"/>
          </a:p>
          <a:p>
            <a:pPr lvl="1"/>
            <a:endParaRPr lang="en-US" sz="800" dirty="0"/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279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growth rates </a:t>
            </a:r>
            <a:r>
              <a:rPr lang="en-US" i="1" dirty="0"/>
              <a:t>[example]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398805" cy="4778022"/>
          </a:xfrm>
        </p:spPr>
        <p:txBody>
          <a:bodyPr>
            <a:normAutofit/>
          </a:bodyPr>
          <a:lstStyle/>
          <a:p>
            <a:r>
              <a:rPr lang="en-US" dirty="0"/>
              <a:t>If you estimate dividends up to year </a:t>
            </a:r>
            <a:r>
              <a:rPr lang="en-US" i="1" dirty="0"/>
              <a:t>N</a:t>
            </a:r>
            <a:r>
              <a:rPr lang="en-US" dirty="0"/>
              <a:t>+1 and then assume they grow at constant rate </a:t>
            </a:r>
            <a:r>
              <a:rPr lang="en-US" i="1" dirty="0"/>
              <a:t>g</a:t>
            </a:r>
            <a:r>
              <a:rPr lang="en-US" dirty="0"/>
              <a:t> after that…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sz="800" b="1" dirty="0"/>
          </a:p>
          <a:p>
            <a:r>
              <a:rPr lang="en-US" dirty="0"/>
              <a:t>Then, </a:t>
            </a:r>
            <a:r>
              <a:rPr lang="en-US" i="1" dirty="0"/>
              <a:t>P</a:t>
            </a:r>
            <a:r>
              <a:rPr lang="en-US" i="1" baseline="-25000" dirty="0"/>
              <a:t>N</a:t>
            </a:r>
            <a:r>
              <a:rPr lang="en-US" dirty="0"/>
              <a:t> is given by</a:t>
            </a:r>
          </a:p>
          <a:p>
            <a:r>
              <a:rPr lang="en-US" dirty="0"/>
              <a:t>And you can now apply dividend-discount model equation!</a:t>
            </a:r>
          </a:p>
          <a:p>
            <a:endParaRPr lang="en-US" sz="800" b="1" dirty="0"/>
          </a:p>
          <a:p>
            <a:pPr lvl="1"/>
            <a:endParaRPr lang="en-US" sz="800" dirty="0"/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65AD7CD3-9B0D-6C46-986B-729008FA3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600" y="2777382"/>
            <a:ext cx="8940800" cy="1536700"/>
          </a:xfrm>
          <a:prstGeom prst="rect">
            <a:avLst/>
          </a:prstGeom>
        </p:spPr>
      </p:pic>
      <p:pic>
        <p:nvPicPr>
          <p:cNvPr id="7" name="Picture 6" descr="Text, letter&#10;&#10;Description automatically generated">
            <a:extLst>
              <a:ext uri="{FF2B5EF4-FFF2-40B4-BE49-F238E27FC236}">
                <a16:creationId xmlns:a16="http://schemas.microsoft.com/office/drawing/2014/main" id="{4827014A-689F-3440-926E-67AD96507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935" y="4666843"/>
            <a:ext cx="1770435" cy="66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266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Dividend-discount model </a:t>
            </a:r>
            <a:r>
              <a:rPr lang="en-US" i="1" dirty="0"/>
              <a:t>[Summary]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5144984" cy="4778022"/>
          </a:xfrm>
        </p:spPr>
        <p:txBody>
          <a:bodyPr>
            <a:normAutofit/>
          </a:bodyPr>
          <a:lstStyle/>
          <a:p>
            <a:r>
              <a:rPr lang="en-US" dirty="0"/>
              <a:t>Can think of valuing stock as being done in </a:t>
            </a:r>
            <a:r>
              <a:rPr lang="en-US" b="1" u="sng" dirty="0"/>
              <a:t>two stages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sz="800" b="1" dirty="0"/>
          </a:p>
          <a:p>
            <a:endParaRPr lang="en-US" sz="800" b="1" dirty="0"/>
          </a:p>
          <a:p>
            <a:pPr lvl="1"/>
            <a:endParaRPr lang="en-US" sz="800" dirty="0"/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 descr="Text, letter&#10;&#10;Description automatically generated">
            <a:extLst>
              <a:ext uri="{FF2B5EF4-FFF2-40B4-BE49-F238E27FC236}">
                <a16:creationId xmlns:a16="http://schemas.microsoft.com/office/drawing/2014/main" id="{4827014A-689F-3440-926E-67AD96507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6176" y="3118697"/>
            <a:ext cx="1770435" cy="6639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EE5064-80AF-0743-8001-BED74FE63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737" y="3114734"/>
            <a:ext cx="6572371" cy="7873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3F0CCE-9219-1B4A-A308-87A3A7850997}"/>
              </a:ext>
            </a:extLst>
          </p:cNvPr>
          <p:cNvSpPr txBox="1"/>
          <p:nvPr/>
        </p:nvSpPr>
        <p:spPr>
          <a:xfrm>
            <a:off x="730513" y="4621604"/>
            <a:ext cx="4587268" cy="1200329"/>
          </a:xfrm>
          <a:prstGeom prst="rect">
            <a:avLst/>
          </a:prstGeom>
          <a:solidFill>
            <a:srgbClr val="A51417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Stage 1: </a:t>
            </a:r>
            <a:r>
              <a:rPr lang="en-US" sz="2400" dirty="0"/>
              <a:t>Value of dividends over time period where they are not growing at constant rate</a:t>
            </a:r>
            <a:endParaRPr lang="en-US" sz="2400" i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45E11B1-7834-D947-9AE4-130E18BAF06C}"/>
              </a:ext>
            </a:extLst>
          </p:cNvPr>
          <p:cNvCxnSpPr>
            <a:cxnSpLocks/>
          </p:cNvCxnSpPr>
          <p:nvPr/>
        </p:nvCxnSpPr>
        <p:spPr>
          <a:xfrm flipV="1">
            <a:off x="4420678" y="4004013"/>
            <a:ext cx="0" cy="5157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CD042B1-A1E1-8042-9BCF-DC5A5E863013}"/>
              </a:ext>
            </a:extLst>
          </p:cNvPr>
          <p:cNvSpPr txBox="1"/>
          <p:nvPr/>
        </p:nvSpPr>
        <p:spPr>
          <a:xfrm>
            <a:off x="6479187" y="4627264"/>
            <a:ext cx="4063694" cy="1200329"/>
          </a:xfrm>
          <a:prstGeom prst="rect">
            <a:avLst/>
          </a:prstGeom>
          <a:solidFill>
            <a:srgbClr val="566568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Stage 2: </a:t>
            </a:r>
            <a:r>
              <a:rPr lang="en-US" sz="2400" dirty="0"/>
              <a:t>Value of dividends during period where they grow at constant rate, </a:t>
            </a:r>
            <a:r>
              <a:rPr lang="en-US" sz="2400" i="1" dirty="0"/>
              <a:t>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DCA553E-8C29-5244-A4FF-8987E962B3EB}"/>
              </a:ext>
            </a:extLst>
          </p:cNvPr>
          <p:cNvCxnSpPr>
            <a:cxnSpLocks/>
          </p:cNvCxnSpPr>
          <p:nvPr/>
        </p:nvCxnSpPr>
        <p:spPr>
          <a:xfrm flipV="1">
            <a:off x="7361282" y="3989333"/>
            <a:ext cx="0" cy="5303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E8D7B9C-19B9-7E49-975B-6E625A25A702}"/>
              </a:ext>
            </a:extLst>
          </p:cNvPr>
          <p:cNvSpPr/>
          <p:nvPr/>
        </p:nvSpPr>
        <p:spPr>
          <a:xfrm>
            <a:off x="2399993" y="3176401"/>
            <a:ext cx="4079194" cy="664064"/>
          </a:xfrm>
          <a:prstGeom prst="rect">
            <a:avLst/>
          </a:prstGeom>
          <a:solidFill>
            <a:srgbClr val="A51417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F30D3F-B330-AA4E-A1ED-B6CD82378792}"/>
              </a:ext>
            </a:extLst>
          </p:cNvPr>
          <p:cNvSpPr/>
          <p:nvPr/>
        </p:nvSpPr>
        <p:spPr>
          <a:xfrm>
            <a:off x="6877190" y="3165481"/>
            <a:ext cx="975891" cy="674983"/>
          </a:xfrm>
          <a:prstGeom prst="rect">
            <a:avLst/>
          </a:prstGeom>
          <a:solidFill>
            <a:srgbClr val="56656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5939F2-260C-AF48-8995-94270440670F}"/>
              </a:ext>
            </a:extLst>
          </p:cNvPr>
          <p:cNvSpPr txBox="1"/>
          <p:nvPr/>
        </p:nvSpPr>
        <p:spPr>
          <a:xfrm>
            <a:off x="7775042" y="3213832"/>
            <a:ext cx="2132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,  where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2905778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  <p:bldP spid="1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assignment – </a:t>
            </a:r>
            <a:r>
              <a:rPr lang="en-US" i="1" dirty="0"/>
              <a:t>Warren Buffett Case [again]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58519" y="1600200"/>
            <a:ext cx="10901422" cy="4778022"/>
          </a:xfrm>
        </p:spPr>
        <p:txBody>
          <a:bodyPr/>
          <a:lstStyle/>
          <a:p>
            <a:r>
              <a:rPr lang="en-US" dirty="0"/>
              <a:t>Take 60 minutes to answer questions on Case #5 handout, which is again about the Warren Buffett acquisition of GEICO</a:t>
            </a:r>
          </a:p>
          <a:p>
            <a:endParaRPr lang="en-US" sz="800" dirty="0"/>
          </a:p>
          <a:p>
            <a:pPr lvl="1"/>
            <a:r>
              <a:rPr lang="en-US" dirty="0"/>
              <a:t>This assignment will have you analyze whether the stock price being paid for GEICO is reasonable using the dividend-discount model</a:t>
            </a:r>
          </a:p>
          <a:p>
            <a:pPr lvl="1"/>
            <a:r>
              <a:rPr lang="en-US" dirty="0"/>
              <a:t>Upload answers as MS Excel, MS Word, or MS PowerPoint file to Canvas</a:t>
            </a:r>
          </a:p>
        </p:txBody>
      </p:sp>
    </p:spTree>
    <p:extLst>
      <p:ext uri="{BB962C8B-B14F-4D97-AF65-F5344CB8AC3E}">
        <p14:creationId xmlns:p14="http://schemas.microsoft.com/office/powerpoint/2010/main" val="2261472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Value drivers</a:t>
            </a:r>
            <a:r>
              <a:rPr lang="en-US" dirty="0"/>
              <a:t> of the dividend-discount model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398805" cy="4778022"/>
          </a:xfrm>
        </p:spPr>
        <p:txBody>
          <a:bodyPr>
            <a:normAutofit/>
          </a:bodyPr>
          <a:lstStyle/>
          <a:p>
            <a:r>
              <a:rPr lang="en-US" dirty="0"/>
              <a:t>According to dividend-discount model, value of stock will:</a:t>
            </a:r>
          </a:p>
          <a:p>
            <a:endParaRPr lang="en-US" sz="800" dirty="0"/>
          </a:p>
          <a:p>
            <a:pPr lvl="1"/>
            <a:r>
              <a:rPr lang="en-US" dirty="0"/>
              <a:t>Increase if firm can pay more dividends, </a:t>
            </a:r>
            <a:r>
              <a:rPr lang="en-US" i="1" dirty="0"/>
              <a:t>all else equal</a:t>
            </a:r>
          </a:p>
          <a:p>
            <a:pPr lvl="1"/>
            <a:r>
              <a:rPr lang="en-US" dirty="0"/>
              <a:t>Increase if return demanded by investors falls, </a:t>
            </a:r>
            <a:r>
              <a:rPr lang="en-US" i="1" dirty="0"/>
              <a:t>all else equal</a:t>
            </a:r>
          </a:p>
          <a:p>
            <a:pPr marL="0" indent="0">
              <a:buNone/>
            </a:pPr>
            <a:endParaRPr lang="en-US" sz="800" b="1" dirty="0"/>
          </a:p>
          <a:p>
            <a:r>
              <a:rPr lang="en-US" dirty="0">
                <a:solidFill>
                  <a:srgbClr val="A51417"/>
                </a:solidFill>
              </a:rPr>
              <a:t>Intuitively, what are things firms can do to achieve this?</a:t>
            </a:r>
          </a:p>
          <a:p>
            <a:endParaRPr lang="en-US" sz="800" b="1" dirty="0"/>
          </a:p>
          <a:p>
            <a:pPr lvl="1"/>
            <a:endParaRPr lang="en-US" sz="800" dirty="0"/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ECD72A-5668-AE42-B9C1-298483CF5C79}"/>
              </a:ext>
            </a:extLst>
          </p:cNvPr>
          <p:cNvSpPr txBox="1"/>
          <p:nvPr/>
        </p:nvSpPr>
        <p:spPr>
          <a:xfrm>
            <a:off x="6739941" y="4450296"/>
            <a:ext cx="4212383" cy="1200329"/>
          </a:xfrm>
          <a:prstGeom prst="rect">
            <a:avLst/>
          </a:prstGeom>
          <a:solidFill>
            <a:srgbClr val="566568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A51417"/>
                </a:solidFill>
              </a:rPr>
              <a:t>Next up, what do you think are limitations of the dividend-discount model?</a:t>
            </a:r>
            <a:endParaRPr lang="en-US" sz="2400" i="1" dirty="0">
              <a:solidFill>
                <a:srgbClr val="A514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680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Limitations</a:t>
            </a:r>
            <a:r>
              <a:rPr lang="en-US" dirty="0"/>
              <a:t> of the dividend-discount model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018717" cy="4778022"/>
          </a:xfrm>
        </p:spPr>
        <p:txBody>
          <a:bodyPr>
            <a:normAutofit/>
          </a:bodyPr>
          <a:lstStyle/>
          <a:p>
            <a:r>
              <a:rPr lang="en-US" dirty="0"/>
              <a:t>Cannot be used to value companies that don’t pay dividends [e.g., Meta, Amazon, and Google]</a:t>
            </a:r>
          </a:p>
          <a:p>
            <a:r>
              <a:rPr lang="en-US" dirty="0"/>
              <a:t>Tremendously hard to forecast dividends! </a:t>
            </a:r>
          </a:p>
          <a:p>
            <a:endParaRPr lang="en-US" sz="800" dirty="0"/>
          </a:p>
          <a:p>
            <a:pPr lvl="1"/>
            <a:r>
              <a:rPr lang="en-US" dirty="0"/>
              <a:t>This is </a:t>
            </a:r>
            <a:r>
              <a:rPr lang="en-US" b="1" u="sng" dirty="0"/>
              <a:t>not</a:t>
            </a:r>
            <a:r>
              <a:rPr lang="en-US" dirty="0"/>
              <a:t> like bonds, where coupons and face value payments are set by the initial terms of the bond issuance</a:t>
            </a:r>
            <a:endParaRPr lang="en-US" i="1" dirty="0"/>
          </a:p>
          <a:p>
            <a:pPr lvl="1"/>
            <a:r>
              <a:rPr lang="en-US" dirty="0"/>
              <a:t>And small change in assume growth rate, </a:t>
            </a:r>
            <a:r>
              <a:rPr lang="en-US" i="1" dirty="0"/>
              <a:t>g</a:t>
            </a:r>
            <a:r>
              <a:rPr lang="en-US" dirty="0"/>
              <a:t>, can matter a lot!</a:t>
            </a:r>
            <a:endParaRPr lang="en-US" i="1" dirty="0"/>
          </a:p>
          <a:p>
            <a:endParaRPr lang="en-US" sz="800" dirty="0"/>
          </a:p>
          <a:p>
            <a:pPr marL="0" indent="0">
              <a:buNone/>
            </a:pPr>
            <a:endParaRPr lang="en-US" sz="800" b="1" dirty="0"/>
          </a:p>
          <a:p>
            <a:endParaRPr lang="en-US" sz="800" b="1" dirty="0"/>
          </a:p>
          <a:p>
            <a:pPr lvl="1"/>
            <a:endParaRPr lang="en-US" sz="800" dirty="0"/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E7AAAD-F1D3-0944-A4D7-ACA25C460AAC}"/>
              </a:ext>
            </a:extLst>
          </p:cNvPr>
          <p:cNvSpPr txBox="1"/>
          <p:nvPr/>
        </p:nvSpPr>
        <p:spPr>
          <a:xfrm>
            <a:off x="857043" y="4842301"/>
            <a:ext cx="4212383" cy="954107"/>
          </a:xfrm>
          <a:prstGeom prst="rect">
            <a:avLst/>
          </a:prstGeom>
          <a:solidFill>
            <a:srgbClr val="566568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Given this, other DCF methods are needed…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3037594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Total Payout Model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u="sng" dirty="0"/>
              <a:t>second</a:t>
            </a:r>
            <a:r>
              <a:rPr lang="en-US" dirty="0"/>
              <a:t> way to value a stock </a:t>
            </a:r>
          </a:p>
          <a:p>
            <a:r>
              <a:rPr lang="en-US" dirty="0"/>
              <a:t>Same idea, but now take PV of total payouts, including those coming from stock repurchases</a:t>
            </a:r>
          </a:p>
          <a:p>
            <a:endParaRPr lang="en-US" sz="800" dirty="0"/>
          </a:p>
          <a:p>
            <a:pPr lvl="1"/>
            <a:endParaRPr lang="en-US" sz="800" dirty="0"/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39FC83-B1BC-7F48-9274-3A22A3B7A6E4}"/>
              </a:ext>
            </a:extLst>
          </p:cNvPr>
          <p:cNvSpPr txBox="1"/>
          <p:nvPr/>
        </p:nvSpPr>
        <p:spPr>
          <a:xfrm>
            <a:off x="2702858" y="3889231"/>
            <a:ext cx="64209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 increasingly popular (and alternative) way companies pay out cash to stock investors; basically, firm uses cash to buy back its shares rather than pay dividends </a:t>
            </a:r>
            <a:r>
              <a:rPr lang="en-US" sz="2400" i="1" dirty="0"/>
              <a:t>[e.g., Apple does this a lot]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7706E6B-ED0B-BD4D-BE4A-6AEAF4E54774}"/>
              </a:ext>
            </a:extLst>
          </p:cNvPr>
          <p:cNvCxnSpPr>
            <a:cxnSpLocks/>
          </p:cNvCxnSpPr>
          <p:nvPr/>
        </p:nvCxnSpPr>
        <p:spPr>
          <a:xfrm flipV="1">
            <a:off x="4416426" y="3188375"/>
            <a:ext cx="0" cy="7008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F8C3B15-4941-4D44-A8EE-3671669B92FF}"/>
              </a:ext>
            </a:extLst>
          </p:cNvPr>
          <p:cNvSpPr/>
          <p:nvPr/>
        </p:nvSpPr>
        <p:spPr>
          <a:xfrm>
            <a:off x="3119224" y="2616430"/>
            <a:ext cx="2967369" cy="443034"/>
          </a:xfrm>
          <a:prstGeom prst="rect">
            <a:avLst/>
          </a:prstGeom>
          <a:solidFill>
            <a:srgbClr val="56656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070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Total Payout Model </a:t>
            </a:r>
            <a:r>
              <a:rPr lang="en-US" i="1" dirty="0"/>
              <a:t>[continued]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use this approach, you calculate:</a:t>
            </a:r>
          </a:p>
          <a:p>
            <a:endParaRPr lang="en-US" sz="800" dirty="0"/>
          </a:p>
          <a:p>
            <a:pPr lvl="1"/>
            <a:endParaRPr lang="en-US" sz="800" dirty="0"/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95E9C2-5EB8-984D-B796-B2BC6E876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218" y="3479053"/>
            <a:ext cx="7381450" cy="8777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89A79C-6E2A-8A4F-B0DF-A0734F46CBC1}"/>
              </a:ext>
            </a:extLst>
          </p:cNvPr>
          <p:cNvSpPr txBox="1"/>
          <p:nvPr/>
        </p:nvSpPr>
        <p:spPr>
          <a:xfrm>
            <a:off x="7513224" y="1587279"/>
            <a:ext cx="3674730" cy="1200329"/>
          </a:xfrm>
          <a:prstGeom prst="rect">
            <a:avLst/>
          </a:prstGeom>
          <a:solidFill>
            <a:srgbClr val="A51417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Take present value of all expected dividends and repurchases of the firm</a:t>
            </a:r>
            <a:endParaRPr lang="en-US" sz="2400" i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3164226-E4BE-C94D-B29A-04961F770D75}"/>
              </a:ext>
            </a:extLst>
          </p:cNvPr>
          <p:cNvCxnSpPr>
            <a:cxnSpLocks/>
          </p:cNvCxnSpPr>
          <p:nvPr/>
        </p:nvCxnSpPr>
        <p:spPr>
          <a:xfrm flipH="1">
            <a:off x="8030834" y="2855200"/>
            <a:ext cx="1" cy="5883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A8CA24-F79D-AC41-A8B7-262D1477F45B}"/>
              </a:ext>
            </a:extLst>
          </p:cNvPr>
          <p:cNvSpPr txBox="1"/>
          <p:nvPr/>
        </p:nvSpPr>
        <p:spPr>
          <a:xfrm>
            <a:off x="3507001" y="5034292"/>
            <a:ext cx="3738050" cy="1200329"/>
          </a:xfrm>
          <a:prstGeom prst="rect">
            <a:avLst/>
          </a:prstGeom>
          <a:solidFill>
            <a:srgbClr val="566568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Then, divide by total # of shares to get a per share value of those payments</a:t>
            </a:r>
            <a:endParaRPr lang="en-US" sz="2400" i="1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7A0949A-DF2B-1B4F-B144-BBD265621000}"/>
              </a:ext>
            </a:extLst>
          </p:cNvPr>
          <p:cNvCxnSpPr>
            <a:cxnSpLocks/>
          </p:cNvCxnSpPr>
          <p:nvPr/>
        </p:nvCxnSpPr>
        <p:spPr>
          <a:xfrm flipV="1">
            <a:off x="6178924" y="4427818"/>
            <a:ext cx="0" cy="5072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B36DC04-A93A-DE44-A2CD-1D26C3668B20}"/>
              </a:ext>
            </a:extLst>
          </p:cNvPr>
          <p:cNvSpPr/>
          <p:nvPr/>
        </p:nvSpPr>
        <p:spPr>
          <a:xfrm>
            <a:off x="3507001" y="3550024"/>
            <a:ext cx="5979899" cy="322010"/>
          </a:xfrm>
          <a:prstGeom prst="rect">
            <a:avLst/>
          </a:prstGeom>
          <a:solidFill>
            <a:srgbClr val="A51417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1C9D82-32E2-8F4F-8BAE-4672449218D5}"/>
              </a:ext>
            </a:extLst>
          </p:cNvPr>
          <p:cNvSpPr/>
          <p:nvPr/>
        </p:nvSpPr>
        <p:spPr>
          <a:xfrm>
            <a:off x="5126307" y="3963177"/>
            <a:ext cx="2558687" cy="322010"/>
          </a:xfrm>
          <a:prstGeom prst="rect">
            <a:avLst/>
          </a:prstGeom>
          <a:solidFill>
            <a:srgbClr val="56656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09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discounted free cash flow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third way to value a stock that we </a:t>
            </a:r>
            <a:r>
              <a:rPr lang="en-US" b="1" u="sng" dirty="0"/>
              <a:t>already</a:t>
            </a:r>
            <a:r>
              <a:rPr lang="en-US" dirty="0"/>
              <a:t> saw in Topic #4!</a:t>
            </a:r>
          </a:p>
          <a:p>
            <a:r>
              <a:rPr lang="en-US" dirty="0"/>
              <a:t>To use this approach:</a:t>
            </a:r>
          </a:p>
          <a:p>
            <a:endParaRPr lang="en-US" sz="800" dirty="0"/>
          </a:p>
          <a:p>
            <a:pPr lvl="1"/>
            <a:r>
              <a:rPr lang="en-US" dirty="0"/>
              <a:t>Take value of </a:t>
            </a:r>
            <a:r>
              <a:rPr lang="en-US" u="sng" dirty="0"/>
              <a:t>entire</a:t>
            </a:r>
            <a:r>
              <a:rPr lang="en-US" dirty="0"/>
              <a:t> firm (not just equity) using DCF </a:t>
            </a:r>
            <a:r>
              <a:rPr lang="en-US" b="1" dirty="0">
                <a:solidFill>
                  <a:srgbClr val="A51417"/>
                </a:solidFill>
              </a:rPr>
              <a:t>[How?]</a:t>
            </a:r>
          </a:p>
          <a:p>
            <a:pPr lvl="1"/>
            <a:r>
              <a:rPr lang="en-US" dirty="0"/>
              <a:t>Find total equity value by subtracting off value of debt</a:t>
            </a:r>
          </a:p>
          <a:p>
            <a:pPr lvl="1"/>
            <a:r>
              <a:rPr lang="en-US" dirty="0"/>
              <a:t>Then, divide by # of shares to get per share value of equity</a:t>
            </a:r>
            <a:endParaRPr lang="en-US" sz="800" dirty="0"/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4730A-C993-AAFC-22C3-F49A3F148F14}"/>
              </a:ext>
            </a:extLst>
          </p:cNvPr>
          <p:cNvSpPr txBox="1"/>
          <p:nvPr/>
        </p:nvSpPr>
        <p:spPr>
          <a:xfrm>
            <a:off x="677333" y="4641117"/>
            <a:ext cx="6418713" cy="830997"/>
          </a:xfrm>
          <a:prstGeom prst="rect">
            <a:avLst/>
          </a:prstGeom>
          <a:solidFill>
            <a:srgbClr val="A51417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This approach works for all firms, regardless of whether they pay dividends!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1527361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DCF model &amp; the terminal value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7423160" cy="4778022"/>
          </a:xfrm>
        </p:spPr>
        <p:txBody>
          <a:bodyPr>
            <a:normAutofit/>
          </a:bodyPr>
          <a:lstStyle/>
          <a:p>
            <a:r>
              <a:rPr lang="en-US" dirty="0"/>
              <a:t>Estimating FCFs out forever is not practical</a:t>
            </a:r>
          </a:p>
          <a:p>
            <a:r>
              <a:rPr lang="en-US" dirty="0"/>
              <a:t>So, we use a </a:t>
            </a:r>
            <a:r>
              <a:rPr lang="en-US" b="1" u="sng" dirty="0"/>
              <a:t>terminal value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sz="800" b="1" dirty="0"/>
          </a:p>
          <a:p>
            <a:pPr lvl="1"/>
            <a:r>
              <a:rPr lang="en-US" b="1" dirty="0"/>
              <a:t>Terminal value </a:t>
            </a:r>
            <a:r>
              <a:rPr lang="en-US" dirty="0"/>
              <a:t>= Present value of all FCF </a:t>
            </a:r>
            <a:r>
              <a:rPr lang="en-US" b="1" u="sng" dirty="0"/>
              <a:t>after</a:t>
            </a:r>
            <a:r>
              <a:rPr lang="en-US" dirty="0"/>
              <a:t> year </a:t>
            </a:r>
            <a:r>
              <a:rPr lang="en-US" i="1" dirty="0"/>
              <a:t>N</a:t>
            </a:r>
            <a:r>
              <a:rPr lang="en-US" dirty="0"/>
              <a:t>, measured </a:t>
            </a:r>
            <a:r>
              <a:rPr lang="en-US" u="sng" dirty="0"/>
              <a:t>as of year </a:t>
            </a:r>
            <a:r>
              <a:rPr lang="en-US" i="1" u="sng" dirty="0"/>
              <a:t>N</a:t>
            </a:r>
            <a:r>
              <a:rPr lang="en-US" dirty="0"/>
              <a:t> </a:t>
            </a:r>
            <a:r>
              <a:rPr lang="en-US" i="1" dirty="0"/>
              <a:t>[This is just like the P</a:t>
            </a:r>
            <a:r>
              <a:rPr lang="en-US" i="1" baseline="-25000" dirty="0"/>
              <a:t>N</a:t>
            </a:r>
            <a:r>
              <a:rPr lang="en-US" i="1" dirty="0"/>
              <a:t> in the dividend-discount model]</a:t>
            </a:r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2B9AAB-9CE1-354C-BF86-F26A4322AC86}"/>
                  </a:ext>
                </a:extLst>
              </p:cNvPr>
              <p:cNvSpPr txBox="1"/>
              <p:nvPr/>
            </p:nvSpPr>
            <p:spPr>
              <a:xfrm>
                <a:off x="874064" y="2918739"/>
                <a:ext cx="10179420" cy="756297"/>
              </a:xfrm>
              <a:prstGeom prst="rect">
                <a:avLst/>
              </a:prstGeom>
              <a:solidFill>
                <a:srgbClr val="E1E1E1">
                  <a:alpha val="30000"/>
                </a:srgb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𝐹𝑖𝑟𝑚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𝑣𝑎𝑙𝑢𝑒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𝐶𝑎𝑠h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𝐹𝐶𝐹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𝑤𝑎𝑐𝑐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𝐹𝐶𝐹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𝑤𝑎𝑐𝑐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𝑤𝑎𝑐𝑐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2B9AAB-9CE1-354C-BF86-F26A4322A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064" y="2918739"/>
                <a:ext cx="10179420" cy="756297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543904D-2241-EB4A-A29D-68152B898DBA}"/>
              </a:ext>
            </a:extLst>
          </p:cNvPr>
          <p:cNvSpPr txBox="1"/>
          <p:nvPr/>
        </p:nvSpPr>
        <p:spPr>
          <a:xfrm>
            <a:off x="8408822" y="1487929"/>
            <a:ext cx="2549679" cy="830997"/>
          </a:xfrm>
          <a:prstGeom prst="rect">
            <a:avLst/>
          </a:prstGeom>
          <a:solidFill>
            <a:srgbClr val="566568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This </a:t>
            </a:r>
            <a:r>
              <a:rPr lang="en-US" sz="2400" i="1" dirty="0"/>
              <a:t>V</a:t>
            </a:r>
            <a:r>
              <a:rPr lang="en-US" sz="2400" i="1" baseline="-25000" dirty="0"/>
              <a:t>N</a:t>
            </a:r>
            <a:r>
              <a:rPr lang="en-US" sz="2400" i="1" dirty="0"/>
              <a:t> </a:t>
            </a:r>
            <a:r>
              <a:rPr lang="en-US" sz="2400" dirty="0"/>
              <a:t>is the “terminal value”</a:t>
            </a:r>
            <a:endParaRPr lang="en-US" sz="2400" i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3E3918A-188D-9A45-908D-91D5A753E010}"/>
              </a:ext>
            </a:extLst>
          </p:cNvPr>
          <p:cNvCxnSpPr>
            <a:cxnSpLocks/>
          </p:cNvCxnSpPr>
          <p:nvPr/>
        </p:nvCxnSpPr>
        <p:spPr>
          <a:xfrm>
            <a:off x="9656214" y="2346512"/>
            <a:ext cx="0" cy="5170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9CBA1A6-2FB4-054B-89BC-0302EE9372F5}"/>
              </a:ext>
            </a:extLst>
          </p:cNvPr>
          <p:cNvSpPr txBox="1"/>
          <p:nvPr/>
        </p:nvSpPr>
        <p:spPr>
          <a:xfrm>
            <a:off x="8560219" y="4506437"/>
            <a:ext cx="2818621" cy="1569660"/>
          </a:xfrm>
          <a:prstGeom prst="rect">
            <a:avLst/>
          </a:prstGeom>
          <a:solidFill>
            <a:srgbClr val="A51417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And because it is measured as of year </a:t>
            </a:r>
            <a:r>
              <a:rPr lang="en-US" sz="2400" i="1" dirty="0"/>
              <a:t>N</a:t>
            </a:r>
            <a:r>
              <a:rPr lang="en-US" sz="2400" dirty="0"/>
              <a:t>, must still take present value</a:t>
            </a:r>
            <a:endParaRPr lang="en-US" sz="2400" i="1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077BEBE-883D-8D41-A696-33EF61DC3C2D}"/>
              </a:ext>
            </a:extLst>
          </p:cNvPr>
          <p:cNvCxnSpPr>
            <a:cxnSpLocks/>
          </p:cNvCxnSpPr>
          <p:nvPr/>
        </p:nvCxnSpPr>
        <p:spPr>
          <a:xfrm flipH="1" flipV="1">
            <a:off x="9791268" y="3821561"/>
            <a:ext cx="13116" cy="5864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DA8ACEE-F04B-664A-A1B3-2DF3CE0DAA88}"/>
              </a:ext>
            </a:extLst>
          </p:cNvPr>
          <p:cNvSpPr/>
          <p:nvPr/>
        </p:nvSpPr>
        <p:spPr>
          <a:xfrm>
            <a:off x="8877760" y="3353026"/>
            <a:ext cx="1692290" cy="322010"/>
          </a:xfrm>
          <a:prstGeom prst="rect">
            <a:avLst/>
          </a:prstGeom>
          <a:solidFill>
            <a:srgbClr val="A51417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56E3EB-C9BC-A44D-975A-A33155214F6F}"/>
              </a:ext>
            </a:extLst>
          </p:cNvPr>
          <p:cNvSpPr/>
          <p:nvPr/>
        </p:nvSpPr>
        <p:spPr>
          <a:xfrm>
            <a:off x="9376160" y="2946066"/>
            <a:ext cx="615005" cy="322010"/>
          </a:xfrm>
          <a:prstGeom prst="rect">
            <a:avLst/>
          </a:prstGeom>
          <a:solidFill>
            <a:srgbClr val="56656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4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the terminal value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600200"/>
            <a:ext cx="10798375" cy="4778022"/>
          </a:xfrm>
        </p:spPr>
        <p:txBody>
          <a:bodyPr>
            <a:normAutofit/>
          </a:bodyPr>
          <a:lstStyle/>
          <a:p>
            <a:r>
              <a:rPr lang="en-US" dirty="0"/>
              <a:t>Typically assume FCFs grow at constant rate </a:t>
            </a:r>
            <a:r>
              <a:rPr lang="en-US" i="1" dirty="0" err="1"/>
              <a:t>g</a:t>
            </a:r>
            <a:r>
              <a:rPr lang="en-US" i="1" baseline="-25000" dirty="0" err="1"/>
              <a:t>FCF</a:t>
            </a:r>
            <a:r>
              <a:rPr lang="en-US" dirty="0"/>
              <a:t> beyond year </a:t>
            </a:r>
            <a:r>
              <a:rPr lang="en-US" i="1" dirty="0"/>
              <a:t>N</a:t>
            </a:r>
            <a:r>
              <a:rPr lang="en-US" dirty="0"/>
              <a:t>, which allows us to use growing perpetuity formula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assumed growth rate, </a:t>
            </a:r>
            <a:r>
              <a:rPr lang="en-US" i="1" dirty="0" err="1"/>
              <a:t>g</a:t>
            </a:r>
            <a:r>
              <a:rPr lang="en-US" i="1" baseline="-25000" dirty="0" err="1"/>
              <a:t>FCF</a:t>
            </a:r>
            <a:r>
              <a:rPr lang="en-US" dirty="0"/>
              <a:t>, should…</a:t>
            </a:r>
          </a:p>
          <a:p>
            <a:pPr lvl="1"/>
            <a:endParaRPr lang="en-US" sz="800" b="1" dirty="0"/>
          </a:p>
          <a:p>
            <a:pPr lvl="1"/>
            <a:r>
              <a:rPr lang="en-US" dirty="0"/>
              <a:t>Account for inflation </a:t>
            </a:r>
          </a:p>
          <a:p>
            <a:pPr lvl="1"/>
            <a:r>
              <a:rPr lang="en-US" u="sng" dirty="0"/>
              <a:t>Not</a:t>
            </a:r>
            <a:r>
              <a:rPr lang="en-US" dirty="0"/>
              <a:t> be higher that nominal growth rate of entire economy </a:t>
            </a:r>
            <a:r>
              <a:rPr lang="en-US" b="1" dirty="0">
                <a:solidFill>
                  <a:srgbClr val="A51417"/>
                </a:solidFill>
              </a:rPr>
              <a:t>[Why?]</a:t>
            </a:r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B67A9AB0-CD42-FD4B-A2E7-A3040B7E9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300" y="2787276"/>
            <a:ext cx="5359400" cy="104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5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points to remember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use DCF model to value bonds &amp; stocks</a:t>
            </a:r>
          </a:p>
          <a:p>
            <a:endParaRPr lang="en-US" sz="800" dirty="0"/>
          </a:p>
          <a:p>
            <a:pPr lvl="1"/>
            <a:r>
              <a:rPr lang="en-US" dirty="0"/>
              <a:t>First, estimate the expected cash flows from owning the asset</a:t>
            </a:r>
          </a:p>
          <a:p>
            <a:pPr lvl="1"/>
            <a:r>
              <a:rPr lang="en-US" dirty="0"/>
              <a:t>Then, take present value using appropriate discount rate</a:t>
            </a:r>
          </a:p>
          <a:p>
            <a:pPr marL="914400" lvl="2" indent="0">
              <a:buNone/>
            </a:pPr>
            <a:endParaRPr lang="en-US" sz="800" dirty="0"/>
          </a:p>
          <a:p>
            <a:r>
              <a:rPr lang="en-US" dirty="0"/>
              <a:t>Can also use market prices of bonds &amp; stocks to infer what the required return is that each type of investor demands</a:t>
            </a:r>
          </a:p>
          <a:p>
            <a:endParaRPr lang="en-US" sz="800" dirty="0"/>
          </a:p>
          <a:p>
            <a:pPr lvl="1"/>
            <a:r>
              <a:rPr lang="en-US" dirty="0"/>
              <a:t>E.g., used bond price to back out YTM and firm’s </a:t>
            </a:r>
            <a:r>
              <a:rPr lang="en-US" i="1" dirty="0" err="1"/>
              <a:t>r</a:t>
            </a:r>
            <a:r>
              <a:rPr lang="en-US" i="1" baseline="-25000" dirty="0" err="1"/>
              <a:t>D</a:t>
            </a:r>
            <a:endParaRPr lang="en-US" i="1" baseline="-25000" dirty="0"/>
          </a:p>
          <a:p>
            <a:pPr lvl="1"/>
            <a:r>
              <a:rPr lang="en-US" dirty="0"/>
              <a:t>Likewise, while I did not show you this explicitly, you can use constant-dividend growth model to back out </a:t>
            </a:r>
            <a:r>
              <a:rPr lang="en-US" i="1" dirty="0" err="1"/>
              <a:t>r</a:t>
            </a:r>
            <a:r>
              <a:rPr lang="en-US" i="1" baseline="-25000" dirty="0" err="1"/>
              <a:t>E</a:t>
            </a:r>
            <a:endParaRPr lang="en-US" i="1" baseline="-250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916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Exam information &amp; advice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Main topics I wanted to discuss are now completed, and you have everything needed to complete the exam</a:t>
            </a:r>
          </a:p>
          <a:p>
            <a:endParaRPr lang="en-US" sz="800" dirty="0"/>
          </a:p>
          <a:p>
            <a:pPr marL="914400" lvl="2" indent="0">
              <a:buNone/>
            </a:pPr>
            <a:endParaRPr lang="en-US" sz="800" dirty="0"/>
          </a:p>
          <a:p>
            <a:r>
              <a:rPr lang="en-US" b="1" dirty="0"/>
              <a:t>Some quick exam tips</a:t>
            </a:r>
            <a:r>
              <a:rPr lang="en-US" b="1" i="1" dirty="0"/>
              <a:t> </a:t>
            </a:r>
            <a:r>
              <a:rPr lang="en-US" i="1" dirty="0"/>
              <a:t>[also see handout on Canvas]</a:t>
            </a:r>
          </a:p>
          <a:p>
            <a:endParaRPr lang="en-US" sz="800" dirty="0"/>
          </a:p>
          <a:p>
            <a:pPr lvl="1"/>
            <a:r>
              <a:rPr lang="en-US" dirty="0"/>
              <a:t>Done on </a:t>
            </a:r>
            <a:r>
              <a:rPr lang="en-US" i="1" dirty="0" err="1"/>
              <a:t>MyLab</a:t>
            </a:r>
            <a:r>
              <a:rPr lang="en-US" dirty="0"/>
              <a:t>; due three weeks from last meeting</a:t>
            </a:r>
            <a:endParaRPr lang="en-US" i="1" baseline="-25000" dirty="0"/>
          </a:p>
          <a:p>
            <a:pPr lvl="1"/>
            <a:r>
              <a:rPr lang="en-US" dirty="0"/>
              <a:t>Open-book, open-notes; I recommend also using MS Excel</a:t>
            </a:r>
          </a:p>
          <a:p>
            <a:pPr lvl="1"/>
            <a:r>
              <a:rPr lang="en-US" dirty="0"/>
              <a:t>Strikingly like </a:t>
            </a:r>
            <a:r>
              <a:rPr lang="en-US" i="1" dirty="0" err="1"/>
              <a:t>MyLab</a:t>
            </a:r>
            <a:r>
              <a:rPr lang="en-US" dirty="0"/>
              <a:t> homework and quizzes</a:t>
            </a:r>
          </a:p>
          <a:p>
            <a:pPr lvl="1"/>
            <a:r>
              <a:rPr lang="en-US" dirty="0"/>
              <a:t>About 2.5 times longer than quiz; so, </a:t>
            </a:r>
            <a:r>
              <a:rPr lang="en-US" u="sng" dirty="0"/>
              <a:t>don’t wait until last second</a:t>
            </a:r>
            <a:r>
              <a:rPr lang="en-US" dirty="0"/>
              <a:t>!</a:t>
            </a:r>
          </a:p>
          <a:p>
            <a:pPr lvl="1"/>
            <a:endParaRPr lang="en-US" i="1" baseline="-250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079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Informal feedback form</a:t>
            </a:r>
            <a:r>
              <a:rPr lang="en-US" dirty="0"/>
              <a:t> </a:t>
            </a:r>
            <a:r>
              <a:rPr lang="en-US" i="1" dirty="0"/>
              <a:t>[for my eyes only]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20" y="1600200"/>
            <a:ext cx="10361346" cy="4778022"/>
          </a:xfrm>
        </p:spPr>
        <p:txBody>
          <a:bodyPr>
            <a:normAutofit/>
          </a:bodyPr>
          <a:lstStyle/>
          <a:p>
            <a:r>
              <a:rPr lang="en-US" dirty="0"/>
              <a:t>Honest feedback appreciated…</a:t>
            </a:r>
          </a:p>
          <a:p>
            <a:endParaRPr lang="en-US" sz="800" dirty="0"/>
          </a:p>
          <a:p>
            <a:pPr lvl="1"/>
            <a:r>
              <a:rPr lang="en-US" dirty="0"/>
              <a:t>Helps me make course better for future cohorts</a:t>
            </a:r>
          </a:p>
          <a:p>
            <a:pPr lvl="1"/>
            <a:r>
              <a:rPr lang="en-US" dirty="0"/>
              <a:t>Helps me revise lectures &amp; cases</a:t>
            </a:r>
          </a:p>
          <a:p>
            <a:endParaRPr lang="en-US" sz="8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4ADDA8-3AC0-CD49-A30F-213728C1829C}"/>
              </a:ext>
            </a:extLst>
          </p:cNvPr>
          <p:cNvSpPr txBox="1"/>
          <p:nvPr/>
        </p:nvSpPr>
        <p:spPr>
          <a:xfrm>
            <a:off x="658519" y="3542935"/>
            <a:ext cx="110792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Please complete the form now at:</a:t>
            </a:r>
          </a:p>
          <a:p>
            <a:r>
              <a:rPr lang="en-US" sz="2800" dirty="0">
                <a:solidFill>
                  <a:srgbClr val="A5141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https://docs.google.com/forms/d/e/1FAIpQLSf3eSQeGIICSTrP5ozzOaP9-PqJoXBLL38WB04AyezMWoKZcg/viewform?usp=sharing</a:t>
            </a:r>
            <a:r>
              <a:rPr lang="en-US" sz="2800" dirty="0">
                <a:solidFill>
                  <a:srgbClr val="A51417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7912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C00000"/>
                </a:solidFill>
              </a:rPr>
              <a:t>Official</a:t>
            </a:r>
            <a:r>
              <a:rPr lang="en-US" u="sng" dirty="0"/>
              <a:t> feedback form</a:t>
            </a:r>
            <a:r>
              <a:rPr lang="en-US" dirty="0"/>
              <a:t> </a:t>
            </a:r>
            <a:r>
              <a:rPr lang="en-US" i="1" dirty="0"/>
              <a:t>[Wash. U.’s eyes only]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20" y="1600200"/>
            <a:ext cx="10361346" cy="4778022"/>
          </a:xfrm>
        </p:spPr>
        <p:txBody>
          <a:bodyPr>
            <a:normAutofit/>
          </a:bodyPr>
          <a:lstStyle/>
          <a:p>
            <a:endParaRPr lang="en-US" sz="8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4ADDA8-3AC0-CD49-A30F-213728C1829C}"/>
              </a:ext>
            </a:extLst>
          </p:cNvPr>
          <p:cNvSpPr txBox="1"/>
          <p:nvPr/>
        </p:nvSpPr>
        <p:spPr>
          <a:xfrm>
            <a:off x="658520" y="1800652"/>
            <a:ext cx="71175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Please take 10 minutes now to complete the official course evaluations:</a:t>
            </a:r>
          </a:p>
          <a:p>
            <a:r>
              <a:rPr lang="en-US" sz="2800" dirty="0">
                <a:solidFill>
                  <a:srgbClr val="A5141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https://evals.wustl.edu</a:t>
            </a:r>
            <a:r>
              <a:rPr lang="en-US" sz="2800" dirty="0">
                <a:solidFill>
                  <a:srgbClr val="A51417"/>
                </a:solidFill>
              </a:rPr>
              <a:t> </a:t>
            </a:r>
            <a:endParaRPr lang="en-US" sz="2400" i="1" dirty="0">
              <a:solidFill>
                <a:srgbClr val="A51417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E93C11-8CCE-DE4C-155B-82FA38926012}"/>
              </a:ext>
            </a:extLst>
          </p:cNvPr>
          <p:cNvSpPr txBox="1"/>
          <p:nvPr/>
        </p:nvSpPr>
        <p:spPr>
          <a:xfrm>
            <a:off x="658519" y="3672354"/>
            <a:ext cx="98339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I’ll resume course once we have 80% response rate…</a:t>
            </a:r>
            <a:endParaRPr lang="en-US" sz="2400" b="1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7774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That’s it; feel free to e-mail with questions!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Again, my e-mail is: </a:t>
            </a:r>
            <a:r>
              <a:rPr lang="en-US" dirty="0">
                <a:solidFill>
                  <a:srgbClr val="A5141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gormley@wustl.edu</a:t>
            </a:r>
            <a:endParaRPr lang="en-US" dirty="0">
              <a:solidFill>
                <a:srgbClr val="A51417"/>
              </a:solidFill>
            </a:endParaRPr>
          </a:p>
          <a:p>
            <a:r>
              <a:rPr lang="en-US" dirty="0"/>
              <a:t>I will also post complete slides</a:t>
            </a:r>
            <a:endParaRPr lang="en-US" sz="8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32065D-76F8-E846-9CAB-7DE6637D003F}"/>
              </a:ext>
            </a:extLst>
          </p:cNvPr>
          <p:cNvSpPr txBox="1"/>
          <p:nvPr/>
        </p:nvSpPr>
        <p:spPr>
          <a:xfrm>
            <a:off x="622937" y="3105834"/>
            <a:ext cx="7148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 hope you enjoyed </a:t>
            </a:r>
            <a:r>
              <a:rPr lang="en-US" sz="3600"/>
              <a:t>the course!</a:t>
            </a:r>
            <a:endParaRPr lang="en-US" sz="3600" i="1" dirty="0"/>
          </a:p>
        </p:txBody>
      </p:sp>
    </p:spTree>
    <p:extLst>
      <p:ext uri="{BB962C8B-B14F-4D97-AF65-F5344CB8AC3E}">
        <p14:creationId xmlns:p14="http://schemas.microsoft.com/office/powerpoint/2010/main" val="132784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With our remaining time… [for STL]</a:t>
            </a:r>
            <a:endParaRPr lang="en-US" b="1" i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58519" y="1600200"/>
            <a:ext cx="10901422" cy="4778022"/>
          </a:xfrm>
        </p:spPr>
        <p:txBody>
          <a:bodyPr/>
          <a:lstStyle/>
          <a:p>
            <a:r>
              <a:rPr lang="en-US" dirty="0"/>
              <a:t>First, let’s take stock of what we’ve learned</a:t>
            </a:r>
          </a:p>
          <a:p>
            <a:endParaRPr lang="en-US" sz="800" dirty="0"/>
          </a:p>
          <a:p>
            <a:pPr lvl="1"/>
            <a:r>
              <a:rPr lang="en-US" dirty="0"/>
              <a:t>Let’s do 30-minute group breakout session; discuss what you’ve learned and what questions your group has for me</a:t>
            </a:r>
          </a:p>
          <a:p>
            <a:pPr lvl="1"/>
            <a:r>
              <a:rPr lang="en-US" dirty="0"/>
              <a:t>After breakout, I’ll go over any questions posed by the class</a:t>
            </a:r>
          </a:p>
          <a:p>
            <a:pPr lvl="1"/>
            <a:endParaRPr lang="en-US" sz="800" dirty="0"/>
          </a:p>
          <a:p>
            <a:r>
              <a:rPr lang="en-US" dirty="0"/>
              <a:t>Then, with any leftover time we have, I can cover how managers make two other important decisions:</a:t>
            </a:r>
          </a:p>
          <a:p>
            <a:endParaRPr lang="en-US" sz="800" dirty="0"/>
          </a:p>
          <a:p>
            <a:pPr lvl="1"/>
            <a:r>
              <a:rPr lang="en-US" b="1" dirty="0"/>
              <a:t>Optimal mixture of debt &amp; equity [i.e., capital structure]</a:t>
            </a:r>
          </a:p>
          <a:p>
            <a:pPr lvl="1"/>
            <a:r>
              <a:rPr lang="en-US" b="1" dirty="0"/>
              <a:t>Optimal payout policy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059658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ＭＳ 明朝"/>
        <a:font script="Hang" typeface="바탕"/>
        <a:font script="Hans" typeface="华文新魏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ＭＳ 明朝"/>
        <a:font script="Hang" typeface="바탕"/>
        <a:font script="Hans" typeface="华文新魏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12293</TotalTime>
  <Words>3761</Words>
  <Application>Microsoft Macintosh PowerPoint</Application>
  <PresentationFormat>Widescreen</PresentationFormat>
  <Paragraphs>643</Paragraphs>
  <Slides>54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0" baseType="lpstr">
      <vt:lpstr>Arial</vt:lpstr>
      <vt:lpstr>Calibri</vt:lpstr>
      <vt:lpstr>Cambria Math</vt:lpstr>
      <vt:lpstr>Rockwell</vt:lpstr>
      <vt:lpstr>Times New Roman</vt:lpstr>
      <vt:lpstr>Office Theme</vt:lpstr>
      <vt:lpstr>FIN 740: Corporate Finance</vt:lpstr>
      <vt:lpstr>Outline for this topic</vt:lpstr>
      <vt:lpstr>Motivation for studying bond market &amp; valuation</vt:lpstr>
      <vt:lpstr>Outline of corporate bond discussion</vt:lpstr>
      <vt:lpstr>What is a bond?</vt:lpstr>
      <vt:lpstr>The bond certificate</vt:lpstr>
      <vt:lpstr>Bond terminology</vt:lpstr>
      <vt:lpstr>Valuing a bond using DCF</vt:lpstr>
      <vt:lpstr>Example bond valuation</vt:lpstr>
      <vt:lpstr>Bond valuation formula</vt:lpstr>
      <vt:lpstr>The appropriate discount rate…</vt:lpstr>
      <vt:lpstr>Yield to Maturity (YTM)</vt:lpstr>
      <vt:lpstr>How the YTM is useful…</vt:lpstr>
      <vt:lpstr>How to handle semiannual coupons</vt:lpstr>
      <vt:lpstr>Example valuation with semiannual coupons…</vt:lpstr>
      <vt:lpstr>Practice question – Finding YTM</vt:lpstr>
      <vt:lpstr>Practice question – Valuing a bond</vt:lpstr>
      <vt:lpstr>Bond prices and yields</vt:lpstr>
      <vt:lpstr>General information about bond markets</vt:lpstr>
      <vt:lpstr>Bond price terminology</vt:lpstr>
      <vt:lpstr>Zero-coupon bonds</vt:lpstr>
      <vt:lpstr>US Treasuries [the risk-free benchmark]</vt:lpstr>
      <vt:lpstr>Corporate bonds &amp; credit risk</vt:lpstr>
      <vt:lpstr>Bond ratings</vt:lpstr>
      <vt:lpstr>Credit spread</vt:lpstr>
      <vt:lpstr>Where to find bond prices, ratings, &amp; yields?</vt:lpstr>
      <vt:lpstr>Outline of stock discussion</vt:lpstr>
      <vt:lpstr>Motivation for valuing stocks</vt:lpstr>
      <vt:lpstr>The difference between stocks &amp; bonds</vt:lpstr>
      <vt:lpstr>How to value stocks</vt:lpstr>
      <vt:lpstr>Consider investor that plans to sell in one year…</vt:lpstr>
      <vt:lpstr>Breaking return into dividend yield &amp; capital gain</vt:lpstr>
      <vt:lpstr>Practice question – Valuing a stock</vt:lpstr>
      <vt:lpstr>Now consider investor that plans to sell in 2 years…</vt:lpstr>
      <vt:lpstr>Comparing one-year &amp; multi-year investor</vt:lpstr>
      <vt:lpstr>Dividend-discount model</vt:lpstr>
      <vt:lpstr>A special case – Constant dividend growth rate</vt:lpstr>
      <vt:lpstr>A more realistic case – Changing growth rates</vt:lpstr>
      <vt:lpstr>Changing growth rates [example]</vt:lpstr>
      <vt:lpstr>Dividend-discount model [Summary]</vt:lpstr>
      <vt:lpstr>Group assignment – Warren Buffett Case [again]</vt:lpstr>
      <vt:lpstr>Value drivers of the dividend-discount model</vt:lpstr>
      <vt:lpstr>Limitations of the dividend-discount model</vt:lpstr>
      <vt:lpstr>The Total Payout Model </vt:lpstr>
      <vt:lpstr>The Total Payout Model [continued]</vt:lpstr>
      <vt:lpstr>The discounted free cash flow model</vt:lpstr>
      <vt:lpstr>DCF model &amp; the terminal value</vt:lpstr>
      <vt:lpstr>Estimating the terminal value</vt:lpstr>
      <vt:lpstr>Key points to remember</vt:lpstr>
      <vt:lpstr>Exam information &amp; advice</vt:lpstr>
      <vt:lpstr>Informal feedback form [for my eyes only]</vt:lpstr>
      <vt:lpstr>Official feedback form [Wash. U.’s eyes only]</vt:lpstr>
      <vt:lpstr>That’s it; feel free to e-mail with questions!</vt:lpstr>
      <vt:lpstr>With our remaining time… [for STL]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default</dc:creator>
  <cp:lastModifiedBy>Gormley, Todd</cp:lastModifiedBy>
  <cp:revision>142</cp:revision>
  <cp:lastPrinted>2022-04-01T22:48:14Z</cp:lastPrinted>
  <dcterms:created xsi:type="dcterms:W3CDTF">2013-07-09T17:46:55Z</dcterms:created>
  <dcterms:modified xsi:type="dcterms:W3CDTF">2025-04-28T16:45:45Z</dcterms:modified>
</cp:coreProperties>
</file>