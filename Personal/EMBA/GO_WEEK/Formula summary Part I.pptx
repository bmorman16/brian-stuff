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421" r:id="rId2"/>
    <p:sldId id="279" r:id="rId3"/>
    <p:sldId id="516" r:id="rId4"/>
    <p:sldId id="566" r:id="rId5"/>
    <p:sldId id="568" r:id="rId6"/>
    <p:sldId id="569" r:id="rId7"/>
    <p:sldId id="570" r:id="rId8"/>
    <p:sldId id="386" r:id="rId9"/>
    <p:sldId id="389" r:id="rId10"/>
    <p:sldId id="483" r:id="rId11"/>
    <p:sldId id="586" r:id="rId12"/>
    <p:sldId id="268" r:id="rId13"/>
    <p:sldId id="571" r:id="rId14"/>
    <p:sldId id="587" r:id="rId15"/>
    <p:sldId id="259" r:id="rId16"/>
    <p:sldId id="572" r:id="rId17"/>
    <p:sldId id="574" r:id="rId18"/>
    <p:sldId id="575" r:id="rId19"/>
    <p:sldId id="576" r:id="rId20"/>
    <p:sldId id="578" r:id="rId21"/>
    <p:sldId id="577" r:id="rId22"/>
    <p:sldId id="564" r:id="rId23"/>
    <p:sldId id="579" r:id="rId24"/>
    <p:sldId id="580" r:id="rId25"/>
    <p:sldId id="581" r:id="rId26"/>
    <p:sldId id="281" r:id="rId27"/>
    <p:sldId id="582" r:id="rId28"/>
    <p:sldId id="257" r:id="rId29"/>
    <p:sldId id="583" r:id="rId30"/>
    <p:sldId id="567" r:id="rId31"/>
    <p:sldId id="584" r:id="rId32"/>
  </p:sldIdLst>
  <p:sldSz cx="12192000" cy="6858000"/>
  <p:notesSz cx="6997700" cy="9271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F27"/>
    <a:srgbClr val="C8C8C8"/>
    <a:srgbClr val="A51417"/>
    <a:srgbClr val="CFF1FD"/>
    <a:srgbClr val="CEE5FE"/>
    <a:srgbClr val="CCECFF"/>
    <a:srgbClr val="C0D2DE"/>
    <a:srgbClr val="BDD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/>
    <p:restoredTop sz="93665" autoAdjust="0"/>
  </p:normalViewPr>
  <p:slideViewPr>
    <p:cSldViewPr snapToGrid="0">
      <p:cViewPr varScale="1">
        <p:scale>
          <a:sx n="127" d="100"/>
          <a:sy n="127" d="100"/>
        </p:scale>
        <p:origin x="1400" y="19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8" d="100"/>
        <a:sy n="9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cs typeface="Arial" pitchFamily="34" charset="0"/>
              </a:defRPr>
            </a:lvl1pPr>
          </a:lstStyle>
          <a:p>
            <a:fld id="{45EEBEAD-2372-4A4F-A8FA-72FF041C9440}" type="slidenum"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210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 b="0" i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 b="0" i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9575" y="695325"/>
            <a:ext cx="617855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03725"/>
            <a:ext cx="559752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 b="0" i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73B544E-4E4F-4443-A8CC-A12E4C1F825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3845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0"/>
        <a:cs typeface="Calibri" panose="020F050202020403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Source Sans Pro" panose="020B0503030403020204" pitchFamily="34" charset="0"/>
        <a:cs typeface="Calibri" panose="020F050202020403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Source Sans Pro" panose="020B0503030403020204" pitchFamily="34" charset="0"/>
        <a:cs typeface="Calibri" panose="020F050202020403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Source Sans Pro" panose="020B0503030403020204" pitchFamily="34" charset="0"/>
        <a:cs typeface="Calibri" panose="020F050202020403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Source Sans Pro" panose="020B0503030403020204" pitchFamily="34" charset="0"/>
        <a:cs typeface="Calibri" panose="020F050202020403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815A60-E808-4004-A0A8-04FC00BDDAAB}" type="slidenum">
              <a:rPr lang="en-US"/>
              <a:pPr/>
              <a:t>26</a:t>
            </a:fld>
            <a:endParaRPr 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20925" y="422275"/>
            <a:ext cx="5275263" cy="2968625"/>
          </a:xfrm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1688" y="3624263"/>
            <a:ext cx="8442325" cy="1651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42271"/>
            <a:ext cx="10363200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46166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D4C03C-0187-4A31-98BE-7B6B2B0CF534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3960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 b="0" i="0"/>
            </a:lvl2pPr>
            <a:lvl3pPr>
              <a:defRPr sz="2400" b="0" i="0"/>
            </a:lvl3pPr>
            <a:lvl4pPr>
              <a:defRPr sz="2400" b="0" i="0"/>
            </a:lvl4pPr>
            <a:lvl5pPr>
              <a:defRPr sz="24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397824"/>
            <a:ext cx="28448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97824"/>
            <a:ext cx="38608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97824"/>
            <a:ext cx="28448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fld id="{7E34CCD4-1BBD-410D-B2DF-A7552E316D6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58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06790"/>
            <a:ext cx="10363200" cy="40011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291E6E-6053-45F4-972E-DC7083C504B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5833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062103"/>
          </a:xfrm>
        </p:spPr>
        <p:txBody>
          <a:bodyPr/>
          <a:lstStyle>
            <a:lvl1pPr>
              <a:defRPr sz="2800"/>
            </a:lvl1pPr>
            <a:lvl2pPr>
              <a:defRPr sz="2400" b="0" i="0"/>
            </a:lvl2pPr>
            <a:lvl3pPr>
              <a:defRPr sz="2000" b="0" i="0"/>
            </a:lvl3pPr>
            <a:lvl4pPr>
              <a:defRPr sz="1800" b="0" i="0"/>
            </a:lvl4pPr>
            <a:lvl5pPr>
              <a:defRPr sz="1800" b="0" i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062103"/>
          </a:xfrm>
        </p:spPr>
        <p:txBody>
          <a:bodyPr/>
          <a:lstStyle>
            <a:lvl1pPr>
              <a:defRPr sz="2800"/>
            </a:lvl1pPr>
            <a:lvl2pPr>
              <a:defRPr sz="2400" b="0" i="0"/>
            </a:lvl2pPr>
            <a:lvl3pPr>
              <a:defRPr sz="2000" b="0" i="0"/>
            </a:lvl3pPr>
            <a:lvl4pPr>
              <a:defRPr sz="1800" b="0" i="0"/>
            </a:lvl4pPr>
            <a:lvl5pPr>
              <a:defRPr sz="1800" b="0" i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26FB6C-114E-417B-A461-50ACF12D6E8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5570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13211"/>
            <a:ext cx="5386917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1846659"/>
          </a:xfrm>
        </p:spPr>
        <p:txBody>
          <a:bodyPr/>
          <a:lstStyle>
            <a:lvl1pPr>
              <a:defRPr sz="240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600" b="0" i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13211"/>
            <a:ext cx="5389033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6"/>
            <a:ext cx="5389033" cy="1846659"/>
          </a:xfrm>
        </p:spPr>
        <p:txBody>
          <a:bodyPr/>
          <a:lstStyle>
            <a:lvl1pPr>
              <a:defRPr sz="240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600" b="0" i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B802B6-6854-49DA-B07C-3F7440427CB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215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C0BFFA-A26B-42B9-863F-CA8A50A760A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3300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EE9019-0929-4141-9206-2A62D7448D0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630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308324"/>
          </a:xfrm>
        </p:spPr>
        <p:txBody>
          <a:bodyPr/>
          <a:lstStyle>
            <a:lvl1pPr>
              <a:defRPr sz="3200"/>
            </a:lvl1pPr>
            <a:lvl2pPr>
              <a:defRPr sz="2800" b="0" i="0"/>
            </a:lvl2pPr>
            <a:lvl3pPr>
              <a:defRPr sz="2400" b="0" i="0"/>
            </a:lvl3pPr>
            <a:lvl4pPr>
              <a:defRPr sz="2000" b="0" i="0"/>
            </a:lvl4pPr>
            <a:lvl5pPr>
              <a:defRPr sz="20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6190ED-CAD9-4A15-A025-528A8C65AB1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859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67228"/>
            <a:ext cx="73152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6"/>
            <a:ext cx="73152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295B27-7871-4B0D-9A9B-D69F01D3576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5461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03320" y="1600200"/>
            <a:ext cx="7879080" cy="2308324"/>
          </a:xfrm>
        </p:spPr>
        <p:txBody>
          <a:bodyPr vert="eaVert"/>
          <a:lstStyle>
            <a:lvl1pPr>
              <a:defRPr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D10BFE-9C03-4661-9735-724CDE2C1D5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087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41468" y="274639"/>
            <a:ext cx="738664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6898" y="274639"/>
            <a:ext cx="2339102" cy="5851525"/>
          </a:xfrm>
        </p:spPr>
        <p:txBody>
          <a:bodyPr vert="eaVert"/>
          <a:lstStyle>
            <a:lvl1pPr>
              <a:defRPr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BF2B8F-99C4-495E-B7F8-169374AADCF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2387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2195"/>
            <a:ext cx="10972800" cy="70788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2246769"/>
          </a:xfrm>
        </p:spPr>
        <p:txBody>
          <a:bodyPr/>
          <a:lstStyle>
            <a:lvl1pPr>
              <a:defRPr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2246769"/>
          </a:xfrm>
        </p:spPr>
        <p:txBody>
          <a:bodyPr/>
          <a:lstStyle>
            <a:lvl1pPr>
              <a:defRPr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42EE8-DAF6-4F1D-A429-F1805826EDF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29905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37292"/>
            <a:ext cx="10972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97824"/>
            <a:ext cx="284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1400" b="0" i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97824"/>
            <a:ext cx="3860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1400" b="0" i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97824"/>
            <a:ext cx="284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9F84D50-F368-4E2F-833F-6D7B9CE4ED8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0" i="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ts val="0"/>
        </a:spcBef>
        <a:spcAft>
          <a:spcPts val="600"/>
        </a:spcAft>
        <a:buChar char="•"/>
        <a:defRPr sz="2400" b="0" i="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ts val="0"/>
        </a:spcBef>
        <a:spcAft>
          <a:spcPts val="600"/>
        </a:spcAft>
        <a:buChar char="–"/>
        <a:defRPr sz="2400" b="0" i="0">
          <a:solidFill>
            <a:schemeClr val="tx1"/>
          </a:solidFill>
          <a:latin typeface="Calibri" panose="020F0502020204030204" pitchFamily="34" charset="0"/>
          <a:ea typeface="Source Sans Pro" panose="020B0503030403020204" pitchFamily="34" charset="0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ts val="0"/>
        </a:spcBef>
        <a:spcAft>
          <a:spcPts val="600"/>
        </a:spcAft>
        <a:buChar char="•"/>
        <a:defRPr sz="2400" b="0" i="0">
          <a:solidFill>
            <a:schemeClr val="tx1"/>
          </a:solidFill>
          <a:latin typeface="Calibri" panose="020F0502020204030204" pitchFamily="34" charset="0"/>
          <a:ea typeface="Source Sans Pro" panose="020B0503030403020204" pitchFamily="34" charset="0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ts val="0"/>
        </a:spcBef>
        <a:spcAft>
          <a:spcPts val="600"/>
        </a:spcAft>
        <a:buChar char="–"/>
        <a:defRPr sz="2400" b="0" i="0">
          <a:solidFill>
            <a:schemeClr val="tx1"/>
          </a:solidFill>
          <a:latin typeface="Calibri" panose="020F0502020204030204" pitchFamily="34" charset="0"/>
          <a:ea typeface="Source Sans Pro" panose="020B0503030403020204" pitchFamily="34" charset="0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ts val="0"/>
        </a:spcBef>
        <a:spcAft>
          <a:spcPts val="600"/>
        </a:spcAft>
        <a:buChar char="»"/>
        <a:defRPr sz="2400" b="0" i="0">
          <a:solidFill>
            <a:schemeClr val="tx1"/>
          </a:solidFill>
          <a:latin typeface="Calibri" panose="020F0502020204030204" pitchFamily="34" charset="0"/>
          <a:ea typeface="Source Sans Pro" panose="020B0503030403020204" pitchFamily="34" charset="0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3959376" y="2130426"/>
            <a:ext cx="7215443" cy="1470025"/>
          </a:xfrm>
        </p:spPr>
        <p:txBody>
          <a:bodyPr>
            <a:normAutofit/>
          </a:bodyPr>
          <a:lstStyle/>
          <a:p>
            <a:r>
              <a:rPr lang="en-US" sz="4400" dirty="0"/>
              <a:t>Formulas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959375" y="3886201"/>
            <a:ext cx="4273249" cy="584775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John Horn</a:t>
            </a:r>
          </a:p>
        </p:txBody>
      </p:sp>
      <p:pic>
        <p:nvPicPr>
          <p:cNvPr id="16" name="Picture 4" descr="M:\Admin\Logos\150206_jwb_race_ethnicity_0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13" y="-1"/>
            <a:ext cx="3237542" cy="466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2E6A5925-901A-20ED-1DD4-18EAE7177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0" y="4908560"/>
            <a:ext cx="3133501" cy="128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24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formulas for calculating a derivative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C06C03-8075-2146-2E30-AC986C073110}"/>
              </a:ext>
            </a:extLst>
          </p:cNvPr>
          <p:cNvGrpSpPr/>
          <p:nvPr/>
        </p:nvGrpSpPr>
        <p:grpSpPr>
          <a:xfrm>
            <a:off x="435428" y="1171714"/>
            <a:ext cx="11321144" cy="1800493"/>
            <a:chOff x="435428" y="1171714"/>
            <a:chExt cx="11321144" cy="180049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879FE98-6EC8-C2EC-B733-68E06A366CCD}"/>
                </a:ext>
              </a:extLst>
            </p:cNvPr>
            <p:cNvSpPr/>
            <p:nvPr/>
          </p:nvSpPr>
          <p:spPr>
            <a:xfrm>
              <a:off x="435428" y="1171714"/>
              <a:ext cx="2122715" cy="105985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Linear equation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59DBC726-A769-9966-2D0D-9DB39679A4F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1800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I.e., no squares, square roots, etc. on x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Derivative is the number in front of x</a:t>
              </a:r>
            </a:p>
            <a:p>
              <a:pPr marL="0" indent="0" algn="ctr">
                <a:buNone/>
              </a:pP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y = a + bx</a:t>
              </a:r>
            </a:p>
            <a:p>
              <a:pPr marL="0" indent="0" algn="ctr">
                <a:buNone/>
              </a:pP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dy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/dx = b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D8473C-C854-3E3D-9DA5-0F6CCDBFE869}"/>
              </a:ext>
            </a:extLst>
          </p:cNvPr>
          <p:cNvGrpSpPr/>
          <p:nvPr/>
        </p:nvGrpSpPr>
        <p:grpSpPr>
          <a:xfrm>
            <a:off x="435428" y="3555686"/>
            <a:ext cx="11321144" cy="1723549"/>
            <a:chOff x="435428" y="1171714"/>
            <a:chExt cx="11321144" cy="172354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EF1EDA8F-5466-07AB-2275-CBF3A648AA03}"/>
                </a:ext>
              </a:extLst>
            </p:cNvPr>
            <p:cNvSpPr/>
            <p:nvPr/>
          </p:nvSpPr>
          <p:spPr>
            <a:xfrm>
              <a:off x="435428" y="1171714"/>
              <a:ext cx="2122715" cy="105985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Variable raised to a power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68861F96-69DB-9871-BEF8-A817778D59D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1723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If x is raised to some power (the superscript after x), then the following formula applies</a:t>
              </a:r>
            </a:p>
            <a:p>
              <a:pPr marL="0" indent="0" algn="ctr">
                <a:buNone/>
              </a:pP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y = a +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bx</a:t>
              </a:r>
              <a:r>
                <a:rPr lang="en-US" altLang="en-US" kern="0" baseline="30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c</a:t>
              </a:r>
              <a:endParaRPr lang="en-US" altLang="en-US" kern="0" baseline="300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endParaRPr>
            </a:p>
            <a:p>
              <a:pPr marL="0" indent="0" algn="ctr">
                <a:buNone/>
              </a:pP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dy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/dx = (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bc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)x</a:t>
              </a:r>
              <a:r>
                <a:rPr lang="en-US" altLang="en-US" kern="0" baseline="30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c-1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395A-71A1-30F0-F1CF-70A1DF26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2978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Microeconomics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A2600850-4DB8-384A-56EC-87D158C9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E7526E-A945-7983-0981-CE8A12A5C76B}"/>
              </a:ext>
            </a:extLst>
          </p:cNvPr>
          <p:cNvGrpSpPr/>
          <p:nvPr/>
        </p:nvGrpSpPr>
        <p:grpSpPr>
          <a:xfrm>
            <a:off x="435428" y="2604063"/>
            <a:ext cx="11321144" cy="1354217"/>
            <a:chOff x="435428" y="2567801"/>
            <a:chExt cx="11321144" cy="1354217"/>
          </a:xfrm>
        </p:grpSpPr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460AEA64-AC13-49C5-DD1F-C6B47A7CCDA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2567801"/>
              <a:ext cx="9046030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Demand curve: Q = 4 – 2P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Inverse demand curve: P = 2 – 0.5Q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Law of Demand: Demand curve slopes down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2C8E9C8-7FA2-C87C-71AF-B7048AA68EF1}"/>
                </a:ext>
              </a:extLst>
            </p:cNvPr>
            <p:cNvSpPr/>
            <p:nvPr/>
          </p:nvSpPr>
          <p:spPr>
            <a:xfrm>
              <a:off x="435428" y="2567801"/>
              <a:ext cx="2122715" cy="105985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Demand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4F67211-A0AC-E19C-DF2A-8053E2AD4D24}"/>
              </a:ext>
            </a:extLst>
          </p:cNvPr>
          <p:cNvGrpSpPr/>
          <p:nvPr/>
        </p:nvGrpSpPr>
        <p:grpSpPr>
          <a:xfrm>
            <a:off x="435428" y="4484170"/>
            <a:ext cx="11321144" cy="1354217"/>
            <a:chOff x="435428" y="4484170"/>
            <a:chExt cx="11321144" cy="1354217"/>
          </a:xfrm>
        </p:grpSpPr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63B16A13-6CB6-1A8E-DAF0-62BEC80F665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4484170"/>
              <a:ext cx="9046030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l-GR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%Δ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/%</a:t>
              </a:r>
              <a:r>
                <a:rPr lang="el-GR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Δ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P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dQ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dP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 x (P/Q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-∞ ≤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ε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≤ 0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22B71BC-769F-1B95-0FA9-B0CE84DFE524}"/>
                </a:ext>
              </a:extLst>
            </p:cNvPr>
            <p:cNvSpPr/>
            <p:nvPr/>
          </p:nvSpPr>
          <p:spPr>
            <a:xfrm>
              <a:off x="435428" y="4484170"/>
              <a:ext cx="2122715" cy="105985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Demand elasticity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F1F18A-7D37-DDCC-8022-E00A83C95446}"/>
              </a:ext>
            </a:extLst>
          </p:cNvPr>
          <p:cNvGrpSpPr/>
          <p:nvPr/>
        </p:nvGrpSpPr>
        <p:grpSpPr>
          <a:xfrm>
            <a:off x="435428" y="1171714"/>
            <a:ext cx="11321144" cy="1059857"/>
            <a:chOff x="435428" y="1171714"/>
            <a:chExt cx="11321144" cy="1059857"/>
          </a:xfrm>
        </p:grpSpPr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B93E12A0-3C5E-C002-1829-EC799C36623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max {B(x) – C(x)}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MB(x*) = dB(x*)/dx =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dC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(x*)/dx = MC(x*)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99AFC42A-CABF-FDAE-18A6-04D06288327C}"/>
                </a:ext>
              </a:extLst>
            </p:cNvPr>
            <p:cNvSpPr/>
            <p:nvPr/>
          </p:nvSpPr>
          <p:spPr>
            <a:xfrm>
              <a:off x="435428" y="1171714"/>
              <a:ext cx="2122715" cy="105985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Decision making model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6117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Microeconomics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A2600850-4DB8-384A-56EC-87D158C9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03435A3-ADC3-9EDD-4698-875F096C3A15}"/>
              </a:ext>
            </a:extLst>
          </p:cNvPr>
          <p:cNvGrpSpPr/>
          <p:nvPr/>
        </p:nvGrpSpPr>
        <p:grpSpPr>
          <a:xfrm>
            <a:off x="435428" y="3119650"/>
            <a:ext cx="11321144" cy="1354217"/>
            <a:chOff x="435428" y="3152576"/>
            <a:chExt cx="11321144" cy="1354217"/>
          </a:xfrm>
        </p:grpSpPr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63B16A13-6CB6-1A8E-DAF0-62BEC80F665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3152576"/>
              <a:ext cx="9046030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l-GR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%Δ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/%</a:t>
              </a:r>
              <a:r>
                <a:rPr lang="el-GR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Δ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P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dQ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dP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 x (P/Q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0 ≤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ε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≤ ∞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22B71BC-769F-1B95-0FA9-B0CE84DFE524}"/>
                </a:ext>
              </a:extLst>
            </p:cNvPr>
            <p:cNvSpPr/>
            <p:nvPr/>
          </p:nvSpPr>
          <p:spPr>
            <a:xfrm>
              <a:off x="435428" y="3152576"/>
              <a:ext cx="2122715" cy="105985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Supply elasticity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C4834C-5302-ABE9-413D-4FB74F42A9D3}"/>
              </a:ext>
            </a:extLst>
          </p:cNvPr>
          <p:cNvGrpSpPr/>
          <p:nvPr/>
        </p:nvGrpSpPr>
        <p:grpSpPr>
          <a:xfrm>
            <a:off x="435428" y="5067587"/>
            <a:ext cx="11321144" cy="1059857"/>
            <a:chOff x="435428" y="5067587"/>
            <a:chExt cx="11321144" cy="1059857"/>
          </a:xfrm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6EEDEE85-FD01-9B70-E8EE-5DA7039A755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5067587"/>
              <a:ext cx="9046030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= 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P(Q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 = P(Q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 [Inverse supply  = Inverse demand]</a:t>
              </a:r>
              <a:endParaRPr lang="en-US" altLang="en-US" kern="0" baseline="-250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3539F94-4D0B-E657-147C-C3F677EE7336}"/>
                </a:ext>
              </a:extLst>
            </p:cNvPr>
            <p:cNvSpPr/>
            <p:nvPr/>
          </p:nvSpPr>
          <p:spPr>
            <a:xfrm>
              <a:off x="435428" y="5067587"/>
              <a:ext cx="2122715" cy="105985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Competitive equilibrium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6F87502-A203-F846-A178-C699A5C4DFFA}"/>
              </a:ext>
            </a:extLst>
          </p:cNvPr>
          <p:cNvGrpSpPr/>
          <p:nvPr/>
        </p:nvGrpSpPr>
        <p:grpSpPr>
          <a:xfrm>
            <a:off x="435428" y="1171714"/>
            <a:ext cx="11321144" cy="1354217"/>
            <a:chOff x="435428" y="1171714"/>
            <a:chExt cx="11321144" cy="1354217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395F561F-2665-D2D7-A2F8-A1C0587712C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Supply curve: Q = 2P - 20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Inverse supply curve: P = 10 + 0.5Q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Law of Supply: Supply curve slopes up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01F8BEA-CE68-8203-1271-38BBA9BD32FB}"/>
                </a:ext>
              </a:extLst>
            </p:cNvPr>
            <p:cNvSpPr/>
            <p:nvPr/>
          </p:nvSpPr>
          <p:spPr>
            <a:xfrm>
              <a:off x="435428" y="1171714"/>
              <a:ext cx="2122715" cy="105985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Supply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4068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Demand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54D29-FD32-72F1-FB75-C0C41B83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F192F8-C621-92E2-EFFF-6E46719024CA}"/>
              </a:ext>
            </a:extLst>
          </p:cNvPr>
          <p:cNvGrpSpPr/>
          <p:nvPr/>
        </p:nvGrpSpPr>
        <p:grpSpPr>
          <a:xfrm>
            <a:off x="435431" y="1171714"/>
            <a:ext cx="11321141" cy="1354217"/>
            <a:chOff x="435431" y="1171714"/>
            <a:chExt cx="11321141" cy="1354217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5F08A28D-63F0-8520-DFA1-77B9217CB487}"/>
                </a:ext>
              </a:extLst>
            </p:cNvPr>
            <p:cNvSpPr/>
            <p:nvPr/>
          </p:nvSpPr>
          <p:spPr>
            <a:xfrm>
              <a:off x="435431" y="1177570"/>
              <a:ext cx="2124774" cy="1060704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Law of demand</a:t>
              </a:r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F695E25-15FB-DF8A-1E93-91EE50AF23D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Demand slopes down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Income effect: lower prices → feels like more income → buy more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Substitution effect: lower prices → better value → buy more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C2A20C-0DB0-DDE6-7D9E-9A16FF3014E9}"/>
              </a:ext>
            </a:extLst>
          </p:cNvPr>
          <p:cNvGrpSpPr/>
          <p:nvPr/>
        </p:nvGrpSpPr>
        <p:grpSpPr>
          <a:xfrm>
            <a:off x="435431" y="3039972"/>
            <a:ext cx="11321141" cy="1066560"/>
            <a:chOff x="435431" y="1171714"/>
            <a:chExt cx="11321141" cy="106656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1AF8A76-2D49-9250-9E24-DC6717FAC44A}"/>
                </a:ext>
              </a:extLst>
            </p:cNvPr>
            <p:cNvSpPr/>
            <p:nvPr/>
          </p:nvSpPr>
          <p:spPr>
            <a:xfrm>
              <a:off x="435431" y="1177570"/>
              <a:ext cx="2124774" cy="1060704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Market demand</a:t>
              </a: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08E16744-E153-FCC0-8E4D-9AC1C767B26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Q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Market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=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Q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Individual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1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(P) +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Q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Individual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2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(P) +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Q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Individual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3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(P) + …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Horizontally add individual demand curves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685736-8590-D4F4-E58D-2BEC5810D4CA}"/>
              </a:ext>
            </a:extLst>
          </p:cNvPr>
          <p:cNvGrpSpPr/>
          <p:nvPr/>
        </p:nvGrpSpPr>
        <p:grpSpPr>
          <a:xfrm>
            <a:off x="435428" y="4620573"/>
            <a:ext cx="11321144" cy="1059857"/>
            <a:chOff x="435428" y="1171714"/>
            <a:chExt cx="11321144" cy="1059857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0E8C78AB-7ADD-3309-FC8E-6BF4EC7E151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Area below the demand curve and above the market price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½ * equilibrium quantity * (demand choke price – market price)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2BFA799-BE4B-950D-FDC6-528883AEC026}"/>
                </a:ext>
              </a:extLst>
            </p:cNvPr>
            <p:cNvSpPr/>
            <p:nvPr/>
          </p:nvSpPr>
          <p:spPr>
            <a:xfrm>
              <a:off x="435428" y="1171714"/>
              <a:ext cx="2122715" cy="1059857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Consumer surplus</a:t>
              </a:r>
              <a:endPara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959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Demand elasticity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54D29-FD32-72F1-FB75-C0C41B83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F192F8-C621-92E2-EFFF-6E46719024CA}"/>
              </a:ext>
            </a:extLst>
          </p:cNvPr>
          <p:cNvGrpSpPr/>
          <p:nvPr/>
        </p:nvGrpSpPr>
        <p:grpSpPr>
          <a:xfrm>
            <a:off x="435431" y="4674276"/>
            <a:ext cx="11321141" cy="1800493"/>
            <a:chOff x="435431" y="1171714"/>
            <a:chExt cx="11321141" cy="180049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5F08A28D-63F0-8520-DFA1-77B9217CB487}"/>
                </a:ext>
              </a:extLst>
            </p:cNvPr>
            <p:cNvSpPr/>
            <p:nvPr/>
          </p:nvSpPr>
          <p:spPr>
            <a:xfrm>
              <a:off x="435431" y="1177570"/>
              <a:ext cx="2124774" cy="1060704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Income elasticity (</a:t>
              </a:r>
              <a:r>
                <a:rPr lang="en-US" altLang="en-US" sz="2400" b="1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ε</a:t>
              </a:r>
              <a:r>
                <a:rPr lang="en-US" altLang="en-US" sz="2400" b="1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</a:t>
              </a:r>
              <a:r>
                <a:rPr lang="en-US" altLang="en-US" sz="2400" b="1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</a:t>
              </a:r>
              <a:endPara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F695E25-15FB-DF8A-1E93-91EE50AF23D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1800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l-GR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%Δ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X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/%</a:t>
              </a:r>
              <a:r>
                <a:rPr lang="el-GR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Δ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dQ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X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dI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 x (I/Q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X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Normal: 0 &lt; ε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≤ ∞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Inferior: -∞ ≤ ε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&lt; 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4CCD9DC-2361-96C9-465D-DA556B087B93}"/>
              </a:ext>
            </a:extLst>
          </p:cNvPr>
          <p:cNvGrpSpPr/>
          <p:nvPr/>
        </p:nvGrpSpPr>
        <p:grpSpPr>
          <a:xfrm>
            <a:off x="435431" y="1171714"/>
            <a:ext cx="11321144" cy="1354217"/>
            <a:chOff x="435428" y="4484170"/>
            <a:chExt cx="11321144" cy="1354217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229581B0-37DE-512A-C10F-2A9B5B34333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4484170"/>
              <a:ext cx="9046030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l-GR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%Δ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/%</a:t>
              </a:r>
              <a:r>
                <a:rPr lang="el-GR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Δ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P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dQ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dP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 x (P/Q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-∞ ≤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ε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≤ 0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A05B7D2-8ED2-B0FF-99EB-828A3341E804}"/>
                </a:ext>
              </a:extLst>
            </p:cNvPr>
            <p:cNvSpPr/>
            <p:nvPr/>
          </p:nvSpPr>
          <p:spPr>
            <a:xfrm>
              <a:off x="435428" y="4484170"/>
              <a:ext cx="2122715" cy="1059857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Own-price elasticity</a:t>
              </a:r>
              <a:endPara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A028B9B-CA36-B0E5-9583-FF657B300D2D}"/>
              </a:ext>
            </a:extLst>
          </p:cNvPr>
          <p:cNvGrpSpPr/>
          <p:nvPr/>
        </p:nvGrpSpPr>
        <p:grpSpPr>
          <a:xfrm>
            <a:off x="435431" y="2699857"/>
            <a:ext cx="11321144" cy="1800493"/>
            <a:chOff x="435428" y="4484170"/>
            <a:chExt cx="11321144" cy="1800493"/>
          </a:xfrm>
        </p:grpSpPr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1074D2CF-F007-3CA8-127A-F35A9E2C31A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4484170"/>
              <a:ext cx="9046030" cy="1800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l-GR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%Δ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X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/%</a:t>
              </a:r>
              <a:r>
                <a:rPr lang="el-GR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Δ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P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Y</a:t>
              </a:r>
              <a:endParaRPr lang="en-US" altLang="en-US" kern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endParaRP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dQ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X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dP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Y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 x (P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Y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/Q</a:t>
              </a:r>
              <a:r>
                <a:rPr lang="en-US" altLang="en-US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X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Substitutes: 0 &lt;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ε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XP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≤ ∞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Complements: -∞ ≤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ε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XP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&lt; 0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8A649C4-D3F1-8C84-5E68-12636158E30D}"/>
                </a:ext>
              </a:extLst>
            </p:cNvPr>
            <p:cNvSpPr/>
            <p:nvPr/>
          </p:nvSpPr>
          <p:spPr>
            <a:xfrm>
              <a:off x="435428" y="4484170"/>
              <a:ext cx="2122715" cy="1059857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Cross-price elasticity (</a:t>
              </a:r>
              <a:r>
                <a:rPr lang="en-US" altLang="en-US" sz="2400" b="1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ε</a:t>
              </a:r>
              <a:r>
                <a:rPr lang="en-US" altLang="en-US" sz="2400" b="1" kern="0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XP</a:t>
              </a:r>
              <a:r>
                <a:rPr lang="en-US" altLang="en-US" sz="2400" b="1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</a:t>
              </a:r>
              <a:endPara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9531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Revenue maximization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54D29-FD32-72F1-FB75-C0C41B83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F192F8-C621-92E2-EFFF-6E46719024CA}"/>
              </a:ext>
            </a:extLst>
          </p:cNvPr>
          <p:cNvGrpSpPr/>
          <p:nvPr/>
        </p:nvGrpSpPr>
        <p:grpSpPr>
          <a:xfrm>
            <a:off x="435431" y="1171714"/>
            <a:ext cx="11321141" cy="3508653"/>
            <a:chOff x="435431" y="1171714"/>
            <a:chExt cx="11321141" cy="350865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5F08A28D-63F0-8520-DFA1-77B9217CB487}"/>
                </a:ext>
              </a:extLst>
            </p:cNvPr>
            <p:cNvSpPr/>
            <p:nvPr/>
          </p:nvSpPr>
          <p:spPr>
            <a:xfrm>
              <a:off x="435431" y="1177570"/>
              <a:ext cx="2124774" cy="1060704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Marginal revenue</a:t>
              </a:r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F695E25-15FB-DF8A-1E93-91EE50AF23D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3508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dR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/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dQ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[R stands for revenue]</a:t>
              </a:r>
              <a:endParaRPr lang="en-US" altLang="en-US" kern="0" baseline="-250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endParaRP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Perfectly competitive firms: MR = P</a:t>
              </a:r>
              <a:r>
                <a:rPr lang="en-US" altLang="en-US" kern="0" baseline="30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E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[Market equilibrium price]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Monopoly firms: MR = P + (dP/dQ)*Q</a:t>
              </a:r>
            </a:p>
            <a:p>
              <a:pPr lvl="1"/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Tradeoff:</a:t>
              </a:r>
            </a:p>
            <a:p>
              <a:pPr lvl="2"/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↑P good for revenue, but ↓Q bad for revenue</a:t>
              </a:r>
            </a:p>
            <a:p>
              <a:pPr lvl="2"/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↓P bad for revenue, but ↑Q good for revenue</a:t>
              </a:r>
            </a:p>
            <a:p>
              <a:pPr lvl="1"/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Shortcut: for linear INVERSE demand curve, multiply number in front of Q by 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C2A20C-0DB0-DDE6-7D9E-9A16FF3014E9}"/>
              </a:ext>
            </a:extLst>
          </p:cNvPr>
          <p:cNvGrpSpPr/>
          <p:nvPr/>
        </p:nvGrpSpPr>
        <p:grpSpPr>
          <a:xfrm>
            <a:off x="435429" y="4680367"/>
            <a:ext cx="11321141" cy="1800493"/>
            <a:chOff x="435431" y="1171714"/>
            <a:chExt cx="11321141" cy="1800493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1AF8A76-2D49-9250-9E24-DC6717FAC44A}"/>
                </a:ext>
              </a:extLst>
            </p:cNvPr>
            <p:cNvSpPr/>
            <p:nvPr/>
          </p:nvSpPr>
          <p:spPr>
            <a:xfrm>
              <a:off x="435431" y="1177570"/>
              <a:ext cx="2124774" cy="1060704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Revenue maximization</a:t>
              </a: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08E16744-E153-FCC0-8E4D-9AC1C767B26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1800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Perfectly competitive: Produce as much as possible (MR = P, P &gt; 0)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Monopolist: MR = 0 [Marginal revenue = 0]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Where </a:t>
              </a:r>
              <a:r>
                <a:rPr lang="en-US" altLang="en-US" kern="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ε</a:t>
              </a:r>
              <a:r>
                <a:rPr lang="en-US" altLang="en-US" kern="0" baseline="-25000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= -1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Shortcut: Halfway along demand curve (for linear demand curves)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2069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Price discrimination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731520" y="1165912"/>
            <a:ext cx="1085088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12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12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12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12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12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Charging different customers different prices for either:</a:t>
            </a:r>
          </a:p>
          <a:p>
            <a:pPr lvl="1"/>
            <a:r>
              <a:rPr lang="en-US" alt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The same product</a:t>
            </a:r>
          </a:p>
          <a:p>
            <a:pPr lvl="1"/>
            <a:r>
              <a:rPr lang="en-US" alt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Similar (related) products produced by the same firm</a:t>
            </a:r>
          </a:p>
          <a:p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Differences in demand, not the costs of serving the consumers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37262-BA15-99BC-F9B3-BFE379FD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3B34B-B4A8-48C6-AF30-3F676D82174D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3161D4-D6DF-4796-8D33-92FD0DD51F49}"/>
              </a:ext>
            </a:extLst>
          </p:cNvPr>
          <p:cNvGrpSpPr/>
          <p:nvPr/>
        </p:nvGrpSpPr>
        <p:grpSpPr>
          <a:xfrm>
            <a:off x="435431" y="3660764"/>
            <a:ext cx="11321141" cy="1723549"/>
            <a:chOff x="435431" y="1171714"/>
            <a:chExt cx="11321141" cy="1723549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FAD95F0-D405-BE4A-D0C4-9BE1D5AAD16C}"/>
                </a:ext>
              </a:extLst>
            </p:cNvPr>
            <p:cNvSpPr/>
            <p:nvPr/>
          </p:nvSpPr>
          <p:spPr>
            <a:xfrm>
              <a:off x="435431" y="1177570"/>
              <a:ext cx="2124774" cy="1060704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Requirements</a:t>
              </a:r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92F8C083-86BC-CBE5-0469-5F28E0B405F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1171714"/>
              <a:ext cx="9046030" cy="1723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Firm must have market power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Firm can identify at least two market segments with different elasticities</a:t>
              </a:r>
            </a:p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Firm can enforce price differences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Three types of price discrimination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27BEF6-54FB-9E7F-6EF2-43D4127DE28F}"/>
              </a:ext>
            </a:extLst>
          </p:cNvPr>
          <p:cNvGrpSpPr/>
          <p:nvPr/>
        </p:nvGrpSpPr>
        <p:grpSpPr>
          <a:xfrm>
            <a:off x="430693" y="1173318"/>
            <a:ext cx="11330613" cy="1723549"/>
            <a:chOff x="430693" y="1173318"/>
            <a:chExt cx="11330613" cy="1723549"/>
          </a:xfrm>
        </p:grpSpPr>
        <p:sp>
          <p:nvSpPr>
            <p:cNvPr id="9" name="Rectangle 3"/>
            <p:cNvSpPr txBox="1">
              <a:spLocks noChangeArrowheads="1"/>
            </p:cNvSpPr>
            <p:nvPr/>
          </p:nvSpPr>
          <p:spPr bwMode="auto">
            <a:xfrm>
              <a:off x="2652849" y="1173318"/>
              <a:ext cx="9108457" cy="1723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>
                <a:spcBef>
                  <a:spcPts val="0"/>
                </a:spcBef>
                <a:spcAft>
                  <a:spcPts val="600"/>
                </a:spcAft>
              </a:pPr>
              <a:r>
                <a:rPr lang="en-US" altLang="ja-JP" sz="2400" kern="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“Perfect” price discrimination</a:t>
              </a:r>
            </a:p>
            <a:p>
              <a:pPr marL="228600" indent="-228600">
                <a:spcBef>
                  <a:spcPts val="0"/>
                </a:spcBef>
                <a:spcAft>
                  <a:spcPts val="600"/>
                </a:spcAft>
              </a:pPr>
              <a:r>
                <a:rPr lang="en-US" altLang="ja-JP" sz="2400" kern="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Complete information about each consumer’s tastes</a:t>
              </a:r>
            </a:p>
            <a:p>
              <a:pPr marL="228600" indent="-228600">
                <a:spcBef>
                  <a:spcPts val="0"/>
                </a:spcBef>
                <a:spcAft>
                  <a:spcPts val="600"/>
                </a:spcAft>
              </a:pPr>
              <a:r>
                <a:rPr lang="en-US" altLang="ja-JP" sz="2400" kern="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Each consumer is charged the maximum price she would pay for each individual unit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0693" y="1173318"/>
              <a:ext cx="2121408" cy="1060704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First degree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8F53A44-78B0-DED2-AA59-BA4C023DB59C}"/>
              </a:ext>
            </a:extLst>
          </p:cNvPr>
          <p:cNvGrpSpPr/>
          <p:nvPr/>
        </p:nvGrpSpPr>
        <p:grpSpPr>
          <a:xfrm>
            <a:off x="430693" y="3100673"/>
            <a:ext cx="11330613" cy="1277273"/>
            <a:chOff x="430693" y="2616007"/>
            <a:chExt cx="11330613" cy="1277273"/>
          </a:xfrm>
        </p:grpSpPr>
        <p:sp>
          <p:nvSpPr>
            <p:cNvPr id="10" name="Rectangle 3"/>
            <p:cNvSpPr txBox="1">
              <a:spLocks noChangeArrowheads="1"/>
            </p:cNvSpPr>
            <p:nvPr/>
          </p:nvSpPr>
          <p:spPr bwMode="auto">
            <a:xfrm>
              <a:off x="2652850" y="2616007"/>
              <a:ext cx="9108456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Cannot tell consumers apart until after the purchase decision</a:t>
              </a:r>
            </a:p>
            <a:p>
              <a:pPr marL="228600" indent="-228600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Consumers reveal their type by self-selecting into different groups by purchasing different quantities/qualities of the firm</a:t>
              </a:r>
              <a:r>
                <a:rPr lang="en-US" altLang="ja-JP" sz="2400" kern="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’s product/service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30693" y="2616007"/>
              <a:ext cx="2121408" cy="1060704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Second degree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D0866BC-BB6E-B35D-20D0-C3DC58AB2651}"/>
              </a:ext>
            </a:extLst>
          </p:cNvPr>
          <p:cNvGrpSpPr/>
          <p:nvPr/>
        </p:nvGrpSpPr>
        <p:grpSpPr>
          <a:xfrm>
            <a:off x="430693" y="4951085"/>
            <a:ext cx="11330613" cy="1277273"/>
            <a:chOff x="430693" y="4366473"/>
            <a:chExt cx="11330613" cy="1277273"/>
          </a:xfrm>
        </p:grpSpPr>
        <p:sp>
          <p:nvSpPr>
            <p:cNvPr id="11" name="Rectangle 3"/>
            <p:cNvSpPr txBox="1">
              <a:spLocks noChangeArrowheads="1"/>
            </p:cNvSpPr>
            <p:nvPr/>
          </p:nvSpPr>
          <p:spPr bwMode="auto">
            <a:xfrm>
              <a:off x="2652850" y="4366473"/>
              <a:ext cx="9108456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Segment consumers into a small number of coarse groups based on objective observable traits before the purchase decision</a:t>
              </a:r>
            </a:p>
            <a:p>
              <a:pPr marL="228600" indent="-228600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Set </a:t>
              </a:r>
              <a:r>
                <a:rPr lang="en-US" altLang="en-US" sz="2400" kern="0" dirty="0" err="1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MR</a:t>
              </a:r>
              <a:r>
                <a:rPr lang="en-US" altLang="en-US" sz="2400" kern="0" baseline="-25000" dirty="0" err="1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i</a:t>
              </a:r>
              <a:r>
                <a:rPr lang="en-US" altLang="en-US" sz="2400" kern="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 = Cost to produce for each group </a:t>
              </a:r>
              <a:r>
                <a:rPr lang="en-US" altLang="en-US" sz="2400" kern="0" dirty="0" err="1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i</a:t>
              </a:r>
              <a:endParaRPr lang="en-US" altLang="en-US" sz="2400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30693" y="4395955"/>
              <a:ext cx="2121408" cy="1060704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rPr>
                <a:t>Third degree</a:t>
              </a:r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374CC3-B969-98A1-4ABD-CA52107E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3B34B-B4A8-48C6-AF30-3F676D82174D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Price discrimination extensions</a:t>
            </a: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2624969" y="1177493"/>
            <a:ext cx="9177809" cy="285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12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12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12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12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12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31775" indent="-231775">
              <a:lnSpc>
                <a:spcPct val="90000"/>
              </a:lnSpc>
            </a:pPr>
            <a:r>
              <a:rPr lang="en-US" altLang="en-US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Fixed fee (F) for </a:t>
            </a:r>
            <a:r>
              <a:rPr lang="en-US" altLang="ja-JP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“right” to purchase, p per unit purchased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altLang="en-US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T(Q) = F + </a:t>
            </a:r>
            <a:r>
              <a:rPr lang="en-US" altLang="en-US" sz="2400" kern="0" dirty="0" err="1">
                <a:ea typeface="Source Sans Pro" panose="020B0503030403020204" pitchFamily="34" charset="0"/>
                <a:cs typeface="Calibri" panose="020F0502020204030204" pitchFamily="34" charset="0"/>
              </a:rPr>
              <a:t>pQ</a:t>
            </a:r>
            <a:endParaRPr lang="en-US" altLang="en-US" sz="2400" kern="0" dirty="0"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231775" indent="-231775">
              <a:lnSpc>
                <a:spcPct val="90000"/>
              </a:lnSpc>
            </a:pPr>
            <a:r>
              <a:rPr lang="en-US" altLang="ja-JP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Fee (F) = Consumer surplus</a:t>
            </a:r>
          </a:p>
          <a:p>
            <a:pPr marL="231775" indent="-231775">
              <a:lnSpc>
                <a:spcPct val="90000"/>
              </a:lnSpc>
            </a:pPr>
            <a:r>
              <a:rPr lang="en-US" altLang="ja-JP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Price (p) = Cost to produce (just cover costs)</a:t>
            </a:r>
          </a:p>
          <a:p>
            <a:pPr marL="231775" indent="-231775">
              <a:lnSpc>
                <a:spcPct val="90000"/>
              </a:lnSpc>
            </a:pPr>
            <a:r>
              <a:rPr lang="en-US" altLang="ja-JP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If multiple types, select larger of: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altLang="ja-JP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(High fee * # high fee individuals) vs. (Low fee * # ALL individuals)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114" y="1177492"/>
            <a:ext cx="2121408" cy="1060704"/>
          </a:xfrm>
          <a:prstGeom prst="round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Two-part tariff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F4A08-8BD1-43B2-19C5-C0852F1C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3B34B-B4A8-48C6-AF30-3F676D82174D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E753831-A496-7480-4971-56B8E4710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969" y="4377893"/>
            <a:ext cx="9177809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12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12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12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12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12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31775" indent="-231775">
              <a:lnSpc>
                <a:spcPct val="90000"/>
              </a:lnSpc>
            </a:pPr>
            <a:r>
              <a:rPr lang="en-US" altLang="en-US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Increases revenue when consumers’ demand is negatively correlated</a:t>
            </a:r>
          </a:p>
          <a:p>
            <a:pPr marL="231775" indent="-231775">
              <a:lnSpc>
                <a:spcPct val="90000"/>
              </a:lnSpc>
            </a:pPr>
            <a:r>
              <a:rPr lang="en-US" altLang="en-US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Calculate max each consumer would pay for the bundle</a:t>
            </a:r>
          </a:p>
          <a:p>
            <a:pPr marL="231775" indent="-231775">
              <a:lnSpc>
                <a:spcPct val="90000"/>
              </a:lnSpc>
            </a:pPr>
            <a:r>
              <a:rPr lang="en-US" altLang="en-US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Then calculate total revenue for each potential bundle price (# consumers willing to pay that price * bundle price)</a:t>
            </a:r>
          </a:p>
          <a:p>
            <a:pPr marL="231775" indent="-231775">
              <a:lnSpc>
                <a:spcPct val="90000"/>
              </a:lnSpc>
            </a:pPr>
            <a:r>
              <a:rPr lang="en-US" altLang="en-US" sz="2400" kern="0" dirty="0">
                <a:ea typeface="Source Sans Pro" panose="020B0503030403020204" pitchFamily="34" charset="0"/>
                <a:cs typeface="Calibri" panose="020F0502020204030204" pitchFamily="34" charset="0"/>
              </a:rPr>
              <a:t>Choose bundle price with largest total revenue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FFE6257-A018-66D8-E9EB-77CB2CE15F3C}"/>
              </a:ext>
            </a:extLst>
          </p:cNvPr>
          <p:cNvSpPr/>
          <p:nvPr/>
        </p:nvSpPr>
        <p:spPr>
          <a:xfrm>
            <a:off x="431114" y="4377892"/>
            <a:ext cx="2121408" cy="1060704"/>
          </a:xfrm>
          <a:prstGeom prst="round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Bundling</a:t>
            </a:r>
          </a:p>
        </p:txBody>
      </p:sp>
    </p:spTree>
    <p:extLst>
      <p:ext uri="{BB962C8B-B14F-4D97-AF65-F5344CB8AC3E}">
        <p14:creationId xmlns:p14="http://schemas.microsoft.com/office/powerpoint/2010/main" val="13512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Asymmetric information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852728"/>
            <a:chOff x="430599" y="1176690"/>
            <a:chExt cx="11293731" cy="1852728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Adverse selection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849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“Worse” types are (only) ones participating in the market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Occurs prior to the signing of a contract (or forming a relationship)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The cost of the signal must be inversely related to the quality (better types have lower cost to acquire signal)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4227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Production technology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26474" y="1174247"/>
            <a:ext cx="11339052" cy="1060704"/>
            <a:chOff x="256032" y="2430013"/>
            <a:chExt cx="11339052" cy="1060704"/>
          </a:xfrm>
        </p:grpSpPr>
        <p:sp>
          <p:nvSpPr>
            <p:cNvPr id="7" name="Rectangle 3"/>
            <p:cNvSpPr txBox="1">
              <a:spLocks noChangeArrowheads="1"/>
            </p:cNvSpPr>
            <p:nvPr/>
          </p:nvSpPr>
          <p:spPr bwMode="auto">
            <a:xfrm>
              <a:off x="2554658" y="2430014"/>
              <a:ext cx="90404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Q = f(L,K)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56032" y="2430013"/>
              <a:ext cx="2121408" cy="1060704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Production function</a:t>
              </a: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63AECFA-E875-F709-AFAB-08F1D1A4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2945-7D6B-4955-8DF2-0FB2D6993206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BAA650-76E8-5F51-28EE-D349ED9D89D4}"/>
              </a:ext>
            </a:extLst>
          </p:cNvPr>
          <p:cNvGrpSpPr/>
          <p:nvPr/>
        </p:nvGrpSpPr>
        <p:grpSpPr>
          <a:xfrm>
            <a:off x="426474" y="2402793"/>
            <a:ext cx="11339052" cy="1060704"/>
            <a:chOff x="256032" y="2430013"/>
            <a:chExt cx="11339052" cy="106070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716A038-6B2E-E201-5886-881ABBA22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4658" y="2430014"/>
              <a:ext cx="90404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Combinations of K and L that produce the same Q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39D8266-2B1C-28C7-C423-1ADDB3A5327A}"/>
                </a:ext>
              </a:extLst>
            </p:cNvPr>
            <p:cNvSpPr/>
            <p:nvPr/>
          </p:nvSpPr>
          <p:spPr>
            <a:xfrm>
              <a:off x="256032" y="2430013"/>
              <a:ext cx="2121408" cy="1060704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Isoquant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EE67BC0-6D19-F3AB-EB45-D6DF3CDB6EC7}"/>
              </a:ext>
            </a:extLst>
          </p:cNvPr>
          <p:cNvGrpSpPr/>
          <p:nvPr/>
        </p:nvGrpSpPr>
        <p:grpSpPr>
          <a:xfrm>
            <a:off x="426474" y="3631339"/>
            <a:ext cx="11339052" cy="1354218"/>
            <a:chOff x="256032" y="2430013"/>
            <a:chExt cx="11339052" cy="1354218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9F1610C0-54DE-4F0D-C442-C50F30CA1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4658" y="2430014"/>
              <a:ext cx="9040426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MPL: 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dQ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/dL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MPK: 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dQ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/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dK</a:t>
              </a:r>
              <a:endParaRPr lang="en-US" altLang="en-US" sz="2400" kern="0" dirty="0">
                <a:ea typeface="ＭＳ Ｐゴシック" pitchFamily="34" charset="-128"/>
                <a:cs typeface="Calibri" panose="020F0502020204030204" pitchFamily="34" charset="0"/>
              </a:endParaRP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Law of Diminishing Returns: MPL and MPK eventually decrease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A0185D3F-6EEE-FF5F-9D36-A5845633209E}"/>
                </a:ext>
              </a:extLst>
            </p:cNvPr>
            <p:cNvSpPr/>
            <p:nvPr/>
          </p:nvSpPr>
          <p:spPr>
            <a:xfrm>
              <a:off x="256032" y="2430013"/>
              <a:ext cx="2121408" cy="1060704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Marginal product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C0238FA-C4D4-A4DD-A054-BD9B4078A8FD}"/>
              </a:ext>
            </a:extLst>
          </p:cNvPr>
          <p:cNvGrpSpPr/>
          <p:nvPr/>
        </p:nvGrpSpPr>
        <p:grpSpPr>
          <a:xfrm>
            <a:off x="426474" y="5153400"/>
            <a:ext cx="11339052" cy="1060704"/>
            <a:chOff x="256032" y="2430013"/>
            <a:chExt cx="11339052" cy="1060704"/>
          </a:xfrm>
        </p:grpSpPr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23609B1F-F67A-234F-D134-778E83757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4658" y="2430014"/>
              <a:ext cx="9040426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APL: Q/L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APK: Q/K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2AF2EE8-58FF-FF1F-9E63-2DD3E9B30DED}"/>
                </a:ext>
              </a:extLst>
            </p:cNvPr>
            <p:cNvSpPr/>
            <p:nvPr/>
          </p:nvSpPr>
          <p:spPr>
            <a:xfrm>
              <a:off x="256032" y="2430013"/>
              <a:ext cx="2121408" cy="1060704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Average product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Production technology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26474" y="1174247"/>
            <a:ext cx="11339052" cy="1354218"/>
            <a:chOff x="256032" y="2430013"/>
            <a:chExt cx="11339052" cy="1354218"/>
          </a:xfrm>
        </p:grpSpPr>
        <p:sp>
          <p:nvSpPr>
            <p:cNvPr id="7" name="Rectangle 3"/>
            <p:cNvSpPr txBox="1">
              <a:spLocks noChangeArrowheads="1"/>
            </p:cNvSpPr>
            <p:nvPr/>
          </p:nvSpPr>
          <p:spPr bwMode="auto">
            <a:xfrm>
              <a:off x="2554658" y="2430014"/>
              <a:ext cx="9040426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Marginal Rate of Technical Substitution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Slope of isoquant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-MPL/MPK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56032" y="2430013"/>
              <a:ext cx="2121408" cy="1060704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MRTS</a:t>
              </a: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63AECFA-E875-F709-AFAB-08F1D1A4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2945-7D6B-4955-8DF2-0FB2D6993206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BAA650-76E8-5F51-28EE-D349ED9D89D4}"/>
              </a:ext>
            </a:extLst>
          </p:cNvPr>
          <p:cNvGrpSpPr/>
          <p:nvPr/>
        </p:nvGrpSpPr>
        <p:grpSpPr>
          <a:xfrm>
            <a:off x="426474" y="2975318"/>
            <a:ext cx="11339052" cy="1354218"/>
            <a:chOff x="256032" y="2430013"/>
            <a:chExt cx="11339052" cy="13542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716A038-6B2E-E201-5886-881ABBA22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4658" y="2430014"/>
              <a:ext cx="9040426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Constant: Double inputs → double output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Increasing: Double inputs → more than double output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Decreasing: Double inputs → less than double output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39D8266-2B1C-28C7-C423-1ADDB3A5327A}"/>
                </a:ext>
              </a:extLst>
            </p:cNvPr>
            <p:cNvSpPr/>
            <p:nvPr/>
          </p:nvSpPr>
          <p:spPr>
            <a:xfrm>
              <a:off x="256032" y="2430013"/>
              <a:ext cx="2121408" cy="1060704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Returns to scale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2593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Asymmetric information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47FE779-9E37-64CB-31DB-EF292F262C31}"/>
              </a:ext>
            </a:extLst>
          </p:cNvPr>
          <p:cNvGrpSpPr/>
          <p:nvPr/>
        </p:nvGrpSpPr>
        <p:grpSpPr>
          <a:xfrm>
            <a:off x="430599" y="1176690"/>
            <a:ext cx="11293731" cy="2258993"/>
            <a:chOff x="430599" y="1176690"/>
            <a:chExt cx="11293731" cy="225899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F2693D3-C71A-E07F-BDBB-948C68B55291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Moral hazard</a:t>
              </a: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8B719DDF-9943-A8F1-64EE-3EB4B1739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2256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Covered party (potentially) has perverse incentives that increase the chance of triggering “insurance” and size of payout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Occurs after signing the contract (or forming the relationship)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Monitoring the insured can be costly, so need the insured to bear some of the risk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9264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Input costs and </a:t>
            </a:r>
            <a:r>
              <a:rPr lang="en-US" altLang="en-US" dirty="0" err="1"/>
              <a:t>isocosts</a:t>
            </a:r>
            <a:endParaRPr lang="en-US" alt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84CBE6-F35A-872B-91DC-0214D892DB80}"/>
              </a:ext>
            </a:extLst>
          </p:cNvPr>
          <p:cNvGrpSpPr/>
          <p:nvPr/>
        </p:nvGrpSpPr>
        <p:grpSpPr>
          <a:xfrm>
            <a:off x="430599" y="1176690"/>
            <a:ext cx="11293731" cy="1060704"/>
            <a:chOff x="430599" y="1176690"/>
            <a:chExt cx="11293731" cy="1060704"/>
          </a:xfrm>
        </p:grpSpPr>
        <p:sp>
          <p:nvSpPr>
            <p:cNvPr id="28" name="Rounded Rectangle 27"/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Input prices</a:t>
              </a:r>
            </a:p>
          </p:txBody>
        </p:sp>
        <p:sp>
          <p:nvSpPr>
            <p:cNvPr id="23" name="Rectangle 3"/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97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w: wage rate, or price per unit of labor (L)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r: rental rate per unit of capital (K)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2759751"/>
            <a:ext cx="11293730" cy="1060704"/>
            <a:chOff x="430599" y="2616147"/>
            <a:chExt cx="11293730" cy="1060704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Isocost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Total spending = Spending on L + Spending on K</a:t>
              </a:r>
            </a:p>
            <a:p>
              <a:pPr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		C	      =	  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wL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	         +	        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rK</a:t>
              </a:r>
              <a:endParaRPr lang="en-US" altLang="en-US" sz="2400" kern="0" dirty="0">
                <a:ea typeface="ＭＳ Ｐゴシック" pitchFamily="34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C3CDF3-8A7F-8B1B-ECA2-589A8381553D}"/>
              </a:ext>
            </a:extLst>
          </p:cNvPr>
          <p:cNvGrpSpPr/>
          <p:nvPr/>
        </p:nvGrpSpPr>
        <p:grpSpPr>
          <a:xfrm>
            <a:off x="430599" y="4342812"/>
            <a:ext cx="11293730" cy="1060704"/>
            <a:chOff x="430599" y="3938320"/>
            <a:chExt cx="11293730" cy="1060704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593514EB-858F-7077-7AD5-22CA78AC5F36}"/>
                </a:ext>
              </a:extLst>
            </p:cNvPr>
            <p:cNvSpPr/>
            <p:nvPr/>
          </p:nvSpPr>
          <p:spPr>
            <a:xfrm>
              <a:off x="430599" y="3938320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Short-run optimum</a:t>
              </a:r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EC940E3-91C5-31CC-0D9E-F8E8C926C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999" y="3938320"/>
              <a:ext cx="9070330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P*(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dQ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/dL) – w = 0</a:t>
              </a:r>
            </a:p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Marginal revenue product (MRP) = Marginal cost (MC)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Long-run cost minimization (optimization)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599" y="1176690"/>
            <a:ext cx="2121408" cy="1060704"/>
          </a:xfrm>
          <a:prstGeom prst="roundRect">
            <a:avLst>
              <a:gd name="adj" fmla="val 15319"/>
            </a:avLst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Long-run optimum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2654000" y="1176690"/>
            <a:ext cx="9070330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-MPL/MPK = - w/r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MRTS = Input price ratios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Slope of isoquant = Slope of </a:t>
            </a:r>
            <a:r>
              <a:rPr lang="en-US" altLang="en-US" sz="2400" kern="0" dirty="0" err="1">
                <a:ea typeface="ＭＳ Ｐゴシック" pitchFamily="34" charset="-128"/>
                <a:cs typeface="Calibri" panose="020F0502020204030204" pitchFamily="34" charset="0"/>
              </a:rPr>
              <a:t>isocost</a:t>
            </a:r>
            <a:endParaRPr lang="en-US" altLang="en-US" sz="2400" kern="0" dirty="0">
              <a:ea typeface="ＭＳ Ｐゴシック" pitchFamily="34" charset="-128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MPL/w = MPK/r [Productivity/$ labor = Productivity/$ capital]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85D68B-5B66-7693-8F84-781E14A19F35}"/>
              </a:ext>
            </a:extLst>
          </p:cNvPr>
          <p:cNvSpPr/>
          <p:nvPr/>
        </p:nvSpPr>
        <p:spPr>
          <a:xfrm>
            <a:off x="430599" y="3499760"/>
            <a:ext cx="2121408" cy="1060704"/>
          </a:xfrm>
          <a:prstGeom prst="roundRect">
            <a:avLst>
              <a:gd name="adj" fmla="val 15319"/>
            </a:avLst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Economic value add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E159A7C-ECF8-BE2A-E53B-9734748A1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000" y="3499760"/>
            <a:ext cx="907033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 err="1">
                <a:ea typeface="ＭＳ Ｐゴシック" pitchFamily="34" charset="-128"/>
                <a:cs typeface="Calibri" panose="020F0502020204030204" pitchFamily="34" charset="0"/>
              </a:rPr>
              <a:t>MRP</a:t>
            </a:r>
            <a:r>
              <a:rPr lang="en-US" altLang="en-US" sz="2400" kern="0" baseline="-25000" dirty="0" err="1">
                <a:ea typeface="ＭＳ Ｐゴシック" pitchFamily="34" charset="-128"/>
                <a:cs typeface="Calibri" panose="020F0502020204030204" pitchFamily="34" charset="0"/>
              </a:rPr>
              <a:t>ij</a:t>
            </a: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/</a:t>
            </a:r>
            <a:r>
              <a:rPr lang="en-US" altLang="en-US" sz="2400" kern="0" dirty="0" err="1">
                <a:ea typeface="ＭＳ Ｐゴシック" pitchFamily="34" charset="-128"/>
                <a:cs typeface="Calibri" panose="020F0502020204030204" pitchFamily="34" charset="0"/>
              </a:rPr>
              <a:t>MC</a:t>
            </a:r>
            <a:r>
              <a:rPr lang="en-US" altLang="en-US" sz="2400" kern="0" baseline="-25000" dirty="0" err="1">
                <a:ea typeface="ＭＳ Ｐゴシック" pitchFamily="34" charset="-128"/>
                <a:cs typeface="Calibri" panose="020F0502020204030204" pitchFamily="34" charset="0"/>
              </a:rPr>
              <a:t>ij</a:t>
            </a: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 = </a:t>
            </a:r>
            <a:r>
              <a:rPr lang="en-US" altLang="en-US" sz="2400" kern="0" dirty="0" err="1">
                <a:ea typeface="ＭＳ Ｐゴシック" pitchFamily="34" charset="-128"/>
                <a:cs typeface="Calibri" panose="020F0502020204030204" pitchFamily="34" charset="0"/>
              </a:rPr>
              <a:t>MRP</a:t>
            </a:r>
            <a:r>
              <a:rPr lang="en-US" altLang="en-US" sz="2400" kern="0" baseline="-25000" dirty="0" err="1">
                <a:ea typeface="ＭＳ Ｐゴシック" pitchFamily="34" charset="-128"/>
                <a:cs typeface="Calibri" panose="020F0502020204030204" pitchFamily="34" charset="0"/>
              </a:rPr>
              <a:t>ij</a:t>
            </a: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/</a:t>
            </a:r>
            <a:r>
              <a:rPr lang="en-US" altLang="en-US" sz="2400" kern="0" dirty="0" err="1">
                <a:ea typeface="ＭＳ Ｐゴシック" pitchFamily="34" charset="-128"/>
                <a:cs typeface="Calibri" panose="020F0502020204030204" pitchFamily="34" charset="0"/>
              </a:rPr>
              <a:t>MC</a:t>
            </a:r>
            <a:r>
              <a:rPr lang="en-US" altLang="en-US" sz="2400" kern="0" baseline="-25000" dirty="0" err="1">
                <a:ea typeface="ＭＳ Ｐゴシック" pitchFamily="34" charset="-128"/>
                <a:cs typeface="Calibri" panose="020F0502020204030204" pitchFamily="34" charset="0"/>
              </a:rPr>
              <a:t>ij</a:t>
            </a: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 (for any </a:t>
            </a:r>
            <a:r>
              <a:rPr lang="en-US" altLang="en-US" sz="2400" kern="0" dirty="0" err="1">
                <a:ea typeface="ＭＳ Ｐゴシック" pitchFamily="34" charset="-128"/>
                <a:cs typeface="Calibri" panose="020F0502020204030204" pitchFamily="34" charset="0"/>
              </a:rPr>
              <a:t>i</a:t>
            </a: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 and j combinations)</a:t>
            </a:r>
            <a:endParaRPr lang="en-US" altLang="en-US" sz="2400" kern="0" baseline="-25000" dirty="0">
              <a:ea typeface="ＭＳ Ｐゴシック" pitchFamily="34" charset="-128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 err="1">
                <a:ea typeface="ＭＳ Ｐゴシック" pitchFamily="34" charset="-128"/>
                <a:cs typeface="Calibri" panose="020F0502020204030204" pitchFamily="34" charset="0"/>
              </a:rPr>
              <a:t>i</a:t>
            </a: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 denotes the input type (labor, capital, etc.)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j denotes the division/business unit (e.g., geography, customer segment, product/brand)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Revenue/cost should be same for each input type in each division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ea typeface="ＭＳ Ｐゴシック" pitchFamily="34" charset="-128"/>
                <a:cs typeface="Calibri" panose="020F0502020204030204" pitchFamily="34" charset="0"/>
              </a:rPr>
              <a:t>Return on investment constant across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701570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Costs types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84CBE6-F35A-872B-91DC-0214D892DB80}"/>
              </a:ext>
            </a:extLst>
          </p:cNvPr>
          <p:cNvGrpSpPr/>
          <p:nvPr/>
        </p:nvGrpSpPr>
        <p:grpSpPr>
          <a:xfrm>
            <a:off x="430599" y="1176690"/>
            <a:ext cx="11293731" cy="1369519"/>
            <a:chOff x="430599" y="1176690"/>
            <a:chExt cx="11293731" cy="1369519"/>
          </a:xfrm>
        </p:grpSpPr>
        <p:sp>
          <p:nvSpPr>
            <p:cNvPr id="28" name="Rounded Rectangle 27"/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Total, variable, fixed</a:t>
              </a:r>
            </a:p>
          </p:txBody>
        </p:sp>
        <p:sp>
          <p:nvSpPr>
            <p:cNvPr id="23" name="Rectangle 3"/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366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Total costs: Sum of variable costs (</a:t>
              </a:r>
              <a:r>
                <a:rPr lang="en-US" altLang="en-US" sz="2400" kern="0" dirty="0" err="1">
                  <a:ea typeface="Source Sans Pro" panose="020B0503030403020204" pitchFamily="34" charset="0"/>
                  <a:cs typeface="Calibri" panose="020F0502020204030204" pitchFamily="34" charset="0"/>
                </a:rPr>
                <a:t>wL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, short-run, COGS) and fixed costs (</a:t>
              </a:r>
              <a:r>
                <a:rPr lang="en-US" altLang="en-US" sz="2400" kern="0" dirty="0" err="1">
                  <a:ea typeface="Source Sans Pro" panose="020B0503030403020204" pitchFamily="34" charset="0"/>
                  <a:cs typeface="Calibri" panose="020F0502020204030204" pitchFamily="34" charset="0"/>
                </a:rPr>
                <a:t>rK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, short-run, Expenses)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All costs are variable in the long-run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2678947"/>
            <a:ext cx="11293730" cy="1060704"/>
            <a:chOff x="430599" y="2616147"/>
            <a:chExt cx="11293730" cy="1060704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Marginal costs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dC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/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dQ</a:t>
              </a:r>
              <a:endParaRPr lang="en-US" altLang="en-US" sz="2400" kern="0" dirty="0">
                <a:ea typeface="ＭＳ Ｐゴシック" pitchFamily="34" charset="-128"/>
                <a:cs typeface="Calibri" panose="020F0502020204030204" pitchFamily="34" charset="0"/>
              </a:endParaRP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Change in total costs as output increases by one unit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C3CDF3-8A7F-8B1B-ECA2-589A8381553D}"/>
              </a:ext>
            </a:extLst>
          </p:cNvPr>
          <p:cNvGrpSpPr/>
          <p:nvPr/>
        </p:nvGrpSpPr>
        <p:grpSpPr>
          <a:xfrm>
            <a:off x="430599" y="3872389"/>
            <a:ext cx="11293730" cy="1060704"/>
            <a:chOff x="430599" y="3938320"/>
            <a:chExt cx="11293730" cy="1060704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593514EB-858F-7077-7AD5-22CA78AC5F36}"/>
                </a:ext>
              </a:extLst>
            </p:cNvPr>
            <p:cNvSpPr/>
            <p:nvPr/>
          </p:nvSpPr>
          <p:spPr>
            <a:xfrm>
              <a:off x="430599" y="3938320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Average costs</a:t>
              </a:r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EC940E3-91C5-31CC-0D9E-F8E8C926C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999" y="3938320"/>
              <a:ext cx="9070330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C/Q</a:t>
              </a:r>
            </a:p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Can be defined for AVC (VC/Q), AFC (FC/Q) or ATC (C/Q)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C39779A-0A0B-9AE4-F1DC-69F3D277AF66}"/>
              </a:ext>
            </a:extLst>
          </p:cNvPr>
          <p:cNvGrpSpPr/>
          <p:nvPr/>
        </p:nvGrpSpPr>
        <p:grpSpPr>
          <a:xfrm>
            <a:off x="430599" y="5065831"/>
            <a:ext cx="11293730" cy="1277273"/>
            <a:chOff x="430599" y="3938320"/>
            <a:chExt cx="11293730" cy="1277273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FCFF1E3-8EE9-C02D-35EC-BCD35EAD418E}"/>
                </a:ext>
              </a:extLst>
            </p:cNvPr>
            <p:cNvSpPr/>
            <p:nvPr/>
          </p:nvSpPr>
          <p:spPr>
            <a:xfrm>
              <a:off x="430599" y="3938320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Economic costs</a:t>
              </a: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E42D10DA-96BF-E7DC-1A81-1A1316897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999" y="3938320"/>
              <a:ext cx="9070330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Opportunity costs: Foregone (net) benefits from best alternative opportunity not taken</a:t>
              </a:r>
            </a:p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Sunk costs: Must be paid regardless of a person’s or firm’s 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6659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Simultaneous games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84CBE6-F35A-872B-91DC-0214D892DB80}"/>
              </a:ext>
            </a:extLst>
          </p:cNvPr>
          <p:cNvGrpSpPr/>
          <p:nvPr/>
        </p:nvGrpSpPr>
        <p:grpSpPr>
          <a:xfrm>
            <a:off x="430599" y="1176690"/>
            <a:ext cx="11293731" cy="1446463"/>
            <a:chOff x="430599" y="1176690"/>
            <a:chExt cx="11293731" cy="1446463"/>
          </a:xfrm>
        </p:grpSpPr>
        <p:sp>
          <p:nvSpPr>
            <p:cNvPr id="28" name="Rounded Rectangle 27"/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Payoff matrix</a:t>
              </a:r>
            </a:p>
          </p:txBody>
        </p:sp>
        <p:sp>
          <p:nvSpPr>
            <p:cNvPr id="23" name="Rectangle 3"/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Solution framework for simultaneous games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Each player’s strategies listed either in rows or columns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Equilibria listed as pairs of strategies, not payoffs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4517969"/>
            <a:ext cx="11293730" cy="1060704"/>
            <a:chOff x="430599" y="2616147"/>
            <a:chExt cx="11293730" cy="1060704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Dominated strategy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One that is never optimal, regardless of the opponent’s action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Can be eliminated from the payoff matrix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3040209"/>
            <a:ext cx="11293731" cy="1060704"/>
            <a:chOff x="430599" y="1176690"/>
            <a:chExt cx="11293731" cy="106070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Dominant strategy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Always better regardless of what the other side chooses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Players opt to play their dominant strategy if they have one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5735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Simultaneous games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C3CDF3-8A7F-8B1B-ECA2-589A8381553D}"/>
              </a:ext>
            </a:extLst>
          </p:cNvPr>
          <p:cNvGrpSpPr/>
          <p:nvPr/>
        </p:nvGrpSpPr>
        <p:grpSpPr>
          <a:xfrm>
            <a:off x="430599" y="1176690"/>
            <a:ext cx="11293730" cy="2092881"/>
            <a:chOff x="430599" y="3938320"/>
            <a:chExt cx="11293730" cy="2092881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593514EB-858F-7077-7AD5-22CA78AC5F36}"/>
                </a:ext>
              </a:extLst>
            </p:cNvPr>
            <p:cNvSpPr/>
            <p:nvPr/>
          </p:nvSpPr>
          <p:spPr>
            <a:xfrm>
              <a:off x="430599" y="3938320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Nash Equilibrium</a:t>
              </a:r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EC940E3-91C5-31CC-0D9E-F8E8C926C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999" y="3938320"/>
              <a:ext cx="9070330" cy="209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Find each player’s best response to other players’ potential strategies</a:t>
              </a:r>
            </a:p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Nash Equilibrium are any cells in payoff matrix where all players are playing best responses</a:t>
              </a:r>
            </a:p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May be zero, one, or multiple Nash Equilibria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2855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Sequential games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84CBE6-F35A-872B-91DC-0214D892DB80}"/>
              </a:ext>
            </a:extLst>
          </p:cNvPr>
          <p:cNvGrpSpPr/>
          <p:nvPr/>
        </p:nvGrpSpPr>
        <p:grpSpPr>
          <a:xfrm>
            <a:off x="430599" y="1176690"/>
            <a:ext cx="11293731" cy="1369519"/>
            <a:chOff x="430599" y="1176690"/>
            <a:chExt cx="11293731" cy="1369519"/>
          </a:xfrm>
        </p:grpSpPr>
        <p:sp>
          <p:nvSpPr>
            <p:cNvPr id="28" name="Rounded Rectangle 27"/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Game tree</a:t>
              </a:r>
            </a:p>
          </p:txBody>
        </p:sp>
        <p:sp>
          <p:nvSpPr>
            <p:cNvPr id="23" name="Rectangle 3"/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366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Solution framework for sequential games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Players make choices at nodes, branches represent potential strategic choices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3102314"/>
            <a:ext cx="11293730" cy="2739404"/>
            <a:chOff x="430599" y="2616147"/>
            <a:chExt cx="11293730" cy="2739404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Backward induction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2739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Determine best responses at terminal nodes (final moves)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Transfer relevant payoffs to previous nodes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Determine best responses at second-to-last nodes, write payoffs at previous nodes, repeat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Follow path of selected branches from top-to-bottom to indicate equilibrium (pairs of strategies, not payoffs)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61672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Sequential games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2594991"/>
            <a:ext cx="11293730" cy="1443665"/>
            <a:chOff x="430599" y="2616147"/>
            <a:chExt cx="11293730" cy="1443665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Credible threats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Visible (others must know you’ve made a threat)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Understandable (others must know impact of threat to them)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Irreversible (you can’t be bluffing and change your plans)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060704"/>
            <a:chOff x="430599" y="1176690"/>
            <a:chExt cx="11293731" cy="106070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Dominant strategy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477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No such thing in sequential games!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1836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concepts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EDC1-525A-4847-800E-C96F24993272}" type="slidenum">
              <a:rPr lang="en-US" altLang="en-US" smtClean="0"/>
              <a:pPr/>
              <a:t>22</a:t>
            </a:fld>
            <a:endParaRPr lang="en-US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EA6BB5-DEF6-7D2B-3783-6C18D9DD1E58}"/>
              </a:ext>
            </a:extLst>
          </p:cNvPr>
          <p:cNvGrpSpPr/>
          <p:nvPr/>
        </p:nvGrpSpPr>
        <p:grpSpPr>
          <a:xfrm>
            <a:off x="609600" y="1056228"/>
            <a:ext cx="10621873" cy="1277274"/>
            <a:chOff x="253389" y="955457"/>
            <a:chExt cx="10621873" cy="1277274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2C0DB44-C5D5-0F34-9E01-727A87B309A3}"/>
                </a:ext>
              </a:extLst>
            </p:cNvPr>
            <p:cNvSpPr/>
            <p:nvPr/>
          </p:nvSpPr>
          <p:spPr>
            <a:xfrm>
              <a:off x="253389" y="955457"/>
              <a:ext cx="1927951" cy="1191672"/>
            </a:xfrm>
            <a:prstGeom prst="roundRect">
              <a:avLst/>
            </a:prstGeom>
            <a:solidFill>
              <a:srgbClr val="FFCC00"/>
            </a:solidFill>
            <a:ln>
              <a:solidFill>
                <a:srgbClr val="FFCC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Principal-agent relationship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2B10EB3A-8446-8771-F2F4-9FC94EE828A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181339" y="955458"/>
              <a:ext cx="8693923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</a:rPr>
                <a:t>Principal hires/contracts with the agent to act on the principal’s behalf</a:t>
              </a:r>
            </a:p>
            <a:p>
              <a:pPr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</a:rPr>
                <a:t>Agent’s actions affect principal’s outcomes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3F1CAE-0A50-4EE1-4E72-5337973A1615}"/>
              </a:ext>
            </a:extLst>
          </p:cNvPr>
          <p:cNvGrpSpPr/>
          <p:nvPr/>
        </p:nvGrpSpPr>
        <p:grpSpPr>
          <a:xfrm>
            <a:off x="609600" y="2491059"/>
            <a:ext cx="10621873" cy="4170373"/>
            <a:chOff x="253389" y="2669325"/>
            <a:chExt cx="10621873" cy="4170373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8ADBAAD-7F37-8DBA-ABCE-88FB7835DB0C}"/>
                </a:ext>
              </a:extLst>
            </p:cNvPr>
            <p:cNvSpPr/>
            <p:nvPr/>
          </p:nvSpPr>
          <p:spPr>
            <a:xfrm>
              <a:off x="253389" y="2669325"/>
              <a:ext cx="1927951" cy="1191671"/>
            </a:xfrm>
            <a:prstGeom prst="roundRect">
              <a:avLst/>
            </a:prstGeom>
            <a:solidFill>
              <a:srgbClr val="FFCC00"/>
            </a:solidFill>
            <a:ln>
              <a:solidFill>
                <a:srgbClr val="FFCC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Principal-agent problem</a:t>
              </a:r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4E55C806-CF83-6124-1D21-3A6C21C83D1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181340" y="2669326"/>
              <a:ext cx="8693922" cy="417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</a:rPr>
                <a:t>Principal and agent may have misaligned objectives</a:t>
              </a:r>
            </a:p>
            <a:p>
              <a:pPr lvl="1"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E.g., principal wants profit maximization; agent wants a bigger role, political appointment, etc.</a:t>
              </a:r>
            </a:p>
            <a:p>
              <a:pPr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</a:rPr>
                <a:t>Principal and agent may have different risk preferences</a:t>
              </a:r>
            </a:p>
            <a:p>
              <a:pPr lvl="1"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E.g., board wants aggressive growth; CEO is nearing retirement and doesn’t want to jeopardize reputation or separation package</a:t>
              </a:r>
            </a:p>
            <a:p>
              <a:pPr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</a:rPr>
                <a:t>Principal and agent may have different effort preferences</a:t>
              </a:r>
            </a:p>
            <a:p>
              <a:pPr lvl="1"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E.g., board wants focus on company; CEO may have attention on philanthropic or other ventures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39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Profit maximization – monopoly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2633473"/>
            <a:ext cx="11293730" cy="1060704"/>
            <a:chOff x="430599" y="2616147"/>
            <a:chExt cx="11293730" cy="1060704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Monopoly markup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(P – MC)/P = -1/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ε</a:t>
              </a:r>
              <a:r>
                <a:rPr lang="en-US" altLang="en-US" sz="2400" kern="0" baseline="-25000" dirty="0" err="1"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endParaRPr lang="en-US" altLang="en-US" sz="2400" kern="0" dirty="0">
                <a:ea typeface="ＭＳ Ｐゴシック" pitchFamily="34" charset="-128"/>
                <a:cs typeface="Calibri" panose="020F0502020204030204" pitchFamily="34" charset="0"/>
              </a:endParaRP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Profit margin = inverse of own-price (demand) elasticity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23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060704"/>
            <a:chOff x="430599" y="1176690"/>
            <a:chExt cx="11293731" cy="106070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MR = MC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Marginal revenue = marginal cost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 err="1">
                  <a:ea typeface="Source Sans Pro" panose="020B0503030403020204" pitchFamily="34" charset="0"/>
                  <a:cs typeface="Calibri" panose="020F0502020204030204" pitchFamily="34" charset="0"/>
                </a:rPr>
                <a:t>dR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/</a:t>
              </a:r>
              <a:r>
                <a:rPr lang="en-US" altLang="en-US" sz="2400" kern="0" dirty="0" err="1">
                  <a:ea typeface="Source Sans Pro" panose="020B0503030403020204" pitchFamily="34" charset="0"/>
                  <a:cs typeface="Calibri" panose="020F0502020204030204" pitchFamily="34" charset="0"/>
                </a:rPr>
                <a:t>dQ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= </a:t>
              </a:r>
              <a:r>
                <a:rPr lang="en-US" altLang="en-US" sz="2400" kern="0" dirty="0" err="1">
                  <a:ea typeface="Source Sans Pro" panose="020B0503030403020204" pitchFamily="34" charset="0"/>
                  <a:cs typeface="Calibri" panose="020F0502020204030204" pitchFamily="34" charset="0"/>
                </a:rPr>
                <a:t>dC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/</a:t>
              </a:r>
              <a:r>
                <a:rPr lang="en-US" altLang="en-US" sz="2400" kern="0" dirty="0" err="1">
                  <a:ea typeface="Source Sans Pro" panose="020B0503030403020204" pitchFamily="34" charset="0"/>
                  <a:cs typeface="Calibri" panose="020F0502020204030204" pitchFamily="34" charset="0"/>
                </a:rPr>
                <a:t>dQ</a:t>
              </a:r>
              <a:endParaRPr lang="en-US" altLang="en-US" sz="2400" kern="0" dirty="0">
                <a:ea typeface="Source Sans Pro" panose="020B050303040302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2AB2101-BDB9-B83F-30E5-F573136D5608}"/>
              </a:ext>
            </a:extLst>
          </p:cNvPr>
          <p:cNvGrpSpPr/>
          <p:nvPr/>
        </p:nvGrpSpPr>
        <p:grpSpPr>
          <a:xfrm>
            <a:off x="430599" y="4090255"/>
            <a:ext cx="11293730" cy="1443665"/>
            <a:chOff x="430599" y="2616147"/>
            <a:chExt cx="11293730" cy="144366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66A3566-A2FF-5887-899E-ADFA848178AF}"/>
                </a:ext>
              </a:extLst>
            </p:cNvPr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MES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0326D5-3631-23FB-98AB-6B1E84890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Minimum efficient scale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Lowest point on Long Run Average Cost (LRAC) curve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Point where LRMC and LRAC intersect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7418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Profit maximization – competitive firms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2588526"/>
            <a:ext cx="11293730" cy="1443665"/>
            <a:chOff x="430599" y="2616147"/>
            <a:chExt cx="11293730" cy="1443665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Should we produce?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If P ≥ AC where MR = MC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Short-run: P ≥ AVC + AAFC (average avoidable fixed costs)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Long-run: P ≥ ATC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24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060704"/>
            <a:chOff x="430599" y="1176690"/>
            <a:chExt cx="11293731" cy="106070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How much to produce?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Marginal revenue = marginal cost [MR = MC]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MR = P for competitive firm, so reduces to P = MC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2AB2101-BDB9-B83F-30E5-F573136D5608}"/>
              </a:ext>
            </a:extLst>
          </p:cNvPr>
          <p:cNvGrpSpPr/>
          <p:nvPr/>
        </p:nvGrpSpPr>
        <p:grpSpPr>
          <a:xfrm>
            <a:off x="430599" y="4383323"/>
            <a:ext cx="11293730" cy="1443665"/>
            <a:chOff x="430599" y="2616147"/>
            <a:chExt cx="11293730" cy="144366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66A3566-A2FF-5887-899E-ADFA848178AF}"/>
                </a:ext>
              </a:extLst>
            </p:cNvPr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Entry/exit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0326D5-3631-23FB-98AB-6B1E84890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If 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Profits</a:t>
              </a:r>
              <a:r>
                <a:rPr lang="en-US" altLang="en-US" sz="2400" kern="0" baseline="-25000" dirty="0" err="1">
                  <a:ea typeface="ＭＳ Ｐゴシック" pitchFamily="34" charset="-128"/>
                  <a:cs typeface="Calibri" panose="020F0502020204030204" pitchFamily="34" charset="0"/>
                </a:rPr>
                <a:t>Long</a:t>
              </a:r>
              <a:r>
                <a:rPr lang="en-US" altLang="en-US" sz="2400" kern="0" baseline="-25000" dirty="0">
                  <a:ea typeface="ＭＳ Ｐゴシック" pitchFamily="34" charset="-128"/>
                  <a:cs typeface="Calibri" panose="020F0502020204030204" pitchFamily="34" charset="0"/>
                </a:rPr>
                <a:t> run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 &gt; 0, then firms will enter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If 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Profits</a:t>
              </a:r>
              <a:r>
                <a:rPr lang="en-US" altLang="en-US" sz="2400" kern="0" baseline="-25000" dirty="0" err="1">
                  <a:ea typeface="ＭＳ Ｐゴシック" pitchFamily="34" charset="-128"/>
                  <a:cs typeface="Calibri" panose="020F0502020204030204" pitchFamily="34" charset="0"/>
                </a:rPr>
                <a:t>Long</a:t>
              </a:r>
              <a:r>
                <a:rPr lang="en-US" altLang="en-US" sz="2400" kern="0" baseline="-25000" dirty="0">
                  <a:ea typeface="ＭＳ Ｐゴシック" pitchFamily="34" charset="-128"/>
                  <a:cs typeface="Calibri" panose="020F0502020204030204" pitchFamily="34" charset="0"/>
                </a:rPr>
                <a:t> run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 &lt; 0, then firms will exit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If 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Profits</a:t>
              </a:r>
              <a:r>
                <a:rPr lang="en-US" altLang="en-US" sz="2400" kern="0" baseline="-25000" dirty="0" err="1">
                  <a:ea typeface="ＭＳ Ｐゴシック" pitchFamily="34" charset="-128"/>
                  <a:cs typeface="Calibri" panose="020F0502020204030204" pitchFamily="34" charset="0"/>
                </a:rPr>
                <a:t>Long</a:t>
              </a:r>
              <a:r>
                <a:rPr lang="en-US" altLang="en-US" sz="2400" kern="0" baseline="-25000" dirty="0">
                  <a:ea typeface="ＭＳ Ｐゴシック" pitchFamily="34" charset="-128"/>
                  <a:cs typeface="Calibri" panose="020F0502020204030204" pitchFamily="34" charset="0"/>
                </a:rPr>
                <a:t> run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 = 0, no entry or exit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0880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Profit maximization – competitive firms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2588526"/>
            <a:ext cx="11293730" cy="1443665"/>
            <a:chOff x="430599" y="2616147"/>
            <a:chExt cx="11293730" cy="1443665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Long-run equilibrium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Market demand = Market supply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Firms maximize profit (MR = MC, or P = MC)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Firms collect zero economic profit (P = ATC)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25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060704"/>
            <a:chOff x="430599" y="1176690"/>
            <a:chExt cx="11293731" cy="106070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Short-run equilibrium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Market demand = Market supply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Firms maximize profit (MR = MC, or P = MC)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1935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66171"/>
            <a:ext cx="10972800" cy="1200329"/>
          </a:xfrm>
        </p:spPr>
        <p:txBody>
          <a:bodyPr/>
          <a:lstStyle/>
          <a:p>
            <a:r>
              <a:rPr lang="en-US" dirty="0"/>
              <a:t>Oligopolies fall between perfect competition and monopolies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B21D2E4-CA84-B1F2-9FD1-7DDB81564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9" y="2520423"/>
            <a:ext cx="16235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Description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0FC66E11-8456-05BE-9B82-5A96DED52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208" y="1127633"/>
            <a:ext cx="10169604" cy="1279598"/>
          </a:xfrm>
          <a:prstGeom prst="leftRightArrow">
            <a:avLst>
              <a:gd name="adj1" fmla="val 62213"/>
              <a:gd name="adj2" fmla="val 5523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0266167D-CB48-25D9-7D0F-3FA08D782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325" y="1398100"/>
            <a:ext cx="205698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>
                <a:solidFill>
                  <a:schemeClr val="tx2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Perfect competition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0D960EE5-4A5C-F1E2-63C9-6C6B18098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8990" y="1582766"/>
            <a:ext cx="1438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>
                <a:solidFill>
                  <a:schemeClr val="tx2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Oligopoly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4F6FF0A-B1E2-B609-7EC8-62EACD852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8212" y="1582766"/>
            <a:ext cx="1438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>
                <a:solidFill>
                  <a:schemeClr val="tx2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Monopoly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FD3938DC-6A6C-FFDB-1160-5A8DD77FE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324" y="2520423"/>
            <a:ext cx="276456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Multiple competitors, none with ability to affect market price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Firms select optimal production point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 = MC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E.g., restaurants, hair salons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8B113BCC-A3BE-8CD8-9141-467784DAB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8988" y="2520422"/>
            <a:ext cx="294072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Several competitors, each with some pricing power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Firms focus on either price or quantity when setting strategy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Profit maximization depends on strategic interaction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E.g., soft drinks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9DA9B70A-D465-09C1-0CC1-34AA97636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926" y="2520422"/>
            <a:ext cx="214778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One company selling in market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Set price &amp; quantity if unregulated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MR = MC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E.g., power distribution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86A883-5F55-5F0E-4709-81A48FC2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BFFA-A26B-42B9-863F-CA8A50A760A5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Oligopoly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4295518"/>
            <a:ext cx="11293730" cy="2410083"/>
            <a:chOff x="430599" y="2616147"/>
            <a:chExt cx="11293730" cy="2410083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Herfindahl-Hirschman Index (HHI)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2410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Sum the squares of the ALL market shares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DoJ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 guidelines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Unconcentrated (competitive)	HHI &lt; 1,000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Moderately concentrated	[1,000 ; 1,800]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Highly concentrated		HHI &gt; 1,800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2896091"/>
            <a:chOff x="430599" y="1176690"/>
            <a:chExt cx="11293731" cy="2896091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X-firm concentration ratio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2893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Sum of market shares of X largest firms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4 firm ratio: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tabLst>
                  <a:tab pos="2282825" algn="l"/>
                </a:tabLs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&gt; 60%	Tight oligopoly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tabLst>
                  <a:tab pos="2282825" algn="l"/>
                </a:tabLs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[60%, 40%]	Loose oligopoly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tabLst>
                  <a:tab pos="2282825" algn="l"/>
                </a:tabLs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&lt; 40%	Effectively competitive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1 firm ratio:	&gt; 90%	Effectively monopoly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8754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EBC5-9896-5D62-6B3B-59CB7FE7D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oligopoly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EDC58-DF96-8102-A4B6-C31F232CEF3F}"/>
              </a:ext>
            </a:extLst>
          </p:cNvPr>
          <p:cNvSpPr txBox="1"/>
          <p:nvPr/>
        </p:nvSpPr>
        <p:spPr>
          <a:xfrm>
            <a:off x="282011" y="1819544"/>
            <a:ext cx="2089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Choice variable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23B19-4912-BE51-6E36-1A9A718DBE4A}"/>
              </a:ext>
            </a:extLst>
          </p:cNvPr>
          <p:cNvSpPr txBox="1"/>
          <p:nvPr/>
        </p:nvSpPr>
        <p:spPr>
          <a:xfrm>
            <a:off x="282011" y="2338845"/>
            <a:ext cx="2162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Timing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74282-3639-1E09-72D3-362834FB6C72}"/>
              </a:ext>
            </a:extLst>
          </p:cNvPr>
          <p:cNvSpPr txBox="1"/>
          <p:nvPr/>
        </p:nvSpPr>
        <p:spPr>
          <a:xfrm>
            <a:off x="282011" y="2860282"/>
            <a:ext cx="2162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9140E0-FA54-AA5A-2966-34227C9CDF90}"/>
              </a:ext>
            </a:extLst>
          </p:cNvPr>
          <p:cNvSpPr txBox="1"/>
          <p:nvPr/>
        </p:nvSpPr>
        <p:spPr>
          <a:xfrm>
            <a:off x="5924516" y="1819544"/>
            <a:ext cx="287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4CEA9-49C6-8B81-399C-0D7EE80E7648}"/>
              </a:ext>
            </a:extLst>
          </p:cNvPr>
          <p:cNvSpPr txBox="1"/>
          <p:nvPr/>
        </p:nvSpPr>
        <p:spPr>
          <a:xfrm>
            <a:off x="9172199" y="1819544"/>
            <a:ext cx="287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Quantity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011D8D-8E18-156C-A1B1-C22EF2AEC5BA}"/>
              </a:ext>
            </a:extLst>
          </p:cNvPr>
          <p:cNvSpPr txBox="1"/>
          <p:nvPr/>
        </p:nvSpPr>
        <p:spPr>
          <a:xfrm>
            <a:off x="2768276" y="1819544"/>
            <a:ext cx="2871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4BAC8-8816-874B-55C2-C77CB25DF410}"/>
              </a:ext>
            </a:extLst>
          </p:cNvPr>
          <p:cNvSpPr txBox="1"/>
          <p:nvPr/>
        </p:nvSpPr>
        <p:spPr>
          <a:xfrm>
            <a:off x="5924516" y="2338845"/>
            <a:ext cx="287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Simultaneous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04B40F-ED82-B2A5-2D54-8245F7BBA555}"/>
              </a:ext>
            </a:extLst>
          </p:cNvPr>
          <p:cNvSpPr txBox="1"/>
          <p:nvPr/>
        </p:nvSpPr>
        <p:spPr>
          <a:xfrm>
            <a:off x="9172199" y="2338845"/>
            <a:ext cx="287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Sequential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24A07-7FFA-58EA-5436-D52C653098A6}"/>
              </a:ext>
            </a:extLst>
          </p:cNvPr>
          <p:cNvSpPr txBox="1"/>
          <p:nvPr/>
        </p:nvSpPr>
        <p:spPr>
          <a:xfrm>
            <a:off x="2768276" y="2338845"/>
            <a:ext cx="2871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Simultaneous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C8C06-514F-D523-375A-E23643FD869F}"/>
              </a:ext>
            </a:extLst>
          </p:cNvPr>
          <p:cNvSpPr txBox="1"/>
          <p:nvPr/>
        </p:nvSpPr>
        <p:spPr>
          <a:xfrm>
            <a:off x="5924516" y="2860282"/>
            <a:ext cx="31622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250" indent="-349250">
              <a:buFont typeface="+mj-lt"/>
              <a:buAutoNum type="arabicPeriod"/>
            </a:pPr>
            <a:r>
              <a:rPr lang="en-US" sz="24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MR</a:t>
            </a:r>
            <a:r>
              <a:rPr lang="en-US" sz="2400" baseline="-250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MC</a:t>
            </a:r>
            <a:r>
              <a:rPr lang="en-US" sz="2400" baseline="-250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</a:t>
            </a:r>
            <a:endParaRPr lang="en-US" sz="2400" baseline="-250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806450" lvl="1" indent="-3492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Solve for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to get </a:t>
            </a:r>
            <a:r>
              <a:rPr lang="en-US" sz="24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BRF</a:t>
            </a:r>
            <a:r>
              <a:rPr lang="en-US" sz="2400" baseline="-250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</a:t>
            </a:r>
            <a:endParaRPr lang="en-US" sz="2400" baseline="-250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Plug BRF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into BRF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</a:p>
          <a:p>
            <a:pPr marL="806450" lvl="1" indent="-3492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Solve for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endParaRPr lang="en-US" sz="24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Plug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into BRF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</a:p>
          <a:p>
            <a:pPr marL="806450" lvl="1" indent="-3492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Solve for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  <a:endParaRPr lang="en-US" sz="24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 =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+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 = P(Q)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D44073-9E59-EA7B-19C9-E5707782871C}"/>
              </a:ext>
            </a:extLst>
          </p:cNvPr>
          <p:cNvSpPr txBox="1"/>
          <p:nvPr/>
        </p:nvSpPr>
        <p:spPr>
          <a:xfrm>
            <a:off x="9172199" y="2860282"/>
            <a:ext cx="28716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If A moves first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Plug BRF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into Inv. </a:t>
            </a:r>
            <a:r>
              <a:rPr lang="en-US" sz="24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Demand</a:t>
            </a:r>
            <a:r>
              <a:rPr lang="en-US" sz="2400" baseline="-250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Calculate MR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MR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= MC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endParaRPr lang="en-US" sz="24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806450" lvl="1" indent="-3492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Solve for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endParaRPr lang="en-US" sz="24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Plug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into BRF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</a:p>
          <a:p>
            <a:pPr marL="806450" lvl="1" indent="-3492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Solve for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 =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+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 = P(Q)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1B1E9-21D8-2B43-DBBD-F06CC7A6EF6B}"/>
                  </a:ext>
                </a:extLst>
              </p:cNvPr>
              <p:cNvSpPr txBox="1"/>
              <p:nvPr/>
            </p:nvSpPr>
            <p:spPr>
              <a:xfrm>
                <a:off x="2768276" y="2860282"/>
                <a:ext cx="2871668" cy="3570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9250" indent="-349250">
                  <a:buFont typeface="+mj-lt"/>
                  <a:buAutoNum type="arabicPeriod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If same costs</a:t>
                </a: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</a:t>
                </a:r>
                <a:r>
                  <a:rPr lang="en-US" sz="2400" dirty="0" err="1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MC</a:t>
                </a:r>
                <a:r>
                  <a:rPr lang="en-US" sz="2400" baseline="-25000" dirty="0" err="1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</a:t>
                </a:r>
                <a:endParaRPr lang="en-US" sz="2400" baseline="-2500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endParaRP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Q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US" sz="240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Q(P)</a:t>
                </a:r>
              </a:p>
              <a:p>
                <a:pPr marL="349250" indent="-349250">
                  <a:buFont typeface="+mj-lt"/>
                  <a:buAutoNum type="arabicPeriod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If MC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&gt; MC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B</a:t>
                </a: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MC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A</a:t>
                </a: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MC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– 0.01</a:t>
                </a: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Q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0</a:t>
                </a: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Q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Q(P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1B1E9-21D8-2B43-DBBD-F06CC7A6E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276" y="2860282"/>
                <a:ext cx="2871668" cy="3570529"/>
              </a:xfrm>
              <a:prstGeom prst="rect">
                <a:avLst/>
              </a:prstGeom>
              <a:blipFill>
                <a:blip r:embed="rId2"/>
                <a:stretch>
                  <a:fillRect l="-3070" t="-1773" b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75D8C82-EBDA-8BB5-C687-B803A071A6D2}"/>
              </a:ext>
            </a:extLst>
          </p:cNvPr>
          <p:cNvSpPr/>
          <p:nvPr/>
        </p:nvSpPr>
        <p:spPr>
          <a:xfrm>
            <a:off x="2768276" y="1084605"/>
            <a:ext cx="2871666" cy="632389"/>
          </a:xfrm>
          <a:prstGeom prst="roundRect">
            <a:avLst/>
          </a:prstGeom>
          <a:solidFill>
            <a:srgbClr val="007360"/>
          </a:solidFill>
          <a:ln>
            <a:solidFill>
              <a:srgbClr val="0073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8C8C8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Bertrand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FE10385-DFBB-4ACF-D52A-FFCB5D68B5F1}"/>
              </a:ext>
            </a:extLst>
          </p:cNvPr>
          <p:cNvSpPr/>
          <p:nvPr/>
        </p:nvSpPr>
        <p:spPr>
          <a:xfrm>
            <a:off x="5924516" y="1084605"/>
            <a:ext cx="2871666" cy="632389"/>
          </a:xfrm>
          <a:prstGeom prst="roundRect">
            <a:avLst/>
          </a:prstGeom>
          <a:solidFill>
            <a:srgbClr val="007360"/>
          </a:solidFill>
          <a:ln>
            <a:solidFill>
              <a:srgbClr val="0073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8C8C8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Cournot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D0B745F-9254-8B8A-B80C-07728538CFB7}"/>
              </a:ext>
            </a:extLst>
          </p:cNvPr>
          <p:cNvSpPr/>
          <p:nvPr/>
        </p:nvSpPr>
        <p:spPr>
          <a:xfrm>
            <a:off x="9172196" y="1084605"/>
            <a:ext cx="2871666" cy="632389"/>
          </a:xfrm>
          <a:prstGeom prst="roundRect">
            <a:avLst/>
          </a:prstGeom>
          <a:solidFill>
            <a:srgbClr val="007360"/>
          </a:solidFill>
          <a:ln>
            <a:solidFill>
              <a:srgbClr val="0073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8C8C8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Stackelberg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FA048A-6DFA-70D5-7062-0230335C6269}"/>
              </a:ext>
            </a:extLst>
          </p:cNvPr>
          <p:cNvSpPr txBox="1"/>
          <p:nvPr/>
        </p:nvSpPr>
        <p:spPr>
          <a:xfrm>
            <a:off x="205097" y="6238428"/>
            <a:ext cx="11579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81038" algn="l"/>
              </a:tabLst>
            </a:pPr>
            <a:r>
              <a:rPr lang="en-US" sz="16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Notes: 	Subscript </a:t>
            </a:r>
            <a:r>
              <a:rPr lang="en-US" sz="16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is shorthand for applying the same formula for A, B, C …</a:t>
            </a:r>
          </a:p>
          <a:p>
            <a:pPr>
              <a:tabLst>
                <a:tab pos="681038" algn="l"/>
              </a:tabLst>
            </a:pPr>
            <a:r>
              <a:rPr lang="en-US" sz="16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	BRF is abbreviation for “best response function”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9ABC7-9DC7-0AE2-6C8D-49516E27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7AD01-DBC0-460A-9794-B1D9E8D78AAA}" type="slidenum">
              <a:rPr lang="en-US" altLang="en-US" smtClean="0"/>
              <a:pPr/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13862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Taxes and subsidies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3326137"/>
            <a:ext cx="11293730" cy="1405449"/>
            <a:chOff x="430599" y="2616147"/>
            <a:chExt cx="11293730" cy="1405449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Who bears burden?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2653999" y="2616147"/>
                  <a:ext cx="9070330" cy="1405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charset="0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5pPr>
                  <a:lvl6pPr marL="25146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6pPr>
                  <a:lvl7pPr marL="29718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7pPr>
                  <a:lvl8pPr marL="34290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8pPr>
                  <a:lvl9pPr marL="38862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9pPr>
                </a:lstStyle>
                <a:p>
                  <a:pPr marL="228600" indent="-228600" eaLnBrk="1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600"/>
                    </a:spcAft>
                  </a:pPr>
                  <a:r>
                    <a:rPr lang="en-US" altLang="en-US" sz="2400" kern="0" dirty="0">
                      <a:ea typeface="ＭＳ Ｐゴシック" pitchFamily="34" charset="-128"/>
                      <a:cs typeface="Calibri" panose="020F0502020204030204" pitchFamily="34" charset="0"/>
                    </a:rPr>
                    <a:t>Consumers:	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en-US" sz="2400" i="1" kern="0" dirty="0" smtClean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fPr>
                        <m:num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𝑆</m:t>
                          </m:r>
                        </m:num>
                        <m:den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</m:t>
                          </m:r>
                          <m:r>
                            <a:rPr lang="en-US" altLang="en-US" sz="2400" kern="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𝐷</m:t>
                          </m:r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 + </m:t>
                          </m:r>
                          <m:r>
                            <a:rPr lang="en-US" altLang="en-US" sz="2400" kern="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𝑆</m:t>
                          </m:r>
                        </m:den>
                      </m:f>
                    </m:oMath>
                  </a14:m>
                  <a:endParaRPr lang="en-US" altLang="en-US" sz="2400" kern="0" dirty="0">
                    <a:ea typeface="ＭＳ Ｐゴシック" pitchFamily="34" charset="-128"/>
                    <a:cs typeface="Calibri" panose="020F0502020204030204" pitchFamily="34" charset="0"/>
                  </a:endParaRPr>
                </a:p>
                <a:p>
                  <a:pPr marL="228600" indent="-228600" eaLnBrk="1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600"/>
                    </a:spcAft>
                  </a:pPr>
                  <a:r>
                    <a:rPr lang="en-US" altLang="en-US" sz="2400" kern="0" dirty="0">
                      <a:ea typeface="ＭＳ Ｐゴシック" pitchFamily="34" charset="-128"/>
                      <a:cs typeface="Calibri" panose="020F0502020204030204" pitchFamily="34" charset="0"/>
                    </a:rPr>
                    <a:t>Firms:	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en-US" sz="2400" i="1" kern="0" dirty="0" smtClean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fPr>
                        <m:num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</m:t>
                          </m:r>
                          <m:r>
                            <a:rPr lang="en-US" altLang="en-US" sz="2400" kern="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𝐷</m:t>
                          </m:r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</m:t>
                          </m:r>
                        </m:num>
                        <m:den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</m:t>
                          </m:r>
                          <m:r>
                            <a:rPr lang="en-US" altLang="en-US" sz="2400" kern="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𝐷</m:t>
                          </m:r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 + </m:t>
                          </m:r>
                          <m:r>
                            <a:rPr lang="en-US" altLang="en-US" sz="2400" kern="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𝑆</m:t>
                          </m:r>
                        </m:den>
                      </m:f>
                    </m:oMath>
                  </a14:m>
                  <a:endParaRPr lang="en-US" altLang="en-US" sz="2400" kern="0" dirty="0">
                    <a:ea typeface="ＭＳ Ｐゴシック" pitchFamily="34" charset="-128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7" name="Rectangle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53999" y="2616147"/>
                  <a:ext cx="9070330" cy="1405449"/>
                </a:xfrm>
                <a:prstGeom prst="rect">
                  <a:avLst/>
                </a:prstGeom>
                <a:blipFill>
                  <a:blip r:embed="rId2"/>
                  <a:stretch>
                    <a:fillRect l="-978" b="-450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29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929672"/>
            <a:chOff x="430599" y="1176690"/>
            <a:chExt cx="11293731" cy="1929672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Per-unit</a:t>
              </a:r>
            </a:p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tax (t)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926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collected by the firm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paid by consumers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Tax on customers: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=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+ t [P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tag]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Tax on firms: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=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– t [P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tag]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FF00022-DF39-B0A5-F6F5-4DE3E627CB0A}"/>
              </a:ext>
            </a:extLst>
          </p:cNvPr>
          <p:cNvGrpSpPr/>
          <p:nvPr/>
        </p:nvGrpSpPr>
        <p:grpSpPr>
          <a:xfrm>
            <a:off x="430599" y="4951361"/>
            <a:ext cx="11293731" cy="1446463"/>
            <a:chOff x="430599" y="1176690"/>
            <a:chExt cx="11293731" cy="144646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C8B881F5-93D2-92EF-3A0A-DB64E93169CA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Per-unit</a:t>
              </a:r>
            </a:p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subsidy (s)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C7DE6D7-E08B-8DA2-A2F7-0B90C00D2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Subsidy to customers: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=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– s [P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tag]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Subsidy to firms: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=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+ s [P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tag]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In both cases, s = -t, so subsidies are negative taxes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610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Microeconomics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A2600850-4DB8-384A-56EC-87D158C9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30</a:t>
            </a:fld>
            <a:endParaRPr lang="en-US" alt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D7CC0C9-0C1A-F0B9-802A-9441E1B544BB}"/>
              </a:ext>
            </a:extLst>
          </p:cNvPr>
          <p:cNvGrpSpPr/>
          <p:nvPr/>
        </p:nvGrpSpPr>
        <p:grpSpPr>
          <a:xfrm>
            <a:off x="435428" y="1171714"/>
            <a:ext cx="11321144" cy="1059857"/>
            <a:chOff x="435428" y="3152576"/>
            <a:chExt cx="11321144" cy="1059857"/>
          </a:xfrm>
        </p:grpSpPr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63B16A13-6CB6-1A8E-DAF0-62BEC80F665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3152576"/>
              <a:ext cx="9046030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Area below the market price and above the supply curve</a:t>
              </a:r>
            </a:p>
            <a:p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½ * equilibrium quantity * (market price – supply choke price)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22B71BC-769F-1B95-0FA9-B0CE84DFE524}"/>
                </a:ext>
              </a:extLst>
            </p:cNvPr>
            <p:cNvSpPr/>
            <p:nvPr/>
          </p:nvSpPr>
          <p:spPr>
            <a:xfrm>
              <a:off x="435428" y="3152576"/>
              <a:ext cx="2122715" cy="1059857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Producer surplus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F61DB33-1FE6-6384-A229-C534042989EC}"/>
              </a:ext>
            </a:extLst>
          </p:cNvPr>
          <p:cNvGrpSpPr/>
          <p:nvPr/>
        </p:nvGrpSpPr>
        <p:grpSpPr>
          <a:xfrm>
            <a:off x="435428" y="2889503"/>
            <a:ext cx="11321144" cy="1277273"/>
            <a:chOff x="435428" y="3152576"/>
            <a:chExt cx="11321144" cy="1277273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54A1B8CC-A023-A816-E3CD-14B60B6904C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3152576"/>
              <a:ext cx="9046030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Triangle area below demand curve and above supply curve, between market quantity and competitive equilibrium quantity</a:t>
              </a:r>
            </a:p>
            <a:p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½ * (comp. </a:t>
              </a:r>
              <a:r>
                <a:rPr lang="en-US" altLang="en-US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equil</a:t>
              </a:r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. quantity – market quantity) * (P</a:t>
              </a:r>
              <a:r>
                <a:rPr lang="en-US" altLang="en-US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(Q</a:t>
              </a:r>
              <a:r>
                <a:rPr lang="en-US" altLang="en-US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M</a:t>
              </a:r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 – P</a:t>
              </a:r>
              <a:r>
                <a:rPr lang="en-US" altLang="en-US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</a:t>
              </a:r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(Q</a:t>
              </a:r>
              <a:r>
                <a:rPr lang="en-US" altLang="en-US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M</a:t>
              </a:r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))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0DB4C96-16DC-5891-A17E-65E33CD8FFA2}"/>
                </a:ext>
              </a:extLst>
            </p:cNvPr>
            <p:cNvSpPr/>
            <p:nvPr/>
          </p:nvSpPr>
          <p:spPr>
            <a:xfrm>
              <a:off x="435428" y="3152576"/>
              <a:ext cx="2122715" cy="1059857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Deadweight loss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2957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government regulations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31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446463"/>
            <a:chOff x="430599" y="1176690"/>
            <a:chExt cx="11293731" cy="1446463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Price ceiling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Maximum price above which price cannot go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Must be below competitive equilibrium price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Customers receive extra consumer surplus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FF00022-DF39-B0A5-F6F5-4DE3E627CB0A}"/>
              </a:ext>
            </a:extLst>
          </p:cNvPr>
          <p:cNvGrpSpPr/>
          <p:nvPr/>
        </p:nvGrpSpPr>
        <p:grpSpPr>
          <a:xfrm>
            <a:off x="430599" y="4674902"/>
            <a:ext cx="11293731" cy="1446463"/>
            <a:chOff x="430599" y="1176690"/>
            <a:chExt cx="11293731" cy="144646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C8B881F5-93D2-92EF-3A0A-DB64E93169CA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Quantity restriction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C7DE6D7-E08B-8DA2-A2F7-0B90C00D2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Maximum quantity above which quantity cannot go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Must be less than competitive equilibrium quantity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Firms receive extra producer surplus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47FE779-9E37-64CB-31DB-EF292F262C31}"/>
              </a:ext>
            </a:extLst>
          </p:cNvPr>
          <p:cNvGrpSpPr/>
          <p:nvPr/>
        </p:nvGrpSpPr>
        <p:grpSpPr>
          <a:xfrm>
            <a:off x="430599" y="2925796"/>
            <a:ext cx="11293731" cy="1446463"/>
            <a:chOff x="430599" y="1176690"/>
            <a:chExt cx="11293731" cy="144646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F2693D3-C71A-E07F-BDBB-948C68B55291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Price floor</a:t>
              </a: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8B719DDF-9943-A8F1-64EE-3EB4B1739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Minimum price below which price cannot go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Must be above competitive equilibrium price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Suppliers receive extra producer surplus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57312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Default Design">
  <a:themeElements>
    <a:clrScheme name="WashU">
      <a:dk1>
        <a:srgbClr val="000000"/>
      </a:dk1>
      <a:lt1>
        <a:srgbClr val="FFFFFF"/>
      </a:lt1>
      <a:dk2>
        <a:srgbClr val="C8C8C8"/>
      </a:dk2>
      <a:lt2>
        <a:srgbClr val="D8D2C5"/>
      </a:lt2>
      <a:accent1>
        <a:srgbClr val="A51417"/>
      </a:accent1>
      <a:accent2>
        <a:srgbClr val="007360"/>
      </a:accent2>
      <a:accent3>
        <a:srgbClr val="005F85"/>
      </a:accent3>
      <a:accent4>
        <a:srgbClr val="67C8C7"/>
      </a:accent4>
      <a:accent5>
        <a:srgbClr val="D15F27"/>
      </a:accent5>
      <a:accent6>
        <a:srgbClr val="612466"/>
      </a:accent6>
      <a:hlink>
        <a:srgbClr val="FFCC00"/>
      </a:hlink>
      <a:folHlink>
        <a:srgbClr val="163E34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6285</TotalTime>
  <Words>2485</Words>
  <Application>Microsoft Macintosh PowerPoint</Application>
  <PresentationFormat>Widescreen</PresentationFormat>
  <Paragraphs>386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ＭＳ Ｐゴシック</vt:lpstr>
      <vt:lpstr>Arial</vt:lpstr>
      <vt:lpstr>Calibri</vt:lpstr>
      <vt:lpstr>Cambria Math</vt:lpstr>
      <vt:lpstr>Source Sans Pro</vt:lpstr>
      <vt:lpstr>Default Design</vt:lpstr>
      <vt:lpstr>Formulas</vt:lpstr>
      <vt:lpstr>General formulas for calculating a derivative</vt:lpstr>
      <vt:lpstr>Introduction to Microeconomics</vt:lpstr>
      <vt:lpstr>Introduction to Microeconomics</vt:lpstr>
      <vt:lpstr>Demand </vt:lpstr>
      <vt:lpstr>Demand elasticity </vt:lpstr>
      <vt:lpstr>Revenue maximization</vt:lpstr>
      <vt:lpstr>Price discrimination</vt:lpstr>
      <vt:lpstr>Three types of price discrimination</vt:lpstr>
      <vt:lpstr>Price discrimination extensions</vt:lpstr>
      <vt:lpstr>Asymmetric information</vt:lpstr>
      <vt:lpstr>Production technology</vt:lpstr>
      <vt:lpstr>Production technology</vt:lpstr>
      <vt:lpstr>Asymmetric information</vt:lpstr>
      <vt:lpstr>Input costs and isocosts</vt:lpstr>
      <vt:lpstr>Long-run cost minimization (optimization)</vt:lpstr>
      <vt:lpstr>Costs types</vt:lpstr>
      <vt:lpstr>Simultaneous games</vt:lpstr>
      <vt:lpstr>Simultaneous games</vt:lpstr>
      <vt:lpstr>Sequential games</vt:lpstr>
      <vt:lpstr>Sequential games</vt:lpstr>
      <vt:lpstr>Principal-agent concepts</vt:lpstr>
      <vt:lpstr>Profit maximization – monopoly</vt:lpstr>
      <vt:lpstr>Profit maximization – competitive firms</vt:lpstr>
      <vt:lpstr>Profit maximization – competitive firms</vt:lpstr>
      <vt:lpstr>Oligopolies fall between perfect competition and monopolies</vt:lpstr>
      <vt:lpstr>Oligopoly</vt:lpstr>
      <vt:lpstr>Overview of oligopoly models</vt:lpstr>
      <vt:lpstr>Taxes and subsidies</vt:lpstr>
      <vt:lpstr>Introduction to Microeconomics</vt:lpstr>
      <vt:lpstr>Other government regulations</vt:lpstr>
    </vt:vector>
  </TitlesOfParts>
  <Company>Washington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 5404: Managerial Economics I</dc:title>
  <dc:creator>mcmanus</dc:creator>
  <cp:lastModifiedBy>John Horn</cp:lastModifiedBy>
  <cp:revision>486</cp:revision>
  <dcterms:created xsi:type="dcterms:W3CDTF">2005-05-16T01:18:25Z</dcterms:created>
  <dcterms:modified xsi:type="dcterms:W3CDTF">2025-02-18T05:26:00Z</dcterms:modified>
</cp:coreProperties>
</file>