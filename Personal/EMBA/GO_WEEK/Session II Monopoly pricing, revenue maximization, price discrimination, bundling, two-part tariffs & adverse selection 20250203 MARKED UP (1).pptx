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1.xml" ContentType="application/vnd.openxmlformats-officedocument.presentationml.notesSlide+xml"/>
  <Override PartName="/ppt/ink/ink17.xml" ContentType="application/inkml+xml"/>
  <Override PartName="/ppt/notesSlides/notesSlide2.xml" ContentType="application/vnd.openxmlformats-officedocument.presentationml.notesSlide+xml"/>
  <Override PartName="/ppt/ink/ink18.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tags/tag4.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5"/>
  </p:notesMasterIdLst>
  <p:handoutMasterIdLst>
    <p:handoutMasterId r:id="rId96"/>
  </p:handoutMasterIdLst>
  <p:sldIdLst>
    <p:sldId id="475" r:id="rId2"/>
    <p:sldId id="517" r:id="rId3"/>
    <p:sldId id="515" r:id="rId4"/>
    <p:sldId id="367"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90" r:id="rId19"/>
    <p:sldId id="310" r:id="rId20"/>
    <p:sldId id="476" r:id="rId21"/>
    <p:sldId id="383" r:id="rId22"/>
    <p:sldId id="518" r:id="rId23"/>
    <p:sldId id="519" r:id="rId24"/>
    <p:sldId id="385" r:id="rId25"/>
    <p:sldId id="479" r:id="rId26"/>
    <p:sldId id="516" r:id="rId27"/>
    <p:sldId id="386" r:id="rId28"/>
    <p:sldId id="507" r:id="rId29"/>
    <p:sldId id="508" r:id="rId30"/>
    <p:sldId id="509" r:id="rId31"/>
    <p:sldId id="387" r:id="rId32"/>
    <p:sldId id="388" r:id="rId33"/>
    <p:sldId id="511" r:id="rId34"/>
    <p:sldId id="389" r:id="rId35"/>
    <p:sldId id="390" r:id="rId36"/>
    <p:sldId id="520" r:id="rId37"/>
    <p:sldId id="392" r:id="rId38"/>
    <p:sldId id="393" r:id="rId39"/>
    <p:sldId id="510" r:id="rId40"/>
    <p:sldId id="394" r:id="rId41"/>
    <p:sldId id="395" r:id="rId42"/>
    <p:sldId id="474" r:id="rId43"/>
    <p:sldId id="396" r:id="rId44"/>
    <p:sldId id="521" r:id="rId45"/>
    <p:sldId id="398" r:id="rId46"/>
    <p:sldId id="399" r:id="rId47"/>
    <p:sldId id="400" r:id="rId48"/>
    <p:sldId id="401" r:id="rId49"/>
    <p:sldId id="402" r:id="rId50"/>
    <p:sldId id="403" r:id="rId51"/>
    <p:sldId id="404" r:id="rId52"/>
    <p:sldId id="405" r:id="rId53"/>
    <p:sldId id="407" r:id="rId54"/>
    <p:sldId id="522" r:id="rId55"/>
    <p:sldId id="523" r:id="rId56"/>
    <p:sldId id="524" r:id="rId57"/>
    <p:sldId id="525" r:id="rId58"/>
    <p:sldId id="526" r:id="rId59"/>
    <p:sldId id="527" r:id="rId60"/>
    <p:sldId id="528" r:id="rId61"/>
    <p:sldId id="529" r:id="rId62"/>
    <p:sldId id="530" r:id="rId63"/>
    <p:sldId id="531" r:id="rId64"/>
    <p:sldId id="532" r:id="rId65"/>
    <p:sldId id="533" r:id="rId66"/>
    <p:sldId id="534" r:id="rId67"/>
    <p:sldId id="535" r:id="rId68"/>
    <p:sldId id="536" r:id="rId69"/>
    <p:sldId id="537" r:id="rId70"/>
    <p:sldId id="538" r:id="rId71"/>
    <p:sldId id="548" r:id="rId72"/>
    <p:sldId id="549" r:id="rId73"/>
    <p:sldId id="550" r:id="rId74"/>
    <p:sldId id="551" r:id="rId75"/>
    <p:sldId id="558" r:id="rId76"/>
    <p:sldId id="559" r:id="rId77"/>
    <p:sldId id="477" r:id="rId78"/>
    <p:sldId id="560" r:id="rId79"/>
    <p:sldId id="561" r:id="rId80"/>
    <p:sldId id="562" r:id="rId81"/>
    <p:sldId id="563" r:id="rId82"/>
    <p:sldId id="564" r:id="rId83"/>
    <p:sldId id="565" r:id="rId84"/>
    <p:sldId id="566" r:id="rId85"/>
    <p:sldId id="406" r:id="rId86"/>
    <p:sldId id="567" r:id="rId87"/>
    <p:sldId id="408" r:id="rId88"/>
    <p:sldId id="557" r:id="rId89"/>
    <p:sldId id="552" r:id="rId90"/>
    <p:sldId id="553" r:id="rId91"/>
    <p:sldId id="554" r:id="rId92"/>
    <p:sldId id="555" r:id="rId93"/>
    <p:sldId id="556" r:id="rId94"/>
  </p:sldIdLst>
  <p:sldSz cx="12192000" cy="6858000"/>
  <p:notesSz cx="6997700" cy="9271000"/>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0">
          <p15:clr>
            <a:srgbClr val="A4A3A4"/>
          </p15:clr>
        </p15:guide>
        <p15:guide id="2" pos="22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C8C7"/>
    <a:srgbClr val="C8C8C8"/>
    <a:srgbClr val="A51714"/>
    <a:srgbClr val="789B4A"/>
    <a:srgbClr val="007360"/>
    <a:srgbClr val="CFF1FD"/>
    <a:srgbClr val="CEE5FE"/>
    <a:srgbClr val="CCECFF"/>
    <a:srgbClr val="C0D2DE"/>
    <a:srgbClr val="BDD0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50" autoAdjust="0"/>
    <p:restoredTop sz="95280" autoAdjust="0"/>
  </p:normalViewPr>
  <p:slideViewPr>
    <p:cSldViewPr snapToGrid="0">
      <p:cViewPr varScale="1">
        <p:scale>
          <a:sx n="130" d="100"/>
          <a:sy n="130" d="100"/>
        </p:scale>
        <p:origin x="1976" y="176"/>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3648"/>
    </p:cViewPr>
  </p:sorterViewPr>
  <p:notesViewPr>
    <p:cSldViewPr snapToGrid="0">
      <p:cViewPr>
        <p:scale>
          <a:sx n="90" d="100"/>
          <a:sy n="90" d="100"/>
        </p:scale>
        <p:origin x="-2682" y="600"/>
      </p:cViewPr>
      <p:guideLst>
        <p:guide orient="horz" pos="2920"/>
        <p:guide pos="22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rn, John" userId="231099543_tp_box_2" providerId="OAuth2" clId="{6933D402-58F8-AD41-B8AB-596E06461FAD}"/>
    <pc:docChg chg="modSld">
      <pc:chgData name="Horn, John" userId="231099543_tp_box_2" providerId="OAuth2" clId="{6933D402-58F8-AD41-B8AB-596E06461FAD}" dt="2023-01-10T05:01:44.423" v="3" actId="20577"/>
      <pc:docMkLst>
        <pc:docMk/>
      </pc:docMkLst>
      <pc:sldChg chg="modSp mod">
        <pc:chgData name="Horn, John" userId="231099543_tp_box_2" providerId="OAuth2" clId="{6933D402-58F8-AD41-B8AB-596E06461FAD}" dt="2023-01-10T05:01:44.423" v="3" actId="20577"/>
        <pc:sldMkLst>
          <pc:docMk/>
          <pc:sldMk cId="4083374230" sldId="475"/>
        </pc:sldMkLst>
      </pc:sldChg>
    </pc:docChg>
  </pc:docChgLst>
  <pc:docChgLst>
    <pc:chgData name="Horn, John" userId="231099543_tp_box_2" providerId="OAuth2" clId="{24C036B7-F590-BA44-BC1D-6CA679828D43}"/>
    <pc:docChg chg="addSld modSld">
      <pc:chgData name="Horn, John" userId="231099543_tp_box_2" providerId="OAuth2" clId="{24C036B7-F590-BA44-BC1D-6CA679828D43}" dt="2023-01-13T20:55:24.886" v="6" actId="207"/>
      <pc:docMkLst>
        <pc:docMk/>
      </pc:docMkLst>
      <pc:sldChg chg="add">
        <pc:chgData name="Horn, John" userId="231099543_tp_box_2" providerId="OAuth2" clId="{24C036B7-F590-BA44-BC1D-6CA679828D43}" dt="2023-01-13T20:52:23.478" v="0"/>
        <pc:sldMkLst>
          <pc:docMk/>
          <pc:sldMk cId="0" sldId="284"/>
        </pc:sldMkLst>
      </pc:sldChg>
      <pc:sldChg chg="add">
        <pc:chgData name="Horn, John" userId="231099543_tp_box_2" providerId="OAuth2" clId="{24C036B7-F590-BA44-BC1D-6CA679828D43}" dt="2023-01-13T20:52:23.478" v="0"/>
        <pc:sldMkLst>
          <pc:docMk/>
          <pc:sldMk cId="0" sldId="285"/>
        </pc:sldMkLst>
      </pc:sldChg>
      <pc:sldChg chg="add">
        <pc:chgData name="Horn, John" userId="231099543_tp_box_2" providerId="OAuth2" clId="{24C036B7-F590-BA44-BC1D-6CA679828D43}" dt="2023-01-13T20:52:23.478" v="0"/>
        <pc:sldMkLst>
          <pc:docMk/>
          <pc:sldMk cId="1831234908" sldId="310"/>
        </pc:sldMkLst>
      </pc:sldChg>
      <pc:sldChg chg="add">
        <pc:chgData name="Horn, John" userId="231099543_tp_box_2" providerId="OAuth2" clId="{24C036B7-F590-BA44-BC1D-6CA679828D43}" dt="2023-01-13T20:54:07.721" v="1"/>
        <pc:sldMkLst>
          <pc:docMk/>
          <pc:sldMk cId="0" sldId="393"/>
        </pc:sldMkLst>
      </pc:sldChg>
      <pc:sldChg chg="add">
        <pc:chgData name="Horn, John" userId="231099543_tp_box_2" providerId="OAuth2" clId="{24C036B7-F590-BA44-BC1D-6CA679828D43}" dt="2023-01-13T20:54:57.760" v="3"/>
        <pc:sldMkLst>
          <pc:docMk/>
          <pc:sldMk cId="0" sldId="407"/>
        </pc:sldMkLst>
      </pc:sldChg>
      <pc:sldChg chg="add">
        <pc:chgData name="Horn, John" userId="231099543_tp_box_2" providerId="OAuth2" clId="{24C036B7-F590-BA44-BC1D-6CA679828D43}" dt="2023-01-13T20:54:24.363" v="2"/>
        <pc:sldMkLst>
          <pc:docMk/>
          <pc:sldMk cId="0" sldId="474"/>
        </pc:sldMkLst>
      </pc:sldChg>
      <pc:sldChg chg="add">
        <pc:chgData name="Horn, John" userId="231099543_tp_box_2" providerId="OAuth2" clId="{24C036B7-F590-BA44-BC1D-6CA679828D43}" dt="2023-01-13T20:54:57.760" v="3"/>
        <pc:sldMkLst>
          <pc:docMk/>
          <pc:sldMk cId="549242011" sldId="477"/>
        </pc:sldMkLst>
      </pc:sldChg>
      <pc:sldChg chg="add">
        <pc:chgData name="Horn, John" userId="231099543_tp_box_2" providerId="OAuth2" clId="{24C036B7-F590-BA44-BC1D-6CA679828D43}" dt="2023-01-13T20:54:07.721" v="1"/>
        <pc:sldMkLst>
          <pc:docMk/>
          <pc:sldMk cId="254057766" sldId="510"/>
        </pc:sldMkLst>
      </pc:sldChg>
      <pc:sldChg chg="modSp add mod">
        <pc:chgData name="Horn, John" userId="231099543_tp_box_2" providerId="OAuth2" clId="{24C036B7-F590-BA44-BC1D-6CA679828D43}" dt="2023-01-13T20:55:24.886" v="6" actId="207"/>
        <pc:sldMkLst>
          <pc:docMk/>
          <pc:sldMk cId="3278067552" sldId="512"/>
        </pc:sldMkLst>
      </pc:sldChg>
    </pc:docChg>
  </pc:docChgLst>
  <pc:docChgLst>
    <pc:chgData name="Horn, John" userId="231099543_tp_box_2" providerId="OAuth2" clId="{9388A141-2B97-254C-BA95-42817F39423D}"/>
    <pc:docChg chg="custSel modSld">
      <pc:chgData name="Horn, John" userId="231099543_tp_box_2" providerId="OAuth2" clId="{9388A141-2B97-254C-BA95-42817F39423D}" dt="2023-01-13T22:21:36.456" v="103" actId="313"/>
      <pc:docMkLst>
        <pc:docMk/>
      </pc:docMkLst>
      <pc:sldChg chg="modSp mod">
        <pc:chgData name="Horn, John" userId="231099543_tp_box_2" providerId="OAuth2" clId="{9388A141-2B97-254C-BA95-42817F39423D}" dt="2023-01-13T22:18:23.572" v="67" actId="14100"/>
        <pc:sldMkLst>
          <pc:docMk/>
          <pc:sldMk cId="0" sldId="263"/>
        </pc:sldMkLst>
      </pc:sldChg>
      <pc:sldChg chg="modSp">
        <pc:chgData name="Horn, John" userId="231099543_tp_box_2" providerId="OAuth2" clId="{9388A141-2B97-254C-BA95-42817F39423D}" dt="2023-01-13T22:18:08.137" v="53" actId="20577"/>
        <pc:sldMkLst>
          <pc:docMk/>
          <pc:sldMk cId="0" sldId="264"/>
        </pc:sldMkLst>
      </pc:sldChg>
      <pc:sldChg chg="modSp mod">
        <pc:chgData name="Horn, John" userId="231099543_tp_box_2" providerId="OAuth2" clId="{9388A141-2B97-254C-BA95-42817F39423D}" dt="2023-01-13T22:17:54.075" v="50" actId="1038"/>
        <pc:sldMkLst>
          <pc:docMk/>
          <pc:sldMk cId="0" sldId="265"/>
        </pc:sldMkLst>
      </pc:sldChg>
      <pc:sldChg chg="modSp mod">
        <pc:chgData name="Horn, John" userId="231099543_tp_box_2" providerId="OAuth2" clId="{9388A141-2B97-254C-BA95-42817F39423D}" dt="2023-01-13T22:17:32.072" v="36" actId="1037"/>
        <pc:sldMkLst>
          <pc:docMk/>
          <pc:sldMk cId="0" sldId="266"/>
        </pc:sldMkLst>
      </pc:sldChg>
      <pc:sldChg chg="modSp">
        <pc:chgData name="Horn, John" userId="231099543_tp_box_2" providerId="OAuth2" clId="{9388A141-2B97-254C-BA95-42817F39423D}" dt="2023-01-13T22:17:03.632" v="23" actId="313"/>
        <pc:sldMkLst>
          <pc:docMk/>
          <pc:sldMk cId="0" sldId="268"/>
        </pc:sldMkLst>
      </pc:sldChg>
      <pc:sldChg chg="modSp">
        <pc:chgData name="Horn, John" userId="231099543_tp_box_2" providerId="OAuth2" clId="{9388A141-2B97-254C-BA95-42817F39423D}" dt="2023-01-13T22:19:16.854" v="68" actId="20577"/>
        <pc:sldMkLst>
          <pc:docMk/>
          <pc:sldMk cId="0" sldId="396"/>
        </pc:sldMkLst>
      </pc:sldChg>
      <pc:sldChg chg="modSp">
        <pc:chgData name="Horn, John" userId="231099543_tp_box_2" providerId="OAuth2" clId="{9388A141-2B97-254C-BA95-42817F39423D}" dt="2023-01-13T22:16:45.326" v="2" actId="313"/>
        <pc:sldMkLst>
          <pc:docMk/>
          <pc:sldMk cId="0" sldId="397"/>
        </pc:sldMkLst>
      </pc:sldChg>
      <pc:sldChg chg="modSp">
        <pc:chgData name="Horn, John" userId="231099543_tp_box_2" providerId="OAuth2" clId="{9388A141-2B97-254C-BA95-42817F39423D}" dt="2023-01-13T22:21:32.677" v="101" actId="313"/>
        <pc:sldMkLst>
          <pc:docMk/>
          <pc:sldMk cId="0" sldId="401"/>
        </pc:sldMkLst>
      </pc:sldChg>
      <pc:sldChg chg="modSp">
        <pc:chgData name="Horn, John" userId="231099543_tp_box_2" providerId="OAuth2" clId="{9388A141-2B97-254C-BA95-42817F39423D}" dt="2023-01-13T22:21:34.663" v="102" actId="313"/>
        <pc:sldMkLst>
          <pc:docMk/>
          <pc:sldMk cId="0" sldId="402"/>
        </pc:sldMkLst>
      </pc:sldChg>
      <pc:sldChg chg="modSp mod">
        <pc:chgData name="Horn, John" userId="231099543_tp_box_2" providerId="OAuth2" clId="{9388A141-2B97-254C-BA95-42817F39423D}" dt="2023-01-13T22:21:20.925" v="95" actId="313"/>
        <pc:sldMkLst>
          <pc:docMk/>
          <pc:sldMk cId="0" sldId="403"/>
        </pc:sldMkLst>
      </pc:sldChg>
      <pc:sldChg chg="modSp">
        <pc:chgData name="Horn, John" userId="231099543_tp_box_2" providerId="OAuth2" clId="{9388A141-2B97-254C-BA95-42817F39423D}" dt="2023-01-13T22:21:36.456" v="103" actId="313"/>
        <pc:sldMkLst>
          <pc:docMk/>
          <pc:sldMk cId="0" sldId="404"/>
        </pc:sldMkLst>
      </pc:sldChg>
    </pc:docChg>
  </pc:docChgLst>
  <pc:docChgLst>
    <pc:chgData name="Horn, John" userId="231099543_tp_box_2" providerId="OAuth2" clId="{A06A7F95-1BAB-A54F-B8C6-A969C04C2BD9}"/>
    <pc:docChg chg="delSld">
      <pc:chgData name="Horn, John" userId="231099543_tp_box_2" providerId="OAuth2" clId="{A06A7F95-1BAB-A54F-B8C6-A969C04C2BD9}" dt="2023-01-14T03:08:21.290" v="1" actId="2696"/>
      <pc:docMkLst>
        <pc:docMk/>
      </pc:docMkLst>
      <pc:sldChg chg="del">
        <pc:chgData name="Horn, John" userId="231099543_tp_box_2" providerId="OAuth2" clId="{A06A7F95-1BAB-A54F-B8C6-A969C04C2BD9}" dt="2023-01-14T03:08:21.290" v="1" actId="2696"/>
        <pc:sldMkLst>
          <pc:docMk/>
          <pc:sldMk cId="549242011" sldId="477"/>
        </pc:sldMkLst>
      </pc:sldChg>
      <pc:sldChg chg="del">
        <pc:chgData name="Horn, John" userId="231099543_tp_box_2" providerId="OAuth2" clId="{A06A7F95-1BAB-A54F-B8C6-A969C04C2BD9}" dt="2023-01-14T03:08:21.246" v="0" actId="2696"/>
        <pc:sldMkLst>
          <pc:docMk/>
          <pc:sldMk cId="3278067552" sldId="512"/>
        </pc:sldMkLst>
      </pc:sldChg>
    </pc:docChg>
  </pc:docChgLst>
  <pc:docChgLst>
    <pc:chgData name="Horn, John" userId="231099543_tp_box_2" providerId="OAuth2" clId="{1F25DE9A-EA5A-B349-BD4B-41A75E74C474}"/>
    <pc:docChg chg="modSld">
      <pc:chgData name="Horn, John" userId="231099543_tp_box_2" providerId="OAuth2" clId="{1F25DE9A-EA5A-B349-BD4B-41A75E74C474}" dt="2023-02-26T00:56:08.024" v="6" actId="20577"/>
      <pc:docMkLst>
        <pc:docMk/>
      </pc:docMkLst>
      <pc:sldChg chg="modSp mod">
        <pc:chgData name="Horn, John" userId="231099543_tp_box_2" providerId="OAuth2" clId="{1F25DE9A-EA5A-B349-BD4B-41A75E74C474}" dt="2023-02-26T00:56:08.024" v="6" actId="20577"/>
        <pc:sldMkLst>
          <pc:docMk/>
          <pc:sldMk cId="740106004" sldId="53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2958" tIns="46479" rIns="92958" bIns="46479" numCol="1" anchor="t" anchorCtr="0" compatLnSpc="1">
            <a:prstTxWarp prst="textNoShape">
              <a:avLst/>
            </a:prstTxWarp>
          </a:bodyPr>
          <a:lstStyle>
            <a:lvl1pPr defTabSz="930275">
              <a:defRPr sz="1200">
                <a:latin typeface="Arial" charset="0"/>
                <a:ea typeface="+mn-ea"/>
                <a:cs typeface="Arial" charset="0"/>
              </a:defRPr>
            </a:lvl1pPr>
          </a:lstStyle>
          <a:p>
            <a:pPr>
              <a:defRPr/>
            </a:pPr>
            <a:endParaRPr lang="en-US" dirty="0">
              <a:latin typeface="Source Sans Pro" panose="020B0503030403020204" pitchFamily="34" charset="0"/>
            </a:endParaRPr>
          </a:p>
        </p:txBody>
      </p:sp>
      <p:sp>
        <p:nvSpPr>
          <p:cNvPr id="26627" name="Rectangle 3"/>
          <p:cNvSpPr>
            <a:spLocks noGrp="1" noChangeArrowheads="1"/>
          </p:cNvSpPr>
          <p:nvPr>
            <p:ph type="dt" sz="quarter" idx="1"/>
          </p:nvPr>
        </p:nvSpPr>
        <p:spPr bwMode="auto">
          <a:xfrm>
            <a:off x="3963988" y="0"/>
            <a:ext cx="3032125" cy="463550"/>
          </a:xfrm>
          <a:prstGeom prst="rect">
            <a:avLst/>
          </a:prstGeom>
          <a:noFill/>
          <a:ln w="9525">
            <a:noFill/>
            <a:miter lim="800000"/>
            <a:headEnd/>
            <a:tailEnd/>
          </a:ln>
          <a:effectLst/>
        </p:spPr>
        <p:txBody>
          <a:bodyPr vert="horz" wrap="square" lIns="92958" tIns="46479" rIns="92958" bIns="46479" numCol="1" anchor="t" anchorCtr="0" compatLnSpc="1">
            <a:prstTxWarp prst="textNoShape">
              <a:avLst/>
            </a:prstTxWarp>
          </a:bodyPr>
          <a:lstStyle>
            <a:lvl1pPr algn="r" defTabSz="930275">
              <a:defRPr sz="1200">
                <a:latin typeface="Arial" charset="0"/>
                <a:ea typeface="+mn-ea"/>
                <a:cs typeface="Arial" charset="0"/>
              </a:defRPr>
            </a:lvl1pPr>
          </a:lstStyle>
          <a:p>
            <a:pPr>
              <a:defRPr/>
            </a:pPr>
            <a:endParaRPr lang="en-US" dirty="0">
              <a:latin typeface="Source Sans Pro" panose="020B0503030403020204" pitchFamily="34" charset="0"/>
            </a:endParaRPr>
          </a:p>
        </p:txBody>
      </p:sp>
      <p:sp>
        <p:nvSpPr>
          <p:cNvPr id="26628" name="Rectangle 4"/>
          <p:cNvSpPr>
            <a:spLocks noGrp="1" noChangeArrowheads="1"/>
          </p:cNvSpPr>
          <p:nvPr>
            <p:ph type="ftr" sz="quarter" idx="2"/>
          </p:nvPr>
        </p:nvSpPr>
        <p:spPr bwMode="auto">
          <a:xfrm>
            <a:off x="0" y="8805863"/>
            <a:ext cx="3032125" cy="463550"/>
          </a:xfrm>
          <a:prstGeom prst="rect">
            <a:avLst/>
          </a:prstGeom>
          <a:noFill/>
          <a:ln w="9525">
            <a:noFill/>
            <a:miter lim="800000"/>
            <a:headEnd/>
            <a:tailEnd/>
          </a:ln>
          <a:effectLst/>
        </p:spPr>
        <p:txBody>
          <a:bodyPr vert="horz" wrap="square" lIns="92958" tIns="46479" rIns="92958" bIns="46479" numCol="1" anchor="b" anchorCtr="0" compatLnSpc="1">
            <a:prstTxWarp prst="textNoShape">
              <a:avLst/>
            </a:prstTxWarp>
          </a:bodyPr>
          <a:lstStyle>
            <a:lvl1pPr defTabSz="930275">
              <a:defRPr sz="1200">
                <a:latin typeface="Arial" charset="0"/>
                <a:ea typeface="+mn-ea"/>
                <a:cs typeface="Arial" charset="0"/>
              </a:defRPr>
            </a:lvl1pPr>
          </a:lstStyle>
          <a:p>
            <a:pPr>
              <a:defRPr/>
            </a:pPr>
            <a:endParaRPr lang="en-US" dirty="0">
              <a:latin typeface="Source Sans Pro" panose="020B0503030403020204" pitchFamily="34" charset="0"/>
            </a:endParaRPr>
          </a:p>
        </p:txBody>
      </p:sp>
      <p:sp>
        <p:nvSpPr>
          <p:cNvPr id="26629" name="Rectangle 5"/>
          <p:cNvSpPr>
            <a:spLocks noGrp="1" noChangeArrowheads="1"/>
          </p:cNvSpPr>
          <p:nvPr>
            <p:ph type="sldNum" sz="quarter" idx="3"/>
          </p:nvPr>
        </p:nvSpPr>
        <p:spPr bwMode="auto">
          <a:xfrm>
            <a:off x="3963988" y="8805863"/>
            <a:ext cx="3032125" cy="463550"/>
          </a:xfrm>
          <a:prstGeom prst="rect">
            <a:avLst/>
          </a:prstGeom>
          <a:noFill/>
          <a:ln w="9525">
            <a:noFill/>
            <a:miter lim="800000"/>
            <a:headEnd/>
            <a:tailEnd/>
          </a:ln>
          <a:effectLst/>
        </p:spPr>
        <p:txBody>
          <a:bodyPr vert="horz" wrap="square" lIns="92958" tIns="46479" rIns="92958" bIns="46479" numCol="1" anchor="b" anchorCtr="0" compatLnSpc="1">
            <a:prstTxWarp prst="textNoShape">
              <a:avLst/>
            </a:prstTxWarp>
          </a:bodyPr>
          <a:lstStyle>
            <a:lvl1pPr algn="r" defTabSz="930275">
              <a:defRPr sz="1200">
                <a:cs typeface="Arial" pitchFamily="34" charset="0"/>
              </a:defRPr>
            </a:lvl1pPr>
          </a:lstStyle>
          <a:p>
            <a:fld id="{EEF5ECFE-C100-4D83-A7A9-E3B01F157D53}" type="slidenum">
              <a:rPr lang="en-US" altLang="en-US">
                <a:latin typeface="Source Sans Pro" panose="020B0503030403020204" pitchFamily="34" charset="0"/>
              </a:rPr>
              <a:pPr/>
              <a:t>‹#›</a:t>
            </a:fld>
            <a:endParaRPr lang="en-US" altLang="en-US" dirty="0">
              <a:latin typeface="Source Sans Pro" panose="020B0503030403020204" pitchFamily="34" charset="0"/>
            </a:endParaRPr>
          </a:p>
        </p:txBody>
      </p:sp>
    </p:spTree>
    <p:extLst>
      <p:ext uri="{BB962C8B-B14F-4D97-AF65-F5344CB8AC3E}">
        <p14:creationId xmlns:p14="http://schemas.microsoft.com/office/powerpoint/2010/main" val="244123010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15101 13694 7928,'-13'-19'5702,"6"5"-5089,1 1 1,6 14 0,1 11 0,4 4 0,3 1 0,4 0 0,1 0 0,-1-1-303,1-2 0,-1-1 1,-2 0-1,-2-1 1,1-2-1,0-3-196,-1-1 0,-3-2 0,2-6 1,-3-3 300,-5-8 0,-11 0 0,-11-4 0,-4 2 252,-3 2 1,-6 6 0,2 3 0,-2 4 196,1 4 1,4 15-1,5 11 1,2 9-866,2 8 0,9 12 0,9 13 0,2-1 0,2-2 0,13-4 0,9-5 0,8-14 0,9-12 0,1-12 0,3-9 0,4-8 0,2-6 0,-2-9 0,-4-12 0,-8-9-121,-5-12 1,1-10-136,-1-12 1,-4-1 0,-15 30-1,-2-1 1,1 0 0,-1-1-1,-1 0 1,0-1 0,-1-2-1,0 0-113,0-1 0,-1-2 0,-2 1 0,-1-1 0,0 1 0,0 1 0,-1 3 0,0 1 110,3-33 1,-1 14 1017,-4 10-372,0 14 0,4 23 0,2 16 0,0 14 1,-1 13-1,-2 11 1204,-1 12 0,-2 10-1591,0-26 0,0 2 0,0-2 0,0 0 0,0 3 0,0 0 0,0-3 0,0 0 0,0 1 0,0 0 0,0-2 0,0-1 0,0 36 0,0-7 0,0-5 0,0-12 0,0-11 0,0-9 0,0-7 0,0-10 0,0-15 0,0-11 0,4-7 0,0-10 0,6-3 0,-1-7 0,2 0 0,2 0 0,0 4 0,0 3 0,0 6 0,0 9 0,1 3 0,3 10 0,-1 1 0,4 7 0,0 5 0,-1 10 0,0 6 0,-4 6 0,0 2 0,-2 2 0,0-2 0,-1-7 0,1-4 0,2-4 0,0-4 0,3-5 0,-3-3-697,0-4 1,-1-13 0,2-5-1,3-7-516,1-6 0,-3 1 1084,4-5 0,-1 6 192,2 3 0,-3 0 0,-6 8 1,-1 1-1,0 2 790,-4 1 1,0 6-338,-4 3-305,-3 2 1,-1 4-1,-8 2 1,-4 4-1,-1 4 380,1 1 0,-6 5-371,1 4 0,0 2-178,4 2 0,0 1 0,2 2 0,1 1 0,2-1 0,3-2-42,2-1 0,1-2 0,4-2 0,2-6 0,5-6 0,4 0 0,2-6 0,4-3-412,1-3 0,2-11 55,3-9 1,0-7 196,-4-1 0,2-4 1,-6 4-1,-1 1 1,-1 3-1,-4 3 397,-2 2 1,-4 9-1,-3 1 1,1 2 563,1 2-623,0 4 0,-4-1-112,0 8 0,0-1 1,0 6-200,0 1 1,0-3-1110,0 2-252,0-7 698,0 4 940,6-6 1,-5 2 491,4 2-467,-4-3-495,-1 5 0,0-7-433,0-4 345,0 4 269,0-11 0,0 5 1,0-6 370,0 0 0,0 5 32,0-1 131,0 6-40,0-8 1,0 8 509,0-6-463,0 7-248,0-10 1,0 9-51,0-5-258,0 5 126,0-3 289,0 6 0,0 1 207,0 4 0,0 2 1,0 6-463,0 0 0,2 4 0,0 2 0,4-1 0,1 1 0,-2 2 0,3-2 0,1 0 0,-2-1 0,5-2 0,-4-7 0,4 1 0,1-6 0,4-1 0,0-7 0,-1-6 0,0-6 0,-1-7 0,2-6 0,1 3 0,-5-1 0,0 6 0,-1 2 0,-3 3 0,0 8 0,-5 2 0,5 6 0,-7 1 0,3 4 0,-4 5 0,-1 5 0,0 7 0,0 2 0,0 2 0,0 0 0,-1-2 0,-4-2 0,4 1 0,-3-6 0,2-1 0,2-8 0,0-3 0,0-10 0,0-2 0,2-7 0,2-3 0,5-3 0,2-1 0,2 4 0,0 3 0,1 2 0,2 2 0,1 2 0,6 5 0,-1-1 0,-2 2 0,1 2 0,1 2 0,4 0 0,-1 4 0,1 0 0,0 0 0,0-3 0,-5-2 0,-1-1 0,-1 0 0,-3 0 0,-2-6 0,-1-2 0,0-5 0,0-4 0,-6 2 0,-3-2 0,-2-3 0,-2 6 0,-2-2 0,-2 6 0,-3 10 0,-6 8 0,0 5 0,0 4 0,0-1 0,0 6 0,2-2 0,2 1 0,-1 2 0,6-5 0,1-1 0,2 0 0,1 0 0,1-1-155,3-7 0,5-9 0,7-11 0,1-4-149,-1-7 1,4 2 236,1-1 1,-1 6 292,2 2 1,-1 6 0,5 9-1,0 3 1,0 11 0,-2 11-227,-2 11 0,-2 15 0,-6 3 0,0 7 0,-2 6 0,-3-5 0,-1 1 0,-2-8 0,-6-10 0,-2-4 0,-3-8 0,-7-7 0,-5-5 0,-3-7 0,-3-6 0,3-4 0,0-6 0,1-1 0,3-4 0,2-6 0,3-8 0,1-1 0,1-3 0,6-6 0,-1-1 0,4 2 0,4 0 0,3 3 0,6-1 0,2 0 0,2 0 0,-1 2 0,5 2 0,-1-2 0,2 2 0,2-6 0,-2-1 0,2 3 0,2 3 0,0 0 0,-1-1 0,-5-2 0,-2 0 0,-4 2 0,-1 2 0,-6-1-3,-3 6 6,4 0-3,-7 4 0,5 12 0,-8 4 0,-1 4 0,-1 1 0,0 1 0,2 4 0,-1 0 0,-1 0 0,0 0 0,4-1 0,0 1 0,0-4 0,0 0 0,0-7 0,1 6 0,4-4 0,-3-3 0,6 5 0,-1-2 0,0 1 0,-3 3 0,5-2 0,1 1 0,1 0 0,2 2 0,0-3-750,0-1 1,1-3 0,2 2 749,1-2 0,12-8 0,-2-1 0</inkml:trace>
  <inkml:trace contextRef="#ctx0" brushRef="#br0">18301 13642 7816,'-20'-6'1418,"2"6"0,5 2 1,1 12 2662,4 15 1,2 11-3377,6 16 1,0 4-1,1 9 1,2-33 0,0 1-1,2 1 1,2-1 0,1 0-1,1-1-184,11 33 1,0-15 0,3-8 0,-3-10-522,-1-10 0,-2-6 0,-10-20 0,-3-9 0,-8-9 0,-5-13 0,-3-3 0,-4-10 0,0-9 0,3-13 0,8 27 0,1-1-218,1-4 1,1-1 0,0-2 0,2-1 0,3 1-1,1 0 1,3-3 0,2 1 587,2-2 0,1 0 0,1 1 0,3 1-478,2 3 1,3 1-1,-3 7 1,2 3 107,19-12 0,-5 15 0,-1 20 0,-2 7 0,-6 11 0,-3 11 0,-3 12 0,-4 7 0,-5 5 0,-3 5 0,-1 6 0,-3 2 0,-7-2 0,-5-2 0,-2-3 0,-6 2 0,-2-6 0,-1-3 0,-3-4 0,0-10 0,0-7 0,1-1 0,7-9 0,2 8 0,10-10 0,7 3 172,9 3 0,4-3 0,6 7 0,-1-1-172,1 1 0,3-2 0,2 2 0,4-3 0,1-1 0,1-6 0,3-2 0,-1-4 0,-1-1 0,-1-7 0,5-6 0,-2-8 0,-2-8 0,-4-3 0,-7-3 0,-2 0 0,-5-1 0,-4 5 0,-4 2 0,-5 6 0,-3 6 0,-2 4 0,-3 4 0,-5 5 0,-2 14 0,-4 7 0,0 8 0,-3 5 0,1 3 0,6 4 0,1-1 0,1-2 0,6 1 0,0 3 0,6 0 0,6-4 0,4-4 0,2-8 0,4-5 0,1-3 0,2-8 0,3-7 0,0-11 0,-4-8 0,4-7 0,-5-6 0,1-6 0,1-1 0,-6 0 0,1 3 0,-1 2 0,1 5 0,-7 6 0,3 5 0,-2 8 0,1 3 0,2 7 0,2 10 0,2 8 0,2 6 0,-2 10 0,3 4 0,2 6 0,2 3 0,-1-5 0,-1 2 0,-2-4 0,2-4 0,-3-10 0,0-7 0,1-5 0,-1-5 0,-5-8 0,3-8 0,-4-11 0,-1-7 0,0-7 0,0-8 0,-2-4 0,-1-1 0,-3-3 0,-1-1 0,3 6 0,-5 5 0,0 3 0,-4 10 0,5-1 0,0 11-3708,3 5 1,-6 9-220,3 11 3927,-4 3 0,-1 6 0,0 2 0</inkml:trace>
  <inkml:trace contextRef="#ctx0" brushRef="#br0">15359 14972 7950,'-23'-28'2190,"6"0"0,9 3 0,16 9 1,19 11 7639,23 3-9757,-10 0 0,3-1 1,12-1-1,3 0 1,-11 0-1,2 0 1,2-1-1,5 1 1,1 0-1,2 0 0,7-1 1,1 1-1,2 0 1,-13 1-1,1 0 1,0 0-1,1 0 1,3 1-1,0-1 1,1 1-1,-1 1 0,2-1 1,0 1-1,1 1 1,-1 0-1,-1 0 1,1 1-1,-1 0 1,0 1-312,-1 1 0,0 0 1,-1 0-1,1 1 1,-1 0-1,1 0 1,-1 1-1,-1 1 1,-2 0-1,-2 0 0,0 1 1,-1-1-1,18 3 1,-1-1-1,-1 0 238,-4-1 0,0 0 0,-1 0 0,-4 0 0,-1-2 0,0 0 0,0-1 0,-1 0 0,0-1 0,-2-1 0,-1 1 0,0 0 0,0 0 0,0 1 0,-1-1 0,17 1 0,-2-1 0,-6 1 0,-1 1 0,-7 0 0,-1 0-821,-4 1 0,-2-1 0,-5 0 0,-1-1 1,-1 0-1,-2 1 0,28 3-3441,-17-1 4262,-14-1 0,-11-6 0,-7 0 0</inkml:trace>
  <inkml:trace contextRef="#ctx0" brushRef="#br0">15578 15630 7963,'-17'0'1530,"0"0"1,1 0 0,3 1 0,4 4 1549,5 3 1,8 4 0,5-1-2801,3-2 1,0-4 0,1-5-1,0-1 1,-1-3-125,-4-5 1,2-2-1,-5-2 1,-4 0 131,-4 0 1,-4 1 184,-6 4 1,0 3-176,0 10 0,-4 9 1,1 15-1,3 12 0,5 14 1,4 7-299,5 2 0,8-1 0,12-3 0,9-7 0,6-8 0,7-15 0,2-17 0,-1-12 0,0-12 0,2-13 0,-6-24 0,-4-8 0,-3-5 0,-17 26 0,-2-1 0,0-1 0,-2 0 0,1-2 0,-1-1 0,-1-1 0,-1 0 0,0 0 0,-3 0 0,-2 3 0,-1-1 0,-1 0 0,-2 1 0,0-2 0,0 2 0,3-29 0,0 11 0,2 33 0,-2 36 0,4 23 0,-1 15 0,4 15 0,-7-28 0,-1 2 0,2 3 0,-1 1 0,1 5 0,-1 0 0,-3-3 0,0 1 0,2 2 0,0 1 0,-1-4 0,0 0 0,1-3 0,-1 0 0,0-6 0,0-1 0,-1 24 0,2-11 0,2-16 0,0-16 0,0-13 0,-4-10 0,3-6 0,-2-8 0,-2-5 0,0-8 0,0-4 0,0-5 0,0 1 0,0 1 0,0 2 0,1 5 0,4 7 0,-3 8 0,7 9 0,1 5 0,2 2 0,2 10 0,3 5 0,3 7 0,0 4 0,0 2 0,-2 0 0,-3-1 0,7 1 0,-6-6 0,2-4 0,-1-6 0,2-6 0,1-4 0,3-4 0,2-10 0,0-12 0,-3-6 0,-1-6 0,1-2 0,4-2 0,-2 0 0,-2 7 0,-7 7 0,-5 10 0,2 5 0,-4 4 0,-2 5 0,-2 8 0,-2 8 0,-2 5 0,0 6 0,0-3 0,0 1 0,0 1 0,0-1 0,0-1 0,0-1 0,0-5 0,0 4 0,0-4 0,0 3 0,4-7 0,1-1 0,5-6 0,-2 1 0,4-3 0,1-1 0,-5-5 0,1-4 0,1-2 0,1-2 0,2 1 0,0 2 0,0 2 0,0-2 0,0 4 0,-2 0 0,-1 2 0,-1-1 0,0 1 0,3 4 0,1 0 0,0 6 0,-4 0 0,-1 2 0,-3 2 0,3-5 0,-5-1 0,9-4 0,-9 0 0,5-2 0,2 0 0,0-4 0,-1-1 0,2 4 0,-2-1 0,2 2 0,2 2 0,0 0 0,0 0 0,0 0 0,-4 0 0,-1 0 0,1 0 0,4 0 0,0 0 0,0 0 0,-5 0 0,1 0 0,-2-1 0,3-2 0,-1-2 0,-1 1 0,5 4 0,0 0 0,0 0 0,0 0 0,0 0 0,0 0 0,0 0 0,-1-1 0,1-4 0,0 3 0,0-6 0,0 1 0,0 0 0,4 0 0,0-3 0,-1 1 0,-1-1 0,-3-1 0,1-2 0,-1 0 0,-4 0 0,4 0 0,-4 0 0,4 0 0,-5 6 0,-3 3 0,-8 8 0,-2 3 0,-4 8 0,2 2 0,-2 4 0,-2 4 0,-1 1 0,5-1 0,1 1 0,1 0 0,3 0 0,2 0 0,1-1 0,0-4 0,0-4 0,1-4 0,3-5 0,6-5 0,5-6 0,2-5 0,1-8 0,0-1 0,-3-1 0,7 6 0,-5 4 0,5 4 0,-1 4 0,1 4 0,-2 8 0,-2 8 0,1 4 0,-5 15 0,1 5 0,-4 5 0,-6 7 0,-1 0 0,-3-3 0,-1-4 0,0-10 0,0-9 0,0-3 0,-5-13 0,-4-7 0,-1-8 0,1-9 0,5-6 0,-2-10 0,2-8 0,1-8 0,7-1 0,4-5 0,4 2 0,3 0 0,1 3 0,2 3 0,2 1 0,6 0 0,3 2 0,-3 3 0,-3 3 0,-8 6 0,3 2 0,-4 3 0,-1 1 0,-6 6 0,-4 6 0,-6 1 0,0 2 0,-6 4 0,1 1 0,-5 4 0,0 3 0,2 8 0,1 3 0,2 1 0,3 1 0,2-1 0,1 5 0,2-4 0,6 2 0,3-1 0,2-2 0,3-5 0,5 1 0,5-4 0,8-7-8015,5-3 8015,11-2 0,16-12 0,8-2 0</inkml:trace>
  <inkml:trace contextRef="#ctx0" brushRef="#br0">18998 15423 7762,'-14'-10'0,"-3"-1"0,-3 1 9830,0 4-8426,-5 5 0,11 8 0,-5 8 1,2 14-1,0 14 0,3 10 1,4 9-1197,5 5 0,12 1 0,0-32 0,2-1 0,4 0 1,1-1-209,22 29 0,2-11-205,9-13 0,-1-12 205,1-10 0,-2-8 0,-8-8 0,-3-8 0,-4-12 0,-2-9 0,-3-11 0,1-7 0,0-10 0,-6-4 0,-3-9 0,-11 32 0,-2-2 0,0-2 0,0-1 0,-1-1 0,-1-2 0,0-1 0,-1-2 0,0-2 0,-2-1 0,-1 1 0,0 0 0,-1 2 0,-1 1 0,-2 7 0,-1 2 0,-8-27 0,-2 15 0,3 25-762,-3 13 1,2 10-2319,2 11 1,-5 14 0,-2 20 3079,0 11 0,-10 2 0,2 1 0</inkml:trace>
  <inkml:trace contextRef="#ctx0" brushRef="#br0">19115 15630 18045,'8'8'7627,"1"0"-6878,1-3 1,7 5 0,5-1 0,3 4-750,5 4 0,5 3 0,8 6 0,-3 0-461,3 0 1,1-1 0,0 1 0,-4-1 0,-4-5 460,-6-7 0,-3-6 0,-1-7 0</inkml:trace>
  <inkml:trace contextRef="#ctx0" brushRef="#br0">8054 13474 8020,'-13'0'1027,"0"0"1,3 0 0,7-1-1,13-2 1,13-1 310,10 1 1,11-3 0,8 0 0,8 1-470,8-1 0,3 0-781,-32 4 1,0 0-1,32 1 1,-5-4 0,-7 4-1,-10 1 1,-9 0 967,-11 0-572,-8 0 0,-15 0 0,-7 0 0,-9 0 58,-6 0 1,-7-2-442,1-2 1,-6 3-13,-2-4 1,-8 0 0,0 0-1,-10 2 1,-6 1 0,-5-1 465,0-2 1,-3 1-196,7 4 0,-1 0-169,4 0 1,8 1 0,6 4 0,11 2 0,8 2 0,6-1-192,5 2 0,5 2 0,12 1 0,6-5 0,15 1 0,6-1 0,13 5 0,11-1 0,12-2 0,-33-6 0,1-1 0,1 0 0,0 0 0,-1-1 0,0 0 0,33-2 0,-8-1 0,-9-4 0,-15-2 0,-9-6 0,-11 0 0,-9 0 0,-8 0 0,-10 1 0,-4-1 0,-16 0 0,2 0 0,-10 0 0,-8 6 0,-10 2 0,-8 4 0,-9 1 0,32 0 0,0 1 0,-1 1 0,0 1 0,0 0 0,1 2 0,-27 13 0,6 6-108,7 6 1,8 6 107,13-2 0,17 9 0,14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2775 7486 8285,'-37'-39'383,"4"10"0,7 14 236,7 9 0,11 12 0,3 5 0,4 5 0,1 1 0,0 0 1892,0 0 0,0 1-2110,0-5 0,1 1 1,4 3-1,3 5 1,4 2-1,1 2 1,1 0-1,2 1 183,1 3-958,6 3 0,-5 11 0,5 2 1,-1 3-1,1 1 0,1 3 1,3 2-3597,4 2 1,-3-5 3969,7-1 0,-1-10 0,5-10 0</inkml:trace>
  <inkml:trace contextRef="#ctx0" brushRef="#br0">3291 8002 8373,'-20'0'342,"3"3"-198,3 6 0,6-1 745,4 9 1,-2-2 0,2-1 0,1 2 0,2 1 1926,1-1-2315,-6-8 0,5-5 0,-5-11-127,0-10 0,5-6-337,-4-6 1,4-4 0,1-8 0,0-1 0,0 1 0,1 4 432,4 3 0,2 5-365,6 9 1,5 3 107,4 10 1,2 2-1,3 7 1,4 4 513,3 3 0,3 10-673,2 3 0,-5 3 0,-1 2 0,-1 0 0,-2 0 0,-1-2-1831,-3-2 0,-2-4 959,-7-5 0,-2-1-355,2-4 1,-3-2 0,-1-9 0,0-4 1172,0-6 0,-6-14 0,-1 0 0</inkml:trace>
  <inkml:trace contextRef="#ctx0" brushRef="#br0">3820 7666 8304,'-4'9'785,"0"0"1,1 5 1110,7 8 0,3 8-450,6 4 1,2-1-1068,2 1 0,1-6 0,5-1 0,-1-6 0,1-3 0,0-7 393,-2-5 1,2-6-500,-6-4 0,-1-5 31,-7-8 1,-3-5 0,-6-6-1,0-4 1,0-2 0,-2-5-311,-2-3 1,-5-5-58,-8 4 1,3 1-1347,-4 8 0,8-2 0,3 7 0,3 6-3187,5 9 4596,5 13 0,18 14 0,4 7 0</inkml:trace>
  <inkml:trace contextRef="#ctx0" brushRef="#br0">4414 7770 8219,'-14'0'544,"-1"1"1,1 2 788,3 1 1,5 2 202,-3-2-2306,6-2 0,-2 5 1,6-4 769,3 1 0,-2 6 0,3-3 0</inkml:trace>
  <inkml:trace contextRef="#ctx0" brushRef="#br0">2465 9280 8281,'-7'-20'264,"3"2"0,2 7 0,5 8 1,4 13-1,8 15 1010,3 12 1,2 7-1,3 8 1,-1 1-776,1 3 0,1 7 0,3 4 0,2-5 0,0-9 0,-3-10 609,-4-7 1,-6-10-356,1-9 0,-9-10-295,-8-7 0,-6-1-346,-7-8 1,-6-1-1,-2-7 1,-4-6-1,0-6 1,-3-7-286,-2-5 0,3-11 106,-3-8 0,-2-5-71,17 31 0,0 0 1,0-3-1,0 1 1,2-4-1,2 1 1,0 0-1,2 0 1,-4-30-1,10 12-93,10 14 1,9 20 103,14 14 0,4 14 532,9 8 1,-2 12 0,3 14-1,0 7 1,2 4 0,0 2 807,-3-1 0,-3 1-439,-1 0 1,-7 1-573,-6 3 1,-8-3 0,-9 1 0,-6-4 0,-6-4-1,-7-1-240,-6-4 1,0-8-2339,-5-7 1,5-6 742,-1-7 0,2-1 1,2-4-1,2-6 0,4-8-2601,7-7 1,10-7 4233,7 3 0,6 0 0,-2 4 0,8 5 0,3 3 0,1 0 0,1 1 0,-1 1 311,-3 2 0,-7-5-233,-1-2 0,-2-4 916,1-1 1,-1-1 0,-4-3 0,0-5 0,-2-2 0,-2-4 1041,-2-2 1,3-3-1427,-9-5 0,5-1-307,-5 0 0,0 0 0,-5 2 1,-4 1-1,-3 3 0,-4 3 247,-1 6 1,1 5-60,-1 11 1,0 2-230,0 6 0,1 7 0,4 7 0,3 11 0,4 9 0,2 8 500,4 5 1,2 3-589,6 2 0,5-2-243,4-3 0,2-8 0,4-10 1,2-6-1,4-7 0,3-8-154,2-8 1,-6-13 147,-3-13 0,-3-7 18,-1-10 0,-6-2 0,-2-6 1,-4 5-1,-3 8 0,-2 8-619,-5 7 459,3 4 1,-4 12 146,6 3 1,-5 9-1,3 7 1,-1 5-1,-2 3 1,1 2 103,-1-2 0,2 3 182,-2-6 0,-2 4-74,2-3 0,-3-6 116,-1-3 1,0-9-541,0-4 1,0-5 117,0-12 0,0-1 1,0-4-1,0 2 1,0 1-1,0 3-567,0 1 821,0 8 1,2 5 169,2 6 1,-1 1 0,5 4 0,3 5-1,-1 4 1,0 3 645,-2-1 0,1-2-567,4-1 0,-5-4-153,1 0 0,0-7 1,3 3-1,1-5 1,0-6-1,-1-7-77,-4-7 0,4-9-365,-4-1 1,4 0 93,1 4 0,1 2 1,2 1-1,1 3 1,0 3-1,1 4-365,-1 3 0,4 3 521,-4-2 0,1 3-52,-5 6 1,-1-5-1,1-4 1,-1-3-1,-4 0-259,-3-1 1,0-6 89,0-3 1,-1 4 141,-4 1 1,0-2 0,-1 3 53,-4 5 0,0 6-100,-4 14 1,3 7 449,6 14 0,0 1 0,0 5 0,0-3 1,2 0-1,2-1 253,5-1 1,-2-5-776,1-4 0,1-8 192,4-1 0,4-6 0,0-8 0,-1-5 0,-2-8 0,-2-12 50,-3-11 0,1-4-325,-6-6 1,4 1 382,-3-1 1,-1 4-1,-4 8 1,0 7-1,0 5 582,0 6 0,4 9 61,1 8 1,5 8-736,-2 9 1,4 3-1,1 6 1,-2-1-1,-1 1 1,-1-1-6,1-4 0,1 4 0,2-11 0,0 3 0,-4-7 0,-1-3 0,2-1 0,2-3 0,-4-3-167,1-4 0,-5-4-305,5-4 1,-5-6-1,5 0 1,-1-2-1,0-5 1,-3-2-564,1-3 1,-4-2 611,2 2 1,2 3 448,-2-3 0,4 7 1,-2 4-1,1 3 0,3 6 1,2 3-104,1 4 1,0 2 1965,0 1-1453,5 6 0,-2 5 0,6 6 0,-1-1 0,1-2 0,-2-1 0,0 0 129,0 0 1,-4-1-566,1-4 0,-3-2 0,-1-6 0,0-6 0,-2-4 0,-1-6 0,-1-6 0,0-7 0,-2-6 0,3-3 0,-6-5 0,5 1-1449,-5-5 0,5 9 0,-4 3 1,3 5-1,0 7 0,1 4-2169,-1 7 1,1 1 2403,4 7 1214,0-1 0,5 5 0,3 0 0</inkml:trace>
  <inkml:trace contextRef="#ctx0" brushRef="#br0">5188 8622 7999,'-25'0'974,"5"0"1,2 0 0,4-2-94,1-2-341,6 2 0,0-9 1,4 2-1,-1-2 0,-1-2 2394,0 0-2510,-3 6 1,1 3-138,3 8 1,2 4 0,2 10 0,0 5 0,0 5-1,2 5 800,2 0 1,-1 0-835,6-3 0,-1-7-25,5 3 1,0-4 0,0-2-1,0-7 1,0-8 359,0-3 0,0-15-362,0-9 1,-2-9-128,-2-12 1,1-9 0,-6-10-1,-1-3 1,-2-4 0,-1 0-626,0-1 1,-6-1 412,3 35 1,-2-1 0,-2 1 0,-2 0 241,-8-24 0,4 17 0,6 26 0,1 14 0,3 19-280,2 14 0,5 14 141,0 12 0,6 6-546,-1-2 1,7-2 0,2-4-1,1-5 1,1-6 555,0-3 0,7-7 0,6-1 0</inkml:trace>
  <inkml:trace contextRef="#ctx0" brushRef="#br0">12907 9770 7856,'-13'-8'0,"0"-1"0,0 0 1322,0 2 0,7 3 0,6 8 0,7 5-348,5 2 1,2 8 0,3 2-1,5 4 1,2 2 0,2 3 126,0 5 1,1 3 0,2 4 0,2 2-566,2 2 0,2 6 0,3 4 0,1-2-313,0-1 1,0-8-842,-1-6 1,0-4-586,-4-9 1,-7 1 0,-7-9-5225,-1-3 2814,-8-6 3613,-5-9 0,-17-13 0,-4-7 0</inkml:trace>
  <inkml:trace contextRef="#ctx0" brushRef="#br0">12777 9977 7927,'-24'0'974,"3"1"0,5 5 1279,6 7-1884,4 5 1,12 15 0,2 5-1,5 5 1,3 3 0,3 1-1,-1-3 1004,1-5 0,-2-6-988,-4-7 0,-4-7 45,-1-7 0,-5-6 1,0-12-1,-6-8 585,-5-10 1,-4-9-650,-1-10 0,-4-9-73,0-8 0,0-2 0,4 2 0,0 6 0,1 5 1,4 7 381,3 6 0,5 6-326,5 9 1,8 8-118,8 8 0,5 4 0,3 2 0,2 4 0,2 3 0,3 4 146,1 1 0,-4-5-640,-3 1 1,2-5-16,-2 5 1,-1-6 0,-6 1-1,-2-3 1,1-1 0,1-1-3477,2-3 0,-6 1 3753,7-6 0,-3-5 0,3-6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14417 2917 7880,'-33'-22'276,"1"-1"1,-22-14 0,13 11 0,13 13 0,6 13 0,2 13 0,0 15 4638,-3 13 0,-1 25-4539,11-22 0,0 2 0,-2 6 0,0 3 0,0 5 0,1 3 1,2 0-1,1 0 0,3 2 0,2-1 0,2-2 0,2 0 0,2-5 1,2-1-1,1-8 0,4-2 27,2-6 1,3-4 0,18 20-409,9-26 1,0-9 0,-1-9 0,1-7 0,1-10 0,2-9 234,1-10 0,4-9-163,-4-10 1,-1-13-1,-25 24 1,-1-2 0,-2-2-1,-2-1 1,-3-3 0,-1-2-1,-3-3 1,-2 0-68,-1-3 0,-4 0 0,-2 1 0,-3 2-23,-3-1 0,-2 1 0,-2 1 0,-2 0-250,0 2 0,-2 2 1,-3-1-1,-1 0 1,-1 3-1,0 0 1,0 2-1,0 2 0,-19-24 1,8 18-2186,8 16 0,3 17 1,9 14-1,4 20-3993,3 22 6451,2 14 0,8-22 0,0 1 0,1 0 0,-1 1 0</inkml:trace>
  <inkml:trace contextRef="#ctx0" brushRef="#br0">14417 3756 7892,'0'13'1689,"1"1"0,3 3 435,5 5 0,4 4 0,5 2 0,7 4-959,4 1 1,6-3-1,-2 3 1,2 0-416,-1 0 0,-5-4-1579,1 1 1,-7-9-493,-2-4 1,-3-4-1,3-4 1,1-8-1,-1-9 1,1-15 1320,1-13 0,1-14 0,2-9 0</inkml:trace>
  <inkml:trace contextRef="#ctx0" brushRef="#br0">15010 3433 7892,'-13'-6'3372,"2"-2"-1381,2-4 0,9 4 0,12 1 0,6 1-620,8 3 1,9 2-658,-1 1 1,3 0-1693,2 0 0,-5 0 0,1 0 0,-1 0 1,1 0-1,-2 0 978,-2 0 0,5-6 0,-3-1 0</inkml:trace>
  <inkml:trace contextRef="#ctx0" brushRef="#br0">15333 3769 7892,'-12'1'3171,"2"2"1,3 3-1918,2 1 1,2 2-1,8 2 13,8-2 1,7-4-1751,10-5 1,8-11-1676,5-6 1,10-8 2157,-2-5 0,10-9 0,-32 16 0,0 1 0</inkml:trace>
  <inkml:trace contextRef="#ctx0" brushRef="#br0">16056 3149 7935,'0'-18'473,"5"3"0,3-2 0,0 1 390,1-1 0,-5 1-316,5-5 0,-6 4 0,1-4 0,-4 3 0,-4 2 0,-5 2 0,-4 2 1,-4 4 2527,-5 3 0,-1 4-1787,2 1 1,-3 1-1140,2 4 0,5 3 0,4 9 0,7 5 0,5 4 0,2 5-145,3 8 1,11 0 175,11 4 0,7 1-148,10-1 1,-2 2 0,5-4-1,-1 4 1,-4 1 0,-2 2-265,-5 3 1,-9 2 352,-12 3 1,-8-8 32,-9 4 1,-10-9-1,-11-1 1,-5-7-1,-1-7 1,-1-8 330,3-7 1,2-10 0,3-3 0,2-9-392,5-7 1,4-11-1,5-15 1,5-12-95,6-14 0,0 30 0,2-1-31,3 0 0,1 1 0,1 0 0,0 1-399,16-28 0,4 8 1,2 4-1,1 7 0,3 6 1,0 8-1368,-2 8 1,-2 10 1240,-7 5 0,0 6 371,-4-1 1,-2 2-1,-6 4 1,-2 2-1,-2 6 515,-5 6 1,-2 4 0,-4 9 0,-1 5 450,-1 9 0,0 6 1,4 1-1,0-1-194,0-2 1,1-9-415,3 0 1,9-5-132,9-3 0,4-7 1,4-16-1,4-8 1,3-12-1,2-11 253,0-9 0,-6-9 1,-4-2-1,-6-2 87,-6-3 0,-4 3-302,-5-1 1,-5 5-81,-11-1 0,-7-1 0,-12-1 0,-3 1 0,-5 1 0,0 6-755,0 5 0,-1 6 1,6 6-1,3 7-1217,4 7 1,6 6-1,10 6 403,7 7 0,8-4 0,12 2 0,9-4 402,7-4 1,1-3 0,10-5 0,1-8 909,-2-7 0,-2 1 1,-7 3-1,-2 6 836,-5 6 0,-9 5 0,-5 9 0,-6 13 642,-5 13 0,0 16 0,0 11 0,-1 6 317,2 2 1,-4-3 0,7-1 0,1-5-931,2-6 1,0-15 0,3-8 0,1-10-16,1-10 0,6-6 0,-3-10 1,1-5 90,1-9 1,-2-8 0,1-6 0,-3-8-685,-4-7 0,-3 0 0,-2-1 0,-5-2 0,-2-1 0,-2-3 0,-2 0 0,0 1-2211,-3 6 1,-5 12 2210,2 8 0,-4 6 0,-1 7 0</inkml:trace>
  <inkml:trace contextRef="#ctx0" brushRef="#br0">17514 3214 7811,'2'-13'9830,"3"1"-8855,8 4 1,6-2 0,8 5 0,2 3-1472,1 0 0,10 2-539,-1 0 0,2 0-818,-2 0 0,4-3 1853,0-5 0,12-12 0,-2-13 0</inkml:trace>
  <inkml:trace contextRef="#ctx0" brushRef="#br0">18030 2762 7832,'-13'0'5750,"6"3"-3322,3 5 1,3 4-1802,1 14 1,5 2 0,4 13 0,4 2-1,3 4 1,2 2 712,2-2 0,2-4-1213,4-9 0,1-9 0,3-12 0,4-8 0,5-7 0,4-11-430,4-13 1,-2-14 0,-2-9 0,-3-6-117,-1-5 1,-6 3-1357,-3 1 0,-9 1 1074,-3 0 0,-5 1 1,-5 0-1,-2 8 1757,0 12 0,-5 15 0,3 22 0,-2 14 145,-2 16 0,0 13 1,0 13-1,0 10-902,0-30 0,0 0 0,0 1 1,1-1-1,1 8 0,1 0 0,0-1 1,2-1-300,0-1 0,2 0 0,2-2 0,2-1 0,1-5 0,2-2 0,18 25-42,6-14 1,2-12 0,2-13 0,2-8-1958,2-6 1,-9-4 0,0-4 0,-4-4-628,-4-6 0,0-14 2626,1-13 0,-3-5 0,5-8 0</inkml:trace>
  <inkml:trace contextRef="#ctx0" brushRef="#br0">19450 3098 7832,'-11'20'1142,"2"5"1,5 10 365,2 6 1,2 4 0,0 2 0,0-4-52,0-3 1,6-7 0,3-2 233,2-4 1,2-9 0,-2-6-925,-2-11 1,1-6 0,-6-10 0,-1-3-768,-1-8 0,-8-7 0,-3-10 0,-2-5 0,-2-2 0,-6-13 0,9 28 0,0-2 0,0-3 0,0-3 0,1-4 0,1 0 0,1-1 0,1 0 0,1-1 0,1 0 0,2 1 0,0 1 0,0 2 0,3 1 0,3 6 0,3 2 0,10-19 0,8 21 0,5 17 0,9 11 0,7 12 0,-1 8 0,-2 10 0,0 8 0,-2 7 0,-6-1 0,-2 1 0,-4 3 0,-9-3 0,-7-7 0,-7-3 0,-5-3 0,-4 1 0,-5 2 0,-9 1 0,-12 0 0,-7-4 0,-4 0-515,-3 0 0,-9-1 0,5 0 515,3-4 0,-4-2 0,2-6 0</inkml:trace>
  <inkml:trace contextRef="#ctx0" brushRef="#br0">25632 15759 7786,'0'-20'1860,"0"10"0,0 15 0,0 16 0,0 12 0,2 10 506,2 8 1,-3 8 0,4 10 0,-4 4-2156,-1-35 1,0 0 0,0 1 0,0-1 0,1 1-1,0 0 1,0-2 0,1 0 0,2 31 0,-1-12-212,-2-10 0,-1-8 0,0-3 0,4-5-1726,1-9 1,-1 2-1,-4-4 1,0 0-1,0 1 1726,0 0 0,0-4 0,0 2 0</inkml:trace>
  <inkml:trace contextRef="#ctx0" brushRef="#br0">25774 15617 7820,'-33'0'1443,"3"1"0,2 6 1444,-3 11 1,4 9-1983,-3 16 1,-3 4 0,-1 9 0,-4 4 0,1 2 0,1-2-129,2-4 0,5-10 0,0-7 0,6-8 32,6-3-392,3-14-203,7-3 0,1-22 0,6-9 0,1-12 1,4-11-1,5-7 354,6-6 0,9 2-568,10-6 0,4 9 0,4 0 0,1 9 0,5 3 0,-2 8 0,0 6 0,-1 8 0,-3 9 0,-4 8 0,-5 8 0,-2 12 0,-6 15 0,-6 1 0,-3-2 0,-3-4 0,-2-4 0,-1-3-136,2-2 0,-7-6 0,7-1 0,-2-5-3243,1-4 1,1 0 3378,0-5 0,5 0 0,2 0 0</inkml:trace>
  <inkml:trace contextRef="#ctx0" brushRef="#br0">15940 800 7998,'-19'-56'975,"7"12"1,11 17 0,8 17-1,5 12 6685,1 11-7025,-1 6 1,7 14 0,1 6 0,2 8 0,-1 7 0,2 7-1,0 0 1,0 1 0,-3 0 1058,-1 4 1,-3 4-1695,-12-31 0,0-1 0,2 34 0,-6-3 0,0-9 0,-2-4 0,0-4 0,-4-6 0,0-8-1113,0-6 0,-4-11 156,2-3 0,1-6-118,-2-3 1,5-3 0,-5-8-1,-1-2 1,-1-6-1242,-2-6 1,-2-8 1113,-2-6 0,1-2 1195,-5 2 0,1-1 1,-3-4-1,3 6 1,0 5-1,1 4 1655,0 1 1,2 4 693,4 6-1485,0 3 0,6 9 1,3 4-1,2 8 0,5 5 1,4 6 1900,6 2 1,9 2-2616,-1-4 1,9-1-144,5-4 0,2-4 0,2-7 0,0-3 0,-1-1 0,1-4 0,0-5 0,-2-10 0,-3-9 0,-2-3 0,-6-6 0,-6 3 0,-3-5 0,-4 0 0,-3 0 0,-3-3-2503,-1-1 0,3-6 2503,-5 0 0,6-6 0,-3 3 0</inkml:trace>
  <inkml:trace contextRef="#ctx0" brushRef="#br0">8338 4763 8174,'-26'-39'1361,"10"12"1,3 6-143,2 10 0,6 17 0,5 12 1,9 11-220,7 10 1,4 5-636,6 8 0,5 10 0,-14-29 1,-1 1-1,2 3 0,0 2 1,0 3-1,0 2 0,1 2 0,-1 0 53,1 0 1,-2 1 0,-2 1 0,0 0-1,0-1 1,-1 1 0,-2-1 0,0 0-426,0 2 0,-2-2 0,-4-4 0,-1-1 55,2-1 0,-1 0 0,0 30-444,2-10 1,-5-3 0,3-4 0,-2-4 0,1-7-1,-3-7-2742,0-5 1,2 4 610,0-5 1636,1-6 0,-11-7 0,-3-8 0,-2-5 0,-3-4 0,-4-4-547,-3-5 1,-3-2 1437,-2-2 0,0 0 66,0 0 0,0 0 1,0 0-1,2 0 1,1 2-1,3 1 1405,1 1 0,7 2 2069,3-2-2834,6 4 0,0 5 0,12 1 0,9 5 0,10 5 863,6 5 0,8 7-421,1-1 0,0-2-829,-5 1 1,3 1 0,0 2-1,2-2 1,-1-5 0,-3-3 1144,-5-1 1,-4-6-776,-8-2 1,1-4-518,-6-1 1,-4-3 0,-6-4 0,-1-7 0,-2-6 0,0-8-2407,0-5 1,1-5 1231,-5-5 0,0-3 1002,0-6 0,0-11 0,0-3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7189 13178 8187,'-59'7'0,"9"4"937,11-2 0,8 2 0,9 2 1,6 0-1,6 0 0,7-2 227,6-2 0,10-3 0,10-6 0,9-3 733,11-6-1651,8 1 1,-13-6-1,2-2 1,2 0 0,2 0-1,3-3 1,1-1-1,0-1 1,1-2 0,-1 0-1,0 0 1,1-2-1,0 0-1167,2-2 1,1-1 974,2-1 1,1 0-1,2-3 1,-1 0-1,-2 3 1,-2 0-1,-4 2 1,-1 2 0,-4 2-1,-1 2 1,-3 1-1,-1 1 1,-1 1-1,1 1 116,-1 2 0,-1 0 0,18-11 389,-6 5 0,-14 2-475,-13 6 1,-3 0 0,-8 2 0,-3 1 1347,-1 1-1432,-2 7 0,-10-4 0,-5 6 0,-7 0 0,0-5 0,1 1 0,-5 1 0,-4 0 0,-4 1 1391,-4-3 0,-4-3-1391,0 3 0,-1 0 0,0 0 0,2 4 0,4-3 0,6 2 0,5 2 0,4 0 0,2 0 0,7 2 0,5 2 0,5 2 0,8 2 0,7 4 0,14-5 0,4 1 0,5 0 0,3-1 0,1 0 0,4 0 0,-4 2 0,3 1 0,-7-6 0,1 6 0,-10-1 0,-3 2 0,-3 2 0,-5 0 0,-5 0 0,1 1 0,-11 3 0,-1-1 0,-7 6 0,-3 4 0,-8 4 0,-2 0 0,-5 1 0,-2 4 0,-2 2 0,-4 2-523,0 0 1,1 1-7376,8 3 7688,2-3 0,6 10 1,0-4-1</inkml:trace>
  <inkml:trace contextRef="#ctx0" brushRef="#br0">6866 15914 8222,'-18'-32'1196,"6"6"0,4 2 0,12 8 1,10 6-1,9 0 4562,6-1-5431,4-2 0,7-7 0,6-6 0,13-9 0,-22 15 1,3-1-1,7-3 0,2-1 0,4-1 0,2-1 0,0-1 1,2-1-1,0-1 0,0 1 55,4-2 1,0 0 0,-5 2 0,0 1-1,2 0 1,-1 1 0,-6 3 0,-2 1-375,-5 3 1,-2 1 0,-2 2 0,-1 1 0,28-8 0,2 2 82,-1 5 1,-8 1 0,-6 1 0,-8-3 232,-11 3 0,-9 5-324,-14 1 0,-3 0 0,0-3 0,-6-1 0,1 0 0,-4 0 0,-4 1 0,-5 4 0,-8-2 0,-5 5 0,-4 0 0,-4 0 0,-10 4 0,-12-3 0,-5 4 0,0 3 0,4 2 0,4 2 0,9-2 0,1 3 0,3-5 0,10 1 0,11-2 0,15-2 0,13 0 0,12 0 0,10-4 0,12-4 0,10-2 0,9-4 0,6 1 0,0 3 0,-8 0 0,-8 6 0,-10-1 0,-7 5 0,-8 2 0,-10 2 0,-9 5 0,-6 2 0,-7 2 0,-8 0 0,-5 6 0,-12 2 0,-1 4 0,-5 2 0,-7 2 0,-6 1 0,-6 8 0,0-3 0,-1 5 0,1-6 0,6-1 0,5 0 0,7-1 0,7-5 0,10-2 0,9-4 0,11-5 0,15 2 0,8-5 0</inkml:trace>
  <inkml:trace contextRef="#ctx0" brushRef="#br0">5279 12093 8033,'-26'-25'0,"2"2"702,2 5 0,9 28 0,9 32 0,2 28 0,2-22 0,0 3 1,0 10-1,0 3 0,1-15 0,-1 1 0,1 2 0,0 4 0,0 2 1,0 1-111,0 4 1,1 1-1,-1 0 1,1 2 0,-1 1-1,0 1 1,0 0 0,-1 0-1,1 1 1,0-2 0,0 0-1,0-1-1252,0 2 1,0-1 0,1 1 0,0 1 0,-1 1 0,0 0 689,0 1 0,-2 1 0,1 0 0,0-17 0,0 0 1,0 1-1,0-1 0,0 0 0,0 0 0,-1 1 0,1-1 1,-1 18-1,-1 0 0,0 0 0,1-18 0,-1 1 0,0-1 1,0 0-1,0 0 0,0 1 0,0-1 0,0 0 110,-1 18 0,0-1 1,0 1-269,2-17 1,1 1 0,-1 0 0,0-2 0,-1 12 0,0-2-1,1 1 1,0 0 0,1 0 0,1 0 0,-2-4 0,1-1 0,1-1-1,-1-3 1,0-1 0,1-1 0,0-3 0,0-1 0,0-2-1,1 18 1,2-3-888,-1-7 0,1-2 0,-1-8 1,2-4-966,8 17 0,0-17 1980,0-21 0,-1-9 0,-4-13 0,-2 0 0</inkml:trace>
  <inkml:trace contextRef="#ctx0" brushRef="#br0">5201 11564 8083,'-35'14'184,"0"-1"1,-1 3 0,0 3 0,0 6-1,2 4 275,0 11 1,4 5 0,1 13-1,4 6 1,10-11 0,1 4 0,0 1-1,1 3 1,-1 1 0,1 1-1,0 4 1,0 0 0,1 1 0,-2 1-1,1 0 1,-1 0-473,0-1 1,0-1-1,-1 0 1,1-4-1,-1-1 1,0-1-1,-1-2 1,0-2-1,-1 0 1,2-5-1,0-1 1,-1-1 133,-6 20 0,0-2 1,5-13-1,1-3 0,4-10 1,1-3-91,-5 21 1,9-33-1,17-27-248,12-26 0,15-33 58,-12 16 0,1-4 1,5-9-1,0-3 180,-8 14 0,0-1 1,0 0-1,0-1 1,0 0-1,0 0 0,-1-1 1,-1-1-1,0 0 1,1 1-1,0 0 0,0 0 1,1 1-1,0 1 1,2-1-1,0 0 1,0 0-1,2 0 153,1-1 0,0 1 0,1 0 0,-2 6 0,1 1 1,0-1 57,13-20 1,0 2 0,-5 10 0,1 3 170,-3 6 1,0 3 0,-2 5 0,0 4-1,29-11 1,1 12 0,-6 14 0,-6 9 132,-7 4 0,-7 11-403,-2 6 1,-6 13-120,-3 9 0,0 13 0,-7 14 0,-8-28 0,-1 1 0,1 5 0,-1 2 0,-1 4 0,1 1-321,0 1 1,1 2 0,-3 2 0,1 0-1014,3-3 1,0 1 0,-1 4 0,1 0 88,2-1 0,0-2 1,2-3-1,2-3 1231,-1-5 0,2-2 0,1-2 0,1 0 0,1-1 0,1 0 0,1-1 0,0 1 0</inkml:trace>
  <inkml:trace contextRef="#ctx0" brushRef="#br0">25258 17734 7810,'-44'-19'1183,"-2"-1"1,1 0 0,8 3-1,10 4 2328,8 4-3282,10 3 1,9 6 0,12 0 0,9 0 0,14 0 0,11-1-1,10-2 1,11-3 0,-27 3 0,2 1 575,6-1 0,1 0 1,6-2-1,2 0-535,7 1 1,1-1-1,4-1 1,3-1-309,-19 2 1,2 0-1,0-2 1,0-1 0,-1 0-1,1-2 1,3-1-1,0 0 1,1-1 0,0-1-1,-1 0 1,1 0 0,0 0-1,-1-1 1,0-1-1,-2 1 1,-1 0 0,-1-1 142,-4 1 1,-1 0-1,0 1 1,19-5 0,-2 1-215,0 2 0,-2 0 0,-5 2 1,-1 1-1,-1 0 1,-2 2 0,-6 0 0,-2 1 0,-2 3 0,0 1 0,-1 0 0,0 1 0,-2 2-1,-1 0 1,-2 1 0,0 1-2102,31 0 0,-17 0 231,-10 0 1,-9 1 1078,-8 3 1,-7 3-1,-6 8 900,-8 2 0,-3-8 0,-2 2 0</inkml:trace>
  <inkml:trace contextRef="#ctx0" brushRef="#br0">25813 17217 7840,'-57'0'439,"-6"0"0,-8 3 1,32 1-1,-1 2 1,0 4-1,0 3 324,0 3 0,1 4 0,2 3 0,1 3 0,5 2 0,2 1 0,1 0 0,0-1-82,1 1 1,1 0 0,1-1-1,0 0-237,-23 23 1,4-5-1,7-4 1,4-8 0,8-8-1,11-7 1455,8-5-1675,10-7 0,11 5 0,12-2 0,12 4 0,12 3 0,13-1 0,7-2 257,-33-7 1,0-1 0,3-2 0,1-1-542,1 0 1,0-1 0,4-1-1,1-1-187,2 0 0,-1 0 1,-2 0-1,-1 0 1,0 0-1,0 0 1,-1 0-1,-1 0 1,-2 0-1,-1 0 1,-1 0-1,0 0-1747,-1 0 0,0 0 1,0 0-1,-1 0 589,1 0 1,0 0-1,25 0 1405,-8 0 0,-6 0 0,-11 0 0,-6 0 0,-4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24897 2710 7916,'-32'-18'0,"6"1"1479,0-1 1,8 17-1,11 22 1,8 18-1,12 16 1,11 13 65,-8-28 1,1 1 0,4 5 0,1 2-1421,2 4 1,0 0-1,1 2 1,0 1 0,1 4-1,1 1 1,0 0-1,-1 2 1,0-1 0,0-1-1,-3-3 1,-2-2-1,-2-6 1,-2-2 0,-3-6-1,-2-3-228,6 28 512,-9-7 1,-3-17 0,-6-5 0,-2-6 0,-2-5 0,-6-4 0,-4-5-355,-4-6 1,0-3-1,1-11 1,-6-7-56,-6-12 0,-3-21 0,-3-18 0,17 23 0,3-2 0,-2-5 0,2-3 0,-1-11 0,2-3-375,0-7 1,2-4 0,4 19 0,0-2 0,1 0 374,1-2 0,0-1 0,1 0 0,0-2 0,1-1 0,1 1 0,3 0 0,2 0 0,1 0 0,0-1 0,0 1 0,2 0 0,2 2 0,0-1 0,2 3 0,0 3 0,1 1 0,1 2 0,6-17 0,2 5 0,0 15 0,4 7-9,20-2 1,-2 20 8,-6 19 0,1 10 0,-6 7 0,0 7 0,0 6 0,0 5 0,-1 8 0,-13 7 0,-8 10 0,-6 4 0,-7 9 0,0-33 0,-3 1 0,-2 2 0,-3 1 0,0-1 0,-1-1 0,-1-1 0,-1-2 0,-16 31 0,1-6 0,-4-4 0,5-9 0,1-8 0,8-9 0,2-12 0,8-6 0,2 0 0,6-1 0,6 2 280,6 0 0,8 6-280,4 2 0,10 4 0,3 1 0,-1-2 0,0-1 0,1-3 0,2-1 0,6-4 0,2 0 0,-2-2 0,1 0 0,-3 1 0,-1 3 0,-1-1 0,1 5 0,-2 2 0,-2 2 0,-5 2-3420,-3 3 0,-5-3 3420,-1 3 0,-4-2 0,5-3 0,1 1 0,1 0 0,2 0 0</inkml:trace>
  <inkml:trace contextRef="#ctx0" brushRef="#br0">25865 3214 7867,'0'-20'1902,"-5"0"1,1 4 0,1-1 0,2 1 0,2 0 1156,3-1 0,4-2-2810,5-2 1,4-8-1,1 3 1,1-1 0,0 0-1,-4 1 1,-2 0 0,-4 0-86,-5 0 1,-4 6 139,-4 3 0,-5 9 1,-8 3-1,-3 4 1,-1 2-1,-1 6-49,-1 11 0,4 9 0,2 17 0,4 8-255,5 7 0,2 4 0,6 1 0,1 1 0,4-1 0,6-11 0,9-5 0,3-9 0,6-9 0,4-9 0,7-5 0,3-9-70,4-3 1,-2-9-827,-6-8 0,-1-6 0,0-7 0,-5-1 1,-8-3-1,-6-4-384,-5-4 0,-5-8 635,0-5 1,-5 3 857,4-3 1,-5 9 0,2 5 0,-4 10 958,-1 8 0,2 18-536,2 9 0,3 11-165,6 11 1,0 3 0,0 4 0,0-1 0,1-3 0,2-1 558,1-4 1,4-6-1031,-3-5 0,0-4 0,0-4 0,-4-4 0,3-5 0,-3-1 0,-1-3 0,0-7 0,0-4 0,-1-5 0,-4-6 0,2-6 0,-5-2 0,0-5 0,-2-4 0,1-4 0,-1-3 0,-3-1-1024,-4 4 0,1-2 1,-4 6-1,1 3-8807,3 4 9591,2 10 1,12 8-1,4 5 1</inkml:trace>
  <inkml:trace contextRef="#ctx0" brushRef="#br0">27310 2672 7798,'0'-39'3276,"0"6"1,3 4 0,4 5-1741,6 2 1,9 7-1,-1-3 1,4 5-3689,0 5 0,0-2 0,-2 4 2152,-2-1 0,1 4 0,3-3 0</inkml:trace>
  <inkml:trace contextRef="#ctx0" brushRef="#br0">27426 3007 15504,'7'-8'2527,"8"-2"1,9-3-3105,9-3 0,17-8 0,12-2 0,-25 9 0,1-1 577,4-2 0,0-1 0,0-2 0,-1 0 0,1-3 0,0 0 0</inkml:trace>
  <inkml:trace contextRef="#ctx0" brushRef="#br0">28407 2259 7832,'9'0'591,"-1"1"1,2 3 5400,2 5-4975,-5 8 0,9 10 0,-2 14 1,3 9-1,4 10 0,-3 5 1,1-1 1249,-3-5 0,-4-10-1516,-3-6 0,-3-13-625,-6-4 1,-2-15 0,-2-4 0,-3-8-127,0-8 0,-5-9 0,4-8 0,-4-7 0,-1-10 0,-1-10 0,-2-12 0,7 29 0,1-1 0,0-3 0,0 0 0,1-4 0,0-1 0,0-3 0,1-2 0,2-8 0,1-3 0,1-7 0,2-3 0,2 23 0,1-1 0,1 0-44,5-24 0,3 2 0,0 9 0,2 3 0,2 9 0,3 5 0,-3 10 0,2 4 44,15-8 0,6 23 0,-2 19 0,5 12 0,-1 9 0,-1 12 0,-2 1 0,-5 6 0,-8 3 0,-10 1 0,-11 5 0,-4 3 0,-4-4 0,-13 4 0,-11-9 0,-3-1 0,-5 0 0,-1-2 0,-2 0 0,2-6-1182,2-7 0,9-4-1390,9-4 2572,9 2 0,-2-12 0,5 5 0,1 0 0</inkml:trace>
  <inkml:trace contextRef="#ctx0" brushRef="#br0">29543 1884 7781,'-13'0'9830,"0"0"-5370,0 0 0,5 2-3970,-1 2 1,6 3-2737,-1 6 0,-2 2 0,2 0 0,1 2 2246,2-1 0,1-1 0,0-2 0</inkml:trace>
  <inkml:trace contextRef="#ctx0" brushRef="#br0">30008 1407 7781,'-6'-12'0,"-3"5"4915,-2 7 0,2 15-3306,1 15 0,5 4 0,-2 15 1,4 2-1,2 4 0,4 1-914,3 1 0,11-9-693,7-1 1,2-11-1,10-8 1,3-6-1,2-9 1,3-9-3,0-7 0,1-15 0,5-13 0,0-6 0,-1-6 0,-10 2 0,-7-7 0,-7-2 0,-7-4 0,-7-8 0,-7-5 0,-8-5 0,-1 33 0,-2 0 0,-4 0 0,-2 1 0,-5-1 0,-3 0 0,-1 3 0,-3 1 0,1 0 0,-2 2 0,2 3 0,-1 2 0,-20-18 0,4 14 0,4 12 0,8 11-665,6 5 1,6 10-975,2 7 1,2 11-1,7 11 1,1 3 0,1 4-1,4 0 877,2-5 0,3 2 0,6-7 0</inkml:trace>
  <inkml:trace contextRef="#ctx0" brushRef="#br0">30266 1446 7781,'-2'7'0,"-1"-2"7371,-1 1-5551,0 1 0,4 6-182,0 0 0,6 0 1,4 0-1,7 0 0,9 0 1,8 0-1615,8 0 1,9-2-25,10-2 0,3 1 0,5-6 0,-5 0 0,2-4 0,-5-1 0,-4-2 0,-1-3-699,1-1 0,-4-6-7065,3-4 7442,-3 0 1,5-8 0,0-2-1</inkml:trace>
  <inkml:trace contextRef="#ctx0" brushRef="#br0">16611 7163 8165,'-13'0'1079,"4"0"0,1 0 0,-2-1 0,-2-2 4140,-1-1-4371,6-1 1,3 5 0,8 0 82,5 0 0,2 0 0,2 0 0,0 0-81,0 0 1,0 0 0,0 0 0,-1 0-527,1 0 1,0 0-1,0 0 1,0 0-325,0 0 0,0 0 0,0 0 0,0 0 0,0 0 0,0 5 0,1-1 0,2-1 0,1 0 0,-1-1 0,-2 3 0,0 0 0,4 0 0,-4-4 0,3 3 0,-3 2 0,-1 0 0,0 0 0,0-1 0,1 0 0,4 0 0,-4-3 0,3 2 0,-1 2 0,1-2 0,-2 1 0,3-5 0,1 1 0,2 3 0,-1-2 0,2 2 0,-1-3 0,5-1 0,0 0 0,0 0 0,-2 0 0,-2 0 0,2 2 0,-2 2 0,2-2 0,2 2 0,-5-3 0,-1-1 0,1 0 0,-1 0 0,-3 0 0,4 0 0,-5 0 0,1 0 0,-2 0 0,-1 0 0,2 0 0,1 0 0,4 5 0,-3-1 0,0 0 0,0-4 0,2 2 0,4 1 0,-1 1 0,-2-1 0,2 0 0,2 1 0,2-3 0,3 4 0,-7-2 0,3 1 0,-3-3 0,3 4 0,-1-3 0,1 1 0,0 2 0,0-3 0,-2 4 0,-2-2 0,4 2 0,-1-1 0,1-4 0,4 3 0,-2-2 0,-1-2 0,2 0 0,1 0 0,0-2 0,-4-2 0,-1 1 0,1-6 0,-4 7 0,-2-4 0,-2 2 0,-2-1 0,-1 2 0,-3 2 0,1 1 0,0 0 0,0 0 0,0 0 0,-4 0 0,-1 0 0,-3 0 0,2-1 0,-1-4 0,-2 2 0,-3-4-273,4 1 1,-4 1-3342,3 0 3614,-2 4 0,-2-10 0,0 3 0</inkml:trace>
  <inkml:trace contextRef="#ctx0" brushRef="#br0">30304 1071 8195,'0'-13'334,"0"0"0,0 1 0,-1 0 457,-3 3 1,-3 5 0,-6 8 0,0 5-102,0 3 1,0 5-603,0 0 0,0 4 0,0-2 0,0 0 0,2 1 0,1-2 1,1 3-1,1-3-4062,0 1 3974,3-2 0,-1 2 0,-1 1 0</inkml:trace>
  <inkml:trace contextRef="#ctx0" brushRef="#br0">19695 6944 7967,'-8'0'530,"-1"0"0,5 0 1109,-5 0 275,6 0 1,-2 1-675,5 3 0,4 4-535,0 5 1,1-1-113,-5 1 1,1-1 501,3-4-251,-2 4 0,3-9 186,-5 5-937,0 1 68,0-2 1,2 0-245,2-2 1,-2-3 352,2 7 101,-3-6 1,1 3 867,2-6-562,-3 5-231,5-3 0,-4 4 1,1-5-1,2 2-286,2 1 0,-2 5-160,3-5 0,-3 2 0,3-2 0,1-2 0,4 3 0,0 0 0,0-1 0,-1-1 0,6 0 0,-1 1 0,2-3 0,-2 4 0,1-2 0,7-1 0,-2 3 0,1-1 0,-1 0 0,1 1 0,1 0 0,1 0 0,4-4 0,0 3 0,0-2 0,-4-2 0,1 0 0,2 0 0,1 0 0,-1 0 0,2 0 0,-1 0 0,6 0 0,-2 0 0,8 0 0,1 0 0,0 0 0,0 0 0,2 0 0,0 0 0,-3 0 0,1 0 0,-3 0 0,-1 0 0,-5 0 0,1 0 0,1 0 0,1 0 0,2 0 0,-1 0 0,1 4 0,0 0 0,-1 1 0,1-5 0,-6 0 0,-3 0 0,-2 0 0,-3 0 0,0 0 0,-4 0 0,-1 0 0,-2 0 0,-4 0 0,3 0 0,2 4 0,-2 0 0,-1-1 0,-2 0 0,0 0 0,4 1 0,-4 5 0,3-5 0,-3-1 0,-1-2 0,-4 4 0,0-1 0,-1 0 0,5-5 0,0-3 0,-6-4 0,-3-4 0,-4 3-1751,-4 0 1,1 2-1,-5-3 1751,-2 2 0,-2-1 0,-1-4 0</inkml:trace>
  <inkml:trace contextRef="#ctx0" brushRef="#br0">16546 8596 8015,'-13'-13'1778,"6"4"-509,3 1 1,4 5 0,5-2 0,8 4 0,7 1-1,5 0 117,1 0 1,1 0 0,2 0 0,2 0-462,2 0 0,2 0-464,3 0 1,-5 0-1,-3-1 1,-2-2-1,-3-2 1,0 3 632,-4 0-1094,-2 2 0,-6 0 0,-6 0 0,-3 0 0,-8 0 0,-6 0 0,-6 0 0,-5 0 0,-4 0 0,-6 0 0,-4 0 0,-5 0 0,-7 0 0,0 2 0,-9 2 0,4 4 0,3 4 0,3 1 0,2 0 0,2 0 0,9 0 0,8-1 0,6 1 0,10-4 0,5 0 0,4-5 0,4 4 0,5-5 0,8 2 0,5-4 0,3-1 0,6 0 0,3 0 0,3-6 0,2-2 0,5 1 0,4-2 0,-4 0 0,-1-2 0,-4 1 0,-5 1 0,2 2 0,-6-2 0,-5-2 0,-10 2 0,-4-2 0,-13 4 0,-11 2 0,-5 4 0,-8 1 0,-6 0 0,-4 0 0,-4 1 0,-4 4 0,-2 3-2327,-3 4 1,0 1-2235,2 0 4429,8 0 1,8 5 0,5 2 0</inkml:trace>
  <inkml:trace contextRef="#ctx0" brushRef="#br0">18017 8596 7933,'-7'-16'963,"2"4"0,0 4 3537,1 1-3218,0 4 1,4-1 0,1 6 0,3 4 589,5 1 1,2-4-1260,2 1 0,0-2 1,0-1-1,2 2 1,0 2-1,3-3 265,-3 0 0,5 2-878,2 0 0,4 1 0,4-5 0,3 4 0,6 0 0,-1-1 0,1-1 0,0-2 0,-1 0 0,4 4 0,-3 0 0,2 1 0,-6-5 0,-2 0 0,0 0 0,0 1 0,-2 2 0,2 1 0,0-1 0,2-2 0,3-1 0,7 5 0,2-1 0,-2 5 0,-2-5 0,-3 0 0,-2 1 0,0-1 0,-4-1 0,2 2 0,-6 0 0,7-1 0,2-4 0,4 0 0,6 0 0,-2 0 0,1-1 0,-1-4 0,0-3 0,-2-4 0,-2-1 0,-2 5 0,-11-1 0,5 2 0,-4-3 0,2 3 0,3 1 0,1 3 0,2 2 0,0 1 0,0 0 0,-1 0 0,1 0 0,-6 4 0,-1 2 0,-4 1 0,1 2 0,-2-1 0,2 1 0,0-5 0,-4 5 0,7-5 0,2 5 0,4-7 0,0 3 0,1-4 0,1-1 0,2 0 0,1 0 0,0 0 0,-4 0 0,-6-1 0,-3-4 0,1 4 0,-1-3 0,0 1 0,1 0 0,0-1 0,2 1 0,2 1 0,3 2 0,-3 0 0,-1 0 0,-4 0 0,3 0 0,0 0 0,-1 0 0,-1 2 0,-2 2 0,-6-2 0,-2 2 0,-3-3 0,3-1 0,-4 0 0,3 0 0,0 2 0,-1 1 0,1 1 0,0-1 0,-4-2 0,1-1 0,-2 0 0,-3 0 0,1 0 0,0 0 0,0 0 0,0 0 0,0 0 0,0 0 0,0 0 0,0 0 0,0 0 0,0 0 0,-1 0 0,1 0 0,0 0 0,0 0 0,0 0 0,0 0 0,0 0 0,0-1 0,0-4 0,-5 4 0,-1-5 0,1 1-6225,-1-4 6225,-4-3 0,2-6 0,-5-2 0</inkml:trace>
  <inkml:trace contextRef="#ctx0" brushRef="#br0">16701 8918 7944,'-13'8'969,"0"3"0,2 1 0,2 8 1,5 11-1,2 9 0,2 8 1,0 5 5542,0 7-6066,0-6 1,0 20 0,2-11 0,1 0 0,2 0 0,3 0 0,0 0 0,1-4 0,-1-6-1763,2-6 723,2-2 0,1-14 1,-2-5-1,-1-7 1,-1-5 592,1-1 0,7-6 0,3-1 0</inkml:trace>
  <inkml:trace contextRef="#ctx0" brushRef="#br0">16482 9254 7941,'-33'7'2145,"3"0"1,7-4-273,1 1-1565,6 1 1,3-12 0,9-6 0,3-9 0,2-6 0,5-8 0,7-6 839,7-5 0,1 1-711,5-1 1,-3 6-1,9 3 1,-2 6-1,1 8 1,1 5 660,-1 6 1,-1 9-341,-4 0 1,-1 4-505,-4 4 0,2 9 0,-6 8 0,-1 5 0,-2 3 0,-2 1-1334,-3-1 1,2 2-671,-2-1 0,2 6-1408,2-1 0,0 2 3158,0 2 0,0 5 0,0 2 0</inkml:trace>
  <inkml:trace contextRef="#ctx0" brushRef="#br0">16946 10286 7872,'-33'-24'1291,"2"3"1,2 5 0,2 6 0,1 5 1165,-3 4 1,8 8-1,-4 5 1,5 5-883,5 3 0,5 3-1373,1 7 0,6-3 1,-1 5-1,4-2 1,4 1-1,5 1-367,2 0 1,6-7-460,1-3 1,3-11 502,-4 2 1,5-8-1,-5-1 1,-1-3-1,-2-2 1,-1-3 113,0-5 1,-2-2 0,-1-2 364,-1 0 0,-5 6 229,5 2 1,-5 4-305,5 1 0,-6 7 0,2 6 1,0 10-1,-1 10 0,0 10-200,2 6 0,-4 2-83,2 1 0,-3 2 0,-1-2 0,0 0 0,0-14 0,0-6 0,0-8 0,-1-7-1242,-3-2 956,-4-2 0,-5-6 55,1-3 0,-1-2 1,0-4-1,1-2 1,2-6-1,3-5-507,1-2 1,2 0 646,4 4 1,0-4 158,0 0 1,1-6 0,4 1 0,3-2 0,4-2-1,1-1 260,0-3 1,0 1-521,-1-5 0,3 4 100,2-5 0,-1 2 0,4-3 0,-2 2 0,0-2 0,-1 0-166,0 2 0,-1-2 327,-8 6 1,3 0 274,-7 4 1,0 0 0,-4 2 0,0 2 0,0 5 0,-1 4 1169,-4 4 1,3 4-1515,-7 5 0,2 5 0,-2 4 0,2 7 0,4 4 0,-1 3 0,1 4 0,3 2 0,4 2 0,3-5 0,6 0 0,6-2 0,2-7 0,4-1 0,1-7 0,1-5 0,2-4 0,2-6 0,2-6 0,0-13 0,0-11 0,-6-4 0,-4-3 0,-7-11 0,1-2 0,-8-6 0,-5-2 0,-2 0 0,-2 3 0,-2 1 0,-1-1 0,-2 4 0,-3 5 0,1 8 0,-1 9 0,-4 4 0,11 21 0,-4 14 0,4 21 0,1 15 0,0 11 0,4 8 0,1 10 0,5-2 0,-6-30 0,0-1 0,12 32 0,1 1 0,-1-6 0,0-7 0,0-9-2477,1-5 0,6-11 1323,-2-5 0,4-7 1154,0-11 0,-5-8 0,-1-7 0</inkml:trace>
  <inkml:trace contextRef="#ctx0" brushRef="#br0">17437 10196 7872,'-18'4'0,"1"2"0,1 1 3276,2 3 1,7 2 0,6-1 385,8-2 0,4-6-5175,15-12 1,-2-11 816,11-14 1,-1-8 695,5-1 0,11-6 0,3 3 0</inkml:trace>
  <inkml:trace contextRef="#ctx0" brushRef="#br0">20095 9396 7898,'-17'0'1382,"1"4"0,4 9 0,3 16 0,3 14 0,5 14 0,4 11-439,0-30 0,2 1 0,1-1 1,1 0-1,1 1 0,0-1 1,11 33-784,1-5 0,-3-7 0,3-5 0,-1-7 0,-4-7 0,0-5-1769,-2-4 1,-1 5 0,1-3 0,0 0 1608,0-3 0,0-2 0,0-3 0</inkml:trace>
  <inkml:trace contextRef="#ctx0" brushRef="#br0">20508 10325 7920,'-8'2'3294,"1"2"-521,1 5 0,3 2 0,7 0-1737,5-2 0,2 1 1,4-6-1,1-1-1068,1-1 1,6-4 0,-2-2 0,2-6-68,-1-6 1,1 0 0,-6-7 0,-1-4-369,-2-6 1,-7-5 96,-3-6 0,-4 4 367,-4-3 1,-9-1 0,-8 2 0,-4 6 0,-2 9 0,-2 10 654,-1 7 1,-4 11-437,4 12 0,1 13-371,8 13 1,3 5-1,10 9 1,3 3-2356,4 4 0,4-8 257,5-5 2102,7-5 1,16-15-1,2-2 1</inkml:trace>
  <inkml:trace contextRef="#ctx0" brushRef="#br0">21025 9925 7920,'1'-13'481,"2"0"0,1 0 3415,-1 0 1,-1 1-1736,-2-1 0,-2 5-1706,-2 4 0,1 7-433,-6 1 1,2 8-1,-3 1 1,2 7-1,-2 4 1,-2 2-274,-1 0 0,5 4 291,-1 0 0,6 4-121,-1-3 1,2-1 0,2-4 0,0-2 0,2-1 0,2-3-136,5-1 1,2 2 192,2-4 1,4-4 465,0-4 1,5-2 0,-3 3 0,-1-3 0,1-1-1,-2-2 1121,2 2 1,-5-5-923,3 4 0,-2-4-1233,-2-1 0,-5 0 1,1 2-859,1 2-1187,-4 3 1,-6 6 1246,-9 0 0,-3 0 0,0 1 1389,-1 3 0,-6-2 0,-1 3 0</inkml:trace>
  <inkml:trace contextRef="#ctx0" brushRef="#br0">21425 10106 7848,'0'-13'1974,"0"0"0,1 0-893,4 0 1,-3 2 0,7 1-1,0 1 85,-2-1 1,9-1-688,-4-2 1,6 0-496,-1 0 0,-3-2 0,3 0 1,-2-3-1,-4 3 0,-2 0 165,-5 2 1,-4 2 418,-4 2 0,-3 4 1,-6 8-1,0 5 411,0 9 1,1 6-1,4 3 1,4 0-265,2 0 1,2 0-1,2-1 1,2 0-716,4-4 0,10-2 0,3-8 0,5-2-932,4-5 1,5-2 0,6-5 0,2-6-5202,-1-8 6133,-8-6 0,3-8 0,-4-2 0</inkml:trace>
  <inkml:trace contextRef="#ctx0" brushRef="#br0">20870 9138 7919,'0'-32'416,"-4"1"0,-1-5 1,2 3-1,0 1 0,1 4 736,-3 0 0,1 8 1,4 3 257,0 3 1,-1 7-782,-4 2 0,4 5 1,-3 5-1,2 5 1,2 5-1,0 7 1924,0 2 1,0 9-2155,0 6 0,0 4 1,0 6-1,0-2 1,0 0-1,0-1-636,0-3 0,0-4 67,0-5 0,0-2-826,0-6 1,0-6 0,2-4-2296,2-6 1,-3-10 2344,4-9 1,-3-4 169,3-4 0,-4-3 0,3-6 0,-2 0 0,-2 0 0,0 1-455,0-1 0,0 1 1150,0 4 0,-2-2 394,-2 6 0,1 0 1,-5 5-1,-2 4 1,-3 3 812,-4 4 1,2 8 138,-2 6 0,1 6-834,-1 6 0,1 1 0,-4 0 0,3 0 1,4-2-1,3-2 175,0-5 1,4-3-328,2-1-270,3-6 1,1-2-1,0-11 1,0-6-1,1-5 1,2-4 221,1-7 0,5-3 1,-4-9-1,3-3 35,2-5 0,1-2 1,2 0-1,0 1 373,0 2 0,0 5 1,0 2-1,0 9 2096,-1 9-1776,1 6 0,0 11-796,0 5 0,0 11 1,-1 11-1,-2 2 0,-2 3 1,2 2-164,2 1 0,-4-4 0,1-5 0,0-5-1141,3 1 1,1-2 0,0-4 0,0-1-1,2-3 1141,2-1 0,3-2 0,6-4 0</inkml:trace>
  <inkml:trace contextRef="#ctx0" brushRef="#br0">20276 7744 7935,'-13'0'1316,"0"0"1,0 0 299,0 0 0,6-2-55,3-2-1106,3-3 1,6-6 0,5 0-1,9-1 1,11-3 0,16-6-1,17-6 943,-23 12 0,2 0-1249,3-4 0,3-1 0,13-4 1,3-1-1,-17 6 0,1-1 1,2 0-1,6-2 0,2-1 1,1 1-1,5-2 0,2-1 0,1 1 1,-16 6-1,2-1 0,-1 1 1,1-1-1,0 1 0,0-1 1,0 1-1,0-1-128,0 1 0,0-1 1,0 0-1,1 0 0,0 0 1,0 0-1,0 0 0,0 0 76,0-2 1,0 0 0,-1 1 0,1-1 0,0 2 0,0 0 0,1 0 0,-1 1-98,0 0 0,0 1 0,-1 0 0,1 0 0,14-6 0,0 1 0,-1 1 0,0 1 0,-2 2 0,1-1 0,0 1 0,-1-1 0,1 2 0,-2 0 0,0 0 0,0 1 0,-2 0 0,-1 1 0,0 0-240,-2 1 1,0 0 0,-1 1 0,-6 0 0,-1 1 0,-1 0 239,20-4 0,-2 1 0,-4 4 0,0 1-3,-4 2 1,0 2-1,-5 1 1,-2 0-1,-3 1 1,-1 1 0,-10 0-1,-1 1 1,24 0-1,-12 2 3,-4 2 0,-10 0 0,-11 0-1117,-4 0 0,-16 0 1,-6 2-1,-12 1 1,-13 1-1,-11-1-1744,-9-2 0,-6-1 590,-4 0 0,-10 0 1786,29 0 1,-3 0 484,-7 0 0,-1 0 0,-1 0 0,-1 0 0,-3 0 0,-1 0 0,2 0 0,-1 0 0</inkml:trace>
  <inkml:trace contextRef="#ctx0" brushRef="#br0">23658 6531 7863,'0'-9'1840,"1"2"-962,3 1 0,5 2 0,8 4 1,5 0-1,3 1 0,6 4-551,3 3 0,3 5 1,1 4-1,-3 5-57,0 2 1,-8 2 233,-1 0 1,-2 5 45,-6 4 0,-1-2 0,-6 1 0,-2 1 1,-5-1-1,-2-1 663,-2-1 0,-2-4-850,-2-6 1,1-4 61,-6-5 1,1 0 0,-5-1 0,0-4 0,0-3 275,0-4 1,-4-7-526,0-2 1,-5-10-351,5-3 1,-5-11 0,4-6-1,-1-10 1,1-6 0,2-6-181,1-3 1,4-9 278,6 33 1,1 0 0,2 1 0,1-1 85,5-2 1,1 0 0,9-25 0,14 10-1,2 13 1,6 12 0,2 11 470,1 8 1,3 12 76,-8 9 1,-4 8-497,-4 5 0,-2 2 0,-6 2 0,-4 1 0,-4 2 1,-4 2-64,-1 2 0,-3-3 0,2 5 0,-7-8-300,-1-1 1,-6 0 0,1-6 0,-2 0 0,-1-3 0,2-3-9532,2-1 5958,5-6 3873,-3-1 0,18-12 0,2-1 0</inkml:trace>
  <inkml:trace contextRef="#ctx0" brushRef="#br0">24522 6518 7863,'9'0'1067,"0"0"1,-5 1-420,4 4 0,-3-4 3391,3 3-2009,-5-2 1,4 2 169,-2 0 0,-5-1-1350,0-7 0,-2-3-651,-6-6 1,-1 0-1,-4 0 1,0 0-1,2-1 1,1-2-114,1-1 0,6 0 20,-1 4 1,3 0 7,1 0 1,2-4-1,6-1 1,4 4-698,3 4 1,5-1-549,1 2 0,5 3 1,3 2-1,1 1 1,-1 0-1,-1-1-2380,3 1 0,1 0 2410,7-1 0,4-5 696,0-8 0,2-3 0,-4-4 0,1 1 0,-5 3 0,-7 1 508,-7 3 1,-4 6 691,-6 1 1,-6 8 230,-3 1 1,-2 7 0,-2 10 0,0 5-1,0 4 1,0 2 1113,0 3 0,0 3-1742,0-4 0,1 0-541,3-4 0,-1-2 0,4-2 1,1-5-1,-1-4 0,3-4-1759,1-5 0,2-8 53,0-5 1,-1-14 416,-4-7 1,4-7-1,-5-5 1432,0-1 0,4-11 0,-3 0 0</inkml:trace>
  <inkml:trace contextRef="#ctx0" brushRef="#br0">25245 5847 7863,'-6'-25'476,"-2"4"153,2 2 0,-4 15-862,6 8 1,-1 5 232,5 12 0,6 6 0,1 6 0</inkml:trace>
  <inkml:trace contextRef="#ctx0" brushRef="#br0">25671 6002 7863,'0'8'1581,"0"1"0,0-1-702,0 5 1,0 0 524,0 0 1,0 6-1062,0 2 0,0 4 0,0 0 0,1 0 0,4-2 1,3-3-207,4-2 0,1 0-38,0-5 1,5-2-262,4-2 0,2-9 0,2-10 0,0-6 0,1-6 1,2-2-2290,1-2 0,0 2 1349,-4 2 1,-6 4-234,-3 5 1,2 0 2578,-2 0-985,-6 11 0,-3-2 534,-4 8 1,-1 2-1,5-2 1,2-2 0,3-4-1,3-3 1066,1-2 0,6-3-1395,-1-8 0,-2 3-254,1-7 1,-5 1-1,1-5 1,-2 1 0,-4 2 108,-2 2 1,-5 7 13,-8 1 0,-5 7-89,-8 10 0,3 9 0,-4 9 0,5 2 351,5 2 1,2 0-565,6-1 0,0 1 0,2-1 1,2-4-1,4-4 0,5-4-927,5-4 0,6-3 509,6-6 1,6-3-1278,-2-6 0,9-1 0,5-11 0,3-4 1664,5-3 0,-3-5 0,5-6 0</inkml:trace>
  <inkml:trace contextRef="#ctx0" brushRef="#br0">27284 5872 7847,'13'-12'438,"-4"-4"1,-1 1 0,4 4 206,4-1 1,-6 1 0,1-2 0,-2 2 155,-2 2 0,-4 2-384,1 3 1,-4 2 69,-4-2 1,-3 2 0,-8 4 0,-3 2-1,-7 6 1,-5 6 684,-3 5 0,-1 4-387,-5 1 0,5 5-402,-1 4 0,8-2 1,1 0-1,8-2 1,5-2-1,4-2 149,5-1 1,9-7-341,8-7 0,13-4-80,13-8 1,5-8 0,8-6 0,-2-10 0,-2-9 0,-5-6-37,-3-4 1,-4-3-418,-6-6 0,-6-1 82,-11-3 0,-6-2 0,-3-7 1,-2 1-1,-4 1 0,0 2-898,-3 5 1,0 15 266,0 6 1182,4 12 0,-5 18 0,6 15 0,1 14 0,4 15 0,3 11 1101,4 9 0,-2 4-911,3 1 1,-3 1-369,7-1 1,-1 0 0,1-6 0,6-6 0,4-9 0,3-9 97,-1-8 1,-2-7-44,-1-10 1,-6-4-38,-3-5 0,-4-5 0,-4-6 0,-5-4 0,-2-7 0,-2-2-8,0-2 0,-2 0-114,-2 0 1,-2 1-94,-2-1 0,-3 4 0,6 2 1,-1 2-1,0 2 0,3 1-1068,2 2 946,1 6 1,1 2 107,4 5 1,3 0 0,10 0 0,3 0-1,3 0 1,4-2-523,2-2 1,-3 2 333,3-2 0,2 1-440,-2-1 1,6 1 0,-3-6 0,1-1 0,-1-1-1,0-2-722,0 0 1,1 5 1114,5-1 1,-6 2 575,-3-2 1,-7-1-1,-3 6 1,-1 1 0,-5 3-136,-4 4 1,-4-1 408,-6 6 1,0 1-242,0 7 0,-1-1 1,-2 4-1,-2-2 0,3-2 1,0-1 1363,2-3-1261,0 1 0,6-5-154,2-4 0,8-4 0,3-4 0,1-5 0,3-4 0,1-4 470,2-5 1,0 2-473,0-1 1,-2 1-473,-2-2 0,1-1 0,-6 6 0,-3 1-445,-4 2 1,-7 2 462,-12 4 0,1 2-68,-9 6 0,1 0 0,0 0 1,-1 0-1,1 0 0,2 0-764,1 0 1,4 0-1691,1 0 1317,5 0 1,-7 2-1,5 2 1,4 3-363,4 0 1,0 3 1559,5-6 1,1 2 351,4-1 0,0-4 0,0 5 0,0-2 0,-1 0 1,3-1 1673,2-1 0,-1-2-681,5 0 0,1 4-330,4 0 1,4 5-1,0-3 1,-1 1 0,-1 3-1,1 3 507,1 4 0,-4-3-901,-5 3 0,-6 2-69,-2-2 0,-2 5 0,-7-5 0,-2-1 0,-5-2 0,-6-1 546,-2 0 1,-4-4-545,-2-1 1,3-5-297,-3 1 1,1-2 0,0-4 0,-1-3-1,1-7 1,2-5 79,1-3 1,4-6-553,1-4 1,5-10 278,-1 1 0,8-10 0,6-1 1,6-4-1,7-2 0,5 1 290,7 4 1,2 3 786,2 14 0,-2 9-371,-3 12 0,2 6 0,-6 10 0,-1 6 0,-3 8 1,-5 7-535,-3 6 0,-5 2 0,-5 2 0,-8 4 0,-8-4 0,-8-2 0,-3-2 0,0-3 0,-1-3 0,2-2-2386,-1-5 0,-2-4-654,3-4 3040,1-4 0,4-10 0,0-2 0</inkml:trace>
  <inkml:trace contextRef="#ctx0" brushRef="#br0">22057 8338 7994,'-8'-5'2073,"2"2"0,6 6 1,11 9-1,12 9-107,10 8 0,16 4 0,7 6 0,-24-19 0,0 0-1328,4 1 1,2 1-1,1 0 1,2 0-711,5 2 0,3 0 1,2-2-1,2-1 1,4-3-1,1-2 1,1 0-1,0-2 1,-2 0-1,-1-1 1,-3 0-1,-1 0 72,-4 0 0,0 0 0,-3 0 0,0 0 0,-2 0 0,0 0 0,-2-1 0,-2 1 0,-1 0 0,-1 0 0,26 12 0,-11-4 0,-6 4 0,-8-4 0,1-2 0,-2-2 0,-4-3 0,-7-2 0,-7-4-4570,-5-3 1200,-7-4 3370,-1-7 0,0-7 0,1-7 0</inkml:trace>
  <inkml:trace contextRef="#ctx0" brushRef="#br0">22367 8583 7885,'-22'-4'2196,"2"-1"20,2 2 0,6 9-1430,8 7 0,13 7 0,5 9 1,5 2-1,4 2 0,1 2 1662,2-2-2047,0-2 0,-6-5 1,-3-2-1,-3-2 1,-2-5 2867,-4-3-2244,-2-6-897,-18-20 1,-2-5-1,-12-17 1,-1-4-164,-3-3 0,-2-5 76,-2-6 0,-3 1 1,2-1-1,1 2 0,4 4 1,8 9-42,6 9 0,9 14 0,3 8 0,8 6 0,11 2 0,10 1 0,8 2 0,6 1 0,3 1 0,1 0 0,6-4-3326,-2 2 1,10 0 1863,8 0 1,-27-3 0,3 1 1461,5-1 0,2 1 0,0-1 0,2 1 0,6 3 0,1 0 0,3 0 0,2 1 0</inkml:trace>
  <inkml:trace contextRef="#ctx0" brushRef="#br0">24703 8957 7862,'0'-13'9830,"0"0"-9052,6 12 0,-3 1 0,5 10-572,2-1 82,-4-7 1,-2 3 177,-8-10 1,-3 4 90,-6-3 1,0 2 0,0 2 0,0 2 0,0 3-1,2 10 1234,2 9 1,4 5-1792,5 9 0,0-3 0,0 4 0,5-2 0,5-7 0,8-1 0,7-3 0,8-6 0,5-7 0,0-8 0,1-9 0,4-10-672,0-12 0,-1-6 1,-8-5-1,-4 3 1,-4 3-1,-4 6 595,-5 3 245,-3 3 1,-2 14 213,-4 5 0,-1 13 0,-2 11 0,2 6 739,0 3 0,4 0-1121,-2 2 0,-2-5 0,3-7 0,3-5 0,3-3 0,0-8 0,-2-4 0,-1-9 0,0-3 0,4-14-376,0-7 1,0-6-1,-5-2 1,-2-1 0,-1 0-1,-1 2-2081,-1 2 1,-1 5 1557,-6 9 0,0 7-317,0 5 0,0 7 0,-1 2 1,-2 8-1,-2 5 0,3 2-1359,0 3 1,4-3 2574,2-6 0,9-3 0,7-6 0</inkml:trace>
  <inkml:trace contextRef="#ctx0" brushRef="#br0">25581 8905 7862,'13'-25'0,"0"-1"1474,-1 0 1,0 6 538,-4 3 0,-3 4 0,-10 4 133,-3 5 0,-9 10-683,-5 7 0,2 0-947,-1 4 1,5 1 0,0 1 0,5 0 144,2-1 1,6 4-460,-1-5 0,8 5 0,6-5 0,6-2 0,7-2 1,4-3-203,3-1 0,2 0 0,-2 4 0,-3-2 0,3-2 0,-7 2 0,-3-2 0,-3 2 0,-5 2 0,-6 0 0,-5 0 0,-2 6 0,-4 2 0,-8-1-249,-8 2 1,-2-5 0,0 3 0,2-3 0,-1-4-9583,2-3 9689,7-13 1,7-10 0,6-14 0</inkml:trace>
  <inkml:trace contextRef="#ctx0" brushRef="#br0">25903 8647 7844,'13'-46'0,"0"9"2036,0 11 0,-4 8-1033,-1 9 0,1 5 0,4 11 0,0 9 0,-2 11 1,-1 9 1782,-1 8 1,-1 5-2129,5 3 0,0 4-1148,0 0 0,0-5 1,0-5-1,0-1-703,0-4 1,1-2-812,3-5 1,-2-9 0,2-12 2003,-3-8 0,-1-15 0,0-4 0</inkml:trace>
  <inkml:trace contextRef="#ctx0" brushRef="#br0">25994 8944 7844,'-13'-1'7993,"0"-4"-6580,6 4-2327,30 7 1,1 1 683,23 6 0,-1-6 1,-1-7-1,-1 0 230,1 0 0,3-6 0,-2-1 0</inkml:trace>
  <inkml:trace contextRef="#ctx0" brushRef="#br0">26858 9022 7778,'-5'-13'4915,"3"4"0,-2 1-3332,3-3 0,2 1-1583,3 2 0,3-4 0,6 5 0</inkml:trace>
  <inkml:trace contextRef="#ctx0" brushRef="#br0">15978 9396 8263,'-18'-19'594,"3"1"1,-2-2 0,3 7 0,1 7 0,0 4 0,0 4 0,0 4 834,0 7 1,-4 11 0,-2 13-1,-1 11 0,-3 12 1,11-21 0,0 4-1133,-1 5 0,0 2 0,0 8 0,0 2 0,0 8 0,0 3 0,5-18 0,0 0 0,0 2 0,1 3 0,0 2 0,1 0 0,1 2 0,1 1 0,0-1 0,1 1 0,2-1 0,-1 0 0,2-1 0,0 0 0,0-1-437,1-1 1,1 0-1,0-1 1,0 1-1,1-1 1,0 0 0,2-2-1,1 0 1,1-1-1,-1-2 1,1 1 0,0-2 139,2 21 0,2-1 0,3-7 0,0-3 0,-1-3 0,0-1 0,1-3 0,1 0 0,-2-3 0,0-1 0,-1-7 0,1-2 0,0-2 0,0-2 0,15 29 0,2-7 0,4-4-1727,3-3 1,3-13 622,4-5 0,0-12-625,3-6 1,2-8 0,-7-8-1,-5-10 1729,-6-12 0,-2-8 0,-4-11 0,-5-7 0,-2-9 0</inkml:trace>
  <inkml:trace contextRef="#ctx0" brushRef="#br0">15617 9525 8120,'-32'13'308,"4"1"1,-5 2 0,3 4-1,4 2 1,4 2 2224,4-1-1699,0 0 0,5-3 0,2-6 398,2-8 1,9-9-1066,9-14 1,7-5-1,2-6 1,2-4-1,5-1 1,2-3 104,3-1 1,0 0 0,-4 1-1,0 3-99,0 1 0,0 2 18,-1 4 0,-5 6-254,-2 3 1,-4 4 0,-2 6 39,-4 7 1,-2 6-39,-6 7 0,0 0-70,0 0 0,0-1 0,0 1 0,0 0-118,0 0 0,1 0 197,4 0 1,-4-4-1,5-1 1,-1 2-1,3 2-269,-1 1 0,0-5-43,-3 1-833,-2-6 507,9 2 1,-8-5 559,6 0 1,-6-1 376,1-3 0,-3 1 940,-1-6-715,0 6 1,2-2 0,2 5 174,5 0 0,-2 5 0,3 5 1,3 8-108,3 7 0,8 10 0,2 12 1,7 11-377,-15-26 1,1 2 0,2 0-1,1 2 1,-1 0 0,0 1 0,-2-3-1,-1-1-157,13 29 0,-3-12 0,-4-11 1,-2-9-1491,-5-7 1,-3-6-5473,-1-8 6955,0-3 0,-6-6 0,-1 0 0</inkml:trace>
  <inkml:trace contextRef="#ctx0" brushRef="#br0">17075 12416 8174,'-17'1'972,"0"5"1,3 9 0,4 10-1,7 14 1,6 13 0,7 9-78,5 7 1,-7-31 0,0 0 0,2-1 0,0 0 0,0 0 0,0 0-437,10 33 1,0-5-947,2-4 1,1-7 0,-6-7-1,0-3 1,0-4 0,2-5-5306,1-2 5792,-4-2 0,8-10 0,-4-1 0</inkml:trace>
  <inkml:trace contextRef="#ctx0" brushRef="#br0">17514 13190 7956,'-1'21'1037,"-2"-4"1,-1-3 250,1-1 1,1 4 0,4 0 0,1-1-661,1-1 1,7-3 0,1 0 0,4-4-522,-1-3 0,4-5-38,-2-5 0,5-3 18,-5-9 0,4-9 0,-3-9 0,-4-3 0,-4-5 0,-6-3 222,-2 0 0,-4-3-326,-2 6 0,-5-4 8,-8 4 1,-1 1-1,-5 9 1,1 7 0,1 9-1,0 7-533,4 6 1,3 5 0,2 9 0,4 12-1176,4 9 0,2 8 1717,2 4 0,0 3 0,0 6 0</inkml:trace>
  <inkml:trace contextRef="#ctx0" brushRef="#br0">17888 12752 7956,'-12'-2'1572,"-1"-1"1861,0-1-2853,0 0 0,6 9-187,2 4 0,4 3 0,1 2 0,0 2 0,1 1 0,2 0 630,1 2 0,7-4-236,-3 7 1,2-6-414,-1 1 0,2-3 0,-1-1 0,5 0 0,2 0 0,-1 0 582,-2 0 1,-1 0-523,0 0 0,-2 1-294,-2 3 0,2-2 0,-4 3 0,1-1 0,-3 2 0,0 1-720,-1 3 0,0-4 335,-4-2 0,-1 2-2014,-3-2 1,1 0 0,-6-4 2258,-1 0 0,-1-18 0,-2-3 0</inkml:trace>
  <inkml:trace contextRef="#ctx0" brushRef="#br0">18043 13139 7956,'7'-13'-56,"4"4"352,-7 1 0,6-1 0,-2-4 0,5 0 1,3 2-1,3 1 860,1 1 0,1 1-852,5-5 0,4-5-127,0 1 1,5-6 0,-6 2 0,-4-4 0,-3 0 0,-5 0 341,-5 4 0,-5-2 1,-9 6-1,-2 2 154,-5 5 1,-6 0 91,-3 6 1,-5 0 91,2 4 1,1 10 0,0 5 0,3 7 0,5 7 0,6 2 905,5 5 0,2 1-1339,4 2 0,3-2-786,9-2 0,5-4 0,8-6 0,4-4 0,5-5 0,4-6-1953,5-6 1,2-5 2314,1-8 0,1-5 0,0-12 0</inkml:trace>
  <inkml:trace contextRef="#ctx0" brushRef="#br0">19411 8854 8011,'-7'-9'362,"1"2"0,2 0 1,0 0-1,0-2 0,-1 1 3288,1-1-2338,0 6 1,4-1-738,0 8 0,0 15 0,0 15 0,1 16 1,3 22-1,0-27 0,1 2 2032,0 7 0,1 2-2410,3 11 1,1 4-1,-2-17 1,0 1 0,0 2-1,3 5 1,0 2-1,0 0 1,1 0 0,1 1-1,0-1 1,1 1-1,1 0 1,0 0-507,1 0 0,0-1 1,1 1-1,0-2 1,0 0-1,1 0 309,-1 1 0,-1-1 0,2-1 0,1-4 0,0-1 0,1-1 0,-1-1 0,2-1 0,0-1 0,1-3 0,0-1 0,2 0 0,-1-3 0,2-1 0,0 0 0,0-1 0,0 0 0,1-2 0,12 21 0,1-2 0,-3-10 0,-1-2-203,-3-5 1,0-2 0,-4-2 0,-1-1 202,-4-4 0,1-1 0,-1 1 0,1-1 0,2-3 0,0-2 0,24 24 0,-4-11 0,-6-9-1047,-4-9 1,-12-4-659,2-7 0,-13-7-4371,0-6 6076,-9-17 0,-4-5 0,-7-10 0</inkml:trace>
  <inkml:trace contextRef="#ctx0" brushRef="#br0">19257 8764 8193,'-13'7'608,"-5"10"1,3 0 0,2 9 1288,3 8 1,3 8-1171,-2 14 1,-3 11-1,9-30 1,-1-1-1,-4 35 1,0-7-1,1-8 1843,0-9-2244,4-11 0,-2-18 1,6-18-1,3-16 132,5-12 1,4-6-235,4-9 1,-3 1 111,4-5-1,2 7 1,1 3 0,4 9 0,2 11 0,4 9 50,8 8 0,5 20-110,8 18 1,-25-11 0,-1 4-597,3 6 1,-2 3-1,0 2 1,-1 1 0,2 2-1,-1 2 1,-2-2 0,0 0-1,-2-3 1,0-1 0,-1-3-1,2-1-2025,-2-4 1,2-2 0,24 24 2344,-20-31 0,0-1 0,30 22 0,-28-24 0,0 1 0,27 15 0</inkml:trace>
  <inkml:trace contextRef="#ctx0" brushRef="#br0">21425 12442 7975,'-32'-33'1398,"9"3"0,-1 10 0,5 5 1227,8 5-1751,4 7 0,7-1 0,0 8 0,0 5 2446,0 3-2839,0-5 1,0-3 0,0-8-1,0-8 1,0-6 662,0-8 0,0-13-920,0 0 1,-5-12-274,1-1 1,0-1 0,4 6 0,1 7 0,3 8 0,7 10-2525,4 7 0,5 8 1510,6 2 1,0 15-19,0 7 1,5 2-1,4 3 1,3 1 0,4 0-1,1-3-668,-1-7 1,1-6 629,-5-7 1,3-2 1076,-11-2 1,-6-3 0,-8-8 0,-6 0 0,-6-3 0,-2 3 1060,-2 0 0,-6 7-339,-3-1 0,-2 6-18,-2-1 0,-4 4 0,-1 4 0,3 6 0,0 6 0,2 6 1848,1 2 1,3 2-1689,0 0 0,6-1-451,-1 1 0,3 0 0,1-2 0,1-1 0,3-3 0,5-2-51,3-7 1,0 1-142,1-8 0,0 0-241,0-4 0,0-6 0,0-4 0,0-5 0,0-7 0,-2-2-457,-2-2 0,1 2 489,-6 2 1,5 3 224,-5 6 1,6 2-1,-1 2 1,2 7-29,2 4 1,-4 6-753,-1 4 1,-3 0-49,3-3 1,-1 2-1,3-4 1,-1 0 0,1-2-1,2-4-2682,0-1 0,3-6 2411,2-2 0,-3-8 762,4-1 0,-4 0 0,-1 4 0,1 1 0,2 4 0,1 3 1039,-1 4 0,-2 1-648,-1 0 1,-4 6 279,-1 2 1,0 4 0,2 1 0,-2-1-1,1 1 1,-1 0-566,1 0 1,-5-6-215,5-2-2945,0-4 3195,3-1 0,1-6 0,0-1 0</inkml:trace>
  <inkml:trace contextRef="#ctx0" brushRef="#br0">22122 11590 7975,'-26'-7'2107,"2"-3"-1633,2 6 0,8-1-112,5 5 1,6 6 0,-1 3-1,2 2 1,4 2 0,2 1-1912,5 3 1,4-2 1548,4 2 0,9 3 0,7 0 0</inkml:trace>
  <inkml:trace contextRef="#ctx0" brushRef="#br0">22561 11667 7975,'-13'0'3384,"0"0"-1564,0 0-1054,0 0 1,0 2-1,2 2 1,1 3-1,2 2 1,3 1-27,2 4 0,1 1-726,2 6 0,2 1 36,2 4 0,3-5 1,8 1-1,2-1 1,3-1-1,1-3 271,1-2 1,-2-4-357,1-2 0,2 2-26,-5-2 0,-5-2 0,-5 2 1,1 1-950,-2 1 0,-3 2 100,-8 0 1,-3 4-255,-6 0 0,0 1 0,0-6 1,2 1-1,2 0-896,5 0 1,4-6 2059,4-2 0,7-4 9,7-1 1,5-1 0,-2-2 0,3-3 0,1-1 0,-2-3 517,-2-2 1,1 2 548,4-3 0,-2 3-285,-3-7 0,0 1 0,-7-1 0,0-4 0,-2-5 0,-2-3 646,-3-1 0,-1-1-1166,-6 0 0,-2 3-3,-2-7 1,-3 12-1,-6 2 1,0 7-1,-1 5 1,-2 5 1265,-1 2 1,1 9-755,7 6 0,-1 12-668,6 9 0,0 3 0,6 2 0,6-2 0,6-2 0,5-5-1949,4-3 1,2-7 1129,6-3 0,1-8-1071,7-5 1,4-14 1777,0-7 0,6-12 0,-3-4 0</inkml:trace>
  <inkml:trace contextRef="#ctx0" brushRef="#br0">22096 9164 8004,'-22'0'534,"4"-2"0,3 1 0,11-1 0,10 5 975,11 3 1,13 3 0,9 5 0,8 3-1136,8 5 1,4 8 0,-28-12 0,1 1 0,-1 3 0,1 2 0,-1 4 0,1 3 0,2 3 0,1 3 344,2 5 1,0 2 0,6 6-1,0 2-1047,-10-14 1,0 1 0,0 0 0,13 17-1,-1 0 722,-2 2 0,0 0 1,-5-1-1,-2 1 1,0 1-1,-2 1 1,2 1-1,-1 0 0,1 0 1,-1 0-1,1 1 1,0-1-341,-1 1 0,-1 0 1,-4-2-1,-1 0-54,-2 2 0,-3 1 0,-2-2 0,-3 1-6,-4 0 0,0 1 0,-1 1 0,-1 0 1,-1-2-1,0 2 0,0 1 0,-2 2 1,-1 2-1,-1 1 0,-1 1 0,-1 1 6,-3-23 0,0 0 0,0-1 0,0 25 0,-1-1 0,-1 2 0,-2-1 0,1-3 0,0 0 0,0-20 0,1 0 0,-2 1 0,0-2 0,-1 0 0,0 0 0,-2 23 0,0-2 0,0-2 0,0-1 0,-1-3 0,1 0 0,0-4 0,0-1-1594,0-2 1,0-1 0,-1 0-1,0-1 408,3-5 1,0-2-1,0-4 1,0-3-605,2 19 1790,0-14 0,0-14 0,0-6 0,0-1 0</inkml:trace>
  <inkml:trace contextRef="#ctx0" brushRef="#br0">24277 13358 7881,'0'-14'3321,"-1"-2"0,-4 0 688,-3 5 1,1 4-2813,-2 7 1,2 1 0,-3 2-353,1 1 0,1 6 1,-4-1-846,4 2 0,0 9 0,5 8 0,-1 10 0,1 13 0,2 12 0,1 10 0,0-35 0,0 1 0,-1 2 0,2 0 0,3-1 0,2-1 0,0 1 0,1 0 0,0-3 0,2-1 0,9 27 0,5-11-251,6-12 0,4-14-3068,6-13 1,-1-10 2303,1-16 1,0-14 0,-1-22 0,1-7 0,-3-7-1,-20 29 1,0-1-635,-3-1 0,-1 0 0,4-32 1166,-9 31 1,-1 0 0,1-30 361,-7-2 0,0 16 0,0 10 0,-1 12 2582,-3 8 0,-2 21-1605,-3 15 1,3 14 206,6 8 1,0 2-1,0 3 1,0 2-1,0 1 1,0 0 661,0 1 1,5-4-607,-1 3 0,6-4-783,-1-4 0,6-8 0,4-7 1,0-3-437,-1-5 0,5-5 63,-1-7 0,-2-10 0,1-5 0,1-3 0,-2-5 0,-3-3-1483,-2-4 1,-3 1-309,1-5 0,-1 1-776,-4-2 1,2 2 2603,-5 3 0,-1-3 0,-4-5 0</inkml:trace>
  <inkml:trace contextRef="#ctx0" brushRef="#br0">24948 13229 7842,'-18'0'2206,"-2"2"1,-1 2-804,4 5 0,3-2 0,2 1 0,4 2 938,4 2-1946,2 1 0,9 0-55,6 0 1,6-2 0,7-1 0,1-3 0,2 0 0,2 1 1625,2 2 1,-3-2-1276,5 5 0,-8-3-639,-1 7 0,-2 2 0,-7 0 0,-1 2 0,-3 5 1,-4 4-53,-5 3 0,-8 0 0,-5 1 0,-7 4-306,-1-4 1,-6-4 0,2-4 0,-4-7 0,1-6 0,1-5-9526,1-3 9647,7-4 1,-10-24-1,5-6 1</inkml:trace>
  <inkml:trace contextRef="#ctx0" brushRef="#br0">25181 12842 12055,'8'0'2561,"1"0"1,-5 17-1611,5 9 1,-1 14-1,5 10 1,0 8 1166,0 6 1,1 4-2756,4-4 1,-4-5-823,3-3 1,2-10 0,-2-9 0,0-10 1458,2-8 0,-5-10 0,5-4 0</inkml:trace>
  <inkml:trace contextRef="#ctx0" brushRef="#br0">25284 13384 7831,'-13'-1'3048,"0"-2"-462,0-2 0,6 0 0,4 2-882,6-1 0,6-7-3526,8 3 0,9-4 456,8 0 1366,3-1 0,8-12 0,1-2 0</inkml:trace>
  <inkml:trace contextRef="#ctx0" brushRef="#br0">25878 13216 7828,'0'9'0,"-2"-2"6269,-2-1-3209,2 4-2185,-9-3-875,9 6 0,-9 0 0,4 0 0</inkml:trace>
  <inkml:trace contextRef="#ctx0" brushRef="#br0">26820 12674 7816,'-5'-39'609,"0"4"1,-1 3 1077,0 6 0,-2 9 1,3 4 296,2 12 1,2 9-1246,1 18 1,6 6-285,2 2 1,4 8 0,1 1-1,0-2 1,0-1 0,-1 1 559,1 2 0,0-9-807,0 0 0,0-5 288,0-3 0,-4-5 1,-2-3 200,-2-8 0,-6-13-538,-8-19 1,-2-2-190,-2-2 0,0 0 1,0 1-1,0 0 0,0 4 1,1 3-169,-1 4 0,0 3 278,0 2 0,3 5-86,-3 8 1,4 15 0,-5 12 0,4 8-1,1 5 1,2 1-233,3-1 0,2-2 46,2-8 1,6-4 58,3-8 0,6-5 0,4-8 1,0-5-1,-1-3 0,0-1 189,0 0 1,-3 0-32,2 0 0,-7 0-222,-2 0 0,-5 8 0,2 5 0,-4 7 1,-1 4-1,-1 3-1780,-4 3 1,0-1 1155,-4 5 0,-1-5-1916,6 1 1,-5-4 2736,5-4 0,-1-15 0,5-9 0</inkml:trace>
  <inkml:trace contextRef="#ctx0" brushRef="#br0">27246 12274 7816,'0'-14'3973,"0"-3"0,0 11-2227,0 6 0,5 18 1,3 24-1,0 13 60,1 12 1,-5-30-1,0 0-1680,3 2 0,-1 0 0,-1 0 1,-1 1-149,0 1 0,0 0 0,1-3 0,-1 1 0,2 1 0,1-1 0,4 33 0,-1-9 0,-1-13-1744,1-13 1,-4-10-1590,-2-5-735,-2-3 1,-4-8 4089,-2-2 0,-9-9 0,-7-8 0</inkml:trace>
  <inkml:trace contextRef="#ctx0" brushRef="#br0">27233 13061 7816,'-13'-21'902,"0"-1"1,6 7 226,2-3 0,4 0 690,1 1 1,7-2-1146,6 2 1,6 1-1,7-6 1,1 1-1,1-1 1,4 2-228,1 2 1,-4-1-608,1 2 0,-4 2 166,-5-2 1,2 7 0,-6 3 0,-1 0-1,-2 1 1,-2-1 1364,-4 0 967,4 4-1749,-5-3 0,0 8 0,-2 2 0,-4 5 1,-2 5-1,-2 6 34,-2 6 1,-3 7-624,4-3 0,-5 4 0,5-4 0,-1 5 0,5-5 0,2-3 0,2-4 0,3-1-264,6-9 1,1-3 0,4-12-1,3-2 1,4-8 0,-1-8-625,-3-10 1,2-3 382,-5-6 0,-6 5 737,-3-5 1,-2 3-1,2 9 1,-5 4 1484,-2 3 1,2 12-1718,0 12 0,5 5 0,-5 12 0,6 1 0,-1 3 0,2 0 0,2-2 0,0-5 0,0-3 0,4-1 0,0-10 0,2-2 0,-2-11 0,-2-2 0,2-14 0,-3-3 0,-1-4 0,0-2 0,0 1 0,0-3 0,0 6 0,0 7 0,-1 10 0,1 6 0,0 10 0,0 5 0,2 12 0,0 10 0,3 9 0,0 7 0,-1-3 0,2 4 0,3-4 0,2-5 0,-3-10 0,5-6 0,3-9 0,1-9 0,-1-7 0,1-16 0,-4-11 0,1-7 0,-10-6 0,5 4 0,-7 1 0,-2 6 0,-4 6 0,-2 6 0,0 7 0,-4 9 0,1 13 0,-2 16 0,-2 18 0,0 13 0,-2 9 0,0 7 0,-1-34 0,0 1 0,0 1 0,0 0 0,0 1 0,0 0 0,-1-2 0,0-1 0,2-1 0,-1 0 0,-1 0 0,0 2-9,1 0 1,1-1 0,-2 29 0,4-16 0,0-10 0,0-8-9750,0-6 9758,0-9 0,6-18 0,1-7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11926 6518 8028,'-5'-13'568,"0"0"2041,-3 0 1,7 2-1686,1 2 1,6 3-1,7 8 1,0 2-1,1 5 1,3 2-95,5 2 1,2 6 0,3 2 0,2 4 108,1 0 1,10 1-1,0 1 1,5 3-383,4 5 0,5 2 0,2 2 0,-2 0-557,-1-1 0,-5 0-144,-1-4 1,0 2 143,5-6 0,0-6 0,1-6 0,1-4 0,4-1 0,-2-2 0,-3-2 0,-6 1 0,-13-6 0,2 1 0,-6-5 0,9 4 0,-3 0 0,0-1 0,1-2 0,2-1 0,4 0 0,-3-5 0,3-4 0,-3-4 0,-1-4 0,-5-7 0,1-6 0,-2-12 0,1-1 0,3-7 0,-1-5 0,6 1 0,7 4 0,4 7 0,3 7 0,-1 11 0,-3 12 0,-2 6 0,-2 7 0,-4 2 0,-5 2 0,0 6 0,-1 6 0,1 5 0,0 4 0,-1 0 0,0 1 0,-4 0 0,-4 0 0,2 4 0,-4 0 0,-3-3 0,-7-4 0,-3 0 0,-4-6 0,-1 1 0,-1 0 0,-6-8 0,1 3 287,-2-1-287,3-1 0,2 2 0,8-1 0,1-4 0,1-3 0,0-4 0,2-1 0,-4-3 0,7-6 0,1-1-82,7-11 0,3-1 1,6-5-1,-1-3 1,3-3-1,2-1 204,4-1 1,-1 11-1,0-1 1,0 5-123,-1 5 0,4 5 0,7 1 0,4 6 0,9-1 0,1 4 0,-33 1 0,0 1 0,31 2 0,-2-1 0,-5-2 0,-1-1 0,1-1 0,8-5 0,-32 1 0,1-1 0,0-2 0,0 0 0,-1 0 0,-1 0 0,27-6 0,-13 1 0,-7 0 0,-2 1 0,-3 4 0,-3 2 0,-2 8 0,-2 2-3625,-2 4 0,-2 1 2043,-1 4 0,-6-3-3339,-3 7 4921,-2-8 0,-8 2 0,-2-4 0</inkml:trace>
  <inkml:trace contextRef="#ctx0" brushRef="#br0">15462 7331 7966,'-17'-13'252,"0"2"2112,1 2-1595,7 3 1,3 8-1,6 2 1,0 5-1,2 2 1,2 2 0,3 1-1,2 3 2382,0 5 1,-1 7-2314,5 1 0,0 6-236,0-2 0,-4 5 0,-1 4 0,4 6 0,2 4 0,3 4-517,-1 2 1,-6-3-1,-1 2 1,1 1-86,1 0 0,-2-10 0,-1-2 0,-5-11 0,1-6 0,-1-8 0,0-5 0,1-3 0,-1-1 0,0-4-2556,2-1 66,-4-5 29,5 3 0,-8-6 0,-2 0-46,-5 0 0,-2-6 1920,-2-2 1,-4-2 565,0 1 0,-2-3 0,2 4 0,-3-2 0,0 0 0,2 1 711,4-1 0,-3 4 0,0 1 0,1 0 741,1 1 0,7 0 0,1 5-178,1 3 0,2 8 1,7 7-1,4-1-219,6 1 1,8 4-1,1-3 1,2 1-401,2 1 1,0-6-1,1 1 1,2-4-635,1-5 0,-5-2 0,-3-6 0,-1 0 0,0 0 0,-3-6 0,-5-2 0,-4-5-220,-1-4 1,-5 1 0,2-7 0,-4-3 0,-1-3-1,0-1-9611,0-1 8983,6 4 0,-5-11 1,5 5-1</inkml:trace>
  <inkml:trace contextRef="#ctx0" brushRef="#br0">19076 7925 7903,'-13'-31'794,"1"3"1,4 3 0,5 8-1,7 10 1484,9 11 0,2 15 0,7 15 0,4 5-190,3 4 1,1 7-1733,-4 6 0,4-4 0,2-5 0,1 2 0,4 0 0,2-2-219,-1-4-649,4-9 0,-9-2 0,4-6 0,-2-2 0,-5-2-2878,-3-5 0,-7-8 2071,-3-5 1,-2-6 0,-3-8 0,1-13 0,-1-12 0,-4-11 1318,-3-4 0,-4-2 0,-1 0 0,0 2-115,0 3 1,-6 8 0,-4 10 0,-4 8 0,-5 8-1,1 7 2123,-1 5 0,-4 14-338,2 8 1,-8 5-1032,-1 8 1,-5 1 0,4 2 0,-1-1-1,1-2 1,2 2-866,2 2 0,2 0 0,4 1 0,4-2-1848,2-2 0,7-4 439,-1-5 1635,6 0 0,-8-12 0,4-2 0</inkml:trace>
  <inkml:trace contextRef="#ctx0" brushRef="#br0">20224 7834 7880,'-31'0'939,"4"7"1,-2 8-1,6 11 1,6 11 0,3 10 414,1 8 1,1-1 0,4 5 0,3 0 0,4-3 0,4-2-784,5-4 1,2-9 0,12-7-1,1-11-439,1-7 0,3-9 1,2-4-1,1-8 179,-1-8 1,-2-5-101,-1-8 0,0-6-45,0-2 1,-6-3 0,-3-2 0,-4 0-1,-5-1 1,-3-1 102,-4-2 0,-7-5-129,-2 5 1,-9-1-810,-5 1 1,-2 3 0,-4-2-1,-2 6 1,-3 7 0,-1 7-2670,-1 4 0,8 10 3338,1 3 0,1 15 0,5 5 0</inkml:trace>
  <inkml:trace contextRef="#ctx0" brushRef="#br0">20263 8118 7880,'-7'-6'4915,"1"5"0,12-3-3060,3 8 0,8 3 0,4 6 1,4 0-1452,1 0 0,4 0-1092,0 0 1,6-2-275,-2-2 1,3 1-1,2-6 1,0-1 961,0-2 0,-1-6 0,1-2 0</inkml:trace>
  <inkml:trace contextRef="#ctx0" brushRef="#br0">16972 13190 8101,'-13'2'0,"0"2"646,0 5 0,5-2 0,-1 0 0,1 0 1389,0 0 0,3-5-704,5-2 0,5-4 0,3-6-8,-1 1 1,4 6 0,-2-3-109,2 1 1,-2 3-768,-1-2 0,1 2-11,4 2 1,0 0-1,0 0 1,0 0-1,1 2 1,3 1-438,5 1 0,2 0 0,2-4 0,5 0 0,4 0 0,4 0 0,2 0 0,4 0 0,1 0 0,1 0 0,-1 0 0,0 5 0,-3-1 0,-2 2 0,7-2 0,-1-3 0,5 4 0,-1-4 0,1-1 0,1 0 0,3 0 0,-7 0 0,2 0 0,-8-6 0,0-2 0,-1 1 0,-1-2 0,2 0 0,0 1 0,0 1 0,0 1 0,2 0 0,-2 2 0,-3 2 0,3-2 0,-7 3 0,-3 1 0,1 0 0,1 1 0,4 2 0,1 1 0,3 1 0,8-5 0,2 4 0,3 0 0,-3 1 0,3-5 0,-4 0 0,-3 0 0,-1 0 0,5 0 0,-1-2 0,4-2 0,-1 2 0,0-2 0,-1-2 0,1 2 0,-3 1 0,-5 2 0,-4 1 0,-2 0 0,3 1 0,3 3 0,4 4 0,0 5 0,1-5 0,-1 1 0,0-1 0,-4 1 0,-4-2 0,-3-1 0,-1 2 0,0-3 0,4-1 0,0-4 0,5 0 0,0 0 0,2 0 0,2-1 0,-2-2 0,-3-2 0,-4 0 0,-9 0 0,-1 4 0,-2-3 0,2 1 0,5 0 0,2-1 0,2 1 0,2 1 0,2 2 0,2 0 0,3 0 0,-9 0 0,-3 0 0,-5 0 0,0 0 0,-3 0 0,-4 0 0,-1 0 0,-1 0 0,1 2 0,0 2 0,0-2 0,0 2 0,4-3 0,0-1 0,-1 0 0,-2 0 0,-1 0 0,-1 0 0,-3 0 0,-1 0 0,-5-4 0,1 0 0,-2-1 0,-2 4 0,0-2 0,0-1 0,-6-1-5890,4 5 5890,-9 0 0,-8-5 0,-8-2 0</inkml:trace>
  <inkml:trace contextRef="#ctx0" brushRef="#br0">19618 10609 8122,'-20'-18'495,"1"-3"1,6-3 0,2 3 0,1 5 2970,1 6 1,6 5-2375,-1 10 0,4 13 0,4 14 0,3 10 1,2 11-1,0 10 0,1 8 0,-5-33 1,1 0-836,1 1 1,-1 0-1,1 1 1,-1 0-1,0-1 1,-1 0 0,5 32-258,-1-3 0,0-10 0,4-2 0,-2-4-662,-2-5 1,1-4-1,-6-8 1,0-7 0,1-3-1,-1-4-9169,-1 2 9299,-2-4 1,-1-6-1,0-7 1</inkml:trace>
  <inkml:trace contextRef="#ctx0" brushRef="#br0">19373 11035 8048,'-22'-46'0,"4"-4"0,3-3 1293,8 3 0,4 0 0,5 7 0,2 1 1198,4 2 0,10 2-1540,3 4 1,9 3-237,5 5 0,3 6 0,5 2 0,3 6 0,0 3 0,-1 6 975,-1 6 0,-8 6-1242,3 8 0,-5-2-448,1 7 0,-2 0 0,-5 3 0,1 3 0,-5 2 0,-4-4 0,-7-1 0,-6 1 0,-4-4 0,-6 2 0,-7 0 0,-5-1 0,-7-1 0,-4-6 0,-4 1 0,-3-3 0,-6-1 0,1-4 0,-1-2 0,2 0 0,1-1 0,1 0-9830,0-4 9830,3 0 0,1 4 0,5 1 0</inkml:trace>
  <inkml:trace contextRef="#ctx0" brushRef="#br0">10145 13216 8198,'0'-13'-888,"1"0"1,2 1 1488,1-1-548,0 0 0,-4 0 1,-1 1-1,-2 2 1,-3 3-54,-1 1 0,-1-4 0,-5 3 0</inkml:trace>
  <inkml:trace contextRef="#ctx0" brushRef="#br0">10015 12958 8198,'-18'-6'-116,"-1"4"0,-2-6 0,3 3 1269,4 2 1,1 1 335,0 2 0,5 0-248,-1 0 1,8 5-671,1-1 1,5 0 0,8-2 0,0 1-54,0 1 0,6 0 0,2-4 0,4 0 88,0 0 0,3 0-282,2 0 1,-2-4-69,7 0 1,-5-5 0,4 3-1,1 0 1,-2-1 0,-2 2 496,1-1 0,-3 0-468,5 2 1,-1 2-58,1-2 0,4 3 0,-4 1 0,3 0 202,2 0 1,4 0-311,0 0 0,0 0 0,-4 1 0,-2 2 0,-1 1 0,-3 1 180,-1 0 1,-7 1-240,-3 3 0,-1 1-61,5-6 0,0 5 0,0-4 0,0 1 0,0 1 0,-1-1 0,1 0 0,-1-1 0,-3-2 0,0 2 0,1-3 0,-3 0 0,1-2 0,1 0 0,4 0 0,-5 0 0,1 0 0,1 0 0,1 0 0,2 0 0,0 0 0,4 0 0,1 0 0,4 0 0,2 1 0,3 2 0,2 1 0,-5 5 0,8-3 0,-1 0 0,3-1 0,-6 4 0,-4-5 0,-3 0 0,-1 2 0,-3-4 0,3 2 0,-1-3 0,-3-1 0,4 0 0,1 0 0,5 0 0,4 0 0,-3 0 0,1 0 0,-3 0 0,-4 0 0,-1 0 0,2 0 0,-5 0 0,-3 0 0,-3 0 0,-1 0 0,-1 2 0,1 2 0,0-2 0,-2 3 0,-4 0 0,-2-1 0,-2 0 0,0-4 0,-5 4 0,1 1 0,-6-1 0,2-10 0,-10-1 0,3-1 0,-2-1 0,-3 6 0,0-3 0</inkml:trace>
  <inkml:trace contextRef="#ctx0" brushRef="#br0">15643 5201 8187,'-2'22'195,"-1"-1"0,-1 4 0,1 3 0,2 5 0,1 2 0,0-2 855,0-2 0,0-5 0,0-4 952,0 1-447,0-5 1,0-6 0,0-12 3463,0-7-4327,0-11 0,0-7 0,1-13 0,5-8 1,7-11-355,7-9 0,-8 27 1,0-2-339,1-6 0,0-1 0,3-3 0,1-3 0,2-7 0,2-2 0,-5 17 0,2 0 0,0-1 0,3-6 0,1-1 0,1 0 0,3-6 0,1-1 0,2 0-137,-6 11 1,2-1 0,-1 1 0,1 0 0,7-13 0,0 1 0,0 1 0,1 0-1,-1 1 1,1 1 0,-4 6 0,1 0 0,-2 2 136,-2 3 0,0 1 0,0 2 0,10-13 0,-1 3 0,-2 6 0,-1 4 0,-5 8 0,0 3 0,0 3 0,-2 2 0,14-20 0,-3 11 0,-6 0 0,-6 4 0,-7 8 0,0 9 0,-6 4 0,-3 4-1120,2 5 1,-4 14 0,-2 7 0,-4 8-311,-4 5 0,-5 10 0,-8 12 1,-4 8 1429,-4 7 0,10-31 0,0 0 0,0 2 0,0 1 0,0 0 0,0 0 0</inkml:trace>
  <inkml:trace contextRef="#ctx0" brushRef="#br0">15514 4763 8315,'-19'0'596,"-4"5"0,-3 5 1,6 6 2450,4 6-2095,9 8 0,1 0 0,6 7 1,0 5-1,2 2 0,1 5 0,2 3 3091,3 3-3434,0 4 0,5 0 0,0-4 0,0-7 0,0-8 274,0-8 1,0-3-884,0-12 0,4-6 0,1-6 0,1-5 0,1-5 0,0-5 0,3-5 0,-3-1 0,2-6 0,-5-4 0,5-4 0,-5 0 0,3 6 0,-2 1 0,-2 1 0,0 5-1540,1-4 0,2 5 0,4-1 1540,-2 2 0,7 2 0,5 1 0</inkml:trace>
  <inkml:trace contextRef="#ctx0" brushRef="#br0">17372 2852 8100,'-21'0'540,"1"0"0,1 0 0,5-1 632,4-3 0,4 1 0,7-4 0,5-1-66,7 1 0,1 0-738,8-2 1,-1-2 0,5 2-1,1-2 1,2-2 0,3 0 1329,1 0-1506,1 0 0,10-4 0,5-2 0,6-1 0,5-1 120,3 1 0,6-3-198,0 6 1,-34 5 0,0 1 0,31-9 0,0-2 197,-3 1 0,0 5-201,6-1 1,-3 2 0,1 4-1,-5 1 1,-6 3 0,-3 1 241,-1 3 1,6 2-288,7 1 0,5-5-39,-32 3 1,2 0 0,0-1-1,1 2 1,0 0 0,0 2-1,0-2 1,1 0 38,2-1 0,0 0 0,1 1 0,0 0-32,4-1 1,1 0-1,0 1 1,0 1-1,-3 0 1,0 0 0,-1 0-1,1 0 1,-1 0-1,1 1 1,2 1-1,0 0-28,0 2 1,0 1 0,-3 1-1,-1 1 23,0 1 0,0 1 0,-2 1 0,-1 2 37,3 2 0,0 2 0,1-3 0,0 1 1,3 2-1,1 0 0,-3-1 0,-1 1 1,-2 1-1,0 1 0,-2 0 0,0 2 150,2 2 0,0-1 0,-2 0 0,2 0-145,3 2 1,0 1 0,-3-1-1,-2 2-26,0 0 1,-2 1 0,-1 2 0,0 2 0,-2-1 0,0 2 0,0 0 0,-1 1 0,2 0 0,0 0 0,1 1 0,0-1-46,0 0 0,-1 0 0,-1 0 0,-1 0 0,-5-3 0,-1 2 0,-1 0 0,-1 1 0,-2-2 0,-1 0 0,2 3 0,0 1 0,0 2 0,1-1 0,2-1 0,-1 1 0,1-1 0,-1-1 0,-1-1 0,0-1 0,-1 0 0,-1 1 0,-2 2 0,-2 1 0,-1 2 0,0 1 0,-3 1 0,-1 0 0,-1 2 0,-1 0 0,-2 0 0,1 0 0,-2-2 0,2-1 0,0 1 0,2 0 0,-1-1 0,0 1 0,2 4 0,0 0 0,-1 0 0,0 0 0,-1-1 0,1 0 0,0-2 0,0 0 0,-1-1 0,-1-1 0,-3 1 0,-1 0 0,2-1 0,0 1 0,-1 0 0,-1 0 0,0-1 0,1 1 0,-1 0 0,0-1 0,0 1 0,-1 0 0,-1 0 0,0-1 0,-1 1 0,0 0 0,-1-1 0,1 1 0,-1 1 0,1-1 0,-1 2 0,1 0 0,-1-2 0,0 1 0,1 1 0,-1-1 0,1 0 0,-1-1 0,0-1 0,0 0 0,-1 0 0,0 0 0,-1 1 0,0 0 0,1 1 0,-1 0 0,2 5 0,1 0 0,-3 0 0,1-1 0,-1 0 0,0-2 0,0 1 0,1-1 0,0-1 0,1 0 0,-1 2 0,0 1 0,0 3 0,-1-1 0,0 0 0,0-1 0,3 0 0,-1 0 0,1-2 0,-1 0 0,1-2 0,-1 0 0,1 2 0,-1 0 0,1 1 0,-1 1 0,0-1 0,1 1 0,-1-2 0,1 0 0,0 1 0,0-1 0,2-2 0,-1 0 0,0 3 0,-1 0 0,1-1 0,1 0 0,-2 0 0,0 1 0,0-1 0,-1 0 0,1-2 0,-1 0 0,1-1 0,-1 0 0,0 1 0,1 0 0,0 2 0,-1 0 0,-2 1 0,0-1 0,1 1 0,-1-2 0,0 0 0,1 0 0,1-4 0,0 1 0,1 1 0,-1 0 0,1 2 0,-1 1 0,1 2 0,-1 0 0,1 1 0,-1 0 0,1 0 0,-1 0 0,1-1 0,-1 0 0,-1-1 0,0 0 0,2 1 0,-1 0 0,-3-2 0,0 0 0,3 2 0,1 0 0,-3 0 0,2-1 0,0-3 0,0 0 0,0 0 0,0 0 0,-2 0 0,1 1 0,0-1 0,1 1 0,-1 1 0,-1 0 0,-1 1 0,1 0 0,-1-3 0,1-1 0,0 1 0,-1-1 0,0-1 0,0 1 0,0-2 0,0 1 0,-2 0 0,0-1 0,2 3 0,0 0 0,-1 0 0,1 0 0,1 0 0,0 0 0,-2-2 0,0-1 0,4 34 0,-3-3 0,1-3 0,1-2 0,-1 1 0,0-1 0,1-11 0,-5-5 0,1-11 0,3-3 0,-2-4 0,2 2 0,-3-3 0,-1-6 0,0-3 0,0-5 0,-4 0 0,0-2 0,-2-6 0,2-3 0,1-2 0,-6-2 0,-1 0 0,-1 0 0,-2 0 0,0-8 157,0-4 0,-1-9-157,-3-9 0,-4 0 0,-6-8 0,-1-7 0,-3-2 0,3-2 0,0 2 0,4 11 0,3 1 0,2 7 0,6 2 0,0 6 0,12 10 0,5 14 0,13 16 0,9 19 0,7 7 0,4 5 0,2 2 0,0-1 0,-1 0 0,1-14 0,-6-2 0,-3-10 0,-2-12 0,-3-5 0,0-8 0,-2-6 0,-3-10 0,-2-9 0,1-5 0,-2-9 0,-1 0-441,6-9 0,-5-6 0,4-10 441,-9 28 0,-1-2 0,1-7 0,1-2 0,-1-7 0,1 1 0</inkml:trace>
  <inkml:trace contextRef="#ctx0" brushRef="#br0">26846 10157 7788,'11'-38'954,"-1"0"0,-3 4 1,-1 5-1,-2 8 904,2 8 0,-5 7 0,4 10 1,-4 8 1286,-1 8 1,0 9-2812,0 14 0,-1 16 0,-1-24 0,-1 3 1,0 3-1,-1 1 0,0 2 0,0 1 0,-1 0 1,1 2-335,-1-1 0,0 2 0,-2 5 0,-2 0-84,1 3 1,-1 0 0,0 0 0,1-1 0,1-5 0,1-1 0,-1-2 0,1 0 83,-1 0 0,1-2 0,2-5 0,1-1 23,1-2 0,0-1 0,-4 20 0,2-9 1,1-5-1,1-6 0,2-5-1733,0-5 1,0-13-1485,0 0-301,6-9 1,-5-5 3494,4-12 0,-10-6 0,-2-7 0</inkml:trace>
  <inkml:trace contextRef="#ctx0" brushRef="#br0">26394 11177 7764,'-6'10'1250,"-1"2"1,0 5 1997,2 6 1,4 5-916,1 11 0,7 6-1362,6 2 0,3 3 1,8 0-1,5-2 1,2-7-1,5-6-264,2-10 1,0-9-708,1-7 0,0-8 0,-1-1 0,-3-7 0,-2-10 0,-2-6 0,-2-6 0,-3-5 0,-5-3 0,-2-7 0,-6 1 0,0-1-490,0 1 0,0 3 0,-2-2 0,-2 5-2999,-5 3 0,2 9 3489,-2-1 0,0 3 0,-4-2 0</inkml:trace>
  <inkml:trace contextRef="#ctx0" brushRef="#br0">13668 13061 7949,'-13'0'2351,"-4"6"0,1 3 0,5 2-470,5 2 1,6-1-1252,4-4 0,9 2 0,10-5 1,6-1-1,7 0 0,7 0 1,8-1-1,8-1 586,4-2 0,3-5 0,1 1 0,2 0-1216,-1-2 0,-8 5 0,-4-4 0,-4 4 0,-5 1 0,0 4 0,-8 1 0,-5 0 0,-12 0 0,1-3 0,-6 7 0,-6-6 0,-5 3 0,-12-6 0,-1-2 0,-1-1 0,-1-1-3114,-1 1 1461,-1 2 1653,-2 1 0,-6 11 0,-1 4 0</inkml:trace>
  <inkml:trace contextRef="#ctx0" brushRef="#br0">16030 4917 7936,'-13'-5'749,"1"-4"1,2-1-27,2 1 0,4 4 2382,-5 5-2046,0 0 0,1 0 0,-1 0 0,-1 0 1023,-1 0 0,2-5-1724,0 1 1,1-5-1,-4 4 1,2-1 0,2-1-1,-2 0 246,-2-3 1,-5 2-1,0 0 1,0-2 18,-2-2 0,-1 1-432,-6 2 0,-6-5-177,-2 5 1,-5-5 0,-4 5-1,-4-2 1,-5-1 0,-2 2-15,-2 2 0,4 5 0,5-1 0,0-2 0,-5 2 0,-5-1 0,-2 5 0,0 0 0,2 0 0,2 2 0,4 2 0,-2-1 0,10 5 0,0 1 0,4 4 0,-4 4 0,-3 2 0,-3-1 0,-4 3 0,0-1 0,0 3 0,1-3 0,1 1 0,6 1 0,7 3 0,3 1 0,6 0 0,-2 1 0,-1 2 0,1 1 0,2-1 0,-2 2 0,0-1 0,-4 8 0,0 0 0,4 3 0,2 5 0,5-2 0,3-2 0,3-1 0,2 2 0,6-3 0,1 3 0,5 2 0,-4-2 0,3 6 0,-2-4 0,1 3 0,2-2 0,0-2 0,-1-2 0,0 2 0,0-1 0,4 0 0,-3-4 0,2 0 0,2-2 0,0 0 0,0 1 0,0 2 0,0 0 0,6 0 0,3-1 0,3 4 0,6 0 0,-4 0 0,5-6 0,-1-1 0,4-3 0,2 0 0,2 0 0,4-4 0,0 2 0,0-1 0,2 0 0,-3 5 0,5-5 0,-1 4 0,1-4 0,2 1 0,-4-6 0,1 1 0,1 0 0,1-2 0,-1-2 0,0 2 0,5-2 0,1-2 0,3 1 0,3-3 0,4 2 0,-1-2 0,-2-2 0,1-3 0,-2-4 0,-2 1 0,-5-6 0,0 4 0,-1-3 0,1-1 0,1-4 0,2 2 0,1 0 0,0 3 0,1-2 0,-4-2 0,3-1 0,-7 4 0,-1 1 0,-7-1 0,4-4 0,-2 0 0,2 0 0,-1 0 0,1 0 0,4-4 0,-2-1 0,6-5 0,-1 2 0,2-4 0,-8-1 0,0 0 0,-1-1 0,-3-2 0,-4-1 0,4 0 0,-7 4 0,-4 0 0,-1 0 0,2-4 0,0 0 0,-1-1 0,2 1 0,1-1 0,1-2 0,3-1 0,1 0 0,1-2 0,3 6 0,-3-2 0,3 3 0,-2-2 0,-3-1 0,0 0 0,-4 4 0,2-4 0,-5 2 0,-1-6 0,-4 1 0,0 2 0,-1-1 0,1-2 0,0-3 0,0-3 0,0-1 0,-1 0 0,-4 4 0,4-4 0,-4 0 0,-1-4 0,1 4 0,-1-1 0,0 1 0,2-1 0,-2-2 0,3 3 0,-6-5 0,5 7 0,-5-3 0,2 3 0,-3-1 0,1-1 0,-1 1 0,0 3 0,1 5 0,-3-8 0,4 3 0,-4-2 0,-1-4 0,-1-1 0,-4-5 0,-2-8 0,-6-6 0,0 0 0,-1-5 0,-2 1 0,-2-1 0,-3-2 0,-1-3 0,1 4 0,0-3 0,-1 7 0,-3-2 0,-7 3 0,-2 3 0,-2 4 0,0 7 0,2 7 0,-2 5 0,-3 6 0,-1 1 0,1 1 0,6 3 0,0 6 0,3 2 0,1-1 0,2 2 0,1 0-127,0 2 1,1 4-1392,-1-3 1,4 2 0,2 2 1517,2 0 0,6-6 0,6-1 0</inkml:trace>
  <inkml:trace contextRef="#ctx0" brushRef="#br0">20470 16172 7858,'-6'-19'2319,"-1"5"1,-2-2 0,9 7 2575,13 9 1,16 18-4606,10 12 0,6 13 0,-17-17 0,0 1 1,2 4-1,-1 2 0,2 4 0,0 1 1,1 3-1,0 1 0,3 2 0,1 0 0,2 1 1,1 0-291,4-1 0,0-1 0,-1 2 0,1-2 0,1-4 0,1-2 0,-6-3 0,-2-2-197,-6-4 1,-1-2-1,-1-2 1,0-2 196,18 17 0,3-2 0,2-2 0,-2 1 0,-3-6 0,-4-2 0,-4 0 0,-6-3 47,-7 1 1,-6-6 0,-9-2-1,-1-4-9878,-1-1 9831,-6-6 0,3-7 0,-6-7 0</inkml:trace>
  <inkml:trace contextRef="#ctx0" brushRef="#br0">21618 15952 7778,'-45'6'1725,"-4"10"0,7 15 0,5 18-321,5 17 0,18-27 0,1 1 1,0 7-1,0 1 0,0 1 1,-1 1-669,-1 1 0,0 0 0,0-4 0,-2-1 0,0-1 0,-1 0 0,0 0 0,1 0-846,-1 2 0,0 0 0,-1-1 0,0 1 0,-2 1 0,0 0 1,0-2-1,0 0 110,3-4 0,-1 0 0,1-1 0,0-1 0,5-1 0,0-1 0,-1-2 0,1 0 0,-4 33 0,1-15 0,8-8 0,3-7 0,2-6 0,1-2-2853,-3-2 1,2-12 821,8-4 1,3-10 2030,9-3 0,4 0 0,4-6 0</inkml:trace>
  <inkml:trace contextRef="#ctx0" brushRef="#br0">22148 15823 7777,'-12'-25'2287,"1"0"0,-8 4-649,6 3 0,9 4 1,1 1-1,7 0 0,8 2 1,6 1-660,7 1 1,3 1 0,13-5 0,0 0-460,2 0 1,6 4 244,-2 1 0,-2 5-765,-2-2 0,1 4 0,-1 2 0,-1 4 0,-4 3 0,-2 5 0,-1 5 0,-4 3 0,1 9 0,-8 6 0,-4 6 0,-8 5 0,-8 9 0,-4 4-21,-4 9 0,-2-33 0,-3 1 1,-2 4-1,-3 1 0,-3 3 1,-1 1-1,-1 1 0,-2 2 1,0-1-1,-1 0 21,1-3 0,0 0 0,4-3 0,0-1-137,2-4 0,0-1 1,1 2-1,1 0 137,-1-1 0,2 0 0,-7 26 0,6-7 0,8-11 0,3-6 0,2-4 0,0-5 0,0-9 0,2-4 0,2-4 0,4-4 0,5-2 0,5-3 0,3-2 0,9 2 0,5-8 0,8-5 0,5-4 0,7-4 0,4-4 0,-1-4 0,0 4 0,-7-1 0,0 1 0,-4-5 0,-3 6 0,-5 3 0,0 2 0,-2 4 0,-1 1 54,-2 1 0,-5 2 0,0-3 0,-6 1-54,-6-1 0,2 3 279,-2-1 1,0-1-280,-4-4 0,6-6 0,1-1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21593 3098 7849,'-45'12'0,"12"17"4188,3 14-3812,14 26 1,10-22-1,2 4 1,2 3-1,0 2 1,0-1 0,1-1-1,0-3 1,1 0-1,0-5 1,0-2 0,0-3-1,0-2 1,0 33-1,0-6 1,1-7 0,2-5 4262,1-2-4354,6-12 1,-7-4 0,6-16 0,-1-8-1,0-12 67,-4-12 0,-1-9 1,0-17-1,1-13-341,-1-15 1,-2 28-1,-1-2 1,0-2-1,-1 0 1,-1-4 0,1 0 156,-1-2 1,0 0 0,-1-1 0,1 0-230,2 0 0,0-1 0,0 1 1,0 1 212,0 0 1,0 1-1,0 4 1,0 2-1,0 0 1,0 1-1,0-24 1,2 15-1,2 15-152,5 9 0,3 14 0,6 11 0,2 18 0,6 17 0,1 11 0,3 15 0,-13-26 0,-1 2 0,1 3 0,-1 2 0,-1 2 0,0 1 0,-1 2 0,-1 2 0,-2-1 0,0 0-206,0 2 1,-1-1 0,-2-6 0,-1 0 205,-1-2 0,1 0 0,4 25 0,-5-15 0,1-11 0,3-12 0,1-14 0,2-21 0,-1-9 0,-4-7 0,4-7 0,-4-16 0,4-11 0,1-15 0,-7 27 0,1-2 0,-1-3 0,1-2 0,-1 1 0,1 0 0,-1 1 0,0 0 0,1 3 0,-1 1 66,1-2 1,-1 1-1,1 5 1,-1 1-67,0 3 0,1 3 0,6-17 0,0 24 0,0 12 0,0 12 0,1 8 0,3 9 0,-1 11 0,6 11 0,-1 12 0,5 5 0,-2 13 0,-1 4 0,-12-32 0,-2 1 0,1 1 0,-1 1 0,-1 1 0,0 1 0,-1 3 0,0 0 0,1 2 0,0-1 21,-2 2 0,1-1 0,0-2 0,0-2-21,-5-6 0,0-1 0,7 28 0,-3-8 0,-1-4 0,3-5 0,-3-5-4502,1-6 4502,4-5 0,-6-5 0,9 0 0,3 0 0</inkml:trace>
  <inkml:trace contextRef="#ctx0" brushRef="#br0">22832 3678 7785,'0'32'2119,"0"4"1,0 7 5693,0 8-6608,0 7 0,5 2 1,4 0-1,2-1 1,2-4 197,0-8 1,-4-11-1404,-1-6 0,-3-9 0,3-3 0,-6-16 0,-2-6 0,-7-7 0,-5-7 0,-1-9 0,0-14 0,-1-14 0,-3-12 0,9 27 0,1-2 0,-1-3 0,1-2 0,1-4 0,2-1 0,1-5 0,1-1 0,1 0 0,1 0 0,0-2 0,0 1 0,1 3 0,1 2 0,1 3 0,2 3 0,2 7 0,2 4 0,21-17 0,5 12 0,2 11 0,-4 16 0,-3 11 0,-3 11 0,-1 9 0,0 10 0,-2 7 0,-2 1 0,-5 0 0,-4 2 0,-4 6 0,-5 2 0,-3 2 0,-2-3 0,-2 3 0,-3-1 0,-1-4 0,-2 1 0,-3 1 0,-1-3 0,0 3 0,6-7 0,2-2 0,4 2 0,2 0 0,4 0 0,3-2 0,9-5 0,5 1 0,7-4 0,1-5 0,6-2 0,-2-6 0,3-2 0,3-2 0,2-5 0,1-2 0,-4-4 0,-6-2 0,0-5-3195,0-2 0,-5-9 3195,2-6 0,-2-11 0,-2-9 0</inkml:trace>
  <inkml:trace contextRef="#ctx0" brushRef="#br0">23967 3382 19986,'9'0'4342,"0"0"1,1 1-4343,1 3 0,8-2 0,2 2 0,4-1 0,0 1 0,7-2 0,4 2 0,5-3-2954,7-1 1,2-5 0,0-5 2953,-3-6 0,4-4 0,-5-6 0</inkml:trace>
  <inkml:trace contextRef="#ctx0" brushRef="#br0">24251 3743 7775,'-13'13'1770,"2"0"1,2 1 216,5 3 1,3-1 0,2 4 0,5-1-1011,7-3 0,12-8-3641,14-4 1,7-4 262,10-4 2147,3-9 0,-22-1 1,2-3-1,0-3 1,1 0-1</inkml:trace>
  <inkml:trace contextRef="#ctx0" brushRef="#br0">25077 3356 7775,'-5'18'2625,"-3"5"-987,-4 12 0,4 11 1,4 14-1,5 3 0,8 1 1,10 0 471,8-4 0,6-14 0,6-13 1,-1-10-2111,1-10 0,7-8 0,6-9 0,-1-6 0,5-12 0,2-2 0,-3-13 0,0-5 0,-5-2 0,-7-7 0,-8-3 0,-12-1 0,-6-5 0,-4 4 0,-5-4 0,-2 7 0,-7 0 0,-4 6 0,-5 4 0,-6 4 0,-5 3 0,-9 15 0,-5 3 0,-3 13 0,-5 7 0,-9 13-2348,-8 11 0,1 12 2055,29-13 1,0 2 0,0 4 0,0 1 0,-3 4 0,1 0 0</inkml:trace>
  <inkml:trace contextRef="#ctx0" brushRef="#br0">28046 3214 7725,'0'-13'653,"0"4"0,0 9 0,0 16 0,0 14 1804,0 13 1,0 12-1,0 5 1,0 2 218,0-2 0,0 0-3715,0-8 0,0-4 0,1-12 0,2-6 0,3-10-5951,1-8 6990,2-18 0,4-8 0,-1-12 0</inkml:trace>
  <inkml:trace contextRef="#ctx0" brushRef="#br0">28059 2814 7725,'-19'-26'1610,"3"1"0,-4 5 0,2 7-1029,2 8 1,1 10 0,4 8 0,2 9-1287,5 7 0,3 4 419,1 5 0,7 5 286,6 0 0,5 6 0,8-3 0</inkml:trace>
  <inkml:trace contextRef="#ctx0" brushRef="#br0">28614 3046 7728,'-17'6'418,"-2"1"0,-1 3 1966,-3 3 1,-2-3-105,0 7 0,-1 3-1707,0 2 1,2-2-1,2 0 1,6-2-1,5 0 1,4-1 68,1 0 0,9 0-554,10-4 0,7 0 160,10 0 1,3 0 0,6 0 0,-1 0-1,3 0 1,0 0 442,2-1 1,3 1 0,-7 0 0,-6 0 117,-5 0 0,-8 6-809,-2 2 0,-10 4 0,-3 0 0,-11 1 0,-8 0 0,-11 0 0,-9 1 0,-6 0-328,-3-1 1,4-3-2685,4-10 1,7-2-1786,-2-2 1,8-6 4796,5-12 0,8-16 0,4-16 0</inkml:trace>
  <inkml:trace contextRef="#ctx0" brushRef="#br0">29685 3265 7745,'26'8'954,"-6"3"0,-2-1 1,0 6 972,-1 5 0,-1 4 0,-8 1 0,-3-1 439,-4 1 1,-1 0 425,0 0-2226,-6-6 0,-1-3 0,-4-10 0,1-7 0,2-8-566,3-8 0,0-6 0,5-8 0,0-3 0,0-5 0,6-7 0,3 1 0,2 1 0,2 5 0,0 7 0,0 6 0,4 7 0,0 9 0,1 5 0,-6 8 0,1 9 0,0 10 0,-1 6 0,-4 4 0,-2 1 0,0 0 0,-5-5 0,4 1 0,-4-7 0,-1-1 0,1-8 0,4-1 0,3-7 0,4-12 0,1-7 0,4-7 0,0-10 0,5-2 0,-4-4 0,1 3 0,1 3 0,-1 6 0,-1 5 0,0 6 0,-6 5 0,1 2 0,0 6 0,-4 3 0,-1 4 0,1 7 0,-2 4 0,-1 0 0,0-2 0,-3 3 0,5-2 0,-4 0-292,5-4 1,0-6 0,4-2 0,1-4-1,3-1 1,6 0-4625,6 0 1,4-6 2422,5-2 1,3-5 1644,2-4 0,1 2 0,3-2 0,-4 3 0,-4 1 0,-4 0 654,-5 0 1,-5 0 241,-3 0 1,-3 0 422,-6 0 1,-2 5 0,-2-1 0,-5-1 3414,-3-1-2077,-1 3 1,-1-2-1129,-3 6 1,-4 1-1,-4 9 1,-1 5 0,-2 7-1,0 3 1057,-3 6 1,1-1-982,4 4 0,2 2-561,2-2 1,-1 3 0,6-6-1,1-4 1,1-3 0,2-3 176,0 2 1,6-10-223,3-1 0,2-5-157,2-3 0,0-7 1,0-6-1,0-7 0,0-4 1,0-2-853,0 0 1,0 4 513,-1 1 0,-3 5 602,0-1 0,-5 4 1,3 3-1,0 3 1,0 3 579,4 5 1,0 9-501,2 7 1,6 2-421,2-2 0,3-3 1,4 4-1,0-4 1,4-3-1,1-2-948,3-5 1,-3-2-1210,1-2 0,-4-6 1276,5-3 1,-5-6-1,1-4 1,-2 0-1,-5 1 1,1 1-1434,-1-2 0,2 5 1582,0-4 0,-2 4 664,-2 1 1,-2 2 0,-4 1 0,1 1 0,-1 0 821,-2 2 1,-6-3-250,1 6 1,-5 0 463,5 4 0,0 2 1,5 6-1,2 6 0,2 5 1,2 6 1222,3 8 0,0 2-1810,-1 8 1,2-3-797,-2-1 1,-2-1 0,0 0 0,0-4-1,-1-5 1,-1-6-212,-2-6 0,3-4-215,-2-5 0,4-5 330,-3-11 1,0-4 0,-2-12-1,1-5 1,-1-2 0,-2-5-345,-1-1 1,-6-8-264,-2-2 0,-4-8 1152,-1-1 0,-6 0 0,-4 8 0,-4 5 0,-6 10 0,-3 10 3052,-4 10 1,-3 7 737,-1 10 0,3 12-3250,-7 14 1,-5 9 0,-6 14 0,22-25-1,0 0 1,-1 2 0,-1 0 0,0 2-1,-1-1-826,1 1 0,-1 1 0,-3 1 0,0 1 139,2-1 0,0 0 1,-1-2-1,2 0-900,-12 23 1,9-13 0,15-9 0,7-10 1093,13-10 0,13-12 0,15-8 0</inkml:trace>
  <inkml:trace contextRef="#ctx0" brushRef="#br0">31582 2891 7779,'0'-10'6779,"2"7"-3972,2 12 0,3 9-2371,6 13 0,4-3 0,0 7 1,-1 0-1,-1 3 0,-1 0 0,2 0 1,1-4-1291,-1-4 1,-2-2 0,-1-3 0,1 0-884,3-4 1,-7-2 1736,3-6 0,3-6 0,4-1 0</inkml:trace>
  <inkml:trace contextRef="#ctx0" brushRef="#br0">21722 5498 8005,'-23'-29'630,"0"1"1,-19-24 0,12 5 0,10 18 0,10 26 0,11 26-1,9 23 329,6 16 0,-5-24 0,0 3 0,-2 6 0,0 2 0,1 5 0,0 2-620,2 5 0,-1 0 0,-1 3 0,-1 0 0,0 0 0,-1 1 1,-1-2-1,-1 0 0,-1-2 0,0-2 0,-1-4 0,-1-2 130,0-5 0,0-3 0,1 24 1,-4-27-1,0-14 229,0-9 0,-1-12-379,-3-7 0,2-11 1,-4-14-1,1-9-185,-4-13 0,-1-19-100,6 24 1,-1-2 0,0-7 0,-1-2-239,2-8 1,-1-2-1,0-5 1,-1-1 0,0 1-1,-1 0 1,1 3-1,-1 1 1,1 5 0,1 2-1,0 6 1,1 3 272,1 4 0,2 5 0,1-9 1,5 28 375,8 23 0,6 20 1,7 13-1,1 6-445,3 5 0,-3 9 0,5 4 0,-2 5 0,-15-31 0,0 0 0,14 27-177,-8-1 1,-2-7 176,-6-6 0,0-7 0,0-10 0,0-7 0,0-11 0,-5-19 0,1-10 0,-5-14 45,5-7 1,-5-14-1,3-12 1,-3 27 0,-1-1-1,0-3 1,0-1 0,1-3-1,-1 1-45,1 0 0,-1 0 0,-1 4 0,-1 2 0,4-31 0,-3 10 0,3 7 0,-2 19 0,5 16 0,2 11 0,2 11 0,2 8 0,3 7 0,3 15 0,6 9 0,0 11 0,0 10 0,-15-28 0,-1 2 0,1 4 0,0 0 0,0 1 0,-1 1 0,1-1 0,-2 1 0,1-2 0,-1 0 0,1-2 0,-1 0 0,-2-2 0,1 0 0,3-1 0,0-1 0,0-1 0,1-2-4656,12 31 1,6-15 390,1-3 4265,10-17 0,-5-2 0,11-15 0,1-3 0</inkml:trace>
  <inkml:trace contextRef="#ctx0" brushRef="#br0">22986 5976 7919,'-12'13'1932,"0"11"338,4 6 0,-3 13-1365,7 9 1,0 2-1,4 9 1,0 2-1,1-5 1,2-8 945,1-12 0,1-9 22,-5-9-1419,0-3 0,-2-12 0,-2-4 0,-5-6 0,-2-7 47,-2-6 0,-1-10-501,-4-8 0,-2-12 0,-5-10 0,-1-10 0,13 26 0,0-2 0,0-1 0,2-1 0,-1-2 0,2-1 0,1-3 0,1 1 0,0-2 0,2 0 0,1 0 0,2 0-180,0 1 1,2 1-1,5 8 1,2 3 179,11-26 0,11 21 0,5 12 0,1 13 0,3 9 0,-2 11 0,-2 9 0,-3 5 0,-4 10 0,-1-2 0,1 10 0,-6 1 0,-4 4 0,-6 1 0,-6 1 0,-2 4 0,-2 1 0,-2-5 0,-2 2 0,-3-3 0,-6-1 0,0-2 0,0-2 0,0-5 0,0-3 0,2-1 0,2 0 0,4 0 359,5-1 0,1 3-359,3 2 0,5-1 0,8 5 0,5 2 0,3 0 0,6-2 0,3-4 0,5-1 0,4 1 0,4-9-336,9 1 0,-3-11 1,3-3-1,-3-3 1,-3-3-1,-4-5-4580,-7-6 1,-2-5-163,-7-8 4927,0-5 1,2-29-1,1-4 1</inkml:trace>
  <inkml:trace contextRef="#ctx0" brushRef="#br0">23864 5537 7919,'-17'-2'3366,"0"0"-24,1-3 0,9 2-762,7 8 0,11 2-1801,11 6 1,4 4 0,2 0 0,4-1 0,-1-2 0,2-1-349,0 0 1,-3-4-478,5-1 1,-6-5-462,1 2 0,3-4 0,1-1 0,2 0-1227,-2 0 0,8-1-485,-3-4 1,2-2 0,-2-4 0,0 2 2218,-1 5 0,1-3 0,0-1 0</inkml:trace>
  <inkml:trace contextRef="#ctx0" brushRef="#br0">24703 5653 10120,'-26'-6'1342,"0"1"1,1-1-1,0 10 1,4 12-1,4 7 1162,2 3 0,-3 7-1816,-4 5 0,-8 3 0,-5 6 0,-3 2 0,-4 1 0,-2 1 1,-1 0-1,2-4-357,6-4 1,10-9-1,10-5 1,4-5-1350,4-2 1,3-6 134,6 1 1,2-3-3653,2-1 1,5-6 4534,8-2 0,3-10 0,6-2 0</inkml:trace>
  <inkml:trace contextRef="#ctx0" brushRef="#br0">25116 5834 7860,'-50'1'2776,"3"8"0,5 15 3840,6 22-6017,16 10 0,16 13 0,18-9 0,10-4 0,9-3 0,5-4 0,2-6 119,3-9 0,-7-11-720,2-6 0,-2-8 390,3-5 1,-6-14 0,-3-8 0,-3-11 0,-2-8-1,-4-6-45,-4-3 0,-8-2-343,-5-3 0,-5-1 0,-8 1 0,-1-10 0,-13 0 0,-2 0 0,-6 3 0,-2 6 0,-2 8 0,-3 3 0,0 16 0,-4 3-1547,3 13 1,3 17 1546,11 13 0,5 21 0,1 11 0</inkml:trace>
  <inkml:trace contextRef="#ctx0" brushRef="#br0">19876 1239 8018,'-39'-39'888,"12"9"0,7 12 1,9 15-1,6 14 1,5 11 308,5 9 1,0 5 0,5 17-1,-1 9 1,-1 9 0,-3-31-1,-1 1-581,0 2 0,1 0 1,-2-1-1,1-1 0,0 1 1,0-1-1,-1 0 0,-1-2 833,-1 0 0,-1 0-1449,0-1 0,0-1 0,0 14 0,0-8 0,-1-13 0,-4-11 0,0-16 0,-4-20 0,3-6 0,6-16 0,0-16 0,0 19 0,-1-2 0,0-5 0,-1-2 0,0-4 0,0-1 0,0-2 0,-1-2 0,0-1 0,1-2 0,1-1 0,0-1-294,-1 0 0,0 2 1,-1 3-1,0 2 294,1 5 0,0 3 0,-2-27 0,4 17 0,1 19 0,3 19 0,6 19 0,6 17 0,4 13 0,6 14 0,1 2 0,3 11 0,-2 2 0,-13-29 0,1 1 0,-1 1 0,0-1 0,1 0 0,-1-1 0,12 32 0,-4-5 0,0-10 0,-6-11 0,0-7 0,-4-11 0,0-8 0,-2-10 0,-2-7 0,-3-9 0,-1-7 0,-2-12 0,6-7 0,-6-8 0,1-13 0,2-10 0,-4 28 0,0-1 0,0 0 0,-1 0 0,0 0 0,-1 0 0,0 4 0,0 0 0,0-28 0,5 15 0,-1 14 0,6 18 195,-1 15 1,2 17 0,2 15 0,0 10 0,1 11 0,2 6-196,1 6 0,0 8 0,-4 1 0,-6-32 0,1 2 0,0-1 0,1 1 0,5 33 0,-5-36 0,1-1 0,7 28 0,2-8 0,1-6-1408,3-6 0,3-13-2362,4-4 0,-3-15 1994,3-2 1,2-18 1775,-2-8 0,6-17 0,-3-7 0</inkml:trace>
  <inkml:trace contextRef="#ctx0" brushRef="#br0">20844 1575 13121,'0'13'3054,"0"-1"649,0 1-166,0 0-2544,0 0 0,-1-4 1,-2-4-1,-3-3-352,-1-8 1,2-11-642,-3-9 0,1-8 0,-2-14 0,-2-6 0,3-16 0,4 31 0,0 0 0,0-2 0,1-1 0,0-1 0,0 0 0,1-1 0,1 2 0,1-27 0,4 5 0,5 15 0,8 10 0,3 13 0,5 13 0,-2 8 0,-2 3 0,1 4 0,-2 2 0,3 7 0,-6 7 0,0 5 0,-4-2 0,-2-1 0,-2 2 0,-5 1 0,-2 1 0,-2 0 0,0-2 0,-6 2 0,-3-2 0,2 6 0,-1 3 0,-1-1 0,-2-3 0,2 3 0,5 6 0,2 4 0,2 3 0,2 0 0,2-4 0,9 0 0,8-1 0,8-5 0,3-4 0,2-6 0,5-6 0,2-4 0,1-4 0,2-4 0,-1-5 0,-1 0-1680,-8 0 1,2-7 0,-3-4 0,3-8 1679,4-5 0,2-11 0,-3-11 0</inkml:trace>
  <inkml:trace contextRef="#ctx0" brushRef="#br0">21812 942 7962,'-13'0'-2,"2"2"3239,2 2 1,3-1-1600,6 5 0,0 1 1,0 5-1,2 2 0,3 1 1,8-1-692,7-2 1,5-1 0,2 0 0,3-1-2970,5-4 1,3 2 699,5-5 0,5-1 416,8-4 0,-3-7 1,3-5 905,-3-3 0,-2-14 0,1 2 0</inkml:trace>
  <inkml:trace contextRef="#ctx0" brushRef="#br0">22238 1316 7940,'-20'21'619,"3"-3"1,2 1 1346,2 2 1,6-1-1319,3 2 1,15-11-4233,11 2 3584,14-8 0,10-5 0,5-8 0</inkml:trace>
  <inkml:trace contextRef="#ctx0" brushRef="#br0">23180 1045 7886,'-4'-17'1204,"-1"0"0,1 1 1177,-2 2 1,5 5-1,-3 1-88,2-2 1,1-2-1,-2-1-935,-1 0 0,-1 5-952,5-1 0,-1 5 6,-3-5 1,1 8-413,-6 1 0,6 1 0,-1 8 0,-3-1 0,4 5 0,-4 0 0,0 0 0,-1 0 0,6-6 0,-4 5 0,2-9 0,-1 5 0,2 2 0,2-3 0,1 2 0,0-5 0,0 5 0,0 0 0,0 3 0,0 3 0,1 1 0,4 2 0,3 2 0,4-3 0,1 5 0,5-6 0,4 1 0,2-3 0,2-1 0,0-1 0,0-4 0,1-3 0,3-4 0,-1-1 0,5 0 0,-5-6-1030,1-2 0,-3-4 1,-1-1-1,0-1 1030,0-3 0,-1-9 0,1-7 0</inkml:trace>
  <inkml:trace contextRef="#ctx0" brushRef="#br0">23696 529 7853,'-13'-4'2888,"1"0"0,0 4-431,3 7 1,4 13-1,5 17 1,1 9 148,3 10 0,4 11-2606,-3-30 0,3-1 0,9 35 0,0-2 0,2-9 0,-4-6 0,3-8 0,-3-11 0,1-14 0,1-9 0,-2-7 0,2-5 0,-3-1 0,-1-3 0,0-5 0,0-8 0,1-6 0,2-4 0,1-5 0,-1-1 0,-2 0 0,-1-1 0,0 2 0,0 6 0,1 12 0,2 5 0,1 6 0,1 6 0,-1 4 0,0 6 0,6 9 0,-1-1 0,-2 4 0,1 1 0,2-2 0,6-2 0,1-7 0,0-5 0,1-7-351,4-6 1,2-5-551,2-9 1,-2-5 146,-2-8 0,0 1 0,-4-4 0,-3 2 0,-2 3 1,-4 4 197,-5 3 0,-3 6 709,-1 2 459,-6 0 0,-2 12 0,-10-3 0,-3 4 0,-5 4 1592,-4 5 1,1 2-1948,-6 2 1,5 4-258,-5 0 0,7 5 0,-1-4 0,6 1 0,6 1 0,2-1 0,2-1 0,0 0 0,0-5 0,6 0 0,3-1 0,8-4 0,4-4 0,4-3 0,2-2 0,2-5 0,1-7 0,-2 5 0,-6-5 0,2 4 0,-2 1 0,-4 2 0,-2 9 0,-4 7 0,-5 11 0,-1 12 0,-4 9 0,-2 5 0,-4 9 0,-3 1 0,-6 4 0,4-1 0,1-10 0,-1-8 0,2-9 0,3-8 0,2-3 0,-3-3 0,3-12 0,-2-9 0,8-11 0,3-5 0,6-8 0</inkml:trace>
  <inkml:trace contextRef="#ctx0" brushRef="#br0">26020 697 11947,'0'-9'2679,"0"1"-821,0-2-188,0 4 0,-2 2 1,-2 8-1,-5 6-294,-2 6 1,-2-2-1,-2 5 1,0-2-1377,-3 0 0,6 0 0,3-4 0,-1-1 0,-2-4 0,4 2 0,-1-5 0,6-1 0,-1-4 0,7-1 0,1-4 0,6 2 0,-1-5 0,-2 5 0,2-1 0,-5-2 0,5 2 0,1 1 0,1 1 0,-2 2 0,-1 0 0,-3 6 0,3 3 0,-5-2 0,3 1 0,-2 2 0,0 2 0,-1 1 0,-1-5 0,-2 1 0,0 0 0,0 4 0,0-8 0,0-5 0,0-5 0,0-8 0,0-7 0,0-6 0,1-7 0,3-6 0,5-5 0,3-8 0,2-7 0,3-10 0,3-1 0,-7 33 0,0 1 0,13-27 0,0 13 0,-1 11 0,1 12 0,0 9 0,0 8 0,-5 16 0,-1 11 0,-1 6 0,-3 3 0,-2 4 0,-1 0 0,-4 0 0,-1-4 0,-5 0 0,1 0 0,-2 0 0,-2-2 0,-2-2 0,-2-5 0,-3-3 0,-6-1 0,0 0 0,0 0 0,0-5 0,0 1 0,2 1 0,1 0 0,1-1 0,6 2 0,-1-2 0,4 7 0,4 1 0,5 6 0,8-2 0,5 4 0,2 0 0,5 1 0,5 0 0,1-6 0,8-3 0,3-4 0,1-4 0,0-3 0,2-6 0,-2 0 0,-7 0 0,-7-2 0,-5-2 0,-4-5-1848,-2-8 0,-5 3 75,-9-3 1,4-2 1772,-4 2 0,4-6 0,1 3 0</inkml:trace>
  <inkml:trace contextRef="#ctx0" brushRef="#br0">26923 878 7773,'13'-26'0,"1"1"0,3 3 2457,5 0 1,8-4-1,4-4 1,4 1 565,0 2 1,0 6-2281,-4-1 1,-8 5-204,-9-5 1,-8 7 0,-8-3 0,-9 6 0,-12 3-334,-8 5 1,-8 4-1,2 5 1,-2 8-208,2 7 0,2 5 0,6 1 0,1 5 0,-1 3 0,6 4 0,4 0 0,6 1 0,6 1 0,2 2 0,2 1 0,9-6 0,8-7 0,10-4 0,16-4 0,9-9 0,8-12 0,3-8 0,2-12 0,-1-9-413,-31 9 0,-1-1 0,25-25-1375,-5-6 0,-12 1 1425,-10 2 1,-4 10 0,-5 7 0,-3 7-1,-4 7 1930,-1 8 0,-2 13 179,-2 9 1,2 7-1747,-2 11 0,2 2 0,2 4 0,0-1 0,0-2 0,0-1 0,0-4 0,0-5 0,0-11 0,0-6 0,0-2 0,5-5 0,2-5 0,2-6 0,-1-9 0,1-10 0,-2-6 0,4-3 0,-2 0 0,-4 1 0,0-1 0,-1 6 0,-1 3 0,-2 4 0,0 4 0,-4 5 0,3 9-1967,-6-4 1,5 12 0,-3 0 0,-5 7 0,-3 5-7104,-1 1 9070,-5 0 0,-8 5 0,-7 2 0</inkml:trace>
  <inkml:trace contextRef="#ctx0" brushRef="#br0">23709 1691 7937,'-7'-19'0,"3"6"0,14 2 0,20 9 702,29 9 0,-16-1 0,4 0 0,15 1 0,5-1 0,-16-2 1,1 0-1,1-1 0,8 1 0,1-1 0,2-1 0,6 0 0,2-1 1,1 0-89,-14 0 0,1 0 1,0-1-1,-1 0 0,-2-1 1,-1-1-1,1 1 1,0-1-1,1 0 0,2 0 1,-1 0-1,0-1 0,-1 1 1,0-1-1,0 0 1,-1 0-1116,0 0 0,0-1 1,1 1-1,0 0 0,2 0 1,0 1-1,1 0 1,0 0 500,0 0 0,0 0 0,1 0 0,-1 0 0,1 0 0,0 2 0,-1-1 0,1-1 0,-2 0 0,0 0 0,0 0 0,1 0 0,0 1 0,0 0 0,1 0 0,-1 0 0,-1-1 0,-1 0 0,0 0 0,0 0 0,-2 1 0,0-1 0,-1 1 0,0 0 0,16-1 0,0 2 0,-2-1 0,-5 0 0,0 1 0,-2-1-647,-3 1 1,-2 0-1,-1 0 1,-3 2-1,-2 0 1,-1 1 0,14 2-1,-3 2 1,-7 1-1,-4 1-1971,-8 1 1,-4 0 0,16 12 1299,-34 4 0,-17-6 1318,-21-3 0,-9-3 0,-12-1 0</inkml:trace>
  <inkml:trace contextRef="#ctx0" brushRef="#br0">25774 2246 7857,'-27'-26'1400,"-3"3"1,-2 6 0,2 8 0,6 8 1655,4 5 0,3 9-2639,4 8 1,0 5 0,1 3 0,4 2 0,3 2 0,4 3 0,2 0-1,4-1 1586,3-5 1,5-4-1713,4-5 1,4-4 0,4-8-1,0-5 1,-2-4 0,-2-4-292,2-5 0,0-8 0,0-6 0,-3-4 0,-1-3 0,-2 0 0,-4 4 0,0-1 0,0-4 0,-5 10 0,-1-1 0,-1 7 0,-3 2 0,-2 0 0,-1 6 0,0 2 0,0 10 0,-4 2 0,-2 4 0,1-1 0,-1-1 0,2 0 0,-2-2 0,3 4-1662,-6-2-377,7-3 1,-6 4 0,6-5-711,-3 2 0,1-2 22,4 3 294,0-5 2433,0 3 0,-6-6 0,-1 0 0</inkml:trace>
  <inkml:trace contextRef="#ctx0" brushRef="#br0">26174 1820 7867,'-25'-40'2974,"6"11"1,6 23 6855,7 18-9113,5 12 1,2 21 0,2 3 0,1 7 0,1 4 0,-1 2 0,0 1-718,-1 0 0,-1-2 0,-2-10 0,0-3 0,0-4 0,0-5 0,0-8 0,0-6 0,0-18 0,0-6 0,0-7 0,0-5 0,0-5 0,0 0 0,5-6 0,4 1 0,2 4 0,2 1 0,0 2 0,0 4 0,0 2 0,0 5 0,0 2 0,0 2 0,4 6 0,0 3 0,5 6 0,-4 4 0,2 0 0,3-1 0,2-2-61,1-1 1,-1-8-1,3-4 1,0-8-1129,2-8 1,6-5 719,-1-8 1,-4-1 546,-1-3 1,-4 2-1,-4 0 1,-5 3-1,-4 5 3086,-5 2-3164,-2 6 0,-12 8 0,-2 8 0,-8 3 0,-3 8 0,1 0 0,-2 4 0,0 1 0,-3 3 0,4-4 0,2-2 0,4-3 0,4-1 0,2 0 0,6-2 0,1-2 0,3-3 0,9-6 0,7 0 0,3 0 0,-2-5 0,1 1 0,2 1 0,2 2 0,-1 1 0,-3 0 0,-2 1 0,-6 4 0,4 2 0,0 6 0,-4 0 0,-6 1 0,1 2 0,-3 1 0,1-1 0,0-3 0,-2-5 0,-2-2 0,3-6 0,-9-6 0,-2-2 0,-1-4 0,3-1 0,-5 0 0,6 0 0,-1 1 0,-2-1 0,2 0 0,1 0 0,2-2 0,1-2 0,0 3 0,0-3 0,0 2 0,1 2 0,3 2 0,5 2 0,3 5 0,0 3 0,1 2 0,0 3 0,-4 11 0,-1 11 0,1 8 0,3 13 0,-2 11 0,-3 8 0,-2 5 0,-2 1 0,-2-34 0,0 0 0,-1 35 0,-3-36 0,0 1 0,-1-2 0,-1 1 0,0 32 0,-1-9 0,2-6 0,-2-6 0,0-10 0,0-6-2623,2-10 1116,4-10 0,0-13 1507,0-12 0,12-11 0,2-9 0</inkml:trace>
  <inkml:trace contextRef="#ctx0" brushRef="#br0">27568 1975 7783,'-8'-26'4915,"-1"0"0,6 16-2573,-1 14 0,-2 16 0,2 22 0,1 2-1920,2 2 1,1 2-1,1 2 1,3-1-423,5-2 0,4-11 0,4-2 0,3-11 0,6-6 0,4-8 0,2-5 0,1-5 0,1-9 0,0-12 0,1-9 0,-6-7 0,1 0 0,-10-5 0,-7 0 0,-2-5 0,-7 4 0,-2-2 0,-5 0 0,-7 5 0,-6 6 0,-4 8 0,-6 5 0,0 5-1573,1 9 1,3 3 0,1 10-1,1 6 1573,4 9 0,-7 2 0,8 9 0</inkml:trace>
  <inkml:trace contextRef="#ctx0" brushRef="#br0">27646 2130 7792,'-20'1'0,"2"2"0,6 3 2457,3 1 1,3 6-1,9 5 1,6 2 2457,8 3 0,17 2-4306,9 1 1,6-1-610,3 1 0,-1-3 0,1-4 0,0-6 0,-2-3 0,-3-3 0,-4-3 0,0-2 0,-4-2 0,-3-2-3401,-10-2 1,-6-3 3400,-3-6 0,-3-6 0,-1-1 0</inkml:trace>
  <inkml:trace contextRef="#ctx0" brushRef="#br0">27865 4711 7918,'-26'-4'0,"2"12"0,1 24 0,3 28 0,10-17 0,3 3 0,0 9 0,2 3 0,2 6 0,1 1 0,0 3 0,2-1 0,0-5 0,0-1 756,0-4 0,0-2 0,0-3 0,0-2 0,1-2 0,0 0 1,0-2-1,0 0 0,1-5 0,1 0 0,1 30 0,0-10 1,2-7 1170,1-2 0,-3-11 0,5-3 0,1-7-4480,2-7 1,6-3 0,4-11 2552,2-6 0,8-17 0,1-14 0</inkml:trace>
  <inkml:trace contextRef="#ctx0" brushRef="#br0">28059 5666 7918,'-6'-7'1382,"-3"4"0,-1 7 621,2 9 1,-4 6 0,4 8 0,-4 3-336,-1 5 1,0 3-1127,0 5 1,2-7-487,2 3 1,4-9 0,5-1 0,0-6 0,1-6 0,3-4 374,5-5 0,8-2 0,6-7 1,6-4 180,5-3 0,4 1-288,0-2 1,2 0-375,3-4 0,3 1 0,6-3 0,-2-1 0,-3-1 1,-5 0-308,-6-2 0,-5 4-234,-5-7 1,-6 6 151,-2-1 0,-6 3 0,-3 1 0,-5 0 0,-2-1 0,-2-2 55,0-1 1,-2-1 0,0 5 0,-3 1 88,2-1 1,-2 4 1505,0 0 1496,1 7-2360,-2-4 1,5 7-1,-3 4 1,2 3 0,2 4-1,0 1 157,0-1 0,-4 1-269,-1 0 0,1 5-120,4-1 1,-4 0 0,0-4 0,1 0-1,1 0 1,2 0-67,0-1 0,-4 1-110,0 0 236,-1-6 1,5 5-176,0-3 0,0 2 0,6 2 0,-4 0 0,3-2 0,0-1 0,-1-1 0,-1 1 0,2 1 0,1 1 0,1-3 0,-4-4 0,4-5 0,-2 0 0,-2-1 0,4-3 0,0-7 0,0-4 0,3-7 0,2-2 0,1-6 0,-1 0 0,0-5 0,-3 5 0,1-4 0,-6 2 0,0 1 0,0 0 0,1 6 0,-2 2 0,-3 7 0,-5 0 0,-3 6 0,-4 4 0,-1 6 0,0 6 0,1 3 0,0 8 0,2 4 0,1 5 0,1 6 0,1 5 0,2 5 0,4 1 0,1-5 0,0-3 0,0-1 0,6-5 0,2 1 0,5-4 0,6-5 0,5-3 0,5-4 0,7-7 0,-2-3 0,3-2 0,2-2 0,0-6 0,0-4 0,-1-4 0,1-4 0,-6-3 0,-3 2 0,-4-1 0,-5-3 0,2-1 0,-5-2 0,-3 0-850,0 0 1,-7 1 0,1 0 0,0 2 940,-2 2 1,3 5 0,-6-1 0,0 4 918,2 4 0,-5 5 0,4 8-1010,-4 5 0,-1 10 0,2 5 0,1 6 0,1 3 0,0 0 0,-2 3 0,0-3 0,3-2 0,3 2 0,-2-5 0,0-5 0,0-3 0,4-3 0,-2-6 0,4-2 0,1-5 0,-1-8 0,0-5 0,-3-2 0,2-6 0,-4-2 0,2-1 0,-1-3 0,-5 4 0,3 1 0,-2 1 0,1-1 0,-1 1 0,-4 4 0,0 0 0,0 0 0,0 0 0,0 1 0,0-1 0,0 4 0,-2 2 0,-2 1 0,1 2 0,-4 5 0,1 4 0,2-3 0,3 7 0,-2 3 0,-1 3 0,-1 0 0,5 3 0,0-1 0,0 1 0,0 0 0,0-2 0,0 1 0,0-1 0,0 0 0,0 0 0,0 1 0,0-1 0,0-2 0,0 0 0,0 2 0,0 1 0,0 0 0,0-2 0,0 1 0,0 1 0,0 4 0,0-1 0,2 3 0,2 5 0,-3 5 0,4 0 0,-4 1 0,-1 2 0,4 3 0,1-8 0,-1 2 0,2 3 0,-5-9 0,5-2 0,0-5 0,-3-5 0,5-6 0,-5-5 0,1-9 0,-2-7 0,-2-4 0,0-7 0,0 2 0,0-3-210,0-2 0,0-4 1,0-2-1,0 0 1,0-1-1,0 1-838,0-4 0,0 3 612,0-2 1,0 7 41,0-3 0,1 4 0,2 1 0,1 2 0,1 3 1,-1 3-777,0 4 1,6 7-1,-1 1 1,2 2 205,2-1 0,4-3 1,2 2-1,1-1-1305,3-3 0,3-3 1123,4-4 1,-7 1 1145,3-5 0,-3-1 0,3-4 0</inkml:trace>
  <inkml:trace contextRef="#ctx0" brushRef="#br0">30446 5653 7862,'-18'-19'2778,"-1"7"1,-4-1 0,3 7 390,1 4 0,-2 8-2715,4 3 1,0 4 0,5 4 0,2 4 0,3 2 0,1 0 0,3-1 0,3-1-99,5-1 0,3 3 0,9-5 0,5-3-48,2 0 1,6-2-82,1-1 1,3 0-228,-4-3 0,-4 2 0,-7-2 0,-4 2 0,-5 2 0,-3 0 0,-4 0 0,-8 0 0,-10 1 0,-9 2 0,-9 1 0,-4 5 0,-2-5 0,0-1-2008,0-8 0,6 2 0,5-4 2008,5 1 0,10-4 0,7 3 0</inkml:trace>
  <inkml:trace contextRef="#ctx0" brushRef="#br0">30666 5989 7841,'13'-13'2583,"0"0"-1141,0 0-267,-1 0 1,1 0 0,0 2 0,0 1-1,2 1 1,0-3 194,3-3 0,-1-2-89,-4-9 0,0 1-1003,-1-9 1,1 4-1,0-5 1,0 1-1,-1 1 1,-4 3-335,-3 3 1,-4 7 1161,-1 2 1,-6 10-995,-2 3 1,-4 11 0,-2 8-1,-2 11 1,-1 9 0,3 8-113,3 5 0,1 5 0,6 1 0,1-1 0,2-7 0,2-4 0,4-7 0,7-2-746,10-7 0,4-10 1,5-7-1,8-8 0,7-8 1,4-11-2395,2-8 1,-2-10 2201,-3-7 1,-2-10-1255,-7-2 0,-3-7 2192,-18 29 0,0-1 0,0 0 0,-1-2 0,1-1 0,-2-1 0,-3 0 0,-3 1 0,-2-1 0,-1 0 0</inkml:trace>
  <inkml:trace contextRef="#ctx0" brushRef="#br0">31479 4904 7817,'-13'-12'0,"4"4"3303,1 4 1,-1 11-2076,-4 10 1,0 12 0,1 21 0,-1 15-1,6-25 1,1 3 0,-1 5 0,1 2-125,-1 3 0,1 1 0,0 1 1,0 1-1105,2-4 0,0-1 0,-1-5 0,0 0 0,2-3 0,1 0 0,0-5 0,0 0 0,2 26 0,0-14 0,2-11 0,0-10-266,3-6 1,3-5-1323,-3-5 0,5-6 313,-2-2 0,5-7 1,4-6-1,4-11 1,0-10-1,1-11-470,0-10 1,-9 17 0,0-3 1329,2-4 0,0-2 0,-1-3 0,0-1 59,1-1 0,0-1 0,-1-4 0,-1-1 0,0 1 0,0 0 1,0-3-1,0 1 0,0-3 0,-1 0 0,1 2 0,0 0 1035,0 2 0,0 3 0,-3 7 0,0 4 1,9-13 1398,-1 19 0,-5 23-256,0 28 0,-6 13-829,-7 16 1,0 15 0,0 8 0,0-31 0,-1 1 0,-1 4 0,0 0 0,-2 1 0,-1 1-503,0 2 0,-1-1 0,-1 1 0,1-1-677,-1-2 1,1 0-1,-2 2 1,0-1 185,2 0 0,-1-1 0,-1-4 0,2-1 0,1 28 0,3-8 0,0-7 0,2-8-530,0-10 0,6-6-2846,3-16 1,2-6 1909,2-3 1,1-4 1465,3-4 0,-2-3 0,3-6 0</inkml:trace>
  <inkml:trace contextRef="#ctx0" brushRef="#br0">32047 5743 7809,'7'2'1320,"-3"2"1,-2-1-525,-2 6 0,0-1 1,0 7-1,0 2 923,0 4 0,0 8-1340,0 1 1,0 0-430,0-4 0,0 0 0,0-2 0,0-2-432,0-5 1,5-10 120,4-7 1,8-11 202,5-11 0,1-7 0,0-1 0,-3 3 0,0 3 0,-1 5 353,-1 5 0,-1-1 0,-4 11 1,0 3 1476,0 3 0,-4 7-674,-1 8 1,-1-1-668,2 6 1,1-2-1,-4 1 1,1-4 52,3-2 1,-3-4-387,2-2 1,-1-3 0,7-9-1,1-6 1,2-8 0,2-8 320,3-5 0,0 2 0,0-5 0,-1 1 399,1 3 0,-1 4-410,0 3 1,-3 5-266,-6 8 0,4 4 0,0 5 0,-3 1 0,-2 3 0,-5 5-55,-1 2 0,-1 2-453,0 0-269,-4 0 0,6-1 1,-2-4-19,3-4 0,2-8 1082,-1-4 0,1 0 77,-6 0 0,2 5 0,-3 0 1,1 6-1,-2 7 1279,-5 6 1,-3 5-1687,-3 9 0,-1-1 0,6 5 0,-5-5 0,5 1 0,3-2 0,4-4 0,7-4 0,5-7 0,7-2 0,7-8 0,2-6 0,2-8 0,-3-9-212,5-10 0,-2-3 34,1-6 0,-2 6 0,-7 3 0,0 4 0,-2 5 835,-2 3 0,-6 17-657,-3 10 0,-6 13 0,-10 13 0,-3 14 0,-8 5 0,0 5 0,-4 3 0,0 1 0,1 0 0,-1 7 0,2-10 0,2-1-314,-2-12 1,7-6 0,2-8 0,-2-5-1,0-6 1,0-9-6265,1-6 6578,0-3 0,-4-10 0,0-1 0</inkml:trace>
  <inkml:trace contextRef="#ctx0" brushRef="#br0">32705 5305 7767,'-1'-53'0,"-2"8"0,-3 12 3276,-1 12 1,3 11 0,-4 8 1095,3 9 1,-5 8-6006,1 10 0,-4 1-4709,-4 0 6342,3 0 0,-5 5 0,6 2 0</inkml:trace>
  <inkml:trace contextRef="#ctx0" brushRef="#br0">21605 7744 7825,'-32'3'816,"3"10"0,7 20 0,8 25 0,9-17 0,1 2 1,1 4-1,1 2 0,0 0 0,1-1 822,0-3 0,0-1 1,1-5-1,0-2 0,0 31 1,0-7-979,0-5 0,0-16 56,0-10 1,-1-12-258,-3-18 0,-2-15-459,-3-19 0,-1-12 0,6-10 0,-5-8 0,7 24 0,0-1 0,0-1 0,1-2 0,0-3 0,1 0 0,0-3 0,0-1 0,0-1 0,0 1 0,0 3 0,1 1-171,1 3 1,0 2 0,2 4 0,1 3 170,12-17 0,-1 12 0,6 23 0,0 11 0,3 13 0,2 15 41,3 10 0,-3 6 1,4 4-1,-6 1-41,-3-2 0,1 0 0,-6-3 0,0-5 0,-4-3 0,0-8 0,0-6 0,0-8 0,-2-8 0,-2-7 0,1-14 0,-6-5 0,6-14 0,-1-3 0,1-12 0,0-5 0,-1-3 0,-1 1 0,1 6 516,-1 9-516,1 17 0,4 20 0,0 23 0,0 24 0,0 25 0,-7-26 0,1 1 0,-1 3 0,0 2 0,1-1 0,-1 1 0,1-1 0,-1 1 0,1 1 0,-1 0 0,1-2 0,-1 0 0,0-2 0,1-1 0,6 27 0,0-11 0,0-21 0,1-7 0,2-9 0,3-7-2840,1-6 1,1-6-1131,5-11 0,4-10 3222,0-20 0,0-15 0,-17 24 0,-1-2 0,-1-2 0,-1-1 0,-1-2 0,-1 0 0,0 2 0,-1 0 748,6-31 0,-5 13-156,1 22 1,-6 14 702,1 25 1,-1 11 0,1 13-1,3 14 1,2 12 0,0 8 3096,1 3 1,-2 0-1576,5 4 0,-7-8-1295,7-1 0,-3-7 1,1-7-1,-2-9 1,-3-10 2050,-1-8-2825,-3-11 0,3-8 0,-5-8 0,-1-5 0,-2-4 0,-3-8 0,1-6 0,-2-12 0,-1-10 0,5-6 0,1 21 0,0-1 0,1-4 0,1-1 0,0-4 0,0-2 0,0-4 0,1 0 0,1-1 0,0 1 0,2 1 0,1 1 0,1 5 0,1 3 0,1 5 0,1 3 0,13-21 0,4 22 0,4 18 0,-3 11 0,3 15 0,-3 5 0,-2 13 0,-2 5 0,-3 5 0,-3 6 0,-6 3 0,1 0 0,-8 1 0,-1 4 0,-7-4 0,-3-3 0,-6-2 0,0-6 0,1-6 0,2-1 0,2 1 0,5-7 0,-2 2 0,4-2 0,1 3 0,3 1 0,4 2 0,7 1 0,5 0 0,4 0 0,1 1 0,6-1 0,1-4 0,-1-2 0,-5-3 0,6 2 0,0-5 0,2-4 0,3-4 0,3-6-8175,4-2 8175,-3-8 0,16-13 0,-3-8 0</inkml:trace>
  <inkml:trace contextRef="#ctx0" brushRef="#br0">23903 7628 7728,'-6'-13'9830,"5"0"-7763,-4 0 1,5 6-1,5 1 1,3 2-647,4 0 1,-4-1-1422,1 5 0,0 0 0,3 0 0,-4 2 0,-4 2 0,-4 5 0,-4 2 0,-11 3 0,-11 4 0,-1-3 0,-7 7 0,-1-5 0,-3 5 0,0-1 0,4-1 0,5-1 0,6-1 0,5-3 0,5 2 0,0-3 0,6-1 0,5 0 0,9 0 0,11 0 0,6 0 0,6 0 0,7 0 0,6 0 0,6 0 0,-1-1 0,0 1 0,0 0 0,-5 0 0,-3 0 0,-1 1 0,-1 4 0,-5-8-945,-3 3 0,-4-5-525,-4 1 0,3 1 1,0-6 1469,4-1 0,6-13 0,-2-4 0</inkml:trace>
  <inkml:trace contextRef="#ctx0" brushRef="#br0">24768 7718 7728,'-2'13'722,"-1"1"0,-1 4 3193,1 3 1,3 9 273,4 5 1,9 8-3642,9 4 0,4 0 0,5-2 0,8-9 0,7-8 1,4-9-549,2-8 0,-2-8 0,-3-11 0,-4-8 0,-8-14 0,-4-9 0,-8-8 0,-4-3 0,-8-2 0,-4 0 0,-4 1 0,-3-2 0,-4-3 0,-6 3 0,-12-3 0,-6 7 0,-17 3 0,-8 3 0,23 23 0,-3 3 0,-2 1 0,-2 3 0,-1 3 0,0 1 0,-32-2 0,6 11 0,6 11-644,11 7 1,8 12 643,9 8 0,6 5 0,6 13 0,7 6 0</inkml:trace>
  <inkml:trace contextRef="#ctx0" brushRef="#br0">15668 6131 7961,'-8'-2'77,"-1"-1"1,1-2 0,-1-1 0,2-1 693,1-1-200,2 6 1,5-8-1,2 4 2131,1-1-1739,1 4 0,-7-3 734,-2 6-943,-3 0 0,-2 1 1182,1 4-1364,5-4 1,-4 5-120,2-6-130,4 0-508,-5 0 69,6 0-304,0 0 515,0-6 28,0 5-62,0-11 0,0 9 0,0-5 1,0-2 415,0-2-653,0 5 75,-6-4 1,5 8 0,-5-4-806,1 1-716,3-4 891,-4 8 0,6-5 0,2 4-981,2-1 1312,-2 0-18,3 4 1,-3 0-687,2 0-33,-3 0 1,5-2 0,-4-2-1583,2-5 2719,-3-2 0,11-2 0,-5 0 0</inkml:trace>
  <inkml:trace contextRef="#ctx0" brushRef="#br0">15772 5989 7961,'-12'-2'464,"2"-1"1,2-1 186,-2 1 0,0 0-95,1-1 0,-3 3 0,4-4 0,-4 2 0,-2 1 1,-2-3-1,-2 1 0,-2 0 2062,-3-1 0,-3 1-2085,-4 4 1,-2 6 0,-4 2-1,2 5 315,-2 4 0,-1 9-69,-2 9 1,6 8-1,3 5 1,4 7 0,5 5-1,5 3-636,6 2 1,4-8-144,6-5 0,7-12 0,6-10 0,7-10 0,9-7 0,1-9 0,0-8 0,0-9 0,0-7 0,9-11 0,-5-8 0,5-7 0,-9-10 0,5-4 0,-20 26 0,0-1 0,0-1 0,-1-1 0,-1-1 0,-1 0 0,-1-1 0,-2-1-332,-1-1 0,-3 0 0,0-3 0,-3-1 57,-1-2 0,-2 0 0,1 0 0,0 2 173,1 3 0,-2 2 1,-1 2-1,-1 2 0,-6-25 1,-4 7-1,-1 6 0,0 13 1000,2 12 0,8 11-511,-1 16 0,4 12-387,1 14 0,0 15 0,1 18 0,1-27 0,-1 1 0,2 5 0,0 2 0,0 4 0,1 0 0,1 3 0,0 0 0,1 2 0,0 0 0,0-1 0,1-1 0,-1-3 0,1-2 0,-1-7 0,0-1 0,13 27 0,3-14 0,2-8 0,2-10 0,0-11-4916,-1-12 1,3-16-1083,2-11 5998,3-15 0,4-14 0,-2-5 0,-4-1 0</inkml:trace>
  <inkml:trace contextRef="#ctx0" brushRef="#br0">16185 5266 7961,'-26'0'6182,"2"3"-4644,2 5 1,3 15-818,7 20 1,-1 16 0,6-20 0,1 2-1,0 5 1,0 2 0,1 4 0,2 2-1,0 1 1,1 2 336,1-1 1,1-1-1,2-9 1,3-3-1218,8 26 1,10-16 158,7-18 0,10-11 0,-1-11 0,2-7 0,2-6 0,-1-6 39,-5-7 0,-2-7-39,-5-10 0,-7-7 0,3-6 0,-9-12 0,0-1 0,-3-8 0,-2-7 0,-7 35 0,-2-1 0,2-33 0,-5 3 0,-5 2 0,-2 5-223,-6 0 1,-4 11 0,-1 1 0,-3 8 0,-1 7 0,-1 7-1053,1 8 0,3 9 1,7 6-1,0 8-331,3 8 1,-1 7 0,6 10 0,1 4-3262,2 3 4867,7 2 0,-1-3 0,4 3 0,-3 2 0</inkml:trace>
  <inkml:trace contextRef="#ctx0" brushRef="#br0">16520 5847 7976,'-8'5'1129,"1"4"0,1 5 1,3 9-1,4 13 0,7 13 1,6 10 1327,5 4 1,3 0-1,7-1 1,3-4-1393,1 0 1,-5-10-1022,2-9 1,-7-9 0,-2-11-1,-3-8 1,-2-3 0,-2-6-2223,-1 0 1,0-4 0,-1-2-232,-4-4 1,-2-5-1,-6-5 2409,0-3 0,-6-9 0,-1-3 0</inkml:trace>
  <inkml:trace contextRef="#ctx0" brushRef="#br0">16185 6169 7933,'-25'2'1246,"2"3"0,5 10-33,3 9 0,5 15 0,12 13 1,2 6-1,5 5 0,2 1 710,2-4 1,0-4-1376,0-9 1,-2-3-999,-2-5 0,2-7 0,-2-6 0,3-8 0,0-3 0,1-4-2591,0-2 0,4 1 3041,1-6 0,5-5 0,-3-7 0</inkml:trace>
  <inkml:trace contextRef="#ctx0" brushRef="#br0">16856 6131 7889,'-7'-13'3170,"2"0"1,10 6-2141,3 2 0,0 4 1,0-1-1,2 0-610,2-3 1,-1-5 0,-1 0 0,-1-6-374,1-5 0,-3-3 41,2-2 0,-7-6 194,3-2 0,-4 1 0,-2 0 0,-2 3 0,-3 5 0,-1 8 750,-3 7 1,-2 6 31,0 8 1,-1 15-652,0 11 1,4 13-1,2 7 1,1 6-1,3 0 1,2-2-414,1-3 0,1-10 0,4-2 0,2-6 0,6-7 0,4-8 0,2-5 0,1-7 0,3-6 0,1-6 0,2-7 0,0-7-154,-1-10 0,-5-3-286,-2-6 1,-3 1 0,0-1 0,-1 0 0,-4 2-1,-1 4 121,-2 7 1,-4 6 788,1 7 1,2 7-128,-2 6 1,6 8 0,0 10 0,5 7 0,3 5-1,2 3-54,3 3 0,-3-1-289,2 0 0,-1-4 0,5-5 0,-1-6 0,-3-4 0,-1-6 0,-1-6 0,-2-4 0,1-4 0,-2-4 0,-4-10 0,-1-3 0,-4-9 0,4-3 0,-5-5 0,0 1 0,-3-2 0,-2-4 0,-2-1 0,0-12 0,0 0 0,-5 4-1376,1 1 1,-2 9-1,3 4 1,-1 7-1996,1 8 0,2 13 3371,1 15 0,-12 13 0,-2 15 0</inkml:trace>
  <inkml:trace contextRef="#ctx0" brushRef="#br0">15772 7344 7895,'-46'-19'1864,"20"11"0,20-1 0,21 6 102,18 3 0,15-1 0,15-4 0,-25 0 0,0-1-1431,9-3 0,1-2 1,8-3-1,3-2 1,-14 1-1,2-1 0,0-1 1,2-1-1,0 0 1,1-2-1134,3 0 1,0-1 0,0 1 0,-5 2 0,-1 0 0,0 1 597,23-7 0,-2 0 0,-10 4 0,-2 0-566,-8 2 1,-1 2-1,-1 1 1,0 3-1,-2 1 1,-1 1-1,-2 1 1,-2 1-1,29-3 1,-15 5-2239,-13 5 0,-8 1 2804,-11 0 0,-2 0 0,-6 0 0</inkml:trace>
  <inkml:trace contextRef="#ctx0" brushRef="#br0">16469 8054 7908,'-46'0'430,"3"1"0,10 5 0,7 8 1847,7 11 1,5 10-1,1 10 1,0 1-577,0 3 1,6-5-1127,3-1 1,4-4-274,4-5 0,3-4 0,8-10 0,0-7 0,4-7 0,0-5 1425,-1-1 0,4-11-1456,-5-6 1,2-8-272,-2-5 0,-1-9 0,4-8 0,0-3 0,-2-2 0,1 1 0,-3-1 0,-3-4 0,-5 0 0,2-8 0,-5 3 0,-1-3 0,-4 9 0,-1 5 0,-2 6 0,-3 8 0,-1 10 0,3 9 0,-5 17 0,6 3 0,-1 5 0,2 8 0,2 16 0,0 6 0,2 10 0,2 6 0,5 6 0,2 2 0,2-2 0,0-4 0,0-8 0,4-4 0,2-7 0,1-4 0,3-8 0,1-11-1817,2-8 0,-2-5-2204,-2-1 0,6-11 2225,-2-6 1,3-9 1795,-3-9 0,0-5 0,-1-11 0</inkml:trace>
  <inkml:trace contextRef="#ctx0" brushRef="#br0">17127 7576 7887,'-20'-26'1730,"-3"6"0,6 4 0,1 6-92,2 6 0,1 10 1,0 7-1,0 8 0,0 9 1,0 9-198,0 7 0,5 8 0,0 2 0,3-1-1441,2-2 0,6-6 0,4-2 0,3-7 0,4-9 0,9-7 0,3-11 0,7-4 0,4-7 0,-2-11 0,-1-11 0,0-8 0,5-4 0,-6-8 0,-3-2 0,-5-1 0,-7-1 0,-6 2 0,-5-1 0,-4-3 0,-7 0 0,-7-2-120,-10-1 0,-1 3 0,-9 2 0,-1 3 0,-1 7 0,2 9-2651,5 9 0,6 9-352,7 5 0,2 9 571,2 8 2552,3 17 0,6 11 0,0 10 0</inkml:trace>
  <inkml:trace contextRef="#ctx0" brushRef="#br0">17243 7705 15006,'0'9'4410,"0"-1"1,2-3-3137,2 3 1,7-1-128,7 2 1,9 3-1459,-1-4 1,2-2 0,-1 0-1,2-2 1,1 0 0,0-2-2538,2-5 0,-3-6 2848,5-8 0,0-9 0,5-7 0</inkml:trace>
  <inkml:trace contextRef="#ctx0" brushRef="#br0">18727 5911 7863,'0'0'0</inkml:trace>
  <inkml:trace contextRef="#ctx0" brushRef="#br0">18676 6014 7914,'-13'-7'1796,"0"4"0,-1 8 0,-2 8 0,-1 8 3119,1 8 0,-4 10-4648,-2 8 0,-8 10 1,13-24-1,-2 0 0,0 3 1,-2 1-1,-1 1 0,-2 0 1,0-1-1,-1-2 1,-1-1-1,-1-2 0,1-1 1,-1-2-268,1 0 0,-1-2 0,-17 19 0,5-9 0,9-9 0,7-10 0,4-3 0,6-3 0,6 1 0,2-5 0,10-3 0,4-5 0,2 0 0,2 0 0,2 0 0,2 0 0,4 0 0,4 0 0,2 0 0,3 0 0,-1 0 0,5 0 0,1 0-655,3 0 1,1-1-1,1-2 1,2-1-1,1 1 1,-2 1-2185,0 2 0,-7 0-2258,0 0 5097,7 0 0,-1-5 0,4-3 0</inkml:trace>
  <inkml:trace contextRef="#ctx0" brushRef="#br0">19218 6066 7875,'-25'-4'1042,"4"1"1,5 7 1414,6 12 1,4 17-1,6 20 1,0 12-238,0-28 0,0 2 0,1-1 1,0 0-2221,1 1 0,0-1 0,5 28 0,6-10 0,6-13 0,2-9 0,4-9 0,1-14 0,1-7 0,3-4 0,-1-7 0,5-6 0,-4-7 0,4-10 0,-9-4 0,-1-9 0,-4-5 0,-5-3 0,-5-4 0,-6-1 0,-5-4 0,-8 4 0,-5-4 0,-12 4 0,-10 2 0,-4 8 0,-3 7 0,-3 9 0,1 7 0,1 6 0,2 8 0,8 5 0,7 10-3089,5 6 1,6 14 3088,-1 13 0,9 5 0,2 8 0</inkml:trace>
  <inkml:trace contextRef="#ctx0" brushRef="#br0">14842 8260 7911,'-5'-13'347,"-1"0"0,-4 0 1,1 1-1,1-1 1742,1 0 1,-3 4-12,5 1 0,0 5 1,2-3 1457,-2 0 0,1 6-2908,4 0 0,0 2 1,0 6-629,0 2 0,0 2 0,0 1 0,0-3 0,0 3 0,1-3 0,2 8 0,3 1 0,0 2 0,1 4 0,0 1 0,2 5 0,4 4 0,4 6 0,0 2 0,6 6 0,-1 0 0,2 4 0,2 3 0,0-2 0,-1-1 0,1-3 0,0-2 0,-6-8 0,-3-6 0,-2-5 0,-4 0 0,-2-6 0,-4-6 0,0-3 0,-1-1 0,0-6 0,-9-1 0,-3-6 0,-4 0 0,-1-1 0,0-4 0,-2-3 0,-2-4 0,-3-1 0,-6-1 0,0-2 0,1-1 0,-3-5 0,-2 5 0,3-4 0,-3 4 0,7-1 0,3 5 0,1 2 0,3 1 0,2 1 0,7 6 0,3 3 0,8 9 0,5 8 0,9 5 0,7 2 0,6 3 0,5 1 0,4-3 0,6 3 0,-3-11 0,0-1 0,-4-8 0,-2-2 0,-1-6 0,-5-3 0,-2-5 0,-6-10 0,-3-5 0,-4-7 0,-7 0 0,1-6 0,-6 2 0,0-3 0,-4-2 0,0 2 0,0 1 0,0 3-2969,0 1 2969,0 8 0,-6-1 0,-1 5 0</inkml:trace>
  <inkml:trace contextRef="#ctx0" brushRef="#br0">13939 5963 7904,'-32'11'985,"7"1"1,7 2-1,10 9 1,9 10-1,11 9 1,9 6 7280,8 7-7608,-2 9 1,-8-29 0,-1 1 0,-1 0 0,-1 1-1,1-3 1,-1-1 0,15 29 0,-4-6 0,-1-5-659,-1-3 0,-4-5 0,-4-9 0,-7-7 0,-2-5 0,1-1 0,-2 0 0,-1-3-516,0 1 0,-5-5-81,3 3 1,-2-2-6465,-2-2 7061,-6-6 0,-1-1 0,-6-6 0</inkml:trace>
  <inkml:trace contextRef="#ctx0" brushRef="#br0">13616 7021 7876,'-11'-1'8027,"2"-4"-4362,5-3 0,11-5-1557,10-4 1,11-6-1987,15-12 0,10-6 0,-22 14 0,2-2 0,3-2 0,0 0 0,3-2 0,-1-1 1,1-2-1,0 0-122,-2 0 0,-1 0 0,-2 3 0,-2 0-218,-8 3 0,-1 0 0,20-23 218,-8 1 0,1 4 0,-6 9 0,-2 6 0,1 6 0,0 5-1486,1 5 1,4 4 1485,-4 5 0,0 2 0,-4 6 0</inkml:trace>
  <inkml:trace contextRef="#ctx0" brushRef="#br0">27517 7163 7796,'-5'13'-131,"1"0"1,1 0 0,2 0 0,1 0 0,0 0 0,1-1-399,3 1 1,2 0 528,3 0 0,8 0 0,-3 0 0</inkml:trace>
  <inkml:trace contextRef="#ctx0" brushRef="#br0">27413 7111 7857,'-5'-7'-1686,"3"0"1498,-2 3 212,3 2 250,1-3 0,-2 5-14,-2 0-602,2 0-10,-9 0 342,9 0 1,-5 0 318,3 0 377,3 0 0,-5-2 1940,6-2 398,0 3-1860,0-5 0,-2 6 2012,-2 0 282,3 0-2945,-5 0 1,7 6 64,4 2 1,2 4 0,6 2 0,0 2 0,1 2 0,3 2-135,5 3 0,1 6 0,0 3 0,-2-1-444,2 1 0,-4 2 0,-2-4 0,-4 5 0,-5-5 0,-2 0 0,-6-4 0,-1-2 0,-5-1 0,-6-3 0,-3-1 0,-8-2 0,1-4 0,-2-2 0,-2-2 0,-4 1 0,-2-6 0,-1-1 0,-2-1 0,-3-2-841,0 0 1,-1-6-2106,0-3 0,6 2 1415,3-2 0,10 1 0,10-5 1,13 1-1773,13 4 1,12 1 2370,7 2 1,6-2 931,2-6 0,0 0 0,-4 0 0,0 1 0,-2-1 0,-1 0-12,-2 0 0,-5 4 0,2 1 0,0-1 391,-1 2 1,0 1-1,-3 6 1,2 0 755,1 0 1,0 0 0,-4 0 0,0 0-439,-1 0 1,1 0-1,-1-1 1,-4-4-133,-4-3 0,1-4 1,-4-2-1,-4-2-96,-3-1 0,-3-5 0,-4 4 0,0-1 180,0 1 1,-1-4-104,-3 5 1,-4 1 86,-4 7 0,-1-1 0,0 6 0,0 1 0,0 5 1,0 5 882,0 6 1,0 13-1517,0-1 0,6 10 0,3-1 0,2 4 0,2 0 0,0 1 0,2-2 0,4-2-482,7-5 1,2-9-2118,11-4 0,-2-8 1454,11-5 1,-1-9 0,5-10 0,0-9 0,1-10 0,1-8-1619,3-5 0,-1-8 2380,-5-1 0,-18 24 1,-1-2 172,1 2 1,-1 0 0,-1-6 0,0-2-1,-3 2 1,0-1 0,-4-1 0,-1 0 0,-2-1-1,-1 1 1,-3 1 0,0-1 247,-1 2 1,-2 0-1,1-28-14,-2 6 1,-2 16 1375,-2 18 0,1 13 0,-4 14 1,1 12-1,2 13 1166,-2 11 0,5 16-725,-3 16 1,1-31 0,0 2-1512,1 4 1,0 2 0,-3-1 0,-1 0 0,3 1 0,-1-1 0,0 0 0,0 0 0,-1-1 0,1 0 0,0-3 0,-1-1-622,2-2 0,-1-3 0,-1 27 1,5-9-1,0-7-1006,0-7-858,0-15 0,1-5 863,3-15 1,4-5 0,4-8 0,3-11-2927,2-12 4218,3-13 0,6-20 0,-13 29 0,0 0 0</inkml:trace>
  <inkml:trace contextRef="#ctx0" brushRef="#br0">28665 6531 7857,'0'-20'3545,"0"2"-2337,0 10 1,0 15 1002,0 14 1,0 17-1398,0 13 1,0 10 0,0 12 0,0-33 0,0 2 0,0 2 0,-1 0-1,0 3 1,-1 1-598,0 2 1,0-1 0,-1-4 0,1-1 0,2-3 0,0 0 0,0 30-2175,0-5 1,0-10-440,0 0 0,0-16 1550,0 3 846,0-11 0,6-1 0,1-5 0</inkml:trace>
  <inkml:trace contextRef="#ctx0" brushRef="#br0">29917 6595 7796,'-20'5'2048,"2"10"1,0 23-645,1 22 0,9-21 0,0 4 1,3 7-1,2 1 0,0 3 1,1 0-838,1 2 1,1 0 0,0-3-1,0-2 1,0-5 0,1-1-1,1-4 1,1-2-889,5 31 1,4-5 0,1-18 0,-2-9-1607,-2-8 1,2-6 270,-2-2 1,-2-4-284,2-5 1,-5-1 0,5-4 54,1-4 0,-5-8 1356,0-4 0,0-4 1068,0-1 0,0 0 0,0 2 0,3 1 0,4 1 0,2-1 1034,3-1 1,3-7-1,6 1 1,1 0-552,4-2 0,-3 4-795,7-7 1,-2 1 154,1-5 0,-1-4 0,-4 0 0,1-1 0,-1 1 0,-4 0 420,-3 2 0,-3 0-247,-7 2 1,-3 2 38,0 3 0,-8 3 0,-1 10 0,-9 5 0,-6 6 0,-7 8-380,-2 9 1,-2 8 0,0 12 0,0 3-216,1 4 0,4 3 0,4 2 0,4-6-456,5-3 1,2-3 0,6-3 0,1-2 0,5-7 0,10-5-8627,13-6 9082,9-8 0,20-9 0,1-7 0</inkml:trace>
  <inkml:trace contextRef="#ctx0" brushRef="#br0">31182 7099 7743,'-11'-20'1850,"1"4"1,1 6 606,-1 5 1,-7 4-1,-6 2 1,-4 4-884,-4 3 0,-4 11 1,0 5-1,-1 6-1173,2 3 1,2-4-492,7 1 1,9 0-140,3-4 0,9 3 0,1-11 1,7 0-1,10-5 0,11-3 164,8-3 0,10-1 490,4-6 0,-1 0-192,1 0 0,-5-5 0,1 1 0,-4 1-135,-5 2 1,-8 1-99,-9 0 0,-8 1 0,-8 3 0,-8 6 0,-13 6 0,-12 7 0,-11 6 0,-11-1 0,-6 7 0,-4-5-471,0 4 1,9-6 0,7-1-1,6-6 1,9 0 470,4-1 0,15-5 0,3 4 0</inkml:trace>
  <inkml:trace contextRef="#ctx0" brushRef="#br0">31673 7073 7743,'12'-25'1652,"0"4"0,-3 4 4868,-5 2-3271,-3 8 0,-2 1-2566,-3 6 1,-8 6-1,-7 3 1,-1 4-1,-3 2 1,-1 4-432,-2 1 1,5 2-253,-1 3 0,6 1 0,-1 0 0,7-4 0,3-1 0,1 2 0,5 0 0,5 0 0,9-2 0,6-3 0,6 3 0,3-5 0,2 1 0,-1-2 0,2-3 0,-2 3 0,-6 1 0,-3 2 0,-4 2 0,-8-3 0,-4 5 0,-11-5 0,-10 5 0,-9-1 0,-14 5 0,-3 0 0,-3-2 0,-1-1 0,0-1 0,5-5-823,-1 4 0,10-9-876,7 1 1699,0-9 0,12 8 0,-5-5 0</inkml:trace>
  <inkml:trace contextRef="#ctx0" brushRef="#br0">26574 3188 8008,'6'-57'329,"1"9"0,5 2 1,-2 8-1,-3 5 1,-1 0-1,-3 0 1,-2-3 1277,-1-1 1,-10-2 0,-4-1 0,-6-3-1232,-8-5 1,-9 4 0,-12 1 0,-8 3 0,22 20 0,-2 2-1,-7 0 1,-3 1-334,-9-2 0,-2 3 0,-7 4 0,-3 1 0,18 3 0,-2 1 0,0 1 0,-1 0 0,-2 1 0,0 1-254,-3 1 0,-1 0 0,0 1 0,-4-2 1,0 1-1,-1 0 0,-3 1 0,0 0 1,-1 1-1,0 0 0,-1 0 0,1 1 145,2-1 0,0 0 0,0 1 1,-3 0-1,-2 0 0,2 0-176,1 0 1,1 0 0,0 0 0,-6 0 0,0 0 0,1 0 355,2 0 0,2 0 0,-1 0 0,1 0 0,1 1 1,0 0-1,3 0 0,1 0 0,1 1 0,-1 0 1,1 1-1,0 0 0,1 1 0,-1 0 0,2 1 1,0 1-1,2 0 0,-1 1 293,1 1 0,1 0 0,0 2 1,1 0-1,-1 1 0,2 2-483,3 2 1,1 1 0,-1 1-1,-1-1 1,-1 2 0,1 1 91,-2 1 1,1 2-1,-1 0 1,2 1-1,1 0 1,0 0-1,0 0 1,2 0-1,0 1 1,2 0-1,0 0 1,2 1-1,0 1 1,1 0-1,1 1 1,1 1-1,1 1 1,1 0-285,1 2 1,1 0-1,0 0 1,-16 14 0,1 1-1,4 0 1,2 0 0,4-3-1,1 0 187,4-3 0,3 3 0,8 2 1,5 2-1,6-3 0,5 1 1,3-2-1,2 1 147,3-2 1,3-1-1,3-3 1,3-1-1,3-1 1,2 1-1,6 1 1,3 0 43,3 2 0,5 0 0,8 4 0,6-2 0,4 3 0,4-2 0,4-3 0,2-1 93,1-2 0,3-1 0,-14-12 0,2-2 1,1 1-1,3-1 0,1 1 0,0-1 1,3 2-1,2-1 0,-1 2-35,0 0 0,1 1 1,0 0-1,3 0 0,-1 1 1,0-1-1,-2-1 0,0 0 1,0 0-1,1-1 1,1-1-1,0 0-163,1-1 0,0 0 1,1 0-1,0 0 0,1 0 1,0-2-1,2-2 1,1-2-1,0-1 0,-2-1 1,1-1-1,1-1 52,0-1 1,1-1 0,1-3 0,2-1-1,1-3 1,0 0 0,-15 0 0,0-1-1,0 0 1,1 0 0,1-2 0,0 1 0,0-2-1,0 1 10,1-2 0,-1 0 1,1 0-1,0-1 1,-1 0-1,-1-1 0,1 0 1,-1-1-144,0-1 1,-2-2 0,1 0 0,0 0 0,17-3 0,-1 0 0,1-1 75,-17 2 0,-1-1 0,1 0 0,0 0 0,1-1 0,0 0 0,1-1 0,-2-1 0,16-4 0,-1-2 0,0 0 0,-3-1 0,-1 0 0,0-2 0,-2-1 0,-1 0 0,-1-2 0,-1-2 0,-1 0 0,0-1 0,-1-1 0,-1-2 0,0 1 0,0-1 0,-1-1 0,-1 0-132,-2 0 0,-1-2 0,-1 0 1,-5 1-1,-1-1 0,-3-1 132,-7 1 0,-2-1 0,-1 0 0,0-1 0,0 1 0,-3-2 0,12-19 0,-2-2 0,-1 2 0,-2-1 0,-3 1 0,-3 0 0,-7 0 0,-4-1-24,-5 0 0,-4-2 1,-3 1-1,-5-1 0,-5 3 1,-4 0-1,-4 0 0,-5 0 24,-5 1 0,-5 0 0,-10 0 0,-5 2 0,9 16 0,-2 1 0,-2 0 0,0 2 0,-2 0 0,-1 2-67,-3 0 1,0 1-1,-2 2 1,-2 2-1,-1 1 1,-1 2-1,-4 0 1,-1 1-1,-1 1 1,-2 1-1,-1 2 1,-1 1-1,-2 1 1,-1 2-1,-2 1 1,-1 1-1,-2 2 1,0 2-1075,-3 1 0,-1 1 1,1 2-1,-1 3 0,1 3 1,0 2 432,-2 0 0,1 2 0,1 3 0,4 2 0,1 3 0,1 2-908,2 3 0,1 2 0,1 1 1616,5 2 0,0 1 0,0 0 0,0-1 0,0-1 0,0 2 0,3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18908 5330 7869,'-29'0'3101,"4"0"-2516,7 0 1,1-1-1,9-3 1,3-6 0,7-6-1,6-9 68,9-8 1,14-8 0,9-16 0,-16 24-1,2 0 1,3-5 0,1-2 0,2-4-1,0-2-52,2-4 1,1-2 0,6-5 0,1-1-1,-11 17 1,2 0 0,-1 0 0,3-1-1,-1 1 1,2-1-541,1 0 0,0 1 0,1-1 0,-2 2 0,1 1 0,-1-1 0,0 0 0,1 0 0,-1 0 0,-1 2 1,1 0-1,-1 2-61,17-14 0,-1 1 0,-3 4 0,-1 4 0,-7 10 0,-1 2 0,-4 1 0,-1 1-622,-6 3 1,0 0 0,17-25-1,-10 7 1,-4 6-954,1 9 0,-5 7-531,3 7 0,-4 2 978,-4 2 0,-4 5 0,-6 9 1128,-4 8 0,-8 0 0,-7 6 0</inkml:trace>
  <inkml:trace contextRef="#ctx0" brushRef="#br0">18973 4621 7947,'-35'12'1034,"4"11"1,3 18-239,8 17 1,4 8 0,10-26 0,0 1 0,-1-4 0,1-1-1,-7 30 1,0-6 378,0-3 0,1-7 1,4-8-1,4-6-143,2-6-839,2-8 0,2-10-173,2-7 1,4-4 0,10-2 0,5-2 0,5-3 0,8-1-1564,6-3 1,-1-2-6,7 0 0,0 2-234,8-3 0,-5 0 0,4-13 1782,4-6 0,-25 12 0,0-1 0,2-2 0,-1 0 0</inkml:trace>
  <inkml:trace contextRef="#ctx0" brushRef="#br0">20818 3201 10779,'-7'-7'7926,"7"1"-7137,7 6 1,6 0 0,0 0 1385,0 0-1789,0 0 0,0 0 1,0 0-1,0 0 1,-1-2-1,3 0 1,1-3 731,1 2 1,0-2-1023,-4 0 0,4 1 0,0 4 0,-2 2 0,-5 2-96,-6 4 0,-3 10 0,-2 5 0,-5 5 0,-7 7 0,-5 9 0,-8 8 0,0 1 0,0 7 0,2-1 0,2 1 0,5-4 0,4-4 0,5-5 0,3-4 0,4-13 0,1-4 0,7-10 0,6-3 0,6-2 0,8-7 0,2-2 0,4-5 0,2-6 0,6-2 0,4-3 0,-2-2 0,-1-3 0,-2-1 0,-3 0 0,-2-2 0,-1 2-875,-8 3 1,3 3-1,-8-3 1,4 2 0,1 2-1,1-1-2688,3-3 1,-3 1 1925,3-5 1,3-1 1636,2-4 0,2-5 0,2-2 0</inkml:trace>
  <inkml:trace contextRef="#ctx0" brushRef="#br0">21760 3046 7841,'-7'-26'2864,"3"12"1,10 8 0,8 10-1440,10 9 1,4 7-1,6-1 1,0 1-640,-1 3 1,6 1 0,-2 1 0,5-4-331,0-4 1,2-2-1495,-1-2 1,6-2 393,-2-2 1,-8 1-1,-5-6 1,-5-1-1,-5-3 1,-1-4-3235,-1-5 0,-8-8 1696,-1-5 2182,0-8 0,-12-8 0,5-8 0</inkml:trace>
  <inkml:trace contextRef="#ctx0" brushRef="#br0">22367 2762 7841,'-27'19'0,"-2"5"0,-3 10 1638,0 14 0,-3 13 1,16-24-1,1 1 0,0 1 1,0 1 121,0 1 1,2 0 0,1-1 0,1 0-2582,-2-3 0,2-1 0,-8 33-255,5-9-1,8-8 1,4-11 0,0-3 1124,1-4 1,0-5 0,4 2 0</inkml:trace>
  <inkml:trace contextRef="#ctx0" brushRef="#br0">19321 11926 8105,'-19'0'0,"5"0"0,-3 0 1295,3 0 0,5 0 1,3 1-240,5 3 1,4-1 0,11 4-1,3 1 1,6-3 0,6 2-318,5 1 1,5-4-1,4 3 1,4 0-100,3 0 0,-1-2 1,1 2-1,6-1-318,6-3 0,-24-3 0,3 1 0,5-1 0,3 0 1,1 0-1,1 0-142,3 0 0,0 0 0,2-2 0,1-2 0,6 0 0,2 0 0,3-2 0,1-1-235,3-1 0,0-1 0,-23 2 0,0 1 0,-1-2 0,21-4 1,0-1-1,-20 4 0,0 0 0,1-1 95,1 1 0,2-1 1,-1-1-1,-3 1 1,0-1-1,1-1-307,0 0 0,0-1 0,0 0 0,0 0 0,0 0 0,1 1 267,0 1 0,1-1 0,0 1 0,1-2 0,1 1 0,-1 0 0,-1 0 0,-1 1 0,1-1 0,1 0 0,-1 0 0,1-1 0,-2 0 0,0 0 0,0 0 0,0 0 0,0 0 0,-1 0 0,2 1 0,0-1 0,-1 0 0,0-2 0,-1 0 0,1 0 0,2 0 0,0-1 0,0 0 0,-1-2 0,-1-1 0,0 0 0,2-1 0,0 0 0,0 0 0,-2-1 0,0 0 0,0 0 0,1-1 0,-1 0 0,0 0 0,1-1 0,1 0 0,0 0 0,-1-1 0,0 0 0,0-1 0,0-1 0,0 0 0,-1-1 0,-1-1 0,0-1 0,-1 0 0,-2-1 0,0-1 0,-1 0 0,2-2 0,-1-1 0,0-1 0,0 1 0,-2 0 0,1 0 0,1 0 0,-1 0 0,0-1 0,-3 2 0,-1-1 0,-1-1 0,3-1 0,-1-2 0,-1 0 0,-2 3 0,-2 0 0,-1-1 0,-1 1 0,0-1 0,0 0 0,0 0 0,1 1 0,0 0 0,-1-1 0,0 1 0,0 0 0,-2-1 0,0-1 0,0 1 0,12-19 0,-2 1 0,-3 0 0,0 0 0,-3 3 0,1 0 0,0-1 0,1 0-294,1 0 0,0 0 1,-5 1-1,-1-1 294,1-1 0,-3-2 0,-4 3 0,-3 0 0,-4 0 0,-1 1 0,-1-2 0,0-1 0,-1 1 0,-1-1 0,0-1 0,0 1-49,-1 1 1,0 1 0,0 1 0,-1 0-1,2-1 1,-1 0 0,-2-2 0,-1 0 48,-2-2 0,-2 0 0,0 4 0,-1 1 0,-2 1 0,-1 1 0,-2 2 0,-1 1 0,0 1 0,-2-1 0,0-1 0,-2 0 0,0 1 0,-2 0 0,-1 3 0,-2 1 0,-1 5 0,-2 0 0,-12-32 0,-4 0 0,12 35 0,-1-1 0,-1-3 0,0-1 0,0 4 0,-1 1 0,-1-3 0,-1 1 0,0 4 0,-1 1 0,-16-29 0,-2-1 0,-3 3 0,-4 2 66,19 29 0,-2 1 0,-4-1 0,-1 2 0,-4-1 0,-1 0 0,-1 1 0,0 0-66,-1 1 0,0 1 0,3 0 0,1 1 0,0 3 0,1 0 0,-4 0 0,-2 0 0,0 2 0,-1 0 0,-7-1 0,-1 0 0,0 2 0,0 1 0,0-1 0,1 0 0,2 0 0,-1-1 0,2 0 0,0 1 180,-5 2 0,-2-1 0,-1-3 0,-1 1-180,-4 1 0,-1 1 0,4 0 0,0 0 0,3 2 0,1 0 0,-3 2 0,0 1 0,-5 0 0,-1 0 0,0 0 0,0 1 0,2 2 0,1 1 0,2 2 0,1 0 0,-1-1 0,1 0 0,0 1 0,-1 2 0,-1 0 0,0 0 0,0-1 0,0 0 0,5 1 0,-1 0 0,-4-1 0,-1 1 0,2 2 0,1 0 0,-3 0 0,0 0 0,1 0 0,1 0 0,-1 0 0,1 0 0,-1 0 0,0 0 0,-1 2 0,0 1 0,-2-1 0,1 0 0,2 1 0,1 0 0,-1-1 0,0 0 0,-2-1 0,0 1 0,-2 1 0,0 1 0,3 0 0,1-1 0,2 1 0,1-1 0,0 2 0,1-1 0,-2-1 0,-1 1 0,0 2 0,0 0 0,1-2 0,1 2 0,5 0 0,0 2 0,4 0 0,-1 1 0,2 1 0,0-1 0,-2 0 0,0-1 0,-1 0 0,0 0 167,3 3 1,0-1 0,3-2 0,1 0 0,-21 9 0,4-2 0,2-2 0,-1-2-168,-1-2 0,5 1 0,3-6 0,8 5 0,1-5 0,8 0 0,9-2 0,5 0 564,3 3-564,7-1 151,1-4 0,6 2-151,0 2 569,0 3 1,1 4-570,4-2 0,-4 3 0,5-5 0,0 3 0,2 3 0,4 5 0,-1 0 0,-1-1 0,-1-2 0,1 3 0,3-3 0,4 7 0,-3-5 0,3 5 0,-2-5 0,-2 4 0,0 1 0,0-2 0,-1-1 0,1-1 0,0-3 0,0 2 0,-4-3 0,-1-1 0,-5-4 0,-1-2 0,-10-1 0,0-8 0,-9-6 0,-5-10 0,-4-3 0,1-5 0,-7-4 0,0-4 0,-1-4 0,-1-2 0,0-3 0,5-3 0,-1-5 0,3 3 0,1 1 0,1 4 0,4-2 0,5 5 0,6 9 0,6 6 0,2 8 0,4 4 0,2 5 0,3 0 0,6 4 0,1 3 0,2-4 0,3 4 0,1 1 0,3 0 0,1 0 0,2-1 0,0-4 0,1 2 0,3-5 0,3-1 0,6-5 0,0-2 0,1-3 0,1-1 0,2-3 0,-4 3 0,-6-1 0,-3-1 0,-5 2 0,-1-3 0,-7 6 0,0 1-2196,-4 8 0,0-2 0,-1 7 2196,-4 4 0,-2 11 0,-6 8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9499 14855 8209,'-20'-13'2214,"-1"1"-1173,8-1 1,4 5-1,15 6 1,8 4 0,11 7-1,8 4 959,4 4 0,7-1-1514,4 6 0,5-5 1,5 3-1,8-2 1,-30-9-1,2-2 1,2 0-1,1-1 1,4-1-1,1-1 1,1-2-1,0 0-126,2-1 0,-2-1 1,-4 1-1,-2-2 0,30 0 1,-8-2-361,-7-1 0,-7-5 0,-2 5 0,-15-5 0,-2 5 0,-16 0 0,-2 2 0,-6-1 0,-8-1 0,-5-2 0,-10 4 0,-6-4 0,-6-1 0,-11 2 0,-12-3 0,-5 3 0,-8-3 0,-5 5 0,33 1 0,0 0 0,-3 1 0,-1 0 0,-1 1 0,-2 0 0,0 0 0,-1 0 0,0 0 0,0 0 0,0 1 0,1 0-153,1 0 1,0 2 0,4 0-1,2 1 153,-27 9 0,5-4 0,9-1 0,5 1 0,11-2 0,11-3 0,14-2 0,9-2 0,12 0 0,9 0 0,11 0 0,8 0 0,9 0 0,6-2 0,4-2 0,-3 3 0,4-4 0,-1 0 0,1 0 0,8-1 0,-4 4 0,2-3 0,-1 1 0,-5 0 0,-4-1 0,-6-3 0,-7 4 0,-7-1 305,-14 5 0,-7 0-305,-10 0 0,-8-4 0,-14 0 0,1-1 0,-6 5 0,-3-4 0,-8 0 0,-3-1 0,-6 0 0,-2-3 0,-5 1 0,3-3 0,-1 6 0,5-5-1464,-1 5 1,6 0 1463,7 4 0,0 0 0,9 0 0</inkml:trace>
  <inkml:trace contextRef="#ctx0" brushRef="#br0">14262 14546 8162,'-39'-6'1304,"2"-1"0,2-5 1,7 2-1,3 3 1,4 1 1515,-2 3 0,4 3-2260,2 5 0,4-2 0,4 5 0,5 2 0,4 2 0,4 1 0,8-2 1553,8-2 1,7 1-2014,12-6 0,5 0-100,4-4 0,12-1 0,7-3 0,-31 0 0,1-1 0,3 0 0,1 0 0,-1 0 0,0 0 0,0 0 0,-1 1 0,1 2 0,-1 0 0,30-7 0,2 7 0,-2-3 0,0 4 0,-7 1 0,-8 0 0,-6 0 0,-5 0 0,-12 1 0,-9 4 0,-11-4 0,-15 3 0,-9-2 0,-9-2 0,-3-2 0,-7-1 0,-8-1 0,-10 0 0,-9 0 0,-4-1 0,-3 1 0,-3 4 0,2 0 0,-7 0 0,1 0 0,35 0 0,-1 0 0,1 0 0,0 0 0,-35 1 0,5 2 0,7 2 0,12 5 0,14-2 0,10 2 0,12-1 0,6 2 0,4-2 0,7 2 0,7 2 0,5 0 0,13 0 0,1 0 0,9 0 0,8 0 0,8-5 0,12 0 0,5-3 0,1-3 0,-36-3 0,0-1 0,34-7 0,-10-2 0,-5-2 0,-3-4 0,-1-1 0,-8 1 0,-6 4 0,-13 0 0,-10 1 0,-9-1 0,-6 1 0,-6 2 0,-9 2 0,-9-3 0,-9 4 0,-10-1 0,-3 3 0,-5-3 0,-7 5 0,-3-1 0,-7 4 0,32 1 0,-1 2 0,-1 1 0,0 2-639,-1 1 1,1 2-1,0 0 1,1 2-3322,2 1 0,1 2 3667,-29 17 0,17 8 0,2 7 1</inkml:trace>
  <inkml:trace contextRef="#ctx0" brushRef="#br0">6169 11151 8210,'-26'-27'705,"8"3"1,6 11 0,12 1 3034,12 4 1,2 2-2959,8 6 1,4-2 0,5 0-1,2-3 1,4 2 0,5 2 0,4 1-1,1 0 1519,0 0 0,7-1-2301,6-4 0,9 4 0,2-4 0,1 3 0,-5-1 0,-6-2 0,-10 3 0,-6 0 0,-12 2 0,-7 0 0,-6 0 0,-15 0 0,-5 0 0,-7 0 0,-10 2 0,-6 0 0,-6 4 0,-7 1 0,-5 3 0,-8 2 0,-11 1 0,-6 1 0,27-5 0,0-1 0,2 0 0,0 0 0,-33 12 0,5-1 0,3-3 0,4-2 0,2-1 0,8 0 0,5 0 0,15-6 0,6-3 0,15-2 0,13-2 0,15-2 0,15-2 0,11 1 0,14-6 0,-5 1 0,8-5 0,4-4 0,-32 8 0,1 0 0,1 1 0,0-1 0,0 0 0,1 0 0,-1-1 0,-1 0 0,32-11 0,-8-2 0,-14 6 0,-9 0 0,-12 4 0,-15 2 0,-14 2 0,-10 5 0,-5 2 0,-8 2 0,-4 0 0,-6 0-151,1 0 1,-3 10-1,-5 5 1,-3 3 0,1 5 150,7 2 0,-1 1 0,6-1 0</inkml:trace>
  <inkml:trace contextRef="#ctx0" brushRef="#br0">6079 8480 8305,'-20'-31'581,"4"3"1,8 2 0,9 4 0,10 4 0,11 3 0,8 4 1101,9 2 0,7 5 0,10-3 1,2 1-845,1 3 0,4 3 0,-3 3 1,5 3-1,2 0 0,2 1 267,-1 0 1,-4 0-1,-5 2 1,-7-3-937,-8-1 0,-15-3 0,-8 2 1,-6-1-171,-7 1 0,-2-2 0,-6 3 0,-6-5 0,-4 0 0,-6 2 0,-5 1 0,-3 1 0,-2-1 0,-10-2 0,-3-1 0,-14 5 0,-3-1 0,-1 0 0,-2-4 0,2 0 0,2 0 0,2 0 0,1 0 0,11 0 0,2 0 0,15 0 0,2 0 0,11 0 0,12 0 0,16 0 0,14 0 0,7 2 0,5 2 0,3-3 0,6 4 0,4-4 0,0-2 0,0-4 0,-2-3 0,-2-4 0,-6-1 0,-6 0 0,-6 1 0,-9-1 0,-13 0 0,-6 4 0,-12 2 0,-6 0 0,-11 1 0,-12 0 0,-12 3 0,-9 2 0,-7 2 0,1 5 0,2 7 0,0 11 0,-5 9 0</inkml:trace>
  <inkml:trace contextRef="#ctx0" brushRef="#br0">4014 9022 8119,'-66'8'860,"7"1"0,12 2 1,12 4-1,14 3 0,9 1 1,8 0 3855,3-4-4042,1-6 0,11-3 1,8-8-1,8-3 1,10-8-1,9-7 1,10-6-1,6-4 1,1-5 1363,-3-2 1,2 3-1776,-6-1 1,1 5-264,-1-4 0,3-1 0,-28 17 0,1-1 0,27-16 0,-6 5 0,-7 3 0,-6 1 0,-4 2 0,-10 2 0,-12-1 0,-6 6 0,0-1 0,-4 2 0,-1-1 0,-2 1 0,-2 1 0,-4 3 0,3 0 0,-7 3 0,2-2 0,-2 2 0,-2 2 0,2-1 0,-2-1 0,-2 2 0,0 3 0,4-2 0,1 0 0,-2 0 0,-2 1 0,-1-4 0,0 5 0,0-5-66,1 5 0,-1-5 0,-2 3 0,0 1 0,-3-2 0,3 1 264,0 0 0,2 0-198,0 2 0,0 3 0,1-5 0,-1 6 0,11 0 0,9 0 0,15 0 0,2 1 0,4 2 0,2 3 0,3 1 0,1 3 0,0 2 0,-3 5 0,3 0 0,-7 6 0,-1-2 0,-2 10 0,-6 3 0,-4 3 0,-4 2 0,-6 0 0,-2-1 0,-2-3 0,0-1 0,-6-5 0,-3 1 0,-2-4 0,-1-5 0,2-3 0,3-4 0,2-1-9831,2 0 9310,1-6 0,2 4 0,0-3 0</inkml:trace>
  <inkml:trace contextRef="#ctx0" brushRef="#br0">2620 9435 8503,'-14'-2'-158,"-1"1"0,2 1 0,6 7 0,4 9 1,5 11 1501,2 10 1,3 8-1,8 6 1,0 1-365,3 0 0,3-2-1861,-4-3 0,6-8 1,-1-9-1,2-3 0,3-4 1,4-4 880,3-6 0,3-3 0,2 3 0</inkml:trace>
  <inkml:trace contextRef="#ctx0" brushRef="#br0">3059 9744 8166,'4'-12'-646,"2"-1"0,0 0 646,-1 0 0,5 0 0,-1 0 0,-2 6 0,2 3-3,1 2 0,-4 14 1,-2 5-1,-3 7 2154,-1 6 1,0 3-606,0 6 0,-5 5-764,-4 4 0,-3 2 0,0 3 1,-3 3-1,-1 4 0,-2 2-99,-2-2 1,-2 3-575,-4-3 0,2-4-834,3-4 0,2-12 1,6-11-1,1-5-2911,4-2 0,5-12 3636,12-2 0,11-5 0,13-3 0</inkml:trace>
  <inkml:trace contextRef="#ctx0" brushRef="#br0">3175 10441 8314,'-13'-13'-610,"6"1"1,3-1 0,2 0 590,2 0 0,6-2 0,4 0 0,6-2 901,5 1 0,-1 3 0,2 4 0,1 5-102,1 2 1,-2 2 67,-1 0 0,-5 12-276,1 5 0,-4 8 0,-4 5 0,-5 6 0,-3 5 0,-1 5 1984,0 0 1,0 4-1580,0-3 1,0 2-504,0-2 1,2 1 0,2-9 0,5-6 0,2-8 0,4-6 140,2-6 0,3-9-555,6 0 1,4-12-1299,0-5 1,6-13-1,-2-1 1,3-5-1,2-4 1,1-1 1237,3-2 0,15-5 0,-25 21 0,0 0 0</inkml:trace>
  <inkml:trace contextRef="#ctx0" brushRef="#br0">16017 14455 7811,'-20'0'3014,"1"0"1,6 0-1377,0 0 0,13 7 1,9 5-1,13 7 0,11 5 1,10 6-639,5 2 0,10 9 0,2-2 0,-29-19 1,1 2-1001,0 0 0,1 0 0,1-2 0,0 0 0,0 1 0,0 0 0,-2-2 0,0-1 0,30 16 0,-8-8 0,1 1 0,-8-2 0,-8-7 0,-7-2-56,-11-3 0,-2-1-2968,-6-4 1,-2 4 3023,-2-4 0,-9-2 0,-7 0 0</inkml:trace>
  <inkml:trace contextRef="#ctx0" brushRef="#br0">15810 14417 18940,'0'18'727,"6"4"0,3 8 0,2 7 0,4 8 0,0 6 0,3 2 0,-3-1-200,0-5 1,-4-2 0,-2-8-1,-3-3-449,-1-4 0,-3-12-147,2-5 0,-4-9 1,-4-3-1,-5-6 0,-2-11-1210,-2-7 1089,-6 0 0,5-19 0,-5 2 1,2-4-1,0-5 0,1-1 0,2 0 16,1 2 0,5 7 2512,4 11-1782,3-1 0,6 19 1,6-1-1,4 8 0,7 7 1,4 4-557,4 1 0,1 0 0,4 1 0,2 2 0,-3-5 0,-1 3 0,3-3 0,2-2 0,0-2 0,-2-1-2479,-3 0 1,3 4 2478,-2 1 0,4 10 0,0 0 0</inkml:trace>
  <inkml:trace contextRef="#ctx0" brushRef="#br0">17488 14158 7733,'-4'-18'4915,"0"-4"0,-1 11-2458,5 7 1,2 14-1,1 12 1,2 6-1180,3 2-1278,-6 6 0,9-3 0,-6 4 0,1-1 0,1-3 0,-1-2 0,1-2-2421,0-2 0,-2 3 1,2 1-1,-2-4 2421,-2-4 0,4 1 0,1-4 0</inkml:trace>
  <inkml:trace contextRef="#ctx0" brushRef="#br0">18069 14184 7751,'-1'9'4059,"-2"-1"0,-3 2 1765,-1 2-5167,4 12 1,-8 1-1,1 15 1,-6 9 0,-6 9-1,-2 11 1,10-31 0,1 0 200,-2 2 1,-1 1-979,1-3 0,-2 0 0,-4-1 1,-2-1-1,3-3 0,-1-2 1,-18 25-1,5-8 0,2-10 1,4-2-1833,0-3 0,8 3-1954,3-6 0,8 0 3906,5-4 0,3 0 0,1 0 0</inkml:trace>
  <inkml:trace contextRef="#ctx0" brushRef="#br0">17953 14946 10121,'-7'-6'2308,"1"3"0,7-5 0,4-1-1484,3 2 1,8-3-1,3 4 1,2-1 79,7-3 0,-3 3-281,5-2 0,-1 6-398,1-1 0,-4 2 0,1 4 0,-5 1 0,-5 2 0,-5 4 1287,-7 5 0,-3 1-1062,-2 6 0,-6-1-450,-3 2 0,-6 2 0,-3-2 0,3 2 0,2 2 0,3-2 0,1-2 0,6 1 0,-1-6 0,2 4 0,2-3 0,6-3 0,4-5 0,6-2 0,6-3 0,3-2 0,5-1 0,3-4-2110,6-2 0,-2 1-5561,-2-6 7671,2 1 0,-4-11 0,6-1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20921 1020 8101,'-14'-22'4587,"-3"1"-3942,8 5 1,-2 22-1,11 14 1,0 10-1,0 10 1,0 6 2990,0 7 1,6 7-3265,-3-24 0,2 1 0,3 2 0,0 0 0,0 4 0,1 0 0,0-3 0,-1 0 0,1-2 0,0-1 0,8 31 1,0-2-1,0-4-372,0-6 0,-4-2-217,-4-11 1,-2 5 0,3-5 0,-3-2 0,-1-2 0,-3-4-3896,-2-5 1,-1-5-1684,0-3 5795,0-3 0,-11-6 0,-3-1 0</inkml:trace>
  <inkml:trace contextRef="#ctx0" brushRef="#br0">20689 1200 8014,'-20'-58'1285,"7"0"1,10 9 0,8 6 176,7 9 1,7 4 0,8 0 0,3-5-634,5-2 1,-2 0 0,1 2 0,4 8 115,3 8 1,1 8-499,5 11 1,-5 9-20,1 8 1,-5 9-1,-3 12 1,-5 2-1,-4 2 1,-6 2 139,-7 2 0,-6-3 0,-10 3 1,-4 0-569,-6 0 0,-9 0 0,1 1 0,-5-1 0,-4-3 0,1-1 0,-5 4 0,0-3 0,1-6 0,2-5-2583,4-5 1,6-7-4487,-1-3 7069,12-8 0,-1 2 0,11-4 0</inkml:trace>
  <inkml:trace contextRef="#ctx0" brushRef="#br0">20276 2788 7980,'-19'-6'1747,"8"-1"0,14 0 1,18 1-344,21 0 0,-7 0 0,5-2 1,8-5-1,4-3 0,8-4 1,2-3-469,-17 5 1,2-2-1,0-1 1,6-2-1,2-2 1,0-1-1049,4-2 0,0-1 0,0 0 0,-1 1 0,0 1 0,-1 0 0,-1 1 0,-1 1 0,-1 0 0,-3 3 0,-1 0 0,0 2 0,19-7 0,-2 2 0,-8 4 0,-2 2 112,-6 3 0,-1 0 0,-3 0 0,0 1-166,-4-1 0,0 2 0,1-1 0,0 1 0,-2 2 0,-1 2 0,-4 2 0,-2 1 0,22-5 0,-14 5-4533,-11 1 0,-4 3 1423,-11 8 3276,-5 2 0,-1 6 0,-3 0 0</inkml:trace>
  <inkml:trace contextRef="#ctx0" brushRef="#br0">20186 3317 7941,'-45'13'809,"7"14"0,-1 15 1,9 22-1,18-23 1,2 3-1,3 4 0,1 1 203,2 2 0,3-1 0,2-6 0,3-2 0,2-3 0,1-1 1,13 22-1,5-14 0,2-14-495,3-12 0,-1-4 1,5-13-1,1-5-1,-2-5 0,-2-14 332,-5-5 0,-2-10-655,-2-3 0,-4-5 0,-6-7 0,-3 3 0,-5 0 1,-3 0-194,-1-3 0,-10-4 0,-3-1 0,-4-3 0,0 7 0,-3-2 0,-6 8 0,-1 1 0,-2 7 0,-2 9-3384,-2 10 1,4 8-578,-1 11 0,8 13 3961,5 8 0,14 21 0,5 11 0</inkml:trace>
  <inkml:trace contextRef="#ctx0" brushRef="#br0">20831 3820 7899,'-13'-4'1861,"0"0"1,0 1 118,0 1 0,6 4 1,3 2-1,3 5-3070,1 2 0,0 2 263,0 0 1,0-4-3627,0-1 4453,5-5 0,2 3 0,6-6 0</inkml:trace>
  <inkml:trace contextRef="#ctx0" brushRef="#br0">21115 3304 7918,'-17'4'1550,"0"4"0,1 3-203,2 8 0,6 5 0,4 8 0,3 5 0,1 4 0,1 0-516,3-6 0,4 1 0,4-6 0,1-1-778,0-2 1,-4-11 65,-1-3 1,-3-9 303,3 1 0,-3-4 0,3-1 717,2 0-786,-4-6 330,0 5-644,-6-5 1,-2 6 306,-2 0-247,3 0 0,-5 6 1,7 3 146,4 2 1,2-2 40,6-1 0,4-5-179,0 1 0,6-4 0,-3-4 0,2-6 0,-2-6 0,0-5-109,0-4 0,-4-6 0,1-4 0,-4-6 0,-5-2 0,-2-2 0,-6 4 0,0-2 0,-1 1 0,-5 2 0,-7 1 0,-6 6 0,-6 3 0,-3 7-50,-2 2 1,-3 9 0,-7 1 0,-2 4-1,-1 4 1,2 3-3202,1 4 1,8 5 2371,6 8 1,6 4-4213,7 9 5091,6-2 0,13 9 0,8-4 0</inkml:trace>
  <inkml:trace contextRef="#ctx0" brushRef="#br0">21605 3110 7922,'-12'0'0,"-1"0"4764,0 0-3804,0 0 1,6 8 0,2 5 0,4 8 0,2 6 0,4 3 0,3 1 1224,4 0 1,6-4-1788,4 3 0,-2-4 114,2-4 0,-1-4 0,5-5 0,0-1 0,-1-4 0,0-5-2,-4-6 0,2-4-510,-5-6 0,-1-5 0,-4-4 0,-2-7 0,-1-2 0,-3-2 0,-1-4 0,-3-3 0,-2-4 0,-2 1 0,-3 5 0,-4-5-46,-4 0 0,-1 1 1,-2 8-1,-2 5 0,-3 6 1,-2 6-3319,1 3 1,4 6 375,-5 4 0,6 10 545,-1 7 2443,3 11 0,1 9 0,0 6 0</inkml:trace>
  <inkml:trace contextRef="#ctx0" brushRef="#br0">22341 2594 7847,'-6'-18'667,"1"8"0,-4-1 971,5 9 0,2 10 1,2 14-1,2 4 0,1 4 1,1 4-90,-1 3 0,3 2 0,-1 0 0,1 0-771,0-1 0,2 0-457,-3-4 1,0 2-567,0-6 0,-2 4 0,4-5 0,-2-3 0,0-5 1,-1-2-3981,0-3 1,5-6 4224,-5-2 0,6 1 0,-2 4 0</inkml:trace>
  <inkml:trace contextRef="#ctx0" brushRef="#br0">21270 4337 7853,'-19'5'1088,"4"4"1,-6 8 0,3 6 0,3 6-1,5 8 2178,6 9 0,4 7-2783,4 12 1,8-2 0,7-6 0,1-8 0,3-12 0,1-10 0,3-10 0,2-6 331,1-6 0,-4-8 1,-5-10-1,2-8-388,2-8 1,-4-4 0,-1-7 0,-3-1-428,-5-2 0,-4 0 0,-3 4 0,-4 0 0,4 0 0,-10 5 0,-5 1 0,-6 0 0,-4 1 0,-3 2-2258,-2 6 1,2 0-274,-7 6 0,2 5-308,2 5 0,6 8 2839,3 4 0,3 9 0,1 13 0</inkml:trace>
  <inkml:trace contextRef="#ctx0" brushRef="#br0">21825 4091 7881,'-2'9'1332,"0"1"0,-3 4 560,2 6 0,2 6 0,1 4 0,0 6-433,0 6 0,10-1 0,3 4 0,3-5-470,2-7 0,-2-6-698,6-5 1,-5-5 68,4-8 0,-3-4 0,2-6 0,-2-3 0,-1-6 1,-1-6-361,-3-6 0,2-2 0,-11-2 0,0 0 0,-4 0 0,0-4 0,-3-1 0,-4-1 0,-6-1 0,-3 2-549,-2-1 1,2-2-1813,-6 4 1,5 4 627,-4 4 1,5 6-1,-3-1 1733,1 3 0,3 7 0,-3 1 0</inkml:trace>
  <inkml:trace contextRef="#ctx0" brushRef="#br0">22238 3885 7862,'-13'0'8474,"0"0"-7325,6 0 0,7-4-575,9-1 1,8 0-368,4 0 0,8-1 1,1-4-1,-1 2 1,-2-1-1,-1 2 572,0 3 0,-5 2 502,1 2-675,-7 0 0,3 12 0,-10 5 0,-3 7 0,-4 8 0,-1 7-22,0 7 1,-6 1-585,-2 4 0,2-7 0,2 3 0,-2-7 0,2-6 0,2-5 0,5-7 0,6-9 0,8-8 0,4-9 0,1-5-828,4-8 1,-8-2-1,8-3 1,-2 0 0,-1 1-1,0-1-3822,-1 0 0,-11 7 4650,2-2 0,-8 2 0,0 2 0</inkml:trace>
  <inkml:trace contextRef="#ctx0" brushRef="#br0">20857 5163 7954,'-26'-25'3661,"0"4"1,15 8-3322,11 9 1,7 2-1,16 2-340,4 0 0,5 0 0,6 0 0</inkml:trace>
  <inkml:trace contextRef="#ctx0" brushRef="#br0">21360 5511 7846,'-26'7'1310,"1"6"1,0 0 0,4 10 0,4 11 0,4 14 3142,4 9 1,6 6-4178,12 2 0,2-6 0,14-5 1,2-8-1,0-12 0,0-12 0,-1-11 1,0-6 18,0-4-137,0-7 0,-2-5 1,-1-8-1,-3-1 1,-1-4 453,-4-5 0,-2 2-761,-4-3 1,-3 4 0,-6 3 0,0 3 0,0 1 0,-2 3-4801,-2 2 2183,-3 7 1,-6 1-869,0 6 3634,0 6 0,0 1 0,0 6 0</inkml:trace>
  <inkml:trace contextRef="#ctx0" brushRef="#br0">21864 5317 7809,'-13'-25'2178,"0"0"-446,0 4 0,0 9 0,2 12 1,2 9-1,5 8-607,2 9 0,-2 1 1,0 8-1,1-1-164,1-1 0,7 3-253,-1-6 0,6 3-416,-1-7 0,-2 1 1,1-10-1,2-1 0,2-2 1,1-2-186,0-4 1,0-3-1,-1-8 1,1-4-108,0-5 0,-4 1 0,-1-11 0,-5 5-568,2-5 0,0 1 0,0-5 1,-2 0-1,-2 1 0,-2 0-4348,-4 4 1,2-2 4703,-5 6 1,5-1-1,-3 5 1</inkml:trace>
  <inkml:trace contextRef="#ctx0" brushRef="#br0">25000 568 8121,'-26'-26'549,"-1"0"1,-2 3 0,-1 5 0,1 6 0,1 5 0,-1 7 0,-3 7 1413,-1 10 0,3 18 0,-3 12 0,2 16-851,16-23 0,1 2 1,2 7-1,3 2-804,-1 7 0,2 1 0,3-4 0,2 1 0,0 2 0,3-1 0,2-2 0,2-1 0,3-4 0,3-1 0,3-5 0,3-2-288,0-5 1,3-4-1,27 15-20,6-18 0,8-14 0,12-14 0,-33-3 0,1-2 0,2-2 0,-1-3 0,-4-1 0,-1-3 0,-1-4 0,-1-3 0,-3-3 0,-2-3 0,-3-5 0,-2-3 0,0-2 0,-2 0 0,-1-1 0,-3 0 0,-3 0 0,-1 0 0,4-30 0,-6 9 0,-12 1 0,-3-3-273,-6-1 0,-7 3 0,-14 1 0,-4 4 0,-3 6 1,-3 7-2186,-4 8 0,3 15 1,-6 10-1,-2 15 2458,-1 17 0,-2 7 0,0 14 0,1 0 0</inkml:trace>
  <inkml:trace contextRef="#ctx0" brushRef="#br0">24910 1162 8207,'5'-8'3057,"4"3"1,8 6-1,6 3 826,6 5 1,8 7-2467,6 1 1,1 5-1303,0-5 0,-4 1 0,3-2 0,-5 1 0,-3 1 0,-5-1-1659,-3 0 1,-2 0 908,-4-4 1,3 4-3088,-2 1 0,-3-3 3722,-2-6 0,-3 2 0,-1-3 0</inkml:trace>
  <inkml:trace contextRef="#ctx0" brushRef="#br0">24509 2259 8030,'-25'-6'5774,"7"0"-3011,10-2 1,15-2-2038,19 5 1,13-6-1,12-2 1,11-9 0,-26 8-1,1-2 1,6-3 0,1-1 154,6-2 1,1-1 0,5-5 0,3 0-882,3-2 0,0-1 0,0 1 0,0-1 0,-2 1 0,0 1 0,-3 3 0,-1 2-291,-4 3 1,-2 2-1,-8 3 1,-2 2-260,29-4 1,-19 3 0,-13 10 0,-2 2 0,-4 2 0,1 1-4367,-4 0 1,-5 0 4915,-1 0 0,-6 6 0,2 1 0</inkml:trace>
  <inkml:trace contextRef="#ctx0" brushRef="#br0">24548 2891 8014,'-20'0'588,"-3"0"1,6 0-1,3 1 1,4 7-1,7 9 1,6 14-1,7 12 1217,5 9 0,5 8 0,6-1 0,0 0-950,0-3 0,-6-6-861,-3-7 1,-2-7 0,-4-15 0,-1-3-197,-1-4 1,-6-13 0,-1-6 0,-4-11-519,-7-10 0,-3-4 221,0-4 0,-3-10 331,-2 1 0,1-7 0,-5-7 0,-1-6 0,2-3 0,4 3 1122,6 5 1,0 13-314,6 6 1,5 9-229,8 12 1,10 10-1,5 16 1,6 11 0,2 8-1,-1 8 1419,-2 2 1,-2 6-1327,-1 0 0,-2 6-251,-2-2 0,-4 2 0,-5-2 0,-1-4 0,-4-3 0,-3-1-255,-4 0 0,-7-6 0,-2-3 0,-4-7-1764,-1-2 1,-4-9 0,2 1-1,2-3-2952,3-3 0,8-6 2907,2-5 1,12-4 1451,9 3 0,3-5 0,4 3 0,2 0 0,3 3 0,1 2 284,1 2 0,-2-1 28,1-4 1,-2 3 604,-7-7 1,0 0-1,-2-4 1,-5-1-1,-2-3 1,-4-5 2056,-1-2 1,-4-2-2055,2 0 1,-6-4-300,1 0 1,-8 0 0,-5 4-1,-2 2 1,-2 4 0,-2 7 1077,-2 7 1,3 5-392,-3 1 1,4 10-259,4 3 0,-1 8 1,6 1-1,1 2-62,2 2 0,6-2-632,4-2 1,4-1 0,3-6 0,2-4-1,1-1 1,1-4-262,0-6 1,1-6 0,4-8 0,-2-2-269,-2-1 1,-5-5 534,1 5 41,-2 0 1,-2 5 0,-1 4 0,1 3 1379,0 4-1047,0 7 1,0-1-274,0 4 1,0-3 0,0-6-1,0-2 1,0-2 0,0-5-12,-1-2 0,-3 2 45,0 1 1,-2-1 91,1-4 0,4 2 1,-3 1-1,2 3 1,2 1-233,0 3 0,4 2 0,0 1 0,0 4 0,-4 0 0,0 2 0,0-3 0,0 1 0,0-1 0,0-2 0,0-1 0,0-1 0,0-3 0,-2 1-535,-2-6 0,1 1 1,-5-5-1,1 0-2828,0 0 0,2-4 992,-3-1 0,5 1 0,-2 4 2371,4 0 0,1-5 0,0-2 0</inkml:trace>
  <inkml:trace contextRef="#ctx0" brushRef="#br0">26032 2839 7986,'-18'13'2191,"-2"2"0,-5 2 0,4 6-7,4 6 0,2 5-1421,2 9 0,6-4-145,3-1 1,2-5 0,4-7 0,1-1 0,2-5 0,3-6-497,2-4 0,5-7-993,3 1 1,3-7 54,-4-1 1,6-6 0,-1 0 0,2-4 0,2-5 815,0-1 0,5-13 0,2-7 0</inkml:trace>
  <inkml:trace contextRef="#ctx0" brushRef="#br0">28175 736 7873,'0'-10'1300,"0"7"0,0 13 1,3 14-1,4 15 3139,6 11 1,4 7-4189,0 8 0,3 5 1,-7-33-1,0-1 1,0 2-1,0-1 1,0-1-1,0 0 1,13 27-1,-2-10 1,-3-10-849,-3-7 1,-4-10-2357,-1-9 1074,-6-14 1,-3-5-893,-8-11 1,-4-5 2770,-10-4 0,-2-8 0,-6-3 0</inkml:trace>
  <inkml:trace contextRef="#ctx0" brushRef="#br0">28059 942 7873,'-13'-18'1059,"4"3"197,1-2 0,5 3-608,-2 1 0,5-2 0,5 0 1,6-4-1,9-3 0,12-3 855,8-4 0,9-8-458,11-2 0,2 2-520,-26 17 0,1 1 0,24-17 0,0 10 0,-8 6 0,-9 6 0,-8 5 1758,-9 5 1,-14 8-2284,0 5 0,-9 4 0,1 4 0,-5 3 0,-6 6 0,-7 1 0,-7 5 0,-4 6 0,-2 8 0,0 0 0,0 2 0,5-5-1203,-1 4 0,1-4 1,-4 4-1,5 1 1,7-3 1202,8-2 0,9-8 0,3-4 0</inkml:trace>
  <inkml:trace contextRef="#ctx0" brushRef="#br0">29027 1045 7873,'0'-25'958,"0"9"0,-2 4 877,-2 5 1,1 3-3561,-5 4 1,5 1 1724,-2 4 0,4-4 0,1 5 0</inkml:trace>
  <inkml:trace contextRef="#ctx0" brushRef="#br0">29298 774 7929,'-13'8'0,"-4"9"1652,-1 0 1,6 12-15,3 5 0,6 9 1,-1 3-1,4 0 0,5-5 1,8-5-306,7-6 0,9-8 0,4-6 0,3-6-731,4-6 1,-3-5-269,-2-8 0,-1-7-267,5-14 0,-3-4 0,-6-8 0,-9-2 0,-5-2 0,-4-4-67,-4-5 0,-2-2 0,-6-3 0,-6 2-725,-2 7 0,-8 2 0,-4 4 0,-3 9 1,-6 9-1,-1 11-2901,-1 9 0,-4 13 511,5 7 3115,0 11 0,-2 15 0,-1 7 0</inkml:trace>
  <inkml:trace contextRef="#ctx0" brushRef="#br0">29530 903 7856,'13'0'3986,"0"0"0,-4 5-2467,-1-1 1,1 0 0,4-4 0,0 0 235,-1 0 1,6 5-3504,-1-1 1,0 2 990,-4-2 0,4-1 0,0 4 0,-1 0 757,-2 0 0,5 2 0,1 4 0</inkml:trace>
  <inkml:trace contextRef="#ctx0" brushRef="#br0">28265 1859 7828,'2'-13'1254,"5"0"0,11 1 0,17 4 0,17 2 5680,15 0-6560,-24 3 0,3-1 0,9-3 1,3-2-1,7 0 0,1-2 0,1-2 1,0-1-1,-1-1 0,-1 0 1,-2-1-1,-1-1 0,-2 1 0,0-1 27,1-1 1,-1 0-1,-4 2 1,-2 0-504,-5 1 0,-3 0 1,-7 2-1,-2 0 1,16-9-1,-6 1 0,-2 4 1,-5 4-1031,-4 3 0,-11 7 0,-7-1 0,-4 1-2143,-1-1 0,-2 4-791,-2 0 4066,-3 6 0,-1 7 0,3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13655 11345 8055,'0'-13'1390,"0"0"-423,0 0 0,2 6 0,2 3-421,4 2 0,0 2 0,0 2 1,2 0-1,2 4 100,1 1 1,0-4 0,-1 3 0,1-2-169,0 1 1,0 0 0,0-2-1,0 2-174,0-3 0,0 0 0,0-2 0,0 0-127,-1 0 1,1 0 0,0 0-1,0 0-157,0 0 1,0 0 82,0 0 0,0 0-34,0 0 1,0-4 0,1-2 0,2 0 0,1-1-1,-1 1-321,-2 0 1,-1-4 157,0 2 1,-2 1 155,-2-2 0,2 2 0,-3-3 0,0 3 0,1 1 104,1 3 1,-3-3-138,2 2 59,-6 0 1,8 4 0,-2 0-43,2 0 0,-2 0-43,-1 0 0,-1-2-8,2-2 1,3 2-1,-4-2 1,2 1-1,0 0 152,-1-1 1,-1 0-82,5 4 0,-4-4-37,0-1 1,-1 1 0,5 4 0,0 0 0,0 0 0,0 0-49,0 0 0,0 0-89,-1 0 1,3 0 59,2 0 0,-3 0 0,5 0 0,-2 0 0,2 0 0,-1 0-21,1 0 1,0 0-1,-2 0 1,-3-4 58,4-1 1,0 0 0,-1 2-1,-1-2 1,-1 1 0,-3 0 54,1 0 1,5-1-30,-1 5 0,0-4 8,-4 0 0,0-1 0,1 4 1,2-2 31,1-1 1,0-1-46,-4 5 0,2-1-43,2-3 1,-3 2 0,3-2 0,-2 3-1,-2 1 1,-1-2-95,1-2 1,0 2 40,0-2 1,0 3-17,0 1 0,1 0 0,2 0 1,1 0-1,-1 0 0,0 0-92,1 0 0,-3 0 278,4 0 1,-3 0-39,3 0 0,-4 0 1,3 0-1,-3 0 1,-1 0-1,0 0 118,0 0 1,0 0 44,0 0 0,0 0-151,0 0 0,0 0 1,0 0-1,0 0 1,-1 0-1,1 0-128,0 0 0,0 0 17,0 0 1,0 0 59,0 0 0,0 0 0,0 0 0,0 0 0,0 0 0,-1 0 136,1 0 1,0 0-139,0 0 1,0 0-5,0 0 1,0 1 0,0 2 0,1 1 0,2-1 0,1-1-31,-1-2 0,-2 1-106,-1 3 1,1-2 77,4 2 0,-4-3 1,3-1-1,-2 0 0,-3 0 1,1 0-2,0 0 0,0 0 188,0 0 0,0 0-99,0 0 0,0 0 0,0 0 1,-2-1-1,-1-2 0,-1-1 28,1 1 1,1 2-171,2 1 0,0 0 55,0 0 1,0 0 0,0 0-1,0 1 1,0 2 0,1 1-62,3-1 1,-1-2 62,6-1 0,-5 0 56,4 0 0,-4 0 1,4 0-1,-1 0 1,0 0-1,1 0 97,-1 0 0,3 0-102,-6 0 0,5 0 84,-5 0 1,5 0-1,-5 0 1,-1-1-1,-2-2 1,0-1 30,4 1 1,-4-3-103,3 2 0,-3 0 25,-1 4 0,2-2 1,0-1-1,3-1 1,-1 1-1,0 2 29,0 1 0,2 0-64,-2 0 1,2 0 34,2 0 1,2 0 0,-4 0 0,1 0 0,1 0 0,1 0 46,-1 0 0,-3 0-52,3 0 0,-4 0 24,5 0 0,-6 0 0,1 0 0,-3 0 0,-1 0 1,0 0 231,0 0 0,0 0-150,0 0-95,0 0 1,0 0 0,-1 0 0,1 0 0,2 0 0,1 0 37,1 0 0,0 1-51,-4 3 1,4-2-62,0 2 1,5-2 0,-4-2 0,2 0 0,3 0 0,2 1-81,1 3 0,-5-2 89,1 2 0,-2-2 10,1-2 1,4 0 0,-5 0 0,0 0-19,-3 0 0,2 1 29,-2 3 0,0-2 0,-3 2 0,2-3 0,3-1 1,-1 0-149,1 0 0,0 5 135,-2-1 1,2 0 22,2-4 1,3 0-1,-2 0 1,2 0 0,2 0-1,0 0 83,0 0 0,0 0-46,-1 0 1,-3 0-9,-1 0 0,0 0 1,1 0-1,0 0 1,-1 0-1,0 0 14,-4 0 0,-3 0-52,-1 0 1,4 0 8,0 0 0,1 0 0,-5 0 0,1 0 44,3 0 1,-3 0-13,4 0 0,0 0 0,-1 0 0,1 0 0,0 0 0,4 0 118,2 0 1,-2 0-114,-1 0 0,-1 0 3,2 0 0,2 0 0,-4 0 0,2 0 0,-2 0 0,0 0-60,0 0 1,-4 0-138,1 0 1,-3 0 118,-1 0 0,2 0 0,0 0 1,3 0-1,-3 2 0,0 1-8,-2 1 1,0 0 42,-1-4 1,1 0-3,0 0 0,2 0 1,0 0-1,3 0 1,-1 0-1,0 0 174,0 0 1,5 0-32,-5 0 1,4 0-113,-3 0 0,3 0 1,-4-1-1,-1-2 1,0-1-1,0 1 51,1 1 0,0 2-22,-4 0 1,0 0-134,0 0 0,0 0 1,0 0-1,0 0-132,-1 0 1,-3-1 71,0-3-221,-6 2 1,2-5-385,-5 3 1,0 1-3010,0-6-259,0 6 4003,0-2 0,0-1 0,0-1 0</inkml:trace>
  <inkml:trace contextRef="#ctx0" brushRef="#br0">15397 9848 8290,'-8'-12'443,"1"2"1,1 2 0,3-2 316,2-2 1,1 3-1,0 1-498,0-2 0,5-3 0,3-3 0,0-1 0,1 0 0,1-1 93,1 1 0,2-6 0,0 3 1,1 0-191,4 3 0,-4-2 0,5 2 0,-1 0-149,4-2 1,-2 5 0,1-3-1,2 4 158,2 4 0,-4-2-34,1 2 1,-1-1-63,5 1 0,-4-1 0,-2 5 0,0-1 0,-2-1 0,1 1 275,-3 0 0,-2 1-124,-1 0 0,4 4-98,0-3 0,1-2 0,-5 2 0,1-1 0,2 1 0,1-2 34,-1-1 0,2 4 1,1-1-1,1 2-13,3 2 1,0 0 0,0 0 0,-2 0 14,2 0 0,0 0 0,0 0 1,-1 0-79,1 0 0,0 2 0,-2 1 0,-2 2 53,-1 3 1,-2 0-1,4 5 1,-1 0-58,-3 0 1,-1 0 0,1 1 0,1 2 66,-1 1 0,0 0 0,0-4 0,1 2 25,-1 2 0,4-3 75,1 3 1,-1-2-88,2-2 0,-1 1 0,7 2 0,0 1 314,2-1 0,1-1-378,-6 3 0,1-4 0,0 3 0,-2-2 0,-1-4 0,-3-1 18,-1-1 1,-2-2 0,-2 1 0,0-3 13,3-4 0,-1-1 0,-4 0 0,0 0-93,-1 0 0,3-6 0,1-4 0,1-4-40,-1-3 1,2-6 0,1 1-1,0-2-203,-1-2 1,1 5 0,-3-1 0,2-1-262,2-1 0,-4-2 219,1 0 1,-2 6 197,-2 3 1,-1 3-1,1 1 1,0 1-1,0 2 1,0 3-67,0 1 0,-4 2-69,-1 4 167,1 0 1,4 6-1,0 2 1,-2 4 115,-2 1 0,-2-5 1,-3 1-90,5 1 0,-2 1 135,2 2 1,-2 0-1,1 0 1,-2-1 145,0-4 0,-3 4-154,5-4 0,-5 4 0,1 1 0,2 0 0,0 1 1,0 2-1,-1 1 0,0 0-4,0 2 1,-3-5-9,2 3 1,2-2-238,-2-2 1,6-2 0,-3-1 0,2-3 0,0-1-1,1-3-26,1-2 1,2-1-1,0 0 1,1-1-167,3-3 0,-1-8 173,6-5 1,-1-2 62,5 2 1,0-3-1,0-6 1,0 2-1,-1 1 1,1 0-136,0-4 0,0 5 143,0-4 1,1 5 69,3-1 1,-3-1-1,3 6 1,-2 1 0,-3 2-1,3 3 94,2 2 0,3-1 0,4 6 1,-1 1 110,-2 1 1,-1 2 0,3 0-1,-3 0-12,-1 0 1,-2 6-1,-6 3 1,-1 2 232,-1 2 0,-7 1 1,4 2-1,-2 3-48,0 1 1,1-3-391,-5 5 0,-1-2 0,1 1 0,0 4 0,2-5 0,0 1 0,3 1 0,-3-1-1205,0-1 0,2-3-1582,0-8 0,2 1 409,-2-6 1,-1-1 2377,5-7 0,1-15 0,4-8 0</inkml:trace>
  <inkml:trace contextRef="#ctx0" brushRef="#br0">17682 9060 8055,'-7'-5'26,"-5"3"1,5-4 1622,0 1-979,1 3 1,6-5-1,0 3 1,0-5 439,0-2 1,6-2-746,3 0 1,2 0-1,2 2 1,0 1 31,0 1 1,1 0-187,3-4 0,-2 0-59,2 1 0,1-1 0,1-2 1,0 0-1,1-4 0,0 0 323,3 1 0,1-5-247,2 1 0,-4-1-143,-1 2 1,1-4 0,3 4 0,0-2 0,-2 0 0,-2 3 167,2 1 1,2-2-78,0 4 1,1-2-67,0 2 0,1 1 0,2-4 1,1 1-1,-1 3 0,-2 3 138,-1 5 0,0-4-327,-1 4 1,1 2 15,0 2 1,-2-2-1,-1 2 1,-1-1 0,-1 1-1,-1 0-7,-2 1 0,0 2 0,1 1 0,1 0 40,3 0 1,1-2-28,2-2 0,0 2 46,0-2 1,1 3 0,2-1 0,1-1 0,-1-1-1,-2 1-5,-1 2 0,-1-4 5,1 1 0,0-2 4,0 2 0,-5 3 1,-1-4-1,0 4 0,-1 1 1,1 0 5,0 0 1,-4 0 0,3 0 0,-1 0-44,4 0 1,-2 0 43,1 0 0,1 0 0,4 0 0,4 4 0,0 0 0,0 1 0,0-1 0,0 0-22,-1-1 0,0 3 16,1-2 0,-4 1-13,-1-5 1,0 4 0,-7 0-1,3-1 1,0 0 0,-1 0 98,-3 1 1,2 2 0,0-3 0,1 2 145,3 3 1,-3-4-195,1 5 1,1-1 8,4 5 1,-1 1 0,1 2 0,0 1 0,0 1 0,0 0 68,-1 4 1,6-2-175,-1 1 0,0-3 93,-4 3 1,-2-4-1,0 3 1,-1-1-1,2-2 1,-2 0 19,1 1 0,0 0 0,4-2 0,0 3 58,2 1 1,6 0 61,-1 1 1,-2 4-172,1-4 1,1 2 0,2 0 0,-3-1 0,-4 1 0,-2-1-23,-3 0 1,4 7-67,-3-4 0,3 4 104,-8-3 0,3 1 0,2 2 1,0 1-1,0-1 0,1-2 79,3-1 0,-3 4 0,4 0 0,-4-1 223,-1-2 0,-2-1-37,-2 0 0,-2 1-106,-3 3 0,-3-3 1,3 3-1,-4-2 1,-3-3-1,-2 1 217,-3 0 0,4 0-232,-5 0 1,5-2-228,-5-3 0,2-2 1,-3-5-1,1 2 1,-1 1-27,-2-1 0,4-1 0,-1-3-170,-1 1 158,-2 0 123,-1 0 0,2-4 68,2-1-26,-3-5 0,9 2-177,-5-10 1,0-2-1,-2-6 1,2-1-1,-3-3 1,0-6-725,-2-6 0,4-1 63,0-9 0,1 8 623,-5-8 0,0 3 1,0-1-1,-2 1 0,-1 3 1,-1 1 328,1 4 0,-2 2-2,0 4 183,1 4 0,4 13 0,0 8 0,0 10 336,0 6 0,0 4-373,0 7 1,0-1-301,0 5 0,4-4 1,1 5-1,-1-1 0,0-1 1,0-3 256,-1-3 1,-1-1 46,-2 0 1,4-2 13,0-2 1,1-2-1,-7-6 1,-2 2 0,-5-3 156,-2-2 1,-2 2-492,0-8 0,-1-1-452,-3-4 0,2 0 0,-3 0 0,0 0 1,0 0-1,-1-2-3183,0-2 1,2-3 3634,4-6 0,-5-6 0,-2-1 0</inkml:trace>
  <inkml:trace contextRef="#ctx0" brushRef="#br0">14055 12481 8093,'-7'-13'1228,"-3"4"1,4 2-216,-1 1 1,10 3-1,1 8 1,6 2-611,3 0 0,4 4 0,2-2 0,1 2 0,3 1 0,0-2 59,-1-1 0,2-7 0,-3 4 0,4-1-223,1-1 0,-1 0 11,1-4 1,0 0-201,0 0 0,-2 0 0,-2 0 0,-5 0 0,-3 0 0,-2-1 480,-4-4 0,-2 3-117,-6-7 1,-10 6-188,-3-1 0,-8 2-89,-1 2 1,-4 0 0,-2 0 0,-4 0-1,-1 2 1,-3 1 303,-1 1 0,3 5-206,-1-5 0,2 4-111,-1-3 1,-2 3 0,6-2-1,3 0 1,4 1 0,5-1-58,4-1-1316,1 0 769,6 0 0,8-3 1,11 2-1,5-2 0,5-2 1,3 0-6421,4 0 6900,7 0 0,3 5 0,7 3 0</inkml:trace>
  <inkml:trace contextRef="#ctx0" brushRef="#br0">15798 12416 8186,'-9'0'4293,"0"0"-3683,6 0 1,-2 1 0,5 4 1155,0 3-1004,0-2 1,5 0 0,4-6 1381,3 0-1606,0 0 1,1 0-275,0 0 1,-4 0 0,-1 0 0,3 0 0,0 0 0,2 0 1,-4 0 0,-1 0-1,2 0 69,2 0 1,1 0 27,-1 0 1,1 0-192,0 0 0,0 0 0,0 0 0,0 0 0,0 0 1,0 0 451,0 0 0,0-2-377,0-2 0,-1 3-156,1-4 0,2 4 0,0 1 0,3 0 0,-3 0 0,0 0-90,-2 0 0,0 0 0,-1 0 0,1 0 0,0 0 0,0 0 0,0 0 0,0 1 0,0 2 0,0 2 0,0-3 0,0 0 0,0-2 0,-1 0 0,1 0 0,0 0 0,0 0 0,0 0 0,0 0 0,0 0 0,0 0 0,0 0 0,0 0 0,0 0 0,-1 0 0,1 0 0,0 0 0,0 0 0,0 0 0,0 0 0,0 0 0,0 4 0,0 0 0,0 1 0,-1-5 0,3 4 0,1 0 0,1-1 0,-1-1 0,-2-2 0,-1 0 0,0 0 0,0 0 0,0 0 0,-1 0 0,1 0 0,0 0 0,0 0 0,0 0 0,0 0 0,0 0 0,0 0 0,0 0 0,0 0 0,0 0 0,-1-2 0,1-2 0,-4 3 0,0-4 0,-1 4 0,5 1 0,0 0 0,0 0 0,-5 0 0,1 0 0,0 0 0,4 0 0,-1 1 0,1 2 0,0 1 0,-4 1 0,0-5 0,1 0 0,1 0 0,-2 0 0,-1 0 0,1 0 0,4 0 0,0 0 0,0 0 0,-1 0 0,1 0 0,0 0 0,6 0 0,-5-2 0,3-2 0,-2 3 0,-2-4 0,0 4 0,0 1 0,-1 0 0,1 0 0,0 0 0,0 0 0,0 0 0,0 0 0,0-2 0,0-1 0,0-1 0,0 1 0,0 2 0,-1-3 0,1-1 0,-1 0 0,-2 2 0,-2-2 0,2 2 0,2 1 0,1-3 0,0 4 0,0-6 0,0 2 0,-1 4 0,1-3 0,0 2 0,0 2 0,0 0 0,0 0 0,0 0 0,0 0 0,0 0 0,0 5 0,0-1 0,-1-1 0,1 0 0,0-1 0,0 3 0,0-1 0,0-4 0,0 0 0,0 0 0,0 0 0,1 0 0,2 0 0,1 0 0,-1 0 0,-2 0 0,-1 0 0,0 0 0,0 0 0,0 0 0,0 0 0,0 1 0,-1 2 0,1 3 0,0 0 0,0 0 0,0 4 0,0-2 0,-4-1 0,-1 2 0,1-2 0,2 3 0,-1-1 0,-1-1 0,0 1 0,-2 0 0,4-7 0,-2 3 0,2 2 0,2-6 0,0 4 0,0-4 0,0-1 0,0 0 0,0 0 0,0 0 0,0 0 0,-1 0 0,1 0 0,0 0 0,2 0 0,0 0 0,3 0 0,-3 0 0,0 0 0,-2 0 0,-1 0 0,1 0 0,0 0 0,0 0 0,0 0 0,1 0 0,2 0 0,1 0 0,-1-1 0,-7-4 0,2 4 0,-2-3 0,2 2 0,2 2 0,0-1 0,0-2 0,1-1 0,4 1 0,-4 1 0,3 2 0,-2-1 0,-3-3 0,6 2 0,0-2 0,1 2 0,1 2 0,0 0 0,3 0 0,-3-1 0,2-3 0,-1 2 0,5-2 0,0 2 0,0 2 0,-2 0 0,-1 0 0,-3 0 0,-1 0 0,2 0 0,-4 0 0,1-1 0,-6-3 0,6 2 0,-1-2 0,-1 3 0,-2 1 0,-1 0 0,0 0 0,0 0 0,0 0 0,0 0 0,-1 0 0,1 0 0,2 0 0,0 0 0,3 0 0,-1 0 0,1 0 0,-2 0 0,6 0 0,-1 4 0,5 0 0,0 0 0,0-4 0,0 0 0,-1 0 0,1 0 0,0 0 0,-2 0 0,-2 0 0,1 0 0,-6 0 0,5 0 0,-5 0 0,-1 0 0,-1 0 0,3 0 0,-4 0 0,3 0 0,-3 0 0,-1 0 0,0 0 0,0 0 0,0 0 0,0 0 0,1 0 0,3 0 0,-2 0 0,2 0 0,-3 0 0,-1 0 0,0 0 0,0 0 0,0-1 0,-2-3 0,-1-5 0,-1-2 0,5-2 0,7 0 0</inkml:trace>
  <inkml:trace contextRef="#ctx0" brushRef="#br0">15281 13887 12943,'6'8'1105,"3"-4"1,2-3-668,2-1 0,-4 0 0,-1 0 0,2 0-150,2 0 0,-4 0-169,1 0 0,0 0 1,3 0-1,3 0 0,1 0 1,1 0-1,-1 2 0,-1 1 122,3 1 1,-4 0-1,5-4 1,-2 0-122,0 0 1,0 0 122,-4 0 1,4 0-89,0 0 1,1 0 0,-5 2-1,-1 1 1,3 1 402,2-1-400,3-2 1,0-1-90,-3 0 0,-2 0 0,-2 0 1,0 0-1,-1 0 111,1 0 1,-4-4-67,0 0 1,-5-1-184,4 5 0,-3 0 0,3 0 0,2 0 484,2 0-343,1 0 0,0 0 1,0 0-1,0 0 41,-1 0 1,-3 5 155,0-1 1,-2 2-132,1-2 1,4-3 0,-4 4 0,4-4 0,1-1 19,0 0 1,-5 0-112,1 0 1,0 0-45,4 0 1,-1 0 0,1 0 0,2 0 0,0 0 0,3 0-105,-3 0 1,4 0 124,-2 0 1,0 0-23,-4 0 0,5 4 0,0 1 1,1-3-1,0 0 0,-4-2 175,0 0 0,-2 0-79,-1 0 1,1 0 22,0 0 1,0 0-1,0 0 1,0 0 0,0 0 90,0 0 1,0 0-323,0 0 1,0 0 97,-1 0 0,1 0 0,0 0 0,0 0 0,0 0 0,0 0-56,0 0 1,0 0 164,0 0 1,0 0-45,-1 0 0,3 0 0,1 0 0,1 1 0,-1 2 1,-1 2 6,3-3 1,-4 0 0,5-2-1,-2 0 6,0 0 0,4 0 25,-3 0 0,0 0-39,0 0 1,-4-4 0,3-1 0,-3 2 0,-1 0 0,0 1 117,0-3 0,0 1-116,0 4 1,0 0-23,0 0 1,1 0 0,2 0-1,1 0 1,-1 1-41,-2 4 0,-1-4-95,0 3 1,0-2 106,0-2 1,4 0 0,2 0 0,-1 0 0,2 0 0,-1 0 42,0 0 1,2 0 128,-4 0 0,2 0-117,-2 0 0,-1 1 1,4 2-1,-1 2 0,-3-3 1,-2 0-60,-1-2 0,0 0 0,0 0 0,0 0 0,-1 0 0,1 0 0,0 0 0,0 0 0,0 0 0,0-4-2,0-1 0,-5-1-4,1 2 1,0 3 0,4-4-1,-1 4 19,1 1 0,-4 0-13,0 0 0,-1 0 0,5 0 0,-4 0 0,-1 0 0,2 0 0,2 0 0,1 0-2,0 0 0,0 0 4,-1 0 0,-3 0-2,0 0 0,1 0 0,5 0 0,3 0 0,-3 0-16,0 0 0,-2 0 0,0 0 15,0 0-9,-1 0 0,1 0 10,0 0 0,-4 0 0,-1 0 0,2 0 34,2 0 1,-3 0-35,-1 0 0,-4 0 0,5 0 0,-5 0 0,5 0 0,1 0 0,1 0-135,-3-6 1,-1 5 0,-4-5-40,1 0-32,0 5 429,-4-5 0,2 6 114,2 0-337,-3 0 0,7 0 0,-4 0 0,-3 0 0,5 0 0,-6 0 0,0 0 0,6 0 0,2 0 0,0 0 0,0 0-640,-5 0-970,9 0 1,-10 0-5485,7 0 3541,0 0 3553,-2 6 0,4 1 0,-4 6 0</inkml:trace>
  <inkml:trace contextRef="#ctx0" brushRef="#br0">19347 13965 8165,'-13'-4'140,"1"-2"0,2 0 863,2 0-621,5 2 0,-4 4 0,4 1 0,-3 2 705,-1 2 0,4 0 574,-1 0-463,2-4-204,2 5 0,2-2 0,4 0 473,6-1 0,1-1-954,5-2 1,2 0-194,1 0 0,9 0 1,5 0-1,2 0 1,2-2-1,1-1 527,3-1 1,-3-4-460,3 3 0,2-3-193,-2 3 1,2-3-1,-4 2 1,-4 0 0,0 1-1,0 2-119,2 1 1,-6 2-77,-3 0 0,-2-4 0,-3 0 0,1-1 0,0 4 0,-2-2 0,-1-1 0,-3-1 0,-1 0 0,-2 2 0,-4-6 0,0 6 0,0-1 0,0-2 0,-2 1-1365,-2-3 377,-3 6-1506,-6-4 0,-2 6 2494,-2 0 0,-9 0 0,-7 0 0</inkml:trace>
  <inkml:trace contextRef="#ctx0" brushRef="#br0">25013 7537 7877,'-4'-38'672,"-2"-1"0,-1 2 1,-2 4-1,-1 7 1,-2 7-1,-2 6 965,0 5 0,-8 1 0,-4 4 0,-7-2-149,-4 3 0,-6 3-1174,0 8 0,-11 5 0,-4 13 0,-8 5 1,30-14-1,-1 2 0,-1 3 0,-1 2 462,-2 1 1,0 2 0,3 1 0,0 1-701,1 2 1,1 1 0,2 0-1,2 1-20,7-2 0,3 0 1,-13 30-1,22-10 1,10-1-1,11 1 1,10-2-66,9-2 1,8-11 8,8-11 0,10-8-16,11-9 1,-27-6 0,1-2 0,3-3 0,0-2 0,-1-1 0,-1-2 0,-1-3 0,-2-2 0,30-15-230,-8-3 0,-11-5 418,-17 5 1,-11 0-125,-15 4 0,-8 6 0,-6 3 0,-8 4 0,-7 4 0,-10 5-49,-6 3 0,-11 14 0,-8 8 0,24-4 0,-1 2-33,-2 4 1,0 1-1,-1 4 1,0 2 0,1 1-1,0 2 1,0 4-1,1 1 1,-1 3 0,1 2-1,0 4 1,1 1 32,1 2 0,3 0 0,4-1 0,4 0-42,6-2 1,3 1 0,4-6 0,4 0 41,4-3 0,4 0 0,6 25 0,8-12 0,10-8 0,11-5 0,6-5 16,7-4 1,0-14-17,0-7 0,2-6 0,-3-3 0,5-6 0,2-4 0,2-6 0,-3-4 0,-5-1 0,-10-1 0,-5 6 0,-7-1 0,-6 3-51,-3 1 1,-2 6 0,-2 2-1,0 4 1,0 2-6978,-1 4 7028,1 2 0,-5 11 0,-3 3 0</inkml:trace>
  <inkml:trace contextRef="#ctx0" brushRef="#br0">25181 8983 7849,'-5'-9'2367,"1"5"1,1 8-1,3 16 90,4 15 1,4 14-1,3 9 1,-1 4-626,-1 4 1,-1 6-2039,5-3 1,0-6 0,-1-9 0,-4-5 0,-2-8 0,-2-6-3993,1-9-106,-1-6 1970,-4-13 1,0-7 0,0-12 2333,0-8 0,-6-7 0,-1-12 0</inkml:trace>
  <inkml:trace contextRef="#ctx0" brushRef="#br0">25090 9060 7849,'-11'-24'3674,"2"2"0,-1 4-2307,6 5 0,1 6 0,7 2 0,6 4 506,6 1 1,6-1 216,8-4 1,3 4-2078,5-3 0,7 2 0,4 4 0,5 2 0,5 6 0,0 6-13,-3 5 0,-9 9 0,-4 5 0,-6 8 0,-7 4 0,-11-1 0,-16 0 0,-9 0 0,-11 0 0,-16 4 0,-19 1 0,24-23 0,-1-1 0,-3-3 0,-1-1 0,1 2 0,0-1 0,0 1 0,1-1 0,1-2 0,1 0 0,-23 18 0,8-5-4078,10-14 2250,8-8 0,14-17 1828,12-18 0,12-28 0,-2 14 0,0-1 0</inkml:trace>
  <inkml:trace contextRef="#ctx0" brushRef="#br0">25787 8583 7827,'0'-20'5466,"0"1"-3009,0 6 1,2 2-1,3 1 1,7 3 316,4 1 0,12-4-2774,2 1 0,12-4 0,5-4 0,8-2 0,2-4 0,1 3 0,-3 2 0,-4 2-3044,-7 2 0,-11 5-3882,-7 0 6926,-6 7 0,-13 2 0,-1 7 0</inkml:trace>
  <inkml:trace contextRef="#ctx0" brushRef="#br0">25929 8802 7827,'-26'26'0,"1"0"0,0 0 3013,4-1 0,6-4-1506,7-4 1,6-9-894,2-3 1,6-4 0,8-2 0,5-4 0,8-5 0,9-5-5632,6-7 5017,12-8 0,-1-9 0,-20 16 0,-1 0 0</inkml:trace>
  <inkml:trace contextRef="#ctx0" brushRef="#br0">27362 7473 7872,'-2'8'83,"-1"1"0,-1 1 0,0 2 1,0 0-1,-1 1 1409,2 0-1006,-4 0 0,4-6 0,-5-2 0,-2-4 985,-2-1 0,4-1-619,-1-4 1,5-2-222,-5-6 0,1 0 1,-5 0-1,-2 1 0,0-3 1,-4-1 746,-1-1 1,-3-1-466,-7 0 1,2 4-553,-2-3 1,5 7 0,2 1 0,3 1-1,1 0 1,3 4 961,2 3-1637,1-5 117,0 5 1,6-4-1,4 8-567,6 1 363,-2 1 192,5-5 652,0 0-338,-5 0 1,-5 0-1,-9 0-20,-1 0 1,-1 5-80,2 4 1,0 0 45,1 4 0,-1-3 1,0 8-1,1 1 167,4 2 1,-4 5-33,4 4 0,2 9 0,2 8 0,2 4 0,2 0 0,2 1-187,2-1 0,4 1 0,10 0 0,-3-8 0,7-5 0,-5-8 0,5-11 0,1-7 0,1-7 0,0-6 0,-2-4 0,2-6 0,-2-12 0,2-5 0,2-12 0,0-1 0,0-1 0,-2-4 0,-1-1 0,-3-3 0,-1-1 0,1-6 0,-7 0 0,2-5 0,-6 1 0,-3-5 0,-2-2 0,-3-1 0,-1 5 0,-1 0 0,-3 7 0,-2 0 0,-4 6 0,1 3 0,1 5 0,-1 8 0,1 8 0,0 6 0,0 7 0,-2 4 0,5 1 0,-5 5 0,3-3 0,0 0 0,-4 5 0,9-11 0,-4 9 0,6-5 0,0-2 0,2 0 0,2 1 0,-2 3 0,5 6 0,-4 2 0,2 4 0,1 7 0,1 9 0,0 11 0,6 13 0,5 15 0,0 3 0,-1 5 0,-2 3 0,-6-34 0,0 1 0,0-1 0,0 0 0,-1-1 0,1-1 0,7 32 0,-2-7 0,-1-9 0,0-9 0,0-6 0,0-7 0,-5-5 0,-1-12 0,-1 0 0,0-6-1710,-2-3 1,-1 2-1,4-3 1,0-5-6630,0-5 8339,2-10 0,4-3 0,0-6 0</inkml:trace>
  <inkml:trace contextRef="#ctx0" brushRef="#br0">27904 6750 7817,'-6'-26'841,"3"0"1,-4 2 0,0 4 1695,0 7 0,2 7-1253,-3 11 1,-1 8 0,-4 10 0,0 7 0,1 10 0,-1 11 101,0 13 1,4 1-1,2 7 1,1-3-1387,3-6 0,9-1 0,7-11 0,7-2 0,10-10 0,3-8 0,4-5 0,-1-9 0,-3-6 0,0-7 0,0-3 0,0-11 0,2-3 0,-2-13 0,-3 1 0,-3-11 0,2-1 0,-8-5 0,-6-1 0,-7 0 0,-2 0 0,-2-7 0,-4-2 0,-6-4 0,-2-4 0,-9 1 0,-6 5 0,-5-2 0,-2 3 0,0 5 0,-1 10 0,5 6-966,0 11 0,0 3-237,5 10 1,-4 2 0,-1 7 0,1 5 0,0 7 0,2 9-7449,2 6 8651,5 5 0,-3 6 0,7 0 0</inkml:trace>
  <inkml:trace contextRef="#ctx0" brushRef="#br0">27904 6957 7817,'13'13'0,"0"4"1745,0 0 1,-1 0-715,1-4 0,5 0 1,0 0-1,2-2 1,2-1-1,-1-2 2049,1-3 1,4 0-2364,4-5 1,4 0-554,-4 0 0,5 0 1,-4 0-1,1 0 1,1-2-1,-2-1-2681,1-1 1,-2-5 1595,-4 5 0,-5-5-452,1 5 1,-6-4-1,1 3 1,-3 2 0,-1 2-3923,0 1 5295,-6 6 0,-7 7 0,-7 7 0</inkml:trace>
  <inkml:trace contextRef="#ctx0" brushRef="#br0">26897 8480 7867,'-14'0'7924,"-1"-2"-4982,3-2 0,4 8-2356,17 0 1,13 2 0,19 1 0,15-1 0,16-4-1,-30-4 1,2-1 135,4-2 0,1-3 0,4-3 1,0-2-723,7-3 0,1-2 0,4-4 0,0-1 0,4-1 0,-1-1 0,-3 0 0,-1 0-337,-8 2 0,-2 0 0,-9 3 0,-2 0 37,21-14 0,-7 8 0,-9 9 0,-7 4 0,-5 4 1,-6 5-4617,-2 2 1,-8 2 2993,-3 0 0,-9 8-535,-3 4 2457,-15 7 0,-10 18 0,-13 4 0</inkml:trace>
  <inkml:trace contextRef="#ctx0" brushRef="#br0">27504 9280 7796,'-26'-12'0,"2"4"0,2 3 1638,5 4 0,-2 1 1,1 1-1,-1 4 0,-1 5 1,1 6 49,1 5 1,-4 3-1,3 4 1,1 0-790,-1 2 0,3 6-486,8-1 0,2 2-136,6 2 1,0-2 0,3-3 0,5-5 0,10-6 0,5-7-278,2-6 0,6-4 0,-1-6 0,0-8 0,-4-4 0,-1-9 0,3-10 0,-1-6 0,0-6 0,-2-3 0,-1-3 0,-5-1 0,-2-2 0,0-5 0,-4-3 0,1-9 0,-11 32 0,-1 1 0,-1-2 0,-1 0 0,-1-1 0,-1 0 0,-2 2 0,-1 0 0,-6-32 0,-2 14 0,0 21 0,5 9 0,-1 17 0,2 8 0,-2 11 0,5 9 0,2 12 0,2 10 0,0 9 0,2 8 0,2 10 0,3 2 0,-1-32 0,1 0 0,6 33 0,0-2 0,1-3 0,4-4 0,3-8-264,4-9 1,6-8-3649,4-3 1,2-9-934,2-9 4845,5-8 0,-4-15 0,5-9 0</inkml:trace>
  <inkml:trace contextRef="#ctx0" brushRef="#br0">28252 8802 7753,'-13'0'2079,"2"3"1,2 6 377,5 8 1,4 13-1,4 9 1,5 7 514,2 4 1,10 7-2577,4 3 1,1-2-725,4-2 1,-4-9-1,-3-7 1,-3-7-1,-1-8-91,-3-5 543,-2-9 1,-7-11-146,-3-8 0,-8-4 0,-5-2 1,-2-4-1,-3-3 0,-2-5-168,-1-4 1,-6-4-179,1-9 1,-2-5 357,-2-8 1,-1-4-1,12 27 1,1-1 0,-1-1-1,0-1 1,0 1-1,1-1 1,1-1 0,0-1 999,2 0 0,1 0 0,-3-32-924,9 5 1,4 18-68,4 13 0,9 15 0,10 8 0,7 3 0,7 5 0,5 2 0,-1 1 0,0 1 0,-3 4 0,0-2 0,-4 5 0,-8-1 0,-9 3 0,-3-1 0,-2 1 0,-4 2 0,-3 0 0,-4 1 0,-1 0 0,-3 0 0,-5 0 0,-2 4 0,-10 1 0,0-3 0,-1 0 0,-1-2-2028,-3-1 1,1 0-5433,2-3 7460,4-4 0,5 1 0,0 1 0</inkml:trace>
  <inkml:trace contextRef="#ctx0" brushRef="#br0">29169 7886 7810,'-2'-32'9830,"-1"-1"0,-1 0-9430,0 13 0,4 10 1,0 15-2591,0 3 0,-2 4 2190,-2 1 0,3-1 0,-5 1 0</inkml:trace>
  <inkml:trace contextRef="#ctx0" brushRef="#br0">29466 6247 7843,'0'-39'5733,"0"6"-3888,0 3 0,1 26-1294,3 12 1,2 27-1,4 15 1,-1 14 0,-4-28-1,0 2 1,0 1 0,1 0-1,0 1 1,0-1 0,-1 1-1,1-1 406,1 0 0,-1 0 0,4 32 0,7-5 1,-2-7-958,-2-7 0,-5-15 0,1-3 0,-6-11 0,1-5 0,-3-11 0,-1-7 0,-1-9 0,-3-7 0,-4-5-258,-4-9 1,-1-5-567,0-8 1,-4-4 0,-2-8 0,-1-2-1,-3-3 1,-2-5-292,0-2 0,12 30 0,0-1 1060,0 2 1,0-1-1,0-1 1,0 0 143,0-1 0,0 1 0,1 0 0,0 1 0,-9-30 0,3 12 0,5 14 0,5 11 1553,3 7 0,5 5-557,5 10 1,3-2-611,10 5 0,3 0 0,9 0 0,5-2 0,3 0 1,4 1-476,1 1 0,4 3 0,-4-2 0,3 4 0,-7 4 0,1 0 0,-11 8 0,-5 2 0,-4 2 0,-4 3 0,-3 2 0,-3 2 0,-10-1 0,0 2 0,0-2 0,-10 2 0,-4 2 0,-5 1 0,-4 2 0,-1 1 0,-2-1 0,0-1-1266,0 2 0,0-2-214,1 2 0,3 3 1480,1 1 0,-1 3 0,-4 2 0</inkml:trace>
  <inkml:trace contextRef="#ctx0" brushRef="#br0">29453 7757 7794,'-12'-10'0,"4"-3"4915,3-1 0,7 5-3823,6 5 0,12 1 0,16 0 0,6-3 1,7-1-1,8-3 0,12-3 0,-28 5 1,1-1-789,6-2 0,0 0 0,1-1 1,1-2-305,4 0 0,0-2 0,-7 3 0,-1-1 0,-3-1 0,0 0 0,-5 1 0,-2 1 0,-1 0 0,-1 0 0,32-11 0,-4 4 0,-6 7-3349,-9 7 0,-11 4 1503,-6 2 0,-8 8 546,-5 5 0,-4 5 0,-6 9 0,-7 2 1,-9 3-1,-7 1-769,-5 2 1,1-4 2068,-2-6 0,1 1 0,-5-6 0</inkml:trace>
  <inkml:trace contextRef="#ctx0" brushRef="#br0">30175 7989 7794,'-38'20'0,"-2"6"3263,-3 0 1,2 17-2334,-2 13 1,5 5 0,5 4 0,8 1-1,11 4 1,11-32 0,2 0 1027,1 2 1,2 1 0,2-2 0,3-1-2322,14 26 0,12-9 363,14-21 0,5-3 0,2-10 0,2-5 0,-1-6 0,-3-7 0,-5-6 0,9-7 0,0-12 0,10-5 0,-32 9 0,0-3 0,1-1 0,-2-2 0,-3-1 0,-1-1 0,-3-3 0,-1-1 0,-2-2 0,-3-2 0,-1 0 0,-2-1 0,-1 1 0,-2-1 0,-4-1 0,-2 1 0,4-26 0,-7 4 0,-1 1 0,-11 5 0,-10 3 0,-13 5 0,-13 4 0,-15 6 0,23 20 0,-2 1 0,-2 1 0,-2 2 0,-2 1 0,0 3 0,3 1 0,1 2-562,-34 2 0,11 11 1,2 12-1,9 6 0,8 5 1,11 4 561,12 0 0,4 3 0,12 2 0,0 3 0</inkml:trace>
  <inkml:trace contextRef="#ctx0" brushRef="#br0">30408 8247 7745,'5'9'4315,"4"1"231,3 4 1,0-1-2586,1 4 1,6-1-1363,3 1 0,2 5 0,3 8 0,3 4 0,5 4 1,2 0-600,2 1 0,-1-4 0,1-1 0,0-7-803,0-1 0,5-7 1,3-11-1,5-3 1,2-7-1,2-5-1716,-1-6 0,-4-10 2519,-3-3 0,2-11 0,-4-9 0</inkml:trace>
  <inkml:trace contextRef="#ctx0" brushRef="#br0">25813 10351 7789,'-13'0'442,"0"0"1,0 1-1,0 4 1,-1 3-1,-2 5 555,-1 4 1,-7 1 0,-4 6 0,-9 3 81,-9 1 1,-11 6-909,25-15 0,-1 1 0,-2 0 1,-1 0-1,-4 3 0,-1 1 1,0 1-1,-1-1 0,-1 0 1,-1 1-1,-4-1 0,0 0-132,-5 0 0,-1 0 0,0-1 0,0 0 132,-2 0 0,0 1 0,1 1 1,1-1-1,-4-2 0,0 0 1,-3 0-1,1 1 248,-1-1 1,0 0 0,-1 3-1,-1 2-335,1 0 1,0 2 0,-1-2 0,1 2-1,18-8 1,0 2 0,0 0 0,-20 11-1,0-1 1,1 0 0,0-1 0,-2 0-1,0 0-51,19-10 0,0 0 1,1-1-1,-18 7 0,2 1 2,0 3 1,1 1 0,0-2-1,-2 0 11,-2 1 1,-1 0-1,3 0 1,1 1-1,-1-2 1,1-1-1,2-1 1,1 0-1,2-4 1,1 0-1,-1-2 1,0 0 69,0-3 1,1 1-1,5 1 1,1 1-4,4-2 0,0 1 0,-1 0 0,0 0-125,-1 0 0,0-1 0,-1 1 0,2 1 0,3 1 0,2 0 0,1 0 0,2 0 0,3-1 0,0 1 0,2-1 0,0 0-154,1-1 1,-1-1 0,-1-1 0,0 0 66,-1-1 1,1 1-1,0 1 1,0 1-11,3-1 1,2 1-1,-17 21 1,12-4-1,7-2 1,4-1-1,3-3-467,1-2 1,2-6 238,4-8 0,1 2 29,4-2 1,-4-4 0,5-5-1,-1 1 1,0 0-1106,3-1 0,-1-5 659,2 1 0,2-4-537,-2-4 1,2-9 0,2-10 1290,0-6 0,6-9 0,1-8 0</inkml:trace>
  <inkml:trace contextRef="#ctx0" brushRef="#br0">20702 12674 7789,'-13'-4'335,"0"0"1,0 1 1598,0 1 1,5 2-49,-1 0 0,1 0-1358,-5 0 0,0 3 0,0 4 0,0 9 0,0 6 0,0 8 980,0 6 0,0 5-1002,0 11 1,5 1-186,-1 3 0,6-5 1,-1 2-1,3-7 1,2-5-1,3-10-39,5-7 1,8-6-194,5-10 1,8 2-919,4-5 0,9-1 0,5-4 0,2-2 1,4-3-1,6-8 829,9-7 0,-26 5 0,0 0 0,3-2 0,0 1 0</inkml:trace>
  <inkml:trace contextRef="#ctx0" brushRef="#br0">25090 10222 7829,'-20'0'537,"2"0"1,0 0 0,4 0 2154,7 0 0,28 0 1,21 0-2321,4 0 1,7-1 0,-2-4 0,8-3 0,7-5 0,5-3 61,-35 7 1,1 1 0,-1-1 0,-1 2 0,26-2 0,-8 6 140,-9 6 0,-4 10 0,-14 10 0,-7 7 1268,-8 9 0,-5 5-1683,-6 8 0,-6 4-160,-2 0 0,-4 0 0,-1-4 0,0-2 0,0-2 0,0-2 0,1-1 0,0-2 0,3-4 0,-1-5-190,6 0 1,-4-5 0,3 1 189,2-3 0,8-6 0,2-3 0</inkml:trace>
  <inkml:trace contextRef="#ctx0" brushRef="#br0">15578 15423 8220,'-8'-11'3759,"0"1"1,4 3-2040,6 1 0,3 2 0,8 5 0,0 2-1155,0 1 0,1 0 0,2-4 0,1 0 0,0 0 1,1 0 73,-1 0 0,2 0 0,-4 0 1,3 0-614,-3 0 0,4 0 0,-2 0 0,-1 0-26,-2 0 0,-1 0 0,0 0 0,0 0 0,-4 0 0,-1 0 0,2 0 0,2 0 0,-4 0 0,1 0 0,-5 0-46,5 0 0,-5 0 1,5 0-3429,1 0 0,-4 2 3474,-2 2 0,3 3 0,0 6 0</inkml:trace>
  <inkml:trace contextRef="#ctx0" brushRef="#br0">16882 15527 8199,'-9'0'288,"1"0"1,-1-2-1,0-1 1467,1-1 1,5-2 1742,-1 2-2612,2 2 1,8-8 0,2 6 0,4 0 807,1-2 0,-5 5-1196,1-4 1,0 4 0,4 1 0,-1 0-1,1 0 498,0 0 0,-4 0-407,-1 0 0,1 0-589,4 0 0,-4 0 0,-1 0 0,2 0 0,2-2 0,1 0 0,-1-3 0,6 0 0,-1 0 0,2 4 0,-2-3 0,-1 2 0,5 1 0,1-2 0,-1-2 0,1 3 0,1 0 0,-1 2 0,0 0 0,5 0 0,-5 0 0,5 0 0,-7 0 0,2 0 0,-1 0 0,1 0 0,-2 0 0,-2 2 0,-5 2 0,0-3 0,0 9 0,0-5 0,0-2 0,-6-2-774,-1-1-7204,-6 0 6754,0 0 1224,0 6 0,0-5 0,0 5 0</inkml:trace>
  <inkml:trace contextRef="#ctx0" brushRef="#br0">18237 15514 8179,'-13'-5'611,"0"0"0,0-1 0,0 0 1669,0 3-1627,0 2-769,6 1 0,2 1 336,5 4 1,-2-4 0,-1 5 1993,-1-1-838,0-3-430,4 4 1,5-6-327,4 0 1,4 0 0,4 0 0,5 0 688,2 0 0,8 0-979,2 0 0,3 0 0,2 0 0,1-2 0,2-1 0,1-2 219,-2-3 1,-2 4-306,-5-4 1,2 3-304,-6-3 1,2 3 0,-5-2 0,0 0 0,-4 1 0,-1 0-297,-2 4 1,-4 0 210,1 2 0,-7 0-86,-1 0 1,-7 2 85,3 2 0,-8-1-613,-1 5 0,-6-5-1511,1 2 1,2-3 0,-2 1 2267,-1 2 0,-1-1 0,-2-4 0</inkml:trace>
  <inkml:trace contextRef="#ctx0" brushRef="#br0">15036 14984 8143,'-13'6'440,"-1"1"0,-2 8 1,-1 2-1,0 4 0,-2 4 2295,-3 1 0,-2-1-2339,-2 1 1,0-6-1,-1-2 1,-3-4-1,-4-3 1,-4-2-1,-2-5 1,-4-2 2254,-8-2-2294,-11 0 0,-3 0 1,-3-2-1,5-2 1,2-3 1164,2 0 1,1-3-1279,-1 5 1,-9-3 0,0 3-1,33 3 1,-1 0 0,-1 0-1,0 0 1,1-1 0,-1 0-245,1-1 0,0 1 0,-1 1 0,1 0 0,-32-7 0,33 7 0,-1 0 0,-3-2 0,-1-1 0,0 0 0,0 0 0,0-2 0,2-2 0,-32-9 0,10-1 0,0-3 0,-2-2 0,2 1 0,26 8 0,1 0 0,-32-14 0,1-1 0,6-7 0,4-6 0,3 0 0,5-2 0,2 0 0,1-1 0,-4-5 0,21 27 0,-2 1 0,-22-23 0,-1-1 0,6 5 0,8-2 0,0-1 0,4-2 0,4-3 0,3-2 0,-1-11 0,13 29 0,0-1 0,-1-2 0,-1 0 0,-2-2 0,-1 0 0,3 1 0,0 0 0,0 1 0,0 0 0,-1 0 0,0 1 0,0-2 0,0 1 0,0-1 0,0 0 0,0-1 0,2 1 0,3 2 0,1 0-139,-1 1 1,0 1-1,-8-26 139,-1 4 0,4-3 0,5 0 0,0 0 0,0 4 0,4-4 0,1-1 0,1-1 0,-2-2 0,5-3 0,2 0 0,2-1-25,0-2 0,0-4 0,0 34 0,0-1 0,1 1 0,0 1 25,3-34 0,0 4 0,9 4 0,-3-6 0,-1 33 0,0 1 0,6-30 0,3 2 0,3 6 0,3 5 0,4 2 0,2 4 0,3 6 0,5-2 0,1-2 0,0 2 0,1-7 0,2 0 0,1-3 0,-2 1 0,-1 3 0,-1 0 0,1-5 0,3-2 0,-1-1 45,-19 28 1,1 2-1,25-26 1,-22 25-1,0 0 0,1 2 1,-1 0-1,25-21 1,-7 5-46,-4 6 0,-1 0 0,-10 6 0,4-4 26,-4 4 0,6-6 0,-1 2 0,2-4 0,5-2 1,2-3-27,3-4 0,5 1 0,-9-1 0,0 5 0,-4-1 0,-3 0 0,-5 4 0,-5 5 0,-3 2 0,-2 1 0,1-2 0,-1 4 0,5-1 0,0 3 0,0 1 0,-5 1 0,-1 3 0,1 1 0,-3 1 0,1 2 0,-3-1 0,-3 2 0,-5 4 0,2 0 0,-6 0 0,1 5 0,-5-1 0,-2-1 0,-2-2 0,-5 0 0,-2 3 0,-2 0 0,-6 2 0,-2-1 0,-3-2 0,-4 5 0,0 2 0,-4 2 0,0 1 0,1 0 0,-3 1 0,3 4 0,6 0 0,3 4 0,2 2 0,-2-2 0,5 1 0,4 0 0,5-1 0,2-1 0,13 0-34,6-4 1,6-4-1,8-4 1,5-5-1,5-3 1,6 0-1,3-1 1,1 0 52,5 0 1,4 1 18,0 4 0,-2-2 0,-8 5 0,-7 3 0,-8 2 1,-5 4-39,-4 4 0,-10 10 0,-7 3 0,-5 8 0,-5 1 0,-7 13 0,-11 3 0,-6 8 0,-6 4 0,-3 1 0,-5-1 0,3-3 0,-3 1 0,5-10-522,8-8 1,1-5 0,14-8 521,3-4 0,22-8 0,12-7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6789 11835 14432,'13'0'546,"0"0"1,0 0 0,-1 0 0,1 0 1779,0 0-1914,0 0 1,0 0-1,0 0 1,0 0 0,0 0-1,0 0 480,0 0 1,0 0-694,-1 0 1,1 0 0,2 0 0,0 0 0,3 0 284,-3 0 1,4 5-267,-2-1 1,8 0-1,-1-2 1,6 0-1,3 4 1,3 0 344,1 0 1,6 2-311,0-3 0,-4 3-161,-5-4 0,-1 5 1,2-5-1,-5 1 0,-4-1 1,-3 2-93,-2 1 0,-1-4 0,2 1 0,1 2 0,-6-2 0,6 2 0,-2-3 0,4 1 0,1-1 0,-1-2 0,1-1 0,4 2 0,0 2 0,5-2 0,-5 2 0,0-3 0,-4-1 0,0 0 0,0 0 0,-2 0 0,-3 0 0,2 0 0,-5 0 0,5 0 0,-2 0 0,-1 0 0,0 0 0,0 0 0,-1 0 0,2 0 0,4 0 0,-7 0 0,8 0 0,-4 0 0,-1 0 0,4 0 0,-4 0 0,4 0 0,-1 0 0,-1 0 0,-2 0 0,-3-1 0,3-3 0,-4 2 0,5-2 0,-6 2 0,1 2 0,-1-1 0,-1-2 0,4-1 0,1 1 0,-4 1 0,1 2 0,3 0 0,2 0 0,2 0 0,2-1 0,0-2 0,-1-1 0,3 1 0,2 2 0,-3 1 0,3 0 0,2 0 0,-2 0 0,0 0 0,-4 0 0,0 0 0,-1 0 0,1 0 0,0 0 0,-4 0 0,-1 0 0,1 0 0,-2 0 0,4 0 0,-2 0 0,3 0 0,5 0 0,-2 0 0,2 0 0,-1 1 0,-1 2 0,4 1 0,1-1 0,-5-2 0,3-1 0,-6 0 0,-3 0 0,2 2 0,-4 1 0,2 1 0,-2-1 0,-1-2 0,-4-1 0,4 0 0,-2 0 0,2 0 0,-2 0 0,3 0 0,6 0 0,0 0 0,0 0 0,-1 0 0,1 0 0,0 0 0,0 0 0,0 0 0,-1 0 0,1 0 0,0 0 0,0 0 0,0 0 0,-2 0 0,-2 0 0,1 0 0,-6 0 0,6 0 0,-2 0 0,2 0 0,0 0 0,-3 0 0,0 0 0,0 0 0,3 0 0,2 0 0,0 0 0,1-4 0,0 0 0,0-1 0,1 5 0,0 0 0,1 0 0,-4 0 0,0 0 0,-4-4 0,2 0 0,-2 0 0,2 4 0,0 0 0,-4 0 0,-3 0 0,1 0 0,0 0 0,1 0 0,5 0 0,-5 0 0,6 0 0,-2 0 0,8 0 0,1 0 0,-1 0 0,-2 0 0,-1 0 0,0 0 0,-6 0 0,-3 0 0,-1 0 0,1 0 0,-3 0 0,4 0 0,-3 0 0,3 0 0,-4 0 0,3 0 0,-1 0 0,0 0 0,1 0 0,-1 0 0,-2 0 0,-1-5 0,0 1 0,0-6 0,-5 8 0,-1-3 0,1-1 0,-1-3-6348,-4 4 4707,2-7 0,-5 5 0,-1-7 1641,-3-4 0,-9-2 0,-7-5 0</inkml:trace>
  <inkml:trace contextRef="#ctx0" brushRef="#br0">6789 7886 8148,'0'-13'464,"-2"0"0,0 0 0,-3 0 572,2 0 1,2 5-441,1-1 0,0 12-243,0 1 0,0 2 1,0 3-1,1 1 1,2 1-1,3 2 175,1 0 0,-3 0 0,5 0 0,0 0-87,-2 0 0,3 0 1,-4-1-1,-1 1 200,1 0 0,3 0-258,-5 0 1,6 0-123,-1 0 1,-2 0 0,0 0 0,0-2 0,0-1 0,3-1 243,2 1 0,-4 1-264,1 2 1,0-1-13,4-4 1,-1 8 0,3-3 0,1 1 0,1 2 261,-1 1 0,-1-2-280,3 2 1,-4-3-59,3-1 0,3 0 0,0 0 0,2 1 0,-1 2 0,2 1 225,2-1 0,0-2-225,1-1 1,4 4-118,0 1 1,1 3 0,-6-2 0,1 1 0,0 3 0,0 1-37,0 2 0,-2 0 0,-3 0 0,4-5 0,-4 1 0,4-1 0,1 5 0,-1-2 0,1-1 0,0-3 0,0-1 0,4 3 0,0-5 0,4 4 0,-3-4 0,0 6 0,-2-1 0,1 1 0,-1 0 0,-2-2 0,-1 2 0,-1 2 0,1 0 0,-1 6 0,-4-1 0,2 0 0,-4-4 0,1-1 0,3 1 0,1-1 0,2-4 0,0-2 0,0-6 0,4 4 0,0 0 0,4 0 0,-4-2 0,-1 0 0,-2 4 0,1 0 0,2-1 0,-7 4 0,2-5 0,-3 5 0,-1-5 0,2 6 0,-4-2 0,0 4 0,1-1 0,0-1 0,3-2 0,1 1 0,2 4 0,1 0 0,3-1 0,2 1 0,4-1 0,-2-2 0,1-2 0,-2 1 0,-3-2 0,1 0 0,-1-3 0,0-1 0,-4 5 0,-4-4 0,-1 4 0,2-1 0,2-2 0,0 2 0,1 0 0,-4-4 0,-1 1 0,-1 2 0,2-2 0,2 0 0,-2-4 0,2 0 0,2 2 0,0 0 0,0 3 0,1 3 0,3-4 0,-7 2 0,3-2 0,-5-3 0,2 4 0,-3-3 0,0 1 0,-1 1 0,0-1 0,-1-1 0,-1-3 0,3 6 0,6-1 0,0 0 0,0-4 0,0 0 0,0 0 0,1 1 0,3 3 0,-3-2 0,3 2 0,2-1 0,-2 1 0,3-3 0,-6 5 0,-2-2 0,-3 2 0,0-1 0,0 1 0,-2 3 0,1-5 0,3 4 0,-2-4 0,2 2 0,4-3 0,0 1 0,2-1 0,2-2 0,-2-1 0,-1 0 0,4-2 0,-2 0 0,-2-3 0,-2 2 0,-1 2 0,0-4 0,0 1 0,-5-1 0,1 5 0,-7-1 0,3-2 0,-4-2 0,-1 2 0,1 2 0,3 1 0,-2 0 0,3 0 0,0 0 0,0 1 0,2 2 0,3 1 0,2 0 0,-1-4 0,-1 0 0,-1 0 0,-2-2 0,1-2 0,2 2 0,-6-2 0,6 4 0,-3 3 0,2 1 0,-2 0 0,-1 0 0,-4 1 0,1-1 0,1-4 0,-2 4 0,2 0 0,-3 0 0,-1-4 0,0 0 0,1 0 0,2-2 0,1-2 0,1 3 0,-6-4 0,0-1 0,-4 2 0,4-2 0,-3 3 0,2-3 0,1 0 0,-2 1 0,-2 2 0,-1-3 0,2 1 0,1-3 0,-6 3 0,6-3 0,-3 3 0,2 2 0,0 2 0,-6-5-519,2-1 1,-5-8 0,-1-2 0,-3-6 0,-6-7-1,-8-9-4397,-8-7 1,-2-10 4646,-11-4 0,3-9 0,14 26 0,0 1 1</inkml:trace>
  <inkml:trace contextRef="#ctx0" brushRef="#br0">11642 11784 7926,'-13'0'371,"0"0"0,0 0 0,0 0 2465,0 0-2154,6 0 0,-3-2 1,7-1-1,4-1 614,7 1 0,3 3-1018,2 4 1,0-2-1,-2 4 1,-1-2 0,-1 0-1,1-1 380,2-1 1,-4-2 0,-1 1 124,-1 3 87,4-2-591,-8 3 1,2 0 0,-7 0 0,-3 3 0,-1 0 530,-3-1 0,3 5-522,-2-3 0,2 2-182,-2 2 1,4 0-1,5 0 1,0 0 0,0 0-1,0-1 14,0 1 1,1-4 14,3 0-112,4-7 1,5 4-1,-2-7 1,-1-4 0,-3-3-1,-1-4 205,-3-1 1,3-4-93,-2 0 1,-1-5-108,-8 5 0,3-1 0,-7 2 1,-1-1-1,-2 1 0,0 3 230,-1 4 1,-5-1-260,1 6 0,0 0 0,4 4 0,0 0 0,2 1 0,2 3 0,5 5-277,2 3 0,4 2-287,2 3 0,5-3 422,8 4 0,-1-8 0,4-3 0,-2 0 1,-2-1-1,-1-1 523,-3-2 1,3-3-1,1-4 232,1-5 0,-6-2-532,-6-2 1,-4-1-82,-1-3 0,-1 2 0,-4-2 0,-3 3 0,-4 1 0,-2 0 0,-3 0 0,-2 4 0,-3 1 0,0 5 0,4-1 0,1 2 0,4 2 0,0 2 0,2 2 0,2 4 0,4 4 0,5 2 0,1 2 0,3 1 0,8 0-171,5-4 0,6-4 228,-2 0 0,2-7 0,0 3 0,-3-4 0,0-2 0,-1-4-57,0-3 0,-6-4 0,-5-1 0,-5-1 0,1-3 0,-4 1 0,-5-4 0,-7 1 0,-5 4 0,-3 0 0,-3 2 0,-1 0 0,-2 1 0,4 4 0,1 4 0,5 3 0,-3 1 0,2 1 0,1 3 0,3 5 0,3 2 0,8 4 0,-3 2 0,4-3-216,1 4 1,1-4 0,4-3 0,3-2 0,4-5 0,2-2-9616,3-2 9346,9-12 0,1-14 0,5-14 0</inkml:trace>
  <inkml:trace contextRef="#ctx0" brushRef="#br0">6892 8454 8216,'0'70'190,"-1"3"0,-1-34 1,1 1-1,-1 3 1,-1 0-1,2 4 0,0 2 1,0 4-1,0 0 1,1 5-1,0 2 86,0 3 0,0 2 0,2 3 0,0 1 1,0-20-1,-1 0 0,1 1 0,-1 0 0,1 0 1,-1 0-307,1 0 0,0-1 1,0 0-1,-2 21 1,1-1-1,2-2 1,0-2-1,-1-1 1,0 0-1,0-3 1,1-2-1,-1-1 1,0-2-129,1-5 1,0-1 0,-2-4-1,0-1-345,4-2 1,-1 0 0,-2-5 0,0 0 85,3 1 0,-1-1 1,0 20-1,3-8 417,-1-11 0,-1-12 0,-3-9 0,7-3 0,5-5 0</inkml:trace>
  <inkml:trace contextRef="#ctx0" brushRef="#br0">7241 8828 8403,'-19'52'232,"5"8"1,-2 9-1,10-29 1,2 1 331,1 5 1,1 0 0,1 2 0,1 0-451,0 2 0,0-1 0,0 0 0,0 0 0,-1-1 0,1 0 0,-2 3 0,1 1 0,-1 4 0,-1 0 0,2 3 0,0 1 232,0 2 0,0 1 0,-1 1 0,0 1-337,0 1 0,0 1 0,-3-2 0,1 1 0,1 2 0,2 0 1,-2-1-1,1-1 0,0-1 0,0-1 0,0-5 0,0-1-278,0-5 1,1-2 0,0-6 0,0-1 0,1-4 0,0-1-1,0 33-1391,0-6 0,5-10 324,-1-13 1336,6-15 0,-6-2 0,9-9 0,3 3 0</inkml:trace>
  <inkml:trace contextRef="#ctx0" brushRef="#br0">7641 8957 8319,'-16'14'0,"3"7"0,6 9 0,4 11 0,3 15 471,0 9 0,1 6 0,1-30 1,-1 2-1,1 2 0,1 1 1,-2 5-1,0 2 0,0 4 0,0 3-1276,-1 6 1,0 0 1014,0-4 0,0 1 0,-2 10 0,0 0 0,-1-5 1,1 0-1,1 4 0,-1 0 0,1 1 0,1 0-44,0-24 1,0 1 0,0-1-1,0 19 1,0 0-152,0-1 0,0-1 0,0-6 0,0-2 1,0-5-1,1-1 0,1-3 0,-1 1 1,2-3-1,0 0 0,0-4 0,0-1-676,2 28 1,5-14 0,-1-23 0,3-7-1435,0-7 0,1-14 2095,0-9 0,2-9 0,2-13 0,3 0 0</inkml:trace>
  <inkml:trace contextRef="#ctx0" brushRef="#br0">8157 9499 8138,'-6'-39'1550,"6"11"-587,0 11 0,6 17 0,7 24 0,-2 10-302,-2 14 1,1 13-194,-8-25 0,0 1 0,1 7 0,0 1-323,-1 4 1,0 1 0,-1 7 0,0 1 0,0 6-1,1 1 1,-3 4 0,0 0 0,-1 2 0,-2 1 0,2-23-1,0 1 1,-1-1 169,0 1 1,0 0-1,-1-1 1,-1 20 0,0 0-571,1-2 0,0-1 1,-2-6-1,2-2 200,1-6 0,1-1 0,-2-1 0,0-1 0,1-6 1,1-1-1,-1 28 0,3-14 0,3-13-2599,2-7 0,5-6-1145,-2-9 3799,4-8 0,1-7 0,0-6 0</inkml:trace>
  <inkml:trace contextRef="#ctx0" brushRef="#br0">8531 9899 8144,'-13'-7'1554,"2"4"-609,2 6 0,3 13 1,6 14-1,2 14-605,2 14 1,-1-20 0,0 3 147,1 7 1,1 3 0,-2 1 0,1 2-340,-2 2 1,0 0-1,-1-2 1,-1 1-1,3-3 1,-1 0-1,-1 1 1,-1 0-1,0 2 1,0-1-1,0 0 1,0 0 103,0-1 0,0-1 1,0-2-1,0 0-716,0-4 1,0-2 0,0-2-1,0 0 42,0-3 0,0-1 0,6 25 0,4-18 0,4-18 0,5-16 0,0-9 421,-1-7 0,7-8 0,-8-8 0,-3-3 0</inkml:trace>
  <inkml:trace contextRef="#ctx0" brushRef="#br0">8944 9912 8226,'-13'13'1178,"8"13"1,6 11-1,10 19-825,-1-19 0,1 2 0,-2 8 0,0 2 1,0 7-1,-1 2 0,0 0 0,-1 1 315,0 1 0,-1-1 1,-2 0-1,-1 1-959,-1 2 1,0 1 0,-1-2-1,0 0 368,-1-3 1,0 0 0,-3-5 0,0-1 0,-1-2 0,-1-1-1,0-2 1,-1-1 0,0-3 0,0 0 0,2-3 0,0-1-614,-1 30 1,4-24 740,1-6 0,1-19-1600,4-7 0,3-10 0,8-4 0,3-15 1395,1-17 0,-3-3 0,4-16 0,1 4 0</inkml:trace>
  <inkml:trace contextRef="#ctx0" brushRef="#br0">9448 10377 8130,'0'-6'2175,"0"8"-808,0 9 0,1 15-695,3 13 1,2 18-506,-2-22 1,1 3 0,-1 9 0,-1 4 0,-2 4 0,1 3 0,0 1 0,0 1-1,0 1 1,-1 1 0,-1 0 0,0 0-328,-2 1 0,0 0 1,-1-3-1,0 0 186,-1-1 1,-1-2-1,0-7 1,0-2-248,3-6 1,0-2 0,-2 30-1,4-16 1,2-12 0,7-15-1,8-15-1126,6-15 1347,3-16 0,3-11 0,5-9 0,6-2 0</inkml:trace>
  <inkml:trace contextRef="#ctx0" brushRef="#br0">9951 10622 8058,'-6'-7'4980,"5"14"-4419,-4 15 0,5 15-119,5 14 1,2 18-338,-1-29 0,1 2 1,-3 5-1,-1 1 0,0 3 1,-2 1-1,0 2 1,0 1-1,-1 1 0,0 0 1,0-2-1,0-1-19,0-2 0,0-1 1,0-5-1,0-3 1,0 24-1,0-8-722,0-11 1,5-18-1278,4-12 1,8-10 318,5-11 1594,2-15 0,2-20 0,0-14 0</inkml:trace>
  <inkml:trace contextRef="#ctx0" brushRef="#br0">10403 10906 12392,'0'13'570,"1"7"1,3 7 0,5 12-37,2 11 1,1 9-647,-3 10 1,2-3-145,-2 3 1,1-11-1,0-7 1,-2-14-1,2-14 1,3-13-1654,4-7 1,-1-16 685,6-9 1,-5-15 678,4-15 0,-3-1 544,3-7 0,1 6 0,3-4 0</inkml:trace>
  <inkml:trace contextRef="#ctx0" brushRef="#br0">10777 11061 8035,'13'1'-391,"0"4"0,-2-1 1441,-2 9 1,1 4 0,-6 16-1,-1 11 356,-2 15 1,-1 10-1137,0-30 0,0 0 1,0-1-1,0 0 240,0 35 1,0-3 0,0-7 0,0-4 0,2-9-1,1-11-805,1-12 1,6-11-1052,-1-8 1,-2-6-1591,1-2 2936,-5-12 0,9-13 0,-5-8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19244 8686 8371,'0'-9'2521,"0"1"-1299,0 5-462,0-8 1,0 11-400,0 0 1,0 5 0,1 8 0,2 0 10,1 0 1,1 0 0,-5 1 0,0 2 48,0 1 1,1 6-201,3-1 1,-2 2-71,2 2 1,-3 4-1,-1 2 1,0 1-1,2 2 1,1 4 332,1 4 1,0-1-260,-4 5 1,0-5-42,0 1 1,5 1 0,-1-1 0,-1-1 0,-2-2 0,-1-1 285,0-1 1,5 5-246,-1 0 0,0 2-46,-4-2 0,2 1 0,0 6 1,3-1-1,-2 1 0,-1-2 194,3-2 0,-4 1-182,4-4 1,-3 6-201,3-2 0,-2-1 1,4 1-1,-2 2 1,0 1-1,-1 0 120,0-2 1,5-4-224,-5-5 0,5 0 73,-5-1 1,5 1 0,-3 0 0,-1-1 0,2 1 0,-1 0 26,0 0 0,2 4-6,-3 0 0,1 0 18,-2-5 1,-1-3-1,4 1 1,0 1-1,-1 2 1,0-2 89,-4 0 0,4-1-40,-2-1 0,2 6-69,-2-2 1,-2-2-1,2-2 1,-1-1-1,0 0 1,1-1-109,-1-1 1,-1 2 125,-2-4 1,0 2-15,0-2 1,0 2 0,0 4 0,0-2 0,0 2 0,0 1 33,0 2 1,0 2 131,0-2 0,0 3-62,0-8 0,0-1 0,0 0 0,0 0 0,0-1 0,0 1 121,0 0 1,0-2-229,0 8 1,-5-8 14,1 8 0,0-3 0,4 3 0,0 1 1,0 0-1,0 0-198,0-3 0,0-1 133,0 3 1,0-5 71,0 1 1,-5-1 0,1 5 0,1 0-1,2-1 1,1 3 28,0 2 0,0-3 1,0 3-1,0-2 123,0 2 0,0-2-73,0 2 1,0-3-58,0-2 1,0 1 0,0 0 0,0 1-1,0 3 1,0 3 2,0 0 0,0 3 11,0-6 0,0 1-36,0-1 0,0-3 0,0 3 0,0-3 1,0-1-1,0 1 29,0 3 0,0-3 54,0 3 1,0 2-77,0-2 0,0 1 1,0-1-1,0 3 0,0 0 1,0-1 46,0-1 1,0-1-95,0 9 0,1-3 37,3 6 0,-2-1 0,2-3 0,-2 2 0,-2 0 0,1 0-19,3-2 1,-2-7 6,2 3 1,-2 1 8,-2 3 1,0-3-1,0-1 1,0 2 0,0 1-1,0 0-5,0-3 1,0-1 5,0-3 1,0-3-3,0 3 0,0 3 0,0 0 1,0 0-1,0-1 0,0-4-5,0-2 0,0 5 2,0-9 1,0 3-2,0-7 1,0 3 0,0-2 0,1 1 0,2 1 0,1-1-22,-1-3 1,-2-3-83,-1-1 1,0 0 43,0 0 0,0-2 0,0-2 0,0-5 0,0-3 0,0-1-1414,0 0-2083,0-6 923,0-1 1,2-9 2639,2-6 0,3-5 0,6-12 0</inkml:trace>
  <inkml:trace contextRef="#ctx0" brushRef="#br0">19837 16378 7859,'-13'-13'44,"0"5"1,1 1 0,0 0 396,4-1-428,2 5 0,6-1 366,0 8 1,-2 4 314,-2 5 1,3-5-56,-4 1 1,4-5 344,1 5 0,0-5-354,0 5 1,1-7 0,4 3 29,3-4 0,4-1-113,1 0 0,1 0-264,3 0 1,5 0 0,6 0 0,4 0 0,2 0 0,6 0 378,6 0 0,0-4-331,2 0 1,-1-1-153,4 5 1,5-4 0,2-2-1,-1 0 1,3-1 0,2 2 214,4-1 1,6-4-151,-3 1 0,-6 3-82,-7 2 0,1-2 0,3 2 0,5 1 0,6 2 0,1 1 131,0 0 0,-3 4-119,-5 0 1,5 5-204,0-5 0,3 1 0,-1-5 0,-32 0 0,0 0 0,0 0 1,1 0-1,-2 0 0,1 0 37,34 0 1,-35-3 0,0 0-1,-1-1 1,1 1 0,2-2-1,0 1-42,3 0 1,0 0 0,0 0 0,0 0 85,-2 0 0,0 0 0,-2-2 0,-1 2 26,31-1 0,-32 3 0,1 0 1,3 2-1,1 0 0,1 0 1,0 0-1,-1 0 0,-1 0 0,-1 0 1,-1 0 235,34 0 0,-34 0 1,0 0-338,-1 0 1,1 0 0,2 0 0,0 0 28,2 0 0,0 0 1,0 0-1,0 0 1,-4 0-1,1 0 1,-2 0-1,1-1 0,1-1 1,0-1-1,2-1 1,1 0-67,2-2 0,-1 0 0,-2 0 0,1-1 0,-2 1 0,-1-1 0,0 1 0,1 1-15,0 1 1,-1-1 0,-2 0-1,0 0 23,3 3 1,0 0 0,-1-2 0,0-1 91,3 3 1,0 0-1,-1-2 1,0 0-1,-4 1 1,0 1 0,-1 1-1,0-1 1,36 1-1,-35 1 1,0 0 115,2 0 0,1 0 1,0 0-1,1 0-106,1 0 0,0 0 0,-4 0 1,-1 1-51,31 4 0,-33-4 0,1 1 0,2 1 0,0 1 0,3-1 0,0 1 0,1-1 0,0 0 0,-1 0 0,-2 1 0,-3-1 0,-1 1 0,1-1 0,1 1 0,0 0 0,1 1 0,3 1 0,1-1 0,4 0 0,1-1 0,-5-1 0,0 1 0,0 0 0,0-1 0,-3 0 0,0 0 0,0-1 0,0 0 0,3 0 0,0 0 0,4 1 0,1-1 0,-1 0 0,-1 0 0,0-2 0,-2 0 0,0 0 0,-2 0 0,-1 0 0,0 0 0,4-2 0,1 0 0,3-1 0,1 0 0,-1 0 0,0-1 0,-1-1 0,-1 0 0,-3 0 0,0 0 0,-2 1 0,0-1 0,4-1 0,0 1 0,5 0 0,1 1 0,-3-1 0,0 0 0,1 1 0,-1-1 0,-5 2 0,1-1 0,-1 3 0,1-1 0,2 0 0,0 0 0,3 0 0,1 0 0,-2 0 0,1 0 0,-4-1 0,-1 1 0,1 0 0,-1 0 0,-2 2 0,0 0 0,4 0 0,0 0 0,3 0 0,-1 0 0,-1 0 0,-1 0 0,-2 0 0,0 1 0,-2 1 0,-1-1 0,0 1 0,0 1 0,3-2 0,-1 0 0,3 0 0,0 0 0,-1-1 0,1 0-48,-4 0 1,0 0-1,-1 0 1,-1 0 36,-2 0 1,-1 0 0,6 0 0,0 0-1,1 0 1,0 0 0,1 0 0,0 0 0,-1 0-1,-1 0 1,-2 0 0,-1 0 39,-2 0 1,0 0 0,2-1-1,1 0-40,1-1 0,0 0 0,3 1 0,0 1-28,-3-2 1,0-1 0,-4 2 0,-1 0 0,0-1 0,-1 1 0,33-4 0,0 2 0,3 2-9,-33 1 1,-1 0-1,-1 0 1,0 0 0,1 0-1,0-1 1,30-2 49,-8-2 1,1 1-50,-6 4 0,11 0-44,2 0 0,3 0 0,-3 0 1,-9 0-1,-6 0 0,-2 0-317,0 0 0,8 0 271,0 0 0,6 0 84,-6 0 0,2 0 0,-2 0 0,-5 0 0,-8 0 0,-7-1-10,-4-4 0,3 4 1,5-3-1,1 2 43,-1 2 0,-1 0-154,-4 0 0,-2 0-927,-3 0 1,-3 0 0,-10 0-1796,-4 0 1,-11 0 2894,-12 6 0,-5 1 0</inkml:trace>
  <inkml:trace contextRef="#ctx0" brushRef="#br0">32963 16598 7735,'-6'-13'538,"4"4"0,-7 1 0,-1-2 430,-2-2 1,-5-1-669,0 0 1,-2 5 0,2 1-1,-3-1 1,-1 3 0,-1-1-1,-1 3 1,-1 2 847,-2 1 1,4 0-654,1 0 1,-1 5-1,-3 5 1,-1 8-1,1 7 1,4 8 979,4 5 1,2 8-583,2 5 0,5 12-744,3-27 0,1 1 1,3 1-1,2-1 1,0 0-1,3 1 1,2-2-1,3-1 1,3 0-1,2-1 1,19 29-33,6-5 0,8-17-422,1-6 0,0-8 406,0-6 1,2-3-1,-6-10 1,-1-4 0,-5-4-1,-5-4 289,-5-4 0,-1-11-447,-1-7 0,-4 0-18,-1-4 0,-6-3 0,-1-3 0,-5-5 0,-4-5 0,-2-1-561,-1-1 1,-4-3 363,-2-5 0,-5-10-4,-8 1 0,-3-1 0,-6 6 1,0 5-1,2 7 0,1 6-1360,2 6 0,5 8 1330,-1 10 0,2 7-963,2 11 0,6 1 0,3 4 0,2 5 1269,2 5 0,0 6 0,0 4 0</inkml:trace>
  <inkml:trace contextRef="#ctx0" brushRef="#br0">32912 16972 7716,'-13'0'3672,"0"1"-2433,0 4 1,6-2 0,2 5 93,4 2 1,2 2-892,4 1 0,6 0-516,6-1 1,6 1 0,-1 0 0,4 0 0,4 0 0,3 0-2064,0 0 1,3-4 897,-6-1 1,4-4 1238,-4 5 0,12 0 0,-2 4 0</inkml:trace>
  <inkml:trace contextRef="#ctx0" brushRef="#br0">18405 8325 7931,'-18'-5'698,"1"0"0,1-1 0,2 0 1,1 3-1,2 3 1324,2 5 0,5 13 0,8 14 0,6 8-922,6 7 1,4 15-921,-7-28 0,0 1 0,0 4 0,0 1 0,0 1 0,-1 1 0,1-1 0,0 0 0,0-2 0,-1 0 0,-1-3 0,-1-1 270,7 28 1,-2-7-1875,-2-9 0,0-4 0,-2-10-2106,-2-7 1,-4-13 3529,-5-13 0,0-17 0,0-11 0</inkml:trace>
  <inkml:trace contextRef="#ctx0" brushRef="#br0">18276 8389 8051,'-5'-18'0,"1"-4"0,1-1 1778,2 2 1,6-4-1,7 4 1,8-4 839,10 0 0,6-3-1391,3-2 0,1 3-819,3-3 0,-4 10 0,-1 7 1,-6 7-1,-5 5 0,-1 2 985,0 3 1,-6 5-1104,-3 8 0,-7 3-290,-1 6 0,-6 6 0,-1 2 0,-4 3 0,-7 4 0,-4 0 0,-4 2 0,-3 7 0,-6 2 0,0 1-1236,0 7 1,-1-1 0,-2 3 1235,-1-2 0,0-1 0,1 1 0,-5-4 0,-6-3 0</inkml:trace>
  <inkml:trace contextRef="#ctx0" brushRef="#br0">30137 15888 7712,'-7'0'4820,"1"0"-3593,0 0 943,5 0-92,-5 0-1464,6 0-1128,0 0 397,0-6-773,0 5-101,0-5 416,0 6-531,0 0 2045,-6 0-419,5 0-42,-5 0 0,6 1-229,0 4 0,-4-2-235,-1 5 1,1-3-400,4 3 0,0-4 0,0 5 0,1 0-784,4-2 1,-4 0 1168,4-3 0,2 3 0,0 6 0</inkml:trace>
  <inkml:trace contextRef="#ctx0" brushRef="#br0">30137 15875 7693,'-2'-13'641,"-1"0"0,-1 0 1,1 0-1,2-1 0,1-2 1,0-1 1553,0 1 0,0 6 1,0 2-709,0-2-967,0 4 0,0 2 1,0 8-1,0 4 1,0 5 3320,0 5-3400,0 7 1,0 4 0,0 7-1,1 4 1,2 5-239,1 0 0,1 6-203,-5-4 0,4 5 0,0 2 0,-1 2 0,-1-2 0,-2-2 0,0-5 0,4-2 0,0-6 0,1-8-455,-5-5 1,0-6-1,1-8-7738,3-4 8193,-2-2 0,9-12 0,-4-1 0</inkml:trace>
  <inkml:trace contextRef="#ctx0" brushRef="#br0">19166 10235 7818,'-17'-2'4646,"0"0"-914,1-3-2927,7 1 1,5 4 0,8 0-1,6 0 1,5 0 0,3 0-1,4 0 1,4 0 578,2 0 0,3 0 0,-6 0 0,3-1-1137,2-4 0,-3 4-247,3-4 0,-3 0-235,-1 0 0,0-3 1,0 2-1,0-1 0,-2-2 1,-1 1-4096,-2-1 1,-3 6 4329,3-1 0,1 3 0,3 1 0</inkml:trace>
  <inkml:trace contextRef="#ctx0" brushRef="#br0">19437 10209 8000,'-6'7'1124,"-1"-1"0,-1-2 3289,-1 1-3588,6 5 0,-3-10 1,6 0 578,0-8-871,0 3 0,0-7 0,0 4 0,2-2 0,1 0 2097,1 1-2241,0 0 1,-4 1-127,0-1 1,2 6 0,1-2 140,1-1 1,2 4-105,-2-2 0,3 3 1,6 1-76,0 0 0,-4 0 0,-1 0-32,2 0 0,2 1 1,1 2-119,0 1 0,-1 1 0,1-5 0,0 1-75,0 3 0,0-2 0,0 3 0,0 0 0,0-1 0,1 2 0,2-2 0,1 3 0,-1 0 0,-2 5 0,-1-4 0,1 4 0,4 1 0,-3 0 0,7 0 0,-5 0 0,5-1 0,-5-1 0,4-1 0,2 1 0,2-1 0,1 2 0,-1-1 0,1 2 0,0 0 0,0-5 0,0 1 0,-1 0 0,1 4 0,0-1 0,0 1 0,-2 0 0,-2 0 0,1-4 0,-5-1 0,2 2 0,3 2 0,-3 1 0,2 0 0,-1 0 0,5 0 0,2-1 0,0 1 0,4 2 0,1 0 0,3 3 0,1-3 0,2 4 0,-1-2 0,0 5 0,-4-5 0,2 5 0,-5-4 0,1 2 0,0 2 0,-2-1 0,1 1 0,-2-6 0,7 2 0,2-1 0,4 1 0,2 0 0,-1-1 0,-2-2 0,2 2 0,0 2 0,-3-1 0,-4 1 0,-3 1 0,-5-1 0,0-1 0,3 5 0,4-1 0,3-2 0,5 1 0,2 2 0,5 6 0,-1 1 0,-1 0 0,-3 0 0,-3 0 0,-4 1 0,1-6 0,0 1 0,-1 0 0,5 0 0,0 0 0,6-1 0,-1 1 0,5 4 0,0 0 0,-5-1 0,-2-2 0,-4 1 0,-2 2 0,3-2 0,0 7 0,2-5 0,-2 4 0,4-1 0,9 3 0,3-1 0,-2-1 0,-4-1 0,-4-3 0,-8 2 0,4-1 0,-2 1 0,0-1 0,6-1 0,-2-4 0,5 4 0,4 1 0,-5 3 0,1-3 0,-8 1 0,-4 1 0,-1-1 0,0-1 0,0 4 0,-1-5 0,7 0 0,2-4 0,8 4 0,0 0 0,0-2 0,-3 0 0,-5-1 0,-4 3 0,1-3 0,-1 3 0,5-2 0,-5-2 0,7 4 0,0 0 0,6 0 0,0-1 0,-2-2 0,-3-3 0,-8-1 0,0 3 0,-6 0 0,2 0 0,-6-5 0,8 1 0,2 1 0,0-1 0,5 3 0,2 1 0,-7-8 0,4 8 0,-5-3 0,-4 3 0,-3 0 0,-1-1 0,2 1 0,1 0 0,4 0 0,2 0 0,-2 0 0,7-1 0,-1 0 0,5-4 0,-7 2 0,-2-4 0,-2 1 0,-3 1 0,0 1 0,-4-1 0,3-3 0,-2 3 0,9 1 0,8 3 0,-5-3 0,5 0 0,-2-1 0,-1 1 0,-1-1 0,0 2 0,-11 1 0,2 2 0,-8 0 0,4 0 0,3-5 0,7-1 0,1 0 0,1-1 0,-1 0 0,-3-3 0,0-2 0,-4-1 0,-3 1 0,-11 3 0,1-2 0,0 3 0,0 0 0,0-1 0,1-1 0,3-2 0,3 3 0,6 0 0,1 5 0,3-5 0,-1 6 0,3-2 0,0 2 0,-4 0 0,0-1 0,-3 1 0,-5 0 0,-3 0 0,-1-2 0,1 2 0,3 0 0,6-1 0,0-4 0,-1 1 0,3 0 0,2 3 0,2-1 0,1-3 0,-1 5 0,-7-1 0,0-2 0,-4 1 0,3 1 0,-2 2 0,2-1 0,3-3 0,2 0 0,1 0 0,4 0 0,-4 2 0,0 2 0,-4-2 0,-2-2 0,-1 1 0,-3 2 0,-1 0 0,-2 0 0,1-1 0,2-5 0,6 4 0,8-1 0,1 2 0,0 1 0,-6-6 0,0 0 0,-4 1 0,-3-1 0,-4-1 0,-1 2 0,-4-1 0,0 2 0,0-2 0,4-1 0,0 4 0,0 0 0,2-1 0,2-1 0,3-2 0,-2 3 0,-2-2 0,-2-1 0,-2-2 0,-2-1 0,-1 0 0,-6 0 0,-3 0 0,2 0 0,-2 0 0,-1 0 0,-2-2 0,-1-1 0,0-1 0,-4-1 0,-1 5 0,1-4 0,4-1 0,4 1 0,0 4 0,1 0 0,0 0 0,4 0 0,2 0 0,2-1 0,-2 1 0,-1 0 0,-1 0 0,-5-4 0,4-1 0,-5-5 0,1 2 0,-6 0 0,-3 0 0,2-3 0,2 0 0,-5-2 0,4 0 0,-4 4 0,6 2 0,0 0 0,0-1 0,0-2 0,0 3 0,0 0 0,0-1-273,0 1 0,0 3 0,-2-3 273,-2 1 0,-4-4 0,-5 2 0</inkml:trace>
  <inkml:trace contextRef="#ctx0" brushRef="#br0">29633 14507 7800,'-13'-13'2431,"5"2"0,1 3 0,1 8 0,4 9-959,5 7 0,0 10 0,6 8 0,1 3 0,1 2 0,4 1-1163,2 3 0,-3-3 0,3 3 0,-1-3-1283,1-1 1,-1-6-1,4-3 1,-1-4-1822,-3-4 1,-2-4 0,-1-6 2794,0-4 0,-6-2 0,-1-6 0</inkml:trace>
  <inkml:trace contextRef="#ctx0" brushRef="#br0">29608 14584 7770,'-6'-25'1797,"4"0"0,-1 4 1,6 3-291,6 4 0,4 7 0,4 1 0,6 2-393,6 0 0,4 1 0,7 7 1,3 5-249,4 2 0,3 6 315,2 1 0,-2 9-1026,-2-1 0,-10 4 0,-8-2 0,-4 4 0,-4 1 0,-7 3-155,-5 1 0,-7-3 0,-11 1 0,-4-6 0,-14 1 0,2-3 0,-10-1 0,-2-2 0,-1-2 0,-2 1-47,0-6 1,0 0-1,2-6 1,3-1-1,4-2 1,2-3 46,2-2 0,1-1 0,-1-2 0</inkml:trace>
  <inkml:trace contextRef="#ctx0" brushRef="#br0">14894 10480 7975,'-7'-31'1525,"-3"9"0,6 1 1,2 6-1,6 8 0,9 7 1897,7 7 1,8 5-2645,6 1 0,6 4 0,12 1 0,1 1 0,1 0 0,4-2 0,2 0 1,5-1-779,2-5 0,-30-4 0,1-2 0,-2-3 0,1 0 0,0 0 0,0 0 0,1-1 0,-1 0 0,33 2 0,-5 1 0,-11-1 0,-8-2 0,-6 1 0,-3 1 0,-2 1 0,-5-1 0,-3 3 0,-1-2 0,-2 4 0,-2-3 0,-3-1 0,-14-4 0,-5 0 0,-11 0 0,-11 0 0,-5-6 0,-6-2 0,-8-4 0,-8-1 0,-9 0 0,-3 1 0,25 5 0,-1 1 0,-4-1 0,0 1 0,-3-2 0,-1 0 0,-4 1 0,-1 1 0,0-2 0,0 0 0,2 4 0,1 0 0,0-1 0,-1 0 0,2 0 0,1 1 0,1 1 0,1 2 0,5 0 0,0 0 0,-23 3 0,9 2 0,18 3 0,12 6 0,12-4 0,7-2 0,6 0 0,9-1 0,8-1 0,10-2 0,14-1 0,12-2 0,4 0 0,14 0 0,-37-3 0,0 0 0,3-1 0,1-1 0,0 0 0,1-1 0,0-1 0,0 0 0,2-1 0,0 0 0,0-1 0,1 1 0,-2-1 0,0 0 0,-1 3 0,-1 1 0,-1 0 0,-1 0 0,32-4 0,-9 6 0,-7-1 0,-7 4 0,-5 4 0,-14 4 0,-9 5 0,-8-1 0,-7 1 0,-16-1 0,-6-4 0,-9 0 0,-9-6 0,-9 4 0,-8 0 0,-5 0 0,-2-3 0,-2 2 0,-8 0 0,3-1 0,-3-4 0,3 4 0,3 0 0,3-1 0,4-1 0,7-1 0,10 4 0,3 2 0,16 6 0</inkml:trace>
  <inkml:trace contextRef="#ctx0" brushRef="#br0">28949 17217 7738,'-20'-30'720,"2"0"0,0 1 0,3 2 0,3 1 0,6 0 0,5 1 1324,1-1 1,1 4-1,4 4 1,3 3 1269,4 8 0,1 4-3013,0 3 0,-1 12 0,1 5 0,-1 9 0,-2 7 1,-3 8-302,-1 8 0,-2 6 0,-4 9 0,0 5 0,0 0 0,-1-3 0,-2-3 0,-2-1 0,3 4 0,0-9 0,2-1 0,0-5-434,0-8 1,0-4 0,0-7-1,2-5 1,2-7 0,6-6-9398,6-5 8982,4-9 0,6-19 0,-1-8 0</inkml:trace>
  <inkml:trace contextRef="#ctx0" brushRef="#br0">29246 17204 7734,'-13'-7'9830,"0"-3"-5215,0 6 1,6 7-3678,3 10 0,3 5-938,1 8 0,5 6 0,5 2 0,5 2 0,3 0 0,2-2 0,3 2 0,2-6 0,0-3 0,1-5 0,0-3 0,0-4 0,0-6 0,-5-3 0,1-6 0,-6-8 0,1-4 0,-3-10 0,-1-7 0,0-6 0,0-7 0,-5 0 0,1-5 0,0 1 0,4-1 0,-5 2 0,-1 8 0,-1 4 0,-3 7 0,-2 8 0,-1 12 0,0 10 0,0 15 0,0 15 0,0 9 0,-1 7 0,-2 8 0,-1 6 0,-1 5 0,5 0 0,0-9 0,0 1 0,0-7 0,0-5 0,2-5 0,2-5 0,-1-9 0,6 0 0,-5-8-396,5-5 1,-7-3-1,4-1 1,0-1-5688,2-4 6083,4-8 0,7-13 0,1-7 0</inkml:trace>
  <inkml:trace contextRef="#ctx0" brushRef="#br0">29930 17398 7734,'-4'-13'3786,"-2"2"-510,-1 2 1,4 5 0,-1 9-709,2 8 0,8 6-1870,3 7 0,2 0-567,2-1 1,6 1-1,1 0 1,1 0-1,1-2 1,2-2-132,5-5 0,-2-4 0,3-5 0,-2-3 0,-3-10 0,1-3 0,-1-9 0,-4-6 0,-4-7 0,-2-9 0,-3-7 0,1-4 0,0-2 0,-1 1 0,-4-1 0,2 6 0,-5 4 0,-2 8 0,-2 8 0,-2 15 0,-4 15 0,2 10 0,-5 16 0,3 11 0,-2 10 0,0 8 0,1 6 0,1 1 0,2-2 0,-3 3 0,2-6 0,-1-4 0,5-1 0,0 0 0,0-4 0,2-8 0,1-5 0,1-6 0,-1-2 0,3-1 0,-2-4 0,0-10-2154,-4-3 2154,0-9 0,-5-10 0,-3-8 0</inkml:trace>
  <inkml:trace contextRef="#ctx0" brushRef="#br0">7783 13449 8132,'11'-18'116,"-1"1"1,-1 1 0,-1 2 0,1 3 0,-2 1 0,0 1 751,0-1 1,-4-2-1,3 0-443,0-1 0,-5 0 0,4-2 0,-4 0 1,-1-3-1,-1 1 330,-4-1 1,-2-3 0,-7-4 0,-2 0 367,-1 4 1,-6-2-298,1 6 1,-6 1-326,-3 7 1,-4-1 0,0 6 0,-2 4-1,-2 8 1,0 17 965,1 15 1,-5 16-1015,21-19 1,1 3-1,-1 6 1,1 2-509,0 8 0,3 4 1,1 1-1,1 3 0,1 2 1,3 2-1,2 1 1,3 0-1,4-2 0,4-1 1,4-2-1,4-3 55,4-4 0,3-2 0,3-8 0,4-2 0,-1-7 0,3-3 0,25 18 0,2-14 0,-5-12 0,2-16 0,4-3 0,6-8 0,5-10 0,5-11 0,-34 8 0,0-2 0,3-6 0,-2-1 0,-3-2 0,-2-1 0,-2-4 0,-2-2 0,13-29 0,-23 25 0,-4-1 0,7-33 0,-7 1 0,-4 0-188,-5 2 0,-2 9 188,-2 5 0,-10 11 0,-3 6 0,-5 5 0,1-1 0,-3 2 0,-1 6 0,-1 4-4089,-1 8 0,3 4 1099,-1 7 0,3 1 1417,-3 3 1730,5 4 1,-2 16 0,5 3-1</inkml:trace>
  <inkml:trace contextRef="#ctx0" brushRef="#br0">7912 13874 8045,'0'13'1746,"0"-4"218,0 0 0,1-1-345,3 5 0,5 4 0,8 2 0,5 0 0,2 1 0,3-2 1000,3 1 0,-2 2-2716,2-3 0,1-3-913,0-6 1,3 1 0,-4-6 0,0-1-1,0-1 1,0-4 1009,-1-2 0,4-15 0,0-8 0</inkml:trace>
  <inkml:trace contextRef="#ctx0" brushRef="#br0">8247 12881 8109,'-13'0'3276,"6"1"1,6 6 0,8 11-1227,10 10 1,9 9 0,7 5 0,6 3-787,1 0 1,4-4-1265,-1-3 0,-1-6 0,-8-11 0,2-2 0,-6-8 0,-1-2 0,-3-5 0,-5-2-2458,-4-2 0,-2-6 1,-2-4-1,0-6-2849,0-5 5307,-1-9 0,-4-15 0,-3-8 0</inkml:trace>
  <inkml:trace contextRef="#ctx0" brushRef="#br0">8660 12571 8012,'-17'14'537,"0"5"1,1 7 1302,2 7 1,5 13-1,2 10 1,0 12-834,3-29 0,1 1 0,1 2 1,1-1-1268,-1 3 0,-1-2 0,2-2 0,1-2-483,0 31 0,0-3 1,0-3-1,0-4 1,0-9-1,0-10 743,0-9 0,0-3 0,0-2 0</inkml:trace>
  <inkml:trace contextRef="#ctx0" brushRef="#br0">8299 13436 7939,'-6'-13'745,"-1"0"0,0 0 696,3 0 1,4 0 0,4 0 0,6 0 571,6 0 0,9-1-395,10-3 1,-2 1-1547,1-5 1,1 3-1,3-3 1,1-2-1,-2-1 1,-2-2-402,-5 0 0,-3 0-1653,-1 0 1,1 0 619,3 1 1362,-2-1 0,3-6 0,-5-1 0</inkml:trace>
  <inkml:trace contextRef="#ctx0" brushRef="#br0">9125 13384 7866,'-20'0'3551,"1"1"-887,6 4 1,13-4 0,7 4-2105,8-4 1,8-2-1180,-2-4 0,2-6-957,-1-6 0,2-5 1,-2 3-1,1 1 1576,-2-1 0,3-4 0,-4 3 0</inkml:trace>
  <inkml:trace contextRef="#ctx0" brushRef="#br0">9293 13797 7946,'-2'13'0,"-1"0"0,-1 0 2457,1 0 1,2 0-1,1-1 1,1 0 1873,4-3 1,6 1-3216,6-6 0,8-1-2135,0-8 1,4-2 0,7-6-1,1 0 1,0 1 1018,5-1 0,-3-6 0,5-1 0</inkml:trace>
  <inkml:trace contextRef="#ctx0" brushRef="#br0">10145 13023 7957,'-39'-6'1789,"6"-3"0,4-5 0,8 0 0,9 4 1883,11 2 1,12 0-3279,11 4 0,9-11 0,9-1 0,8-5 1,3-6-1,0-2 0,-1-1 0,1-2 218,5-1 0,3-1 0,-27 15 0,-1 1 0,29-17-612,-4 5 0,-4 9 0,-5 3 0,-5 10 0,-12 3 0,-6 16 0,-11 7 0,-1 9 0,-2 11 0,-3 8 0,-1 9 0,-2 13 0,-4 5 0,0-33 0,0 2 0,0 1 0,0 0 0,-2 1 0,0-1 0,-1 0 0,0-1 0,0-4 0,0 0 0,-3 29 0,4-6 0,0-4 0,4-3 0,2-6 0,3-10-715,6-7 0,-3-10 1,2-4-1,2-4 1,0-4 714,1-5 0,-3-14 0,1-4 0</inkml:trace>
  <inkml:trace contextRef="#ctx0" brushRef="#br0">10570 13461 7956,'-17'-5'4915,"0"-2"0,3-2-2984,4 0 0,4 1 0,7-7 1,6 0-365,11-3 1,9-9-1556,16 1 1,7-14-741,6-3 0,-26 21 0,0 0 0,-1-2 0,-2 0 0,28-23 0,-2 1 0,0 3 728,3 3 0,3 1 0,-27 20 0,0 0 0</inkml:trace>
  <inkml:trace contextRef="#ctx0" brushRef="#br0">11371 12700 7854,'-6'-23'673,"-1"-3"0,0-1 1469,2 0 1,15 5 0,7 2 0,6 2-1130,3 2 0,4 3 369,0 4 1,1 3-835,-6 6 0,6 2 1,-1 2-1,-3 6 1,-3 6-1,-5 7 156,-5 6 1,1 9 0,-11 11 0,-3 4-705,-4 3 0,-5 6 0,-9-2 0,1 2 0,-6-2 0,7 2 0,-3-6 0,5-3 0,5-6 0,4-8 0,2-8 0,8-5 0,2-5 0,15-3 0,8-10 0,10-3 0,8-10 0,4-5 0,3-6 0,0-6-1067,1-7 0,-4-6 92,3-8 1,-25 21 0,1-1 700,0-3 0,1 0 1,3-5-1,1-1 1,-1-1-1,0 0 1</inkml:trace>
  <inkml:trace contextRef="#ctx0" brushRef="#br0">19218 13113 7935,'0'-17'988,"3"1"1,4 5 0,7 5-1,6 3 3235,7-1 1,6 2-3885,10-2 1,8 1 0,6-1-1,0-3 1,1-2 0,-5 2 0,-6 0-1,-8-1 2007,-8-2-1931,2 5 1,-11-5 0,-1 4-1,-5-1 1,-4-3 181,-4-2 0,-2 4-597,-6-1 0,-7 5 0,-6-5 0,-1 1 0,-8-4 0,-2 2 0,-4 3 0,-3 0 0,-2-1 0,-6 6 0,-4-3 0,-10 4 0,2 1 0,-10 7 0,1 6 0,-2 7 0,4 4 0,6 2 0,8 0 0,8 4 0,1 0 0,14-1-149,4-8 0,9-2 0,13-7 0,5-4 0,7-4 149,9-2 0,5-2 0,8 0 0</inkml:trace>
  <inkml:trace contextRef="#ctx0" brushRef="#br0">17811 12919 7924,'-32'-18'954,"-1"1"1,-5-2 0,-1 7 0,-1 5 0,-3 6 2761,-4 4 1,-4 4-2885,0 6 0,-2 5 0,-3 4 0,-3 4 0,2 2 1,5 3-1,9-3 0,10-1-362,11-1 1,9 3 0,16-2 0,6-2-471,8-1 0,18 0 0,8 2 0,11 0 0,6 0 0,3 0 0,1-1 0,-3 3 0,-2 2 0,-2 3 0,-2 0 0,-8 4 0,-4-3 0,-4 4 0,-5 0 0,-4 4 0,-9-2 0,-9-3 0,-9-1 0,-8-4 0,-8-6 0,-10-2 0,-3-7 0,0-5 0,-4-8 0,3-3 0,1-2 0,0-5 0,2-7 0,2-7 0,5-4 0,3-8 0,1-2 0,1-5 0,4-4 0,2-4 0,6-9 0,3-4 0,4-3 0,7 0 0,5 2 0,10-2-318,9 3 1,-17 28 0,0 1-451,4-2 0,2 1 0,-3 3 0,2 1 1,3 2-1,1 2 768,27-16 0,-25 19 0,0 0 0,29-13 0,-4 2 0,-2 3 0</inkml:trace>
  <inkml:trace contextRef="#ctx0" brushRef="#br0">20199 12829 7861,'1'-7'4915,"3"4"0,5 7-902,2 9 1,8 0-3975,3 4 0,3-2 0,4-2 1,3-2-1,2-2 0,5-5 1,4-3-1,3-1-6981,2 0 5685,-3 0 966,5-5 0,-4-8 1,6-7-1</inkml:trace>
  <inkml:trace contextRef="#ctx0" brushRef="#br0">21270 12894 7861,'6'-8'2415,"-3"-2"1,5 6 0,2 1-736,2 2 1,1-4-1,-1 1 1,3 1-723,2 2 1,-1 1-1922,5 0 1,5 0-3599,4 0 4561,12 0 0,-2 0 0,12 0 0</inkml:trace>
  <inkml:trace contextRef="#ctx0" brushRef="#br0">22380 13023 7844,'20'0'1110,"4"0"0,-2 1 1,2 2 643,2 1 1,1 2 0,3-3 0,8 1-1338,8-1 0,2-2-5377,13-1 4513,-1 6 0,4 1 1,1 6-1</inkml:trace>
  <inkml:trace contextRef="#ctx0" brushRef="#br0">23516 13178 7756,'13'-13'1178,"-1"1"1,1 2 0,2 3 2454,2 1 1,-1-2-2723,5 3 1,2 1-3509,7 4 1,3 0 2596,6 0 0,0 0 0,-1 0 0</inkml:trace>
  <inkml:trace contextRef="#ctx0" brushRef="#br0">24058 13294 10258,'-7'1'2457,"1"2"1,2 3-1,-1 2 1,2 7 1631,2 5 1,1 10-4552,0 4 0,6 9 1,1 5-1,1 2 1,1 1-1,3 1 1,2-2-1,3-2 462,-1-5 0,4-9 0,0-2 0</inkml:trace>
  <inkml:trace contextRef="#ctx0" brushRef="#br0">24238 14275 7748,'-5'30'558,"-4"0"1,-1 0 1321,1 1 1,-1 1-1,6 2 1,1-3-705,2-4 0,1 0-2765,0 3 1,4-4 1588,0 0 0,6 0 0,-2-6 0</inkml:trace>
  <inkml:trace contextRef="#ctx0" brushRef="#br0">24329 15075 7748,'-19'26'0,"5"1"3505,-3 3 1,2 3-2957,2 6 0,6-6 1,3-3-1,4-4 1,4-5-550,5-4 0,8-2 0,3-2 0</inkml:trace>
  <inkml:trace contextRef="#ctx0" brushRef="#br0">24445 15565 7745,'-20'26'5202,"0"1"-3374,3 3 0,2 2-431,-2 2 0,8 2 0,5-4 0,3-1 0,1 1 0,1-5-2088,3-4 0,5-4 1,8-6 690,5 0 0,8-1 0,3 1 0</inkml:trace>
  <inkml:trace contextRef="#ctx0" brushRef="#br0">23593 17166 7927,'-20'0'956,"0"-6"0,4-1 0,-1-2 0,1 1 2038,2-3 0,2 0-2276,4-2 0,3 0 0,10 2 0,5 1 0,6 1 1,5-1-1,5-1 0,4-4 312,4-2 0,8 3 0,2-4 1,2 4-765,3 1 1,1 2-1,1 1 1,-6 3-267,-6 1 0,-6 2 0,-7 4 0,-5 7 0,1 6 0,-12 7 0,-1 10 0,-8 6 0,-5 7 0,-6 8 0,-6 8 0,0 4 0,-4 3 0,1 2 0,4 0 0,0 1 0,4-6 0,2-4 0,5-7 0,2-3 0,4-9 0,1-4-1516,1-4 0,10-1 1,-1-7-1,0-3 1516,-3-3 0,7-10 0,-2-2 0</inkml:trace>
  <inkml:trace contextRef="#ctx0" brushRef="#br0">23696 17721 7830,'-13'0'1668,"1"0"1,-1 0 4503,0 0-4787,6 0 1,2-5-929,10 1 1,9-6-1,12 0 1,8-4 0,9-5-1,7-1-2532,5-3 0,5 3 0,-4 0 2075,-2 1 0,5-10 0,0 2 0</inkml:trace>
  <inkml:trace contextRef="#ctx0" brushRef="#br0">24342 17256 7830,'-12'-6'2411,"4"-2"-835,3-4 0,5 4 0,5 0 0,6 3-775,9 2 0,3-3 1,13 2-1,3-1 127,2 0 0,1 3 0,-6-2 0,-3 3-105,-2 1 0,-1 5 0,-7 4 0,-4 2-344,-6 2 0,-5 7 0,1 6 1,-6 7-480,-6 4 0,-4 4 0,-7 2 0,-4 4 0,-3 3 0,1 0 0,-2-2 0,6-8 0,-1-6 0,4-5 0,5 1 0,3-4 0,5-6 0,6-6 0,7-4 0,6-7 0,7 1 0,5-2 0,3-2 0,8-6 0,3-1 0,0-3 0,4 0 0,0-2-1291,-2 2 0,-2 0 0,-7-3 0,0 2 1291,-4 2 0,-2-8 0,-7 3 0</inkml:trace>
  <inkml:trace contextRef="#ctx0" brushRef="#br0">20754 14313 8274,'-13'-35'793,"0"0"0,-12-34 0,4 9 0,5 20 0,6 24 0,6 26 5966,2 22-6481,8 14 1,-2-9 0,1 3-1,2 4 1,2 1 0,0 6-1,0 3 1,1 5 0,0 2 0,1 3-1,0 1 1,0 2 0,-1-1-1,0 0 1,0-1 0,0-2-1,0 0-182,1-2 0,-2-1 0,-1-9 0,-1-2-77,-1-3 0,1-2 0,4 19 291,-6-15 0,-1-18 0,-6-14 0,-2-6 0,-5-6 1,-1-4-25,2-4 1,-4-5-287,4-8 0,-4-6 0,-1-11 0,2-15 0,2-23 0,7 29 0,0-3 0,1-7 0,1-1 0,-1-7 0,2 0 0,-2-5 0,2-2 0,3-1 0,3-1-364,1-1 0,1 0 0,5 1 0,1 0 364,1 1 0,2 0 0,3 1 0,1 3 0,2 7 0,1 4 0,0 10 0,3 5 0,-1 10 0,1 6 0,22-3 0,-6 16 0,-4 13 0,-1 6 0,-7 8 0,-6 4 0,-6 9 0,-7 6 0,-2 6 0,-2 5 0,-5 5 0,-3 4 0,-11-2 0,-3 7 0,-7-7 130,3 2 1,-6-4-1,3-5 1,0-6 0,1-2-1,2-3-130,0 0 0,5-2 0,8-8 0,3 0 0,1 0 0,1 4 0,5 0 0,5-3 0,7-2 0,2-4 970,3 2 1,1-4-971,2-2 0,0-4 0,-1-5 0,-3-2 0,-2-6 0,0 0 0,-1-1 0,1-4 0,0-3 0,-3-8 0,5-1 0,-1-5 0,5 5 0,-5-4 0,1 2 0,1-1 0,1-4 0,2-4 0,0-2 0,-2-1 0,-2 0 0,1 1 0,-6-8 0,0 2 0,-5-6 0,-4 5 0,-3 4 0,-4 1 0,-1 4 0,-3 8 0,-5 7 0,-1 6 0,-8 7 0,-2 5 0,0 7 0,1 8 0,-2 10 0,1 7 0,0 6 0,8 3 0,7 6 0,2-2 0,2-3 0,7-2 0,6-7 0,9 0 0,5-5 0,5-7 0,1-8 0,1-9 0,5-5 0,-1-10 0,1-7 0,-10-5 0,-3-9 0,-3-4 0,-3-3 0,3-5 0,-6-4 0,0 3 0,-5-1 0,-2 3 0,-3 7 0,-2 2 0,-2 5 0,4 12 0,-5 1 0,11 22 0,-2 8 0,7 8 0,2 8 0,1 3 0,5 5 0,5-3 0,2 2 0,2-6 0,-1-7 0,1-7 0,-2-4 0,-2-10 0,-5-3 0,-4-11 0,-1-7 0,-5-13 0,0-11 0,-5-8 0,-2-5 0,-1-6 0,-1-1 0,-1-5 0,-6 6 0,0 0 0,0 5 0,-4 9 0,0 5 0,1 4 0,1 6-9810,2 4 7386,0 4 0,0 13 2424,0 6 0,0 6 0,0 7 0</inkml:trace>
  <inkml:trace contextRef="#ctx0" brushRef="#br0">20870 13190 8492,'-58'-25'496,"-3"6"1,25 12 0,-1 4 0,-4 3 0,0 4 0,-3 5 0,0 4 0,0 3 0,0 4 755,0 2 0,1 2 0,3 1 0,2 1-1240,0 1 1,2 2-1,2 1 1,1 0 0,-2 4-1,0 0 1,1 0 0,0 1-1,2-2 1,1 1-1,3-1 1,2 1 0,3-1-1,3-1 1,-12 30-2200,11-8 1,11-4 1777,5 2 1,15-6 0,5-2-1</inkml:trace>
  <inkml:trace contextRef="#ctx0" brushRef="#br0">21412 13126 8159,'19'-45'0,"-1"0"0,0 3 0,0 3 0,14-24 3033,-5 19-2374,-10 12 0,-11 26 0,-9 6 1,-6 10-1,-8 11 0,-9 13-524,-8 15 1,14-20 0,0 3 0,-7 9 0,-1 2 0,-1 0 0,-1 1-203,-1 0 0,-2 1 0,-1 2 0,-1-1-721,1-3 1,-1 0 0,2 3 0,-1 1 656,-3 1 1,1-1-1,3-1 1,1 0 0,2-5-1,1-2 1,6-4-1,3-1 1,-7 23 0,14-9-3974,12-10 4104,18-5 0,9-5 0,8-7 0,-2-5 0</inkml:trace>
  <inkml:trace contextRef="#ctx0" brushRef="#br0">22341 13216 8329,'-26'0'771,"-1"0"0,-6 2 0,-8 3 214,-10 8 0,-9 17 0,30-9 0,0 3 0,-2 2 0,1 2-327,-2 4 1,1 1 0,0 5 0,1 3-865,0 2 1,2 0-1,3-3 1,2 0-337,3-5 1,3-1-1,-8 26 1,13-4 0,10-6-1,13-7 542,16-8 0,23-12 0,17-5 0</inkml:trace>
  <inkml:trace contextRef="#ctx0" brushRef="#br0">23154 13216 8293,'-18'-11'1794,"-4"2"1,-2 6 401,-2 6 1,-3 16 0,-5 12 0,-9 12-1387,19-16 0,-1 2 0,-3 5 0,-1 3-781,-2 5 1,1 2 0,2 0 0,1 1-804,0 0 1,2 0-1,4-3 1,3 1-1,5-4 1,2 0-1,-2 32 1,13-13-1,13-9 774,11-10 0,19-12 0,10-8 0</inkml:trace>
  <inkml:trace contextRef="#ctx0" brushRef="#br0">23632 13565 8133,'-15'0'3379,"-2"0"0,0 3-1910,-9 5 1,-8 12-977,-14 15 1,17-11 0,-2 2-114,-5 3 1,-1 2 0,-3 6-1,0 4 1,-4 5 0,1 2-1,2 3 1,4 1 0,4 1-1,2 1 1,6-4 0,3 0-1137,4-3 0,4-1 0,2-3 0,4-1-1537,1 27 0,12-12-3283,14-14 5576,9-9 0,18-8 0,2-7 0</inkml:trace>
  <inkml:trace contextRef="#ctx0" brushRef="#br0">23903 14352 8133,'20'-4'1327,"-3"-1"1,-4 3 85,-4 6 0,-6 4-642,-12 10 1,-13 7-160,-16 10 1,-13 14-1,21-21 1,-1 1-1,-3 4 1,0 1-1,-2 5 1,-1 1-1,-1 3 1,0 2-336,-1 1 0,1 1 0,-1 2 0,0 1-1398,0-3 1,1 1-1,4 0 1,2 1 259,1-4 0,2 0 0,6 0 0,4-1 1,4-6-1,1-3 0,-1 29 861,9-8 0,3-12 0,7-5 0,11-8 0,6-4 0</inkml:trace>
  <inkml:trace contextRef="#ctx0" brushRef="#br0">23890 15333 10441,'-6'-13'1039,"-2"6"642,-10 3 0,-5 4-901,-11 4 1,-12 10 0,-14 13-1,28-8 1,-1 1 0,-2 4 0,0 2-1,-3 4 1,0 1 545,-2 2 1,0 1 0,-3 3-1,1 2-1965,3 2 1,1 0 0,3-3 0,2 0-149,6-4 0,3 1 0,2-3 0,4 0 0,-10 28 0,10-7 0,9-8 0,6-12 871,3-9 0,12-11 1,2-7-1</inkml:trace>
  <inkml:trace contextRef="#ctx0" brushRef="#br0">23103 15436 8047,'-55'-6'603,"1"-1"1,-5 5 0,-1 3-1,-5 3 1,-1 5 0,-2 6-1,0 6 290,0 4 1,1 4-1,21-8 1,-1 2 0,1 0-1,0 4 1,1 1 0,0 1-1,1 0 1,0 0 0,3 2-1072,-16 14 0,3 3 1,6-2-1,3 1-482,7-3 0,3-2 1,2-5-1,1-1-161,4-3 1,0-1-1,-13 22 1,8-1-1,9-5 1,8-7-1,6-8 821,5-10 0,10-1 0,2-2 0</inkml:trace>
  <inkml:trace contextRef="#ctx0" brushRef="#br0">21760 15591 8145,'-53'-6'606,"0"1"1,3 1 0,0 2 0,2 3-1,1 4 372,2 3 1,1 4 0,-1 5 0,0 4-1,-4 5 1,0 3 0,-2 2 0,1 2-848,-1 2 0,1 1 0,4 0 0,2 1-15,4 1 1,2 1 0,3-1 0,0 0-582,5-1 0,0-1 0,-1 0 0,0-1 0,4-2 0,0 0 0,1-1 0,2 2 0,2-2 0,2 0 0,-12 23-5786,11-14 6251,11-11 0,10-17 0,7 0 0</inkml:trace>
  <inkml:trace contextRef="#ctx0" brushRef="#br0">20586 15991 8145,'-65'-26'2897,"2"8"-2099,3 5 0,1 8-266,3 14 1,0 5 0,-7 14-1,-3 2 1,33-13 0,0 0 0,1 2-1,0 0-90,-28 19 1,9 1-1190,13 0 1,12-2-589,13-3 0,9-14 1,14-11-1,13-9 1335,12-9 0,10-22 0,7-16 0</inkml:trace>
  <inkml:trace contextRef="#ctx0" brushRef="#br0">20289 15591 8160,'-32'-20'1868,"-2"-3"-1249,-9 6 0,-10 5-25,-12 8 1,-8 4 0,35 2 0,-1 2 0,-33 9 0,8 7 0,6 4 170,7 2 1,19-2-1463,6-2-53,9-4 1,13-10 0,10-7-1,14-11 750,11-16 0,18-17 0,-23 14 0,1-1 0</inkml:trace>
  <inkml:trace contextRef="#ctx0" brushRef="#br0">20328 14907 8160,'-20'-20'883,"-6"4"1,-9 8 1484,-6 8 0,-11 11-1712,-8 11 0,25-8 0,0 0-367,-4 1 1,0 0 0,3 3 0,1 0 0,-1-1 0,1-1 0,-22 19-1,14-2 1,13-2-142,11-2 0,8-12-1735,11-4 0,7-9 731,6 1 0,11-11 1,12-9-1,6-9 1,8-12-1,-21 15 0,1-2-158,4-2 1,0-2 0,3-3 0,1 0 965,1 0 0,-1 0 1,-4 0-1,-2-1 15,-1 3 1,-1 1 0,18-28 0,-6 12-1,-6 1 1,-7 4 0,-8 3 506,-8 5 0,-7 10-372,-11 7 0,-2 6-102,-6 7 0,0 17 0,0 5 0</inkml:trace>
  <inkml:trace contextRef="#ctx0" brushRef="#br0">20805 11332 7886,'-13'-4'1638,"0"1"0,2 7 1,2 12-1,5 12 0,3 8 1,2 2 818,3-4 1,2 2-1,6-6 1,-1-1-2233,3-2 0,2-7 0,-3-4 0,0-6 0,0-6-225,0-2 0,-5-10 0,0-5 0,-3-7 0,-2-4 0,-3-6 0,-4-2 0,-6 1 0,-6-1 0,-4-2 0,-6 4 0,-5 1 0,-4 8 0,-3 3 0,-7 13 0,-5 12 0,-6 19 0,-1 18 0,27-17 0,2 3 0,3 4 0,1 1 0,4 1 0,2 1 0,1 4 0,2 2 0,3 2 0,3 0 0,1-3 0,3 1 0,2-1 0,1-1 0,2 30 0,6-13 0,7-11 0,7-8 0,10-15 0,5-2 0,5-4-409,7-5 0,8 2 1,12-11-1,2-1 0,-2-3 1,-1-6-2869,-1-7 0,-30 4 0,2-2 2748,1-3 0,1-2 0,0-3 0,-1-1 0,4-3 0,0 0 1</inkml:trace>
  <inkml:trace contextRef="#ctx0" brushRef="#br0">21515 11732 7886,'-17'-13'1487,"0"0"1,0 2 903,-2 2 1,5 3 0,-4 6 0,4 0 1120,1 0 0,0 2-2903,0 2 1,-4-1-610,0 6 0,-2-2 0,3 3 0,-1-2 0,0 2 0,1 2 0,3 1 0,-2-5 0,6 1 0,3 0 0,2 4 0,4-5 0,4-1 0,6 0 0,6-1 0,7 1 0,6 1 0,4-4 0,5 4 0,7-2 0,2 7 0,-2-3 0,-1 9 0,-2-2 0,-1 2 0,-2 1 0,-2 3 0,-10 2 0,-14 6 0,-5-3 0,-8 7 0,-9-1 0,-8 3 0,-13-1 0,-11-3 0,-6-1 0,-3-4 0,0 3 0,2-6 0,5 3 0,9-11 0,-2-6 0,6-6 0,1-4 0,4-2 0,4-4 0,9-3 0,4 1-4590,8-2 1,3 0 4589,6-4 0,11-5 0,13-2 0</inkml:trace>
  <inkml:trace contextRef="#ctx0" brushRef="#br0">22096 12132 7815,'-22'-13'9830,"1"2"-475,2 2-9923,9 3 1,6 6-1,8 2 1,5 1 567,2 1 0,2 0 0,0-4 0</inkml:trace>
  <inkml:trace contextRef="#ctx0" brushRef="#br0">21902 11590 7805,'-20'0'962,"3"0"1,3 0-1,1 0 1,-2 0-1,-2 0 1,-4 0 1494,-4 0 1,0 0-1,-3 1 1,0 2-1582,-2 2 1,-5-1 0,4-3 0,-2 2 0,0 3 0,2 1-1149,6 3 1,3-3-1769,1 2 0,3 4-4267,10 4 6307,2 6 0,6-9 0,0 5 0</inkml:trace>
  <inkml:trace contextRef="#ctx0" brushRef="#br0">25878 15114 7935,'-39'25'919,"2"1"1,4 1-1,5 2 1,8 0 0,4-5 1537,5-5 1,7-12-1,1-10 1,7-16-248,9-18 1,9-23-2094,-6 18 1,2-2 0,2-5 0,3-3 0,6-11 0,4-3 0,-9 18 0,2-3 0,1 0 0,4-8 0,1-2 0,1-1 0,-4 9 0,0-2 0,1 0 0,0-2-326,2-5 1,1-1-1,1-1 1,0-1 0,-5 12-1,0 0 1,0-1-1,0 0 1,1 0 0,2-2-1,0-1 1,0 0 0,0 0-1,1 0 1,0 2-1,-1 0 1,1 1 0,1 0-1,-1 0 208,0 1 0,-1 1 0,1 0 0,0 0 0,1 1 0,7-10 0,1 1 0,1 1 0,0 1 0,-1 4 0,0 2 0,1 0 0,-1 1 0,-1 2 0,0 1 0,1 1 0,-1 2 0,-1 2 0,0 2 0,1 1 0,-1 0 0,12-11 0,0 0 0,0 3 0,1 2 0,0 2 0,0 0 0,-2 3 0,-1 0 0,0 1 20,-2 2 0,-1 0 0,0 2 0,-4 5 1,1 1-1,-1 1 0,1 2 0,-1 0 0,-1 1 1,16-11-1,-2 2 0,-5 3 0,0 1 0,-4 2 1,0 2-21,0 2 0,-2 1 0,-9 7 0,-2 1 0,22-5 0,-14 11 0,-24 5 0,-6 11 0,-12 7 0,-13 10-3604,-11 10 0,-17 14 3081,14-15 1,-2 1-1,-2 0 1,-3 0 522,-7 3 0,0 1 0,-1 2 0,-1 1 0,-2 2 0,0 0 0</inkml:trace>
  <inkml:trace contextRef="#ctx0" brushRef="#br0">25968 14184 8015,'-33'0'1145,"-3"7"1,7 6 0,5 10 3288,5 10 1,6 13-3676,5 14 0,2-21 0,2 3 0,1 3 0,1 1 0,1 5 0,0 2 0,-1 2 0,1 2 1,-1-1-1,1 1-1191,-1-1 1,0 0 0,-1-3-1,1-2 432,2-5 0,0-1 0,0-6 0,0-2 0,2 16 0,2-9 0,5-11 0,2-8 270,2-8 0,1-9-270,4-3 0,2-5 47,5-5 0,3-7 0,3-11 1,8-6-1,7-7 0,5-7-47,-23 18 0,0-2 0,1 0 0,-2-2 0,2-1 0,-2 0 0,22-21 0,-15 8 0,2 4 0,-6 4 0,-1 5 0,-2 3 0,1 3 0,2 2 0,3-1-5068,5 6 5068,7 0 0,-4 3 0,10-4 0,6-3 0,8-4 0</inkml:trace>
  <inkml:trace contextRef="#ctx0" brushRef="#br0">28020 10080 7825,'-13'-20'2778,"0"-3"0,2 6 0,2 5-916,5 11 0,8 7 0,5 18 0,4 6-1088,4 6 0,-1 4 0,5 9 1,2-3-1,1 0 0,2-2-670,0 1 1,1-2 0,2-6 0,3-4-105,1-7 0,-5-8 0,2-9 0,-4-5 0,-4-2 0,1-10 0,-6-6 0,-1-10 0,-2-9 0,-1-15 0,0-3 0,-2-14 0,-2 1 0,1-5 0,-6 0 0,-1-3 0,-2 1 0,-1 6-1553,0 9 0,0 3 1,-1 2-1,-2 2 1,-1 6-1,1 8-2146,2 7 1,1 8 1582,0 2 1,4 8 1892,0 2 0,8 6 0,-1 2 0,5 7 0,0 8 0,-2 5 556,-1 6 0,4 12 1275,0 1 0,5 13-972,-5-1 1,6 5-1,-2-1 1,2 1-1,0-3 1,-1-3 1836,1-3 1,0-2-990,-2-2 1,-2-2 4,-6-11 1,-5-5 0,0-11-392,-3-8 0,4-9-1098,-5-14 0,1-5 0,-5-8 0,1 0 0,2-7 0,1-5 0,-1-2 0,-2-5 0,-1-1 0,2-6 0,2 0 0,-2 0 0,2 4 0,-3 12 0,1 9 0,2 11 0,3 10 0,6 14 0,0 13 0,0 12 0,0 5 0,0 8 0,0 1 0,0 1 0,0-1 0,-1-4 0,1 0-258,0-1 1,-1-3 0,-2-2 0,-2-2 0,2-3 0,2-4-4177,1-2 1,1-7 4433,3 3 0,3-10 0,6-2 0</inkml:trace>
  <inkml:trace contextRef="#ctx0" brushRef="#br0">29582 9344 7825,'-6'-18'2226,"3"3"1,-5-2 1049,-3 3 1,-6 7 0,-3 2-131,0 4 1,1 12-3012,7 7 0,-6 4-135,1 4 0,1 2 0,8 0 0,3 4 0,4-1 0,1 1 0,0-3 0,6 2 0,2-1 0,10 0 0,3-4 0,3-1 0,2-3 0,0-1 0,0-1 0,-2-2 0,-2 1 0,1 4 0,-6-2 0,-6-1 0,-6 2 0,-4-2 0,-1 3 0,-1-2 0,-5 2 0,-5 0 0,-5-1 0,-12 1 0,3-6 0,-4 0-1913,3-4 1,0-1 1912,1-4 0,-1-2 0,0-6 0</inkml:trace>
  <inkml:trace contextRef="#ctx0" brushRef="#br0">29620 9848 7825,'21'-20'1368,"-3"1"-1061,-5 6 1,6-1 636,2-4 0,4 3 0,2-7 1,3-1-1,4-1 0,5-3 1351,4-3 1,-3 1-1294,3-6 1,-10 7-578,-7-2 1,-6 2-1,-8 4 1,-4 1-1,-3 3 1,-5 0 858,-5 0 0,-6 4-544,-6-1 1,-2 4-741,2 4 0,-2 4 0,-4 5 0,3 1 0,1 3 0,2 5 0,4 8 0,0 0 0,2 8 0,1 2 0,3 2 0,1 1 0,3 0 0,3 4 0,4-4 0,4 2 0,4-2 0,6-3 0,0 3 0,4-2 0,5-2 0,6-2 0,4-3 0,3-3 0,4-10 0,-9-2 0,4-6 0,-3 0 0,1 0 0,-4 0 0,-7 0 0,-7 0 0,-5 0 0,-5-4 0,-1-1 0,-5 0 0,1 0 0,-2 2 0,-2-5 0,0-2 0,-2-3 0,0-3 0,-3-1 0,-3-6 0,3 1 0,-3-3 0,3-5 0,-3-3 0,2-6 0,0 0 0,1-1 0,2-2 0,1-1 0,2 0 0,0 5 0,6 5 0,3 2 0,2 6 0,2 3 0,0 6 0,0 6 0,0 7-3729,0 6 0,4 5 1703,0 4 0,5 1 633,-5 0 1,6-1-1,-2-2 1,2-3-1,-1-1 1,-5-3-1513,-3-2 2973,-1-1 1,-1 6 758,-4 2 0,2 4 0,-5 1 0,-1 1 0,2 3 0,1 5 3158,0 2 0,4 6-1612,-2 0 0,4 2-1607,4-2 1,-1-1 0,5 4 0,2-3 0,2-4 0,1-5-590,-1-2 0,1-3-177,0-8 0,0-4 0,0-8 0,-5-4 0,1-10 0,-1-3 0,-1-4 0,-4 0 0,-6-1 0,-4-4 0,-6 0 0,0-1-2909,0 6 1,-6-5 0,-1-1 2908,0 3 0,-11-5 0,4 0 0</inkml:trace>
  <inkml:trace contextRef="#ctx0" brushRef="#br0">31092 9344 7825,'1'9'4915,"4"0"0,2-2-3948,6 1 0,-3 2-307,3-5 1,-3-1-459,7-4 1,1-1 0,1-4 0,1-3 0,2-5 0,-1-5 31,1-3 1,-8-5-88,-1-4 1,-2 1 173,-6-5 1,-1 0 0,-4-4 0,-1 4 0,-2 5 0,-3 6 1602,-1 6 1,-2 8-1925,-4 5 0,2 6 0,2 6 0,-1 8 0,4 14 0,1 4 0,-1 4 0,3 0 0,2 1 0,1-2 0,0-2 0,5 1-260,4-6 0,7 0 0,2-6 1,2-1-1,5-4 0,4-3-4319,5-5 0,3-7 2620,2 1 0,5-10 1248,4-3 0,2-9 0,0-5 1,-1-2-1,-5-1 0,-4 2-489,-7 2 1,-4 1 1075,-3-2 1,-6 4-9,-3 5 1,-2-4 0,-2-1 0,-1 3 0,1 0 0,-1 2 14,-4 0 0,-2-1 909,-6-3 1,0 3 956,0-4 1,0 3-1,0-1 1,-1 0-1,-4 5 3071,-3 5 0,-4 6-4017,-1 4 0,-1 5-639,-3 8 1,3 3 0,-4 7 0,4 2 0,1 2 0,0 2-165,0 3 0,5-4 0,-1-2 0,6-3 0,-1-1 0,2-2 0,2-1 0,2-4 0,2-3 0,6-6 0,6-3 0,-2-4 0,4-7 0,0-4 0,-1-5 0,2-5 0,-3-5 0,1-6 0,0-7 0,0-5 0,1-7 0,3-7 0,-4-6 0,-7 25 0,-1-2 0,0-3 0,-1 0 0,0-5 0,0-1 0,2-3 0,0 1 0,0-1 0,-1-1 0,-2 3 0,0 0 0,-1 6 0,0 1 0,2-25 0,-5 19 0,3 35 0,-6 21 0,0 21 0,0 22 0,-2 8 0,-2 6 0,-3 4 0,0 2 0,-5-5 0,4 2 0,0-4 0,0-5 0,5-3 0,-1-5 0,2-2 0,2-3 0,0-5 0,0-6 0,0-9-4024,0-5 947,0-7 3077,-6 4 0,5-12 0,-5-1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9318 9732 7990,'-20'-41'491,"2"11"-490,5 17 1,4 10-1,1 6 1,-2-4-165,-2-6 0,-1-6 0,2-3 1,1-3 833,1-1 1,1 3-239,-5-4 0,1 5 0,2-3 1,2 2-1,-1 0 0,0 2 2516,1 5 1,-1 0-1261,-4 6 0,2 1 0,2 9 0,5 7 430,2 7 0,2 7-2119,0 8 0,5 5 0,-1 11 0,6 7 0,-1 2 0,2 3 0,2 3 0,-2 3 0,-6-33 0,-1 1 0,8 33 0,-4-1 0,2 1 0,-1-1 0,1-1 0,-6-10 0,0-5 0,2-4 0,-4-12 0,2 2 0,2-6 0,-2-1 0,0-8 0,1-4 0,0-4 0,2-2-804,-4-1-2353,9-6 1,-6-2 0,4-12 3156,-2-11 0,1-8 0,4-12 0</inkml:trace>
  <inkml:trace contextRef="#ctx0" brushRef="#br0">8660 10532 8106,'-31'0'2264,"5"0"1,0-2 1011,7-2 1,12 3 0,7-5-1726,7 0 1,12-3-1,7-9 1,10-8-1552,10-7 0,8-7 0,-20 16 0,1 1 0,1-1 0,0 0 0,2-3 0,1-2 0,-2 3 0,-1-1 0,0 1 0,0 1 0,-1-1 0,0 1 0,-2 2 0,0 1 0,29-17 0,-6 7 0,-9 11 0,-4 4 0,-3 6 0,-1 3 0,-6 1 0,-4-2 0,-6 3 0,-6 2 0,-1-2 0,1-1 0,-7 4 0,1-2 0,-2 0 0,-2 1 0,-3-5 0,5 5 0,-5-5 0,5 5 0,-5-6 0,3 2 0,-1-4 0,-2 3 0,-4 1 0,0 5 0,0-4 0,2 4 0,2-1 0,-2-1 0,3 5 0</inkml:trace>
  <inkml:trace contextRef="#ctx0" brushRef="#br0">14649 13810 7884,'-6'-7'1647,"0"-5"1,-4 5 4703,2 0-5281,5 1 0,-3 8 1,6 2-1,0 5 0,0 3 1,0 6-1,0 5 2579,0 5-3649,0 5 0,0 7 0,2 5 0,0 7 0,3 6 0,-1 5 0,2 3 0,2 3 0,0 0 0,-4-30 0,0 0 0,0 31 0,1-32 0,-1 1 0,0 31 0,4 1 0,-1-2 0,-2-6 0,3-3 0,-1-7 0,-4-9 0,1-1 0,-3-5 0,-1-8 0,5 0 0,-1-10 0,-1 0 0,-2-3 0,-1-2 0,0-2 0,0-8 0,0-6-2317,0-11 0,0-6 0,0-9 0,0-4 2317,0-3 0,0-9 0,0-3 0</inkml:trace>
  <inkml:trace contextRef="#ctx0" brushRef="#br0">14236 14791 7928,'-25'4'924,"5"2"0,6 0 8424,4-1-8196,7 5 0,-1-8 0,10 2 0,7-2 0,9-2 0,11-3 0,12-6-905,8-8 0,10-7 0,-29 9 0,1-1 0,-1 0 1,1-2-248,0 0 0,0-1 0,-3-1 0,1 1 0,0 0 0,-1-1 0,29-18 0,-4-1 0,-2 7 0,-8 5 0,-6 7 0,-5 6 0,0-5 0,-7 9 0,-3 1 0,-3 2 0,-8-1 0,3 2 0,-5-1 0,-5-3 0,4 2 0,-4 0 0,-1-1 0,2-4 0,-2 5 0,3-1 0,-3-1-408,-1-1-1549,4 3 1957,-3-3 0,6 4 0,0-6 0</inkml:trace>
  <inkml:trace contextRef="#ctx0" brushRef="#br0">15243 13345 8028,'-35'0'1678,"4"2"1,3 2-1,8 5 1,6 2-413,5 2 1,6-9-1,12-8 1,10-15-1,8-12 1,9-16-590,-16 17 0,1-2 1,8-8-1,1-3 1,7-12-1,2-4 1,-9 16-1,1-2 1,1-1-662,4-5 1,1-1-1,1 0 1,1-5 0,2-1-1,-1-1 1,-7 12 0,0-1-1,0 0 1,0 0 0,1 0-1,1-1 1,0 0 0,0 0-495,2 0 1,1-1 0,0 1-1,0 0 1,-1 0 0,0 0 0,0 1-1,1 0 478,0 0 0,1 0 0,0 1 0,0 1 0,-1 2 0,-1 1 0,1 0 0,0 1 0,-1-1 0,1 1 0,-1 0 0,1 1 0,11-12 0,0 2 0,-1 0 0,-1 1 0,0-1 0,0 1 0,1 0 0,-1-1 0,1 0 0,1 1 0,-1 0 0,0 0 0,-1 1 0,0 1 0,-2 0 0,-3 3 0,-1 0 0,0 2 0,-3 2 0,1 2 0,0 1 0,-3 3 0,1 1 0,-1 1 0,16-12 0,-1 1 61,-5 6 0,-2 2 1,-9 6-1,-4 2 1,12-9-1,-10 10-3910,-5 8 0,-4 6 824,-3 5 46,-8 2 2979,-7 6 0,-17 11 0,-4 4 0</inkml:trace>
  <inkml:trace contextRef="#ctx0" brushRef="#br0">18560 9551 8108,'1'-12'1025,"3"7"1,5 12-1,2 16 1,2 14-57,0 7 0,0 4 0,1 3 0,2 1 0,1-2 1,-1-4 109,-1-7 0,-4-6 0,-1-9 856,-1-2-1188,-1-9 0,-1-11-487,-2-10 0,-8-4 1,-3-13-1,-1-7 1,-3-7-1,-2-8-254,0-9 0,0-13 1,7 32-1,0 0 1,1-2-1,1 0 22,0 1 1,0 0-1,-1-29 208,4 2 0,6 5-81,2 13 1,9 11 0,5 20 0,4 8 0,5 10 0,7 13 174,3 9 0,2 15-330,-4 0 0,-2 2 0,-2-2 0,0-2 0,-4-2 0,-3-7 0,-1-5 0,-2-6 0,-4-2 0,2-8 0,-6-3 0,-1-4-270,-1-4 0,-4-9-426,-2-9 1,2-2-218,-2-2 1,-4-5 0,0-4 0,-4-2 0,-1-3 0,0-2-776,0-1 0,-4 0 1655,0 5 1,-1 0 155,5 4 0,0 4 1,0 8-1,2 6 1,2 6 336,5 6 1,-2 3-1,1-1 1,2-1 473,2-1 0,-1-2-61,-2 2 0,1 1-498,-6-5 1,5-1 0,-5-4-1,-1 0 1,-1 0 746,-2 0-773,0 0 1,-5 5-163,1-1 1,-6 6 0,3 0 0,-2 8-51,1 8 1,5 0-1,-2 5 1,4 1-138,1 2 0,4 5 0,2 3 0,1 1 0,3-1 0,3-6 0,4-2 0,-1-5 0,6 1 0,-1-8 0,3-5 0,-1-3 0,-1-3 0,1-7 0,1-8 0,-4-6 0,-2-3 0,-6-4 0,-3 0 0,1 0 0,-4 5 0,0 2 0,-1 3 0,-2 2 0,0 6 0,1 9 0,5 6 0,-2 4 0,0 6 0,0 2 0,1 2 0,0-3 0,5 3 0,0-2 0,4-8 0,0-3 0,-1-2 0,-1-4 0,-1-4 0,3-7 0,-3-7 0,4-10 0,-4 3 0,-1-3 0,-4 3 0,-2 1 0,0 1 0,-1 4 0,1 5 0,0 6 0,-3 4 0,5 6 0,1 2 0,1 2 0,4 3 0,2 6 0,-1 0 0,5 0 0,-4 0 0,5-2 0,1-2 0,0-6 0,0-6 0,-2-6 0,-1-8 0,2-4 0,-4-8 0,-5-1 0,-1-6 0,-2 3 0,-3 0 0,-1 3 0,-3 3-2200,-2 1 0,-1 2 0,0 1 1,0 3-1295,0 1 0,-6-4 3494,-2 1 0,-4-8 0,-1-3 0</inkml:trace>
  <inkml:trace contextRef="#ctx0" brushRef="#br0">20263 7705 8108,'0'19'3158,"2"4"1,2 14-1,6 15-1974,6 14 0,-7-27 0,0 1 0,3 1 1,-1 1-1,1-1 0,-1 1-799,3 0 1,0-1-1,-2-2 1,1-2-1,2-3 1,0-1-1,13 26-335,-2-11 1,-2-11-624,-3-16 1,2-2-91,-5-6 1,-1-2 0,-4-2 0,1-5 0,2-2 0,1-5-7816,-1-6 8478,4-5 0,0-23 0,6-4 0</inkml:trace>
  <inkml:trace contextRef="#ctx0" brushRef="#br0">20831 8247 8093,'0'-7'4201,"6"13"0,-3 4-3005,5 11 1,1-1-264,4 2 0,4 1-604,0-6 0,6 0 0,-3-5 0,2-4 0,-1-3 0,4-5 652,3-5 0,0-8-628,2-8 1,-3-9-237,-1-5 1,-5-6-1,-1-2 1,-1 3-1,-5 4 1,-2 7 577,-4 6 0,-3 10-124,3 9 0,1 11-565,4 10 0,0 15 0,-2 17 0,-1 5 0,-1 6 1,1 4-7,1 0 0,2-1 0,0-3 0,0-4 0,0-3 0,0-8 0,0-6 0,0-11-1133,0-6 0,-5-6 0,1 1 0,1-3 0,3-2 1133,4-4 0,-3-8 0,5-7 0</inkml:trace>
  <inkml:trace contextRef="#ctx0" brushRef="#br0">20418 9783 8033,'-52'6'1860,"7"10"1,0 14 0,2 11-873,0 8 1,-6 4-1,3 3 1,23-26 0,1 0-1,-1 1 1,3 0 0,-16 29 776,10-4 1,9-10-1,17-7 1,3-8-1745,5-3 0,11-6 0,14-3 1,3-7-22,4-5 0,7-3 0,-1-4 0,0 0 0,-3 0 0,-9 0 0,-4 0 0,-8 2 0,-5 2 0,0 3 0,-4 7 0,-6 4 0,-4 3 0,-6 5 0,-5 4 0,-7 9 0,-10 8 0,-3 3-1067,-2 2 1,3-2 0,-5-4 0,4-9 0,1-10 1066,2-8 0,2-16 0,-3-4 0</inkml:trace>
  <inkml:trace contextRef="#ctx0" brushRef="#br0">20470 10351 8013,'8'-17'432,"1"0"0,2 1 1341,5 1 0,4-3 1,6-4-1,1-2-476,3-2 0,3-7 0,5-4 0,-4-6-676,-4-3 1,-4-1-1,-6-4 1,-6 3-109,-4 0 1,-8 7-140,-2-2 1,-6 4 80,-7 5 1,0 8 0,0 10 0,1 6-1,-1 9 1,-2 9-198,-2 14 1,3 14-259,-3 11 0,7 9 0,1 4 0,6 3 0,-1 0 0,4-1 0,4-3 0,5-3 0,2-6 0,3-6 0,4-9 0,7-10 0,10-7 0,-2-13 0,1-9 0,1-12 0,-1-9 0,-1-8 0,-1-6 0,-4-3 0,-6 4 0,1 3 0,-6 1 0,-4 6 0,-4 3 0,-1 6 0,1 6 0,-1 4 0,-3 4 0,3 5 0,1 0 0,4-6 0,-6-5 0,-3-7 0,-4-5 0,-4 2 0,-6-5 0,-4-3 0,-4-2 0,3-2 0,0 0 0,2-2 0,2 5 0,2 9 0,4-2 0,5 6 0,0 1 0,2 3 0,7 4 0,8 5 0,6 3 0,3 1 0,1 0 0,3 0 0,-2 0 0,2 0 0,-2 0-2836,2 0 0,-2-6 1283,2-3 1,1 1-119,-1-5 1,2 3-1,-2-9 1671,5 0 0,-4-6 0,1-8 0</inkml:trace>
  <inkml:trace contextRef="#ctx0" brushRef="#br0">21747 9215 10180,'-7'6'2994,"3"3"1,3 3-1897,1 6 1,5 2-1,4 6 1,4-1 253,4 1 0,-1 0 1,5 0-1,2-2-718,2-2 0,0-5 0,3-8 0,0-5-594,2-3 1,1-2 0,-6-5 0,1-5-41,0-5 0,-2-9 0,-1 0 0,-3-8 0,-1-5 0,-3 0 0,-6-2 0,-3-3 0,-1-5 0,-2-3-775,-4-5 1,0 0-520,0 0 1,0 6 0,2 12 0,2 4 0,4 7 0,5 8-2812,5 10 0,2 7 3011,5 2 0,1 1 754,0 3 1,-4 3 0,-1 5 0,1-2 0,-2-3 0,-3-1 380,-3-3 1,-1-2 0,0-1 945,0 0 0,0 0-663,0 0 0,-6-6 475,-3-2 1,2-4 0,-2-2 0,1-3 0,-1-5-1,0-2 471,-1-2 1,-2 0-959,-1 0 1,-5 5 123,-4-1 0,-2 8 0,-4 1 0,-2 9 0,-3 8 0,0 9 617,3 7 1,0 10 0,2 6 0,5 4-338,3 3 0,-2 5 1,5-5-1,1-3-698,2-4 0,11-5 0,4-5 0,6-3-805,7-6 1,5-5 618,7-12 1,7-13-255,5-9 0,5-12 0,-25 12 1,-2-1-1,26-23 0,-6-2 1,-6-1-331,-3 2 0,-4 2 592,-6 6 0,-6 8 147,-11 5 1,-1 6 0,-2 9 0,-3 1 545,-1 1 0,-4 12 0,-4 1 0,-4 6 429,-1 3 0,-2 6-278,-4 2 0,0 4-354,0 0 1,2 1-1,1 0 1,3-2 0,-1-1-1,3-3-36,-1-1 0,2-2-294,4-4 0,0-6 0,5-2 0,4-13 0,2-7 0,2-13 0,0-7 0,0-10 0,2-9 0,0-8 0,3-4 0,-3-3 0,-9 32 0,-2 0 0,1 0 0,-1 0 0,-2-2 0,-1-2 0,1 0 0,0 0 0,-1-1 0,0 0 0,-1 3 0,0 2 0,0-28 0,-2 18 0,-2 20 0,2 17 0,-2 23 0,8 11-25,5 23 1,2 9 0,2 16-1,-6-34 1,-1 1 0,1 0-1,-1 0 1,1-1 0,-1 0-983,1-2 0,-1 1 1,0-1-1,1 1-16,-1 2 0,1-1 0,2 1 0,0-2-1893,2 0 0,0 0 0,12 27 2916,-2-8 0,-1-7 0,-2-5 0,3-4 0,4-4 0</inkml:trace>
  <inkml:trace contextRef="#ctx0" brushRef="#br0">21902 10841 7956,'-38'6'1697,"5"4"0,4 13 0,6 13 7666,6 13-8747,8 8 1,3 6 0,8 0 0,2-2 0,6-4 0,6-10 0,6-9 1224,2-13-2082,2-5 1,-2-12 0,-1-7 0,0-8 0,3-12 0,4-8 0,4-9-2292,6-5 1,1-4 1391,6-2 0,-1-3-6514,1 2 7654,-18 21 0,-2-2 0,15-29 0,-17 25 0,0 1 0</inkml:trace>
  <inkml:trace contextRef="#ctx0" brushRef="#br0">22444 10635 7953,'0'-13'2737,"-1"2"-1831,-3 2 0,2 6 0,-2 12 0,3 9 1012,1 10 1,0 10 0,0 8 0,1 2 390,3-1 1,5-6-1407,8 2 0,-1-4-861,5-4 1,1-10 0,5-9 0,2-7 0,2-11 0,1-11-43,-1-11 0,2-13 0,-7-11 0,1-2 0,-9-1 0,2 0 0,-6 3 0,-4 3-2427,-3 5 0,-2 4 1034,-5 10 0,4 2 1,2 4-1,1 7 0,4 7 1,4 5-836,2 1 0,4 4 1396,-3 0 0,5 5 681,-2-5 0,2 5 0,0-5 0,-2-1 0,1 0 0,-2 0 1119,-3 1 0,-2 5 1,-3-3-1,0 1 4885,-3 3-4239,2 1 0,-10 2-383,4 0 0,-4-4 0,-2-2 1,-4-1-54,-3-4 1,1 0-1179,-2-2 0,5-7 0,-5-6 0,6-2 0,-1-6 0,3-3 0,1-5 0,0-6 0,0-2 0,5 3 0,5-1 0,6 1-186,6 1 0,-2 7-918,1 9 1,1 3-476,4 1 0,4 6 0,0 2 1,0 2-1,1 0 0,4-2-2006,2-2 1,-2-8 1695,-1-6 1889,-5-9 0,2-9 0,-5-7 0</inkml:trace>
  <inkml:trace contextRef="#ctx0" brushRef="#br0">23671 9990 7953,'8'-26'0,"1"0"0,-2 2 2137,2 2 1,-5 5 449,-8 8 0,-5 9-1220,-8 9 0,2 8-507,-2 5 0,-1 3 1,0 6-1,1 4 1,1 6-1,2 0-17,3-4 0,6 2 0,1-6 1,2 0-844,2-3 0,6-5 0,4-7 0,6-6 0,6-5 0,3-4 0,4-9 0,0-5 0,-5-5 0,0-1 0,-6 5 0,-3 4 0,0 3 0,-8 5 0,-4 6 0,-6 7 0,-6 7-1961,-8 10 1,-2-1 1122,-2 5 1,-2-5 0,6-1 0,0-5 0,1-5-1,2-5 838,2-5 0,2-14 0,-3-8 0</inkml:trace>
  <inkml:trace contextRef="#ctx0" brushRef="#br0">23800 9396 8016,'-8'-20'3963,"4"10"-1635,8 14 1,8 16 0,7 19 0,1 8-825,3 8 1,1 8-1869,-11-29 1,0 1 0,0-1 0,0 1 25,12 29 1,1-2-1,0-5 1,-2-8 0,-2-9-1,-5-13-2098,-3-11 0,-1-9 167,0-7 0,-4-7 2269,-1-6 0,1-6 0,4-6 0</inkml:trace>
  <inkml:trace contextRef="#ctx0" brushRef="#br0">23258 10286 7984,'-13'-20'538,"0"3"0,-2 9 0,0 3 0,-4 5 1,0 6 786,1 7 0,-7 11 0,-1 12 0,-5 4 1,-2 5-1,3 1-17,3 2 1,2-2-1,4 2 1,5-1-617,6-1 0,6-3 0,9-10 1,8-7-90,7-8 1,9-5-331,1-4 1,6-5-226,-2-8 0,4-3 0,0-6 0,1 1 0,-2 4 0,-2 3-48,-5 4 0,-3 1 0,-1 0 0,-7 11 0,-6 7 0,-6 6 0,-10 6 0,-6 5 0,-9 3 0,-10 4 0,-6 1 0,-2 0 0,2-4 0,-2-1 0,6 1 0,0-6 0,5-4 0,4-6-2894,3-6 521,4-3 2373,1-7 0,6-12 0,1-10 0</inkml:trace>
  <inkml:trace contextRef="#ctx0" brushRef="#br0">23645 9435 8061,'-13'-5'484,"0"1"0,1 3 0,4 5 1,4 10-1,2 12 0,4 13 1154,2 11 0,3 15 1,-1-27-1,1 1 0,0 3 1,0 2 134,2 2 1,-1 1 0,0 0-1,0-1-1702,3 4 0,0-1 0,-3 0 0,1 0 0,1 1 0,0-1 0,0-3 0,0-2 0,-1-3 0,1-3 0,8 25-71,-2-11 0,3-9-852,-2-9 1,0 2 0,-5-7 0,-2-3 0,-3-5-8561,-1-2 9412,-2-8 0,-4-5 0</inkml:trace>
  <inkml:trace contextRef="#ctx0" brushRef="#br0">23645 10325 7995,'-13'-13'5161,"1"0"-2540,4 0-1814,-4 6 0,11 0 0,-2 3 0,7-5 0,9-2 0,7-4 1248,5-2 0,6-3-1551,4-6 1,3-1-225,5-3 1,3-2 0,4-3 0,-2 2 0,-5 0 0,-5 1 272,-3 0 1,-4 2-484,-5 5 1,-3 0-71,-6 4 0,1 3 0,-11 8 0,1 3 0,0 3 0,-3 5 0,4 7 0,-5 9 0,5 7 0,-5 6 0,5 6 0,-4-1 0,1 2 0,1 0 0,1-1 0,2-2 0,5-5 0,3 1 0,0-4 0,-1-5 0,3-8 0,6-8 0,0-4 0,0-4 0,0-7 0,0-11 0,-5-9 0,1-9 0,-8-1 0,-1-3 0,-2 3 0,-6-5 0,-4 1 0,-5-2 0,-9 0 0,-7 3 0,-5 10 0,0 7 0,-6 6 0,1 7 0,0 6 0,6 3 0,1 2 0,3 4 0,1 2-714,3 4 0,8 4-463,3 1 1,4-5 662,1 1 1,12-6 0,6 1-1,9-4 1,8-4 0,2-6 218,2-6 1,0 2 2579,-1-3 0,-5 2-1805,-3 2 0,-7 6 0,-3 3 0,-2 5 0,-5 8 0,-5 8-480,-2 6 0,-2 7 0,-4 0 0,0 6 0,0-1 0,-1-4 0,-2-1 0,-1-3 0,1-1 0,0-1 0,-1-4 0,2-8 0,-2-14 0,8-12 0,3-7 0,6-10 0,0-11 0,0-10 0,1-8 0,2-3 0,1 4 0,-1 6 0,-2 7 0,-1 11 0,0 5 0,0 12 0,0 9 0,0 16 0,0 9 0,0 8 0,0 5 0,-6-1 0,-3 5 0,2-1 0,-2 1 0,5-4 0,-3-8 0,-1-5 0,2-4 0,1-4 0,0-5 0,5-8 0,0-11 0,0-10 0,0-7 0,0-7 0,1 2 0,2 1 0,1 5 0,-1 3 0,-2 5 0,-1 10 0,4 2 0,0 2 0,5 5 0,-3 7 0,1 3 0,1 1 0,1 1 0,-1 0 0,1-3 0,4-5 0,-1 0 0,1 0 0,0-11 0,0-6 0,0-8 0,-1-3 0,0-5 0,-4-5 0,-3 3 0,-10-9 0,2 1 0,-6 5 0,-1-2 0,-7 11 0,-5 6 0,-2 9 0,-2 8 0,0 4 0,0 14 0,0 5 0,5 8 0,-1 5 0,6 1 0,-1 5 0,3-2 0,3-1 0,6-2 0,4-6 0,10-7 0,0-1 0,3-9 0,5-3 0,-1-5 0,6-5 0,0-5 0,1-4 0,0-5 0,-2-1 0,-5 5 0,1-3 0,-2 4 0,-3 1 0,0 4 0,-4 2 0,-4 2 0,-2 2 0,-2 1 0,-6 2 0,-1 0 0,-16-5 0,-3-4 0,-2-3 0,1 0 0,1-1 0,4-6 0,1-3 0,5-3 0,-1-5 0,4 2 0,4-2 0,6 3 0,6 1 0,7 2 0,5 2 0,7-1 0,8 6 0,3 0 0,5 4 0,1 0 0,-2 0 0,-2 0 0,-5 0 0,-3-1 0,-2-3 0,5 2 0,0-2 0,0 7-730,-4 2 1,-4-1 0,-1-4 729,2 0 0,1-5 0,2-3 0</inkml:trace>
  <inkml:trace contextRef="#ctx0" brushRef="#br0">27349 8441 7916,'-13'-37'1515,"0"5"0,-1-1 0,-2 16 0,-3 14 3400,-1 10 0,2 12-4307,-8 7 0,-3 7 0,-10 11 0,2 6 0,1 6 0,3 0 0,3-1 1,6-8-609,5-6 0,11-5 0,3-10 0,5-3 0,5-6 0,9-1 0,13-12 0,10-2 0,9-5 0,9 0 0,1-6 0,0 7 0,-5-3 0,-5 4 0,-4 1 0,-6 1 0,-8 5 0,-6 7 0,-9 7 0,-8 6 0,-9 4 0,-7 9 0,-15 8 0,-10 3 0,9-24 0,-3 0 0,-2 0 0,-1-1 0,-2 1 0,-2 0 0,0-1 0,-2 0 0,0-1 0,1 0 0,2-2 0,2 0-138,1-2 1,1-1 0,-25 14-22,9-3 0,5-9 1,9-3-1,5-6 159,6-3 0,6-3 0,9-6 0,2 0 0</inkml:trace>
  <inkml:trace contextRef="#ctx0" brushRef="#br0">10145 9422 8101,'-45'0'1558,"9"1"0,15 3 0,15 4 0,12-3 0,7-6 262,4-11 0,9-19 0,11-21 0,-15 17 0,0-4-1604,4-10 0,0-4 1,-4 11-1,1-1 1,1-3-1,1-6 1,1-3-1,0 0 1,4-3-1,2-1 1,1 0-1,2-2 1,2 1-1,0-1 1,2-1-1,0 1 1,0 0-931,0 1 1,1 0-1,-1 1 1,0 5-1,0 0 1,-1 1 713,-2 1 0,0-1 0,0 4 0,-3 6 0,-1 3 0,2 1 0,15-14 0,1 2 0,-7 7 0,-2 1 0,-3 6 0,-3 1 0,-2 1 0,-2 0 0,-3 1 0,1 0 0,-1 1 0,1 2-448,0 1 0,1 1 1,0-1-1,0 1 0,2 0 1,1 1-1,-1-2 0,-1-1-4212,0-1 0,-2-2 4660,-2 0 0,-2-2 0,-1 0 0,-1-1 0,-3 1 0,-1-1 0,-1 0 0,0 1 0</inkml:trace>
  <inkml:trace contextRef="#ctx0" brushRef="#br0">13074 6014 7938,'0'-8'2820,"0"-1"2814,0-1-2366,0 4 1,0-1 952,0 3-3841,0 3 0,0-7 0,-1 6 1,-3-3-381,-5 2 0,-4 2 0,-4 1 0,1 7 0,-5 7 0,-2 11 0,-2 11 0,-1 11 0,1 13 0,12-23 0,1 1 0,1 4 0,2 2 0,2 0 0,1 1 0,2 0 0,3 0 0,2-4 0,3-2-162,2 1 1,1-2 0,13 23 161,10-5 0,3-11 0,6-16 0,1-12 0,2-10 0,2-9-670,2-6 1,1-12-1165,5-15 1,4-9 1013,-28 19 1,0-2 0,2-1 0,0-2 0,-1-5-1,-2-1 1,0-1 0,-2-2 0,-2 0 0,-2-2 0,-3 0-1,-3 0 820,-2 0 0,-1-1 0,1 1 0,-1-1 0,-2-1 0,-2 0 0,-1 1 0,0 1 0</inkml:trace>
  <inkml:trace contextRef="#ctx0" brushRef="#br0">13694 5640 7938,'0'-20'4644,"0"-4"-3301,-6 9 0,3 4 0,-5 12 0,-2 11 1571,-2 8 0,-1 16-1232,0 7 1,-4 5-1429,0 4 0,0 0 0,4-2 0,1-3 0,4-5 0,3-8-254,4-8 0,7-7 0,2-11 0,9-2 0,5-6 0,7 0 0,2 0 0,2 0 0,2 1 0,-1 2 0,0 2 0,-6 5 0,-2-2 0,-2 8 0,-7 1 0,-5 6 0,-8 0 0,-3 4 0,-4 4 0,-5-1 0,-9 1 0,-6 2 0,-3 6 0,0-6-14,0-3 1,0-8 0,2-5 0,1-4-1,4-6 14,5-7 0,-2-23 0,9-12 0</inkml:trace>
  <inkml:trace contextRef="#ctx0" brushRef="#br0">15126 4982 8080,'-18'-29'1044,"-2"3"0,0 8 0,2 6 0,6 9 550,3 6 0,-1 4 0,4 8 0,-1 1-291,-3 1 0,0 6-939,1-2 1,-4 2 0,2 0 0,-5-3-1,0 0 1,2 0 480,1 3 0,0-3-545,0 2 1,2-1-50,2 5 0,-1 1 0,6 4 0,2 4 0,5 7 0,7 5 82,6 4 1,10-1 0,8-3-1,4-7-454,0-8 0,7-9 237,2-15 0,2-3-207,-2-10 0,-2-15 0,-8-14 0,-1-14 0,-3-12 0,-16 25 1,-1-3-232,1-3 1,-1-1 0,-2-2 0,-1 0 39,0 1 1,0 0 0,-1 2 0,0 1 104,-3 3 1,-1 1 0,8-32 0,-7 12 0,-5 10 0,-2 9 0,-2 8-394,0 6 929,0 11 0,0 7-151,0 10 1,-2 3-1,-1 8 1,-3 3 0,-1 2-1,-3 5 531,-1 3 1,-2 2-472,0-1 0,6-3-194,3 4 1,-2-4 0,1-1 0,3-1-1,0 0 1,2-2-386,0-2 1,2-9 134,2 1 1,5-9 24,8 0 0,3-4 1,6-4-1,-1-6 0,0-6 1,-2-5 122,-2-4 1,-1 4 253,2-1 0,1 1 35,-6-5 0,-1 4 0,-6 1 1,-3-1-1,0 1 0,-1 1-35,0 1 1,-2-2-227,-4 3 0,0 0 0,0 1 0,0 2 0,1-1 0,2 5 0,3 4 0,1 1 0,3 3 0,2 2 0,2 1 0,2 0 0,1 0 0,6 1 0,-2 4 0,0-3 0,0 7 0,1-5 0,3 5 0,1 1 0,0 1 0,-2 1 0,-2-4 0,2 5 0,-2 0 0,1 0 0,-2 4 0,-2-2 0,-5-2 0,1 0 0,-1-1 0,-4 1-3,-3 0 1,-1-1-185,-2-4 1,-2 4 129,2-4 1,-4-2 0,-4-2 191,-5-2 1,-3-4 0,0-2-1,-1-4-133,0-4 1,-4-5-3,-1 0 0,-5-12-305,2-1 1,1-12 0,0-6 0,1-8-1,5-9 1,4-7-128,7 35 0,1-2 0,2 1 0,2 0 454,1 2 0,2-1 0,2 0 1,2 1 287,21-28 1,3 9 0,7 18 0,1 11 0,-1 12 0,-4 9 489,-3 8 0,-9 10-800,-7 9 0,-4 6 0,-4 2 0,-4 6 0,-5-1 0,0 1 0,-1-2 0,-2-4 0,-1-3 0,-5-1 0,5 0 0,-5-6-1967,5-3 1,-2-8 0,3-6 0,-1-9 0,1-13-2685,2-14 0,5-13 3588,0-14 0,5-10 953,-6 30 0,-2-2 1,2-2-1,-1-1 1,-2 1-1,0-1 1,0-2-1,1 0 1,0-1-1,1 1 0,0 1 1,0 0 624,0 3 1,-1 2 0,1-25 896,-2 14 0,1 15-886,3 20 0,3 14 0,6 21 0,0 17 0,2 15 0,2 13 2549,-7-27 0,1 0 0,9 33-2307,2-5 1,-2-5-828,1-7 1,4-5 0,-5-3 0,0-5-1,-3-10 1,-2-11-1055,-3-8 1,-3-4-1927,0-6 2325,-6 0 1,-9-4 0,-13 0 0,-7 1 0,-4 1-274,2 2 1,-4-1 0,3-2 0,4-1 1195,2 1 1,7-3 666,-1 2-482,8-6-1,3 3 1,6-8 0,3-1 0,6-2 0,8-2 908,6-3 1,7 3-744,0-2 0,6 2 26,-2-1 0,4 2 0,-1 7 1,-1 2-1,-3 3 0,-2 2 692,-2 2 1,-3 3 0,-5 3 0,-3 4-575,-4 4 1,-1-1-704,0 7 0,-2-1 0,-2 1 0,2-2 0,-2 1 0,2-6 0,2-6 0,0-3 0,-1-2 0,-4-3 0,4-5 0,-4-8 0,-1-8 0,2-6 0,0-2 0,-1-2 0,-1 2 0,-1 3 0,3 3 0,-3 3 0,-1 2 0,1 5-590,4 8 0,-3 4-273,6 5 0,0 0 0,0 1 0,0 2 0,1 1 1,2-1-2097,1-1 0,9-4 2156,-5-2 0,7-5 671,-7-8 1,2 3 0,0-5 0,-3 2 0,-1 0 0,-3 2 1914,-2 5-1347,-1 4 931,0 6 0,-6 6 0,-4 3 1,-6 2-1,-6 1 1439,-2-4 1,2 0-2807,1-4 0,-1-3 0,-4 4 0,0-5 0,2-6 0,2-6 0,5-3 0,2-8 0,4 3 0,2-2 0,5 1 0,8-1 0,4-4 0,4 2 0,1 2 0,0 4 0,-1 5 0,1 0 0,1 0 0,1 1-904,-3 4 0,4-4 235,-7 4 1,2 1 376,2-2 1,-5-1 0,-1-6 0,0-2 0,-1-2 0,0-3-1208,-3-2 1341,-2-6 1,-1 2-1,-2-5 1,-1-1-1,-3 2 1,-1 3-1,-3 4-101,-1 5 0,-8 3 1020,-3 10 0,-2 2 52,-2 6 0,-2 13 1,0 9-1,-3 9 1,3 6-1,0 2-8,2 0 0,6-2-805,3-2 0,3-4 0,1-5 0,2-2 0,6-2 0,6-6 0,6-6 0,7-8 0,6-4 0,6-13-578,4-11 0,-3-5-1623,3-8 1,-3-4 1861,-1 0 1,0-11 0,-1 1-1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brush xml:id="br1">
      <inkml:brushProperty name="width" value="0.12114" units="cm"/>
      <inkml:brushProperty name="height" value="0.12114" units="cm"/>
      <inkml:brushProperty name="color" value="#FF0000"/>
    </inkml:brush>
  </inkml:definitions>
  <inkml:trace contextRef="#ctx0" brushRef="#br0">24174 2284 7957,'-13'2'1035,"0"4"0,2 9 1,2 16-1,5 14 0,5 13 1,6 3 2368,6 0 1,7-4-3721,-3-5 0,6-8 0,-2-5 0,-1-9 0,-3-7 0,-3-6 0,-2-3 316,-4-1 0,4 0 0,-5 0 0</inkml:trace>
  <inkml:trace contextRef="#ctx0" brushRef="#br0">24045 1820 7978,'-37'-45'2649,"2"8"2060,5 10-4920,8 12 1,11 15 0,11 11 0,9 3 0,6 3 210,7-1 0,8 4 0,3 0 0</inkml:trace>
  <inkml:trace contextRef="#ctx0" brushRef="#br0">24535 1510 7903,'-24'1'656,"2"7"1,7 12 0,5 21 0,7 27 0,4-22 0,2 2 0,3 8 0,1 2 96,2 3 0,2 1 1,3-1-1,1-2 1,-1-6-1,2-2 1,-2-6-1,0-1-483,0-5 0,0-1 0,6 27-726,-3-9 1,-4-6 0,-4-9 0,-5-11 1990,-3-10-1120,-6-11 1,-3-5 0,-5-8 0,-1-6 0,-2-6 0,-2-7 0,-2-7 811,-3-8 1,-2-10-1551,-1-12 0,15 25 0,1-2 214,-1-5 0,0-2 1,3-5-1,1-2 1,-2-3-1,2 0 1,1-2-1,2-1 1,1 0-1,2-1 1,0 3-1,2 0 358,0 2 0,2 3 0,2 4 0,3 4 0,15-24 0,4 23 199,3 22 0,4 19 1,-2 17-1,0 7 106,-1 7 0,-1 7 0,-5-2 0,-2 5-554,-2 4 0,-5-3 0,0 3 0,-6-4 0,-6-5 0,-3 2 0,-1-4 0,-1-1-540,-3 1 0,-5 2 0,-7-4 1,-1 1-2198,1 0 0,6-9 0,3-1 2737,1-5 0,2-9 0,16-1 0,2-6 0</inkml:trace>
  <inkml:trace contextRef="#ctx0" brushRef="#br0">24961 1433 7903,'0'-19'8333,"4"28"-5655,1 8 0,5 26-1481,-2 13 0,4 13-995,-6-31 1,1 1 0,0 5-1,0 1 1,1 3 0,0 1 0,1 0-1,-1 0 1,0-3 0,-2 0 0,0-5-1,0-1-165,3 29 1,-2-16-1,1-15 1,-3-11-787,-4-8 895,-1-5 1,0-8 0,0-6 0,0-9-675,0-7 1,0-5-1,1-9 1,4-6 86,3-6 0,4-2 0,1-2 0,0 6 531,0 4 1,-1 13 0,1 1-1,2 8 537,2 5 0,-3 5 1,4 10-1,-4 8-365,-1 11 0,0 6 0,0 6 0,-1-1-257,1-1 1,0-2 0,0 0 0,-1-6-738,-4-4 0,4-7 0,-4-1-1027,4-5 0,-4-4 1,1-6-1,1-1 1759,2-4 0,6-7 0,2-9 0</inkml:trace>
  <inkml:trace contextRef="#ctx0" brushRef="#br0">25981 1381 7971,'-13'6'1638,"6"14"0,2 16 1,4 14-1,1 14 0,0-27 1,1 1 782,1 2 0,1 0 0,-2 3 0,1 0-2997,2-1 0,0-2 0,-2-2 0,0-1 1,6 27-1,-1-9 0,0-11 0,3-11 0,2-9 1,0-6-1883,1-4 0,0-7 1,0-4-1,1-6 600,4-5 0,6-15 1858,6-7 0,12-18 0,-2-5 0</inkml:trace>
  <inkml:trace contextRef="#ctx0" brushRef="#br0">26458 1355 12401,'-7'9'2199,"3"9"0,1 17-1302,-1 14 0,2 14 0,0-27 0,0 2 0,1 1 0,2 1-226,1 1 0,0 0 1,2 1-1,1 0-714,3-2 1,1-2 0,7 28 14,5-19 1,1-8 0,5-15 0,0-4 0,1-7 0,-5-8 546,-3-8 0,-3-2 329,-4-7 0,-2 1-688,-2-6 0,1 2 0,-6-3 0,-1-3 0,-2-4 0,-1 0-627,0-1 0,-1 0 0,-3 2 0,-5 2-2088,-2 5 1,-2 3-1,-2 2 2555,-2 3 0,3 4 0,-5 5 0</inkml:trace>
  <inkml:trace contextRef="#ctx0" brushRef="#br0">27207 1768 7841,'0'-17'4915,"0"0"0,0 1-607,0 2 1,7-1-4364,6-2 1,6 3-1,8-3 1,3 2-1,4 4 1,4-1-2044,0-1 0,-3 8 0,-2-7 0,-2 4-2464,-2 0 4562,-2 0 0,5-5 0,1 0 0</inkml:trace>
  <inkml:trace contextRef="#ctx0" brushRef="#br0">27349 1691 7798,'0'-15'703,"0"0"1,1-3-1,5 3 1,7 0-1,8 2 1,10 1 986,7-1 1,12-7-1,12-5 1,-28 10-1,0-1-1547,2-3 1,1 0 0,1 1 0,0-1-1231,1-4 1,-1-1 0,-5 5 0,-1 0 0,22-18 1086,-12 4 0,-9 3 0,-7 4 0</inkml:trace>
  <inkml:trace contextRef="#ctx0" brushRef="#br0">28962 710 7901,'-26'-2'492,"1"0"0,-1-4 0,1 0 0,4 0 0,4 3 1,1 3 835,-1 5 0,-2 3 0,-4 10 0,3 3-1278,1 3 1,1 2 241,1 0 0,-2 10 1,-1 4-1,5 5 0,7 2 1,1 0 945,0 1 1,4-8-1014,-2-2 1,8-6 0,3-11 0,1-5 0,3-6 0,2-5 107,1-4 1,1-2-118,3-4 1,-3-3-206,4-10 1,2-2-1,0-7 1,1-3 0,-1-3-1,0-1 1,1-1 1,-6 7 0,3-1 0,-4 6 702,-1 6-237,0 2 0,0 10-164,-1 5 1,-4 13 0,-4 11 0,-3 6 0,1 3 0,1 3-372,1 1 1,2-4-956,-2-3 0,-1-7 601,5-1 1,-3-7 0,3 1 0,2-6 0,2-5-1,1-4-835,0-1 1,0-6 0,0-2 0,-1-4 1008,1-1 0,0 6 0,0 3 486,0 2 1,-1 10-1,-2 6 1,-3 12 3,-2 11 0,4 3 0,-5 7 1,1 1 1735,0-2 0,-3-2-1069,2-5 0,-1-8-140,1-5 1,-4-7-1,2-13 161,-5-11 1,-7-5-840,1-16 1,2 1-122,-2-14 0,7 2 0,-3-12 0,4-4 0,1-6 0,0-6-573,0-3 1,10 3-1,3 2 1,3 10 806,2 9 0,4 9 0,6 8 0,3 8 630,-3 11 1,-5 10-846,-1 7 0,-5 8 0,4 5 0,-6 4 0,-2 2 0,-8 2 0,-3-1 0,-2 0 0,0 1 0,-2-7 0,-2 1 0,-5-2-554,-2-2 0,2-4-4322,1 1 3904,5-3 0,-1-2 0,8-4 0,6-5 0,4-6-1071,4-5 1,3-2 1855,-4 1 1,5-3 753,-5 4 0,0 2 1,-4 2-1,0 2 1,0 2-1,0 0 941,0 0 1,-5 6-861,1 3 0,-5 7-101,5 1 0,-5 6 1,3-3-1,-1 1 1,-3-1-1,-2-1 612,-1-3 0,5-6 364,-1-2-1431,0-5 0,-4 0 0,-1-10 0,-2-7 0,-3-5-92,-1-4 0,3-3 0,-5-4 0,6-3 0,-1-6 0,3 1 0,1-2 0,0-2 0,0 0 0,1 5 0,3 6 0,2 5 0,3 4 0,2 9 0,-2 9 0,2 3 0,1 3 0,-2 7 0,-3 8 0,-1 6 0,-4 3 0,0 0 0,-2 0 0,0-1-546,0 1 0,0 0 1,0 0-1,0-2 0,0-2 1,0-5-9286,0-3 9068,0-1 0,6 6 0,1 1 0</inkml:trace>
  <inkml:trace contextRef="#ctx0" brushRef="#br0">29995 1174 7887,'13'0'5351,"-6"0"-2294,4 0-2327,-9 0 1,5 0 392,-3 0 1,-2 2 0,2 2-2639,-3 5 1515,-1-3 0,0 5 0,0-4 0</inkml:trace>
  <inkml:trace contextRef="#ctx0" brushRef="#br0">30124 516 7825,'-7'-13'1860,"-1"2"0,6 5 0,-3 10 5479,2 12-6655,2 13 1,-3 10 0,-2 9-1,0 5 1,0 5 0,2-1-1,0 2 89,0 0 1,-2-6-1578,2-2 1,2-10 0,-2-11-1,2-4 1,2-5 0,0-4-1391,0-2 1,6-8-1,3-3 1,2-3 2193,2-1 0,6-5 0,1-2 0</inkml:trace>
  <inkml:trace contextRef="#ctx0" brushRef="#br0">30201 1097 7825,'7'0'3494,"5"0"0,-9 0-2705,5 0 1,-3-1-128,3-4 0,1 4-457,4-3 0,4-4 0,0 0 0,0-4 0,1-1 1,-1-1 181,-1-3 0,-2 1 0,-3-5 1,-1-2 576,-1-2 0,-6 1 1484,1 2-1957,-8 4 0,-5 11 0,-6 2 0,-3 7 0,3 6 0,0 10-106,2 4 1,0 4-440,0 0 0,6 1-927,3 3 1,3-4-1,1 2 1,1-7-1,3-2 1,6-4 980,6 0 0,16-2 0,8 0 0</inkml:trace>
  <inkml:trace contextRef="#ctx0" brushRef="#br0">30782 1097 8501,'7'7'4893,"-1"0"-4253,-6-2 1,0-2-1079,0 5 438,0 1 0,0 4 0,0 0 0</inkml:trace>
  <inkml:trace contextRef="#ctx0" brushRef="#br0">31130 916 7813,'-12'0'768,"-6"0"0,1 0 0,1 2 625,2 2 1,1 5-1,0 6 1,2 4-435,2 1 0,-1 2-470,6 4 1,0-2-380,4-3 1,5 2-1,5-5 1,6-4-1,6-4 1,3-6 367,6-2 0,0-8-306,3-3 0,4-4-104,-4-4 1,-2-1 0,-2-5 0,-3 1 0,-3 1 0,-2-1-656,-5 1 0,-2 5 126,-3-1 488,-4 8 1,-4 3 0,-8 6 0,-5 2 0,-1 2 428,1 5 0,-2 2-396,2 2 0,2-2 60,-1-2 1,3 1 0,-2-4 275,1 1-170,2-4 358,4 3 285,0-6-424,0 0 0,6 0-136,2 0 0,4 0-275,1 0 1,0-6-10,0-3 1,-1 2-1,3 0 1,1 0-1,2 0 1,2-2 573,3 2 0,-3 1-380,2 6 0,-5 0 29,5 0 1,-7 0 0,3 0-1,-4 0 1,-1 0 0,0 2 189,0 2 0,-5-3-438,1 4 0,-6 2 0,8-6-224,-2 3 1,-2-4 62,1-4 0,-5 1 1,3-5-1,0-2 0,1-2 198,0-1 0,3 5 381,-5-1 0,3 5-333,-4-5 0,2 6 0,-2-2 1,5 0-86,3 1 0,0 0 0,1 4 0,2 0-108,2 0 0,-1 0 0,5 0 0,1 0 0,-1 0 0,1 0-3315,1 0 0,1 0-2448,2 0 5871,-6 0 0,-1 0 0,-7 0 0</inkml:trace>
  <inkml:trace contextRef="#ctx0" brushRef="#br0">30743 1549 7810,'-27'-23'1768,"-3"6"1,-4 9 0,-4 11 0,1 10 688,3 7 1,-1 9-1,8 3 1,4-1 87,3 1-2570,3 3 1,11-7 0,7 0 0,11-3-1,9-5 1,8 0 0,5-1 419,4-1 0,0-2 0,1-6 1,-2-1-396,-2 1 0,-1-3 0,-8 1 0,-3-3 0,-10 3 0,-2-3 0,-2 3 0,-5 2 0,-5 2 0,-8 1 0,-8 0 0,-7 4 0,-6 0 0,-8 5-485,-5-5 1,0 3 0,5-6-1,-1-4 1,2-3 0,2-4-9347,5-1 9633,8-14 0,4-14 0,5-14 0</inkml:trace>
  <inkml:trace contextRef="#ctx0" brushRef="#br0">30446 1575 7810,'0'-26'766,"0"0"0,0 2 1573,0 2 0,2 9 1,2 9 548,5 2 0,2 14-1832,2 5 0,-4 13-801,-1 9 1,1 1 0,2 7 0,-1 2 0,-2 1 0,-1 2-2915,0 0 1,-3-2 1718,5-3 1,0 2-2301,3-6 1,1-6 3239,0-7 0,6-2 0,1-3 0</inkml:trace>
  <inkml:trace contextRef="#ctx0" brushRef="#br0">30963 1717 7810,'-13'7'1482,"0"4"0,0-1 0,0 6-1070,0 6 0,0 8 0,0 4 1,0 3-944,1 2 1,0 0-2637,3 0 3167,4-1 0,5-5 0,0-1 0</inkml:trace>
  <inkml:trace contextRef="#ctx0" brushRef="#br0">31221 1884 15305,'1'9'2086,"4"0"0,5 1 292,5 1-2100,0-4 0,9 3 0,-2-5 0,3-3 0,4 0 0,3-4 0,-1-3 137,1-8 0,-4-2 1,-6-6-1,-6-3 215,-6-5 0,-5 2 186,-5-3 1,-11-1-1115,-6 6 1,-8-3-1,-5 13 1,-3 3-1,-1 6 1,1 5-561,1 1 1,4 3-2616,6 5 1,1 2 485,8 12 2987,-3-1 0,15 5 0,-5 0 0</inkml:trace>
  <inkml:trace contextRef="#ctx0" brushRef="#br0">31608 1884 7809,'0'13'1832,"1"0"1,4 0-429,3 0 0,10 0 0,3-2 0,3-1-76,2-1 1,6-6-896,2 1 0,4-8-310,0-5 1,-3-8 0,-2-4 0,-2-5 0,-4-3 0,-4-1-187,-5 1 0,-10 2-119,-3 1 1,-5 2-39,-5 2 0,-6 5 0,-8 8 0,-1 5 0,-1 3 1,-1 1-947,0 0 1,5 1 611,-4 3 0,9 2 270,-1 3 1,3-2-1,-1-3 1,1 3 0,3 2-297,1 0 1,2-5 437,4 5 66,0-7 1,1 8-1,2-4 1,3 0 0,-1 1-1,3-1-124,-1 0 0,0-1 362,2 0 0,2-4 234,-2 3 0,-2-1 1,1 0-1,1 3 2752,-2 1-905,5-4 0,-5 8-1730,6-2 1,0 2-1,1 2 1,3 0 0,5 0-1,3 0 916,6 0 1,2-2-1105,5-2 0,5-3-325,0-6 0,0-2 0,-4-3 0,-3-7 0,-6-5 0,-8-3 0,-7-3 0,-8-1 0,-2-2 0,-10-4 0,-3-1 0,-11 1 0,-5 6 0,-6 1 0,-3 3 0,-2 1-220,2 4 1,-2 2-934,4 4 1,1 3 234,4 6 1,-2 0 0,1 2 0,4 2 0,4 6 0,6 6 917,3 5 0,1 4 0,-3 1 0</inkml:trace>
  <inkml:trace contextRef="#ctx0" brushRef="#br0">27259 2272 8029,'1'-6'1240,"6"7"1,12 14 0,14 13 0,13 15 789,-20-17 1,2 1 0,6 3 0,2-1-1869,4 4 1,2-1 0,3 0-1,2-1 1,0-1 0,1 0-1,-2-2 1,-1-2 0,-2-1-1,-2-2 1,-6-4 0,-2-1 0,20 12-1,-10-4-1155,-4 1 0,1 8 0,2 1 0,1 4-2199,-1 3 0,2 5 3192,-1 0 0,0-4 0,-4 1 0</inkml:trace>
  <inkml:trace contextRef="#ctx0" brushRef="#br0">28730 3059 7936,'0'33'983,"0"-2"0,1-3 0,2 0 0,3 4 0,1-1 938,3 1 0,2 1-1240,1-7 0,-2 1 0,-1-10 0,-3-1 1,-1-2 738,-3-1 1,-3-6-1179,-5-2 0,3-4 0,-7-2 1,-1-5-1,-1-6 0,-2-5 5,0-3 0,-5-3 1,1-7-1,1-6-264,2-5 1,3-2-264,2-9 0,-1 8 223,6-8 0,-1 9 1,5 1-1,0 5 1,2 4-1,4 3 208,7 6 0,1 5 73,7 10 1,1 4-129,4 5 0,0 10 0,-2 4 1,-1 5-1,-3 4 0,-1 2 213,-4 6 1,-2-4-174,-4 3 1,1-3-101,-6-1 1,0 0 0,-4-2-1,-1-1 1,-3-3 0,-5-1-520,-2-3 1,-4 2 211,-2-1 1,1 1 65,-5-5 0,5-2 0,0-1 0,5-3 1,4 0-291,1 1 0,7-6 296,8 3 0,4-4 477,4-1 1,3 0 0,7 0-1,2-1 1,1-2 0,-1-3 320,-2-1 1,-3 4-123,-2-1 1,-3 2-73,-6 2 0,-6 2 1,-4 2-77,-6 5 0,-4 2-335,-6 2 0,0 0-55,0 0 1,1 0-1,2 0 1,3 1 0,1 2-1,4 1-765,0-1 1,4-6 349,2-2 0,4 0 64,10 0 0,2-2 0,6-6 0,-1 0 0,3-1 0,0-5-44,2-7 1,1-1 240,-6-8 1,0 2 113,-4-2 0,1-2 0,-8 4 1,-4-2-1,-3 2 0,-4 0 75,-1 0 0,-4 4 0,-2-1 1,-5 3 936,-2 1 0,-2 6-563,0 3 1,-4 2-104,0 2 1,4 0-1,4 2 1,-1 2 0,0 4-1,0 4 276,1 1 0,6 0-927,-1 0 1,3 0-461,1-1 0,1 4 1,3-1-1,5-4 1,4-1-1,4-1-866,5-1 1,3-5 0,4 1 0,3-2 350,1-2 1,3-6-218,7-2 0,-3-4 1400,3-1 0,-9-4 0,-2-2 1,-2 1-1,0-2 0,-3 0 158,-4-3 0,-6 4 2279,-8 2-1668,-3-3 0,-6 5 0,-2-2 0,-2 4 0,-5 5 2238,-2 3 1,-6 4-1584,-1 1 0,1 6-673,4 2 1,0 4 0,1 1-1,0-1 1,3 3 0,5 1 279,3 1 1,1 1-508,0 0 1,1-4 231,3 3 1,4 2 0,5-2 0,1 0 0,3 0 0,3 1-330,0-3 0,0 0-229,-2-2 0,-4 0 0,3 0 0,-7-5 0,-3 1 0,-2 1-945,-7 1 1,-4-2-2337,-7-1 0,1-5 1697,-1 2 1,0-4 1583,0-1 0,-6 0 0,-1 0 0</inkml:trace>
  <inkml:trace contextRef="#ctx0" brushRef="#br0">29853 2968 7872,'0'-12'7963,"0"-1"-5860,0 6 0,4 11-938,0 9 1,6 13-1239,-1-1 1,-2 10 0,2-1 0,2 3 0,4 1 0,2-4-3146,-1-4 1,-2-2 1924,-1-3 1,0-2-2169,0-6 3461,0 1 0,-1-17 0,1 5 0</inkml:trace>
  <inkml:trace contextRef="#ctx0" brushRef="#br0">29930 3240 7845,'-13'-5'1548,"0"1"1,0-5-57,1 5 0,0-2-807,3 2 1,5 3-1674,8-4 0,4 5-1341,5 5 2329,5-4 0,8 10 0,7-3 0</inkml:trace>
  <inkml:trace contextRef="#ctx0" brushRef="#br0">30550 2956 7812,'0'-26'1604,"-2"1"1,-1 4-1,-1 4 2554,1 2 1,2 15-3562,1 9 1,0 10-1,1 11 1,2 4-1,3 3 1,0 2-1,1-2 1,0-1 139,3-1 0,1-7 0,2 2 1,0-4-738,0-4 0,-4-5 0,-1-8 0,1 2 0,2-11 0,-2-1 0,-5-11 0,-2-9 0,-2-7 0,0-2 0,-5-7 0,0-2 0,-1-7 0,0-4 0,-2-1-890,3-1 1,1 5 742,4-1 0,6 8 0,4 0 0,4 7 1,5 6-1,-1 7 132,1 4 0,3 9 85,-5 2 1,4 5 73,-3 5 1,-1 6 0,-4 8 0,0 0 403,-1-1 1,-3 5-489,0-1 1,-6 1 0,1 0-1,-4-2 1,-3 2 0,-3 0-502,-1-2 0,0-1 279,-2-2 1,-1-4 3,6 3 0,-5-2 0,5-3 0,1 1 0,2 0 1,1 2-117,0 2 0,1-3 327,3 3 1,4-7-38,5-1 0,-1-2 0,1 2 0,0-5 0,0-2 0,0-2-72,0 0 1,0 0-172,0 0-86,0 0 1,0 0-789,0 0-331,-6 0 459,-2 0 0,-3 0-98,2 0 0,2-2 683,3-2 1,2 2 319,-2-2 0,6-2 0,3 1 1,-1-1-1,0-1 0,0 1 586,-1 0 0,3-4-417,-2 2 1,0 0 189,-4 0 1,0-1-1,0-4 1,0 0 0,0 0 627,-1 1 1,-4-1-132,-4 0 0,-1 6 298,1 2 1,-1 5 0,4 5-542,-1 3 1,4 4 0,-3 1 0,2 1-438,-1 3 1,1-4-273,4 0 0,1-2 8,3-6 0,-2-1 0,3-4 1,0 0-1,-1-1 0,0-5-646,2-7 1,-5-1 645,3-8 1,-3 6 268,-1-1 0,0 3 1,-1 1-1,-2 1 966,-2 4 0,0 5-796,0 12 0,-2 1-283,-6 11 0,0-1 0,0 3 0,0-1 0,1 1 0,2 0 0,2-2 0,5 2 0,-2-6 0,-1 0-1356,2-4 0,0 0 0,3 0 0,0 0 0,-3 0 0,-5 0 1356,-3 0 0,-1 5 0,0 2 0</inkml:trace>
  <inkml:trace contextRef="#ctx0" brushRef="#br0">30524 3988 18439,'0'13'1034,"0"7"1,0 6 0,-2 7 0,0 4 0,-4 3 637,-1 3 0,2-2-2473,-3 2 1,1 0 0,-2-3 0,3-4 0,2-3-1,0-5 1,1-2 0,3-6 800,4-7 0,9 0 0,7-6 0</inkml:trace>
  <inkml:trace contextRef="#ctx0" brushRef="#br0">31053 3962 7802,'-13'0'3114,"0"0"-20,0 0 1,2 6-2102,2 3 0,-1 8 1,4 4-1,1 5 1,-1 3-1,3 2 721,2 2 0,1 0-2096,0 2 1,0-2-1,0-5 1,0 3-1,0-4 1,0-3-4535,0-2 1,4-7 1704,0 3 3211,6-4 0,3-1 0,7 0 0</inkml:trace>
  <inkml:trace contextRef="#ctx0" brushRef="#br0">31414 4169 19752,'13'7'2449,"0"4"0,0-3 0,1 0-1992,4 1-577,2-6 1,10 2-1,0-6 1,-1-3-1,-2-6 1,-1-6-1,0-7 985,-1-6 0,-6 1-810,-6-7 1,-6 5-1,-7-3 1,-3 3-468,-5 6 1,-8 3-477,-14 9 1,1 4 0,-5 6 0,-2 4 0,0 7 0,2 4-3850,3 4 0,6-1 4737,3 5 0,3 7 0,7 5 0</inkml:trace>
  <inkml:trace contextRef="#ctx0" brushRef="#br0">31776 4117 7793,'-7'0'4075,"1"6"0,13 1-2947,6 6 1,3 0-565,10 0 0,-1-5-666,14 1 0,3-6 1,11 1-1,1-5 0,2-8 1,-3-10-173,-4-8 1,-2-1 445,-8-7 1,-10-4 293,-16-4 0,-8 2 1,-10 5-1,-10 3 1,-11 3-1,-11 5 1570,-9 7 1,-4 9-1478,-2 5 1,2 3-939,3 1 0,0 10 0,6 4 0,7 5 0,4 3 0,7 3-2193,3 1 1,4-1 2571,8 1 0,2 0 0,6 0 0</inkml:trace>
  <inkml:trace contextRef="#ctx0" brushRef="#br0">29711 3898 7876,'-27'-19'861,"-4"0"1,-2 4 0,-1 6 0,1 8 1595,1 5 1,2 3-1,6 7 1,2 4-186,5 3 0,4 4-2074,5 0 0,9 1 0,12 0 0,10 0 0,9-2 0,8-1 567,4-1 0,2-7-723,1 3 1,2-5 0,-6-3-1,-3-3 1,-4 0 0,-6-1-43,-2-1 0,-13 0 0,-2-5 0,-11 4 0,-7 0 0,-9 6 0,-16-1 0,-6 4 0,-4 4 0,-5 3 0,0 0 0,-1 5-1523,-2-4 1,5-1-384,9 2 1,2-8 0,8 0 1905,2-4 0,10-7 0,6 3 0</inkml:trace>
  <inkml:trace contextRef="#ctx0" brushRef="#br0">29698 3730 7801,'-13'-4'1589,"0"-1"1,0 3 510,0 0 1,5 14 0,-1 6 0,-1 9-23,-1 8 1,-2 14-660,0 7 1,4 5-2118,1 4 1,0 2 0,0-1 0,3-6 0,4-7 0,1-12-6861,0-13 3270,0-8 3267,0-13 1,6-8 1020,2-12 0,4-11 0,1-9 0</inkml:trace>
  <inkml:trace contextRef="#ctx0" brushRef="#br0">31014 1523 15808,'0'19'618,"0"1"0,0 7 0,-1 2 0,-2 2 0,-1 2 1,-1 3-1,1 1-496,0 2 1,-5-2 0,5-2 0,1-7-1517,2-5 1,-4 0 0,1-6 1393,1-1 0,2-1 0,1-2 0</inkml:trace>
  <inkml:trace contextRef="#ctx0" brushRef="#br1">2801 9654 9723,'18'6'-255,"7"-3"870,5 5 1,0-3 0,-3 2 0,3 0 0,5-1 0,2 1 0,2-1 0,-1-1 359,1-2 0,1-1 0,5-4 0,5-2 22,4-5-817,8-2 0,1-2 0,6-1 1,-2-2-1,-2-1 0,-5 1 0,-2 1 83,-1 3 1,6 3 0,9 0 0,-36 5 0,1 0-81,0 0 1,0 1 0,32-7-305,-8 5 1,-6-3 239,6 3 1,8-3 0,-32 5 0,0 0-1,0 0 1,-1 0 0,36-4 0,-5 1 353,-1 1 0,-1-4-296,-1 5 0,1-5-160,-1 5 0,5-2 0,2 3 0,-4-1 0,-4 1 0,-8 2 84,-4 1 0,1 0 14,4 0 0,7-2-15,6-2 1,-2 2 0,-5-3 0,-3 0 0,-2 0 0,-3-3 274,-1-2 1,5 5-1,2-1 0,5 2-29,3-1 0,-7 1-233,-1 4 1,-6-4-84,-2-1 0,1 0 0,3 2 0,4-1 0,5-1 0,2-1-30,2-2 0,-5 1 0,-3-2 0,-5 2 0,4-2 0,2-2 0,6 2 0,-31 4 0,0 0 0,0 1 0,0 0 0,0 1 0,-1 1 0,33 1 0,-3 1 0,-1 0 0,6 0 0,-32 0 0,0 0 0,-1 2 0,1 2 0,2 0 0,0 0 0,-2 1 0,-1 0 0,0 0 0,-1 0 0,0 0 0,0-1 0,3 1 0,-1 0 0,1 0 0,-1 0-86,4-1 0,0 1 0,0 0 0,-1 0 86,1-3 0,0 0 0,-3 3 0,0 0 0,-2-1 0,0-1 0,2 1 0,1 1 0,0-2 0,1 1 0,1-1 0,1 1 0,1 0 0,-1-1 0,-1-1 0,0 1 0,0 1 0,0 0 0,-2 0 0,0 1 0,2 1 0,0 1 0,0 0 0,0 0 0,2 1 0,0 0 0,0 0 0,-1 1 0,-1 0 0,0-1 0,-1 1 0,-1-1 0,1 1 0,0 0 0,2 2 0,2 1 0,3-1 0,1-1 0,-3 0 0,-1 0 0,2 1 0,-1 0 0,-4-1 0,0 0 0,4 1 0,0-1 0,3-1 0,-1-1 0,2-1 0,0-1 0,2 0 0,-1-2 0,-1 1 0,0-1 0,-1-2 0,2-1 0,1 1 0,1 0 0,-2-1 0,1 0 0,1-1 0,-1 0 0,0-3 0,-1 0 0,0-1 0,-1-1 0,1 0 0,0 0 0,-1 0 0,1 0 0,-2 1 0,0 0 0,-2-1 0,-1 0 0,0-1 0,1 1 0,-5 1 0,0 0 0,1-1 0,0 0 0,2 2 0,-1 2 0,-1-2 0,-1 1 0,-1 2 0,-1 0 0,-2 0 0,-2 0 0,37 0 0,-1 0 0,-34 0 0,1 0 0,0 0 0,1 0 0,2 0 0,0 0 0,0 0 0,-1 0 0,31 0 0,-33 0 0,-1 0 0,31-1 0,-31-1 0,1 0 0,3-2 0,0 0 0,0 0 0,0 0-141,-2-1 0,0 1 1,-2 0-1,-2 0 141,28-9 0,0 0 0,4 0 0,2-2 0,0 1 0,-6 0 0,-9 2 0,-9 1 0,-8-1 0,-2-1 0,-7 1 0,-1 3 0,-8 0 0,2 6 0,-5-1 0,-3 1 0,0 0 0,-2-1 786,-6 0-2645,-2 4 1,0 6 0,-1 2-1,-1 5 1,-2 4 2011,-1 5 0,0 2 0,0 2 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19416 10402 8197,'-16'0'0,"3"0"337,1 0 1,4 1 0,2 2 0,5 2-1,2 3 1,6 0 0,4 0 0,6 0 208,4-3 0,7 3 0,4-3 0,2-1 0,3-1 0,0-2-4,0-1 1,0 0 0,-4-1 0,-1-2 184,-1-2-541,-2 1 1,-7-4-1,-1 3 1,-1-3-1,-4 1 1,-4 1 1146,-3 0-1216,-4 4 1,-2-3 0,-6 4 0,-4-2 0,-3 1 0,-4 1 0,-3 1 52,-2 0 1,-2 0 0,-5 0 0,1 0-200,0 0 0,-3 0-68,-3 0 0,1 3 141,0 0 0,-1 0 0,-3-1 0,-1 1 0,2 0 1,4 0 248,5-1 1,4 2-1,7-2-340,1 1 0,8-1 43,4-2 0,7 3-47,7 0 1,2 0 0,2-3-1,1 0 1,3-1 0,2-1 32,1-1 1,1-2 0,-2 1 0,-2-1 5,-3-1 1,-2 1 26,-3 0 0,-2-1-3183,-3-2 3168,-5 3 0,0 5 0,-4 5 0</inkml:trace>
  <inkml:trace contextRef="#ctx0" brushRef="#br0">21538 10427 8052,'-8'-4'604,"0"3"1,1 0 0,4 2 757,6 5 1,5-1-1064,3 0 0,5 0 0,7 0 0,1-2 0,2-1 0,1 0 0,2 1 0,2-1 303,1-1 1,1-2 0,-5-1-1,-1-2-54,-1-1 1,-2 0-193,-2-4 1,-5 1-27,-6 0 1,-3-1 0,-2 1 0,-3 0 0,-3 0 300,-3 3 1,-4-3 0,-5 4 0,-1-1-165,-2 2 0,-1 2-274,-1 1 1,-3 0-157,-3 0 0,-1 4 1,-2 2-1,-1 4 0,0 1 1,0-1-337,1-1 1,-1 0 118,2-1 1,1 0-136,8 1 0,0-4-43,2 1 0,10-4 126,10 1 1,2-2-316,6-1 1,0 0 0,4 0 0,1-1 0,4-1 0,1-1 363,1 1 0,0 1 0,0 1 0</inkml:trace>
  <inkml:trace contextRef="#ctx0" brushRef="#br0">21513 16401 7938,'-16'0'279,"0"0"1,2 1 0,3 2 0,1 3 0,3 3 650,1 2 1,3 1-619,3-4 0,3 3 0,4 0 0,3-2 1,4-1-1,3-3 0,2-2 0,5-1 487,2-1 1,1-1 0,5 0 0,1-1 35,3-2 0,0 1-471,-3-3 1,-3 0-216,-2 0 0,-3-2 0,-3 4 0,-3-1 0,-4 0 327,-4 2-231,-6 1 1,-2 1-37,-6 0 0,-2 1 1,-6 1-1,-3 2 1,-3 0-1,-3 0-131,-2 1 0,-7-2 57,-4 2 1,-1-3-28,-5 1 0,0-2 0,-2-1 0,3 0 0,3 0 0,6 0 343,3 0 0,1 0-2120,8 0 982,2 0 0,10-1 1,4-1-1,3-1 687,7 1 0,6-2 0,7-1 0</inkml:trace>
  <inkml:trace contextRef="#ctx0" brushRef="#br0">20803 14229 7910,'0'-9'151,"-3"1"1,1-1-1,0 1 1,1 0-1,0-1 820,-2 1 1,2 2-638,-2 1 1,2 2 0,0-2 0,-1 3 0,-4 3 0,-2 4 0,-3 5 1813,-3 4-1911,-2 10 0,-5-1 0,-4 7 0,-2 3 0,-4 1 0,14-15 0,1-1 0,-2 1 0,0 0-67,1 1 1,-1 0-1,1-1 0,1 0-127,0 1 1,1-1 0,-13 14 32,6 0 1,3-9 0,7-2-428,4-6 0,9-8-131,2-5 0,7-7 356,4-4 1,5-5 0,3-7 0,4-3 0,4-4 0,4-4 38,-15 15 1,0 0 0,-1-1 0,0 0 111,2 1 1,-1-1-1,12-15-47,0 1 1,-6 6 0,-5 6 0,-7 4 0,-4 2 612,-6 4 0,-4 3-456,-8 6 0,1 1-291,0 1 1,-4 3 0,-2 4-1,-1 2 1,0 1 155,1 1 0,0 4 0,-3 5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10777 13500 8032,'-7'-20'1135,"1"-4"0,6 9-678,0-2 1,7 3 0,8 0 0,9-4 0,9-3 0,7-5 1217,7-4 1,12-9-1410,-23 16 0,1-1 0,6-4 1,0 0-1,3-2 0,-1-2 1,0-1-1,0-1 0,0-2 1,-1-1-1,-1 0 0,-1 1 1,-1 1-1,-1 1 0,-1 3 1,0 3-533,-2 2 1,0 2 237,25-15 1,1 7 0,-14 7 0,-6 0 0,-9 2 0,-5 3 0,-3 2-365,0 2-371,-1 1 0,0 7 0,-2 1 0,-3 1 0,-2 3 1,-2 2-5092,-1 1 5854,-3-6 0,-10-1 0,-4-6 0</inkml:trace>
  <inkml:trace contextRef="#ctx0" brushRef="#br0">10829 13126 8044,'-32'26'464,"-2"0"0,-5 1 0,-3 4 0,-2 7 0,-1 5 1,1 3 660,2 2 1,2 2 0,4 1 0,6-4-43,9-4 0,6-4-750,7-5 1,2-2 0,7-9 0,4-5 0,5-5 0,6-3 78,5-3 1,5-1 0,5-6 0,7-1-146,3-4 1,8-2-1322,-2-6 1,4 0 226,0 1 1,-3-3-1,-4-1 1,-2-1-1,-5 1 827,0 2 0,6-5 0,3-1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29569 2517 7717,'-32'13'3592,"6"0"0,8 4-3023,9 0 1,9 7 0,12 2 0,8 10 0,11 10 0,9 13-217,-16-25 0,0 2 0,3 7 0,2 3-347,0 5 0,2 1 0,3 4 1,2 0-1,3 1 0,1 1 1,-11-17-1,1 1 0,0 1 1,3 4-1,1 1 0,-1 0 1,3 4-1,0 2 0,0 0 1,2 3-1,0 1 0,1 0 1,-1 2-1,1 1 0,0 0-1536,-9-14 0,0 1 1,0 0-1,-1 0 1424,0 1 1,0 2 0,-1-1 0,-1 1 0,-1-1-1,-1 0 1,0 0 0,0 0 0,-2 1 0,1 0 0,-1-1-1,1 1 1,8 14 0,0 0 0,0-2 0,0-2-1,0-2 1,0-1 0,-1-3 0,1-2 0,-1 0 0,-3-5-1,1-2 1,-2 0 105,10 17 0,-1-2 0,-3-8 0,-1-2 0,-6-5 0,-1-1 0,1-3 0</inkml:trace>
  <inkml:trace contextRef="#ctx0" brushRef="#br0">30434 2310 7738,'-21'0'3276,"3"6"1,5 4 0,1 9 82,4 11 1,9 27-3116,4-18 1,3 4 0,9 12 0,3 3 0,-2-12 0,1 1 0,2 1 0,2 5 0,2 1 0,0 2 0,3 6 0,1 0 0,0 2 0,-6-13 0,1 0 0,0 0 0,0 1-1606,1 2 1,0 1 0,1 1 0,1-1 1360,2 1 0,1 0 0,0 0 0,1 1 0,1 0 0,0 1 0,1 1 0,-1-1 0,3 2 0,-1 1 0,1-1 0,-1 1 0,0 1 0,-1 1 0,0-1 0,0 1 0,0-1 0,0 0 0,-1 1 0,1-2-839,-1-2 0,1 0 0,-1 0 0,0-1 0,-1-2 0,-1-1 1,0 0-1,-1 0-180,0-3 0,-1 0 0,0 0 0,-1-1 1019,8 13 0,0 1 0,-1-2 0,-3-5 0,0-1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2958" tIns="46479" rIns="92958" bIns="46479" numCol="1" anchor="t" anchorCtr="0" compatLnSpc="1">
            <a:prstTxWarp prst="textNoShape">
              <a:avLst/>
            </a:prstTxWarp>
          </a:bodyPr>
          <a:lstStyle>
            <a:lvl1pPr defTabSz="930275">
              <a:defRPr sz="1200">
                <a:latin typeface="Source Sans Pro" panose="020B0503030403020204" pitchFamily="34" charset="0"/>
                <a:ea typeface="+mn-ea"/>
                <a:cs typeface="Arial" charset="0"/>
              </a:defRPr>
            </a:lvl1pPr>
          </a:lstStyle>
          <a:p>
            <a:pPr>
              <a:defRPr/>
            </a:pPr>
            <a:endParaRPr lang="en-US" dirty="0"/>
          </a:p>
        </p:txBody>
      </p:sp>
      <p:sp>
        <p:nvSpPr>
          <p:cNvPr id="24579" name="Rectangle 3"/>
          <p:cNvSpPr>
            <a:spLocks noGrp="1" noChangeArrowheads="1"/>
          </p:cNvSpPr>
          <p:nvPr>
            <p:ph type="dt" idx="1"/>
          </p:nvPr>
        </p:nvSpPr>
        <p:spPr bwMode="auto">
          <a:xfrm>
            <a:off x="3963988" y="0"/>
            <a:ext cx="3032125" cy="463550"/>
          </a:xfrm>
          <a:prstGeom prst="rect">
            <a:avLst/>
          </a:prstGeom>
          <a:noFill/>
          <a:ln w="9525">
            <a:noFill/>
            <a:miter lim="800000"/>
            <a:headEnd/>
            <a:tailEnd/>
          </a:ln>
          <a:effectLst/>
        </p:spPr>
        <p:txBody>
          <a:bodyPr vert="horz" wrap="square" lIns="92958" tIns="46479" rIns="92958" bIns="46479" numCol="1" anchor="t" anchorCtr="0" compatLnSpc="1">
            <a:prstTxWarp prst="textNoShape">
              <a:avLst/>
            </a:prstTxWarp>
          </a:bodyPr>
          <a:lstStyle>
            <a:lvl1pPr algn="r" defTabSz="930275">
              <a:defRPr sz="1200">
                <a:latin typeface="Source Sans Pro" panose="020B0503030403020204" pitchFamily="34" charset="0"/>
                <a:ea typeface="+mn-ea"/>
                <a:cs typeface="Arial" charset="0"/>
              </a:defRPr>
            </a:lvl1pPr>
          </a:lstStyle>
          <a:p>
            <a:pPr>
              <a:defRPr/>
            </a:pPr>
            <a:endParaRPr lang="en-US" dirty="0"/>
          </a:p>
        </p:txBody>
      </p:sp>
      <p:sp>
        <p:nvSpPr>
          <p:cNvPr id="16388" name="Rectangle 4"/>
          <p:cNvSpPr>
            <a:spLocks noGrp="1" noRot="1" noChangeAspect="1" noChangeArrowheads="1" noTextEdit="1"/>
          </p:cNvSpPr>
          <p:nvPr>
            <p:ph type="sldImg" idx="2"/>
          </p:nvPr>
        </p:nvSpPr>
        <p:spPr bwMode="auto">
          <a:xfrm>
            <a:off x="409575" y="695325"/>
            <a:ext cx="6178550" cy="34766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700088" y="4403725"/>
            <a:ext cx="5597525" cy="4171950"/>
          </a:xfrm>
          <a:prstGeom prst="rect">
            <a:avLst/>
          </a:prstGeom>
          <a:noFill/>
          <a:ln w="9525">
            <a:noFill/>
            <a:miter lim="800000"/>
            <a:headEnd/>
            <a:tailEnd/>
          </a:ln>
          <a:effectLst/>
        </p:spPr>
        <p:txBody>
          <a:bodyPr vert="horz" wrap="square" lIns="92958" tIns="46479" rIns="92958" bIns="46479"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4582" name="Rectangle 6"/>
          <p:cNvSpPr>
            <a:spLocks noGrp="1" noChangeArrowheads="1"/>
          </p:cNvSpPr>
          <p:nvPr>
            <p:ph type="ftr" sz="quarter" idx="4"/>
          </p:nvPr>
        </p:nvSpPr>
        <p:spPr bwMode="auto">
          <a:xfrm>
            <a:off x="0" y="8805863"/>
            <a:ext cx="3032125" cy="463550"/>
          </a:xfrm>
          <a:prstGeom prst="rect">
            <a:avLst/>
          </a:prstGeom>
          <a:noFill/>
          <a:ln w="9525">
            <a:noFill/>
            <a:miter lim="800000"/>
            <a:headEnd/>
            <a:tailEnd/>
          </a:ln>
          <a:effectLst/>
        </p:spPr>
        <p:txBody>
          <a:bodyPr vert="horz" wrap="square" lIns="92958" tIns="46479" rIns="92958" bIns="46479" numCol="1" anchor="b" anchorCtr="0" compatLnSpc="1">
            <a:prstTxWarp prst="textNoShape">
              <a:avLst/>
            </a:prstTxWarp>
          </a:bodyPr>
          <a:lstStyle>
            <a:lvl1pPr defTabSz="930275">
              <a:defRPr sz="1200">
                <a:latin typeface="Source Sans Pro" panose="020B0503030403020204" pitchFamily="34" charset="0"/>
                <a:ea typeface="+mn-ea"/>
                <a:cs typeface="Arial" charset="0"/>
              </a:defRPr>
            </a:lvl1pPr>
          </a:lstStyle>
          <a:p>
            <a:pPr>
              <a:defRPr/>
            </a:pPr>
            <a:endParaRPr lang="en-US" dirty="0"/>
          </a:p>
        </p:txBody>
      </p:sp>
      <p:sp>
        <p:nvSpPr>
          <p:cNvPr id="24583" name="Rectangle 7"/>
          <p:cNvSpPr>
            <a:spLocks noGrp="1" noChangeArrowheads="1"/>
          </p:cNvSpPr>
          <p:nvPr>
            <p:ph type="sldNum" sz="quarter" idx="5"/>
          </p:nvPr>
        </p:nvSpPr>
        <p:spPr bwMode="auto">
          <a:xfrm>
            <a:off x="3963988" y="8805863"/>
            <a:ext cx="3032125" cy="463550"/>
          </a:xfrm>
          <a:prstGeom prst="rect">
            <a:avLst/>
          </a:prstGeom>
          <a:noFill/>
          <a:ln w="9525">
            <a:noFill/>
            <a:miter lim="800000"/>
            <a:headEnd/>
            <a:tailEnd/>
          </a:ln>
          <a:effectLst/>
        </p:spPr>
        <p:txBody>
          <a:bodyPr vert="horz" wrap="square" lIns="92958" tIns="46479" rIns="92958" bIns="46479" numCol="1" anchor="b" anchorCtr="0" compatLnSpc="1">
            <a:prstTxWarp prst="textNoShape">
              <a:avLst/>
            </a:prstTxWarp>
          </a:bodyPr>
          <a:lstStyle>
            <a:lvl1pPr algn="r" defTabSz="930275">
              <a:defRPr sz="1200">
                <a:latin typeface="Source Sans Pro" panose="020B0503030403020204" pitchFamily="34" charset="0"/>
                <a:cs typeface="Arial" pitchFamily="34" charset="0"/>
              </a:defRPr>
            </a:lvl1pPr>
          </a:lstStyle>
          <a:p>
            <a:fld id="{E5998E1D-90CC-4E39-A0D7-942F7C6A4DF2}" type="slidenum">
              <a:rPr lang="en-US" altLang="en-US" smtClean="0"/>
              <a:pPr/>
              <a:t>‹#›</a:t>
            </a:fld>
            <a:endParaRPr lang="en-US" altLang="en-US" dirty="0"/>
          </a:p>
        </p:txBody>
      </p:sp>
    </p:spTree>
    <p:extLst>
      <p:ext uri="{BB962C8B-B14F-4D97-AF65-F5344CB8AC3E}">
        <p14:creationId xmlns:p14="http://schemas.microsoft.com/office/powerpoint/2010/main" val="28973147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Source Sans Pro" panose="020B0503030403020204" pitchFamily="34"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Source Sans Pro" panose="020B0503030403020204" pitchFamily="34" charset="0"/>
        <a:ea typeface="Source Sans Pro" panose="020B0503030403020204" pitchFamily="34" charset="0"/>
        <a:cs typeface="Arial" charset="0"/>
      </a:defRPr>
    </a:lvl2pPr>
    <a:lvl3pPr marL="914400" algn="l" rtl="0" eaLnBrk="0" fontAlgn="base" hangingPunct="0">
      <a:spcBef>
        <a:spcPct val="30000"/>
      </a:spcBef>
      <a:spcAft>
        <a:spcPct val="0"/>
      </a:spcAft>
      <a:defRPr sz="1200" kern="1200">
        <a:solidFill>
          <a:schemeClr val="tx1"/>
        </a:solidFill>
        <a:latin typeface="Source Sans Pro" panose="020B0503030403020204" pitchFamily="34" charset="0"/>
        <a:ea typeface="Source Sans Pro" panose="020B0503030403020204" pitchFamily="34" charset="0"/>
        <a:cs typeface="Arial" charset="0"/>
      </a:defRPr>
    </a:lvl3pPr>
    <a:lvl4pPr marL="1371600" algn="l" rtl="0" eaLnBrk="0" fontAlgn="base" hangingPunct="0">
      <a:spcBef>
        <a:spcPct val="30000"/>
      </a:spcBef>
      <a:spcAft>
        <a:spcPct val="0"/>
      </a:spcAft>
      <a:defRPr sz="1200" kern="1200">
        <a:solidFill>
          <a:schemeClr val="tx1"/>
        </a:solidFill>
        <a:latin typeface="Source Sans Pro" panose="020B0503030403020204" pitchFamily="34" charset="0"/>
        <a:ea typeface="Source Sans Pro" panose="020B0503030403020204" pitchFamily="34" charset="0"/>
        <a:cs typeface="Arial" charset="0"/>
      </a:defRPr>
    </a:lvl4pPr>
    <a:lvl5pPr marL="1828800" algn="l" rtl="0" eaLnBrk="0" fontAlgn="base" hangingPunct="0">
      <a:spcBef>
        <a:spcPct val="30000"/>
      </a:spcBef>
      <a:spcAft>
        <a:spcPct val="0"/>
      </a:spcAft>
      <a:defRPr sz="1200" kern="1200">
        <a:solidFill>
          <a:schemeClr val="tx1"/>
        </a:solidFill>
        <a:latin typeface="Source Sans Pro" panose="020B0503030403020204" pitchFamily="34" charset="0"/>
        <a:ea typeface="Source Sans Pro" panose="020B0503030403020204" pitchFamily="34"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90.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91.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92.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93.xml"/><Relationship Id="rId2" Type="http://schemas.openxmlformats.org/officeDocument/2006/relationships/notesMaster" Target="../notesMasters/notesMaster1.xml"/><Relationship Id="rId1" Type="http://schemas.openxmlformats.org/officeDocument/2006/relationships/tags" Target="../tags/tag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p:cNvSpPr>
            <a:spLocks noGrp="1" noRot="1" noChangeAspect="1"/>
          </p:cNvSpPr>
          <p:nvPr>
            <p:ph type="sldImg"/>
          </p:nvPr>
        </p:nvSpPr>
        <p:spPr>
          <a:xfrm>
            <a:off x="409575" y="695325"/>
            <a:ext cx="6178550" cy="3476625"/>
          </a:xfrm>
          <a:ln/>
        </p:spPr>
      </p:sp>
      <p:sp>
        <p:nvSpPr>
          <p:cNvPr id="2765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itchFamily="34" charset="-128"/>
              <a:cs typeface="Arial" pitchFamily="34" charset="0"/>
            </a:endParaRPr>
          </a:p>
        </p:txBody>
      </p:sp>
      <p:sp>
        <p:nvSpPr>
          <p:cNvPr id="27651"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Arial" pitchFamily="34" charset="0"/>
                <a:ea typeface="ＭＳ Ｐゴシック" pitchFamily="34" charset="-128"/>
              </a:defRPr>
            </a:lvl1pPr>
            <a:lvl2pPr marL="742950" indent="-285750" defTabSz="930275" eaLnBrk="0" hangingPunct="0">
              <a:defRPr sz="2400">
                <a:solidFill>
                  <a:schemeClr val="tx1"/>
                </a:solidFill>
                <a:latin typeface="Arial" pitchFamily="34" charset="0"/>
                <a:ea typeface="ＭＳ Ｐゴシック" pitchFamily="34" charset="-128"/>
              </a:defRPr>
            </a:lvl2pPr>
            <a:lvl3pPr marL="1143000" indent="-228600" defTabSz="930275" eaLnBrk="0" hangingPunct="0">
              <a:defRPr sz="2400">
                <a:solidFill>
                  <a:schemeClr val="tx1"/>
                </a:solidFill>
                <a:latin typeface="Arial" pitchFamily="34" charset="0"/>
                <a:ea typeface="ＭＳ Ｐゴシック" pitchFamily="34" charset="-128"/>
              </a:defRPr>
            </a:lvl3pPr>
            <a:lvl4pPr marL="1600200" indent="-228600" defTabSz="930275" eaLnBrk="0" hangingPunct="0">
              <a:defRPr sz="2400">
                <a:solidFill>
                  <a:schemeClr val="tx1"/>
                </a:solidFill>
                <a:latin typeface="Arial" pitchFamily="34" charset="0"/>
                <a:ea typeface="ＭＳ Ｐゴシック" pitchFamily="34" charset="-128"/>
              </a:defRPr>
            </a:lvl4pPr>
            <a:lvl5pPr marL="2057400" indent="-228600" defTabSz="930275" eaLnBrk="0" hangingPunct="0">
              <a:defRPr sz="2400">
                <a:solidFill>
                  <a:schemeClr val="tx1"/>
                </a:solidFill>
                <a:latin typeface="Arial" pitchFamily="34" charset="0"/>
                <a:ea typeface="ＭＳ Ｐゴシック" pitchFamily="34" charset="-128"/>
              </a:defRPr>
            </a:lvl5pPr>
            <a:lvl6pPr marL="2514600" indent="-228600" defTabSz="930275"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30275"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30275"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30275"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A1AA0F6B-3F3E-4A53-90B8-D5A0263B79A5}" type="slidenum">
              <a:rPr lang="en-US" altLang="en-US" sz="1200">
                <a:latin typeface="Source Sans Pro" panose="020B0503030403020204" pitchFamily="34" charset="0"/>
              </a:rPr>
              <a:pPr eaLnBrk="1" hangingPunct="1"/>
              <a:t>31</a:t>
            </a:fld>
            <a:endParaRPr lang="en-US" altLang="en-US" sz="1200" dirty="0">
              <a:latin typeface="Source Sans Pro" panose="020B0503030403020204" pitchFamily="34" charset="0"/>
            </a:endParaRPr>
          </a:p>
        </p:txBody>
      </p:sp>
    </p:spTree>
    <p:extLst>
      <p:ext uri="{BB962C8B-B14F-4D97-AF65-F5344CB8AC3E}">
        <p14:creationId xmlns:p14="http://schemas.microsoft.com/office/powerpoint/2010/main" val="2364495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Schnuck's, Public domain, via Wikimedia Commons (https://</a:t>
            </a:r>
            <a:r>
              <a:rPr lang="en-US" dirty="0" err="1"/>
              <a:t>commons.wikimedia.org</a:t>
            </a:r>
            <a:r>
              <a:rPr lang="en-US" dirty="0"/>
              <a:t>/wiki/File:Schnuck%27s_Logo.PNG)</a:t>
            </a:r>
          </a:p>
          <a:p>
            <a:endParaRPr lang="en-US" dirty="0"/>
          </a:p>
          <a:p>
            <a:r>
              <a:rPr lang="en-US" dirty="0"/>
              <a:t>See page for author, Public domain, via Wikimedia Commons (https://</a:t>
            </a:r>
            <a:r>
              <a:rPr lang="en-US" dirty="0" err="1"/>
              <a:t>upload.wikimedia.org</a:t>
            </a:r>
            <a:r>
              <a:rPr lang="en-US" dirty="0"/>
              <a:t>/</a:t>
            </a:r>
            <a:r>
              <a:rPr lang="en-US" dirty="0" err="1"/>
              <a:t>wikipedia</a:t>
            </a:r>
            <a:r>
              <a:rPr lang="en-US" dirty="0"/>
              <a:t>/commons/thumb/f/f3/</a:t>
            </a:r>
            <a:r>
              <a:rPr lang="en-US" dirty="0" err="1"/>
              <a:t>Whole_Foods_Market_logo.svg</a:t>
            </a:r>
            <a:r>
              <a:rPr lang="en-US" dirty="0"/>
              <a:t>/512px-Whole_Foods_Market_logo.svg.png)</a:t>
            </a:r>
          </a:p>
          <a:p>
            <a:endParaRPr lang="en-US" dirty="0"/>
          </a:p>
          <a:p>
            <a:r>
              <a:rPr lang="en-US" dirty="0"/>
              <a:t>https://</a:t>
            </a:r>
            <a:r>
              <a:rPr lang="en-US" dirty="0" err="1"/>
              <a:t>www.instacart.com</a:t>
            </a:r>
            <a:r>
              <a:rPr lang="en-US" dirty="0"/>
              <a:t>/</a:t>
            </a:r>
            <a:r>
              <a:rPr lang="en-US" dirty="0" err="1"/>
              <a:t>landing?product_id</a:t>
            </a:r>
            <a:r>
              <a:rPr lang="en-US" dirty="0"/>
              <a:t>=29291</a:t>
            </a:r>
          </a:p>
          <a:p>
            <a:endParaRPr lang="en-US" dirty="0"/>
          </a:p>
          <a:p>
            <a:r>
              <a:rPr lang="en-US" dirty="0"/>
              <a:t>https://</a:t>
            </a:r>
            <a:r>
              <a:rPr lang="en-US" dirty="0" err="1"/>
              <a:t>www.instacart.com</a:t>
            </a:r>
            <a:r>
              <a:rPr lang="en-US" dirty="0"/>
              <a:t>/</a:t>
            </a:r>
            <a:r>
              <a:rPr lang="en-US" dirty="0" err="1"/>
              <a:t>landing?product_id</a:t>
            </a:r>
            <a:r>
              <a:rPr lang="en-US" dirty="0"/>
              <a:t>=32502</a:t>
            </a:r>
          </a:p>
          <a:p>
            <a:endParaRPr lang="en-US" dirty="0"/>
          </a:p>
        </p:txBody>
      </p:sp>
      <p:sp>
        <p:nvSpPr>
          <p:cNvPr id="4" name="Slide Number Placeholder 3"/>
          <p:cNvSpPr>
            <a:spLocks noGrp="1"/>
          </p:cNvSpPr>
          <p:nvPr>
            <p:ph type="sldNum" sz="quarter" idx="5"/>
          </p:nvPr>
        </p:nvSpPr>
        <p:spPr/>
        <p:txBody>
          <a:bodyPr/>
          <a:lstStyle/>
          <a:p>
            <a:fld id="{E5998E1D-90CC-4E39-A0D7-942F7C6A4DF2}" type="slidenum">
              <a:rPr lang="en-US" altLang="en-US" smtClean="0"/>
              <a:pPr/>
              <a:t>42</a:t>
            </a:fld>
            <a:endParaRPr lang="en-US" altLang="en-US" dirty="0"/>
          </a:p>
        </p:txBody>
      </p:sp>
    </p:spTree>
    <p:extLst>
      <p:ext uri="{BB962C8B-B14F-4D97-AF65-F5344CB8AC3E}">
        <p14:creationId xmlns:p14="http://schemas.microsoft.com/office/powerpoint/2010/main" val="2201322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5325"/>
            <a:ext cx="6178550" cy="34766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998E1D-90CC-4E39-A0D7-942F7C6A4DF2}" type="slidenum">
              <a:rPr lang="en-US" altLang="en-US" smtClean="0"/>
              <a:pPr/>
              <a:t>43</a:t>
            </a:fld>
            <a:endParaRPr lang="en-US" altLang="en-US" dirty="0"/>
          </a:p>
        </p:txBody>
      </p:sp>
    </p:spTree>
    <p:extLst>
      <p:ext uri="{BB962C8B-B14F-4D97-AF65-F5344CB8AC3E}">
        <p14:creationId xmlns:p14="http://schemas.microsoft.com/office/powerpoint/2010/main" val="1463753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5325"/>
            <a:ext cx="6178550" cy="34766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998E1D-90CC-4E39-A0D7-942F7C6A4DF2}" type="slidenum">
              <a:rPr lang="en-US" altLang="en-US" smtClean="0"/>
              <a:pPr/>
              <a:t>44</a:t>
            </a:fld>
            <a:endParaRPr lang="en-US" altLang="en-US" dirty="0"/>
          </a:p>
        </p:txBody>
      </p:sp>
    </p:spTree>
    <p:extLst>
      <p:ext uri="{BB962C8B-B14F-4D97-AF65-F5344CB8AC3E}">
        <p14:creationId xmlns:p14="http://schemas.microsoft.com/office/powerpoint/2010/main" val="4147886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5325"/>
            <a:ext cx="6178550" cy="3476625"/>
          </a:xfrm>
        </p:spPr>
      </p:sp>
      <p:sp>
        <p:nvSpPr>
          <p:cNvPr id="3" name="Notes Placeholder 2"/>
          <p:cNvSpPr>
            <a:spLocks noGrp="1"/>
          </p:cNvSpPr>
          <p:nvPr>
            <p:ph type="body" idx="1"/>
          </p:nvPr>
        </p:nvSpPr>
        <p:spPr/>
        <p:txBody>
          <a:bodyPr/>
          <a:lstStyle/>
          <a:p>
            <a:r>
              <a:rPr lang="en-US" dirty="0"/>
              <a:t>P = 6 – 0.06Q</a:t>
            </a:r>
          </a:p>
          <a:p>
            <a:r>
              <a:rPr lang="en-US" dirty="0"/>
              <a:t>MR = 6 – 0.12Q</a:t>
            </a:r>
          </a:p>
          <a:p>
            <a:r>
              <a:rPr lang="en-US" dirty="0"/>
              <a:t>MR = MC</a:t>
            </a:r>
          </a:p>
          <a:p>
            <a:r>
              <a:rPr lang="en-US" dirty="0"/>
              <a:t>6 – 0.12Q = 0</a:t>
            </a:r>
          </a:p>
          <a:p>
            <a:r>
              <a:rPr lang="en-US" dirty="0"/>
              <a:t>12/100Q = 6</a:t>
            </a:r>
          </a:p>
          <a:p>
            <a:r>
              <a:rPr lang="en-US" dirty="0"/>
              <a:t>Q = 100*6/12 = 100/2 = 50</a:t>
            </a:r>
          </a:p>
          <a:p>
            <a:r>
              <a:rPr lang="en-US" dirty="0"/>
              <a:t>P = 6 – 0.06*50 = 6 – 3 = 3</a:t>
            </a:r>
          </a:p>
          <a:p>
            <a:r>
              <a:rPr lang="en-US" dirty="0"/>
              <a:t>QU: 3 = 6 – 0.01Q =&gt; 0.01Q = 3 =&gt; QU = 300</a:t>
            </a:r>
          </a:p>
          <a:p>
            <a:r>
              <a:rPr lang="en-US" dirty="0"/>
              <a:t>QM: 3 = 6 – 0.05Q =&gt; 0.05Q = 3 =&gt; QM = 60</a:t>
            </a:r>
          </a:p>
          <a:p>
            <a:endParaRPr lang="en-US" dirty="0"/>
          </a:p>
        </p:txBody>
      </p:sp>
      <p:sp>
        <p:nvSpPr>
          <p:cNvPr id="4" name="Slide Number Placeholder 3"/>
          <p:cNvSpPr>
            <a:spLocks noGrp="1"/>
          </p:cNvSpPr>
          <p:nvPr>
            <p:ph type="sldNum" sz="quarter" idx="10"/>
          </p:nvPr>
        </p:nvSpPr>
        <p:spPr/>
        <p:txBody>
          <a:bodyPr/>
          <a:lstStyle/>
          <a:p>
            <a:fld id="{E5998E1D-90CC-4E39-A0D7-942F7C6A4DF2}" type="slidenum">
              <a:rPr lang="en-US" altLang="en-US" smtClean="0"/>
              <a:pPr/>
              <a:t>48</a:t>
            </a:fld>
            <a:endParaRPr lang="en-US" altLang="en-US" dirty="0"/>
          </a:p>
        </p:txBody>
      </p:sp>
    </p:spTree>
    <p:extLst>
      <p:ext uri="{BB962C8B-B14F-4D97-AF65-F5344CB8AC3E}">
        <p14:creationId xmlns:p14="http://schemas.microsoft.com/office/powerpoint/2010/main" val="223961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5325"/>
            <a:ext cx="6178550" cy="34766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998E1D-90CC-4E39-A0D7-942F7C6A4DF2}" type="slidenum">
              <a:rPr lang="en-US" altLang="en-US" smtClean="0"/>
              <a:pPr/>
              <a:t>61</a:t>
            </a:fld>
            <a:endParaRPr lang="en-US" altLang="en-US" dirty="0"/>
          </a:p>
        </p:txBody>
      </p:sp>
    </p:spTree>
    <p:extLst>
      <p:ext uri="{BB962C8B-B14F-4D97-AF65-F5344CB8AC3E}">
        <p14:creationId xmlns:p14="http://schemas.microsoft.com/office/powerpoint/2010/main" val="197831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5325"/>
            <a:ext cx="6178550" cy="34766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998E1D-90CC-4E39-A0D7-942F7C6A4DF2}" type="slidenum">
              <a:rPr lang="en-US" altLang="en-US" smtClean="0"/>
              <a:pPr/>
              <a:t>62</a:t>
            </a:fld>
            <a:endParaRPr lang="en-US" altLang="en-US" dirty="0"/>
          </a:p>
        </p:txBody>
      </p:sp>
    </p:spTree>
    <p:extLst>
      <p:ext uri="{BB962C8B-B14F-4D97-AF65-F5344CB8AC3E}">
        <p14:creationId xmlns:p14="http://schemas.microsoft.com/office/powerpoint/2010/main" val="2252747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5325"/>
            <a:ext cx="6178550" cy="3476625"/>
          </a:xfrm>
        </p:spPr>
      </p:sp>
      <p:sp>
        <p:nvSpPr>
          <p:cNvPr id="3" name="Notes Placeholder 2"/>
          <p:cNvSpPr>
            <a:spLocks noGrp="1"/>
          </p:cNvSpPr>
          <p:nvPr>
            <p:ph type="body" idx="1"/>
          </p:nvPr>
        </p:nvSpPr>
        <p:spPr/>
        <p:txBody>
          <a:bodyPr/>
          <a:lstStyle/>
          <a:p>
            <a:r>
              <a:rPr lang="en-US" dirty="0"/>
              <a:t>Q = 3 – 0.5p  =&gt;  p = 6 – 2Q</a:t>
            </a:r>
          </a:p>
          <a:p>
            <a:r>
              <a:rPr lang="en-US" dirty="0"/>
              <a:t>Revenue = (6 – 2Q)*1000Q = 6000Q – 2000Q2</a:t>
            </a:r>
          </a:p>
          <a:p>
            <a:r>
              <a:rPr lang="en-US" dirty="0"/>
              <a:t>MR = 6000 – 4000Q</a:t>
            </a:r>
          </a:p>
          <a:p>
            <a:r>
              <a:rPr lang="en-US" dirty="0"/>
              <a:t>MR = 0  =&gt; Q = 6/4 = 1.5; p = 3</a:t>
            </a:r>
          </a:p>
        </p:txBody>
      </p:sp>
      <p:sp>
        <p:nvSpPr>
          <p:cNvPr id="4" name="Slide Number Placeholder 3"/>
          <p:cNvSpPr>
            <a:spLocks noGrp="1"/>
          </p:cNvSpPr>
          <p:nvPr>
            <p:ph type="sldNum" sz="quarter" idx="10"/>
          </p:nvPr>
        </p:nvSpPr>
        <p:spPr/>
        <p:txBody>
          <a:bodyPr/>
          <a:lstStyle/>
          <a:p>
            <a:fld id="{E5998E1D-90CC-4E39-A0D7-942F7C6A4DF2}" type="slidenum">
              <a:rPr lang="en-US" altLang="en-US" smtClean="0"/>
              <a:pPr/>
              <a:t>63</a:t>
            </a:fld>
            <a:endParaRPr lang="en-US" altLang="en-US" dirty="0"/>
          </a:p>
        </p:txBody>
      </p:sp>
    </p:spTree>
    <p:extLst>
      <p:ext uri="{BB962C8B-B14F-4D97-AF65-F5344CB8AC3E}">
        <p14:creationId xmlns:p14="http://schemas.microsoft.com/office/powerpoint/2010/main" val="1503130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2552D9-63E5-49F4-90C5-2A9938E680B9}" type="slidenum">
              <a:rPr lang="en-US" altLang="en-US" smtClean="0"/>
              <a:pPr/>
              <a:t>77</a:t>
            </a:fld>
            <a:endParaRPr lang="en-US" altLang="en-US"/>
          </a:p>
        </p:txBody>
      </p:sp>
    </p:spTree>
    <p:extLst>
      <p:ext uri="{BB962C8B-B14F-4D97-AF65-F5344CB8AC3E}">
        <p14:creationId xmlns:p14="http://schemas.microsoft.com/office/powerpoint/2010/main" val="2680747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41E6A5CF-B175-40E8-B12B-D1F255BD6836}" type="slidenum">
              <a:rPr lang="en-US"/>
              <a:pPr/>
              <a:t>90</a:t>
            </a:fld>
            <a:endParaRPr lang="en-US" dirty="0"/>
          </a:p>
        </p:txBody>
      </p:sp>
      <p:sp>
        <p:nvSpPr>
          <p:cNvPr id="171010" name="Rectangle 2"/>
          <p:cNvSpPr>
            <a:spLocks noGrp="1" noRot="1" noChangeAspect="1" noChangeArrowheads="1" noTextEdit="1"/>
          </p:cNvSpPr>
          <p:nvPr>
            <p:ph type="sldImg"/>
          </p:nvPr>
        </p:nvSpPr>
        <p:spPr>
          <a:xfrm>
            <a:off x="-3532188" y="1177925"/>
            <a:ext cx="13881101" cy="7808913"/>
          </a:xfrm>
          <a:ln/>
        </p:spPr>
      </p:sp>
      <p:sp>
        <p:nvSpPr>
          <p:cNvPr id="171011" name="Rectangle 3"/>
          <p:cNvSpPr>
            <a:spLocks noGrp="1" noChangeArrowheads="1"/>
          </p:cNvSpPr>
          <p:nvPr>
            <p:ph type="body" idx="1"/>
          </p:nvPr>
        </p:nvSpPr>
        <p:spPr>
          <a:xfrm>
            <a:off x="550664" y="326571"/>
            <a:ext cx="4055567" cy="219227"/>
          </a:xfrm>
        </p:spPr>
        <p:txBody>
          <a:bodyPr lIns="88291" tIns="44146" rIns="88291" bIns="44146"/>
          <a:lstStyle/>
          <a:p>
            <a:endParaRPr lang="en-US" dirty="0"/>
          </a:p>
        </p:txBody>
      </p:sp>
      <p:sp>
        <p:nvSpPr>
          <p:cNvPr id="171012" name="McK Separator"/>
          <p:cNvSpPr>
            <a:spLocks noChangeShapeType="1"/>
          </p:cNvSpPr>
          <p:nvPr>
            <p:custDataLst>
              <p:tags r:id="rId1"/>
            </p:custDataLst>
          </p:nvPr>
        </p:nvSpPr>
        <p:spPr bwMode="auto">
          <a:xfrm>
            <a:off x="561083" y="1398512"/>
            <a:ext cx="5597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6493" tIns="43247" rIns="86493" bIns="43247"/>
          <a:lstStyle/>
          <a:p>
            <a:endParaRPr lang="en-US" dirty="0">
              <a:latin typeface="Source Sans Pro" panose="020B0503030403020204" pitchFamily="34" charset="0"/>
            </a:endParaRPr>
          </a:p>
        </p:txBody>
      </p:sp>
    </p:spTree>
    <p:extLst>
      <p:ext uri="{BB962C8B-B14F-4D97-AF65-F5344CB8AC3E}">
        <p14:creationId xmlns:p14="http://schemas.microsoft.com/office/powerpoint/2010/main" val="2914528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41E6A5CF-B175-40E8-B12B-D1F255BD6836}" type="slidenum">
              <a:rPr lang="en-US"/>
              <a:pPr/>
              <a:t>91</a:t>
            </a:fld>
            <a:endParaRPr lang="en-US" dirty="0"/>
          </a:p>
        </p:txBody>
      </p:sp>
      <p:sp>
        <p:nvSpPr>
          <p:cNvPr id="171010" name="Rectangle 2"/>
          <p:cNvSpPr>
            <a:spLocks noGrp="1" noRot="1" noChangeAspect="1" noChangeArrowheads="1" noTextEdit="1"/>
          </p:cNvSpPr>
          <p:nvPr>
            <p:ph type="sldImg"/>
          </p:nvPr>
        </p:nvSpPr>
        <p:spPr>
          <a:xfrm>
            <a:off x="-3559175" y="1193800"/>
            <a:ext cx="14074775" cy="7918450"/>
          </a:xfrm>
          <a:ln/>
        </p:spPr>
      </p:sp>
      <p:sp>
        <p:nvSpPr>
          <p:cNvPr id="171011" name="Rectangle 3"/>
          <p:cNvSpPr>
            <a:spLocks noGrp="1" noChangeArrowheads="1"/>
          </p:cNvSpPr>
          <p:nvPr>
            <p:ph type="body" idx="1"/>
          </p:nvPr>
        </p:nvSpPr>
        <p:spPr>
          <a:xfrm>
            <a:off x="561882" y="331107"/>
            <a:ext cx="4138180" cy="222272"/>
          </a:xfrm>
        </p:spPr>
        <p:txBody>
          <a:bodyPr lIns="89757" tIns="44879" rIns="89757" bIns="44879"/>
          <a:lstStyle/>
          <a:p>
            <a:endParaRPr lang="en-US" dirty="0"/>
          </a:p>
        </p:txBody>
      </p:sp>
      <p:sp>
        <p:nvSpPr>
          <p:cNvPr id="171012" name="McK Separator"/>
          <p:cNvSpPr>
            <a:spLocks noChangeShapeType="1"/>
          </p:cNvSpPr>
          <p:nvPr>
            <p:custDataLst>
              <p:tags r:id="rId1"/>
            </p:custDataLst>
          </p:nvPr>
        </p:nvSpPr>
        <p:spPr bwMode="auto">
          <a:xfrm>
            <a:off x="572513" y="1417936"/>
            <a:ext cx="57114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929" tIns="43965" rIns="87929" bIns="43965"/>
          <a:lstStyle/>
          <a:p>
            <a:endParaRPr lang="en-US" dirty="0">
              <a:latin typeface="Source Sans Pro" panose="020B0503030403020204" pitchFamily="34" charset="0"/>
            </a:endParaRPr>
          </a:p>
        </p:txBody>
      </p:sp>
    </p:spTree>
    <p:extLst>
      <p:ext uri="{BB962C8B-B14F-4D97-AF65-F5344CB8AC3E}">
        <p14:creationId xmlns:p14="http://schemas.microsoft.com/office/powerpoint/2010/main" val="1028135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41E6A5CF-B175-40E8-B12B-D1F255BD6836}" type="slidenum">
              <a:rPr lang="en-US"/>
              <a:pPr/>
              <a:t>92</a:t>
            </a:fld>
            <a:endParaRPr lang="en-US" dirty="0"/>
          </a:p>
        </p:txBody>
      </p:sp>
      <p:sp>
        <p:nvSpPr>
          <p:cNvPr id="171010" name="Rectangle 2"/>
          <p:cNvSpPr>
            <a:spLocks noGrp="1" noRot="1" noChangeAspect="1" noChangeArrowheads="1" noTextEdit="1"/>
          </p:cNvSpPr>
          <p:nvPr>
            <p:ph type="sldImg"/>
          </p:nvPr>
        </p:nvSpPr>
        <p:spPr>
          <a:xfrm>
            <a:off x="-3559175" y="1193800"/>
            <a:ext cx="14074775" cy="7918450"/>
          </a:xfrm>
          <a:ln/>
        </p:spPr>
      </p:sp>
      <p:sp>
        <p:nvSpPr>
          <p:cNvPr id="171011" name="Rectangle 3"/>
          <p:cNvSpPr>
            <a:spLocks noGrp="1" noChangeArrowheads="1"/>
          </p:cNvSpPr>
          <p:nvPr>
            <p:ph type="body" idx="1"/>
          </p:nvPr>
        </p:nvSpPr>
        <p:spPr>
          <a:xfrm>
            <a:off x="561882" y="331107"/>
            <a:ext cx="4138180" cy="222272"/>
          </a:xfrm>
        </p:spPr>
        <p:txBody>
          <a:bodyPr lIns="89757" tIns="44879" rIns="89757" bIns="44879"/>
          <a:lstStyle/>
          <a:p>
            <a:endParaRPr lang="en-US" dirty="0"/>
          </a:p>
        </p:txBody>
      </p:sp>
      <p:sp>
        <p:nvSpPr>
          <p:cNvPr id="171012" name="McK Separator"/>
          <p:cNvSpPr>
            <a:spLocks noChangeShapeType="1"/>
          </p:cNvSpPr>
          <p:nvPr>
            <p:custDataLst>
              <p:tags r:id="rId1"/>
            </p:custDataLst>
          </p:nvPr>
        </p:nvSpPr>
        <p:spPr bwMode="auto">
          <a:xfrm>
            <a:off x="572513" y="1417936"/>
            <a:ext cx="57114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929" tIns="43965" rIns="87929" bIns="43965"/>
          <a:lstStyle/>
          <a:p>
            <a:endParaRPr lang="en-US" dirty="0">
              <a:latin typeface="Source Sans Pro" panose="020B0503030403020204" pitchFamily="34" charset="0"/>
            </a:endParaRPr>
          </a:p>
        </p:txBody>
      </p:sp>
    </p:spTree>
    <p:extLst>
      <p:ext uri="{BB962C8B-B14F-4D97-AF65-F5344CB8AC3E}">
        <p14:creationId xmlns:p14="http://schemas.microsoft.com/office/powerpoint/2010/main" val="3823661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41E6A5CF-B175-40E8-B12B-D1F255BD6836}" type="slidenum">
              <a:rPr lang="en-US"/>
              <a:pPr/>
              <a:t>93</a:t>
            </a:fld>
            <a:endParaRPr lang="en-US" dirty="0"/>
          </a:p>
        </p:txBody>
      </p:sp>
      <p:sp>
        <p:nvSpPr>
          <p:cNvPr id="171010" name="Rectangle 2"/>
          <p:cNvSpPr>
            <a:spLocks noGrp="1" noRot="1" noChangeAspect="1" noChangeArrowheads="1" noTextEdit="1"/>
          </p:cNvSpPr>
          <p:nvPr>
            <p:ph type="sldImg"/>
          </p:nvPr>
        </p:nvSpPr>
        <p:spPr>
          <a:xfrm>
            <a:off x="-3559175" y="1193800"/>
            <a:ext cx="14074775" cy="7918450"/>
          </a:xfrm>
          <a:ln/>
        </p:spPr>
      </p:sp>
      <p:sp>
        <p:nvSpPr>
          <p:cNvPr id="171011" name="Rectangle 3"/>
          <p:cNvSpPr>
            <a:spLocks noGrp="1" noChangeArrowheads="1"/>
          </p:cNvSpPr>
          <p:nvPr>
            <p:ph type="body" idx="1"/>
          </p:nvPr>
        </p:nvSpPr>
        <p:spPr>
          <a:xfrm>
            <a:off x="561882" y="331107"/>
            <a:ext cx="4138180" cy="222272"/>
          </a:xfrm>
        </p:spPr>
        <p:txBody>
          <a:bodyPr lIns="89757" tIns="44879" rIns="89757" bIns="44879"/>
          <a:lstStyle/>
          <a:p>
            <a:endParaRPr lang="en-US" dirty="0"/>
          </a:p>
        </p:txBody>
      </p:sp>
      <p:sp>
        <p:nvSpPr>
          <p:cNvPr id="171012" name="McK Separator"/>
          <p:cNvSpPr>
            <a:spLocks noChangeShapeType="1"/>
          </p:cNvSpPr>
          <p:nvPr>
            <p:custDataLst>
              <p:tags r:id="rId1"/>
            </p:custDataLst>
          </p:nvPr>
        </p:nvSpPr>
        <p:spPr bwMode="auto">
          <a:xfrm>
            <a:off x="572513" y="1417936"/>
            <a:ext cx="57114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929" tIns="43965" rIns="87929" bIns="43965"/>
          <a:lstStyle/>
          <a:p>
            <a:endParaRPr lang="en-US" dirty="0">
              <a:latin typeface="Source Sans Pro" panose="020B0503030403020204" pitchFamily="34" charset="0"/>
            </a:endParaRPr>
          </a:p>
        </p:txBody>
      </p:sp>
    </p:spTree>
    <p:extLst>
      <p:ext uri="{BB962C8B-B14F-4D97-AF65-F5344CB8AC3E}">
        <p14:creationId xmlns:p14="http://schemas.microsoft.com/office/powerpoint/2010/main" val="3134792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73051"/>
            <a:ext cx="10363200" cy="584775"/>
          </a:xfrm>
        </p:spPr>
        <p:txBody>
          <a:bodyPr/>
          <a:lstStyle>
            <a:lvl1pPr>
              <a:defRPr/>
            </a:lvl1pPr>
          </a:lstStyle>
          <a:p>
            <a:r>
              <a:rPr lang="en-US" dirty="0"/>
              <a:t>Click to edit Master title style</a:t>
            </a:r>
          </a:p>
        </p:txBody>
      </p:sp>
      <p:sp>
        <p:nvSpPr>
          <p:cNvPr id="3" name="Subtitle 2"/>
          <p:cNvSpPr>
            <a:spLocks noGrp="1"/>
          </p:cNvSpPr>
          <p:nvPr>
            <p:ph type="subTitle" idx="1"/>
          </p:nvPr>
        </p:nvSpPr>
        <p:spPr>
          <a:xfrm>
            <a:off x="1828800" y="3886201"/>
            <a:ext cx="8534400" cy="46166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fld id="{9C15F910-6CF8-4F40-85BF-6FF574C96A58}" type="slidenum">
              <a:rPr lang="en-US" altLang="en-US" smtClean="0"/>
              <a:pPr/>
              <a:t>‹#›</a:t>
            </a:fld>
            <a:endParaRPr lang="en-US" altLang="en-US" dirty="0"/>
          </a:p>
        </p:txBody>
      </p:sp>
    </p:spTree>
    <p:extLst>
      <p:ext uri="{BB962C8B-B14F-4D97-AF65-F5344CB8AC3E}">
        <p14:creationId xmlns:p14="http://schemas.microsoft.com/office/powerpoint/2010/main" val="1585463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259379"/>
            <a:ext cx="10972800" cy="584775"/>
          </a:xfrm>
        </p:spPr>
        <p:txBody>
          <a:bodyPr/>
          <a:lstStyle>
            <a:lvl1pPr>
              <a:defRPr sz="3200"/>
            </a:lvl1pPr>
          </a:lstStyle>
          <a:p>
            <a:r>
              <a:rPr lang="en-US" dirty="0"/>
              <a:t>Click to edit Master title style</a:t>
            </a:r>
          </a:p>
        </p:txBody>
      </p:sp>
      <p:sp>
        <p:nvSpPr>
          <p:cNvPr id="3" name="Content Placeholder 2"/>
          <p:cNvSpPr>
            <a:spLocks noGrp="1"/>
          </p:cNvSpPr>
          <p:nvPr>
            <p:ph idx="1"/>
          </p:nvPr>
        </p:nvSpPr>
        <p:spPr/>
        <p:txBody>
          <a:bodyPr/>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fld id="{3F53B34B-B4A8-48C6-AF30-3F676D82174D}" type="slidenum">
              <a:rPr lang="en-US" altLang="en-US" smtClean="0"/>
              <a:pPr/>
              <a:t>‹#›</a:t>
            </a:fld>
            <a:endParaRPr lang="en-US" altLang="en-US" dirty="0"/>
          </a:p>
        </p:txBody>
      </p:sp>
    </p:spTree>
    <p:extLst>
      <p:ext uri="{BB962C8B-B14F-4D97-AF65-F5344CB8AC3E}">
        <p14:creationId xmlns:p14="http://schemas.microsoft.com/office/powerpoint/2010/main" val="1137125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707886"/>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4006790"/>
            <a:ext cx="10363200" cy="40011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fld id="{EE8D2770-5FF5-4ABA-B4D6-7F73CC9EB2AF}" type="slidenum">
              <a:rPr lang="en-US" altLang="en-US" smtClean="0"/>
              <a:pPr/>
              <a:t>‹#›</a:t>
            </a:fld>
            <a:endParaRPr lang="en-US" altLang="en-US" dirty="0"/>
          </a:p>
        </p:txBody>
      </p:sp>
    </p:spTree>
    <p:extLst>
      <p:ext uri="{BB962C8B-B14F-4D97-AF65-F5344CB8AC3E}">
        <p14:creationId xmlns:p14="http://schemas.microsoft.com/office/powerpoint/2010/main" val="1033059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Content Placeholder 2"/>
          <p:cNvSpPr>
            <a:spLocks noGrp="1"/>
          </p:cNvSpPr>
          <p:nvPr>
            <p:ph sz="half" idx="1"/>
          </p:nvPr>
        </p:nvSpPr>
        <p:spPr>
          <a:xfrm>
            <a:off x="609600" y="1600201"/>
            <a:ext cx="5384800" cy="236988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236988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fld id="{2912FF5F-D3CB-4B31-9064-F011BEA03790}" type="slidenum">
              <a:rPr lang="en-US" altLang="en-US" smtClean="0"/>
              <a:pPr/>
              <a:t>‹#›</a:t>
            </a:fld>
            <a:endParaRPr lang="en-US" altLang="en-US" dirty="0"/>
          </a:p>
        </p:txBody>
      </p:sp>
    </p:spTree>
    <p:extLst>
      <p:ext uri="{BB962C8B-B14F-4D97-AF65-F5344CB8AC3E}">
        <p14:creationId xmlns:p14="http://schemas.microsoft.com/office/powerpoint/2010/main" val="3114968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713211"/>
            <a:ext cx="5386917" cy="4616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215443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8" y="1713211"/>
            <a:ext cx="5389033" cy="4616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215443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fld id="{42DBD32E-8313-4C1D-B304-97F8BFACED04}" type="slidenum">
              <a:rPr lang="en-US" altLang="en-US" smtClean="0"/>
              <a:pPr/>
              <a:t>‹#›</a:t>
            </a:fld>
            <a:endParaRPr lang="en-US" altLang="en-US" dirty="0"/>
          </a:p>
        </p:txBody>
      </p:sp>
    </p:spTree>
    <p:extLst>
      <p:ext uri="{BB962C8B-B14F-4D97-AF65-F5344CB8AC3E}">
        <p14:creationId xmlns:p14="http://schemas.microsoft.com/office/powerpoint/2010/main" val="798101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Rectangle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fld id="{28BC9C31-8EB3-4B66-B53A-2A3D39C96852}" type="slidenum">
              <a:rPr lang="en-US" altLang="en-US" smtClean="0"/>
              <a:pPr/>
              <a:t>‹#›</a:t>
            </a:fld>
            <a:endParaRPr lang="en-US" altLang="en-US" dirty="0"/>
          </a:p>
        </p:txBody>
      </p:sp>
    </p:spTree>
    <p:extLst>
      <p:ext uri="{BB962C8B-B14F-4D97-AF65-F5344CB8AC3E}">
        <p14:creationId xmlns:p14="http://schemas.microsoft.com/office/powerpoint/2010/main" val="1653848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fld id="{E3999381-147D-4AED-A908-1F9452D2F733}" type="slidenum">
              <a:rPr lang="en-US" altLang="en-US" smtClean="0"/>
              <a:pPr/>
              <a:t>‹#›</a:t>
            </a:fld>
            <a:endParaRPr lang="en-US" altLang="en-US" dirty="0"/>
          </a:p>
        </p:txBody>
      </p:sp>
    </p:spTree>
    <p:extLst>
      <p:ext uri="{BB962C8B-B14F-4D97-AF65-F5344CB8AC3E}">
        <p14:creationId xmlns:p14="http://schemas.microsoft.com/office/powerpoint/2010/main" val="3631861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1034990"/>
            <a:ext cx="4011084" cy="40011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4766733" y="273051"/>
            <a:ext cx="6815667" cy="261610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1" y="1435101"/>
            <a:ext cx="4011084" cy="30777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fld id="{1A20DA1E-BE61-46CA-A205-2852E7567CC2}" type="slidenum">
              <a:rPr lang="en-US" altLang="en-US" smtClean="0"/>
              <a:pPr/>
              <a:t>‹#›</a:t>
            </a:fld>
            <a:endParaRPr lang="en-US" altLang="en-US" dirty="0"/>
          </a:p>
        </p:txBody>
      </p:sp>
    </p:spTree>
    <p:extLst>
      <p:ext uri="{BB962C8B-B14F-4D97-AF65-F5344CB8AC3E}">
        <p14:creationId xmlns:p14="http://schemas.microsoft.com/office/powerpoint/2010/main" val="3294535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967228"/>
            <a:ext cx="7315200" cy="400110"/>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2389717" y="612776"/>
            <a:ext cx="7315200" cy="5847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9"/>
            <a:ext cx="7315200" cy="30777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fld id="{D6C09FE3-BA62-49CA-A97C-19C473513D5D}" type="slidenum">
              <a:rPr lang="en-US" altLang="en-US" smtClean="0"/>
              <a:pPr/>
              <a:t>‹#›</a:t>
            </a:fld>
            <a:endParaRPr lang="en-US" altLang="en-US" dirty="0"/>
          </a:p>
        </p:txBody>
      </p:sp>
    </p:spTree>
    <p:extLst>
      <p:ext uri="{BB962C8B-B14F-4D97-AF65-F5344CB8AC3E}">
        <p14:creationId xmlns:p14="http://schemas.microsoft.com/office/powerpoint/2010/main" val="3074102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Vertical Text Placeholder 2"/>
          <p:cNvSpPr>
            <a:spLocks noGrp="1"/>
          </p:cNvSpPr>
          <p:nvPr>
            <p:ph type="body" orient="vert" idx="1"/>
          </p:nvPr>
        </p:nvSpPr>
        <p:spPr>
          <a:xfrm>
            <a:off x="6516330" y="1077229"/>
            <a:ext cx="4862870" cy="2616101"/>
          </a:xfrm>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fld id="{09490871-92D4-45C9-86B9-EE16CBBD24DC}" type="slidenum">
              <a:rPr lang="en-US" altLang="en-US" smtClean="0"/>
              <a:pPr/>
              <a:t>‹#›</a:t>
            </a:fld>
            <a:endParaRPr lang="en-US" altLang="en-US" dirty="0"/>
          </a:p>
        </p:txBody>
      </p:sp>
    </p:spTree>
    <p:extLst>
      <p:ext uri="{BB962C8B-B14F-4D97-AF65-F5344CB8AC3E}">
        <p14:creationId xmlns:p14="http://schemas.microsoft.com/office/powerpoint/2010/main" val="735486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72246" y="274639"/>
            <a:ext cx="677108" cy="5851525"/>
          </a:xfrm>
        </p:spPr>
        <p:txBody>
          <a:bodyPr vert="eaVert"/>
          <a:lstStyle>
            <a:lvl1pPr>
              <a:defRPr/>
            </a:lvl1pPr>
          </a:lstStyle>
          <a:p>
            <a:r>
              <a:rPr lang="en-US" dirty="0"/>
              <a:t>Click to edit Master title style</a:t>
            </a:r>
          </a:p>
        </p:txBody>
      </p:sp>
      <p:sp>
        <p:nvSpPr>
          <p:cNvPr id="3" name="Vertical Text Placeholder 2"/>
          <p:cNvSpPr>
            <a:spLocks noGrp="1"/>
          </p:cNvSpPr>
          <p:nvPr>
            <p:ph type="body" orient="vert" idx="1"/>
          </p:nvPr>
        </p:nvSpPr>
        <p:spPr>
          <a:xfrm>
            <a:off x="5989122" y="274639"/>
            <a:ext cx="2646878" cy="5851525"/>
          </a:xfrm>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atin typeface="Source Sans Pro" panose="020B0503030403020204" pitchFamily="34" charset="0"/>
              </a:defRPr>
            </a:lvl1pPr>
          </a:lstStyle>
          <a:p>
            <a:pPr>
              <a:defRPr/>
            </a:pPr>
            <a:r>
              <a:rPr lang="en-US" dirty="0"/>
              <a:t>MEC 5404: Introduction</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fld id="{3AE551ED-F980-45A4-BA3E-3F2CD5A29AE3}" type="slidenum">
              <a:rPr lang="en-US" altLang="en-US" smtClean="0"/>
              <a:pPr/>
              <a:t>‹#›</a:t>
            </a:fld>
            <a:endParaRPr lang="en-US" altLang="en-US" dirty="0"/>
          </a:p>
        </p:txBody>
      </p:sp>
    </p:spTree>
    <p:extLst>
      <p:ext uri="{BB962C8B-B14F-4D97-AF65-F5344CB8AC3E}">
        <p14:creationId xmlns:p14="http://schemas.microsoft.com/office/powerpoint/2010/main" val="19348845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16432"/>
            <a:ext cx="10972800" cy="584775"/>
          </a:xfrm>
        </p:spPr>
        <p:txBody>
          <a:bodyPr/>
          <a:lstStyle>
            <a:lvl1pPr>
              <a:defRPr/>
            </a:lvl1pPr>
          </a:lstStyle>
          <a:p>
            <a:r>
              <a:rPr lang="en-US" dirty="0"/>
              <a:t>Click to edit Master title style</a:t>
            </a:r>
          </a:p>
        </p:txBody>
      </p:sp>
      <p:sp>
        <p:nvSpPr>
          <p:cNvPr id="3" name="Text Placeholder 2"/>
          <p:cNvSpPr>
            <a:spLocks noGrp="1"/>
          </p:cNvSpPr>
          <p:nvPr>
            <p:ph type="body" sz="half" idx="1"/>
          </p:nvPr>
        </p:nvSpPr>
        <p:spPr>
          <a:xfrm>
            <a:off x="609600" y="1295401"/>
            <a:ext cx="5384800" cy="2554545"/>
          </a:xfrm>
        </p:spPr>
        <p:txBody>
          <a:bodyPr/>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295401"/>
            <a:ext cx="5384800" cy="2554545"/>
          </a:xfrm>
        </p:spPr>
        <p:txBody>
          <a:bodyPr/>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609600" y="6245225"/>
            <a:ext cx="4673600" cy="476250"/>
          </a:xfrm>
          <a:prstGeom prst="rect">
            <a:avLst/>
          </a:prstGeom>
        </p:spPr>
        <p:txBody>
          <a:bodyPr/>
          <a:lstStyle>
            <a:lvl1pPr>
              <a:defRPr>
                <a:latin typeface="Source Sans Pro" panose="020B0503030403020204" pitchFamily="34" charset="0"/>
              </a:defRPr>
            </a:lvl1pPr>
          </a:lstStyle>
          <a:p>
            <a:pPr>
              <a:defRPr/>
            </a:pPr>
            <a:r>
              <a:rPr lang="en-US" dirty="0"/>
              <a:t>Pricing Strategies</a:t>
            </a:r>
          </a:p>
        </p:txBody>
      </p:sp>
      <p:sp>
        <p:nvSpPr>
          <p:cNvPr id="6" name="Footer Placeholder 5"/>
          <p:cNvSpPr>
            <a:spLocks noGrp="1"/>
          </p:cNvSpPr>
          <p:nvPr>
            <p:ph type="ftr" sz="quarter" idx="11"/>
          </p:nvPr>
        </p:nvSpPr>
        <p:spPr>
          <a:xfrm>
            <a:off x="5689600" y="6245225"/>
            <a:ext cx="2336800" cy="476250"/>
          </a:xfrm>
        </p:spPr>
        <p:txBody>
          <a:bodyPr/>
          <a:lstStyle>
            <a:lvl1pPr>
              <a:defRPr/>
            </a:lvl1pPr>
          </a:lstStyle>
          <a:p>
            <a:pPr>
              <a:defRPr/>
            </a:pPr>
            <a:endParaRPr lang="en-US" dirty="0"/>
          </a:p>
        </p:txBody>
      </p:sp>
      <p:sp>
        <p:nvSpPr>
          <p:cNvPr id="7" name="Slide Number Placeholder 6"/>
          <p:cNvSpPr>
            <a:spLocks noGrp="1"/>
          </p:cNvSpPr>
          <p:nvPr>
            <p:ph type="sldNum" sz="quarter" idx="12"/>
          </p:nvPr>
        </p:nvSpPr>
        <p:spPr/>
        <p:txBody>
          <a:bodyPr/>
          <a:lstStyle>
            <a:lvl1pPr>
              <a:defRPr/>
            </a:lvl1pPr>
          </a:lstStyle>
          <a:p>
            <a:fld id="{CEB971FC-5C7D-4339-A60C-57ACAB20DE77}" type="slidenum">
              <a:rPr lang="en-US" altLang="en-US" smtClean="0"/>
              <a:pPr/>
              <a:t>‹#›</a:t>
            </a:fld>
            <a:endParaRPr lang="en-US" altLang="en-US" dirty="0"/>
          </a:p>
        </p:txBody>
      </p:sp>
    </p:spTree>
    <p:extLst>
      <p:ext uri="{BB962C8B-B14F-4D97-AF65-F5344CB8AC3E}">
        <p14:creationId xmlns:p14="http://schemas.microsoft.com/office/powerpoint/2010/main" val="21943314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416432"/>
            <a:ext cx="10972800" cy="584775"/>
          </a:xfrm>
        </p:spPr>
        <p:txBody>
          <a:bodyPr/>
          <a:lstStyle>
            <a:lvl1pPr>
              <a:defRPr/>
            </a:lvl1pPr>
          </a:lstStyle>
          <a:p>
            <a:r>
              <a:rPr lang="en-US" dirty="0"/>
              <a:t>Click to edit Master title style</a:t>
            </a:r>
          </a:p>
        </p:txBody>
      </p:sp>
      <p:sp>
        <p:nvSpPr>
          <p:cNvPr id="3" name="Table Placeholder 2"/>
          <p:cNvSpPr>
            <a:spLocks noGrp="1"/>
          </p:cNvSpPr>
          <p:nvPr>
            <p:ph type="tbl" idx="1"/>
          </p:nvPr>
        </p:nvSpPr>
        <p:spPr>
          <a:xfrm>
            <a:off x="609600" y="1295401"/>
            <a:ext cx="10972800" cy="461665"/>
          </a:xfrm>
        </p:spPr>
        <p:txBody>
          <a:bodyPr/>
          <a:lstStyle>
            <a:lvl1pPr>
              <a:defRPr/>
            </a:lvl1pPr>
          </a:lstStyle>
          <a:p>
            <a:pPr lvl="0"/>
            <a:endParaRPr lang="en-US" noProof="0" dirty="0"/>
          </a:p>
        </p:txBody>
      </p:sp>
      <p:sp>
        <p:nvSpPr>
          <p:cNvPr id="4" name="Date Placeholder 3"/>
          <p:cNvSpPr>
            <a:spLocks noGrp="1"/>
          </p:cNvSpPr>
          <p:nvPr>
            <p:ph type="dt" sz="half" idx="10"/>
          </p:nvPr>
        </p:nvSpPr>
        <p:spPr>
          <a:xfrm>
            <a:off x="609600" y="6245225"/>
            <a:ext cx="4673600" cy="476250"/>
          </a:xfrm>
          <a:prstGeom prst="rect">
            <a:avLst/>
          </a:prstGeom>
        </p:spPr>
        <p:txBody>
          <a:bodyPr/>
          <a:lstStyle>
            <a:lvl1pPr>
              <a:defRPr>
                <a:latin typeface="Source Sans Pro" panose="020B0503030403020204" pitchFamily="34" charset="0"/>
              </a:defRPr>
            </a:lvl1pPr>
          </a:lstStyle>
          <a:p>
            <a:pPr>
              <a:defRPr/>
            </a:pPr>
            <a:r>
              <a:rPr lang="en-US" dirty="0"/>
              <a:t>Pricing Strategies</a:t>
            </a:r>
          </a:p>
        </p:txBody>
      </p:sp>
      <p:sp>
        <p:nvSpPr>
          <p:cNvPr id="5" name="Footer Placeholder 4"/>
          <p:cNvSpPr>
            <a:spLocks noGrp="1"/>
          </p:cNvSpPr>
          <p:nvPr>
            <p:ph type="ftr" sz="quarter" idx="11"/>
          </p:nvPr>
        </p:nvSpPr>
        <p:spPr>
          <a:xfrm>
            <a:off x="5689600" y="6245225"/>
            <a:ext cx="2336800" cy="476250"/>
          </a:xfrm>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fld id="{38CF3575-7766-44A0-A6C2-73B9FD795E17}" type="slidenum">
              <a:rPr lang="en-US" altLang="en-US" smtClean="0"/>
              <a:pPr/>
              <a:t>‹#›</a:t>
            </a:fld>
            <a:endParaRPr lang="en-US" altLang="en-US" dirty="0"/>
          </a:p>
        </p:txBody>
      </p:sp>
    </p:spTree>
    <p:extLst>
      <p:ext uri="{BB962C8B-B14F-4D97-AF65-F5344CB8AC3E}">
        <p14:creationId xmlns:p14="http://schemas.microsoft.com/office/powerpoint/2010/main" val="2197464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06400" y="228601"/>
            <a:ext cx="10972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lvl="0"/>
            <a:r>
              <a:rPr lang="en-US" altLang="en-US" dirty="0"/>
              <a:t>Click to edit Master title style</a:t>
            </a:r>
          </a:p>
        </p:txBody>
      </p:sp>
      <p:sp>
        <p:nvSpPr>
          <p:cNvPr id="1027" name="Rectangle 3"/>
          <p:cNvSpPr>
            <a:spLocks noGrp="1" noChangeArrowheads="1"/>
          </p:cNvSpPr>
          <p:nvPr>
            <p:ph type="body" idx="1"/>
          </p:nvPr>
        </p:nvSpPr>
        <p:spPr bwMode="auto">
          <a:xfrm>
            <a:off x="406400" y="1077229"/>
            <a:ext cx="10972800"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Source Sans Pro" panose="020B0503030403020204" pitchFamily="34" charset="0"/>
                <a:ea typeface="Source Sans Pro" panose="020B0503030403020204" pitchFamily="34" charset="0"/>
                <a:cs typeface="Arial" charset="0"/>
              </a:defRPr>
            </a:lvl1pPr>
          </a:lstStyle>
          <a:p>
            <a:pPr>
              <a:defRPr/>
            </a:pPr>
            <a:endParaRPr lang="en-US" dirty="0"/>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Source Sans Pro" panose="020B0503030403020204" pitchFamily="34" charset="0"/>
                <a:ea typeface="Source Sans Pro" panose="020B0503030403020204" pitchFamily="34" charset="0"/>
              </a:defRPr>
            </a:lvl1pPr>
          </a:lstStyle>
          <a:p>
            <a:fld id="{0C00CE9F-8B84-4866-8387-8B84BD5F0336}" type="slidenum">
              <a:rPr lang="en-US" altLang="en-US" smtClean="0"/>
              <a:pPr/>
              <a:t>‹#›</a:t>
            </a:fld>
            <a:endParaRPr lang="en-US" altLang="en-US" dirty="0"/>
          </a:p>
        </p:txBody>
      </p:sp>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Lst>
  <p:hf hdr="0" ftr="0"/>
  <p:txStyles>
    <p:titleStyle>
      <a:lvl1pPr algn="l" rtl="0" eaLnBrk="0" fontAlgn="base" hangingPunct="0">
        <a:spcBef>
          <a:spcPct val="0"/>
        </a:spcBef>
        <a:spcAft>
          <a:spcPct val="0"/>
        </a:spcAft>
        <a:defRPr sz="3600">
          <a:solidFill>
            <a:schemeClr val="tx2"/>
          </a:solidFill>
          <a:latin typeface="Source Sans Pro" panose="020B0503030403020204" pitchFamily="34" charset="0"/>
          <a:ea typeface="Source Sans Pro" panose="020B0503030403020204" pitchFamily="34" charset="0"/>
          <a:cs typeface="+mj-cs"/>
        </a:defRPr>
      </a:lvl1pPr>
      <a:lvl2pPr algn="ctr" rtl="0" eaLnBrk="0" fontAlgn="base" hangingPunct="0">
        <a:spcBef>
          <a:spcPct val="0"/>
        </a:spcBef>
        <a:spcAft>
          <a:spcPct val="0"/>
        </a:spcAft>
        <a:defRPr sz="4400">
          <a:solidFill>
            <a:schemeClr val="tx2"/>
          </a:solidFill>
          <a:latin typeface="Arial" charset="0"/>
          <a:ea typeface="ＭＳ Ｐゴシック" charset="0"/>
          <a:cs typeface="Arial"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Arial"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Arial"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40.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customXml" Target="../ink/ink16.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7.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hyperlink" Target="https://www.theatlantic.com/magazine/archive/2017/05/how-online-shopping-makes-suckers-of-us-all/521448/" TargetMode="Externa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customXml" Target="../ink/ink18.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ctrTitle"/>
          </p:nvPr>
        </p:nvSpPr>
        <p:spPr>
          <a:xfrm>
            <a:off x="3628773" y="1465055"/>
            <a:ext cx="8204639" cy="2800767"/>
          </a:xfrm>
        </p:spPr>
        <p:txBody>
          <a:bodyPr wrap="square">
            <a:spAutoFit/>
          </a:bodyPr>
          <a:lstStyle/>
          <a:p>
            <a:r>
              <a:rPr lang="en-US" sz="4400" dirty="0"/>
              <a:t>Revenue maximization, monopoly pricing, price discrimination, bundling, two-part tariffs &amp; </a:t>
            </a:r>
            <a:r>
              <a:rPr lang="en-US" sz="4400"/>
              <a:t>adverse selection</a:t>
            </a:r>
            <a:endParaRPr lang="en-US" sz="4400" dirty="0"/>
          </a:p>
        </p:txBody>
      </p:sp>
      <p:sp>
        <p:nvSpPr>
          <p:cNvPr id="10" name="Subtitle 2"/>
          <p:cNvSpPr>
            <a:spLocks noGrp="1"/>
          </p:cNvSpPr>
          <p:nvPr>
            <p:ph type="subTitle" idx="1"/>
          </p:nvPr>
        </p:nvSpPr>
        <p:spPr>
          <a:xfrm>
            <a:off x="3628772" y="4616172"/>
            <a:ext cx="4273249" cy="584775"/>
          </a:xfrm>
        </p:spPr>
        <p:txBody>
          <a:bodyPr/>
          <a:lstStyle/>
          <a:p>
            <a:pPr algn="l"/>
            <a:r>
              <a:rPr lang="en-US" sz="3200" dirty="0">
                <a:solidFill>
                  <a:schemeClr val="bg1">
                    <a:lumMod val="65000"/>
                  </a:schemeClr>
                </a:solidFill>
              </a:rPr>
              <a:t>John Horn</a:t>
            </a:r>
          </a:p>
        </p:txBody>
      </p:sp>
      <p:pic>
        <p:nvPicPr>
          <p:cNvPr id="12" name="Picture 4" descr="M:\Admin\Logos\150206_jwb_race_ethnicity_0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
            <a:ext cx="3237542" cy="466612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black background with red text&#10;&#10;Description automatically generated">
            <a:extLst>
              <a:ext uri="{FF2B5EF4-FFF2-40B4-BE49-F238E27FC236}">
                <a16:creationId xmlns:a16="http://schemas.microsoft.com/office/drawing/2014/main" id="{A720EFCE-F9BA-6201-1E84-E3E6A56FE4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20" y="4908560"/>
            <a:ext cx="3133501" cy="1282919"/>
          </a:xfrm>
          <a:prstGeom prst="rect">
            <a:avLst/>
          </a:prstGeom>
        </p:spPr>
      </p:pic>
    </p:spTree>
    <p:extLst>
      <p:ext uri="{BB962C8B-B14F-4D97-AF65-F5344CB8AC3E}">
        <p14:creationId xmlns:p14="http://schemas.microsoft.com/office/powerpoint/2010/main" val="408337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8AD45-ADC6-A540-72FA-12111E8AA29F}"/>
              </a:ext>
            </a:extLst>
          </p:cNvPr>
          <p:cNvSpPr>
            <a:spLocks noGrp="1"/>
          </p:cNvSpPr>
          <p:nvPr>
            <p:ph type="title"/>
          </p:nvPr>
        </p:nvSpPr>
        <p:spPr/>
        <p:txBody>
          <a:bodyPr/>
          <a:lstStyle/>
          <a:p>
            <a:r>
              <a:rPr lang="en-US" dirty="0"/>
              <a:t>Practical application</a:t>
            </a:r>
          </a:p>
        </p:txBody>
      </p:sp>
      <p:sp>
        <p:nvSpPr>
          <p:cNvPr id="5" name="Slide Number Placeholder 4">
            <a:extLst>
              <a:ext uri="{FF2B5EF4-FFF2-40B4-BE49-F238E27FC236}">
                <a16:creationId xmlns:a16="http://schemas.microsoft.com/office/drawing/2014/main" id="{BD7AB8D8-85C0-2BA4-636F-BF3DD2CA79CD}"/>
              </a:ext>
            </a:extLst>
          </p:cNvPr>
          <p:cNvSpPr>
            <a:spLocks noGrp="1"/>
          </p:cNvSpPr>
          <p:nvPr>
            <p:ph type="sldNum" sz="quarter" idx="12"/>
          </p:nvPr>
        </p:nvSpPr>
        <p:spPr/>
        <p:txBody>
          <a:bodyPr/>
          <a:lstStyle/>
          <a:p>
            <a:fld id="{7E34CCD4-1BBD-410D-B2DF-A7552E316D63}" type="slidenum">
              <a:rPr lang="en-US" altLang="en-US" smtClean="0"/>
              <a:pPr/>
              <a:t>2</a:t>
            </a:fld>
            <a:endParaRPr lang="en-US" altLang="en-US" dirty="0"/>
          </a:p>
        </p:txBody>
      </p:sp>
      <p:sp>
        <p:nvSpPr>
          <p:cNvPr id="6" name="Rounded Rectangle 5">
            <a:extLst>
              <a:ext uri="{FF2B5EF4-FFF2-40B4-BE49-F238E27FC236}">
                <a16:creationId xmlns:a16="http://schemas.microsoft.com/office/drawing/2014/main" id="{EA7E403B-5F0D-1880-4344-B1402710158A}"/>
              </a:ext>
            </a:extLst>
          </p:cNvPr>
          <p:cNvSpPr/>
          <p:nvPr/>
        </p:nvSpPr>
        <p:spPr>
          <a:xfrm>
            <a:off x="701039" y="1034807"/>
            <a:ext cx="4819543" cy="731520"/>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Economic concept</a:t>
            </a:r>
          </a:p>
        </p:txBody>
      </p:sp>
      <p:sp>
        <p:nvSpPr>
          <p:cNvPr id="7" name="Rounded Rectangle 6">
            <a:extLst>
              <a:ext uri="{FF2B5EF4-FFF2-40B4-BE49-F238E27FC236}">
                <a16:creationId xmlns:a16="http://schemas.microsoft.com/office/drawing/2014/main" id="{D9146565-2E4B-0C53-8988-1C1BB2B23B59}"/>
              </a:ext>
            </a:extLst>
          </p:cNvPr>
          <p:cNvSpPr/>
          <p:nvPr/>
        </p:nvSpPr>
        <p:spPr>
          <a:xfrm>
            <a:off x="6033615" y="1034807"/>
            <a:ext cx="4819543" cy="731520"/>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Practical business application</a:t>
            </a:r>
          </a:p>
        </p:txBody>
      </p:sp>
      <p:sp>
        <p:nvSpPr>
          <p:cNvPr id="12" name="TextBox 11">
            <a:extLst>
              <a:ext uri="{FF2B5EF4-FFF2-40B4-BE49-F238E27FC236}">
                <a16:creationId xmlns:a16="http://schemas.microsoft.com/office/drawing/2014/main" id="{FA296608-D465-739F-BCB0-40EA18639870}"/>
              </a:ext>
            </a:extLst>
          </p:cNvPr>
          <p:cNvSpPr txBox="1"/>
          <p:nvPr/>
        </p:nvSpPr>
        <p:spPr>
          <a:xfrm>
            <a:off x="701039" y="2076628"/>
            <a:ext cx="4819543" cy="461665"/>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Revenue maximization</a:t>
            </a:r>
          </a:p>
        </p:txBody>
      </p:sp>
      <p:sp>
        <p:nvSpPr>
          <p:cNvPr id="13" name="TextBox 12">
            <a:extLst>
              <a:ext uri="{FF2B5EF4-FFF2-40B4-BE49-F238E27FC236}">
                <a16:creationId xmlns:a16="http://schemas.microsoft.com/office/drawing/2014/main" id="{79ABD5FE-C4C3-E963-6A42-B86F91C2B62D}"/>
              </a:ext>
            </a:extLst>
          </p:cNvPr>
          <p:cNvSpPr txBox="1"/>
          <p:nvPr/>
        </p:nvSpPr>
        <p:spPr>
          <a:xfrm>
            <a:off x="6033615" y="2076628"/>
            <a:ext cx="5548785"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Optimizing revenue</a:t>
            </a:r>
          </a:p>
        </p:txBody>
      </p:sp>
      <p:sp>
        <p:nvSpPr>
          <p:cNvPr id="14" name="TextBox 13">
            <a:extLst>
              <a:ext uri="{FF2B5EF4-FFF2-40B4-BE49-F238E27FC236}">
                <a16:creationId xmlns:a16="http://schemas.microsoft.com/office/drawing/2014/main" id="{F7C382DD-B473-5C9A-FBE8-3964EFE981F9}"/>
              </a:ext>
            </a:extLst>
          </p:cNvPr>
          <p:cNvSpPr txBox="1"/>
          <p:nvPr/>
        </p:nvSpPr>
        <p:spPr>
          <a:xfrm>
            <a:off x="701039" y="4324817"/>
            <a:ext cx="4819543" cy="461665"/>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Price discrimination</a:t>
            </a:r>
          </a:p>
        </p:txBody>
      </p:sp>
      <p:sp>
        <p:nvSpPr>
          <p:cNvPr id="15" name="TextBox 14">
            <a:extLst>
              <a:ext uri="{FF2B5EF4-FFF2-40B4-BE49-F238E27FC236}">
                <a16:creationId xmlns:a16="http://schemas.microsoft.com/office/drawing/2014/main" id="{7EA5700E-54FC-71F7-2EE7-36D6DD6EB722}"/>
              </a:ext>
            </a:extLst>
          </p:cNvPr>
          <p:cNvSpPr txBox="1"/>
          <p:nvPr/>
        </p:nvSpPr>
        <p:spPr>
          <a:xfrm>
            <a:off x="6033615" y="4324817"/>
            <a:ext cx="5548785" cy="909352"/>
          </a:xfrm>
          <a:prstGeom prst="rect">
            <a:avLst/>
          </a:prstGeom>
          <a:noFill/>
        </p:spPr>
        <p:txBody>
          <a:bodyPr wrap="square" rtlCol="0">
            <a:spAutoFit/>
          </a:bodyPr>
          <a:lstStyle/>
          <a:p>
            <a:pPr marL="342900" indent="-342900">
              <a:lnSpc>
                <a:spcPct val="114000"/>
              </a:lnSpc>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Customer segmentation</a:t>
            </a:r>
          </a:p>
          <a:p>
            <a:pPr marL="342900" indent="-342900">
              <a:lnSpc>
                <a:spcPct val="114000"/>
              </a:lnSpc>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Product portfolio</a:t>
            </a:r>
          </a:p>
        </p:txBody>
      </p:sp>
      <p:sp>
        <p:nvSpPr>
          <p:cNvPr id="16" name="TextBox 15">
            <a:extLst>
              <a:ext uri="{FF2B5EF4-FFF2-40B4-BE49-F238E27FC236}">
                <a16:creationId xmlns:a16="http://schemas.microsoft.com/office/drawing/2014/main" id="{08C63797-82CB-1F75-070E-4F81263DF8DF}"/>
              </a:ext>
            </a:extLst>
          </p:cNvPr>
          <p:cNvSpPr txBox="1"/>
          <p:nvPr/>
        </p:nvSpPr>
        <p:spPr>
          <a:xfrm>
            <a:off x="701039" y="5277583"/>
            <a:ext cx="4819543" cy="461665"/>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Adverse selection</a:t>
            </a:r>
          </a:p>
        </p:txBody>
      </p:sp>
      <p:sp>
        <p:nvSpPr>
          <p:cNvPr id="17" name="TextBox 16">
            <a:extLst>
              <a:ext uri="{FF2B5EF4-FFF2-40B4-BE49-F238E27FC236}">
                <a16:creationId xmlns:a16="http://schemas.microsoft.com/office/drawing/2014/main" id="{A88DD2CD-A71D-6471-F7F0-FB1ABD6CDBF0}"/>
              </a:ext>
            </a:extLst>
          </p:cNvPr>
          <p:cNvSpPr txBox="1"/>
          <p:nvPr/>
        </p:nvSpPr>
        <p:spPr>
          <a:xfrm>
            <a:off x="6033615" y="5277583"/>
            <a:ext cx="5548785" cy="909352"/>
          </a:xfrm>
          <a:prstGeom prst="rect">
            <a:avLst/>
          </a:prstGeom>
          <a:noFill/>
        </p:spPr>
        <p:txBody>
          <a:bodyPr wrap="square" rtlCol="0">
            <a:spAutoFit/>
          </a:bodyPr>
          <a:lstStyle/>
          <a:p>
            <a:pPr marL="342900" indent="-342900">
              <a:lnSpc>
                <a:spcPct val="114000"/>
              </a:lnSpc>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Who are the least profitable customers, and how many of them are there?</a:t>
            </a:r>
          </a:p>
        </p:txBody>
      </p:sp>
      <p:sp>
        <p:nvSpPr>
          <p:cNvPr id="18" name="TextBox 17">
            <a:extLst>
              <a:ext uri="{FF2B5EF4-FFF2-40B4-BE49-F238E27FC236}">
                <a16:creationId xmlns:a16="http://schemas.microsoft.com/office/drawing/2014/main" id="{E7489F80-6CC2-61DB-5F43-CB58ACDB51D5}"/>
              </a:ext>
            </a:extLst>
          </p:cNvPr>
          <p:cNvSpPr txBox="1"/>
          <p:nvPr/>
        </p:nvSpPr>
        <p:spPr>
          <a:xfrm>
            <a:off x="701039" y="2581707"/>
            <a:ext cx="4819543" cy="461665"/>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Marginal revenue</a:t>
            </a:r>
          </a:p>
        </p:txBody>
      </p:sp>
      <p:sp>
        <p:nvSpPr>
          <p:cNvPr id="19" name="TextBox 18">
            <a:extLst>
              <a:ext uri="{FF2B5EF4-FFF2-40B4-BE49-F238E27FC236}">
                <a16:creationId xmlns:a16="http://schemas.microsoft.com/office/drawing/2014/main" id="{52FEFF97-05CF-991A-04F2-268CC0E828BB}"/>
              </a:ext>
            </a:extLst>
          </p:cNvPr>
          <p:cNvSpPr txBox="1"/>
          <p:nvPr/>
        </p:nvSpPr>
        <p:spPr>
          <a:xfrm>
            <a:off x="6033615" y="2581707"/>
            <a:ext cx="5548785" cy="1699696"/>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Incremental revenue</a:t>
            </a:r>
          </a:p>
          <a:p>
            <a:pPr marL="342900" indent="-342900">
              <a:lnSpc>
                <a:spcPct val="114000"/>
              </a:lnSpc>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What’s the impact on revenue growth? (MR &gt; 0)</a:t>
            </a:r>
          </a:p>
          <a:p>
            <a:pPr marL="342900" indent="-342900">
              <a:lnSpc>
                <a:spcPct val="114000"/>
              </a:lnSpc>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What’s the hit to revenue? (MR &lt; 0)</a:t>
            </a:r>
          </a:p>
        </p:txBody>
      </p:sp>
      <p:sp>
        <p:nvSpPr>
          <p:cNvPr id="3" name="5-Point Star 2">
            <a:extLst>
              <a:ext uri="{FF2B5EF4-FFF2-40B4-BE49-F238E27FC236}">
                <a16:creationId xmlns:a16="http://schemas.microsoft.com/office/drawing/2014/main" id="{A2926316-4AE3-B629-2E78-EE5D379ECFB6}"/>
              </a:ext>
            </a:extLst>
          </p:cNvPr>
          <p:cNvSpPr/>
          <p:nvPr/>
        </p:nvSpPr>
        <p:spPr>
          <a:xfrm>
            <a:off x="12393665"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50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E683AE-4C9E-6360-1D05-D44495DAB461}"/>
              </a:ext>
            </a:extLst>
          </p:cNvPr>
          <p:cNvSpPr txBox="1"/>
          <p:nvPr/>
        </p:nvSpPr>
        <p:spPr>
          <a:xfrm>
            <a:off x="3135630" y="2882540"/>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Price discrimination</a:t>
            </a:r>
          </a:p>
        </p:txBody>
      </p:sp>
      <p:sp>
        <p:nvSpPr>
          <p:cNvPr id="2" name="Title 1"/>
          <p:cNvSpPr>
            <a:spLocks noGrp="1"/>
          </p:cNvSpPr>
          <p:nvPr>
            <p:ph type="title"/>
          </p:nvPr>
        </p:nvSpPr>
        <p:spPr/>
        <p:txBody>
          <a:bodyPr/>
          <a:lstStyle/>
          <a:p>
            <a:r>
              <a:rPr lang="en-US" dirty="0">
                <a:latin typeface="Source Sans Pro" panose="020B0503030403020204" pitchFamily="34" charset="0"/>
                <a:ea typeface="Source Sans Pro" panose="020B0503030403020204" pitchFamily="34" charset="0"/>
              </a:rPr>
              <a:t>Agenda</a:t>
            </a:r>
          </a:p>
        </p:txBody>
      </p:sp>
      <p:sp>
        <p:nvSpPr>
          <p:cNvPr id="5" name="Slide Number Placeholder 4"/>
          <p:cNvSpPr>
            <a:spLocks noGrp="1"/>
          </p:cNvSpPr>
          <p:nvPr>
            <p:ph type="sldNum" sz="quarter" idx="12"/>
          </p:nvPr>
        </p:nvSpPr>
        <p:spPr/>
        <p:txBody>
          <a:bodyPr/>
          <a:lstStyle/>
          <a:p>
            <a:fld id="{601CDD02-EF00-47E2-B6EB-B4DAE4D672DA}" type="slidenum">
              <a:rPr lang="en-US" altLang="en-US" smtClean="0">
                <a:latin typeface="Source Sans Pro" panose="020B0503030403020204" pitchFamily="34" charset="0"/>
                <a:ea typeface="Source Sans Pro" panose="020B0503030403020204" pitchFamily="34" charset="0"/>
              </a:rPr>
              <a:pPr/>
              <a:t>3</a:t>
            </a:fld>
            <a:endParaRPr lang="en-US" altLang="en-US" dirty="0">
              <a:latin typeface="Source Sans Pro" panose="020B0503030403020204" pitchFamily="34" charset="0"/>
              <a:ea typeface="Source Sans Pro" panose="020B0503030403020204" pitchFamily="34" charset="0"/>
            </a:endParaRPr>
          </a:p>
        </p:txBody>
      </p:sp>
      <p:sp>
        <p:nvSpPr>
          <p:cNvPr id="6" name="TextBox 5"/>
          <p:cNvSpPr txBox="1"/>
          <p:nvPr/>
        </p:nvSpPr>
        <p:spPr>
          <a:xfrm>
            <a:off x="3135630" y="1462806"/>
            <a:ext cx="4819686" cy="523220"/>
          </a:xfrm>
          <a:prstGeom prst="rect">
            <a:avLst/>
          </a:prstGeom>
          <a:solidFill>
            <a:srgbClr val="67C8C7"/>
          </a:solidFill>
          <a:ln>
            <a:solidFill>
              <a:srgbClr val="67C8C7"/>
            </a:solidFill>
          </a:ln>
        </p:spPr>
        <p:txBody>
          <a:bodyPr wrap="square" rtlCol="0">
            <a:spAutoFit/>
          </a:bodyPr>
          <a:lstStyle/>
          <a:p>
            <a:pPr marL="285750" indent="-285750">
              <a:buFont typeface="Arial" panose="020B0604020202020204" pitchFamily="34" charset="0"/>
              <a:buChar char="•"/>
            </a:pPr>
            <a:r>
              <a:rPr lang="en-US" sz="2800" b="1" dirty="0">
                <a:solidFill>
                  <a:schemeClr val="bg1"/>
                </a:solidFill>
                <a:latin typeface="Source Sans Pro" panose="020B0503030403020204" pitchFamily="34" charset="0"/>
                <a:ea typeface="Source Sans Pro" panose="020B0503030403020204" pitchFamily="34" charset="0"/>
              </a:rPr>
              <a:t>Revenue maximization</a:t>
            </a:r>
          </a:p>
        </p:txBody>
      </p:sp>
      <p:sp>
        <p:nvSpPr>
          <p:cNvPr id="7" name="TextBox 6"/>
          <p:cNvSpPr txBox="1"/>
          <p:nvPr/>
        </p:nvSpPr>
        <p:spPr>
          <a:xfrm>
            <a:off x="3135630" y="2172673"/>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Monopoly pricing</a:t>
            </a:r>
          </a:p>
        </p:txBody>
      </p:sp>
      <p:sp>
        <p:nvSpPr>
          <p:cNvPr id="8" name="TextBox 7">
            <a:extLst>
              <a:ext uri="{FF2B5EF4-FFF2-40B4-BE49-F238E27FC236}">
                <a16:creationId xmlns:a16="http://schemas.microsoft.com/office/drawing/2014/main" id="{2DE683AE-4C9E-6360-1D05-D44495DAB461}"/>
              </a:ext>
            </a:extLst>
          </p:cNvPr>
          <p:cNvSpPr txBox="1"/>
          <p:nvPr/>
        </p:nvSpPr>
        <p:spPr>
          <a:xfrm>
            <a:off x="3135630" y="5722005"/>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American Airlines case</a:t>
            </a:r>
          </a:p>
        </p:txBody>
      </p:sp>
      <p:sp>
        <p:nvSpPr>
          <p:cNvPr id="9" name="TextBox 8"/>
          <p:cNvSpPr txBox="1"/>
          <p:nvPr/>
        </p:nvSpPr>
        <p:spPr>
          <a:xfrm>
            <a:off x="3135630" y="3592407"/>
            <a:ext cx="4819686" cy="523220"/>
          </a:xfrm>
          <a:prstGeom prst="rect">
            <a:avLst/>
          </a:prstGeom>
          <a:solidFill>
            <a:schemeClr val="bg1"/>
          </a:solidFill>
          <a:ln>
            <a:solidFill>
              <a:schemeClr val="bg1"/>
            </a:solid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Two-part tariffs</a:t>
            </a:r>
          </a:p>
        </p:txBody>
      </p:sp>
      <p:sp>
        <p:nvSpPr>
          <p:cNvPr id="10" name="TextBox 9"/>
          <p:cNvSpPr txBox="1"/>
          <p:nvPr/>
        </p:nvSpPr>
        <p:spPr>
          <a:xfrm>
            <a:off x="3135630" y="4302274"/>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Bundling</a:t>
            </a:r>
          </a:p>
        </p:txBody>
      </p:sp>
      <p:sp>
        <p:nvSpPr>
          <p:cNvPr id="19" name="TextBox 18">
            <a:extLst>
              <a:ext uri="{FF2B5EF4-FFF2-40B4-BE49-F238E27FC236}">
                <a16:creationId xmlns:a16="http://schemas.microsoft.com/office/drawing/2014/main" id="{3D69F7D5-1B94-BA02-2E27-2EF0536CDB57}"/>
              </a:ext>
            </a:extLst>
          </p:cNvPr>
          <p:cNvSpPr txBox="1"/>
          <p:nvPr/>
        </p:nvSpPr>
        <p:spPr>
          <a:xfrm>
            <a:off x="3135630" y="5012141"/>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Adverse selection</a:t>
            </a:r>
          </a:p>
        </p:txBody>
      </p:sp>
    </p:spTree>
    <p:extLst>
      <p:ext uri="{BB962C8B-B14F-4D97-AF65-F5344CB8AC3E}">
        <p14:creationId xmlns:p14="http://schemas.microsoft.com/office/powerpoint/2010/main" val="5474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en-US" sz="3600" b="0" dirty="0"/>
              <a:t>Revenue and marginal revenue</a:t>
            </a:r>
          </a:p>
        </p:txBody>
      </p:sp>
      <p:sp>
        <p:nvSpPr>
          <p:cNvPr id="24" name="Slide Number Placeholder 5"/>
          <p:cNvSpPr>
            <a:spLocks noGrp="1"/>
          </p:cNvSpPr>
          <p:nvPr>
            <p:ph type="sldNum" sz="quarter" idx="12"/>
          </p:nvPr>
        </p:nvSpPr>
        <p:spPr>
          <a:extLs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A57EB7A8-187F-40FC-9547-B6879CBCBC7C}" type="slidenum">
              <a:rPr lang="en-US" altLang="en-US" sz="1400">
                <a:latin typeface="Source Sans Pro" panose="020B0503030403020204" pitchFamily="34" charset="0"/>
              </a:rPr>
              <a:pPr eaLnBrk="1" hangingPunct="1"/>
              <a:t>4</a:t>
            </a:fld>
            <a:endParaRPr lang="en-US" altLang="en-US" sz="1400" dirty="0">
              <a:latin typeface="Source Sans Pro" panose="020B0503030403020204" pitchFamily="34" charset="0"/>
            </a:endParaRPr>
          </a:p>
        </p:txBody>
      </p:sp>
      <p:sp>
        <p:nvSpPr>
          <p:cNvPr id="2" name="Rectangle 3">
            <a:extLst>
              <a:ext uri="{FF2B5EF4-FFF2-40B4-BE49-F238E27FC236}">
                <a16:creationId xmlns:a16="http://schemas.microsoft.com/office/drawing/2014/main" id="{F9021815-DCDE-B1C5-BDC0-F85CAFF40F9E}"/>
              </a:ext>
            </a:extLst>
          </p:cNvPr>
          <p:cNvSpPr txBox="1">
            <a:spLocks noChangeArrowheads="1"/>
          </p:cNvSpPr>
          <p:nvPr/>
        </p:nvSpPr>
        <p:spPr bwMode="auto">
          <a:xfrm>
            <a:off x="724569" y="1563865"/>
            <a:ext cx="5243082"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defRPr/>
            </a:pPr>
            <a:r>
              <a:rPr lang="en-US" kern="0" dirty="0"/>
              <a:t>Revenue for an individual competitive firm (</a:t>
            </a:r>
            <a:r>
              <a:rPr lang="en-US" kern="0" dirty="0" err="1"/>
              <a:t>i</a:t>
            </a:r>
            <a:r>
              <a:rPr lang="en-US" kern="0" dirty="0"/>
              <a:t>) is:</a:t>
            </a:r>
          </a:p>
          <a:p>
            <a:pPr algn="ctr" eaLnBrk="1" hangingPunct="1">
              <a:buFontTx/>
              <a:buNone/>
              <a:defRPr/>
            </a:pPr>
            <a:r>
              <a:rPr lang="en-US" kern="0" dirty="0" err="1"/>
              <a:t>Revenue</a:t>
            </a:r>
            <a:r>
              <a:rPr lang="en-US" i="1" kern="0" baseline="-25000" dirty="0" err="1"/>
              <a:t>i</a:t>
            </a:r>
            <a:r>
              <a:rPr lang="en-US" kern="0" dirty="0"/>
              <a:t> = </a:t>
            </a:r>
            <a:r>
              <a:rPr lang="en-US" i="1" kern="0" dirty="0"/>
              <a:t>P</a:t>
            </a:r>
            <a:r>
              <a:rPr lang="en-US" i="1" kern="0" baseline="30000" dirty="0"/>
              <a:t>E </a:t>
            </a:r>
            <a:r>
              <a:rPr lang="en-US" kern="0" dirty="0">
                <a:sym typeface="Symbol" charset="0"/>
              </a:rPr>
              <a:t>x </a:t>
            </a:r>
            <a:r>
              <a:rPr lang="en-US" i="1" kern="0" dirty="0">
                <a:sym typeface="Symbol" charset="0"/>
              </a:rPr>
              <a:t>Q</a:t>
            </a:r>
            <a:r>
              <a:rPr lang="en-US" i="1" kern="0" baseline="-25000" dirty="0">
                <a:sym typeface="Symbol" charset="0"/>
              </a:rPr>
              <a:t>i</a:t>
            </a:r>
            <a:endParaRPr lang="en-US" kern="0" dirty="0">
              <a:sym typeface="Symbol" charset="0"/>
            </a:endParaRPr>
          </a:p>
          <a:p>
            <a:pPr eaLnBrk="1" hangingPunct="1">
              <a:defRPr/>
            </a:pPr>
            <a:r>
              <a:rPr lang="en-US" kern="0" dirty="0">
                <a:sym typeface="Symbol" charset="0"/>
              </a:rPr>
              <a:t>Changes to </a:t>
            </a:r>
            <a:r>
              <a:rPr lang="en-US" i="1" kern="0" dirty="0">
                <a:sym typeface="Symbol" charset="0"/>
              </a:rPr>
              <a:t>Q</a:t>
            </a:r>
            <a:r>
              <a:rPr lang="en-US" i="1" kern="0" baseline="-25000" dirty="0">
                <a:sym typeface="Symbol" charset="0"/>
              </a:rPr>
              <a:t>i</a:t>
            </a:r>
            <a:r>
              <a:rPr lang="en-US" kern="0" dirty="0">
                <a:sym typeface="Symbol" charset="0"/>
              </a:rPr>
              <a:t> do not affect </a:t>
            </a:r>
            <a:r>
              <a:rPr lang="en-US" i="1" kern="0" dirty="0">
                <a:sym typeface="Symbol" charset="0"/>
              </a:rPr>
              <a:t>P</a:t>
            </a:r>
            <a:r>
              <a:rPr lang="en-US" i="1" kern="0" baseline="30000" dirty="0">
                <a:sym typeface="Symbol" charset="0"/>
              </a:rPr>
              <a:t>E</a:t>
            </a:r>
            <a:r>
              <a:rPr lang="en-US" kern="0" dirty="0">
                <a:sym typeface="Symbol" charset="0"/>
              </a:rPr>
              <a:t>, so the extra revenue from selling another unit of output is always just </a:t>
            </a:r>
            <a:r>
              <a:rPr lang="en-US" i="1" kern="0" dirty="0">
                <a:sym typeface="Symbol" charset="0"/>
              </a:rPr>
              <a:t>P</a:t>
            </a:r>
            <a:r>
              <a:rPr lang="en-US" i="1" kern="0" baseline="30000" dirty="0">
                <a:sym typeface="Symbol" charset="0"/>
              </a:rPr>
              <a:t>E</a:t>
            </a:r>
          </a:p>
        </p:txBody>
      </p:sp>
      <p:sp>
        <p:nvSpPr>
          <p:cNvPr id="3" name="Line 12">
            <a:extLst>
              <a:ext uri="{FF2B5EF4-FFF2-40B4-BE49-F238E27FC236}">
                <a16:creationId xmlns:a16="http://schemas.microsoft.com/office/drawing/2014/main" id="{D81714C3-BFC6-13B3-CA1F-482588866CF3}"/>
              </a:ext>
            </a:extLst>
          </p:cNvPr>
          <p:cNvSpPr>
            <a:spLocks noChangeShapeType="1"/>
          </p:cNvSpPr>
          <p:nvPr/>
        </p:nvSpPr>
        <p:spPr bwMode="auto">
          <a:xfrm flipH="1">
            <a:off x="6901894" y="2366426"/>
            <a:ext cx="0" cy="23812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ＭＳ Ｐゴシック" charset="0"/>
            </a:endParaRPr>
          </a:p>
        </p:txBody>
      </p:sp>
      <p:sp>
        <p:nvSpPr>
          <p:cNvPr id="17" name="Text Box 13">
            <a:extLst>
              <a:ext uri="{FF2B5EF4-FFF2-40B4-BE49-F238E27FC236}">
                <a16:creationId xmlns:a16="http://schemas.microsoft.com/office/drawing/2014/main" id="{1D67E751-4FC4-2A67-1209-120248793A3C}"/>
              </a:ext>
            </a:extLst>
          </p:cNvPr>
          <p:cNvSpPr txBox="1">
            <a:spLocks noChangeArrowheads="1"/>
          </p:cNvSpPr>
          <p:nvPr/>
        </p:nvSpPr>
        <p:spPr bwMode="auto">
          <a:xfrm>
            <a:off x="9776857" y="4573051"/>
            <a:ext cx="457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a:latin typeface="Source Sans Pro" panose="020B0503030403020204" pitchFamily="34" charset="0"/>
                <a:ea typeface="ＭＳ Ｐゴシック" charset="0"/>
              </a:rPr>
              <a:t>Q</a:t>
            </a:r>
            <a:r>
              <a:rPr lang="en-US" sz="2400" baseline="-25000" dirty="0">
                <a:latin typeface="Source Sans Pro" panose="020B0503030403020204" pitchFamily="34" charset="0"/>
                <a:ea typeface="ＭＳ Ｐゴシック" charset="0"/>
              </a:rPr>
              <a:t>i</a:t>
            </a:r>
            <a:endParaRPr lang="en-US" sz="2400" dirty="0">
              <a:latin typeface="Source Sans Pro" panose="020B0503030403020204" pitchFamily="34" charset="0"/>
              <a:ea typeface="ＭＳ Ｐゴシック" charset="0"/>
            </a:endParaRPr>
          </a:p>
        </p:txBody>
      </p:sp>
      <p:sp>
        <p:nvSpPr>
          <p:cNvPr id="18" name="Text Box 14">
            <a:extLst>
              <a:ext uri="{FF2B5EF4-FFF2-40B4-BE49-F238E27FC236}">
                <a16:creationId xmlns:a16="http://schemas.microsoft.com/office/drawing/2014/main" id="{98281935-8B63-2CFC-57F9-914D534E6CA9}"/>
              </a:ext>
            </a:extLst>
          </p:cNvPr>
          <p:cNvSpPr txBox="1">
            <a:spLocks noChangeArrowheads="1"/>
          </p:cNvSpPr>
          <p:nvPr/>
        </p:nvSpPr>
        <p:spPr bwMode="auto">
          <a:xfrm>
            <a:off x="6612969" y="2160051"/>
            <a:ext cx="457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a:latin typeface="Source Sans Pro" panose="020B0503030403020204" pitchFamily="34" charset="0"/>
                <a:ea typeface="ＭＳ Ｐゴシック" charset="0"/>
              </a:rPr>
              <a:t>$</a:t>
            </a:r>
          </a:p>
        </p:txBody>
      </p:sp>
      <p:sp>
        <p:nvSpPr>
          <p:cNvPr id="19" name="Line 15">
            <a:extLst>
              <a:ext uri="{FF2B5EF4-FFF2-40B4-BE49-F238E27FC236}">
                <a16:creationId xmlns:a16="http://schemas.microsoft.com/office/drawing/2014/main" id="{7B0EB023-BD22-9979-BE7A-01C713CC3047}"/>
              </a:ext>
            </a:extLst>
          </p:cNvPr>
          <p:cNvSpPr>
            <a:spLocks noChangeShapeType="1"/>
          </p:cNvSpPr>
          <p:nvPr/>
        </p:nvSpPr>
        <p:spPr bwMode="auto">
          <a:xfrm flipV="1">
            <a:off x="6906657" y="2983964"/>
            <a:ext cx="2636837" cy="17684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ＭＳ Ｐゴシック" charset="0"/>
            </a:endParaRPr>
          </a:p>
        </p:txBody>
      </p:sp>
      <p:sp>
        <p:nvSpPr>
          <p:cNvPr id="20" name="Text Box 16">
            <a:extLst>
              <a:ext uri="{FF2B5EF4-FFF2-40B4-BE49-F238E27FC236}">
                <a16:creationId xmlns:a16="http://schemas.microsoft.com/office/drawing/2014/main" id="{717F4FC6-0BF1-B140-6406-075F3385C717}"/>
              </a:ext>
            </a:extLst>
          </p:cNvPr>
          <p:cNvSpPr txBox="1">
            <a:spLocks noChangeArrowheads="1"/>
          </p:cNvSpPr>
          <p:nvPr/>
        </p:nvSpPr>
        <p:spPr bwMode="auto">
          <a:xfrm>
            <a:off x="8416369" y="3626901"/>
            <a:ext cx="5238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a:latin typeface="Source Sans Pro" panose="020B0503030403020204" pitchFamily="34" charset="0"/>
                <a:ea typeface="ＭＳ Ｐゴシック" charset="0"/>
              </a:rPr>
              <a:t>P</a:t>
            </a:r>
            <a:r>
              <a:rPr lang="en-US" sz="2400" baseline="30000" dirty="0">
                <a:latin typeface="Source Sans Pro" panose="020B0503030403020204" pitchFamily="34" charset="0"/>
                <a:ea typeface="ＭＳ Ｐゴシック" charset="0"/>
              </a:rPr>
              <a:t>E</a:t>
            </a:r>
            <a:endParaRPr lang="en-US" sz="2400" dirty="0">
              <a:latin typeface="Source Sans Pro" panose="020B0503030403020204" pitchFamily="34" charset="0"/>
              <a:ea typeface="ＭＳ Ｐゴシック" charset="0"/>
            </a:endParaRPr>
          </a:p>
        </p:txBody>
      </p:sp>
      <p:sp>
        <p:nvSpPr>
          <p:cNvPr id="21" name="Line 17">
            <a:extLst>
              <a:ext uri="{FF2B5EF4-FFF2-40B4-BE49-F238E27FC236}">
                <a16:creationId xmlns:a16="http://schemas.microsoft.com/office/drawing/2014/main" id="{77B13125-BDD1-BABD-C7E6-2786D40A4E97}"/>
              </a:ext>
            </a:extLst>
          </p:cNvPr>
          <p:cNvSpPr>
            <a:spLocks noChangeShapeType="1"/>
          </p:cNvSpPr>
          <p:nvPr/>
        </p:nvSpPr>
        <p:spPr bwMode="auto">
          <a:xfrm flipV="1">
            <a:off x="6900307" y="4752439"/>
            <a:ext cx="28908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ＭＳ Ｐゴシック" charset="0"/>
            </a:endParaRPr>
          </a:p>
        </p:txBody>
      </p:sp>
      <p:sp>
        <p:nvSpPr>
          <p:cNvPr id="22" name="Text Box 18">
            <a:extLst>
              <a:ext uri="{FF2B5EF4-FFF2-40B4-BE49-F238E27FC236}">
                <a16:creationId xmlns:a16="http://schemas.microsoft.com/office/drawing/2014/main" id="{EC054FF6-3C04-8E66-04EC-F2A3F722FC51}"/>
              </a:ext>
            </a:extLst>
          </p:cNvPr>
          <p:cNvSpPr txBox="1">
            <a:spLocks noChangeArrowheads="1"/>
          </p:cNvSpPr>
          <p:nvPr/>
        </p:nvSpPr>
        <p:spPr bwMode="auto">
          <a:xfrm>
            <a:off x="9533969" y="2763301"/>
            <a:ext cx="457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a:latin typeface="Source Sans Pro" panose="020B0503030403020204" pitchFamily="34" charset="0"/>
                <a:ea typeface="ＭＳ Ｐゴシック" charset="0"/>
              </a:rPr>
              <a:t>R</a:t>
            </a:r>
            <a:r>
              <a:rPr lang="en-US" sz="2400" baseline="-25000" dirty="0">
                <a:latin typeface="Source Sans Pro" panose="020B0503030403020204" pitchFamily="34" charset="0"/>
                <a:ea typeface="ＭＳ Ｐゴシック" charset="0"/>
              </a:rPr>
              <a:t>i</a:t>
            </a:r>
            <a:endParaRPr lang="en-US" sz="2400" dirty="0">
              <a:latin typeface="Source Sans Pro" panose="020B0503030403020204" pitchFamily="34" charset="0"/>
              <a:ea typeface="ＭＳ Ｐゴシック" charset="0"/>
            </a:endParaRPr>
          </a:p>
        </p:txBody>
      </p:sp>
      <p:sp>
        <p:nvSpPr>
          <p:cNvPr id="23" name="Text Box 19">
            <a:extLst>
              <a:ext uri="{FF2B5EF4-FFF2-40B4-BE49-F238E27FC236}">
                <a16:creationId xmlns:a16="http://schemas.microsoft.com/office/drawing/2014/main" id="{AB038ADB-167B-295B-C53F-8F425B99FB96}"/>
              </a:ext>
            </a:extLst>
          </p:cNvPr>
          <p:cNvSpPr txBox="1">
            <a:spLocks noChangeArrowheads="1"/>
          </p:cNvSpPr>
          <p:nvPr/>
        </p:nvSpPr>
        <p:spPr bwMode="auto">
          <a:xfrm>
            <a:off x="7598807" y="1759941"/>
            <a:ext cx="1498600" cy="46166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sz="2400" dirty="0">
                <a:latin typeface="Source Sans Pro" panose="020B0503030403020204" pitchFamily="34" charset="0"/>
                <a:ea typeface="ＭＳ Ｐゴシック" charset="0"/>
              </a:rPr>
              <a:t>Revenue</a:t>
            </a:r>
          </a:p>
        </p:txBody>
      </p:sp>
      <p:sp>
        <p:nvSpPr>
          <p:cNvPr id="25" name="Line 20">
            <a:extLst>
              <a:ext uri="{FF2B5EF4-FFF2-40B4-BE49-F238E27FC236}">
                <a16:creationId xmlns:a16="http://schemas.microsoft.com/office/drawing/2014/main" id="{01B34188-1B98-92B5-A8D5-0753E5F31398}"/>
              </a:ext>
            </a:extLst>
          </p:cNvPr>
          <p:cNvSpPr>
            <a:spLocks noChangeShapeType="1"/>
          </p:cNvSpPr>
          <p:nvPr/>
        </p:nvSpPr>
        <p:spPr bwMode="auto">
          <a:xfrm>
            <a:off x="8200469" y="3893601"/>
            <a:ext cx="2555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ＭＳ Ｐゴシック" charset="0"/>
            </a:endParaRPr>
          </a:p>
        </p:txBody>
      </p:sp>
      <p:sp>
        <p:nvSpPr>
          <p:cNvPr id="26" name="Line 21">
            <a:extLst>
              <a:ext uri="{FF2B5EF4-FFF2-40B4-BE49-F238E27FC236}">
                <a16:creationId xmlns:a16="http://schemas.microsoft.com/office/drawing/2014/main" id="{F28DBEF3-3F97-F371-C805-DDEA2671359F}"/>
              </a:ext>
            </a:extLst>
          </p:cNvPr>
          <p:cNvSpPr>
            <a:spLocks noChangeShapeType="1"/>
          </p:cNvSpPr>
          <p:nvPr/>
        </p:nvSpPr>
        <p:spPr bwMode="auto">
          <a:xfrm>
            <a:off x="8456057" y="3714214"/>
            <a:ext cx="0" cy="168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ＭＳ Ｐゴシック" charset="0"/>
            </a:endParaRPr>
          </a:p>
        </p:txBody>
      </p:sp>
      <mc:AlternateContent xmlns:mc="http://schemas.openxmlformats.org/markup-compatibility/2006" xmlns:a14="http://schemas.microsoft.com/office/drawing/2010/main">
        <mc:Choice Requires="a14">
          <p:sp>
            <p:nvSpPr>
              <p:cNvPr id="27" name="Rectangle 3">
                <a:extLst>
                  <a:ext uri="{FF2B5EF4-FFF2-40B4-BE49-F238E27FC236}">
                    <a16:creationId xmlns:a16="http://schemas.microsoft.com/office/drawing/2014/main" id="{DBC9C74C-EDAD-4935-DE19-1C877EE9C7BB}"/>
                  </a:ext>
                </a:extLst>
              </p:cNvPr>
              <p:cNvSpPr txBox="1">
                <a:spLocks noChangeArrowheads="1"/>
              </p:cNvSpPr>
              <p:nvPr/>
            </p:nvSpPr>
            <p:spPr bwMode="auto">
              <a:xfrm>
                <a:off x="724569" y="4266168"/>
                <a:ext cx="5243082" cy="16937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spcBef>
                    <a:spcPts val="0"/>
                  </a:spcBef>
                  <a:spcAft>
                    <a:spcPts val="1200"/>
                  </a:spcAft>
                  <a:defRPr/>
                </a:pPr>
                <a:r>
                  <a:rPr lang="en-US" sz="2400" kern="0" dirty="0">
                    <a:latin typeface="Source Sans Pro" panose="020B0503030403020204" pitchFamily="34" charset="0"/>
                    <a:sym typeface="Symbol" charset="0"/>
                  </a:rPr>
                  <a:t>Implies </a:t>
                </a:r>
                <a:r>
                  <a:rPr lang="en-US" sz="2400" b="1" kern="0" dirty="0">
                    <a:latin typeface="Source Sans Pro" panose="020B0503030403020204" pitchFamily="34" charset="0"/>
                    <a:sym typeface="Symbol" charset="0"/>
                  </a:rPr>
                  <a:t>MR = </a:t>
                </a:r>
                <a:r>
                  <a:rPr lang="en-US" sz="2400" b="1" i="1" kern="0" dirty="0">
                    <a:latin typeface="Source Sans Pro" panose="020B0503030403020204" pitchFamily="34" charset="0"/>
                    <a:sym typeface="Symbol" charset="0"/>
                  </a:rPr>
                  <a:t>P</a:t>
                </a:r>
                <a:r>
                  <a:rPr lang="en-US" sz="2400" b="1" i="1" kern="0" baseline="30000" dirty="0">
                    <a:latin typeface="Source Sans Pro" panose="020B0503030403020204" pitchFamily="34" charset="0"/>
                    <a:sym typeface="Symbol" charset="0"/>
                  </a:rPr>
                  <a:t>E</a:t>
                </a:r>
                <a:r>
                  <a:rPr lang="en-US" sz="2400" kern="0" dirty="0">
                    <a:latin typeface="Source Sans Pro" panose="020B0503030403020204" pitchFamily="34" charset="0"/>
                    <a:sym typeface="Symbol" charset="0"/>
                  </a:rPr>
                  <a:t> for competitive firms</a:t>
                </a:r>
              </a:p>
              <a:p>
                <a:pPr marL="342900" lvl="1" indent="0" eaLnBrk="1" hangingPunct="1">
                  <a:spcBef>
                    <a:spcPts val="0"/>
                  </a:spcBef>
                  <a:spcAft>
                    <a:spcPts val="1200"/>
                  </a:spcAft>
                  <a:buNone/>
                  <a:defRPr/>
                </a:pPr>
                <a:r>
                  <a:rPr lang="en-US" sz="2400" kern="0" dirty="0">
                    <a:latin typeface="Source Sans Pro" panose="020B0503030403020204" pitchFamily="34" charset="0"/>
                    <a:sym typeface="Symbol" charset="0"/>
                  </a:rPr>
                  <a:t>MR = marginal revenue = </a:t>
                </a:r>
                <a14:m>
                  <m:oMath xmlns:m="http://schemas.openxmlformats.org/officeDocument/2006/math">
                    <m:f>
                      <m:fPr>
                        <m:ctrlPr>
                          <a:rPr lang="en-US" sz="2400" i="1" kern="0" smtClean="0">
                            <a:latin typeface="Cambria Math" panose="02040503050406030204" pitchFamily="18" charset="0"/>
                            <a:sym typeface="Symbol" charset="0"/>
                          </a:rPr>
                        </m:ctrlPr>
                      </m:fPr>
                      <m:num>
                        <m:r>
                          <a:rPr lang="en-US" sz="2400" b="0" i="1" kern="0" smtClean="0">
                            <a:latin typeface="Cambria Math" panose="02040503050406030204" pitchFamily="18" charset="0"/>
                            <a:sym typeface="Symbol" charset="0"/>
                          </a:rPr>
                          <m:t>𝑑𝑅𝑒𝑣</m:t>
                        </m:r>
                      </m:num>
                      <m:den>
                        <m:r>
                          <a:rPr lang="en-US" sz="2400" b="0" i="1" kern="0" smtClean="0">
                            <a:latin typeface="Cambria Math" panose="02040503050406030204" pitchFamily="18" charset="0"/>
                            <a:sym typeface="Symbol" charset="0"/>
                          </a:rPr>
                          <m:t>𝑑𝑄</m:t>
                        </m:r>
                      </m:den>
                    </m:f>
                  </m:oMath>
                </a14:m>
                <a:endParaRPr lang="en-US" sz="2400" kern="0" dirty="0">
                  <a:latin typeface="Source Sans Pro" panose="020B0503030403020204" pitchFamily="34" charset="0"/>
                  <a:sym typeface="Symbol" charset="0"/>
                </a:endParaRPr>
              </a:p>
              <a:p>
                <a:pPr eaLnBrk="1" hangingPunct="1">
                  <a:spcBef>
                    <a:spcPts val="0"/>
                  </a:spcBef>
                  <a:spcAft>
                    <a:spcPts val="1200"/>
                  </a:spcAft>
                  <a:defRPr/>
                </a:pPr>
                <a:r>
                  <a:rPr lang="en-US" sz="2400" kern="0" dirty="0">
                    <a:latin typeface="Source Sans Pro" panose="020B0503030403020204" pitchFamily="34" charset="0"/>
                    <a:sym typeface="Symbol" charset="0"/>
                  </a:rPr>
                  <a:t>Not true for monopolist …</a:t>
                </a:r>
              </a:p>
            </p:txBody>
          </p:sp>
        </mc:Choice>
        <mc:Fallback xmlns="">
          <p:sp>
            <p:nvSpPr>
              <p:cNvPr id="27" name="Rectangle 3">
                <a:extLst>
                  <a:ext uri="{FF2B5EF4-FFF2-40B4-BE49-F238E27FC236}">
                    <a16:creationId xmlns:a16="http://schemas.microsoft.com/office/drawing/2014/main" id="{DBC9C74C-EDAD-4935-DE19-1C877EE9C7BB}"/>
                  </a:ext>
                </a:extLst>
              </p:cNvPr>
              <p:cNvSpPr txBox="1">
                <a:spLocks noRot="1" noChangeAspect="1" noMove="1" noResize="1" noEditPoints="1" noAdjustHandles="1" noChangeArrowheads="1" noChangeShapeType="1" noTextEdit="1"/>
              </p:cNvSpPr>
              <p:nvPr/>
            </p:nvSpPr>
            <p:spPr bwMode="auto">
              <a:xfrm>
                <a:off x="724569" y="4266168"/>
                <a:ext cx="5243082" cy="1693797"/>
              </a:xfrm>
              <a:prstGeom prst="rect">
                <a:avLst/>
              </a:prstGeom>
              <a:blipFill>
                <a:blip r:embed="rId2"/>
                <a:stretch>
                  <a:fillRect l="-2179" t="-4478" r="-1453" b="-895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98BB4A6-14E9-F2B3-4FF8-94C8686FD6CC}"/>
                  </a:ext>
                </a:extLst>
              </p14:cNvPr>
              <p14:cNvContentPartPr/>
              <p14:nvPr/>
            </p14:nvContentPartPr>
            <p14:xfrm>
              <a:off x="2877120" y="4754160"/>
              <a:ext cx="4273920" cy="1168560"/>
            </p14:xfrm>
          </p:contentPart>
        </mc:Choice>
        <mc:Fallback>
          <p:pic>
            <p:nvPicPr>
              <p:cNvPr id="4" name="Ink 3">
                <a:extLst>
                  <a:ext uri="{FF2B5EF4-FFF2-40B4-BE49-F238E27FC236}">
                    <a16:creationId xmlns:a16="http://schemas.microsoft.com/office/drawing/2014/main" id="{498BB4A6-14E9-F2B3-4FF8-94C8686FD6CC}"/>
                  </a:ext>
                </a:extLst>
              </p:cNvPr>
              <p:cNvPicPr/>
              <p:nvPr/>
            </p:nvPicPr>
            <p:blipFill>
              <a:blip r:embed="rId4"/>
              <a:stretch>
                <a:fillRect/>
              </a:stretch>
            </p:blipFill>
            <p:spPr>
              <a:xfrm>
                <a:off x="2860920" y="4737960"/>
                <a:ext cx="4306320" cy="1200960"/>
              </a:xfrm>
              <a:prstGeom prst="rect">
                <a:avLst/>
              </a:prstGeom>
            </p:spPr>
          </p:pic>
        </mc:Fallback>
      </mc:AlternateContent>
    </p:spTree>
    <p:extLst>
      <p:ext uri="{BB962C8B-B14F-4D97-AF65-F5344CB8AC3E}">
        <p14:creationId xmlns:p14="http://schemas.microsoft.com/office/powerpoint/2010/main" val="2853307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5"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ltLang="en-US" sz="3600" dirty="0">
                <a:ea typeface="ＭＳ Ｐゴシック" pitchFamily="34" charset="-128"/>
              </a:rPr>
              <a:t>Revenue and demand</a:t>
            </a:r>
          </a:p>
        </p:txBody>
      </p:sp>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4C3FAB9A-6AF8-4B96-B86C-EB7A8A16FF70}" type="slidenum">
              <a:rPr lang="en-US" altLang="en-US" sz="1400">
                <a:latin typeface="Source Sans Pro" panose="020B0503030403020204" pitchFamily="34" charset="0"/>
              </a:rPr>
              <a:pPr eaLnBrk="1" hangingPunct="1"/>
              <a:t>5</a:t>
            </a:fld>
            <a:endParaRPr lang="en-US" altLang="en-US" sz="1400" dirty="0">
              <a:latin typeface="Source Sans Pro" panose="020B0503030403020204" pitchFamily="34" charset="0"/>
            </a:endParaRPr>
          </a:p>
        </p:txBody>
      </p:sp>
      <p:sp>
        <p:nvSpPr>
          <p:cNvPr id="2" name="Rectangle 3">
            <a:extLst>
              <a:ext uri="{FF2B5EF4-FFF2-40B4-BE49-F238E27FC236}">
                <a16:creationId xmlns:a16="http://schemas.microsoft.com/office/drawing/2014/main" id="{9D97E5B8-F4AD-48B8-8E69-3EB123F2E831}"/>
              </a:ext>
            </a:extLst>
          </p:cNvPr>
          <p:cNvSpPr txBox="1">
            <a:spLocks noChangeArrowheads="1"/>
          </p:cNvSpPr>
          <p:nvPr/>
        </p:nvSpPr>
        <p:spPr bwMode="auto">
          <a:xfrm>
            <a:off x="777240" y="3777130"/>
            <a:ext cx="104607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800" kern="0" dirty="0">
                <a:latin typeface="Source Sans Pro" panose="020B0503030403020204" pitchFamily="34" charset="0"/>
                <a:ea typeface="ＭＳ Ｐゴシック" pitchFamily="34" charset="-128"/>
              </a:rPr>
              <a:t>How much revenue is returned by a price of P</a:t>
            </a:r>
            <a:r>
              <a:rPr lang="en-US" altLang="en-US" sz="2800" kern="0" baseline="-25000" dirty="0">
                <a:latin typeface="Source Sans Pro" panose="020B0503030403020204" pitchFamily="34" charset="0"/>
                <a:ea typeface="ＭＳ Ｐゴシック" pitchFamily="34" charset="-128"/>
              </a:rPr>
              <a:t>1</a:t>
            </a:r>
            <a:r>
              <a:rPr lang="en-US" altLang="en-US" sz="2800" kern="0" dirty="0">
                <a:latin typeface="Source Sans Pro" panose="020B0503030403020204" pitchFamily="34" charset="0"/>
                <a:ea typeface="ＭＳ Ｐゴシック" pitchFamily="34" charset="-128"/>
              </a:rPr>
              <a:t>?</a:t>
            </a:r>
          </a:p>
        </p:txBody>
      </p:sp>
      <p:sp>
        <p:nvSpPr>
          <p:cNvPr id="3" name="Rectangle 3">
            <a:extLst>
              <a:ext uri="{FF2B5EF4-FFF2-40B4-BE49-F238E27FC236}">
                <a16:creationId xmlns:a16="http://schemas.microsoft.com/office/drawing/2014/main" id="{D83912AE-9D37-60D3-09D7-308361FF7340}"/>
              </a:ext>
            </a:extLst>
          </p:cNvPr>
          <p:cNvSpPr txBox="1">
            <a:spLocks noChangeArrowheads="1"/>
          </p:cNvSpPr>
          <p:nvPr/>
        </p:nvSpPr>
        <p:spPr bwMode="auto">
          <a:xfrm>
            <a:off x="777240" y="1577995"/>
            <a:ext cx="10460736"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800" kern="0" dirty="0">
                <a:latin typeface="Source Sans Pro" panose="020B0503030403020204" pitchFamily="34" charset="0"/>
                <a:ea typeface="ＭＳ Ｐゴシック" pitchFamily="34" charset="-128"/>
              </a:rPr>
              <a:t>Suppose as a monopolist you have collected information on demand</a:t>
            </a:r>
            <a:endParaRPr lang="en-US" altLang="ja-JP" sz="2800" kern="0" dirty="0">
              <a:latin typeface="Source Sans Pro" panose="020B0503030403020204" pitchFamily="34" charset="0"/>
              <a:ea typeface="ＭＳ Ｐゴシック" pitchFamily="34" charset="-128"/>
            </a:endParaRPr>
          </a:p>
          <a:p>
            <a:pPr eaLnBrk="1" hangingPunct="1">
              <a:buFontTx/>
              <a:buNone/>
            </a:pPr>
            <a:r>
              <a:rPr lang="en-US" altLang="en-US" sz="2800" kern="0" dirty="0">
                <a:latin typeface="Source Sans Pro" panose="020B0503030403020204" pitchFamily="34" charset="0"/>
                <a:ea typeface="ＭＳ Ｐゴシック" pitchFamily="34" charset="-128"/>
              </a:rPr>
              <a:t>			</a:t>
            </a:r>
            <a:r>
              <a:rPr lang="en-US" altLang="en-US" sz="2800" i="1" kern="0" dirty="0">
                <a:latin typeface="Source Sans Pro" panose="020B0503030403020204" pitchFamily="34" charset="0"/>
                <a:ea typeface="ＭＳ Ｐゴシック" pitchFamily="34" charset="-128"/>
              </a:rPr>
              <a:t>P</a:t>
            </a:r>
            <a:r>
              <a:rPr lang="en-US" altLang="en-US" sz="2800" kern="0" dirty="0">
                <a:latin typeface="Source Sans Pro" panose="020B0503030403020204" pitchFamily="34" charset="0"/>
                <a:ea typeface="ＭＳ Ｐゴシック" pitchFamily="34" charset="-128"/>
              </a:rPr>
              <a:t> = 200 – 0.25</a:t>
            </a:r>
            <a:r>
              <a:rPr lang="en-US" altLang="en-US" sz="2800" i="1" kern="0" dirty="0">
                <a:latin typeface="Source Sans Pro" panose="020B0503030403020204" pitchFamily="34" charset="0"/>
                <a:ea typeface="ＭＳ Ｐゴシック" pitchFamily="34" charset="-128"/>
              </a:rPr>
              <a:t>Q</a:t>
            </a:r>
            <a:endParaRPr lang="en-US" altLang="en-US" sz="2800" kern="0" dirty="0">
              <a:latin typeface="Source Sans Pro" panose="020B0503030403020204" pitchFamily="34" charset="0"/>
              <a:ea typeface="ＭＳ Ｐゴシック" pitchFamily="34" charset="-128"/>
            </a:endParaRPr>
          </a:p>
          <a:p>
            <a:pPr eaLnBrk="1" hangingPunct="1">
              <a:buFontTx/>
              <a:buNone/>
            </a:pPr>
            <a:r>
              <a:rPr lang="en-US" altLang="en-US" sz="2800" kern="0" dirty="0">
                <a:latin typeface="Source Sans Pro" panose="020B0503030403020204" pitchFamily="34" charset="0"/>
                <a:ea typeface="ＭＳ Ｐゴシック" pitchFamily="34" charset="-128"/>
              </a:rPr>
              <a:t>		or 	</a:t>
            </a:r>
            <a:r>
              <a:rPr lang="en-US" altLang="en-US" sz="2800" i="1" kern="0" dirty="0">
                <a:latin typeface="Source Sans Pro" panose="020B0503030403020204" pitchFamily="34" charset="0"/>
                <a:ea typeface="ＭＳ Ｐゴシック" pitchFamily="34" charset="-128"/>
              </a:rPr>
              <a:t>Q</a:t>
            </a:r>
            <a:r>
              <a:rPr lang="en-US" altLang="en-US" sz="2800" kern="0" dirty="0">
                <a:latin typeface="Source Sans Pro" panose="020B0503030403020204" pitchFamily="34" charset="0"/>
                <a:ea typeface="ＭＳ Ｐゴシック" pitchFamily="34" charset="-128"/>
              </a:rPr>
              <a:t> = 800 – 4</a:t>
            </a:r>
            <a:r>
              <a:rPr lang="en-US" altLang="en-US" sz="2800" i="1" kern="0" dirty="0">
                <a:latin typeface="Source Sans Pro" panose="020B0503030403020204" pitchFamily="34" charset="0"/>
                <a:ea typeface="ＭＳ Ｐゴシック" pitchFamily="34" charset="-128"/>
              </a:rPr>
              <a:t>P</a:t>
            </a:r>
          </a:p>
        </p:txBody>
      </p:sp>
      <p:sp>
        <p:nvSpPr>
          <p:cNvPr id="4" name="Rectangle 3">
            <a:extLst>
              <a:ext uri="{FF2B5EF4-FFF2-40B4-BE49-F238E27FC236}">
                <a16:creationId xmlns:a16="http://schemas.microsoft.com/office/drawing/2014/main" id="{87E97B14-76EB-844E-3B81-CBC9AE797454}"/>
              </a:ext>
            </a:extLst>
          </p:cNvPr>
          <p:cNvSpPr txBox="1">
            <a:spLocks noChangeArrowheads="1"/>
          </p:cNvSpPr>
          <p:nvPr/>
        </p:nvSpPr>
        <p:spPr bwMode="auto">
          <a:xfrm>
            <a:off x="777240" y="4375827"/>
            <a:ext cx="104607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buFontTx/>
              <a:buNone/>
            </a:pPr>
            <a:r>
              <a:rPr lang="en-US" altLang="en-US" sz="2800" kern="0" dirty="0">
                <a:latin typeface="Source Sans Pro" panose="020B0503030403020204" pitchFamily="34" charset="0"/>
                <a:ea typeface="ＭＳ Ｐゴシック" pitchFamily="34" charset="-128"/>
              </a:rPr>
              <a:t>			</a:t>
            </a:r>
            <a:r>
              <a:rPr lang="en-US" altLang="en-US" sz="2800" i="1" kern="0" dirty="0">
                <a:latin typeface="Source Sans Pro" panose="020B0503030403020204" pitchFamily="34" charset="0"/>
                <a:ea typeface="ＭＳ Ｐゴシック" pitchFamily="34" charset="-128"/>
              </a:rPr>
              <a:t>R</a:t>
            </a:r>
            <a:r>
              <a:rPr lang="en-US" altLang="en-US" sz="2800" i="1" kern="0" baseline="-25000" dirty="0">
                <a:latin typeface="Source Sans Pro" panose="020B0503030403020204" pitchFamily="34" charset="0"/>
                <a:ea typeface="ＭＳ Ｐゴシック" pitchFamily="34" charset="-128"/>
              </a:rPr>
              <a:t>1</a:t>
            </a:r>
            <a:r>
              <a:rPr lang="en-US" altLang="en-US" sz="2800" kern="0" dirty="0">
                <a:latin typeface="Source Sans Pro" panose="020B0503030403020204" pitchFamily="34" charset="0"/>
                <a:ea typeface="ＭＳ Ｐゴシック" pitchFamily="34" charset="-128"/>
              </a:rPr>
              <a:t> = </a:t>
            </a:r>
            <a:r>
              <a:rPr lang="en-US" altLang="en-US" sz="2800" i="1" kern="0" dirty="0">
                <a:latin typeface="Source Sans Pro" panose="020B0503030403020204" pitchFamily="34" charset="0"/>
                <a:ea typeface="ＭＳ Ｐゴシック" pitchFamily="34" charset="-128"/>
              </a:rPr>
              <a:t>P</a:t>
            </a:r>
            <a:r>
              <a:rPr lang="en-US" altLang="en-US" sz="2800" i="1" kern="0" baseline="-25000" dirty="0">
                <a:latin typeface="Source Sans Pro" panose="020B0503030403020204" pitchFamily="34" charset="0"/>
                <a:ea typeface="ＭＳ Ｐゴシック" pitchFamily="34" charset="-128"/>
              </a:rPr>
              <a:t>1 </a:t>
            </a:r>
            <a:r>
              <a:rPr lang="en-US" altLang="en-US" sz="2800" kern="0" dirty="0">
                <a:latin typeface="Source Sans Pro" panose="020B0503030403020204" pitchFamily="34" charset="0"/>
                <a:ea typeface="ＭＳ Ｐゴシック" pitchFamily="34" charset="-128"/>
                <a:sym typeface="Symbol" pitchFamily="18" charset="2"/>
              </a:rPr>
              <a:t>x </a:t>
            </a:r>
            <a:r>
              <a:rPr lang="en-US" altLang="en-US" sz="2800" kern="0" dirty="0">
                <a:latin typeface="Source Sans Pro" panose="020B0503030403020204" pitchFamily="34" charset="0"/>
                <a:ea typeface="ＭＳ Ｐゴシック" pitchFamily="34" charset="-128"/>
              </a:rPr>
              <a:t>Q(</a:t>
            </a:r>
            <a:r>
              <a:rPr lang="en-US" altLang="en-US" sz="2800" i="1" kern="0" dirty="0">
                <a:latin typeface="Source Sans Pro" panose="020B0503030403020204" pitchFamily="34" charset="0"/>
                <a:ea typeface="ＭＳ Ｐゴシック" pitchFamily="34" charset="-128"/>
              </a:rPr>
              <a:t>P</a:t>
            </a:r>
            <a:r>
              <a:rPr lang="en-US" altLang="en-US" sz="2800" i="1" kern="0" baseline="-25000" dirty="0">
                <a:latin typeface="Source Sans Pro" panose="020B0503030403020204" pitchFamily="34" charset="0"/>
                <a:ea typeface="ＭＳ Ｐゴシック" pitchFamily="34" charset="-128"/>
              </a:rPr>
              <a:t>1</a:t>
            </a:r>
            <a:r>
              <a:rPr lang="en-US" altLang="en-US" sz="2800" kern="0" dirty="0">
                <a:latin typeface="Source Sans Pro" panose="020B0503030403020204" pitchFamily="34" charset="0"/>
                <a:ea typeface="ＭＳ Ｐゴシック" pitchFamily="34" charset="-128"/>
              </a:rPr>
              <a:t>)</a:t>
            </a:r>
            <a:endParaRPr lang="en-US" altLang="en-US" sz="1200" kern="0" dirty="0">
              <a:latin typeface="Source Sans Pro" panose="020B0503030403020204" pitchFamily="34" charset="0"/>
              <a:ea typeface="ＭＳ Ｐゴシック" pitchFamily="34" charset="-128"/>
            </a:endParaRPr>
          </a:p>
        </p:txBody>
      </p:sp>
      <p:sp>
        <p:nvSpPr>
          <p:cNvPr id="6" name="Rectangle 3">
            <a:extLst>
              <a:ext uri="{FF2B5EF4-FFF2-40B4-BE49-F238E27FC236}">
                <a16:creationId xmlns:a16="http://schemas.microsoft.com/office/drawing/2014/main" id="{123A913F-288E-E5DB-2D29-35E8FC1FD40B}"/>
              </a:ext>
            </a:extLst>
          </p:cNvPr>
          <p:cNvSpPr txBox="1">
            <a:spLocks noChangeArrowheads="1"/>
          </p:cNvSpPr>
          <p:nvPr/>
        </p:nvSpPr>
        <p:spPr bwMode="auto">
          <a:xfrm>
            <a:off x="777240" y="4974523"/>
            <a:ext cx="104607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800" kern="0" dirty="0">
                <a:latin typeface="Source Sans Pro" panose="020B0503030403020204" pitchFamily="34" charset="0"/>
                <a:ea typeface="ＭＳ Ｐゴシック" pitchFamily="34" charset="-128"/>
              </a:rPr>
              <a:t>Example: </a:t>
            </a:r>
            <a:r>
              <a:rPr lang="en-US" altLang="en-US" sz="2800" i="1" kern="0" dirty="0">
                <a:latin typeface="Source Sans Pro" panose="020B0503030403020204" pitchFamily="34" charset="0"/>
                <a:ea typeface="ＭＳ Ｐゴシック" pitchFamily="34" charset="-128"/>
              </a:rPr>
              <a:t>P</a:t>
            </a:r>
            <a:r>
              <a:rPr lang="en-US" altLang="en-US" sz="2800" i="1" kern="0" baseline="-25000" dirty="0">
                <a:latin typeface="Source Sans Pro" panose="020B0503030403020204" pitchFamily="34" charset="0"/>
                <a:ea typeface="ＭＳ Ｐゴシック" pitchFamily="34" charset="-128"/>
              </a:rPr>
              <a:t>1</a:t>
            </a:r>
            <a:r>
              <a:rPr lang="en-US" altLang="en-US" sz="2800" kern="0" dirty="0">
                <a:latin typeface="Source Sans Pro" panose="020B0503030403020204" pitchFamily="34" charset="0"/>
                <a:ea typeface="ＭＳ Ｐゴシック" pitchFamily="34" charset="-128"/>
              </a:rPr>
              <a:t> = 50, so </a:t>
            </a:r>
            <a:r>
              <a:rPr lang="en-US" altLang="en-US" sz="2800" i="1" kern="0" dirty="0">
                <a:latin typeface="Source Sans Pro" panose="020B0503030403020204" pitchFamily="34" charset="0"/>
                <a:ea typeface="ＭＳ Ｐゴシック" pitchFamily="34" charset="-128"/>
              </a:rPr>
              <a:t>Q</a:t>
            </a:r>
            <a:r>
              <a:rPr lang="en-US" altLang="en-US" sz="2800" i="1" kern="0" baseline="-25000" dirty="0">
                <a:latin typeface="Source Sans Pro" panose="020B0503030403020204" pitchFamily="34" charset="0"/>
                <a:ea typeface="ＭＳ Ｐゴシック" pitchFamily="34" charset="-128"/>
              </a:rPr>
              <a:t>1</a:t>
            </a:r>
            <a:r>
              <a:rPr lang="en-US" altLang="en-US" sz="2800" kern="0" dirty="0">
                <a:latin typeface="Source Sans Pro" panose="020B0503030403020204" pitchFamily="34" charset="0"/>
                <a:ea typeface="ＭＳ Ｐゴシック" pitchFamily="34" charset="-128"/>
              </a:rPr>
              <a:t> = 600 and </a:t>
            </a:r>
            <a:r>
              <a:rPr lang="en-US" altLang="en-US" sz="2800" i="1" kern="0" dirty="0">
                <a:latin typeface="Source Sans Pro" panose="020B0503030403020204" pitchFamily="34" charset="0"/>
                <a:ea typeface="ＭＳ Ｐゴシック" pitchFamily="34" charset="-128"/>
              </a:rPr>
              <a:t>R</a:t>
            </a:r>
            <a:r>
              <a:rPr lang="en-US" altLang="en-US" sz="2800" i="1" kern="0" baseline="-25000" dirty="0">
                <a:latin typeface="Source Sans Pro" panose="020B0503030403020204" pitchFamily="34" charset="0"/>
                <a:ea typeface="ＭＳ Ｐゴシック" pitchFamily="34" charset="-128"/>
              </a:rPr>
              <a:t>1</a:t>
            </a:r>
            <a:r>
              <a:rPr lang="en-US" altLang="en-US" sz="2800" kern="0" dirty="0">
                <a:latin typeface="Source Sans Pro" panose="020B0503030403020204" pitchFamily="34" charset="0"/>
                <a:ea typeface="ＭＳ Ｐゴシック" pitchFamily="34" charset="-128"/>
              </a:rPr>
              <a:t> = 30,000</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AD49EB8F-AA96-AC15-7DD3-F39DF7495DF9}"/>
                  </a:ext>
                </a:extLst>
              </p14:cNvPr>
              <p14:cNvContentPartPr/>
              <p14:nvPr/>
            </p14:nvContentPartPr>
            <p14:xfrm>
              <a:off x="865800" y="2662920"/>
              <a:ext cx="3994560" cy="1122120"/>
            </p14:xfrm>
          </p:contentPart>
        </mc:Choice>
        <mc:Fallback>
          <p:pic>
            <p:nvPicPr>
              <p:cNvPr id="5" name="Ink 4">
                <a:extLst>
                  <a:ext uri="{FF2B5EF4-FFF2-40B4-BE49-F238E27FC236}">
                    <a16:creationId xmlns:a16="http://schemas.microsoft.com/office/drawing/2014/main" id="{AD49EB8F-AA96-AC15-7DD3-F39DF7495DF9}"/>
                  </a:ext>
                </a:extLst>
              </p:cNvPr>
              <p:cNvPicPr/>
              <p:nvPr/>
            </p:nvPicPr>
            <p:blipFill>
              <a:blip r:embed="rId3"/>
              <a:stretch>
                <a:fillRect/>
              </a:stretch>
            </p:blipFill>
            <p:spPr>
              <a:xfrm>
                <a:off x="849600" y="2646720"/>
                <a:ext cx="4026960" cy="11545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en-US" altLang="en-US" sz="3600" dirty="0">
                <a:ea typeface="ＭＳ Ｐゴシック" pitchFamily="34" charset="-128"/>
              </a:rPr>
              <a:t>Revenue and demand</a:t>
            </a:r>
          </a:p>
        </p:txBody>
      </p:sp>
      <p:sp>
        <p:nvSpPr>
          <p:cNvPr id="184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C63629FE-EBD4-4EDA-B610-6D74B02A8998}" type="slidenum">
              <a:rPr lang="en-US" altLang="en-US" sz="1400">
                <a:latin typeface="Source Sans Pro" panose="020B0503030403020204" pitchFamily="34" charset="0"/>
              </a:rPr>
              <a:pPr eaLnBrk="1" hangingPunct="1"/>
              <a:t>6</a:t>
            </a:fld>
            <a:endParaRPr lang="en-US" altLang="en-US" sz="1400" dirty="0">
              <a:latin typeface="Source Sans Pro" panose="020B0503030403020204" pitchFamily="34" charset="0"/>
            </a:endParaRPr>
          </a:p>
        </p:txBody>
      </p:sp>
      <p:sp>
        <p:nvSpPr>
          <p:cNvPr id="2" name="Rectangle 11">
            <a:extLst>
              <a:ext uri="{FF2B5EF4-FFF2-40B4-BE49-F238E27FC236}">
                <a16:creationId xmlns:a16="http://schemas.microsoft.com/office/drawing/2014/main" id="{122125EB-AA24-78AD-B83E-92FBC9EDB6F2}"/>
              </a:ext>
            </a:extLst>
          </p:cNvPr>
          <p:cNvSpPr>
            <a:spLocks noChangeArrowheads="1"/>
          </p:cNvSpPr>
          <p:nvPr/>
        </p:nvSpPr>
        <p:spPr bwMode="auto">
          <a:xfrm>
            <a:off x="5995989" y="4508500"/>
            <a:ext cx="2195511" cy="647700"/>
          </a:xfrm>
          <a:prstGeom prst="rect">
            <a:avLst/>
          </a:prstGeom>
          <a:solidFill>
            <a:srgbClr val="67C8C7"/>
          </a:solidFill>
          <a:ln w="9525">
            <a:solidFill>
              <a:srgbClr val="67C8C7"/>
            </a:solidFill>
            <a:miter lim="800000"/>
            <a:headEnd/>
            <a:tailEnd/>
          </a:ln>
        </p:spPr>
        <p:txBody>
          <a:bodyPr wrap="none"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endParaRPr lang="en-US" altLang="en-US" dirty="0">
              <a:latin typeface="Source Sans Pro" panose="020B0503030403020204" pitchFamily="34" charset="0"/>
            </a:endParaRPr>
          </a:p>
        </p:txBody>
      </p:sp>
      <p:sp>
        <p:nvSpPr>
          <p:cNvPr id="3" name="Line 4">
            <a:extLst>
              <a:ext uri="{FF2B5EF4-FFF2-40B4-BE49-F238E27FC236}">
                <a16:creationId xmlns:a16="http://schemas.microsoft.com/office/drawing/2014/main" id="{BEE5BA76-541F-DF55-CCC9-F39BC347B8A0}"/>
              </a:ext>
            </a:extLst>
          </p:cNvPr>
          <p:cNvSpPr>
            <a:spLocks noChangeShapeType="1"/>
          </p:cNvSpPr>
          <p:nvPr/>
        </p:nvSpPr>
        <p:spPr bwMode="auto">
          <a:xfrm>
            <a:off x="5983289" y="2360614"/>
            <a:ext cx="0" cy="28209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4" name="Line 5">
            <a:extLst>
              <a:ext uri="{FF2B5EF4-FFF2-40B4-BE49-F238E27FC236}">
                <a16:creationId xmlns:a16="http://schemas.microsoft.com/office/drawing/2014/main" id="{F54165A1-4E3E-38A2-D1A8-48765F1302CC}"/>
              </a:ext>
            </a:extLst>
          </p:cNvPr>
          <p:cNvSpPr>
            <a:spLocks noChangeShapeType="1"/>
          </p:cNvSpPr>
          <p:nvPr/>
        </p:nvSpPr>
        <p:spPr bwMode="auto">
          <a:xfrm>
            <a:off x="5983288" y="5170488"/>
            <a:ext cx="3581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5" name="Line 6">
            <a:extLst>
              <a:ext uri="{FF2B5EF4-FFF2-40B4-BE49-F238E27FC236}">
                <a16:creationId xmlns:a16="http://schemas.microsoft.com/office/drawing/2014/main" id="{6E29B9A0-7327-AE73-386B-6F0C42FE2882}"/>
              </a:ext>
            </a:extLst>
          </p:cNvPr>
          <p:cNvSpPr>
            <a:spLocks noChangeShapeType="1"/>
          </p:cNvSpPr>
          <p:nvPr/>
        </p:nvSpPr>
        <p:spPr bwMode="auto">
          <a:xfrm>
            <a:off x="5995989" y="2887663"/>
            <a:ext cx="3095625" cy="22796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6" name="Text Box 7">
            <a:extLst>
              <a:ext uri="{FF2B5EF4-FFF2-40B4-BE49-F238E27FC236}">
                <a16:creationId xmlns:a16="http://schemas.microsoft.com/office/drawing/2014/main" id="{FA7B3B85-012B-70F3-022E-9E6546486423}"/>
              </a:ext>
            </a:extLst>
          </p:cNvPr>
          <p:cNvSpPr txBox="1">
            <a:spLocks noChangeArrowheads="1"/>
          </p:cNvSpPr>
          <p:nvPr/>
        </p:nvSpPr>
        <p:spPr bwMode="auto">
          <a:xfrm>
            <a:off x="5226050" y="2787651"/>
            <a:ext cx="5603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endParaRPr lang="en-US" altLang="en-US" dirty="0">
              <a:latin typeface="Source Sans Pro" panose="020B0503030403020204" pitchFamily="34" charset="0"/>
            </a:endParaRPr>
          </a:p>
        </p:txBody>
      </p:sp>
      <p:sp>
        <p:nvSpPr>
          <p:cNvPr id="7" name="Text Box 8">
            <a:extLst>
              <a:ext uri="{FF2B5EF4-FFF2-40B4-BE49-F238E27FC236}">
                <a16:creationId xmlns:a16="http://schemas.microsoft.com/office/drawing/2014/main" id="{E2E854E6-1674-E239-447B-EA897804288B}"/>
              </a:ext>
            </a:extLst>
          </p:cNvPr>
          <p:cNvSpPr txBox="1">
            <a:spLocks noChangeArrowheads="1"/>
          </p:cNvSpPr>
          <p:nvPr/>
        </p:nvSpPr>
        <p:spPr bwMode="auto">
          <a:xfrm>
            <a:off x="5357132" y="2689226"/>
            <a:ext cx="714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200</a:t>
            </a:r>
          </a:p>
        </p:txBody>
      </p:sp>
      <p:sp>
        <p:nvSpPr>
          <p:cNvPr id="8" name="Text Box 9">
            <a:extLst>
              <a:ext uri="{FF2B5EF4-FFF2-40B4-BE49-F238E27FC236}">
                <a16:creationId xmlns:a16="http://schemas.microsoft.com/office/drawing/2014/main" id="{8562231B-E7F6-C2D7-34FE-D1D8F15F8425}"/>
              </a:ext>
            </a:extLst>
          </p:cNvPr>
          <p:cNvSpPr txBox="1">
            <a:spLocks noChangeArrowheads="1"/>
          </p:cNvSpPr>
          <p:nvPr/>
        </p:nvSpPr>
        <p:spPr bwMode="auto">
          <a:xfrm>
            <a:off x="8796339" y="5149851"/>
            <a:ext cx="714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800</a:t>
            </a:r>
          </a:p>
        </p:txBody>
      </p:sp>
      <p:sp>
        <p:nvSpPr>
          <p:cNvPr id="9" name="Text Box 10">
            <a:extLst>
              <a:ext uri="{FF2B5EF4-FFF2-40B4-BE49-F238E27FC236}">
                <a16:creationId xmlns:a16="http://schemas.microsoft.com/office/drawing/2014/main" id="{4C4DD322-2074-D8AB-BB37-8B35C668D3C0}"/>
              </a:ext>
            </a:extLst>
          </p:cNvPr>
          <p:cNvSpPr txBox="1">
            <a:spLocks noChangeArrowheads="1"/>
          </p:cNvSpPr>
          <p:nvPr/>
        </p:nvSpPr>
        <p:spPr bwMode="auto">
          <a:xfrm>
            <a:off x="8773889" y="4500562"/>
            <a:ext cx="714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D</a:t>
            </a:r>
          </a:p>
        </p:txBody>
      </p:sp>
      <p:sp>
        <p:nvSpPr>
          <p:cNvPr id="10" name="Text Box 12">
            <a:extLst>
              <a:ext uri="{FF2B5EF4-FFF2-40B4-BE49-F238E27FC236}">
                <a16:creationId xmlns:a16="http://schemas.microsoft.com/office/drawing/2014/main" id="{6BEF30F6-11D1-BE61-65E7-33D1624A58B9}"/>
              </a:ext>
            </a:extLst>
          </p:cNvPr>
          <p:cNvSpPr txBox="1">
            <a:spLocks noChangeArrowheads="1"/>
          </p:cNvSpPr>
          <p:nvPr/>
        </p:nvSpPr>
        <p:spPr bwMode="auto">
          <a:xfrm>
            <a:off x="5506357" y="4305301"/>
            <a:ext cx="714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50</a:t>
            </a:r>
          </a:p>
        </p:txBody>
      </p:sp>
      <p:sp>
        <p:nvSpPr>
          <p:cNvPr id="11" name="Text Box 13">
            <a:extLst>
              <a:ext uri="{FF2B5EF4-FFF2-40B4-BE49-F238E27FC236}">
                <a16:creationId xmlns:a16="http://schemas.microsoft.com/office/drawing/2014/main" id="{66531EB4-C666-7B50-A884-92781211F400}"/>
              </a:ext>
            </a:extLst>
          </p:cNvPr>
          <p:cNvSpPr txBox="1">
            <a:spLocks noChangeArrowheads="1"/>
          </p:cNvSpPr>
          <p:nvPr/>
        </p:nvSpPr>
        <p:spPr bwMode="auto">
          <a:xfrm>
            <a:off x="7945439" y="5145089"/>
            <a:ext cx="714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600</a:t>
            </a:r>
          </a:p>
        </p:txBody>
      </p:sp>
      <p:sp>
        <p:nvSpPr>
          <p:cNvPr id="12" name="Text Box 14">
            <a:extLst>
              <a:ext uri="{FF2B5EF4-FFF2-40B4-BE49-F238E27FC236}">
                <a16:creationId xmlns:a16="http://schemas.microsoft.com/office/drawing/2014/main" id="{C3409C01-5635-AB0C-CE2D-3B73C08CA620}"/>
              </a:ext>
            </a:extLst>
          </p:cNvPr>
          <p:cNvSpPr txBox="1">
            <a:spLocks noChangeArrowheads="1"/>
          </p:cNvSpPr>
          <p:nvPr/>
        </p:nvSpPr>
        <p:spPr bwMode="auto">
          <a:xfrm>
            <a:off x="6410325" y="4613276"/>
            <a:ext cx="15636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solidFill>
                  <a:schemeClr val="bg1"/>
                </a:solidFill>
                <a:latin typeface="Source Sans Pro" panose="020B0503030403020204" pitchFamily="34" charset="0"/>
              </a:rPr>
              <a:t>Revenue</a:t>
            </a:r>
          </a:p>
        </p:txBody>
      </p:sp>
      <p:sp>
        <p:nvSpPr>
          <p:cNvPr id="13" name="Text Box 15">
            <a:extLst>
              <a:ext uri="{FF2B5EF4-FFF2-40B4-BE49-F238E27FC236}">
                <a16:creationId xmlns:a16="http://schemas.microsoft.com/office/drawing/2014/main" id="{02A4F054-C32D-E295-939D-679C73E5D1C5}"/>
              </a:ext>
            </a:extLst>
          </p:cNvPr>
          <p:cNvSpPr txBox="1">
            <a:spLocks noChangeArrowheads="1"/>
          </p:cNvSpPr>
          <p:nvPr/>
        </p:nvSpPr>
        <p:spPr bwMode="auto">
          <a:xfrm>
            <a:off x="9545639" y="4954589"/>
            <a:ext cx="714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Q</a:t>
            </a:r>
          </a:p>
        </p:txBody>
      </p:sp>
      <p:sp>
        <p:nvSpPr>
          <p:cNvPr id="14" name="Text Box 16">
            <a:extLst>
              <a:ext uri="{FF2B5EF4-FFF2-40B4-BE49-F238E27FC236}">
                <a16:creationId xmlns:a16="http://schemas.microsoft.com/office/drawing/2014/main" id="{E4BF34D8-FC10-F854-C0B7-CBAE04FBC678}"/>
              </a:ext>
            </a:extLst>
          </p:cNvPr>
          <p:cNvSpPr txBox="1">
            <a:spLocks noChangeArrowheads="1"/>
          </p:cNvSpPr>
          <p:nvPr/>
        </p:nvSpPr>
        <p:spPr bwMode="auto">
          <a:xfrm>
            <a:off x="5684839" y="1982789"/>
            <a:ext cx="714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P</a:t>
            </a:r>
          </a:p>
        </p:txBody>
      </p:sp>
      <p:sp>
        <p:nvSpPr>
          <p:cNvPr id="15" name="Rectangle 3">
            <a:extLst>
              <a:ext uri="{FF2B5EF4-FFF2-40B4-BE49-F238E27FC236}">
                <a16:creationId xmlns:a16="http://schemas.microsoft.com/office/drawing/2014/main" id="{91E85F0F-6DEC-EDCF-A922-1B37A356EC07}"/>
              </a:ext>
            </a:extLst>
          </p:cNvPr>
          <p:cNvSpPr txBox="1">
            <a:spLocks noChangeArrowheads="1"/>
          </p:cNvSpPr>
          <p:nvPr/>
        </p:nvSpPr>
        <p:spPr>
          <a:xfrm>
            <a:off x="2066544" y="1856737"/>
            <a:ext cx="2734376" cy="3828740"/>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lnSpc>
                <a:spcPct val="90000"/>
              </a:lnSpc>
            </a:pPr>
            <a:r>
              <a:rPr lang="en-US" altLang="en-US" kern="0" dirty="0">
                <a:ea typeface="ＭＳ Ｐゴシック" pitchFamily="34" charset="-128"/>
              </a:rPr>
              <a:t>Demand</a:t>
            </a:r>
          </a:p>
          <a:p>
            <a:pPr marL="0" indent="0" eaLnBrk="1" hangingPunct="1">
              <a:lnSpc>
                <a:spcPct val="90000"/>
              </a:lnSpc>
              <a:buFontTx/>
              <a:buNone/>
              <a:tabLst>
                <a:tab pos="347663" algn="l"/>
              </a:tabLst>
            </a:pPr>
            <a:r>
              <a:rPr lang="en-US" altLang="en-US" i="1" kern="0" dirty="0">
                <a:ea typeface="ＭＳ Ｐゴシック" pitchFamily="34" charset="-128"/>
              </a:rPr>
              <a:t>	P</a:t>
            </a:r>
            <a:r>
              <a:rPr lang="en-US" altLang="en-US" kern="0" dirty="0">
                <a:ea typeface="ＭＳ Ｐゴシック" pitchFamily="34" charset="-128"/>
              </a:rPr>
              <a:t> = 200– 0.25</a:t>
            </a:r>
            <a:r>
              <a:rPr lang="en-US" altLang="en-US" i="1" kern="0" dirty="0">
                <a:ea typeface="ＭＳ Ｐゴシック" pitchFamily="34" charset="-128"/>
              </a:rPr>
              <a:t>Q</a:t>
            </a:r>
          </a:p>
          <a:p>
            <a:pPr eaLnBrk="1" hangingPunct="1">
              <a:lnSpc>
                <a:spcPct val="90000"/>
              </a:lnSpc>
            </a:pPr>
            <a:r>
              <a:rPr lang="en-US" altLang="en-US" kern="0" dirty="0">
                <a:ea typeface="ＭＳ Ｐゴシック" pitchFamily="34" charset="-128"/>
              </a:rPr>
              <a:t>Revenue</a:t>
            </a:r>
          </a:p>
          <a:p>
            <a:pPr marL="0" indent="0" eaLnBrk="1" hangingPunct="1">
              <a:lnSpc>
                <a:spcPct val="90000"/>
              </a:lnSpc>
              <a:buFontTx/>
              <a:buNone/>
              <a:tabLst>
                <a:tab pos="347663" algn="l"/>
              </a:tabLst>
            </a:pPr>
            <a:r>
              <a:rPr lang="en-US" altLang="en-US" i="1" kern="0" dirty="0">
                <a:ea typeface="ＭＳ Ｐゴシック" pitchFamily="34" charset="-128"/>
              </a:rPr>
              <a:t>	P</a:t>
            </a:r>
            <a:r>
              <a:rPr lang="en-US" altLang="en-US" kern="0" dirty="0">
                <a:ea typeface="ＭＳ Ｐゴシック" pitchFamily="34" charset="-128"/>
              </a:rPr>
              <a:t> </a:t>
            </a:r>
            <a:r>
              <a:rPr lang="en-US" altLang="en-US" kern="0" dirty="0">
                <a:ea typeface="ＭＳ Ｐゴシック" pitchFamily="34" charset="-128"/>
                <a:sym typeface="Symbol" pitchFamily="18" charset="2"/>
              </a:rPr>
              <a:t>x </a:t>
            </a:r>
            <a:r>
              <a:rPr lang="en-US" altLang="en-US" i="1" kern="0" dirty="0">
                <a:ea typeface="ＭＳ Ｐゴシック" pitchFamily="34" charset="-128"/>
                <a:sym typeface="Symbol" pitchFamily="18" charset="2"/>
              </a:rPr>
              <a:t>Q</a:t>
            </a:r>
            <a:endParaRPr lang="en-US" altLang="en-US" kern="0" dirty="0">
              <a:ea typeface="ＭＳ Ｐゴシック" pitchFamily="34" charset="-128"/>
            </a:endParaRPr>
          </a:p>
          <a:p>
            <a:pPr eaLnBrk="1" hangingPunct="1">
              <a:lnSpc>
                <a:spcPct val="90000"/>
              </a:lnSpc>
            </a:pPr>
            <a:r>
              <a:rPr lang="en-US" altLang="en-US" kern="0" dirty="0">
                <a:ea typeface="ＭＳ Ｐゴシック" pitchFamily="34" charset="-128"/>
              </a:rPr>
              <a:t>Example:</a:t>
            </a:r>
          </a:p>
          <a:p>
            <a:pPr marL="0" indent="0" eaLnBrk="1" hangingPunct="1">
              <a:lnSpc>
                <a:spcPct val="90000"/>
              </a:lnSpc>
              <a:buFontTx/>
              <a:buNone/>
              <a:tabLst>
                <a:tab pos="347663" algn="l"/>
              </a:tabLst>
            </a:pPr>
            <a:r>
              <a:rPr lang="en-US" altLang="en-US" kern="0" dirty="0">
                <a:ea typeface="ＭＳ Ｐゴシック" pitchFamily="34" charset="-128"/>
              </a:rPr>
              <a:t>	</a:t>
            </a:r>
            <a:r>
              <a:rPr lang="en-US" altLang="en-US" i="1" kern="0" dirty="0">
                <a:ea typeface="ＭＳ Ｐゴシック" pitchFamily="34" charset="-128"/>
              </a:rPr>
              <a:t>P</a:t>
            </a:r>
            <a:r>
              <a:rPr lang="en-US" altLang="en-US" i="1" kern="0" baseline="-25000" dirty="0">
                <a:ea typeface="ＭＳ Ｐゴシック" pitchFamily="34" charset="-128"/>
              </a:rPr>
              <a:t>1</a:t>
            </a:r>
            <a:r>
              <a:rPr lang="en-US" altLang="en-US" kern="0" dirty="0">
                <a:ea typeface="ＭＳ Ｐゴシック" pitchFamily="34" charset="-128"/>
              </a:rPr>
              <a:t> = 50</a:t>
            </a:r>
          </a:p>
          <a:p>
            <a:pPr marL="0" indent="0" eaLnBrk="1" hangingPunct="1">
              <a:lnSpc>
                <a:spcPct val="90000"/>
              </a:lnSpc>
              <a:buFontTx/>
              <a:buNone/>
              <a:tabLst>
                <a:tab pos="347663" algn="l"/>
              </a:tabLst>
            </a:pPr>
            <a:r>
              <a:rPr lang="en-US" altLang="en-US" kern="0" dirty="0">
                <a:ea typeface="ＭＳ Ｐゴシック" pitchFamily="34" charset="-128"/>
              </a:rPr>
              <a:t>	</a:t>
            </a:r>
            <a:r>
              <a:rPr lang="en-US" altLang="en-US" i="1" kern="0" dirty="0">
                <a:ea typeface="ＭＳ Ｐゴシック" pitchFamily="34" charset="-128"/>
              </a:rPr>
              <a:t>Q</a:t>
            </a:r>
            <a:r>
              <a:rPr lang="en-US" altLang="en-US" i="1" kern="0" baseline="-25000" dirty="0">
                <a:ea typeface="ＭＳ Ｐゴシック" pitchFamily="34" charset="-128"/>
              </a:rPr>
              <a:t>1</a:t>
            </a:r>
            <a:r>
              <a:rPr lang="en-US" altLang="en-US" kern="0" dirty="0">
                <a:ea typeface="ＭＳ Ｐゴシック" pitchFamily="34" charset="-128"/>
              </a:rPr>
              <a:t> = 600</a:t>
            </a:r>
          </a:p>
          <a:p>
            <a:pPr marL="0" indent="0" eaLnBrk="1" hangingPunct="1">
              <a:lnSpc>
                <a:spcPct val="90000"/>
              </a:lnSpc>
              <a:buFontTx/>
              <a:buNone/>
              <a:tabLst>
                <a:tab pos="347663" algn="l"/>
              </a:tabLst>
            </a:pPr>
            <a:r>
              <a:rPr lang="en-US" altLang="en-US" kern="0" dirty="0">
                <a:ea typeface="ＭＳ Ｐゴシック" pitchFamily="34" charset="-128"/>
              </a:rPr>
              <a:t>	</a:t>
            </a:r>
            <a:r>
              <a:rPr lang="en-US" altLang="en-US" i="1" kern="0" dirty="0">
                <a:ea typeface="ＭＳ Ｐゴシック" pitchFamily="34" charset="-128"/>
              </a:rPr>
              <a:t>R</a:t>
            </a:r>
            <a:r>
              <a:rPr lang="en-US" altLang="en-US" i="1" kern="0" baseline="-25000" dirty="0">
                <a:ea typeface="ＭＳ Ｐゴシック" pitchFamily="34" charset="-128"/>
              </a:rPr>
              <a:t>1</a:t>
            </a:r>
            <a:r>
              <a:rPr lang="en-US" altLang="en-US" kern="0" dirty="0">
                <a:ea typeface="ＭＳ Ｐゴシック" pitchFamily="34" charset="-128"/>
              </a:rPr>
              <a:t> = 30,000</a:t>
            </a:r>
          </a:p>
        </p:txBody>
      </p:sp>
      <mc:AlternateContent xmlns:mc="http://schemas.openxmlformats.org/markup-compatibility/2006">
        <mc:Choice xmlns:p14="http://schemas.microsoft.com/office/powerpoint/2010/main" Requires="p14">
          <p:contentPart p14:bwMode="auto" r:id="rId2">
            <p14:nvContentPartPr>
              <p14:cNvPr id="16" name="Ink 15">
                <a:extLst>
                  <a:ext uri="{FF2B5EF4-FFF2-40B4-BE49-F238E27FC236}">
                    <a16:creationId xmlns:a16="http://schemas.microsoft.com/office/drawing/2014/main" id="{BAE1C353-670A-28AE-487C-058D046E3E8E}"/>
                  </a:ext>
                </a:extLst>
              </p14:cNvPr>
              <p14:cNvContentPartPr/>
              <p14:nvPr/>
            </p14:nvContentPartPr>
            <p14:xfrm>
              <a:off x="2976120" y="238680"/>
              <a:ext cx="6395760" cy="5815800"/>
            </p14:xfrm>
          </p:contentPart>
        </mc:Choice>
        <mc:Fallback>
          <p:pic>
            <p:nvPicPr>
              <p:cNvPr id="16" name="Ink 15">
                <a:extLst>
                  <a:ext uri="{FF2B5EF4-FFF2-40B4-BE49-F238E27FC236}">
                    <a16:creationId xmlns:a16="http://schemas.microsoft.com/office/drawing/2014/main" id="{BAE1C353-670A-28AE-487C-058D046E3E8E}"/>
                  </a:ext>
                </a:extLst>
              </p:cNvPr>
              <p:cNvPicPr/>
              <p:nvPr/>
            </p:nvPicPr>
            <p:blipFill>
              <a:blip r:embed="rId3"/>
              <a:stretch>
                <a:fillRect/>
              </a:stretch>
            </p:blipFill>
            <p:spPr>
              <a:xfrm>
                <a:off x="2959920" y="222480"/>
                <a:ext cx="6428160" cy="584820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ltLang="en-US" sz="3600" dirty="0">
                <a:ea typeface="ＭＳ Ｐゴシック" pitchFamily="34" charset="-128"/>
              </a:rPr>
              <a:t>Change in revenue</a:t>
            </a:r>
          </a:p>
        </p:txBody>
      </p:sp>
      <p:sp>
        <p:nvSpPr>
          <p:cNvPr id="194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753EC1A-908A-4D98-8562-CD805427B14C}" type="slidenum">
              <a:rPr lang="en-US" altLang="en-US" sz="1400">
                <a:latin typeface="Source Sans Pro" panose="020B0503030403020204" pitchFamily="34" charset="0"/>
              </a:rPr>
              <a:pPr eaLnBrk="1" hangingPunct="1"/>
              <a:t>7</a:t>
            </a:fld>
            <a:endParaRPr lang="en-US" altLang="en-US" sz="1400" dirty="0">
              <a:latin typeface="Source Sans Pro" panose="020B0503030403020204" pitchFamily="34" charset="0"/>
            </a:endParaRPr>
          </a:p>
        </p:txBody>
      </p:sp>
      <p:sp>
        <p:nvSpPr>
          <p:cNvPr id="2" name="Rectangle 3">
            <a:extLst>
              <a:ext uri="{FF2B5EF4-FFF2-40B4-BE49-F238E27FC236}">
                <a16:creationId xmlns:a16="http://schemas.microsoft.com/office/drawing/2014/main" id="{71B1EB93-BC9A-26D9-3C04-9A53C619017E}"/>
              </a:ext>
            </a:extLst>
          </p:cNvPr>
          <p:cNvSpPr txBox="1">
            <a:spLocks noChangeArrowheads="1"/>
          </p:cNvSpPr>
          <p:nvPr/>
        </p:nvSpPr>
        <p:spPr bwMode="auto">
          <a:xfrm>
            <a:off x="960120" y="1125461"/>
            <a:ext cx="103601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400" kern="0" dirty="0">
                <a:latin typeface="Source Sans Pro" panose="020B0503030403020204" pitchFamily="34" charset="0"/>
                <a:ea typeface="ＭＳ Ｐゴシック" pitchFamily="34" charset="-128"/>
              </a:rPr>
              <a:t>What happens to revenue as you </a:t>
            </a:r>
            <a:r>
              <a:rPr lang="en-US" altLang="en-US" sz="2400" b="1" kern="0" dirty="0">
                <a:latin typeface="Source Sans Pro" panose="020B0503030403020204" pitchFamily="34" charset="0"/>
                <a:ea typeface="ＭＳ Ｐゴシック" pitchFamily="34" charset="-128"/>
              </a:rPr>
              <a:t>decrease price </a:t>
            </a:r>
            <a:r>
              <a:rPr lang="en-US" altLang="en-US" sz="2400" kern="0" dirty="0">
                <a:latin typeface="Source Sans Pro" panose="020B0503030403020204" pitchFamily="34" charset="0"/>
                <a:ea typeface="ＭＳ Ｐゴシック" pitchFamily="34" charset="-128"/>
              </a:rPr>
              <a:t>by a small amount, –</a:t>
            </a:r>
            <a:r>
              <a:rPr lang="en-US" altLang="en-US" sz="2400" i="1" kern="0" dirty="0" err="1">
                <a:latin typeface="Source Sans Pro" panose="020B0503030403020204" pitchFamily="34" charset="0"/>
                <a:ea typeface="ＭＳ Ｐゴシック" pitchFamily="34" charset="-128"/>
              </a:rPr>
              <a:t>dP</a:t>
            </a:r>
            <a:r>
              <a:rPr lang="en-US" altLang="en-US" sz="2400" kern="0" dirty="0">
                <a:latin typeface="Source Sans Pro" panose="020B0503030403020204" pitchFamily="34" charset="0"/>
                <a:ea typeface="ＭＳ Ｐゴシック" pitchFamily="34" charset="-128"/>
              </a:rPr>
              <a:t>?</a:t>
            </a:r>
          </a:p>
        </p:txBody>
      </p:sp>
      <p:sp>
        <p:nvSpPr>
          <p:cNvPr id="4" name="Rectangle 3">
            <a:extLst>
              <a:ext uri="{FF2B5EF4-FFF2-40B4-BE49-F238E27FC236}">
                <a16:creationId xmlns:a16="http://schemas.microsoft.com/office/drawing/2014/main" id="{6527C8E2-D863-977D-CD6D-50D57A5ACBD4}"/>
              </a:ext>
            </a:extLst>
          </p:cNvPr>
          <p:cNvSpPr txBox="1">
            <a:spLocks noChangeArrowheads="1"/>
          </p:cNvSpPr>
          <p:nvPr/>
        </p:nvSpPr>
        <p:spPr bwMode="auto">
          <a:xfrm>
            <a:off x="960120" y="1606472"/>
            <a:ext cx="103601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400" kern="0" dirty="0">
                <a:latin typeface="Source Sans Pro" panose="020B0503030403020204" pitchFamily="34" charset="0"/>
                <a:ea typeface="ＭＳ Ｐゴシック" pitchFamily="34" charset="-128"/>
              </a:rPr>
              <a:t>All </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 customers buying at </a:t>
            </a:r>
            <a:r>
              <a:rPr lang="en-US" altLang="en-US" sz="2400" i="1" kern="0" dirty="0">
                <a:latin typeface="Source Sans Pro" panose="020B0503030403020204" pitchFamily="34" charset="0"/>
                <a:ea typeface="ＭＳ Ｐゴシック" pitchFamily="34" charset="-128"/>
              </a:rPr>
              <a:t>P</a:t>
            </a:r>
            <a:r>
              <a:rPr lang="en-US" altLang="en-US" sz="2400" i="1"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 are now </a:t>
            </a:r>
            <a:r>
              <a:rPr lang="en-US" altLang="en-US" sz="2400" b="1" kern="0" dirty="0">
                <a:latin typeface="Source Sans Pro" panose="020B0503030403020204" pitchFamily="34" charset="0"/>
                <a:ea typeface="ＭＳ Ｐゴシック" pitchFamily="34" charset="-128"/>
              </a:rPr>
              <a:t>contributing less </a:t>
            </a:r>
            <a:r>
              <a:rPr lang="en-US" altLang="en-US" sz="2400" kern="0" dirty="0">
                <a:latin typeface="Source Sans Pro" panose="020B0503030403020204" pitchFamily="34" charset="0"/>
                <a:ea typeface="ＭＳ Ｐゴシック" pitchFamily="34" charset="-128"/>
              </a:rPr>
              <a:t>to revenue</a:t>
            </a:r>
          </a:p>
        </p:txBody>
      </p:sp>
      <p:sp>
        <p:nvSpPr>
          <p:cNvPr id="5" name="Rectangle 3">
            <a:extLst>
              <a:ext uri="{FF2B5EF4-FFF2-40B4-BE49-F238E27FC236}">
                <a16:creationId xmlns:a16="http://schemas.microsoft.com/office/drawing/2014/main" id="{7908F130-3C62-D529-6018-91F002DBBA2C}"/>
              </a:ext>
            </a:extLst>
          </p:cNvPr>
          <p:cNvSpPr txBox="1">
            <a:spLocks noChangeArrowheads="1"/>
          </p:cNvSpPr>
          <p:nvPr/>
        </p:nvSpPr>
        <p:spPr bwMode="auto">
          <a:xfrm>
            <a:off x="960120" y="2155709"/>
            <a:ext cx="103601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eaLnBrk="1" hangingPunct="1"/>
            <a:r>
              <a:rPr lang="en-US" altLang="en-US" sz="2400" kern="0" dirty="0">
                <a:latin typeface="Source Sans Pro" panose="020B0503030403020204" pitchFamily="34" charset="0"/>
                <a:ea typeface="ＭＳ Ｐゴシック" pitchFamily="34" charset="-128"/>
              </a:rPr>
              <a:t>Change is –</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err="1">
                <a:latin typeface="Source Sans Pro" panose="020B0503030403020204" pitchFamily="34" charset="0"/>
                <a:ea typeface="ＭＳ Ｐゴシック" pitchFamily="34" charset="-128"/>
              </a:rPr>
              <a:t>dP</a:t>
            </a:r>
            <a:endParaRPr lang="en-US" altLang="en-US" sz="2400" kern="0" dirty="0">
              <a:latin typeface="Source Sans Pro" panose="020B0503030403020204" pitchFamily="34" charset="0"/>
              <a:ea typeface="ＭＳ Ｐゴシック" pitchFamily="34" charset="-128"/>
            </a:endParaRPr>
          </a:p>
        </p:txBody>
      </p:sp>
      <p:sp>
        <p:nvSpPr>
          <p:cNvPr id="14" name="Rectangle 3">
            <a:extLst>
              <a:ext uri="{FF2B5EF4-FFF2-40B4-BE49-F238E27FC236}">
                <a16:creationId xmlns:a16="http://schemas.microsoft.com/office/drawing/2014/main" id="{3007744A-45E3-BECE-203E-377FA12D12B9}"/>
              </a:ext>
            </a:extLst>
          </p:cNvPr>
          <p:cNvSpPr txBox="1">
            <a:spLocks noChangeArrowheads="1"/>
          </p:cNvSpPr>
          <p:nvPr/>
        </p:nvSpPr>
        <p:spPr bwMode="auto">
          <a:xfrm>
            <a:off x="960120" y="2704946"/>
            <a:ext cx="103601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400" kern="0" dirty="0">
                <a:latin typeface="Source Sans Pro" panose="020B0503030403020204" pitchFamily="34" charset="0"/>
                <a:ea typeface="ＭＳ Ｐゴシック" pitchFamily="34" charset="-128"/>
              </a:rPr>
              <a:t>Some </a:t>
            </a:r>
            <a:r>
              <a:rPr lang="en-US" altLang="en-US" sz="2400" b="1" kern="0" dirty="0">
                <a:latin typeface="Source Sans Pro" panose="020B0503030403020204" pitchFamily="34" charset="0"/>
                <a:ea typeface="ＭＳ Ｐゴシック" pitchFamily="34" charset="-128"/>
              </a:rPr>
              <a:t>additional customers </a:t>
            </a:r>
            <a:r>
              <a:rPr lang="en-US" altLang="en-US" sz="2400" kern="0" dirty="0">
                <a:latin typeface="Source Sans Pro" panose="020B0503030403020204" pitchFamily="34" charset="0"/>
                <a:ea typeface="ＭＳ Ｐゴシック" pitchFamily="34" charset="-128"/>
              </a:rPr>
              <a:t>will purchase because the price is lower</a:t>
            </a:r>
          </a:p>
        </p:txBody>
      </p:sp>
      <p:sp>
        <p:nvSpPr>
          <p:cNvPr id="16" name="Rectangle 3">
            <a:extLst>
              <a:ext uri="{FF2B5EF4-FFF2-40B4-BE49-F238E27FC236}">
                <a16:creationId xmlns:a16="http://schemas.microsoft.com/office/drawing/2014/main" id="{B2B37D31-1E28-C25F-0EFE-F31E53A595EF}"/>
              </a:ext>
            </a:extLst>
          </p:cNvPr>
          <p:cNvSpPr txBox="1">
            <a:spLocks noChangeArrowheads="1"/>
          </p:cNvSpPr>
          <p:nvPr/>
        </p:nvSpPr>
        <p:spPr bwMode="auto">
          <a:xfrm>
            <a:off x="960120" y="3254183"/>
            <a:ext cx="103601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eaLnBrk="1" hangingPunct="1"/>
            <a:r>
              <a:rPr lang="en-US" altLang="en-US" sz="2400" kern="0" dirty="0">
                <a:latin typeface="Source Sans Pro" panose="020B0503030403020204" pitchFamily="34" charset="0"/>
                <a:ea typeface="ＭＳ Ｐゴシック" pitchFamily="34" charset="-128"/>
              </a:rPr>
              <a:t>Look at the </a:t>
            </a:r>
            <a:r>
              <a:rPr lang="en-US" altLang="en-US" sz="2400" b="1" kern="0" dirty="0">
                <a:latin typeface="Source Sans Pro" panose="020B0503030403020204" pitchFamily="34" charset="0"/>
                <a:ea typeface="ＭＳ Ｐゴシック" pitchFamily="34" charset="-128"/>
              </a:rPr>
              <a:t>demand curve </a:t>
            </a:r>
            <a:r>
              <a:rPr lang="en-US" altLang="en-US" sz="2400" kern="0" dirty="0">
                <a:latin typeface="Source Sans Pro" panose="020B0503030403020204" pitchFamily="34" charset="0"/>
                <a:ea typeface="ＭＳ Ｐゴシック" pitchFamily="34" charset="-128"/>
              </a:rPr>
              <a:t>to see magnitude of this effect (</a:t>
            </a:r>
            <a:r>
              <a:rPr lang="en-US" altLang="en-US" sz="2400" i="1" kern="0" dirty="0" err="1">
                <a:latin typeface="Source Sans Pro" panose="020B0503030403020204" pitchFamily="34" charset="0"/>
                <a:ea typeface="ＭＳ Ｐゴシック" pitchFamily="34" charset="-128"/>
              </a:rPr>
              <a:t>dQ</a:t>
            </a:r>
            <a:r>
              <a:rPr lang="en-US" altLang="en-US" sz="2400" kern="0" dirty="0">
                <a:latin typeface="Source Sans Pro" panose="020B0503030403020204" pitchFamily="34" charset="0"/>
                <a:ea typeface="ＭＳ Ｐゴシック" pitchFamily="34" charset="-128"/>
              </a:rPr>
              <a:t>)</a:t>
            </a:r>
          </a:p>
        </p:txBody>
      </p:sp>
      <p:sp>
        <p:nvSpPr>
          <p:cNvPr id="17" name="Rectangle 3">
            <a:extLst>
              <a:ext uri="{FF2B5EF4-FFF2-40B4-BE49-F238E27FC236}">
                <a16:creationId xmlns:a16="http://schemas.microsoft.com/office/drawing/2014/main" id="{CACD1CEB-B26D-B8BB-D755-8A13BAEF3A5B}"/>
              </a:ext>
            </a:extLst>
          </p:cNvPr>
          <p:cNvSpPr txBox="1">
            <a:spLocks noChangeArrowheads="1"/>
          </p:cNvSpPr>
          <p:nvPr/>
        </p:nvSpPr>
        <p:spPr bwMode="auto">
          <a:xfrm>
            <a:off x="960120" y="3803420"/>
            <a:ext cx="103601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eaLnBrk="1" hangingPunct="1"/>
            <a:r>
              <a:rPr lang="en-US" altLang="en-US" sz="2400" kern="0" dirty="0">
                <a:latin typeface="Source Sans Pro" panose="020B0503030403020204" pitchFamily="34" charset="0"/>
                <a:ea typeface="ＭＳ Ｐゴシック" pitchFamily="34" charset="-128"/>
              </a:rPr>
              <a:t>Additional revenue is </a:t>
            </a:r>
            <a:r>
              <a:rPr lang="en-US" altLang="en-US" sz="2400" i="1" kern="0" dirty="0" err="1">
                <a:latin typeface="Source Sans Pro" panose="020B0503030403020204" pitchFamily="34" charset="0"/>
                <a:ea typeface="ＭＳ Ｐゴシック" pitchFamily="34" charset="-128"/>
              </a:rPr>
              <a:t>dQ</a:t>
            </a:r>
            <a:r>
              <a:rPr lang="en-US" altLang="en-US" sz="2400" i="1"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kern="0" dirty="0">
                <a:latin typeface="Source Sans Pro" panose="020B0503030403020204" pitchFamily="34" charset="0"/>
                <a:ea typeface="ＭＳ Ｐゴシック" pitchFamily="34" charset="-128"/>
              </a:rPr>
              <a:t>(</a:t>
            </a:r>
            <a:r>
              <a:rPr lang="en-US" altLang="en-US" sz="2400" i="1" kern="0" dirty="0">
                <a:latin typeface="Source Sans Pro" panose="020B0503030403020204" pitchFamily="34" charset="0"/>
                <a:ea typeface="ＭＳ Ｐゴシック" pitchFamily="34" charset="-128"/>
              </a:rPr>
              <a:t>P</a:t>
            </a:r>
            <a:r>
              <a:rPr lang="en-US" altLang="en-US" sz="2400" i="1" kern="0" baseline="-25000" dirty="0">
                <a:latin typeface="Source Sans Pro" panose="020B0503030403020204" pitchFamily="34" charset="0"/>
                <a:ea typeface="ＭＳ Ｐゴシック" pitchFamily="34" charset="-128"/>
              </a:rPr>
              <a:t>1</a:t>
            </a:r>
            <a:r>
              <a:rPr lang="en-US" altLang="en-US" sz="2400" kern="0" baseline="-2500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rPr>
              <a:t>– </a:t>
            </a:r>
            <a:r>
              <a:rPr lang="en-US" altLang="en-US" sz="2400" i="1" kern="0" dirty="0" err="1">
                <a:latin typeface="Source Sans Pro" panose="020B0503030403020204" pitchFamily="34" charset="0"/>
                <a:ea typeface="ＭＳ Ｐゴシック" pitchFamily="34" charset="-128"/>
              </a:rPr>
              <a:t>dP</a:t>
            </a:r>
            <a:r>
              <a:rPr lang="en-US" altLang="en-US" sz="2400" kern="0" dirty="0">
                <a:latin typeface="Source Sans Pro" panose="020B0503030403020204" pitchFamily="34" charset="0"/>
                <a:ea typeface="ＭＳ Ｐゴシック" pitchFamily="34" charset="-128"/>
              </a:rPr>
              <a:t>) = </a:t>
            </a:r>
            <a:r>
              <a:rPr lang="en-US" altLang="en-US" sz="2400" i="1" kern="0" dirty="0" err="1">
                <a:latin typeface="Source Sans Pro" panose="020B0503030403020204" pitchFamily="34" charset="0"/>
                <a:ea typeface="ＭＳ Ｐゴシック" pitchFamily="34" charset="-128"/>
              </a:rPr>
              <a:t>dQ</a:t>
            </a:r>
            <a:r>
              <a:rPr lang="en-US" altLang="en-US" sz="2400" i="1"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a:latin typeface="Source Sans Pro" panose="020B0503030403020204" pitchFamily="34" charset="0"/>
                <a:ea typeface="ＭＳ Ｐゴシック" pitchFamily="34" charset="-128"/>
              </a:rPr>
              <a:t>P</a:t>
            </a:r>
            <a:r>
              <a:rPr lang="en-US" altLang="en-US" sz="2400" i="1" kern="0" baseline="-25000" dirty="0">
                <a:latin typeface="Source Sans Pro" panose="020B0503030403020204" pitchFamily="34" charset="0"/>
                <a:ea typeface="ＭＳ Ｐゴシック" pitchFamily="34" charset="-128"/>
              </a:rPr>
              <a:t>1</a:t>
            </a:r>
            <a:r>
              <a:rPr lang="en-US" altLang="en-US" sz="2400" kern="0" baseline="-2500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rPr>
              <a:t>– </a:t>
            </a:r>
            <a:r>
              <a:rPr lang="en-US" altLang="en-US" sz="2400" i="1" kern="0" dirty="0" err="1">
                <a:latin typeface="Source Sans Pro" panose="020B0503030403020204" pitchFamily="34" charset="0"/>
                <a:ea typeface="ＭＳ Ｐゴシック" pitchFamily="34" charset="-128"/>
              </a:rPr>
              <a:t>dQ</a:t>
            </a:r>
            <a:r>
              <a:rPr lang="en-US" altLang="en-US" sz="2400" i="1"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err="1">
                <a:latin typeface="Source Sans Pro" panose="020B0503030403020204" pitchFamily="34" charset="0"/>
                <a:ea typeface="ＭＳ Ｐゴシック" pitchFamily="34" charset="-128"/>
              </a:rPr>
              <a:t>dP</a:t>
            </a:r>
            <a:endParaRPr lang="en-US" altLang="en-US" sz="2400" kern="0" dirty="0">
              <a:latin typeface="Source Sans Pro" panose="020B0503030403020204" pitchFamily="34" charset="0"/>
              <a:ea typeface="ＭＳ Ｐゴシック" pitchFamily="34" charset="-128"/>
            </a:endParaRPr>
          </a:p>
        </p:txBody>
      </p:sp>
      <p:sp>
        <p:nvSpPr>
          <p:cNvPr id="18" name="Rectangle 3">
            <a:extLst>
              <a:ext uri="{FF2B5EF4-FFF2-40B4-BE49-F238E27FC236}">
                <a16:creationId xmlns:a16="http://schemas.microsoft.com/office/drawing/2014/main" id="{92C1B2E0-9FC5-F345-FFB9-34C4A9E8B517}"/>
              </a:ext>
            </a:extLst>
          </p:cNvPr>
          <p:cNvSpPr txBox="1">
            <a:spLocks noChangeArrowheads="1"/>
          </p:cNvSpPr>
          <p:nvPr/>
        </p:nvSpPr>
        <p:spPr bwMode="auto">
          <a:xfrm>
            <a:off x="960120" y="4352657"/>
            <a:ext cx="103601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eaLnBrk="1" hangingPunct="1"/>
            <a:r>
              <a:rPr lang="en-US" altLang="en-US" sz="2400" kern="0" dirty="0">
                <a:latin typeface="Source Sans Pro" panose="020B0503030403020204" pitchFamily="34" charset="0"/>
                <a:ea typeface="ＭＳ Ｐゴシック" pitchFamily="34" charset="-128"/>
              </a:rPr>
              <a:t>The term </a:t>
            </a:r>
            <a:r>
              <a:rPr lang="en-US" altLang="en-US" sz="2400" i="1" kern="0" dirty="0" err="1">
                <a:latin typeface="Source Sans Pro" panose="020B0503030403020204" pitchFamily="34" charset="0"/>
                <a:ea typeface="ＭＳ Ｐゴシック" pitchFamily="34" charset="-128"/>
              </a:rPr>
              <a:t>dQ</a:t>
            </a:r>
            <a:r>
              <a:rPr lang="en-US" altLang="en-US" sz="2400" i="1"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err="1">
                <a:latin typeface="Source Sans Pro" panose="020B0503030403020204" pitchFamily="34" charset="0"/>
                <a:ea typeface="ＭＳ Ｐゴシック" pitchFamily="34" charset="-128"/>
              </a:rPr>
              <a:t>dP</a:t>
            </a:r>
            <a:r>
              <a:rPr lang="en-US" altLang="en-US" sz="2400" kern="0" dirty="0">
                <a:latin typeface="Source Sans Pro" panose="020B0503030403020204" pitchFamily="34" charset="0"/>
                <a:ea typeface="ＭＳ Ｐゴシック" pitchFamily="34" charset="-128"/>
              </a:rPr>
              <a:t> is </a:t>
            </a:r>
            <a:r>
              <a:rPr lang="en-US" altLang="en-US" sz="2400" b="1" kern="0" dirty="0">
                <a:latin typeface="Source Sans Pro" panose="020B0503030403020204" pitchFamily="34" charset="0"/>
                <a:ea typeface="ＭＳ Ｐゴシック" pitchFamily="34" charset="-128"/>
              </a:rPr>
              <a:t>very small</a:t>
            </a:r>
            <a:r>
              <a:rPr lang="en-US" altLang="en-US" sz="2400" kern="0" dirty="0">
                <a:latin typeface="Source Sans Pro" panose="020B0503030403020204" pitchFamily="34" charset="0"/>
                <a:ea typeface="ＭＳ Ｐゴシック" pitchFamily="34" charset="-128"/>
              </a:rPr>
              <a:t>, so we ignore it</a:t>
            </a:r>
          </a:p>
        </p:txBody>
      </p:sp>
      <p:sp>
        <p:nvSpPr>
          <p:cNvPr id="19" name="Rectangle 3">
            <a:extLst>
              <a:ext uri="{FF2B5EF4-FFF2-40B4-BE49-F238E27FC236}">
                <a16:creationId xmlns:a16="http://schemas.microsoft.com/office/drawing/2014/main" id="{0BED7B72-0D31-11F2-5B1D-411DD79B44A0}"/>
              </a:ext>
            </a:extLst>
          </p:cNvPr>
          <p:cNvSpPr txBox="1">
            <a:spLocks noChangeArrowheads="1"/>
          </p:cNvSpPr>
          <p:nvPr/>
        </p:nvSpPr>
        <p:spPr bwMode="auto">
          <a:xfrm>
            <a:off x="960120" y="4901897"/>
            <a:ext cx="10360151"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400" kern="0" dirty="0">
                <a:latin typeface="Source Sans Pro" panose="020B0503030403020204" pitchFamily="34" charset="0"/>
                <a:ea typeface="ＭＳ Ｐゴシック" pitchFamily="34" charset="-128"/>
              </a:rPr>
              <a:t>Total change in revenue is</a:t>
            </a:r>
          </a:p>
          <a:p>
            <a:pPr algn="ctr" eaLnBrk="1" hangingPunct="1">
              <a:buFontTx/>
              <a:buNone/>
            </a:pPr>
            <a:r>
              <a:rPr lang="en-US" altLang="en-US" sz="2400" i="1" kern="0" dirty="0" err="1">
                <a:latin typeface="Source Sans Pro" panose="020B0503030403020204" pitchFamily="34" charset="0"/>
                <a:ea typeface="ＭＳ Ｐゴシック" pitchFamily="34" charset="-128"/>
              </a:rPr>
              <a:t>dR</a:t>
            </a:r>
            <a:r>
              <a:rPr lang="en-US" altLang="en-US" sz="2400" kern="0" dirty="0">
                <a:latin typeface="Source Sans Pro" panose="020B0503030403020204" pitchFamily="34" charset="0"/>
                <a:ea typeface="ＭＳ Ｐゴシック" pitchFamily="34" charset="-128"/>
              </a:rPr>
              <a:t> = </a:t>
            </a:r>
            <a:r>
              <a:rPr lang="en-US" altLang="en-US" sz="2400" i="1" kern="0" dirty="0" err="1">
                <a:latin typeface="Source Sans Pro" panose="020B0503030403020204" pitchFamily="34" charset="0"/>
                <a:ea typeface="ＭＳ Ｐゴシック" pitchFamily="34" charset="-128"/>
              </a:rPr>
              <a:t>dQ</a:t>
            </a:r>
            <a:r>
              <a:rPr lang="en-US" altLang="en-US" sz="2400" i="1"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a:latin typeface="Source Sans Pro" panose="020B0503030403020204" pitchFamily="34" charset="0"/>
                <a:ea typeface="ＭＳ Ｐゴシック" pitchFamily="34" charset="-128"/>
              </a:rPr>
              <a:t>P</a:t>
            </a:r>
            <a:r>
              <a:rPr lang="en-US" altLang="en-US" sz="2400" i="1"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 – </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err="1">
                <a:latin typeface="Source Sans Pro" panose="020B0503030403020204" pitchFamily="34" charset="0"/>
                <a:ea typeface="ＭＳ Ｐゴシック" pitchFamily="34" charset="-128"/>
              </a:rPr>
              <a:t>dP</a:t>
            </a:r>
            <a:endParaRPr lang="en-US" altLang="en-US" sz="2400" i="1" kern="0" dirty="0">
              <a:latin typeface="Source Sans Pro" panose="020B0503030403020204" pitchFamily="34" charset="0"/>
              <a:ea typeface="ＭＳ Ｐゴシック" pitchFamily="34" charset="-128"/>
            </a:endParaRPr>
          </a:p>
        </p:txBody>
      </p:sp>
      <p:sp>
        <p:nvSpPr>
          <p:cNvPr id="20" name="Oval 19">
            <a:extLst>
              <a:ext uri="{FF2B5EF4-FFF2-40B4-BE49-F238E27FC236}">
                <a16:creationId xmlns:a16="http://schemas.microsoft.com/office/drawing/2014/main" id="{0858744F-8145-C086-448F-D0C9DF1160C8}"/>
              </a:ext>
            </a:extLst>
          </p:cNvPr>
          <p:cNvSpPr/>
          <p:nvPr/>
        </p:nvSpPr>
        <p:spPr>
          <a:xfrm>
            <a:off x="6338455" y="3764729"/>
            <a:ext cx="1101435" cy="567145"/>
          </a:xfrm>
          <a:prstGeom prst="ellipse">
            <a:avLst/>
          </a:prstGeom>
          <a:no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sp>
        <p:nvSpPr>
          <p:cNvPr id="21" name="Oval 20">
            <a:extLst>
              <a:ext uri="{FF2B5EF4-FFF2-40B4-BE49-F238E27FC236}">
                <a16:creationId xmlns:a16="http://schemas.microsoft.com/office/drawing/2014/main" id="{CA653CA0-ED01-2EAE-2FFC-F96251952C33}"/>
              </a:ext>
            </a:extLst>
          </p:cNvPr>
          <p:cNvSpPr/>
          <p:nvPr/>
        </p:nvSpPr>
        <p:spPr>
          <a:xfrm>
            <a:off x="3012257" y="2156104"/>
            <a:ext cx="1227234" cy="492442"/>
          </a:xfrm>
          <a:prstGeom prst="ellipse">
            <a:avLst/>
          </a:prstGeom>
          <a:no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14" grpId="0"/>
      <p:bldP spid="16" grpId="0"/>
      <p:bldP spid="17" grpId="0"/>
      <p:bldP spid="18" grpId="0"/>
      <p:bldP spid="19" grpId="0"/>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altLang="en-US" sz="3600" dirty="0">
                <a:ea typeface="ＭＳ Ｐゴシック" pitchFamily="34" charset="-128"/>
              </a:rPr>
              <a:t>Marginal</a:t>
            </a:r>
            <a:r>
              <a:rPr lang="en-US" altLang="en-US" sz="3600" b="1" dirty="0">
                <a:ea typeface="ＭＳ Ｐゴシック" pitchFamily="34" charset="-128"/>
              </a:rPr>
              <a:t> </a:t>
            </a:r>
            <a:r>
              <a:rPr lang="en-US" altLang="en-US" sz="3600" dirty="0">
                <a:ea typeface="ＭＳ Ｐゴシック" pitchFamily="34" charset="-128"/>
              </a:rPr>
              <a:t>revenue</a:t>
            </a:r>
          </a:p>
        </p:txBody>
      </p:sp>
      <p:sp>
        <p:nvSpPr>
          <p:cNvPr id="204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A2EDA7C7-D018-430D-B125-DFDC693B32AF}" type="slidenum">
              <a:rPr lang="en-US" altLang="en-US" sz="1400">
                <a:latin typeface="Source Sans Pro" panose="020B0503030403020204" pitchFamily="34" charset="0"/>
              </a:rPr>
              <a:pPr eaLnBrk="1" hangingPunct="1"/>
              <a:t>8</a:t>
            </a:fld>
            <a:endParaRPr lang="en-US" altLang="en-US" sz="1400" dirty="0">
              <a:latin typeface="Source Sans Pro" panose="020B0503030403020204" pitchFamily="34" charset="0"/>
            </a:endParaRPr>
          </a:p>
        </p:txBody>
      </p:sp>
      <p:sp>
        <p:nvSpPr>
          <p:cNvPr id="2" name="Rectangle 3">
            <a:extLst>
              <a:ext uri="{FF2B5EF4-FFF2-40B4-BE49-F238E27FC236}">
                <a16:creationId xmlns:a16="http://schemas.microsoft.com/office/drawing/2014/main" id="{9D6E242A-079C-1C10-7033-D2758C3B2B1C}"/>
              </a:ext>
            </a:extLst>
          </p:cNvPr>
          <p:cNvSpPr txBox="1">
            <a:spLocks noChangeArrowheads="1"/>
          </p:cNvSpPr>
          <p:nvPr/>
        </p:nvSpPr>
        <p:spPr bwMode="auto">
          <a:xfrm>
            <a:off x="2880852" y="1097373"/>
            <a:ext cx="8448564"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spcAft>
                <a:spcPct val="20000"/>
              </a:spcAft>
            </a:pPr>
            <a:r>
              <a:rPr lang="en-US" altLang="en-US" sz="2400" kern="0" dirty="0">
                <a:latin typeface="Source Sans Pro" panose="020B0503030403020204" pitchFamily="34" charset="0"/>
                <a:ea typeface="ＭＳ Ｐゴシック" pitchFamily="34" charset="-128"/>
              </a:rPr>
              <a:t>Decrease price: Balancing </a:t>
            </a:r>
            <a:r>
              <a:rPr lang="en-US" altLang="en-US" sz="2400" b="1" kern="0" dirty="0">
                <a:latin typeface="Source Sans Pro" panose="020B0503030403020204" pitchFamily="34" charset="0"/>
                <a:ea typeface="ＭＳ Ｐゴシック" pitchFamily="34" charset="-128"/>
              </a:rPr>
              <a:t>additional revenue </a:t>
            </a:r>
            <a:r>
              <a:rPr lang="en-US" altLang="en-US" sz="2400" kern="0" dirty="0">
                <a:latin typeface="Source Sans Pro" panose="020B0503030403020204" pitchFamily="34" charset="0"/>
                <a:ea typeface="ＭＳ Ｐゴシック" pitchFamily="34" charset="-128"/>
              </a:rPr>
              <a:t>from new customers and </a:t>
            </a:r>
            <a:r>
              <a:rPr lang="en-US" altLang="en-US" sz="2400" b="1" kern="0" dirty="0">
                <a:latin typeface="Source Sans Pro" panose="020B0503030403020204" pitchFamily="34" charset="0"/>
                <a:ea typeface="ＭＳ Ｐゴシック" pitchFamily="34" charset="-128"/>
              </a:rPr>
              <a:t>less revenue </a:t>
            </a:r>
            <a:r>
              <a:rPr lang="en-US" altLang="en-US" sz="2400" kern="0" dirty="0">
                <a:latin typeface="Source Sans Pro" panose="020B0503030403020204" pitchFamily="34" charset="0"/>
                <a:ea typeface="ＭＳ Ｐゴシック" pitchFamily="34" charset="-128"/>
              </a:rPr>
              <a:t>from existing ones</a:t>
            </a:r>
          </a:p>
          <a:p>
            <a:pPr eaLnBrk="1" hangingPunct="1">
              <a:spcAft>
                <a:spcPct val="20000"/>
              </a:spcAft>
            </a:pPr>
            <a:r>
              <a:rPr lang="en-US" altLang="en-US" sz="2400" kern="0" dirty="0">
                <a:latin typeface="Source Sans Pro" panose="020B0503030403020204" pitchFamily="34" charset="0"/>
                <a:ea typeface="ＭＳ Ｐゴシック" pitchFamily="34" charset="-128"/>
              </a:rPr>
              <a:t>Increase price: Balancing </a:t>
            </a:r>
            <a:r>
              <a:rPr lang="en-US" altLang="en-US" sz="2400" b="1" kern="0" dirty="0">
                <a:latin typeface="Source Sans Pro" panose="020B0503030403020204" pitchFamily="34" charset="0"/>
                <a:ea typeface="ＭＳ Ｐゴシック" pitchFamily="34" charset="-128"/>
              </a:rPr>
              <a:t>less revenue </a:t>
            </a:r>
            <a:r>
              <a:rPr lang="en-US" altLang="en-US" sz="2400" kern="0" dirty="0">
                <a:latin typeface="Source Sans Pro" panose="020B0503030403020204" pitchFamily="34" charset="0"/>
                <a:ea typeface="ＭＳ Ｐゴシック" pitchFamily="34" charset="-128"/>
              </a:rPr>
              <a:t>from lost customers and </a:t>
            </a:r>
            <a:r>
              <a:rPr lang="en-US" altLang="en-US" sz="2400" b="1" kern="0" dirty="0">
                <a:latin typeface="Source Sans Pro" panose="020B0503030403020204" pitchFamily="34" charset="0"/>
                <a:ea typeface="ＭＳ Ｐゴシック" pitchFamily="34" charset="-128"/>
              </a:rPr>
              <a:t>additional revenue </a:t>
            </a:r>
            <a:r>
              <a:rPr lang="en-US" altLang="en-US" sz="2400" kern="0" dirty="0">
                <a:latin typeface="Source Sans Pro" panose="020B0503030403020204" pitchFamily="34" charset="0"/>
                <a:ea typeface="ＭＳ Ｐゴシック" pitchFamily="34" charset="-128"/>
              </a:rPr>
              <a:t>from remaining ones</a:t>
            </a:r>
          </a:p>
        </p:txBody>
      </p:sp>
      <p:sp>
        <p:nvSpPr>
          <p:cNvPr id="3" name="Rounded Rectangle 2">
            <a:extLst>
              <a:ext uri="{FF2B5EF4-FFF2-40B4-BE49-F238E27FC236}">
                <a16:creationId xmlns:a16="http://schemas.microsoft.com/office/drawing/2014/main" id="{AEEB0F74-2A1B-288F-23B8-1844C0F66C3A}"/>
              </a:ext>
            </a:extLst>
          </p:cNvPr>
          <p:cNvSpPr/>
          <p:nvPr/>
        </p:nvSpPr>
        <p:spPr>
          <a:xfrm>
            <a:off x="640950" y="1097372"/>
            <a:ext cx="2239901" cy="1280160"/>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Marginal revenue (MR)</a:t>
            </a:r>
          </a:p>
        </p:txBody>
      </p:sp>
      <p:sp>
        <p:nvSpPr>
          <p:cNvPr id="4" name="Rectangle 3">
            <a:extLst>
              <a:ext uri="{FF2B5EF4-FFF2-40B4-BE49-F238E27FC236}">
                <a16:creationId xmlns:a16="http://schemas.microsoft.com/office/drawing/2014/main" id="{95C2C236-4D88-09BE-9FFC-DF9E3F35C679}"/>
              </a:ext>
            </a:extLst>
          </p:cNvPr>
          <p:cNvSpPr txBox="1">
            <a:spLocks noChangeArrowheads="1"/>
          </p:cNvSpPr>
          <p:nvPr/>
        </p:nvSpPr>
        <p:spPr bwMode="auto">
          <a:xfrm>
            <a:off x="2880852" y="2861957"/>
            <a:ext cx="8448564" cy="3859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spcAft>
                <a:spcPct val="20000"/>
              </a:spcAft>
            </a:pPr>
            <a:r>
              <a:rPr lang="en-US" altLang="en-US" sz="2400" b="1" kern="0" dirty="0">
                <a:latin typeface="Source Sans Pro" panose="020B0503030403020204" pitchFamily="34" charset="0"/>
                <a:ea typeface="ＭＳ Ｐゴシック" pitchFamily="34" charset="-128"/>
              </a:rPr>
              <a:t>Flip </a:t>
            </a:r>
            <a:r>
              <a:rPr lang="en-US" altLang="en-US" sz="2400" kern="0" dirty="0">
                <a:latin typeface="Source Sans Pro" panose="020B0503030403020204" pitchFamily="34" charset="0"/>
                <a:ea typeface="ＭＳ Ｐゴシック" pitchFamily="34" charset="-128"/>
              </a:rPr>
              <a:t>the argument to </a:t>
            </a:r>
            <a:r>
              <a:rPr lang="en-US" altLang="en-US" sz="2400" b="1" kern="0" dirty="0">
                <a:latin typeface="Source Sans Pro" panose="020B0503030403020204" pitchFamily="34" charset="0"/>
                <a:ea typeface="ＭＳ Ｐゴシック" pitchFamily="34" charset="-128"/>
              </a:rPr>
              <a:t>quantity </a:t>
            </a:r>
            <a:r>
              <a:rPr lang="en-US" altLang="en-US" sz="2400" kern="0" dirty="0">
                <a:latin typeface="Source Sans Pro" panose="020B0503030403020204" pitchFamily="34" charset="0"/>
                <a:ea typeface="ＭＳ Ｐゴシック" pitchFamily="34" charset="-128"/>
              </a:rPr>
              <a:t>(instead of price) </a:t>
            </a:r>
            <a:r>
              <a:rPr lang="en-US" altLang="en-US" sz="2400" b="1" kern="0" dirty="0">
                <a:latin typeface="Source Sans Pro" panose="020B0503030403020204" pitchFamily="34" charset="0"/>
                <a:ea typeface="ＭＳ Ｐゴシック" pitchFamily="34" charset="-128"/>
              </a:rPr>
              <a:t>changes</a:t>
            </a:r>
          </a:p>
          <a:p>
            <a:pPr lvl="1" eaLnBrk="1" hangingPunct="1">
              <a:spcAft>
                <a:spcPct val="20000"/>
              </a:spcAft>
            </a:pPr>
            <a:r>
              <a:rPr lang="en-US" altLang="en-US" sz="2400" b="1" kern="0" dirty="0">
                <a:latin typeface="Source Sans Pro" panose="020B0503030403020204" pitchFamily="34" charset="0"/>
                <a:ea typeface="ＭＳ Ｐゴシック" pitchFamily="34" charset="-128"/>
              </a:rPr>
              <a:t>One-to-one relationship </a:t>
            </a:r>
            <a:r>
              <a:rPr lang="en-US" altLang="en-US" sz="2400" kern="0" dirty="0">
                <a:latin typeface="Source Sans Pro" panose="020B0503030403020204" pitchFamily="34" charset="0"/>
                <a:ea typeface="ＭＳ Ｐゴシック" pitchFamily="34" charset="-128"/>
              </a:rPr>
              <a:t>between </a:t>
            </a:r>
            <a:r>
              <a:rPr lang="en-US" altLang="en-US" sz="2400" i="1" kern="0" dirty="0">
                <a:latin typeface="Source Sans Pro" panose="020B0503030403020204" pitchFamily="34" charset="0"/>
                <a:ea typeface="ＭＳ Ｐゴシック" pitchFamily="34" charset="-128"/>
              </a:rPr>
              <a:t>P</a:t>
            </a:r>
            <a:r>
              <a:rPr lang="en-US" altLang="en-US" sz="2400" kern="0" dirty="0">
                <a:latin typeface="Source Sans Pro" panose="020B0503030403020204" pitchFamily="34" charset="0"/>
                <a:ea typeface="ＭＳ Ｐゴシック" pitchFamily="34" charset="-128"/>
              </a:rPr>
              <a:t> and </a:t>
            </a:r>
            <a:r>
              <a:rPr lang="en-US" altLang="en-US" sz="2400" i="1" kern="0" dirty="0">
                <a:latin typeface="Source Sans Pro" panose="020B0503030403020204" pitchFamily="34" charset="0"/>
                <a:ea typeface="ＭＳ Ｐゴシック" pitchFamily="34" charset="-128"/>
              </a:rPr>
              <a:t>Q</a:t>
            </a:r>
            <a:r>
              <a:rPr lang="en-US" altLang="en-US" sz="2400" kern="0" dirty="0">
                <a:latin typeface="Source Sans Pro" panose="020B0503030403020204" pitchFamily="34" charset="0"/>
                <a:ea typeface="ＭＳ Ｐゴシック" pitchFamily="34" charset="-128"/>
              </a:rPr>
              <a:t> along demand</a:t>
            </a:r>
          </a:p>
          <a:p>
            <a:pPr eaLnBrk="1" hangingPunct="1">
              <a:spcAft>
                <a:spcPct val="20000"/>
              </a:spcAft>
            </a:pPr>
            <a:r>
              <a:rPr lang="en-US" altLang="en-US" sz="2400" kern="0" dirty="0">
                <a:latin typeface="Source Sans Pro" panose="020B0503030403020204" pitchFamily="34" charset="0"/>
                <a:ea typeface="ＭＳ Ｐゴシック" pitchFamily="34" charset="-128"/>
              </a:rPr>
              <a:t>Revenue change when </a:t>
            </a:r>
            <a:r>
              <a:rPr lang="en-US" altLang="en-US" sz="2400" b="1" i="1" kern="0" dirty="0">
                <a:latin typeface="Source Sans Pro" panose="020B0503030403020204" pitchFamily="34" charset="0"/>
                <a:ea typeface="ＭＳ Ｐゴシック" pitchFamily="34" charset="-128"/>
              </a:rPr>
              <a:t>Q</a:t>
            </a:r>
            <a:r>
              <a:rPr lang="en-US" altLang="en-US" sz="2400" b="1" kern="0" dirty="0">
                <a:latin typeface="Source Sans Pro" panose="020B0503030403020204" pitchFamily="34" charset="0"/>
                <a:ea typeface="ＭＳ Ｐゴシック" pitchFamily="34" charset="-128"/>
              </a:rPr>
              <a:t> changes </a:t>
            </a:r>
            <a:r>
              <a:rPr lang="en-US" altLang="en-US" sz="2400" kern="0" dirty="0">
                <a:latin typeface="Source Sans Pro" panose="020B0503030403020204" pitchFamily="34" charset="0"/>
                <a:ea typeface="ＭＳ Ｐゴシック" pitchFamily="34" charset="-128"/>
              </a:rPr>
              <a:t>by a small amount</a:t>
            </a:r>
          </a:p>
          <a:p>
            <a:pPr eaLnBrk="1" hangingPunct="1">
              <a:spcAft>
                <a:spcPct val="20000"/>
              </a:spcAft>
            </a:pPr>
            <a:r>
              <a:rPr lang="en-US" altLang="en-US" sz="2400" kern="0" dirty="0">
                <a:latin typeface="Source Sans Pro" panose="020B0503030403020204" pitchFamily="34" charset="0"/>
                <a:ea typeface="ＭＳ Ｐゴシック" pitchFamily="34" charset="-128"/>
              </a:rPr>
              <a:t>↑Q: </a:t>
            </a:r>
            <a:r>
              <a:rPr lang="en-US" altLang="en-US" sz="2400" b="1" kern="0" dirty="0">
                <a:latin typeface="Source Sans Pro" panose="020B0503030403020204" pitchFamily="34" charset="0"/>
                <a:ea typeface="ＭＳ Ｐゴシック" pitchFamily="34" charset="-128"/>
              </a:rPr>
              <a:t>Additional revenue </a:t>
            </a:r>
            <a:r>
              <a:rPr lang="en-US" altLang="en-US" sz="2400" kern="0" dirty="0">
                <a:latin typeface="Source Sans Pro" panose="020B0503030403020204" pitchFamily="34" charset="0"/>
                <a:ea typeface="ＭＳ Ｐゴシック" pitchFamily="34" charset="-128"/>
              </a:rPr>
              <a:t>from new customers, </a:t>
            </a:r>
            <a:r>
              <a:rPr lang="en-US" altLang="en-US" sz="2400" b="1" kern="0" dirty="0">
                <a:latin typeface="Source Sans Pro" panose="020B0503030403020204" pitchFamily="34" charset="0"/>
                <a:ea typeface="ＭＳ Ｐゴシック" pitchFamily="34" charset="-128"/>
              </a:rPr>
              <a:t>less revenue </a:t>
            </a:r>
            <a:r>
              <a:rPr lang="en-US" altLang="en-US" sz="2400" kern="0" dirty="0">
                <a:latin typeface="Source Sans Pro" panose="020B0503030403020204" pitchFamily="34" charset="0"/>
                <a:ea typeface="ＭＳ Ｐゴシック" pitchFamily="34" charset="-128"/>
              </a:rPr>
              <a:t>from existing ones</a:t>
            </a:r>
          </a:p>
          <a:p>
            <a:pPr eaLnBrk="1" hangingPunct="1">
              <a:spcAft>
                <a:spcPct val="20000"/>
              </a:spcAft>
            </a:pPr>
            <a:r>
              <a:rPr lang="en-US" altLang="en-US" sz="2400" kern="0" dirty="0">
                <a:latin typeface="Source Sans Pro" panose="020B0503030403020204" pitchFamily="34" charset="0"/>
                <a:ea typeface="ＭＳ Ｐゴシック" pitchFamily="34" charset="-128"/>
              </a:rPr>
              <a:t>↓Q: </a:t>
            </a:r>
            <a:r>
              <a:rPr lang="en-US" altLang="en-US" sz="2400" b="1" kern="0" dirty="0">
                <a:latin typeface="Source Sans Pro" panose="020B0503030403020204" pitchFamily="34" charset="0"/>
                <a:ea typeface="ＭＳ Ｐゴシック" pitchFamily="34" charset="-128"/>
              </a:rPr>
              <a:t>Less revenue </a:t>
            </a:r>
            <a:r>
              <a:rPr lang="en-US" altLang="en-US" sz="2400" kern="0" dirty="0">
                <a:latin typeface="Source Sans Pro" panose="020B0503030403020204" pitchFamily="34" charset="0"/>
                <a:ea typeface="ＭＳ Ｐゴシック" pitchFamily="34" charset="-128"/>
              </a:rPr>
              <a:t>from lost customers, </a:t>
            </a:r>
            <a:r>
              <a:rPr lang="en-US" altLang="en-US" sz="2400" b="1" kern="0" dirty="0">
                <a:latin typeface="Source Sans Pro" panose="020B0503030403020204" pitchFamily="34" charset="0"/>
                <a:ea typeface="ＭＳ Ｐゴシック" pitchFamily="34" charset="-128"/>
              </a:rPr>
              <a:t>additional revenue </a:t>
            </a:r>
            <a:r>
              <a:rPr lang="en-US" altLang="en-US" sz="2400" kern="0" dirty="0">
                <a:latin typeface="Source Sans Pro" panose="020B0503030403020204" pitchFamily="34" charset="0"/>
                <a:ea typeface="ＭＳ Ｐゴシック" pitchFamily="34" charset="-128"/>
              </a:rPr>
              <a:t>from remaining ones</a:t>
            </a:r>
          </a:p>
          <a:p>
            <a:pPr eaLnBrk="1" hangingPunct="1">
              <a:spcAft>
                <a:spcPct val="20000"/>
              </a:spcAft>
            </a:pPr>
            <a:r>
              <a:rPr lang="en-US" altLang="en-US" sz="2400" b="1" kern="0" dirty="0">
                <a:latin typeface="Source Sans Pro" panose="020B0503030403020204" pitchFamily="34" charset="0"/>
                <a:ea typeface="ＭＳ Ｐゴシック" pitchFamily="34" charset="-128"/>
              </a:rPr>
              <a:t>Crucial </a:t>
            </a:r>
            <a:r>
              <a:rPr lang="en-US" altLang="en-US" sz="2400" kern="0" dirty="0">
                <a:latin typeface="Source Sans Pro" panose="020B0503030403020204" pitchFamily="34" charset="0"/>
                <a:ea typeface="ＭＳ Ｐゴシック" pitchFamily="34" charset="-128"/>
              </a:rPr>
              <a:t>when we consider </a:t>
            </a:r>
            <a:r>
              <a:rPr lang="en-US" altLang="en-US" sz="2400" b="1" kern="0" dirty="0">
                <a:latin typeface="Source Sans Pro" panose="020B0503030403020204" pitchFamily="34" charset="0"/>
                <a:ea typeface="ＭＳ Ｐゴシック" pitchFamily="34" charset="-128"/>
              </a:rPr>
              <a:t>profit maximization</a:t>
            </a:r>
          </a:p>
          <a:p>
            <a:pPr lvl="1" eaLnBrk="1" hangingPunct="1">
              <a:spcAft>
                <a:spcPct val="20000"/>
              </a:spcAft>
            </a:pPr>
            <a:r>
              <a:rPr lang="en-US" altLang="en-US" sz="2400" kern="0" dirty="0">
                <a:latin typeface="Source Sans Pro" panose="020B0503030403020204" pitchFamily="34" charset="0"/>
                <a:ea typeface="ＭＳ Ｐゴシック" pitchFamily="34" charset="-128"/>
              </a:rPr>
              <a:t>Costs are in terms of quantity, not price</a:t>
            </a:r>
            <a:endParaRPr lang="en-US" altLang="en-US" sz="2000" kern="0" dirty="0">
              <a:latin typeface="Source Sans Pro" panose="020B0503030403020204" pitchFamily="34" charset="0"/>
              <a:ea typeface="ＭＳ Ｐゴシック" pitchFamily="34" charset="-128"/>
            </a:endParaRPr>
          </a:p>
        </p:txBody>
      </p:sp>
      <p:sp>
        <p:nvSpPr>
          <p:cNvPr id="5" name="Rounded Rectangle 4">
            <a:extLst>
              <a:ext uri="{FF2B5EF4-FFF2-40B4-BE49-F238E27FC236}">
                <a16:creationId xmlns:a16="http://schemas.microsoft.com/office/drawing/2014/main" id="{C47082CE-0C11-D6D8-4536-34064F56A01E}"/>
              </a:ext>
            </a:extLst>
          </p:cNvPr>
          <p:cNvSpPr/>
          <p:nvPr/>
        </p:nvSpPr>
        <p:spPr>
          <a:xfrm>
            <a:off x="640950" y="2861956"/>
            <a:ext cx="2239901" cy="1280160"/>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MR in terms of Q change</a:t>
            </a: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0E4848E6-1872-AAFF-DF2C-ECA0FBED50ED}"/>
                  </a:ext>
                </a:extLst>
              </p14:cNvPr>
              <p14:cNvContentPartPr/>
              <p14:nvPr/>
            </p14:nvContentPartPr>
            <p14:xfrm>
              <a:off x="1585440" y="4163040"/>
              <a:ext cx="8562600" cy="2286360"/>
            </p14:xfrm>
          </p:contentPart>
        </mc:Choice>
        <mc:Fallback>
          <p:pic>
            <p:nvPicPr>
              <p:cNvPr id="6" name="Ink 5">
                <a:extLst>
                  <a:ext uri="{FF2B5EF4-FFF2-40B4-BE49-F238E27FC236}">
                    <a16:creationId xmlns:a16="http://schemas.microsoft.com/office/drawing/2014/main" id="{0E4848E6-1872-AAFF-DF2C-ECA0FBED50ED}"/>
                  </a:ext>
                </a:extLst>
              </p:cNvPr>
              <p:cNvPicPr/>
              <p:nvPr/>
            </p:nvPicPr>
            <p:blipFill>
              <a:blip r:embed="rId3"/>
              <a:stretch>
                <a:fillRect/>
              </a:stretch>
            </p:blipFill>
            <p:spPr>
              <a:xfrm>
                <a:off x="1569240" y="4146840"/>
                <a:ext cx="8595000" cy="23187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en-US" altLang="en-US" sz="3600" dirty="0">
                <a:ea typeface="ＭＳ Ｐゴシック" pitchFamily="34" charset="-128"/>
              </a:rPr>
              <a:t>Understanding marginal revenue</a:t>
            </a:r>
          </a:p>
        </p:txBody>
      </p:sp>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D21F40BD-6748-4513-9F87-D7C5D5115818}" type="slidenum">
              <a:rPr lang="en-US" altLang="en-US" sz="1400">
                <a:latin typeface="Source Sans Pro" panose="020B0503030403020204" pitchFamily="34" charset="0"/>
              </a:rPr>
              <a:pPr eaLnBrk="1" hangingPunct="1"/>
              <a:t>9</a:t>
            </a:fld>
            <a:endParaRPr lang="en-US" altLang="en-US" sz="1400" dirty="0">
              <a:latin typeface="Source Sans Pro" panose="020B0503030403020204" pitchFamily="34" charset="0"/>
            </a:endParaRPr>
          </a:p>
        </p:txBody>
      </p:sp>
      <p:sp>
        <p:nvSpPr>
          <p:cNvPr id="2" name="Rounded Rectangular Callout 1">
            <a:extLst>
              <a:ext uri="{FF2B5EF4-FFF2-40B4-BE49-F238E27FC236}">
                <a16:creationId xmlns:a16="http://schemas.microsoft.com/office/drawing/2014/main" id="{BC2DE9DE-972F-8D67-B2F6-376141A396C2}"/>
              </a:ext>
            </a:extLst>
          </p:cNvPr>
          <p:cNvSpPr/>
          <p:nvPr/>
        </p:nvSpPr>
        <p:spPr>
          <a:xfrm>
            <a:off x="2209800" y="3632195"/>
            <a:ext cx="3388736" cy="2131578"/>
          </a:xfrm>
          <a:prstGeom prst="wedgeRoundRectCallout">
            <a:avLst>
              <a:gd name="adj1" fmla="val 30973"/>
              <a:gd name="adj2" fmla="val -78105"/>
              <a:gd name="adj3" fmla="val 16667"/>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spcBef>
                <a:spcPts val="0"/>
              </a:spcBef>
              <a:spcAft>
                <a:spcPts val="1200"/>
              </a:spcAft>
            </a:pPr>
            <a:r>
              <a:rPr lang="en-US" altLang="en-US" sz="2400" b="1" dirty="0">
                <a:solidFill>
                  <a:schemeClr val="bg1"/>
                </a:solidFill>
                <a:latin typeface="Source Sans Pro" panose="020B0503030403020204" pitchFamily="34" charset="0"/>
                <a:ea typeface="ＭＳ Ｐゴシック" pitchFamily="34" charset="-128"/>
              </a:rPr>
              <a:t>Marginal revenue</a:t>
            </a:r>
          </a:p>
          <a:p>
            <a:pPr marL="342900" indent="-342900">
              <a:lnSpc>
                <a:spcPct val="90000"/>
              </a:lnSpc>
              <a:spcBef>
                <a:spcPts val="0"/>
              </a:spcBef>
              <a:spcAft>
                <a:spcPts val="1200"/>
              </a:spcAft>
              <a:buFont typeface="Arial" panose="020B0604020202020204" pitchFamily="34" charset="0"/>
              <a:buChar char="•"/>
            </a:pPr>
            <a:r>
              <a:rPr lang="en-US" altLang="en-US" sz="2400" dirty="0">
                <a:solidFill>
                  <a:schemeClr val="bg1"/>
                </a:solidFill>
                <a:latin typeface="Source Sans Pro" panose="020B0503030403020204" pitchFamily="34" charset="0"/>
                <a:ea typeface="ＭＳ Ｐゴシック" pitchFamily="34" charset="-128"/>
              </a:rPr>
              <a:t>How much does </a:t>
            </a:r>
            <a:r>
              <a:rPr lang="en-US" altLang="en-US" sz="2400" b="1" dirty="0">
                <a:solidFill>
                  <a:schemeClr val="bg1"/>
                </a:solidFill>
                <a:latin typeface="Source Sans Pro" panose="020B0503030403020204" pitchFamily="34" charset="0"/>
                <a:ea typeface="ＭＳ Ｐゴシック" pitchFamily="34" charset="-128"/>
              </a:rPr>
              <a:t>revenue change </a:t>
            </a:r>
            <a:r>
              <a:rPr lang="en-US" altLang="en-US" sz="2400" dirty="0">
                <a:solidFill>
                  <a:schemeClr val="bg1"/>
                </a:solidFill>
                <a:latin typeface="Source Sans Pro" panose="020B0503030403020204" pitchFamily="34" charset="0"/>
                <a:ea typeface="ＭＳ Ｐゴシック" pitchFamily="34" charset="-128"/>
              </a:rPr>
              <a:t>when </a:t>
            </a:r>
            <a:r>
              <a:rPr lang="en-US" altLang="en-US" sz="2400" b="1" dirty="0">
                <a:solidFill>
                  <a:schemeClr val="bg1"/>
                </a:solidFill>
                <a:latin typeface="Source Sans Pro" panose="020B0503030403020204" pitchFamily="34" charset="0"/>
                <a:ea typeface="ＭＳ Ｐゴシック" pitchFamily="34" charset="-128"/>
              </a:rPr>
              <a:t>Q changes </a:t>
            </a:r>
            <a:r>
              <a:rPr lang="en-US" altLang="en-US" sz="2400" dirty="0">
                <a:solidFill>
                  <a:schemeClr val="bg1"/>
                </a:solidFill>
                <a:latin typeface="Source Sans Pro" panose="020B0503030403020204" pitchFamily="34" charset="0"/>
                <a:ea typeface="ＭＳ Ｐゴシック" pitchFamily="34" charset="-128"/>
              </a:rPr>
              <a:t>by a small amount?</a:t>
            </a:r>
          </a:p>
        </p:txBody>
      </p:sp>
      <p:sp>
        <p:nvSpPr>
          <p:cNvPr id="3" name="Rectangle 3">
            <a:extLst>
              <a:ext uri="{FF2B5EF4-FFF2-40B4-BE49-F238E27FC236}">
                <a16:creationId xmlns:a16="http://schemas.microsoft.com/office/drawing/2014/main" id="{F9908828-960E-1D85-8F78-7838B6FA7139}"/>
              </a:ext>
            </a:extLst>
          </p:cNvPr>
          <p:cNvSpPr txBox="1">
            <a:spLocks noChangeArrowheads="1"/>
          </p:cNvSpPr>
          <p:nvPr/>
        </p:nvSpPr>
        <p:spPr bwMode="auto">
          <a:xfrm>
            <a:off x="1981200" y="1230076"/>
            <a:ext cx="822960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lnSpc>
                <a:spcPct val="90000"/>
              </a:lnSpc>
            </a:pPr>
            <a:r>
              <a:rPr lang="en-US" altLang="en-US" sz="2400" kern="0" dirty="0">
                <a:latin typeface="Source Sans Pro" panose="020B0503030403020204" pitchFamily="34" charset="0"/>
                <a:ea typeface="ＭＳ Ｐゴシック" pitchFamily="34" charset="-128"/>
              </a:rPr>
              <a:t>Remember: for </a:t>
            </a:r>
            <a:r>
              <a:rPr lang="en-US" altLang="en-US" sz="2400" b="1" i="1" kern="0" dirty="0">
                <a:latin typeface="Source Sans Pro" panose="020B0503030403020204" pitchFamily="34" charset="0"/>
                <a:ea typeface="ＭＳ Ｐゴシック" pitchFamily="34" charset="-128"/>
              </a:rPr>
              <a:t>Q</a:t>
            </a:r>
            <a:r>
              <a:rPr lang="en-US" altLang="en-US" sz="2400" b="1" kern="0" dirty="0">
                <a:latin typeface="Source Sans Pro" panose="020B0503030403020204" pitchFamily="34" charset="0"/>
                <a:ea typeface="ＭＳ Ｐゴシック" pitchFamily="34" charset="-128"/>
              </a:rPr>
              <a:t> to go up, </a:t>
            </a:r>
            <a:r>
              <a:rPr lang="en-US" altLang="en-US" sz="2400" b="1" i="1" kern="0" dirty="0">
                <a:latin typeface="Source Sans Pro" panose="020B0503030403020204" pitchFamily="34" charset="0"/>
                <a:ea typeface="ＭＳ Ｐゴシック" pitchFamily="34" charset="-128"/>
              </a:rPr>
              <a:t>P</a:t>
            </a:r>
            <a:r>
              <a:rPr lang="en-US" altLang="en-US" sz="2400" b="1" kern="0" dirty="0">
                <a:latin typeface="Source Sans Pro" panose="020B0503030403020204" pitchFamily="34" charset="0"/>
                <a:ea typeface="ＭＳ Ｐゴシック" pitchFamily="34" charset="-128"/>
              </a:rPr>
              <a:t> must fall</a:t>
            </a:r>
          </a:p>
        </p:txBody>
      </p:sp>
      <p:sp>
        <p:nvSpPr>
          <p:cNvPr id="4" name="Rectangle 3">
            <a:extLst>
              <a:ext uri="{FF2B5EF4-FFF2-40B4-BE49-F238E27FC236}">
                <a16:creationId xmlns:a16="http://schemas.microsoft.com/office/drawing/2014/main" id="{4B90C284-A59F-F9C0-9E27-362C3BE41D04}"/>
              </a:ext>
            </a:extLst>
          </p:cNvPr>
          <p:cNvSpPr txBox="1">
            <a:spLocks noChangeArrowheads="1"/>
          </p:cNvSpPr>
          <p:nvPr/>
        </p:nvSpPr>
        <p:spPr bwMode="auto">
          <a:xfrm>
            <a:off x="3683145" y="1709047"/>
            <a:ext cx="191539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gn="r" eaLnBrk="1" hangingPunct="1">
              <a:lnSpc>
                <a:spcPct val="90000"/>
              </a:lnSpc>
              <a:buNone/>
              <a:tabLst>
                <a:tab pos="1654175" algn="l"/>
              </a:tabLst>
            </a:pPr>
            <a:r>
              <a:rPr lang="en-US" altLang="en-US" sz="2400" kern="0" dirty="0">
                <a:latin typeface="Source Sans Pro" panose="020B0503030403020204" pitchFamily="34" charset="0"/>
                <a:ea typeface="ＭＳ Ｐゴシック" pitchFamily="34" charset="-128"/>
              </a:rPr>
              <a:t>	Revenue</a:t>
            </a:r>
            <a:endParaRPr lang="en-US" altLang="en-US" sz="2400" i="1" kern="0" dirty="0">
              <a:latin typeface="Source Sans Pro" panose="020B0503030403020204" pitchFamily="34" charset="0"/>
              <a:ea typeface="ＭＳ Ｐゴシック" pitchFamily="34" charset="-128"/>
            </a:endParaRPr>
          </a:p>
        </p:txBody>
      </p:sp>
      <p:sp>
        <p:nvSpPr>
          <p:cNvPr id="10" name="Rectangle 3">
            <a:extLst>
              <a:ext uri="{FF2B5EF4-FFF2-40B4-BE49-F238E27FC236}">
                <a16:creationId xmlns:a16="http://schemas.microsoft.com/office/drawing/2014/main" id="{39D52356-B5CC-B6A0-2747-E787C5CBB962}"/>
              </a:ext>
            </a:extLst>
          </p:cNvPr>
          <p:cNvSpPr txBox="1">
            <a:spLocks noChangeArrowheads="1"/>
          </p:cNvSpPr>
          <p:nvPr/>
        </p:nvSpPr>
        <p:spPr bwMode="auto">
          <a:xfrm>
            <a:off x="3683145" y="2177132"/>
            <a:ext cx="191539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gn="r" eaLnBrk="1" hangingPunct="1">
              <a:lnSpc>
                <a:spcPct val="90000"/>
              </a:lnSpc>
              <a:buNone/>
              <a:tabLst>
                <a:tab pos="1654175" algn="l"/>
              </a:tabLst>
            </a:pPr>
            <a:r>
              <a:rPr lang="en-US" altLang="en-US" sz="2400" kern="0" dirty="0">
                <a:latin typeface="Source Sans Pro" panose="020B0503030403020204" pitchFamily="34" charset="0"/>
                <a:ea typeface="ＭＳ Ｐゴシック" pitchFamily="34" charset="-128"/>
              </a:rPr>
              <a:t>	</a:t>
            </a:r>
            <a:r>
              <a:rPr lang="en-US" altLang="en-US" sz="2400" kern="0" dirty="0" err="1">
                <a:latin typeface="Source Sans Pro" panose="020B0503030403020204" pitchFamily="34" charset="0"/>
                <a:ea typeface="ＭＳ Ｐゴシック" pitchFamily="34" charset="-128"/>
              </a:rPr>
              <a:t>dR</a:t>
            </a:r>
            <a:endParaRPr lang="en-US" altLang="en-US" sz="2400" i="1" kern="0" dirty="0">
              <a:latin typeface="Source Sans Pro" panose="020B0503030403020204" pitchFamily="34" charset="0"/>
              <a:ea typeface="ＭＳ Ｐゴシック" pitchFamily="34" charset="-128"/>
            </a:endParaRPr>
          </a:p>
        </p:txBody>
      </p:sp>
      <p:sp>
        <p:nvSpPr>
          <p:cNvPr id="11" name="Rectangle 3">
            <a:extLst>
              <a:ext uri="{FF2B5EF4-FFF2-40B4-BE49-F238E27FC236}">
                <a16:creationId xmlns:a16="http://schemas.microsoft.com/office/drawing/2014/main" id="{BA0798EB-DB65-DF2C-2B6B-24B5D5758E3C}"/>
              </a:ext>
            </a:extLst>
          </p:cNvPr>
          <p:cNvSpPr txBox="1">
            <a:spLocks noChangeArrowheads="1"/>
          </p:cNvSpPr>
          <p:nvPr/>
        </p:nvSpPr>
        <p:spPr bwMode="auto">
          <a:xfrm>
            <a:off x="3683145" y="2656104"/>
            <a:ext cx="191539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gn="r" eaLnBrk="1" hangingPunct="1">
              <a:lnSpc>
                <a:spcPct val="90000"/>
              </a:lnSpc>
              <a:buFontTx/>
              <a:buNone/>
            </a:pPr>
            <a:r>
              <a:rPr lang="en-US" altLang="en-US" sz="2400" kern="0" dirty="0">
                <a:latin typeface="Source Sans Pro" panose="020B0503030403020204" pitchFamily="34" charset="0"/>
                <a:ea typeface="ＭＳ Ｐゴシック" pitchFamily="34" charset="-128"/>
              </a:rPr>
              <a:t>	</a:t>
            </a:r>
            <a:r>
              <a:rPr lang="en-US" altLang="en-US" sz="2400" kern="0" dirty="0" err="1">
                <a:latin typeface="Source Sans Pro" panose="020B0503030403020204" pitchFamily="34" charset="0"/>
                <a:ea typeface="ＭＳ Ｐゴシック" pitchFamily="34" charset="-128"/>
              </a:rPr>
              <a:t>dR</a:t>
            </a:r>
            <a:r>
              <a:rPr lang="en-US" altLang="en-US" sz="2400" kern="0" dirty="0">
                <a:latin typeface="Source Sans Pro" panose="020B0503030403020204" pitchFamily="34" charset="0"/>
                <a:ea typeface="ＭＳ Ｐゴシック" pitchFamily="34" charset="-128"/>
              </a:rPr>
              <a:t>/</a:t>
            </a:r>
            <a:r>
              <a:rPr lang="en-US" altLang="en-US" sz="2400" kern="0" dirty="0" err="1">
                <a:latin typeface="Source Sans Pro" panose="020B0503030403020204" pitchFamily="34" charset="0"/>
                <a:ea typeface="ＭＳ Ｐゴシック" pitchFamily="34" charset="-128"/>
              </a:rPr>
              <a:t>dQ</a:t>
            </a:r>
            <a:endParaRPr lang="en-US" altLang="en-US" sz="2400" kern="0" dirty="0">
              <a:latin typeface="Source Sans Pro" panose="020B0503030403020204" pitchFamily="34" charset="0"/>
              <a:ea typeface="ＭＳ Ｐゴシック" pitchFamily="34" charset="-128"/>
            </a:endParaRPr>
          </a:p>
        </p:txBody>
      </p:sp>
      <p:sp>
        <p:nvSpPr>
          <p:cNvPr id="12" name="Rounded Rectangular Callout 11">
            <a:extLst>
              <a:ext uri="{FF2B5EF4-FFF2-40B4-BE49-F238E27FC236}">
                <a16:creationId xmlns:a16="http://schemas.microsoft.com/office/drawing/2014/main" id="{C973495A-D5B8-BCB6-2DB2-391562C314EC}"/>
              </a:ext>
            </a:extLst>
          </p:cNvPr>
          <p:cNvSpPr/>
          <p:nvPr/>
        </p:nvSpPr>
        <p:spPr>
          <a:xfrm>
            <a:off x="6640286" y="3632195"/>
            <a:ext cx="3799114" cy="2131578"/>
          </a:xfrm>
          <a:prstGeom prst="wedgeRoundRectCallout">
            <a:avLst>
              <a:gd name="adj1" fmla="val -38785"/>
              <a:gd name="adj2" fmla="val -72448"/>
              <a:gd name="adj3" fmla="val 16667"/>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eaLnBrk="1" hangingPunct="1">
              <a:lnSpc>
                <a:spcPct val="90000"/>
              </a:lnSpc>
              <a:spcAft>
                <a:spcPts val="1200"/>
              </a:spcAft>
              <a:buNone/>
            </a:pPr>
            <a:r>
              <a:rPr lang="en-US" altLang="en-US" sz="2400" b="1" kern="0" dirty="0">
                <a:solidFill>
                  <a:schemeClr val="bg1"/>
                </a:solidFill>
                <a:latin typeface="Source Sans Pro" panose="020B0503030403020204" pitchFamily="34" charset="0"/>
                <a:ea typeface="ＭＳ Ｐゴシック" pitchFamily="34" charset="-128"/>
              </a:rPr>
              <a:t>Slope </a:t>
            </a:r>
            <a:r>
              <a:rPr lang="en-US" altLang="en-US" sz="2400" kern="0" dirty="0">
                <a:solidFill>
                  <a:schemeClr val="bg1"/>
                </a:solidFill>
                <a:latin typeface="Source Sans Pro" panose="020B0503030403020204" pitchFamily="34" charset="0"/>
                <a:ea typeface="ＭＳ Ｐゴシック" pitchFamily="34" charset="-128"/>
              </a:rPr>
              <a:t>of </a:t>
            </a:r>
            <a:r>
              <a:rPr lang="en-US" altLang="en-US" sz="2400" b="1" kern="0" dirty="0">
                <a:solidFill>
                  <a:schemeClr val="bg1"/>
                </a:solidFill>
                <a:latin typeface="Source Sans Pro" panose="020B0503030403020204" pitchFamily="34" charset="0"/>
                <a:ea typeface="ＭＳ Ｐゴシック" pitchFamily="34" charset="-128"/>
              </a:rPr>
              <a:t>demand</a:t>
            </a:r>
            <a:endParaRPr lang="en-US" altLang="en-US" sz="2400" kern="0" dirty="0">
              <a:solidFill>
                <a:schemeClr val="bg1"/>
              </a:solidFill>
              <a:latin typeface="Source Sans Pro" panose="020B0503030403020204" pitchFamily="34" charset="0"/>
              <a:ea typeface="ＭＳ Ｐゴシック" pitchFamily="34" charset="-128"/>
            </a:endParaRPr>
          </a:p>
          <a:p>
            <a:pPr marL="342900" indent="-342900" eaLnBrk="1" hangingPunct="1">
              <a:lnSpc>
                <a:spcPct val="90000"/>
              </a:lnSpc>
              <a:spcAft>
                <a:spcPts val="1200"/>
              </a:spcAft>
              <a:buFont typeface="Arial" panose="020B0604020202020204" pitchFamily="34" charset="0"/>
              <a:buChar char="•"/>
            </a:pPr>
            <a:r>
              <a:rPr lang="en-US" altLang="en-US" sz="2400" kern="0" dirty="0">
                <a:solidFill>
                  <a:schemeClr val="bg1"/>
                </a:solidFill>
                <a:latin typeface="Source Sans Pro" panose="020B0503030403020204" pitchFamily="34" charset="0"/>
                <a:ea typeface="ＭＳ Ｐゴシック" pitchFamily="34" charset="-128"/>
              </a:rPr>
              <a:t>By how much does </a:t>
            </a:r>
            <a:r>
              <a:rPr lang="en-US" altLang="en-US" sz="2400" b="1" i="1" kern="0" dirty="0">
                <a:solidFill>
                  <a:schemeClr val="bg1"/>
                </a:solidFill>
                <a:latin typeface="Source Sans Pro" panose="020B0503030403020204" pitchFamily="34" charset="0"/>
                <a:ea typeface="ＭＳ Ｐゴシック" pitchFamily="34" charset="-128"/>
              </a:rPr>
              <a:t>P</a:t>
            </a:r>
            <a:r>
              <a:rPr lang="en-US" altLang="en-US" sz="2400" b="1" kern="0" dirty="0">
                <a:solidFill>
                  <a:schemeClr val="bg1"/>
                </a:solidFill>
                <a:latin typeface="Source Sans Pro" panose="020B0503030403020204" pitchFamily="34" charset="0"/>
                <a:ea typeface="ＭＳ Ｐゴシック" pitchFamily="34" charset="-128"/>
              </a:rPr>
              <a:t> </a:t>
            </a:r>
            <a:r>
              <a:rPr lang="en-US" altLang="en-US" sz="2400" kern="0" dirty="0">
                <a:solidFill>
                  <a:schemeClr val="bg1"/>
                </a:solidFill>
                <a:latin typeface="Source Sans Pro" panose="020B0503030403020204" pitchFamily="34" charset="0"/>
                <a:ea typeface="ＭＳ Ｐゴシック" pitchFamily="34" charset="-128"/>
              </a:rPr>
              <a:t>need to </a:t>
            </a:r>
            <a:r>
              <a:rPr lang="en-US" altLang="en-US" sz="2400" b="1" kern="0" dirty="0">
                <a:solidFill>
                  <a:schemeClr val="bg1"/>
                </a:solidFill>
                <a:latin typeface="Source Sans Pro" panose="020B0503030403020204" pitchFamily="34" charset="0"/>
                <a:ea typeface="ＭＳ Ｐゴシック" pitchFamily="34" charset="-128"/>
              </a:rPr>
              <a:t>fall </a:t>
            </a:r>
            <a:r>
              <a:rPr lang="en-US" altLang="en-US" sz="2400" kern="0" dirty="0">
                <a:solidFill>
                  <a:schemeClr val="bg1"/>
                </a:solidFill>
                <a:latin typeface="Source Sans Pro" panose="020B0503030403020204" pitchFamily="34" charset="0"/>
                <a:ea typeface="ＭＳ Ｐゴシック" pitchFamily="34" charset="-128"/>
              </a:rPr>
              <a:t>to generate an </a:t>
            </a:r>
            <a:r>
              <a:rPr lang="en-US" altLang="en-US" sz="2400" b="1" kern="0" dirty="0">
                <a:solidFill>
                  <a:schemeClr val="bg1"/>
                </a:solidFill>
                <a:latin typeface="Source Sans Pro" panose="020B0503030403020204" pitchFamily="34" charset="0"/>
                <a:ea typeface="ＭＳ Ｐゴシック" pitchFamily="34" charset="-128"/>
              </a:rPr>
              <a:t>additional </a:t>
            </a:r>
            <a:r>
              <a:rPr lang="en-US" altLang="en-US" sz="2400" b="1" i="1" kern="0" dirty="0" err="1">
                <a:solidFill>
                  <a:schemeClr val="bg1"/>
                </a:solidFill>
                <a:latin typeface="Source Sans Pro" panose="020B0503030403020204" pitchFamily="34" charset="0"/>
                <a:ea typeface="ＭＳ Ｐゴシック" pitchFamily="34" charset="-128"/>
              </a:rPr>
              <a:t>dQ</a:t>
            </a:r>
            <a:r>
              <a:rPr lang="en-US" altLang="en-US" sz="2400" kern="0" dirty="0">
                <a:solidFill>
                  <a:schemeClr val="bg1"/>
                </a:solidFill>
                <a:latin typeface="Source Sans Pro" panose="020B0503030403020204" pitchFamily="34" charset="0"/>
                <a:ea typeface="ＭＳ Ｐゴシック" pitchFamily="34" charset="-128"/>
              </a:rPr>
              <a:t>?</a:t>
            </a:r>
          </a:p>
        </p:txBody>
      </p:sp>
      <p:sp>
        <p:nvSpPr>
          <p:cNvPr id="13" name="Rectangle 3">
            <a:extLst>
              <a:ext uri="{FF2B5EF4-FFF2-40B4-BE49-F238E27FC236}">
                <a16:creationId xmlns:a16="http://schemas.microsoft.com/office/drawing/2014/main" id="{B5A82093-FD87-9865-60D5-EB8C3A7024CD}"/>
              </a:ext>
            </a:extLst>
          </p:cNvPr>
          <p:cNvSpPr txBox="1">
            <a:spLocks noChangeArrowheads="1"/>
          </p:cNvSpPr>
          <p:nvPr/>
        </p:nvSpPr>
        <p:spPr bwMode="auto">
          <a:xfrm>
            <a:off x="5598536" y="1709047"/>
            <a:ext cx="276744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lnSpc>
                <a:spcPct val="90000"/>
              </a:lnSpc>
              <a:buNone/>
              <a:tabLst>
                <a:tab pos="1654175" algn="l"/>
              </a:tabLst>
            </a:pPr>
            <a:r>
              <a:rPr lang="en-US" altLang="en-US" sz="2400" kern="0" dirty="0">
                <a:latin typeface="Source Sans Pro" panose="020B0503030403020204" pitchFamily="34" charset="0"/>
                <a:ea typeface="ＭＳ Ｐゴシック" pitchFamily="34" charset="-128"/>
              </a:rPr>
              <a:t>=  </a:t>
            </a:r>
            <a:r>
              <a:rPr lang="en-US" altLang="en-US" sz="2400" i="1" kern="0" dirty="0">
                <a:latin typeface="Source Sans Pro" panose="020B0503030403020204" pitchFamily="34" charset="0"/>
                <a:ea typeface="ＭＳ Ｐゴシック" pitchFamily="34" charset="-128"/>
              </a:rPr>
              <a:t>P</a:t>
            </a:r>
            <a:r>
              <a:rPr lang="en-US" altLang="en-US" sz="2400"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a:t>
            </a:r>
            <a:r>
              <a:rPr lang="en-US" altLang="en-US" sz="2400" kern="0" dirty="0">
                <a:latin typeface="Source Sans Pro" panose="020B0503030403020204" pitchFamily="34" charset="0"/>
                <a:ea typeface="ＭＳ Ｐゴシック" pitchFamily="34" charset="-128"/>
              </a:rPr>
              <a:t> </a:t>
            </a:r>
            <a:r>
              <a:rPr lang="en-US" altLang="en-US" sz="2400" i="1" kern="0" dirty="0">
                <a:latin typeface="Source Sans Pro" panose="020B0503030403020204" pitchFamily="34" charset="0"/>
                <a:ea typeface="ＭＳ Ｐゴシック" pitchFamily="34" charset="-128"/>
              </a:rPr>
              <a:t>Q</a:t>
            </a:r>
          </a:p>
        </p:txBody>
      </p:sp>
      <p:sp>
        <p:nvSpPr>
          <p:cNvPr id="14" name="Rectangle 3">
            <a:extLst>
              <a:ext uri="{FF2B5EF4-FFF2-40B4-BE49-F238E27FC236}">
                <a16:creationId xmlns:a16="http://schemas.microsoft.com/office/drawing/2014/main" id="{FBC80812-1A63-93E2-BEC6-E4791C8B4510}"/>
              </a:ext>
            </a:extLst>
          </p:cNvPr>
          <p:cNvSpPr txBox="1">
            <a:spLocks noChangeArrowheads="1"/>
          </p:cNvSpPr>
          <p:nvPr/>
        </p:nvSpPr>
        <p:spPr bwMode="auto">
          <a:xfrm>
            <a:off x="5598536" y="2177132"/>
            <a:ext cx="276744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lnSpc>
                <a:spcPct val="90000"/>
              </a:lnSpc>
              <a:buNone/>
              <a:tabLst>
                <a:tab pos="1654175" algn="l"/>
              </a:tabLst>
            </a:pPr>
            <a:r>
              <a:rPr lang="en-US" altLang="en-US" sz="2400" kern="0" dirty="0">
                <a:latin typeface="Source Sans Pro" panose="020B0503030403020204" pitchFamily="34" charset="0"/>
                <a:ea typeface="ＭＳ Ｐゴシック" pitchFamily="34" charset="-128"/>
              </a:rPr>
              <a:t>=  </a:t>
            </a:r>
            <a:r>
              <a:rPr lang="en-US" altLang="en-US" sz="2400" i="1" kern="0" dirty="0">
                <a:latin typeface="Source Sans Pro" panose="020B0503030403020204" pitchFamily="34" charset="0"/>
                <a:ea typeface="ＭＳ Ｐゴシック" pitchFamily="34" charset="-128"/>
              </a:rPr>
              <a:t>P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err="1">
                <a:latin typeface="Source Sans Pro" panose="020B0503030403020204" pitchFamily="34" charset="0"/>
                <a:ea typeface="ＭＳ Ｐゴシック" pitchFamily="34" charset="-128"/>
              </a:rPr>
              <a:t>dQ</a:t>
            </a:r>
            <a:r>
              <a:rPr lang="en-US" altLang="en-US" sz="2400" kern="0" dirty="0">
                <a:latin typeface="Source Sans Pro" panose="020B0503030403020204" pitchFamily="34" charset="0"/>
                <a:ea typeface="ＭＳ Ｐゴシック" pitchFamily="34" charset="-128"/>
              </a:rPr>
              <a:t> + </a:t>
            </a:r>
            <a:r>
              <a:rPr lang="en-US" altLang="en-US" sz="2400" i="1" kern="0" dirty="0" err="1">
                <a:latin typeface="Source Sans Pro" panose="020B0503030403020204" pitchFamily="34" charset="0"/>
                <a:ea typeface="ＭＳ Ｐゴシック" pitchFamily="34" charset="-128"/>
              </a:rPr>
              <a:t>dP</a:t>
            </a:r>
            <a:r>
              <a:rPr lang="en-US" altLang="en-US" sz="2400" i="1"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a:latin typeface="Source Sans Pro" panose="020B0503030403020204" pitchFamily="34" charset="0"/>
                <a:ea typeface="ＭＳ Ｐゴシック" pitchFamily="34" charset="-128"/>
              </a:rPr>
              <a:t>Q</a:t>
            </a:r>
          </a:p>
        </p:txBody>
      </p:sp>
      <p:sp>
        <p:nvSpPr>
          <p:cNvPr id="15" name="Rectangle 3">
            <a:extLst>
              <a:ext uri="{FF2B5EF4-FFF2-40B4-BE49-F238E27FC236}">
                <a16:creationId xmlns:a16="http://schemas.microsoft.com/office/drawing/2014/main" id="{8E26F28C-56FA-0116-DAA4-A5F238B0F4A4}"/>
              </a:ext>
            </a:extLst>
          </p:cNvPr>
          <p:cNvSpPr txBox="1">
            <a:spLocks noChangeArrowheads="1"/>
          </p:cNvSpPr>
          <p:nvPr/>
        </p:nvSpPr>
        <p:spPr bwMode="auto">
          <a:xfrm>
            <a:off x="5598536" y="2656104"/>
            <a:ext cx="276744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lnSpc>
                <a:spcPct val="90000"/>
              </a:lnSpc>
              <a:buFontTx/>
              <a:buNone/>
            </a:pPr>
            <a:r>
              <a:rPr lang="en-US" altLang="en-US" sz="2400" kern="0" dirty="0">
                <a:latin typeface="Source Sans Pro" panose="020B0503030403020204" pitchFamily="34" charset="0"/>
                <a:ea typeface="ＭＳ Ｐゴシック" pitchFamily="34" charset="-128"/>
              </a:rPr>
              <a:t>=  </a:t>
            </a:r>
            <a:r>
              <a:rPr lang="en-US" altLang="en-US" sz="2400" i="1" kern="0" dirty="0">
                <a:latin typeface="Source Sans Pro" panose="020B0503030403020204" pitchFamily="34" charset="0"/>
                <a:ea typeface="ＭＳ Ｐゴシック" pitchFamily="34" charset="-128"/>
              </a:rPr>
              <a:t>P</a:t>
            </a:r>
            <a:r>
              <a:rPr lang="en-US" altLang="en-US" sz="2400" kern="0" dirty="0">
                <a:latin typeface="Source Sans Pro" panose="020B0503030403020204" pitchFamily="34" charset="0"/>
                <a:ea typeface="ＭＳ Ｐゴシック" pitchFamily="34" charset="-128"/>
              </a:rPr>
              <a:t> + (</a:t>
            </a:r>
            <a:r>
              <a:rPr lang="en-US" altLang="en-US" sz="2400" i="1" kern="0" dirty="0" err="1">
                <a:latin typeface="Source Sans Pro" panose="020B0503030403020204" pitchFamily="34" charset="0"/>
                <a:ea typeface="ＭＳ Ｐゴシック" pitchFamily="34" charset="-128"/>
              </a:rPr>
              <a:t>dP</a:t>
            </a:r>
            <a:r>
              <a:rPr lang="en-US" altLang="en-US" sz="2400" kern="0" dirty="0">
                <a:latin typeface="Source Sans Pro" panose="020B0503030403020204" pitchFamily="34" charset="0"/>
                <a:ea typeface="ＭＳ Ｐゴシック" pitchFamily="34" charset="-128"/>
              </a:rPr>
              <a:t>/</a:t>
            </a:r>
            <a:r>
              <a:rPr lang="en-US" altLang="en-US" sz="2400" i="1" kern="0" dirty="0" err="1">
                <a:latin typeface="Source Sans Pro" panose="020B0503030403020204" pitchFamily="34" charset="0"/>
                <a:ea typeface="ＭＳ Ｐゴシック" pitchFamily="34" charset="-128"/>
              </a:rPr>
              <a:t>dQ</a:t>
            </a:r>
            <a:r>
              <a:rPr lang="en-US" altLang="en-US" sz="2400"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a:latin typeface="Source Sans Pro" panose="020B0503030403020204" pitchFamily="34" charset="0"/>
                <a:ea typeface="ＭＳ Ｐゴシック" pitchFamily="34" charset="-128"/>
              </a:rPr>
              <a:t>Q</a:t>
            </a:r>
            <a:endParaRPr lang="en-US" altLang="en-US" sz="2400" kern="0" dirty="0">
              <a:latin typeface="Source Sans Pro" panose="020B0503030403020204" pitchFamily="34" charset="0"/>
              <a:ea typeface="ＭＳ Ｐゴシック" pitchFamily="34" charset="-128"/>
            </a:endParaRP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04912939-04B1-8899-401A-4D7D3365E2E4}"/>
                  </a:ext>
                </a:extLst>
              </p14:cNvPr>
              <p14:cNvContentPartPr/>
              <p14:nvPr/>
            </p14:nvContentPartPr>
            <p14:xfrm>
              <a:off x="5535720" y="311760"/>
              <a:ext cx="5722560" cy="4798080"/>
            </p14:xfrm>
          </p:contentPart>
        </mc:Choice>
        <mc:Fallback>
          <p:pic>
            <p:nvPicPr>
              <p:cNvPr id="5" name="Ink 4">
                <a:extLst>
                  <a:ext uri="{FF2B5EF4-FFF2-40B4-BE49-F238E27FC236}">
                    <a16:creationId xmlns:a16="http://schemas.microsoft.com/office/drawing/2014/main" id="{04912939-04B1-8899-401A-4D7D3365E2E4}"/>
                  </a:ext>
                </a:extLst>
              </p:cNvPr>
              <p:cNvPicPr/>
              <p:nvPr/>
            </p:nvPicPr>
            <p:blipFill>
              <a:blip r:embed="rId3"/>
              <a:stretch>
                <a:fillRect/>
              </a:stretch>
            </p:blipFill>
            <p:spPr>
              <a:xfrm>
                <a:off x="5519520" y="295560"/>
                <a:ext cx="5754960" cy="48304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10" grpId="0"/>
      <p:bldP spid="11" grpId="0"/>
      <p:bldP spid="12" grpId="0" animBg="1"/>
      <p:bldP spid="13" grpId="0"/>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ltLang="en-US" sz="3600" dirty="0">
                <a:ea typeface="ＭＳ Ｐゴシック" pitchFamily="34" charset="-128"/>
              </a:rPr>
              <a:t>Marginal revenue: Example</a:t>
            </a:r>
          </a:p>
        </p:txBody>
      </p:sp>
      <p:sp>
        <p:nvSpPr>
          <p:cNvPr id="225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7110F96B-0716-4820-AE3B-3FC99DDA000B}" type="slidenum">
              <a:rPr lang="en-US" altLang="en-US" sz="1400">
                <a:latin typeface="Source Sans Pro" panose="020B0503030403020204" pitchFamily="34" charset="0"/>
              </a:rPr>
              <a:pPr eaLnBrk="1" hangingPunct="1"/>
              <a:t>10</a:t>
            </a:fld>
            <a:endParaRPr lang="en-US" altLang="en-US" sz="1400" dirty="0">
              <a:latin typeface="Source Sans Pro" panose="020B0503030403020204" pitchFamily="34" charset="0"/>
            </a:endParaRPr>
          </a:p>
        </p:txBody>
      </p:sp>
      <p:sp>
        <p:nvSpPr>
          <p:cNvPr id="2" name="Rectangle 3">
            <a:extLst>
              <a:ext uri="{FF2B5EF4-FFF2-40B4-BE49-F238E27FC236}">
                <a16:creationId xmlns:a16="http://schemas.microsoft.com/office/drawing/2014/main" id="{25AA2632-B745-8F12-7B58-260B5F3796E2}"/>
              </a:ext>
            </a:extLst>
          </p:cNvPr>
          <p:cNvSpPr txBox="1">
            <a:spLocks noChangeArrowheads="1"/>
          </p:cNvSpPr>
          <p:nvPr/>
        </p:nvSpPr>
        <p:spPr bwMode="auto">
          <a:xfrm>
            <a:off x="1981200" y="1316736"/>
            <a:ext cx="82296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800" kern="0" dirty="0">
                <a:latin typeface="Source Sans Pro" panose="020B0503030403020204" pitchFamily="34" charset="0"/>
                <a:ea typeface="ＭＳ Ｐゴシック" pitchFamily="34" charset="-128"/>
              </a:rPr>
              <a:t>Return to our sample demand curve</a:t>
            </a:r>
          </a:p>
          <a:p>
            <a:pPr eaLnBrk="1" hangingPunct="1">
              <a:buFontTx/>
              <a:buNone/>
            </a:pPr>
            <a:r>
              <a:rPr lang="en-US" altLang="en-US" sz="2800" kern="0" dirty="0">
                <a:latin typeface="Source Sans Pro" panose="020B0503030403020204" pitchFamily="34" charset="0"/>
                <a:ea typeface="ＭＳ Ｐゴシック" pitchFamily="34" charset="-128"/>
              </a:rPr>
              <a:t>			</a:t>
            </a:r>
            <a:r>
              <a:rPr lang="en-US" altLang="en-US" sz="2800" i="1" kern="0" dirty="0">
                <a:latin typeface="Source Sans Pro" panose="020B0503030403020204" pitchFamily="34" charset="0"/>
                <a:ea typeface="ＭＳ Ｐゴシック" pitchFamily="34" charset="-128"/>
              </a:rPr>
              <a:t>P</a:t>
            </a:r>
            <a:r>
              <a:rPr lang="en-US" altLang="en-US" sz="2800" kern="0" dirty="0">
                <a:latin typeface="Source Sans Pro" panose="020B0503030403020204" pitchFamily="34" charset="0"/>
                <a:ea typeface="ＭＳ Ｐゴシック" pitchFamily="34" charset="-128"/>
              </a:rPr>
              <a:t> = 200 – 0.25</a:t>
            </a:r>
            <a:r>
              <a:rPr lang="en-US" altLang="en-US" sz="2800" i="1" kern="0" dirty="0">
                <a:latin typeface="Source Sans Pro" panose="020B0503030403020204" pitchFamily="34" charset="0"/>
                <a:ea typeface="ＭＳ Ｐゴシック" pitchFamily="34" charset="-128"/>
              </a:rPr>
              <a:t>Q</a:t>
            </a:r>
            <a:endParaRPr lang="en-US" altLang="en-US" sz="2800" kern="0" dirty="0">
              <a:latin typeface="Source Sans Pro" panose="020B0503030403020204" pitchFamily="34" charset="0"/>
              <a:ea typeface="ＭＳ Ｐゴシック" pitchFamily="34" charset="-128"/>
            </a:endParaRPr>
          </a:p>
        </p:txBody>
      </p:sp>
      <p:sp>
        <p:nvSpPr>
          <p:cNvPr id="3" name="Rectangle 3">
            <a:extLst>
              <a:ext uri="{FF2B5EF4-FFF2-40B4-BE49-F238E27FC236}">
                <a16:creationId xmlns:a16="http://schemas.microsoft.com/office/drawing/2014/main" id="{1850785B-7822-06C8-1F07-7A0C8E082D16}"/>
              </a:ext>
            </a:extLst>
          </p:cNvPr>
          <p:cNvSpPr txBox="1">
            <a:spLocks noChangeArrowheads="1"/>
          </p:cNvSpPr>
          <p:nvPr/>
        </p:nvSpPr>
        <p:spPr bwMode="auto">
          <a:xfrm>
            <a:off x="1981200" y="2454294"/>
            <a:ext cx="82296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800" b="1" kern="0" dirty="0">
                <a:latin typeface="Source Sans Pro" panose="020B0503030403020204" pitchFamily="34" charset="0"/>
                <a:ea typeface="ＭＳ Ｐゴシック" pitchFamily="34" charset="-128"/>
              </a:rPr>
              <a:t>Revenue </a:t>
            </a:r>
            <a:r>
              <a:rPr lang="en-US" altLang="en-US" sz="2800" kern="0" dirty="0">
                <a:latin typeface="Source Sans Pro" panose="020B0503030403020204" pitchFamily="34" charset="0"/>
                <a:ea typeface="ＭＳ Ｐゴシック" pitchFamily="34" charset="-128"/>
              </a:rPr>
              <a:t>is </a:t>
            </a:r>
          </a:p>
          <a:p>
            <a:pPr eaLnBrk="1" hangingPunct="1">
              <a:buFontTx/>
              <a:buNone/>
            </a:pPr>
            <a:r>
              <a:rPr lang="en-US" altLang="en-US" sz="2800" kern="0" dirty="0">
                <a:latin typeface="Source Sans Pro" panose="020B0503030403020204" pitchFamily="34" charset="0"/>
                <a:ea typeface="ＭＳ Ｐゴシック" pitchFamily="34" charset="-128"/>
              </a:rPr>
              <a:t>			</a:t>
            </a:r>
            <a:r>
              <a:rPr lang="en-US" altLang="en-US" sz="2800" i="1" kern="0" dirty="0">
                <a:latin typeface="Source Sans Pro" panose="020B0503030403020204" pitchFamily="34" charset="0"/>
                <a:ea typeface="ＭＳ Ｐゴシック" pitchFamily="34" charset="-128"/>
              </a:rPr>
              <a:t>P </a:t>
            </a:r>
            <a:r>
              <a:rPr lang="en-US" altLang="en-US" sz="2800" kern="0" dirty="0">
                <a:latin typeface="Source Sans Pro" panose="020B0503030403020204" pitchFamily="34" charset="0"/>
                <a:ea typeface="ＭＳ Ｐゴシック" pitchFamily="34" charset="-128"/>
                <a:sym typeface="Symbol" pitchFamily="18" charset="2"/>
              </a:rPr>
              <a:t>x </a:t>
            </a:r>
            <a:r>
              <a:rPr lang="en-US" altLang="en-US" sz="2800" i="1" kern="0" dirty="0">
                <a:latin typeface="Source Sans Pro" panose="020B0503030403020204" pitchFamily="34" charset="0"/>
                <a:ea typeface="ＭＳ Ｐゴシック" pitchFamily="34" charset="-128"/>
              </a:rPr>
              <a:t>Q</a:t>
            </a:r>
            <a:r>
              <a:rPr lang="en-US" altLang="en-US" sz="2800" kern="0" dirty="0">
                <a:latin typeface="Source Sans Pro" panose="020B0503030403020204" pitchFamily="34" charset="0"/>
                <a:ea typeface="ＭＳ Ｐゴシック" pitchFamily="34" charset="-128"/>
              </a:rPr>
              <a:t> = (200 – 0.25</a:t>
            </a:r>
            <a:r>
              <a:rPr lang="en-US" altLang="en-US" sz="2800" i="1" kern="0" dirty="0">
                <a:latin typeface="Source Sans Pro" panose="020B0503030403020204" pitchFamily="34" charset="0"/>
                <a:ea typeface="ＭＳ Ｐゴシック" pitchFamily="34" charset="-128"/>
              </a:rPr>
              <a:t>Q</a:t>
            </a:r>
            <a:r>
              <a:rPr lang="en-US" altLang="en-US" sz="2800" kern="0" dirty="0">
                <a:latin typeface="Source Sans Pro" panose="020B0503030403020204" pitchFamily="34" charset="0"/>
                <a:ea typeface="ＭＳ Ｐゴシック" pitchFamily="34" charset="-128"/>
              </a:rPr>
              <a:t>) </a:t>
            </a:r>
            <a:r>
              <a:rPr lang="en-US" altLang="en-US" sz="2800" kern="0" dirty="0">
                <a:latin typeface="Source Sans Pro" panose="020B0503030403020204" pitchFamily="34" charset="0"/>
                <a:ea typeface="ＭＳ Ｐゴシック" pitchFamily="34" charset="-128"/>
                <a:sym typeface="Symbol" pitchFamily="18" charset="2"/>
              </a:rPr>
              <a:t>x </a:t>
            </a:r>
            <a:r>
              <a:rPr lang="en-US" altLang="en-US" sz="2800" i="1" kern="0" dirty="0">
                <a:latin typeface="Source Sans Pro" panose="020B0503030403020204" pitchFamily="34" charset="0"/>
                <a:ea typeface="ＭＳ Ｐゴシック" pitchFamily="34" charset="-128"/>
              </a:rPr>
              <a:t>Q</a:t>
            </a:r>
            <a:endParaRPr lang="en-US" altLang="en-US" sz="2800" kern="0" dirty="0">
              <a:latin typeface="Source Sans Pro" panose="020B0503030403020204" pitchFamily="34" charset="0"/>
              <a:ea typeface="ＭＳ Ｐゴシック" pitchFamily="34" charset="-128"/>
            </a:endParaRPr>
          </a:p>
        </p:txBody>
      </p:sp>
      <p:sp>
        <p:nvSpPr>
          <p:cNvPr id="4" name="Rectangle 3">
            <a:extLst>
              <a:ext uri="{FF2B5EF4-FFF2-40B4-BE49-F238E27FC236}">
                <a16:creationId xmlns:a16="http://schemas.microsoft.com/office/drawing/2014/main" id="{1D5E780F-810F-C039-96AE-00D01EFEC7EB}"/>
              </a:ext>
            </a:extLst>
          </p:cNvPr>
          <p:cNvSpPr txBox="1">
            <a:spLocks noChangeArrowheads="1"/>
          </p:cNvSpPr>
          <p:nvPr/>
        </p:nvSpPr>
        <p:spPr bwMode="auto">
          <a:xfrm>
            <a:off x="1981200" y="3591852"/>
            <a:ext cx="8229600"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800" b="1" kern="0" dirty="0">
                <a:latin typeface="Source Sans Pro" panose="020B0503030403020204" pitchFamily="34" charset="0"/>
                <a:ea typeface="ＭＳ Ｐゴシック" pitchFamily="34" charset="-128"/>
              </a:rPr>
              <a:t>Marginal revenue </a:t>
            </a:r>
            <a:r>
              <a:rPr lang="en-US" altLang="en-US" sz="2800" kern="0" dirty="0">
                <a:latin typeface="Source Sans Pro" panose="020B0503030403020204" pitchFamily="34" charset="0"/>
                <a:ea typeface="ＭＳ Ｐゴシック" pitchFamily="34" charset="-128"/>
              </a:rPr>
              <a:t>is</a:t>
            </a:r>
          </a:p>
          <a:p>
            <a:pPr eaLnBrk="1" hangingPunct="1">
              <a:buFontTx/>
              <a:buNone/>
            </a:pPr>
            <a:r>
              <a:rPr lang="en-US" altLang="en-US" sz="2800" kern="0" dirty="0">
                <a:latin typeface="Source Sans Pro" panose="020B0503030403020204" pitchFamily="34" charset="0"/>
                <a:ea typeface="ＭＳ Ｐゴシック" pitchFamily="34" charset="-128"/>
              </a:rPr>
              <a:t>		</a:t>
            </a:r>
            <a:r>
              <a:rPr lang="en-US" altLang="en-US" sz="2800" i="1" kern="0" dirty="0">
                <a:latin typeface="Source Sans Pro" panose="020B0503030403020204" pitchFamily="34" charset="0"/>
                <a:ea typeface="ＭＳ Ｐゴシック" pitchFamily="34" charset="-128"/>
              </a:rPr>
              <a:t>P</a:t>
            </a:r>
            <a:r>
              <a:rPr lang="en-US" altLang="en-US" sz="2800" kern="0" dirty="0">
                <a:latin typeface="Source Sans Pro" panose="020B0503030403020204" pitchFamily="34" charset="0"/>
                <a:ea typeface="ＭＳ Ｐゴシック" pitchFamily="34" charset="-128"/>
              </a:rPr>
              <a:t> + (</a:t>
            </a:r>
            <a:r>
              <a:rPr lang="en-US" altLang="en-US" sz="2800" i="1" kern="0" dirty="0" err="1">
                <a:latin typeface="Source Sans Pro" panose="020B0503030403020204" pitchFamily="34" charset="0"/>
                <a:ea typeface="ＭＳ Ｐゴシック" pitchFamily="34" charset="-128"/>
              </a:rPr>
              <a:t>dP</a:t>
            </a:r>
            <a:r>
              <a:rPr lang="en-US" altLang="en-US" sz="2800" kern="0" dirty="0">
                <a:latin typeface="Source Sans Pro" panose="020B0503030403020204" pitchFamily="34" charset="0"/>
                <a:ea typeface="ＭＳ Ｐゴシック" pitchFamily="34" charset="-128"/>
              </a:rPr>
              <a:t>/</a:t>
            </a:r>
            <a:r>
              <a:rPr lang="en-US" altLang="en-US" sz="2800" i="1" kern="0" dirty="0" err="1">
                <a:latin typeface="Source Sans Pro" panose="020B0503030403020204" pitchFamily="34" charset="0"/>
                <a:ea typeface="ＭＳ Ｐゴシック" pitchFamily="34" charset="-128"/>
              </a:rPr>
              <a:t>dQ</a:t>
            </a:r>
            <a:r>
              <a:rPr lang="en-US" altLang="en-US" sz="2800" kern="0" dirty="0">
                <a:latin typeface="Source Sans Pro" panose="020B0503030403020204" pitchFamily="34" charset="0"/>
                <a:ea typeface="ＭＳ Ｐゴシック" pitchFamily="34" charset="-128"/>
              </a:rPr>
              <a:t>) </a:t>
            </a:r>
            <a:r>
              <a:rPr lang="en-US" altLang="en-US" sz="2800" kern="0" dirty="0">
                <a:latin typeface="Source Sans Pro" panose="020B0503030403020204" pitchFamily="34" charset="0"/>
                <a:ea typeface="ＭＳ Ｐゴシック" pitchFamily="34" charset="-128"/>
                <a:sym typeface="Symbol" pitchFamily="18" charset="2"/>
              </a:rPr>
              <a:t>x </a:t>
            </a:r>
            <a:r>
              <a:rPr lang="en-US" altLang="en-US" sz="2800" i="1" kern="0" dirty="0">
                <a:latin typeface="Source Sans Pro" panose="020B0503030403020204" pitchFamily="34" charset="0"/>
                <a:ea typeface="ＭＳ Ｐゴシック" pitchFamily="34" charset="-128"/>
              </a:rPr>
              <a:t>Q</a:t>
            </a:r>
            <a:r>
              <a:rPr lang="en-US" altLang="en-US" sz="2800" kern="0" dirty="0">
                <a:latin typeface="Source Sans Pro" panose="020B0503030403020204" pitchFamily="34" charset="0"/>
                <a:ea typeface="ＭＳ Ｐゴシック" pitchFamily="34" charset="-128"/>
              </a:rPr>
              <a:t>	=  (200 – 0.25</a:t>
            </a:r>
            <a:r>
              <a:rPr lang="en-US" altLang="en-US" sz="2800" i="1" kern="0" dirty="0">
                <a:latin typeface="Source Sans Pro" panose="020B0503030403020204" pitchFamily="34" charset="0"/>
                <a:ea typeface="ＭＳ Ｐゴシック" pitchFamily="34" charset="-128"/>
              </a:rPr>
              <a:t>Q</a:t>
            </a:r>
            <a:r>
              <a:rPr lang="en-US" altLang="en-US" sz="2800" kern="0" dirty="0">
                <a:latin typeface="Source Sans Pro" panose="020B0503030403020204" pitchFamily="34" charset="0"/>
                <a:ea typeface="ＭＳ Ｐゴシック" pitchFamily="34" charset="-128"/>
              </a:rPr>
              <a:t>) – (0.25) x </a:t>
            </a:r>
            <a:r>
              <a:rPr lang="en-US" altLang="en-US" sz="2800" i="1" kern="0" dirty="0">
                <a:latin typeface="Source Sans Pro" panose="020B0503030403020204" pitchFamily="34" charset="0"/>
                <a:ea typeface="ＭＳ Ｐゴシック" pitchFamily="34" charset="-128"/>
              </a:rPr>
              <a:t>Q</a:t>
            </a:r>
          </a:p>
          <a:p>
            <a:pPr eaLnBrk="1" hangingPunct="1">
              <a:buFontTx/>
              <a:buNone/>
            </a:pPr>
            <a:r>
              <a:rPr lang="en-US" altLang="en-US" sz="2800" kern="0" dirty="0">
                <a:latin typeface="Source Sans Pro" panose="020B0503030403020204" pitchFamily="34" charset="0"/>
                <a:ea typeface="ＭＳ Ｐゴシック" pitchFamily="34" charset="-128"/>
              </a:rPr>
              <a:t>					=  200 – 0.5</a:t>
            </a:r>
            <a:r>
              <a:rPr lang="en-US" altLang="en-US" sz="2800" i="1" kern="0" dirty="0">
                <a:latin typeface="Source Sans Pro" panose="020B0503030403020204" pitchFamily="34" charset="0"/>
                <a:ea typeface="ＭＳ Ｐゴシック" pitchFamily="34" charset="-128"/>
              </a:rPr>
              <a:t>Q</a:t>
            </a:r>
          </a:p>
        </p:txBody>
      </p:sp>
      <p:sp>
        <p:nvSpPr>
          <p:cNvPr id="5" name="Rounded Rectangular Callout 4">
            <a:extLst>
              <a:ext uri="{FF2B5EF4-FFF2-40B4-BE49-F238E27FC236}">
                <a16:creationId xmlns:a16="http://schemas.microsoft.com/office/drawing/2014/main" id="{11064941-F12B-9A53-0E99-4556D2784B17}"/>
              </a:ext>
            </a:extLst>
          </p:cNvPr>
          <p:cNvSpPr/>
          <p:nvPr/>
        </p:nvSpPr>
        <p:spPr>
          <a:xfrm>
            <a:off x="2639291" y="5402954"/>
            <a:ext cx="4330845" cy="1340745"/>
          </a:xfrm>
          <a:prstGeom prst="wedgeRoundRectCallout">
            <a:avLst>
              <a:gd name="adj1" fmla="val 49517"/>
              <a:gd name="adj2" fmla="val -65321"/>
              <a:gd name="adj3" fmla="val 16667"/>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0"/>
              </a:spcBef>
              <a:spcAft>
                <a:spcPts val="1200"/>
              </a:spcAft>
            </a:pPr>
            <a:r>
              <a:rPr lang="en-US" altLang="en-US" sz="2800" dirty="0">
                <a:solidFill>
                  <a:schemeClr val="bg1"/>
                </a:solidFill>
                <a:latin typeface="Source Sans Pro" panose="020B0503030403020204" pitchFamily="34" charset="0"/>
                <a:ea typeface="ＭＳ Ｐゴシック" pitchFamily="34" charset="-128"/>
              </a:rPr>
              <a:t>Multiply the coefficient in front of Q by 2 (for linear demand curves)</a:t>
            </a: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2F53F5C6-F245-187F-64A2-ED6433E7E317}"/>
                  </a:ext>
                </a:extLst>
              </p14:cNvPr>
              <p14:cNvContentPartPr/>
              <p14:nvPr/>
            </p14:nvContentPartPr>
            <p14:xfrm>
              <a:off x="3557160" y="859680"/>
              <a:ext cx="6163200" cy="5545440"/>
            </p14:xfrm>
          </p:contentPart>
        </mc:Choice>
        <mc:Fallback>
          <p:pic>
            <p:nvPicPr>
              <p:cNvPr id="6" name="Ink 5">
                <a:extLst>
                  <a:ext uri="{FF2B5EF4-FFF2-40B4-BE49-F238E27FC236}">
                    <a16:creationId xmlns:a16="http://schemas.microsoft.com/office/drawing/2014/main" id="{2F53F5C6-F245-187F-64A2-ED6433E7E317}"/>
                  </a:ext>
                </a:extLst>
              </p:cNvPr>
              <p:cNvPicPr/>
              <p:nvPr/>
            </p:nvPicPr>
            <p:blipFill>
              <a:blip r:embed="rId3"/>
              <a:stretch>
                <a:fillRect/>
              </a:stretch>
            </p:blipFill>
            <p:spPr>
              <a:xfrm>
                <a:off x="3540960" y="843480"/>
                <a:ext cx="6195600" cy="55778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altLang="en-US" sz="3600" dirty="0">
                <a:ea typeface="ＭＳ Ｐゴシック" pitchFamily="34" charset="-128"/>
              </a:rPr>
              <a:t>MR and revenue maximization</a:t>
            </a:r>
          </a:p>
        </p:txBody>
      </p:sp>
      <p:sp>
        <p:nvSpPr>
          <p:cNvPr id="235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43C7607-E7EA-4C39-9675-AA7936B3E0F8}" type="slidenum">
              <a:rPr lang="en-US" altLang="en-US" sz="1400">
                <a:latin typeface="Source Sans Pro" panose="020B0503030403020204" pitchFamily="34" charset="0"/>
              </a:rPr>
              <a:pPr eaLnBrk="1" hangingPunct="1"/>
              <a:t>11</a:t>
            </a:fld>
            <a:endParaRPr lang="en-US" altLang="en-US" sz="1400" dirty="0">
              <a:latin typeface="Source Sans Pro" panose="020B0503030403020204" pitchFamily="34" charset="0"/>
            </a:endParaRPr>
          </a:p>
        </p:txBody>
      </p:sp>
      <p:grpSp>
        <p:nvGrpSpPr>
          <p:cNvPr id="3" name="Group 2">
            <a:extLst>
              <a:ext uri="{FF2B5EF4-FFF2-40B4-BE49-F238E27FC236}">
                <a16:creationId xmlns:a16="http://schemas.microsoft.com/office/drawing/2014/main" id="{F54DA048-FCA4-8D7A-77A4-62B962232A7B}"/>
              </a:ext>
            </a:extLst>
          </p:cNvPr>
          <p:cNvGrpSpPr/>
          <p:nvPr/>
        </p:nvGrpSpPr>
        <p:grpSpPr>
          <a:xfrm>
            <a:off x="2297113" y="1813154"/>
            <a:ext cx="3594100" cy="3206750"/>
            <a:chOff x="773113" y="2168525"/>
            <a:chExt cx="3594100" cy="3206750"/>
          </a:xfrm>
        </p:grpSpPr>
        <p:sp>
          <p:nvSpPr>
            <p:cNvPr id="4" name="Line 4">
              <a:extLst>
                <a:ext uri="{FF2B5EF4-FFF2-40B4-BE49-F238E27FC236}">
                  <a16:creationId xmlns:a16="http://schemas.microsoft.com/office/drawing/2014/main" id="{EA2CCA65-5582-7E1C-51ED-D0BD440913C8}"/>
                </a:ext>
              </a:extLst>
            </p:cNvPr>
            <p:cNvSpPr>
              <a:spLocks noChangeShapeType="1"/>
            </p:cNvSpPr>
            <p:nvPr/>
          </p:nvSpPr>
          <p:spPr bwMode="auto">
            <a:xfrm>
              <a:off x="1096963" y="2463800"/>
              <a:ext cx="0" cy="2562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8" name="Line 5">
              <a:extLst>
                <a:ext uri="{FF2B5EF4-FFF2-40B4-BE49-F238E27FC236}">
                  <a16:creationId xmlns:a16="http://schemas.microsoft.com/office/drawing/2014/main" id="{1FAD67A1-E9BB-170A-F123-F3A5D6A680BD}"/>
                </a:ext>
              </a:extLst>
            </p:cNvPr>
            <p:cNvSpPr>
              <a:spLocks noChangeShapeType="1"/>
            </p:cNvSpPr>
            <p:nvPr/>
          </p:nvSpPr>
          <p:spPr bwMode="auto">
            <a:xfrm>
              <a:off x="1103313" y="5022850"/>
              <a:ext cx="29178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9" name="Line 6">
              <a:extLst>
                <a:ext uri="{FF2B5EF4-FFF2-40B4-BE49-F238E27FC236}">
                  <a16:creationId xmlns:a16="http://schemas.microsoft.com/office/drawing/2014/main" id="{619AFE7A-AAAB-EEDE-03C1-891C4A149910}"/>
                </a:ext>
              </a:extLst>
            </p:cNvPr>
            <p:cNvSpPr>
              <a:spLocks noChangeShapeType="1"/>
            </p:cNvSpPr>
            <p:nvPr/>
          </p:nvSpPr>
          <p:spPr bwMode="auto">
            <a:xfrm>
              <a:off x="1112838" y="2892425"/>
              <a:ext cx="2555875" cy="21177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10" name="Text Box 7">
              <a:extLst>
                <a:ext uri="{FF2B5EF4-FFF2-40B4-BE49-F238E27FC236}">
                  <a16:creationId xmlns:a16="http://schemas.microsoft.com/office/drawing/2014/main" id="{42408BAB-382D-C02E-2C5B-759413A5EFF0}"/>
                </a:ext>
              </a:extLst>
            </p:cNvPr>
            <p:cNvSpPr txBox="1">
              <a:spLocks noChangeArrowheads="1"/>
            </p:cNvSpPr>
            <p:nvPr/>
          </p:nvSpPr>
          <p:spPr bwMode="auto">
            <a:xfrm>
              <a:off x="3943350" y="4837113"/>
              <a:ext cx="4238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i="1"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11" name="Text Box 8">
              <a:extLst>
                <a:ext uri="{FF2B5EF4-FFF2-40B4-BE49-F238E27FC236}">
                  <a16:creationId xmlns:a16="http://schemas.microsoft.com/office/drawing/2014/main" id="{05306289-98C5-43F8-7CCF-741CA85947A2}"/>
                </a:ext>
              </a:extLst>
            </p:cNvPr>
            <p:cNvSpPr txBox="1">
              <a:spLocks noChangeArrowheads="1"/>
            </p:cNvSpPr>
            <p:nvPr/>
          </p:nvSpPr>
          <p:spPr bwMode="auto">
            <a:xfrm>
              <a:off x="3411764" y="4410075"/>
              <a:ext cx="4095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D</a:t>
              </a:r>
              <a:endParaRPr lang="en-US" altLang="en-US" dirty="0">
                <a:latin typeface="Source Sans Pro" panose="020B0503030403020204" pitchFamily="34" charset="0"/>
              </a:endParaRPr>
            </a:p>
          </p:txBody>
        </p:sp>
        <p:sp>
          <p:nvSpPr>
            <p:cNvPr id="12" name="Text Box 9">
              <a:extLst>
                <a:ext uri="{FF2B5EF4-FFF2-40B4-BE49-F238E27FC236}">
                  <a16:creationId xmlns:a16="http://schemas.microsoft.com/office/drawing/2014/main" id="{F4811E16-D35A-6BD5-B8F8-9639E7FEF386}"/>
                </a:ext>
              </a:extLst>
            </p:cNvPr>
            <p:cNvSpPr txBox="1">
              <a:spLocks noChangeArrowheads="1"/>
            </p:cNvSpPr>
            <p:nvPr/>
          </p:nvSpPr>
          <p:spPr bwMode="auto">
            <a:xfrm>
              <a:off x="773113" y="2168525"/>
              <a:ext cx="3714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i="1" dirty="0">
                  <a:latin typeface="Source Sans Pro" panose="020B0503030403020204" pitchFamily="34" charset="0"/>
                  <a:ea typeface="SimSun" pitchFamily="2" charset="-122"/>
                </a:rPr>
                <a:t>P</a:t>
              </a:r>
              <a:endParaRPr lang="en-US" altLang="en-US" dirty="0">
                <a:latin typeface="Source Sans Pro" panose="020B0503030403020204" pitchFamily="34" charset="0"/>
              </a:endParaRPr>
            </a:p>
          </p:txBody>
        </p:sp>
        <p:sp>
          <p:nvSpPr>
            <p:cNvPr id="13" name="Rectangle 19">
              <a:extLst>
                <a:ext uri="{FF2B5EF4-FFF2-40B4-BE49-F238E27FC236}">
                  <a16:creationId xmlns:a16="http://schemas.microsoft.com/office/drawing/2014/main" id="{C37F795D-FC34-84C2-A0A4-7F99E3A17AC8}"/>
                </a:ext>
              </a:extLst>
            </p:cNvPr>
            <p:cNvSpPr>
              <a:spLocks noChangeArrowheads="1"/>
            </p:cNvSpPr>
            <p:nvPr/>
          </p:nvSpPr>
          <p:spPr bwMode="auto">
            <a:xfrm>
              <a:off x="1112838" y="3448050"/>
              <a:ext cx="639762" cy="1563688"/>
            </a:xfrm>
            <a:prstGeom prst="rect">
              <a:avLst/>
            </a:prstGeom>
            <a:solidFill>
              <a:srgbClr val="67C8C7"/>
            </a:solidFill>
            <a:ln w="9525">
              <a:solidFill>
                <a:srgbClr val="67C8C7"/>
              </a:solidFill>
              <a:miter lim="800000"/>
              <a:headEnd/>
              <a:tailEnd/>
            </a:ln>
          </p:spPr>
          <p:txBody>
            <a:bodyPr wrap="none"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en-US" dirty="0">
                  <a:solidFill>
                    <a:schemeClr val="bg1"/>
                  </a:solidFill>
                  <a:latin typeface="Source Sans Pro" panose="020B0503030403020204" pitchFamily="34" charset="0"/>
                </a:rPr>
                <a:t>R</a:t>
              </a:r>
              <a:r>
                <a:rPr lang="en-US" altLang="en-US" baseline="-25000" dirty="0">
                  <a:solidFill>
                    <a:schemeClr val="bg1"/>
                  </a:solidFill>
                  <a:latin typeface="Source Sans Pro" panose="020B0503030403020204" pitchFamily="34" charset="0"/>
                </a:rPr>
                <a:t>1</a:t>
              </a:r>
            </a:p>
          </p:txBody>
        </p:sp>
        <p:sp>
          <p:nvSpPr>
            <p:cNvPr id="14" name="Text Box 21">
              <a:extLst>
                <a:ext uri="{FF2B5EF4-FFF2-40B4-BE49-F238E27FC236}">
                  <a16:creationId xmlns:a16="http://schemas.microsoft.com/office/drawing/2014/main" id="{39F9CC88-5150-EF93-5C79-04BF3EABAC6E}"/>
                </a:ext>
              </a:extLst>
            </p:cNvPr>
            <p:cNvSpPr txBox="1">
              <a:spLocks noChangeArrowheads="1"/>
            </p:cNvSpPr>
            <p:nvPr/>
          </p:nvSpPr>
          <p:spPr bwMode="auto">
            <a:xfrm>
              <a:off x="1566863" y="4994275"/>
              <a:ext cx="5445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Q</a:t>
              </a:r>
              <a:r>
                <a:rPr lang="en-US" altLang="zh-CN" baseline="-25000" dirty="0">
                  <a:latin typeface="Source Sans Pro" panose="020B0503030403020204" pitchFamily="34" charset="0"/>
                  <a:ea typeface="SimSun" pitchFamily="2" charset="-122"/>
                </a:rPr>
                <a:t>1</a:t>
              </a:r>
              <a:endParaRPr lang="en-US" altLang="en-US" dirty="0">
                <a:latin typeface="Source Sans Pro" panose="020B0503030403020204" pitchFamily="34" charset="0"/>
              </a:endParaRPr>
            </a:p>
          </p:txBody>
        </p:sp>
      </p:grpSp>
      <p:grpSp>
        <p:nvGrpSpPr>
          <p:cNvPr id="15" name="Group 14">
            <a:extLst>
              <a:ext uri="{FF2B5EF4-FFF2-40B4-BE49-F238E27FC236}">
                <a16:creationId xmlns:a16="http://schemas.microsoft.com/office/drawing/2014/main" id="{866AD180-4BB4-A0CB-C3AC-98A286AC61A9}"/>
              </a:ext>
            </a:extLst>
          </p:cNvPr>
          <p:cNvGrpSpPr/>
          <p:nvPr/>
        </p:nvGrpSpPr>
        <p:grpSpPr>
          <a:xfrm>
            <a:off x="5969000" y="1948092"/>
            <a:ext cx="3843338" cy="3084512"/>
            <a:chOff x="4445000" y="2303463"/>
            <a:chExt cx="3843338" cy="3084512"/>
          </a:xfrm>
        </p:grpSpPr>
        <p:sp>
          <p:nvSpPr>
            <p:cNvPr id="16" name="Line 10">
              <a:extLst>
                <a:ext uri="{FF2B5EF4-FFF2-40B4-BE49-F238E27FC236}">
                  <a16:creationId xmlns:a16="http://schemas.microsoft.com/office/drawing/2014/main" id="{CCE4FF59-A1A3-0362-724B-8ED6AC97C6EB}"/>
                </a:ext>
              </a:extLst>
            </p:cNvPr>
            <p:cNvSpPr>
              <a:spLocks noChangeShapeType="1"/>
            </p:cNvSpPr>
            <p:nvPr/>
          </p:nvSpPr>
          <p:spPr bwMode="auto">
            <a:xfrm>
              <a:off x="4911725" y="2474913"/>
              <a:ext cx="0" cy="2562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17" name="Line 11">
              <a:extLst>
                <a:ext uri="{FF2B5EF4-FFF2-40B4-BE49-F238E27FC236}">
                  <a16:creationId xmlns:a16="http://schemas.microsoft.com/office/drawing/2014/main" id="{79570922-3589-5ADD-960A-5E196E88D795}"/>
                </a:ext>
              </a:extLst>
            </p:cNvPr>
            <p:cNvSpPr>
              <a:spLocks noChangeShapeType="1"/>
            </p:cNvSpPr>
            <p:nvPr/>
          </p:nvSpPr>
          <p:spPr bwMode="auto">
            <a:xfrm>
              <a:off x="4916488" y="5032375"/>
              <a:ext cx="29178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18" name="Text Box 12">
              <a:extLst>
                <a:ext uri="{FF2B5EF4-FFF2-40B4-BE49-F238E27FC236}">
                  <a16:creationId xmlns:a16="http://schemas.microsoft.com/office/drawing/2014/main" id="{F9659C22-048A-15A9-7042-C6038A18AB50}"/>
                </a:ext>
              </a:extLst>
            </p:cNvPr>
            <p:cNvSpPr txBox="1">
              <a:spLocks noChangeArrowheads="1"/>
            </p:cNvSpPr>
            <p:nvPr/>
          </p:nvSpPr>
          <p:spPr bwMode="auto">
            <a:xfrm>
              <a:off x="7773988" y="4883150"/>
              <a:ext cx="5143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i="1"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19" name="Text Box 13">
              <a:extLst>
                <a:ext uri="{FF2B5EF4-FFF2-40B4-BE49-F238E27FC236}">
                  <a16:creationId xmlns:a16="http://schemas.microsoft.com/office/drawing/2014/main" id="{293977FB-49F6-E6FC-9DD4-D14B7E500365}"/>
                </a:ext>
              </a:extLst>
            </p:cNvPr>
            <p:cNvSpPr txBox="1">
              <a:spLocks noChangeArrowheads="1"/>
            </p:cNvSpPr>
            <p:nvPr/>
          </p:nvSpPr>
          <p:spPr bwMode="auto">
            <a:xfrm>
              <a:off x="4445000" y="2303463"/>
              <a:ext cx="41891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a:t>
              </a:r>
              <a:endParaRPr lang="en-US" altLang="en-US" dirty="0">
                <a:latin typeface="Source Sans Pro" panose="020B0503030403020204" pitchFamily="34" charset="0"/>
              </a:endParaRPr>
            </a:p>
          </p:txBody>
        </p:sp>
        <p:sp>
          <p:nvSpPr>
            <p:cNvPr id="20" name="Arc 14">
              <a:extLst>
                <a:ext uri="{FF2B5EF4-FFF2-40B4-BE49-F238E27FC236}">
                  <a16:creationId xmlns:a16="http://schemas.microsoft.com/office/drawing/2014/main" id="{5BC3A2E8-26A9-DA55-409A-1658D0752E17}"/>
                </a:ext>
              </a:extLst>
            </p:cNvPr>
            <p:cNvSpPr>
              <a:spLocks/>
            </p:cNvSpPr>
            <p:nvPr/>
          </p:nvSpPr>
          <p:spPr bwMode="auto">
            <a:xfrm rot="-5400000">
              <a:off x="5170488" y="2879725"/>
              <a:ext cx="2152650" cy="2654300"/>
            </a:xfrm>
            <a:custGeom>
              <a:avLst/>
              <a:gdLst>
                <a:gd name="T0" fmla="*/ 2147483647 w 21600"/>
                <a:gd name="T1" fmla="*/ 0 h 42885"/>
                <a:gd name="T2" fmla="*/ 2147483647 w 21600"/>
                <a:gd name="T3" fmla="*/ 2147483647 h 42885"/>
                <a:gd name="T4" fmla="*/ 0 w 21600"/>
                <a:gd name="T5" fmla="*/ 2147483647 h 42885"/>
                <a:gd name="T6" fmla="*/ 0 60000 65536"/>
                <a:gd name="T7" fmla="*/ 0 60000 65536"/>
                <a:gd name="T8" fmla="*/ 0 60000 65536"/>
                <a:gd name="T9" fmla="*/ 0 w 21600"/>
                <a:gd name="T10" fmla="*/ 0 h 42885"/>
                <a:gd name="T11" fmla="*/ 21600 w 21600"/>
                <a:gd name="T12" fmla="*/ 42885 h 42885"/>
              </a:gdLst>
              <a:ahLst/>
              <a:cxnLst>
                <a:cxn ang="T6">
                  <a:pos x="T0" y="T1"/>
                </a:cxn>
                <a:cxn ang="T7">
                  <a:pos x="T2" y="T3"/>
                </a:cxn>
                <a:cxn ang="T8">
                  <a:pos x="T4" y="T5"/>
                </a:cxn>
              </a:cxnLst>
              <a:rect l="T9" t="T10" r="T11" b="T12"/>
              <a:pathLst>
                <a:path w="21600" h="42885" fill="none" extrusionOk="0">
                  <a:moveTo>
                    <a:pt x="2674" y="0"/>
                  </a:moveTo>
                  <a:cubicBezTo>
                    <a:pt x="13486" y="1349"/>
                    <a:pt x="21600" y="10539"/>
                    <a:pt x="21600" y="21434"/>
                  </a:cubicBezTo>
                  <a:cubicBezTo>
                    <a:pt x="21600" y="32384"/>
                    <a:pt x="13405" y="41602"/>
                    <a:pt x="2531" y="42885"/>
                  </a:cubicBezTo>
                </a:path>
                <a:path w="21600" h="42885" stroke="0" extrusionOk="0">
                  <a:moveTo>
                    <a:pt x="2674" y="0"/>
                  </a:moveTo>
                  <a:cubicBezTo>
                    <a:pt x="13486" y="1349"/>
                    <a:pt x="21600" y="10539"/>
                    <a:pt x="21600" y="21434"/>
                  </a:cubicBezTo>
                  <a:cubicBezTo>
                    <a:pt x="21600" y="32384"/>
                    <a:pt x="13405" y="41602"/>
                    <a:pt x="2531" y="42885"/>
                  </a:cubicBezTo>
                  <a:lnTo>
                    <a:pt x="0" y="21434"/>
                  </a:lnTo>
                  <a:lnTo>
                    <a:pt x="2674"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400" dirty="0">
                <a:latin typeface="Source Sans Pro" panose="020B0503030403020204" pitchFamily="34" charset="0"/>
              </a:endParaRPr>
            </a:p>
          </p:txBody>
        </p:sp>
        <p:sp>
          <p:nvSpPr>
            <p:cNvPr id="21" name="Text Box 15">
              <a:extLst>
                <a:ext uri="{FF2B5EF4-FFF2-40B4-BE49-F238E27FC236}">
                  <a16:creationId xmlns:a16="http://schemas.microsoft.com/office/drawing/2014/main" id="{9BD9E649-0827-38AC-BB08-EBC818642178}"/>
                </a:ext>
              </a:extLst>
            </p:cNvPr>
            <p:cNvSpPr txBox="1">
              <a:spLocks noChangeArrowheads="1"/>
            </p:cNvSpPr>
            <p:nvPr/>
          </p:nvSpPr>
          <p:spPr bwMode="auto">
            <a:xfrm>
              <a:off x="7491413" y="4138613"/>
              <a:ext cx="6953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R</a:t>
              </a:r>
              <a:endParaRPr lang="en-US" altLang="en-US" dirty="0">
                <a:latin typeface="Source Sans Pro" panose="020B0503030403020204" pitchFamily="34" charset="0"/>
              </a:endParaRPr>
            </a:p>
          </p:txBody>
        </p:sp>
        <p:sp>
          <p:nvSpPr>
            <p:cNvPr id="22" name="Text Box 16">
              <a:extLst>
                <a:ext uri="{FF2B5EF4-FFF2-40B4-BE49-F238E27FC236}">
                  <a16:creationId xmlns:a16="http://schemas.microsoft.com/office/drawing/2014/main" id="{CD8CA930-3D61-A281-3C4F-9AA4DF697D20}"/>
                </a:ext>
              </a:extLst>
            </p:cNvPr>
            <p:cNvSpPr txBox="1">
              <a:spLocks noChangeArrowheads="1"/>
            </p:cNvSpPr>
            <p:nvPr/>
          </p:nvSpPr>
          <p:spPr bwMode="auto">
            <a:xfrm>
              <a:off x="6697663" y="2392363"/>
              <a:ext cx="1155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spcBef>
                  <a:spcPct val="50000"/>
                </a:spcBef>
              </a:pPr>
              <a:r>
                <a:rPr lang="en-US" altLang="en-US" dirty="0">
                  <a:latin typeface="Source Sans Pro" panose="020B0503030403020204" pitchFamily="34" charset="0"/>
                </a:rPr>
                <a:t>MR = 0</a:t>
              </a:r>
            </a:p>
          </p:txBody>
        </p:sp>
        <p:sp>
          <p:nvSpPr>
            <p:cNvPr id="23" name="Line 17">
              <a:extLst>
                <a:ext uri="{FF2B5EF4-FFF2-40B4-BE49-F238E27FC236}">
                  <a16:creationId xmlns:a16="http://schemas.microsoft.com/office/drawing/2014/main" id="{32BAC8C9-4D5B-E165-5363-2C13F88225B6}"/>
                </a:ext>
              </a:extLst>
            </p:cNvPr>
            <p:cNvSpPr>
              <a:spLocks noChangeShapeType="1"/>
            </p:cNvSpPr>
            <p:nvPr/>
          </p:nvSpPr>
          <p:spPr bwMode="auto">
            <a:xfrm flipH="1">
              <a:off x="6276975" y="2655888"/>
              <a:ext cx="585788" cy="4286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24" name="Text Box 22">
              <a:extLst>
                <a:ext uri="{FF2B5EF4-FFF2-40B4-BE49-F238E27FC236}">
                  <a16:creationId xmlns:a16="http://schemas.microsoft.com/office/drawing/2014/main" id="{30AC6D75-ECB7-447D-C434-11BB934711B3}"/>
                </a:ext>
              </a:extLst>
            </p:cNvPr>
            <p:cNvSpPr txBox="1">
              <a:spLocks noChangeArrowheads="1"/>
            </p:cNvSpPr>
            <p:nvPr/>
          </p:nvSpPr>
          <p:spPr bwMode="auto">
            <a:xfrm>
              <a:off x="5405438" y="5006975"/>
              <a:ext cx="5445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Q</a:t>
              </a:r>
              <a:r>
                <a:rPr lang="en-US" altLang="zh-CN" baseline="-25000" dirty="0">
                  <a:latin typeface="Source Sans Pro" panose="020B0503030403020204" pitchFamily="34" charset="0"/>
                  <a:ea typeface="SimSun" pitchFamily="2" charset="-122"/>
                </a:rPr>
                <a:t>1</a:t>
              </a:r>
              <a:endParaRPr lang="en-US" altLang="en-US" dirty="0">
                <a:latin typeface="Source Sans Pro" panose="020B0503030403020204" pitchFamily="34" charset="0"/>
              </a:endParaRPr>
            </a:p>
          </p:txBody>
        </p:sp>
        <p:sp>
          <p:nvSpPr>
            <p:cNvPr id="25" name="Line 23">
              <a:extLst>
                <a:ext uri="{FF2B5EF4-FFF2-40B4-BE49-F238E27FC236}">
                  <a16:creationId xmlns:a16="http://schemas.microsoft.com/office/drawing/2014/main" id="{1243B497-BF42-ECCE-4D32-3C618E5BC21F}"/>
                </a:ext>
              </a:extLst>
            </p:cNvPr>
            <p:cNvSpPr>
              <a:spLocks noChangeShapeType="1"/>
            </p:cNvSpPr>
            <p:nvPr/>
          </p:nvSpPr>
          <p:spPr bwMode="auto">
            <a:xfrm>
              <a:off x="5553075" y="3490913"/>
              <a:ext cx="0" cy="153193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26" name="Text Box 24">
              <a:extLst>
                <a:ext uri="{FF2B5EF4-FFF2-40B4-BE49-F238E27FC236}">
                  <a16:creationId xmlns:a16="http://schemas.microsoft.com/office/drawing/2014/main" id="{7F4864D7-CEE0-6135-74D3-89958EB72858}"/>
                </a:ext>
              </a:extLst>
            </p:cNvPr>
            <p:cNvSpPr txBox="1">
              <a:spLocks noChangeArrowheads="1"/>
            </p:cNvSpPr>
            <p:nvPr/>
          </p:nvSpPr>
          <p:spPr bwMode="auto">
            <a:xfrm>
              <a:off x="4445000" y="3335338"/>
              <a:ext cx="4857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R</a:t>
              </a:r>
              <a:r>
                <a:rPr lang="en-US" altLang="zh-CN" baseline="-25000" dirty="0">
                  <a:latin typeface="Source Sans Pro" panose="020B0503030403020204" pitchFamily="34" charset="0"/>
                  <a:ea typeface="SimSun" pitchFamily="2" charset="-122"/>
                </a:rPr>
                <a:t>1</a:t>
              </a:r>
              <a:endParaRPr lang="en-US" altLang="en-US" dirty="0">
                <a:latin typeface="Source Sans Pro" panose="020B0503030403020204" pitchFamily="34" charset="0"/>
              </a:endParaRPr>
            </a:p>
          </p:txBody>
        </p:sp>
        <p:sp>
          <p:nvSpPr>
            <p:cNvPr id="27" name="Line 25">
              <a:extLst>
                <a:ext uri="{FF2B5EF4-FFF2-40B4-BE49-F238E27FC236}">
                  <a16:creationId xmlns:a16="http://schemas.microsoft.com/office/drawing/2014/main" id="{8154AD82-76E9-897F-23A7-2E2A3A6605B6}"/>
                </a:ext>
              </a:extLst>
            </p:cNvPr>
            <p:cNvSpPr>
              <a:spLocks noChangeShapeType="1"/>
            </p:cNvSpPr>
            <p:nvPr/>
          </p:nvSpPr>
          <p:spPr bwMode="auto">
            <a:xfrm>
              <a:off x="4902200" y="3444875"/>
              <a:ext cx="65087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grpSp>
      <p:grpSp>
        <p:nvGrpSpPr>
          <p:cNvPr id="31" name="Group 30">
            <a:extLst>
              <a:ext uri="{FF2B5EF4-FFF2-40B4-BE49-F238E27FC236}">
                <a16:creationId xmlns:a16="http://schemas.microsoft.com/office/drawing/2014/main" id="{69EC11D8-3339-D9F2-8D84-1B4359C79378}"/>
              </a:ext>
            </a:extLst>
          </p:cNvPr>
          <p:cNvGrpSpPr/>
          <p:nvPr/>
        </p:nvGrpSpPr>
        <p:grpSpPr>
          <a:xfrm>
            <a:off x="1932709" y="5285973"/>
            <a:ext cx="8212777" cy="1193303"/>
            <a:chOff x="773112" y="5425212"/>
            <a:chExt cx="7848374" cy="1193303"/>
          </a:xfrm>
        </p:grpSpPr>
        <p:grpSp>
          <p:nvGrpSpPr>
            <p:cNvPr id="32" name="Group 31">
              <a:extLst>
                <a:ext uri="{FF2B5EF4-FFF2-40B4-BE49-F238E27FC236}">
                  <a16:creationId xmlns:a16="http://schemas.microsoft.com/office/drawing/2014/main" id="{153D11CD-CF24-4BD4-A03F-B0DE9BDDD19C}"/>
                </a:ext>
              </a:extLst>
            </p:cNvPr>
            <p:cNvGrpSpPr/>
            <p:nvPr/>
          </p:nvGrpSpPr>
          <p:grpSpPr>
            <a:xfrm>
              <a:off x="773113" y="5425212"/>
              <a:ext cx="7848373" cy="1193303"/>
              <a:chOff x="773113" y="5425212"/>
              <a:chExt cx="7848373" cy="1193303"/>
            </a:xfrm>
          </p:grpSpPr>
          <p:sp>
            <p:nvSpPr>
              <p:cNvPr id="34" name="Rounded Rectangle 33">
                <a:extLst>
                  <a:ext uri="{FF2B5EF4-FFF2-40B4-BE49-F238E27FC236}">
                    <a16:creationId xmlns:a16="http://schemas.microsoft.com/office/drawing/2014/main" id="{79B830CF-DDAB-5B4D-394C-11FA380AD250}"/>
                  </a:ext>
                </a:extLst>
              </p:cNvPr>
              <p:cNvSpPr/>
              <p:nvPr/>
            </p:nvSpPr>
            <p:spPr>
              <a:xfrm>
                <a:off x="773113" y="5636621"/>
                <a:ext cx="7848373" cy="758547"/>
              </a:xfrm>
              <a:prstGeom prst="roundRect">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sp>
            <p:nvSpPr>
              <p:cNvPr id="35" name="Oval 34">
                <a:extLst>
                  <a:ext uri="{FF2B5EF4-FFF2-40B4-BE49-F238E27FC236}">
                    <a16:creationId xmlns:a16="http://schemas.microsoft.com/office/drawing/2014/main" id="{5E3C60D8-C821-9AA6-F4D1-267A8E49BA5E}"/>
                  </a:ext>
                </a:extLst>
              </p:cNvPr>
              <p:cNvSpPr/>
              <p:nvPr/>
            </p:nvSpPr>
            <p:spPr>
              <a:xfrm>
                <a:off x="773113" y="5425212"/>
                <a:ext cx="7848373" cy="568911"/>
              </a:xfrm>
              <a:prstGeom prst="ellipse">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sp>
            <p:nvSpPr>
              <p:cNvPr id="36" name="Oval 35">
                <a:extLst>
                  <a:ext uri="{FF2B5EF4-FFF2-40B4-BE49-F238E27FC236}">
                    <a16:creationId xmlns:a16="http://schemas.microsoft.com/office/drawing/2014/main" id="{A2843800-60FB-34E1-D852-0361F561D1EE}"/>
                  </a:ext>
                </a:extLst>
              </p:cNvPr>
              <p:cNvSpPr/>
              <p:nvPr/>
            </p:nvSpPr>
            <p:spPr>
              <a:xfrm>
                <a:off x="773113" y="6049604"/>
                <a:ext cx="7848373" cy="568911"/>
              </a:xfrm>
              <a:prstGeom prst="ellipse">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grpSp>
        <p:sp>
          <p:nvSpPr>
            <p:cNvPr id="33" name="Text Box 18">
              <a:extLst>
                <a:ext uri="{FF2B5EF4-FFF2-40B4-BE49-F238E27FC236}">
                  <a16:creationId xmlns:a16="http://schemas.microsoft.com/office/drawing/2014/main" id="{9D4FF6C0-377B-AB08-5389-DDADA017F3B1}"/>
                </a:ext>
              </a:extLst>
            </p:cNvPr>
            <p:cNvSpPr txBox="1">
              <a:spLocks noChangeArrowheads="1"/>
            </p:cNvSpPr>
            <p:nvPr/>
          </p:nvSpPr>
          <p:spPr bwMode="auto">
            <a:xfrm>
              <a:off x="773112" y="5634459"/>
              <a:ext cx="7848373" cy="830997"/>
            </a:xfrm>
            <a:prstGeom prst="rect">
              <a:avLst/>
            </a:prstGeom>
            <a:noFill/>
            <a:ln>
              <a:noFill/>
            </a:ln>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spcBef>
                  <a:spcPct val="50000"/>
                </a:spcBef>
              </a:pPr>
              <a:r>
                <a:rPr lang="en-US" altLang="en-US" dirty="0">
                  <a:latin typeface="Source Sans Pro" panose="020B0503030403020204" pitchFamily="34" charset="0"/>
                </a:rPr>
                <a:t>Increase</a:t>
              </a:r>
              <a:r>
                <a:rPr lang="en-US" altLang="en-US" dirty="0">
                  <a:latin typeface="Source Sans Pro" panose="020B0503030403020204" pitchFamily="34" charset="0"/>
                  <a:sym typeface="Symbol" pitchFamily="18" charset="2"/>
                </a:rPr>
                <a:t> </a:t>
              </a:r>
              <a:r>
                <a:rPr lang="en-US" altLang="en-US" dirty="0">
                  <a:latin typeface="Source Sans Pro" panose="020B0503030403020204" pitchFamily="34" charset="0"/>
                </a:rPr>
                <a:t>Q until </a:t>
              </a:r>
              <a:r>
                <a:rPr lang="en-US" altLang="en-US" b="1" dirty="0">
                  <a:latin typeface="Source Sans Pro" panose="020B0503030403020204" pitchFamily="34" charset="0"/>
                </a:rPr>
                <a:t>additional benefit </a:t>
              </a:r>
              <a:r>
                <a:rPr lang="en-US" altLang="en-US" dirty="0">
                  <a:latin typeface="Source Sans Pro" panose="020B0503030403020204" pitchFamily="34" charset="0"/>
                </a:rPr>
                <a:t>from one more sale equals the </a:t>
              </a:r>
              <a:r>
                <a:rPr lang="en-US" altLang="en-US" b="1" dirty="0">
                  <a:latin typeface="Source Sans Pro" panose="020B0503030403020204" pitchFamily="34" charset="0"/>
                </a:rPr>
                <a:t>losses </a:t>
              </a:r>
              <a:r>
                <a:rPr lang="en-US" altLang="en-US" dirty="0">
                  <a:latin typeface="Source Sans Pro" panose="020B0503030403020204" pitchFamily="34" charset="0"/>
                </a:rPr>
                <a:t>(reduced price) to higher-demand customers</a:t>
              </a:r>
            </a:p>
          </p:txBody>
        </p:sp>
      </p:grpSp>
      <p:sp>
        <p:nvSpPr>
          <p:cNvPr id="37" name="Rectangle 3">
            <a:extLst>
              <a:ext uri="{FF2B5EF4-FFF2-40B4-BE49-F238E27FC236}">
                <a16:creationId xmlns:a16="http://schemas.microsoft.com/office/drawing/2014/main" id="{84BE3ED8-6D8D-480A-1616-ABE4E670256C}"/>
              </a:ext>
            </a:extLst>
          </p:cNvPr>
          <p:cNvSpPr txBox="1">
            <a:spLocks noChangeArrowheads="1"/>
          </p:cNvSpPr>
          <p:nvPr/>
        </p:nvSpPr>
        <p:spPr>
          <a:xfrm>
            <a:off x="921512" y="1147763"/>
            <a:ext cx="10094976" cy="424732"/>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lnSpc>
                <a:spcPct val="90000"/>
              </a:lnSpc>
            </a:pPr>
            <a:r>
              <a:rPr lang="en-US" altLang="en-US" kern="0" dirty="0">
                <a:ea typeface="ＭＳ Ｐゴシック" pitchFamily="34" charset="-128"/>
              </a:rPr>
              <a:t>Revenue is maximized when </a:t>
            </a:r>
            <a:r>
              <a:rPr lang="en-US" altLang="en-US" b="1" kern="0" dirty="0">
                <a:ea typeface="ＭＳ Ｐゴシック" pitchFamily="34" charset="-128"/>
              </a:rPr>
              <a:t>MR = 0</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76539FD-E9EF-F184-A128-BBEF99324C54}"/>
                  </a:ext>
                </a:extLst>
              </p14:cNvPr>
              <p14:cNvContentPartPr/>
              <p14:nvPr/>
            </p14:nvContentPartPr>
            <p14:xfrm>
              <a:off x="4893120" y="66960"/>
              <a:ext cx="7052400" cy="3213720"/>
            </p14:xfrm>
          </p:contentPart>
        </mc:Choice>
        <mc:Fallback>
          <p:pic>
            <p:nvPicPr>
              <p:cNvPr id="2" name="Ink 1">
                <a:extLst>
                  <a:ext uri="{FF2B5EF4-FFF2-40B4-BE49-F238E27FC236}">
                    <a16:creationId xmlns:a16="http://schemas.microsoft.com/office/drawing/2014/main" id="{076539FD-E9EF-F184-A128-BBEF99324C54}"/>
                  </a:ext>
                </a:extLst>
              </p:cNvPr>
              <p:cNvPicPr/>
              <p:nvPr/>
            </p:nvPicPr>
            <p:blipFill>
              <a:blip r:embed="rId3"/>
              <a:stretch>
                <a:fillRect/>
              </a:stretch>
            </p:blipFill>
            <p:spPr>
              <a:xfrm>
                <a:off x="4876920" y="50760"/>
                <a:ext cx="7084800" cy="32461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en-US" altLang="en-US" sz="3600" dirty="0">
                <a:ea typeface="ＭＳ Ｐゴシック" pitchFamily="34" charset="-128"/>
              </a:rPr>
              <a:t>MR and revenue: Example</a:t>
            </a:r>
          </a:p>
        </p:txBody>
      </p:sp>
      <p:sp>
        <p:nvSpPr>
          <p:cNvPr id="245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43664AA-BAA9-4D29-BA28-58A478F2DC98}" type="slidenum">
              <a:rPr lang="en-US" altLang="en-US" sz="1400">
                <a:latin typeface="Source Sans Pro" panose="020B0503030403020204" pitchFamily="34" charset="0"/>
              </a:rPr>
              <a:pPr eaLnBrk="1" hangingPunct="1"/>
              <a:t>12</a:t>
            </a:fld>
            <a:endParaRPr lang="en-US" altLang="en-US" sz="1400" dirty="0">
              <a:latin typeface="Source Sans Pro" panose="020B0503030403020204" pitchFamily="34" charset="0"/>
            </a:endParaRPr>
          </a:p>
        </p:txBody>
      </p:sp>
      <p:sp>
        <p:nvSpPr>
          <p:cNvPr id="2" name="Rectangle 3">
            <a:extLst>
              <a:ext uri="{FF2B5EF4-FFF2-40B4-BE49-F238E27FC236}">
                <a16:creationId xmlns:a16="http://schemas.microsoft.com/office/drawing/2014/main" id="{4618C5DE-8B7A-4040-D658-930D6347A49F}"/>
              </a:ext>
            </a:extLst>
          </p:cNvPr>
          <p:cNvSpPr txBox="1">
            <a:spLocks noChangeArrowheads="1"/>
          </p:cNvSpPr>
          <p:nvPr/>
        </p:nvSpPr>
        <p:spPr bwMode="auto">
          <a:xfrm>
            <a:off x="1981200" y="1338937"/>
            <a:ext cx="8229600" cy="1563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lnSpc>
                <a:spcPct val="90000"/>
              </a:lnSpc>
            </a:pPr>
            <a:r>
              <a:rPr lang="en-US" altLang="en-US" sz="2800" kern="0" dirty="0">
                <a:latin typeface="Source Sans Pro" panose="020B0503030403020204" pitchFamily="34" charset="0"/>
                <a:ea typeface="ＭＳ Ｐゴシック" pitchFamily="34" charset="-128"/>
              </a:rPr>
              <a:t>Demand is</a:t>
            </a:r>
          </a:p>
          <a:p>
            <a:pPr marL="0" indent="0" algn="ctr" eaLnBrk="1" hangingPunct="1">
              <a:lnSpc>
                <a:spcPct val="90000"/>
              </a:lnSpc>
              <a:buNone/>
            </a:pPr>
            <a:r>
              <a:rPr lang="en-US" altLang="en-US" sz="2800" i="1" kern="0" dirty="0">
                <a:latin typeface="Source Sans Pro" panose="020B0503030403020204" pitchFamily="34" charset="0"/>
                <a:ea typeface="ＭＳ Ｐゴシック" pitchFamily="34" charset="-128"/>
              </a:rPr>
              <a:t>P</a:t>
            </a:r>
            <a:r>
              <a:rPr lang="en-US" altLang="en-US" sz="2800" kern="0" dirty="0">
                <a:latin typeface="Source Sans Pro" panose="020B0503030403020204" pitchFamily="34" charset="0"/>
                <a:ea typeface="ＭＳ Ｐゴシック" pitchFamily="34" charset="-128"/>
              </a:rPr>
              <a:t> = 200 – 0.25</a:t>
            </a:r>
            <a:r>
              <a:rPr lang="en-US" altLang="en-US" sz="2800" i="1" kern="0" dirty="0">
                <a:latin typeface="Source Sans Pro" panose="020B0503030403020204" pitchFamily="34" charset="0"/>
                <a:ea typeface="ＭＳ Ｐゴシック" pitchFamily="34" charset="-128"/>
              </a:rPr>
              <a:t>Q</a:t>
            </a:r>
          </a:p>
          <a:p>
            <a:pPr eaLnBrk="1" hangingPunct="1">
              <a:lnSpc>
                <a:spcPct val="90000"/>
              </a:lnSpc>
              <a:buFontTx/>
              <a:buNone/>
            </a:pPr>
            <a:r>
              <a:rPr lang="en-US" altLang="en-US" sz="2800" kern="0" dirty="0">
                <a:latin typeface="Source Sans Pro" panose="020B0503030403020204" pitchFamily="34" charset="0"/>
                <a:ea typeface="ＭＳ Ｐゴシック" pitchFamily="34" charset="-128"/>
              </a:rPr>
              <a:t>		and 	  	MR = 200 – 0.5</a:t>
            </a:r>
            <a:r>
              <a:rPr lang="en-US" altLang="en-US" sz="2800" i="1" kern="0" dirty="0">
                <a:latin typeface="Source Sans Pro" panose="020B0503030403020204" pitchFamily="34" charset="0"/>
                <a:ea typeface="ＭＳ Ｐゴシック" pitchFamily="34" charset="-128"/>
              </a:rPr>
              <a:t>Q</a:t>
            </a:r>
            <a:endParaRPr lang="en-US" altLang="en-US" sz="2800" kern="0" dirty="0">
              <a:latin typeface="Source Sans Pro" panose="020B0503030403020204" pitchFamily="34" charset="0"/>
              <a:ea typeface="ＭＳ Ｐゴシック" pitchFamily="34" charset="-128"/>
            </a:endParaRPr>
          </a:p>
        </p:txBody>
      </p:sp>
      <p:sp>
        <p:nvSpPr>
          <p:cNvPr id="3" name="Rectangle 3">
            <a:extLst>
              <a:ext uri="{FF2B5EF4-FFF2-40B4-BE49-F238E27FC236}">
                <a16:creationId xmlns:a16="http://schemas.microsoft.com/office/drawing/2014/main" id="{3C144B6F-D2CB-9B01-1174-912FC04BC159}"/>
              </a:ext>
            </a:extLst>
          </p:cNvPr>
          <p:cNvSpPr txBox="1">
            <a:spLocks noChangeArrowheads="1"/>
          </p:cNvSpPr>
          <p:nvPr/>
        </p:nvSpPr>
        <p:spPr bwMode="auto">
          <a:xfrm>
            <a:off x="1981200" y="2930735"/>
            <a:ext cx="8229600" cy="1563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lnSpc>
                <a:spcPct val="90000"/>
              </a:lnSpc>
            </a:pPr>
            <a:r>
              <a:rPr lang="en-US" altLang="en-US" sz="2800" kern="0" dirty="0">
                <a:latin typeface="Source Sans Pro" panose="020B0503030403020204" pitchFamily="34" charset="0"/>
                <a:ea typeface="ＭＳ Ｐゴシック" pitchFamily="34" charset="-128"/>
              </a:rPr>
              <a:t>Revenue is maximized when MR = 0, or</a:t>
            </a:r>
          </a:p>
          <a:p>
            <a:pPr marL="0" indent="0" algn="ctr" eaLnBrk="1" hangingPunct="1">
              <a:lnSpc>
                <a:spcPct val="90000"/>
              </a:lnSpc>
              <a:buNone/>
            </a:pPr>
            <a:r>
              <a:rPr lang="en-US" altLang="en-US" sz="2800" kern="0" dirty="0">
                <a:latin typeface="Source Sans Pro" panose="020B0503030403020204" pitchFamily="34" charset="0"/>
                <a:ea typeface="Source Sans Pro" panose="020B0503030403020204" pitchFamily="34" charset="0"/>
              </a:rPr>
              <a:t>200 – 0.5</a:t>
            </a:r>
            <a:r>
              <a:rPr lang="en-US" altLang="en-US" sz="2800" i="1" kern="0" dirty="0">
                <a:latin typeface="Source Sans Pro" panose="020B0503030403020204" pitchFamily="34" charset="0"/>
                <a:ea typeface="Source Sans Pro" panose="020B0503030403020204" pitchFamily="34" charset="0"/>
              </a:rPr>
              <a:t>Q</a:t>
            </a:r>
            <a:r>
              <a:rPr lang="en-US" altLang="en-US" sz="2800" kern="0" dirty="0">
                <a:latin typeface="Source Sans Pro" panose="020B0503030403020204" pitchFamily="34" charset="0"/>
                <a:ea typeface="Source Sans Pro" panose="020B0503030403020204" pitchFamily="34" charset="0"/>
              </a:rPr>
              <a:t> = 0</a:t>
            </a:r>
          </a:p>
          <a:p>
            <a:pPr marL="0" indent="0" algn="ctr" eaLnBrk="1" hangingPunct="1">
              <a:lnSpc>
                <a:spcPct val="90000"/>
              </a:lnSpc>
              <a:buNone/>
            </a:pPr>
            <a:r>
              <a:rPr lang="en-US" altLang="en-US" sz="2800" i="1" kern="0" dirty="0">
                <a:latin typeface="Source Sans Pro" panose="020B0503030403020204" pitchFamily="34" charset="0"/>
                <a:ea typeface="Source Sans Pro" panose="020B0503030403020204" pitchFamily="34" charset="0"/>
              </a:rPr>
              <a:t>Q*</a:t>
            </a:r>
            <a:r>
              <a:rPr lang="en-US" altLang="en-US" sz="2800" kern="0" dirty="0">
                <a:latin typeface="Source Sans Pro" panose="020B0503030403020204" pitchFamily="34" charset="0"/>
                <a:ea typeface="Source Sans Pro" panose="020B0503030403020204" pitchFamily="34" charset="0"/>
              </a:rPr>
              <a:t> = 400</a:t>
            </a:r>
          </a:p>
        </p:txBody>
      </p:sp>
      <p:sp>
        <p:nvSpPr>
          <p:cNvPr id="4" name="Rectangle 3">
            <a:extLst>
              <a:ext uri="{FF2B5EF4-FFF2-40B4-BE49-F238E27FC236}">
                <a16:creationId xmlns:a16="http://schemas.microsoft.com/office/drawing/2014/main" id="{4EB73416-226C-0244-E1B1-33AB22F36E5C}"/>
              </a:ext>
            </a:extLst>
          </p:cNvPr>
          <p:cNvSpPr txBox="1">
            <a:spLocks noChangeArrowheads="1"/>
          </p:cNvSpPr>
          <p:nvPr/>
        </p:nvSpPr>
        <p:spPr bwMode="auto">
          <a:xfrm>
            <a:off x="1981200" y="4522533"/>
            <a:ext cx="8229600" cy="1563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lnSpc>
                <a:spcPct val="90000"/>
              </a:lnSpc>
            </a:pPr>
            <a:r>
              <a:rPr lang="en-US" altLang="en-US" sz="2800" kern="0" dirty="0">
                <a:latin typeface="Source Sans Pro" panose="020B0503030403020204" pitchFamily="34" charset="0"/>
                <a:ea typeface="ＭＳ Ｐゴシック" pitchFamily="34" charset="-128"/>
              </a:rPr>
              <a:t>Corresponding price and revenue?  </a:t>
            </a:r>
          </a:p>
          <a:p>
            <a:pPr eaLnBrk="1" hangingPunct="1">
              <a:lnSpc>
                <a:spcPct val="90000"/>
              </a:lnSpc>
              <a:buFontTx/>
              <a:buNone/>
            </a:pPr>
            <a:r>
              <a:rPr lang="en-US" altLang="en-US" sz="2800" kern="0" dirty="0">
                <a:latin typeface="Source Sans Pro" panose="020B0503030403020204" pitchFamily="34" charset="0"/>
                <a:ea typeface="ＭＳ Ｐゴシック" pitchFamily="34" charset="-128"/>
              </a:rPr>
              <a:t>		</a:t>
            </a:r>
            <a:r>
              <a:rPr lang="en-US" altLang="en-US" sz="2800" i="1" kern="0" dirty="0">
                <a:latin typeface="Source Sans Pro" panose="020B0503030403020204" pitchFamily="34" charset="0"/>
                <a:ea typeface="ＭＳ Ｐゴシック" pitchFamily="34" charset="-128"/>
              </a:rPr>
              <a:t>P*</a:t>
            </a:r>
            <a:r>
              <a:rPr lang="en-US" altLang="en-US" sz="2800" kern="0" dirty="0">
                <a:latin typeface="Source Sans Pro" panose="020B0503030403020204" pitchFamily="34" charset="0"/>
                <a:ea typeface="ＭＳ Ｐゴシック" pitchFamily="34" charset="-128"/>
              </a:rPr>
              <a:t> = 200 – 0.25 </a:t>
            </a:r>
            <a:r>
              <a:rPr lang="en-US" altLang="en-US" sz="2800" kern="0" dirty="0">
                <a:latin typeface="Source Sans Pro" panose="020B0503030403020204" pitchFamily="34" charset="0"/>
                <a:ea typeface="ＭＳ Ｐゴシック" pitchFamily="34" charset="-128"/>
                <a:sym typeface="Symbol" pitchFamily="18" charset="2"/>
              </a:rPr>
              <a:t>x </a:t>
            </a:r>
            <a:r>
              <a:rPr lang="en-US" altLang="en-US" sz="2800" kern="0" dirty="0">
                <a:latin typeface="Source Sans Pro" panose="020B0503030403020204" pitchFamily="34" charset="0"/>
                <a:ea typeface="ＭＳ Ｐゴシック" pitchFamily="34" charset="-128"/>
              </a:rPr>
              <a:t>400 = $100</a:t>
            </a:r>
          </a:p>
          <a:p>
            <a:pPr eaLnBrk="1" hangingPunct="1">
              <a:lnSpc>
                <a:spcPct val="90000"/>
              </a:lnSpc>
              <a:buFontTx/>
              <a:buNone/>
            </a:pPr>
            <a:r>
              <a:rPr lang="en-US" altLang="en-US" sz="2800" kern="0" dirty="0">
                <a:latin typeface="Source Sans Pro" panose="020B0503030403020204" pitchFamily="34" charset="0"/>
                <a:ea typeface="ＭＳ Ｐゴシック" pitchFamily="34" charset="-128"/>
              </a:rPr>
              <a:t>		</a:t>
            </a:r>
            <a:r>
              <a:rPr lang="en-US" altLang="en-US" sz="2800" i="1" kern="0" dirty="0">
                <a:latin typeface="Source Sans Pro" panose="020B0503030403020204" pitchFamily="34" charset="0"/>
                <a:ea typeface="ＭＳ Ｐゴシック" pitchFamily="34" charset="-128"/>
              </a:rPr>
              <a:t>R*</a:t>
            </a:r>
            <a:r>
              <a:rPr lang="en-US" altLang="en-US" sz="2800" kern="0" dirty="0">
                <a:latin typeface="Source Sans Pro" panose="020B0503030403020204" pitchFamily="34" charset="0"/>
                <a:ea typeface="ＭＳ Ｐゴシック" pitchFamily="34" charset="-128"/>
              </a:rPr>
              <a:t> = $100 </a:t>
            </a:r>
            <a:r>
              <a:rPr lang="en-US" altLang="en-US" sz="2800" kern="0" dirty="0">
                <a:latin typeface="Source Sans Pro" panose="020B0503030403020204" pitchFamily="34" charset="0"/>
                <a:ea typeface="ＭＳ Ｐゴシック" pitchFamily="34" charset="-128"/>
                <a:sym typeface="Symbol" pitchFamily="18" charset="2"/>
              </a:rPr>
              <a:t>x </a:t>
            </a:r>
            <a:r>
              <a:rPr lang="en-US" altLang="en-US" sz="2800" kern="0" dirty="0">
                <a:latin typeface="Source Sans Pro" panose="020B0503030403020204" pitchFamily="34" charset="0"/>
                <a:ea typeface="ＭＳ Ｐゴシック" pitchFamily="34" charset="-128"/>
              </a:rPr>
              <a:t>400 = $40,000</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E63A97AD-88E2-4360-9853-92A29B35A114}"/>
                  </a:ext>
                </a:extLst>
              </p14:cNvPr>
              <p14:cNvContentPartPr/>
              <p14:nvPr/>
            </p14:nvContentPartPr>
            <p14:xfrm>
              <a:off x="6751080" y="994320"/>
              <a:ext cx="2843640" cy="3331800"/>
            </p14:xfrm>
          </p:contentPart>
        </mc:Choice>
        <mc:Fallback>
          <p:pic>
            <p:nvPicPr>
              <p:cNvPr id="5" name="Ink 4">
                <a:extLst>
                  <a:ext uri="{FF2B5EF4-FFF2-40B4-BE49-F238E27FC236}">
                    <a16:creationId xmlns:a16="http://schemas.microsoft.com/office/drawing/2014/main" id="{E63A97AD-88E2-4360-9853-92A29B35A114}"/>
                  </a:ext>
                </a:extLst>
              </p:cNvPr>
              <p:cNvPicPr/>
              <p:nvPr/>
            </p:nvPicPr>
            <p:blipFill>
              <a:blip r:embed="rId3"/>
              <a:stretch>
                <a:fillRect/>
              </a:stretch>
            </p:blipFill>
            <p:spPr>
              <a:xfrm>
                <a:off x="6734880" y="978120"/>
                <a:ext cx="2876040" cy="33642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altLang="en-US" sz="3600" dirty="0">
                <a:ea typeface="ＭＳ Ｐゴシック" pitchFamily="34" charset="-128"/>
              </a:rPr>
              <a:t>MR and revenue: Example</a:t>
            </a:r>
          </a:p>
        </p:txBody>
      </p:sp>
      <p:sp>
        <p:nvSpPr>
          <p:cNvPr id="256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887ABCD-90B9-4E88-8A0F-592A0D1E4FAF}" type="slidenum">
              <a:rPr lang="en-US" altLang="en-US" sz="1400">
                <a:latin typeface="Source Sans Pro" panose="020B0503030403020204" pitchFamily="34" charset="0"/>
              </a:rPr>
              <a:pPr eaLnBrk="1" hangingPunct="1"/>
              <a:t>13</a:t>
            </a:fld>
            <a:endParaRPr lang="en-US" altLang="en-US" sz="1400" dirty="0">
              <a:latin typeface="Source Sans Pro" panose="020B0503030403020204" pitchFamily="34" charset="0"/>
            </a:endParaRPr>
          </a:p>
        </p:txBody>
      </p:sp>
      <p:grpSp>
        <p:nvGrpSpPr>
          <p:cNvPr id="5" name="Group 4">
            <a:extLst>
              <a:ext uri="{FF2B5EF4-FFF2-40B4-BE49-F238E27FC236}">
                <a16:creationId xmlns:a16="http://schemas.microsoft.com/office/drawing/2014/main" id="{78517AF8-7FC9-954D-4293-62519D68E693}"/>
              </a:ext>
            </a:extLst>
          </p:cNvPr>
          <p:cNvGrpSpPr/>
          <p:nvPr/>
        </p:nvGrpSpPr>
        <p:grpSpPr>
          <a:xfrm>
            <a:off x="5696712" y="2081213"/>
            <a:ext cx="4158488" cy="3165177"/>
            <a:chOff x="4172712" y="2081213"/>
            <a:chExt cx="4158488" cy="3165177"/>
          </a:xfrm>
        </p:grpSpPr>
        <p:sp>
          <p:nvSpPr>
            <p:cNvPr id="6" name="Line 10">
              <a:extLst>
                <a:ext uri="{FF2B5EF4-FFF2-40B4-BE49-F238E27FC236}">
                  <a16:creationId xmlns:a16="http://schemas.microsoft.com/office/drawing/2014/main" id="{9416AB3A-B19F-0284-054A-C5A2D455BABD}"/>
                </a:ext>
              </a:extLst>
            </p:cNvPr>
            <p:cNvSpPr>
              <a:spLocks noChangeShapeType="1"/>
            </p:cNvSpPr>
            <p:nvPr/>
          </p:nvSpPr>
          <p:spPr bwMode="auto">
            <a:xfrm>
              <a:off x="4948238" y="2271713"/>
              <a:ext cx="0" cy="2562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7" name="Line 11">
              <a:extLst>
                <a:ext uri="{FF2B5EF4-FFF2-40B4-BE49-F238E27FC236}">
                  <a16:creationId xmlns:a16="http://schemas.microsoft.com/office/drawing/2014/main" id="{4D6CE151-26E0-87C2-5751-60A6E4D331A3}"/>
                </a:ext>
              </a:extLst>
            </p:cNvPr>
            <p:cNvSpPr>
              <a:spLocks noChangeShapeType="1"/>
            </p:cNvSpPr>
            <p:nvPr/>
          </p:nvSpPr>
          <p:spPr bwMode="auto">
            <a:xfrm>
              <a:off x="4946650" y="4822825"/>
              <a:ext cx="29178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8" name="Text Box 12">
              <a:extLst>
                <a:ext uri="{FF2B5EF4-FFF2-40B4-BE49-F238E27FC236}">
                  <a16:creationId xmlns:a16="http://schemas.microsoft.com/office/drawing/2014/main" id="{CFD90222-ADF7-51F1-91AD-3D2978C65186}"/>
                </a:ext>
              </a:extLst>
            </p:cNvPr>
            <p:cNvSpPr txBox="1">
              <a:spLocks noChangeArrowheads="1"/>
            </p:cNvSpPr>
            <p:nvPr/>
          </p:nvSpPr>
          <p:spPr bwMode="auto">
            <a:xfrm>
              <a:off x="7816850" y="4660900"/>
              <a:ext cx="514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9" name="Text Box 13">
              <a:extLst>
                <a:ext uri="{FF2B5EF4-FFF2-40B4-BE49-F238E27FC236}">
                  <a16:creationId xmlns:a16="http://schemas.microsoft.com/office/drawing/2014/main" id="{DE6E899B-C705-DE79-80D2-0161717D9BDD}"/>
                </a:ext>
              </a:extLst>
            </p:cNvPr>
            <p:cNvSpPr txBox="1">
              <a:spLocks noChangeArrowheads="1"/>
            </p:cNvSpPr>
            <p:nvPr/>
          </p:nvSpPr>
          <p:spPr bwMode="auto">
            <a:xfrm>
              <a:off x="4172712" y="2081213"/>
              <a:ext cx="7432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a:t>
              </a:r>
              <a:endParaRPr lang="en-US" altLang="en-US" dirty="0">
                <a:latin typeface="Source Sans Pro" panose="020B0503030403020204" pitchFamily="34" charset="0"/>
              </a:endParaRPr>
            </a:p>
          </p:txBody>
        </p:sp>
        <p:sp>
          <p:nvSpPr>
            <p:cNvPr id="10" name="Arc 14">
              <a:extLst>
                <a:ext uri="{FF2B5EF4-FFF2-40B4-BE49-F238E27FC236}">
                  <a16:creationId xmlns:a16="http://schemas.microsoft.com/office/drawing/2014/main" id="{ED6CF5AE-8948-668B-31A9-39C1D676192C}"/>
                </a:ext>
              </a:extLst>
            </p:cNvPr>
            <p:cNvSpPr>
              <a:spLocks/>
            </p:cNvSpPr>
            <p:nvPr/>
          </p:nvSpPr>
          <p:spPr bwMode="auto">
            <a:xfrm rot="-5400000">
              <a:off x="5201444" y="2661444"/>
              <a:ext cx="2152650" cy="2655888"/>
            </a:xfrm>
            <a:custGeom>
              <a:avLst/>
              <a:gdLst>
                <a:gd name="T0" fmla="*/ 2147483647 w 21600"/>
                <a:gd name="T1" fmla="*/ 0 h 42913"/>
                <a:gd name="T2" fmla="*/ 2147483647 w 21600"/>
                <a:gd name="T3" fmla="*/ 2147483647 h 42913"/>
                <a:gd name="T4" fmla="*/ 0 w 21600"/>
                <a:gd name="T5" fmla="*/ 2147483647 h 42913"/>
                <a:gd name="T6" fmla="*/ 0 60000 65536"/>
                <a:gd name="T7" fmla="*/ 0 60000 65536"/>
                <a:gd name="T8" fmla="*/ 0 60000 65536"/>
                <a:gd name="T9" fmla="*/ 0 w 21600"/>
                <a:gd name="T10" fmla="*/ 0 h 42913"/>
                <a:gd name="T11" fmla="*/ 21600 w 21600"/>
                <a:gd name="T12" fmla="*/ 42913 h 42913"/>
              </a:gdLst>
              <a:ahLst/>
              <a:cxnLst>
                <a:cxn ang="T6">
                  <a:pos x="T0" y="T1"/>
                </a:cxn>
                <a:cxn ang="T7">
                  <a:pos x="T2" y="T3"/>
                </a:cxn>
                <a:cxn ang="T8">
                  <a:pos x="T4" y="T5"/>
                </a:cxn>
              </a:cxnLst>
              <a:rect l="T9" t="T10" r="T11" b="T12"/>
              <a:pathLst>
                <a:path w="21600" h="42913" fill="none" extrusionOk="0">
                  <a:moveTo>
                    <a:pt x="2439" y="0"/>
                  </a:moveTo>
                  <a:cubicBezTo>
                    <a:pt x="13354" y="1241"/>
                    <a:pt x="21600" y="10476"/>
                    <a:pt x="21600" y="21462"/>
                  </a:cubicBezTo>
                  <a:cubicBezTo>
                    <a:pt x="21600" y="32412"/>
                    <a:pt x="13405" y="41630"/>
                    <a:pt x="2531" y="42913"/>
                  </a:cubicBezTo>
                </a:path>
                <a:path w="21600" h="42913" stroke="0" extrusionOk="0">
                  <a:moveTo>
                    <a:pt x="2439" y="0"/>
                  </a:moveTo>
                  <a:cubicBezTo>
                    <a:pt x="13354" y="1241"/>
                    <a:pt x="21600" y="10476"/>
                    <a:pt x="21600" y="21462"/>
                  </a:cubicBezTo>
                  <a:cubicBezTo>
                    <a:pt x="21600" y="32412"/>
                    <a:pt x="13405" y="41630"/>
                    <a:pt x="2531" y="42913"/>
                  </a:cubicBezTo>
                  <a:lnTo>
                    <a:pt x="0" y="21462"/>
                  </a:lnTo>
                  <a:lnTo>
                    <a:pt x="2439"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400" dirty="0">
                <a:latin typeface="Source Sans Pro" panose="020B0503030403020204" pitchFamily="34" charset="0"/>
              </a:endParaRPr>
            </a:p>
          </p:txBody>
        </p:sp>
        <p:sp>
          <p:nvSpPr>
            <p:cNvPr id="11" name="Text Box 15">
              <a:extLst>
                <a:ext uri="{FF2B5EF4-FFF2-40B4-BE49-F238E27FC236}">
                  <a16:creationId xmlns:a16="http://schemas.microsoft.com/office/drawing/2014/main" id="{BB3EB64C-82E9-EC29-FCC1-509B72C6F653}"/>
                </a:ext>
              </a:extLst>
            </p:cNvPr>
            <p:cNvSpPr txBox="1">
              <a:spLocks noChangeArrowheads="1"/>
            </p:cNvSpPr>
            <p:nvPr/>
          </p:nvSpPr>
          <p:spPr bwMode="auto">
            <a:xfrm>
              <a:off x="7534275" y="3916363"/>
              <a:ext cx="695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R</a:t>
              </a:r>
              <a:endParaRPr lang="en-US" altLang="en-US" dirty="0">
                <a:latin typeface="Source Sans Pro" panose="020B0503030403020204" pitchFamily="34" charset="0"/>
              </a:endParaRPr>
            </a:p>
          </p:txBody>
        </p:sp>
        <p:sp>
          <p:nvSpPr>
            <p:cNvPr id="12" name="Text Box 21">
              <a:extLst>
                <a:ext uri="{FF2B5EF4-FFF2-40B4-BE49-F238E27FC236}">
                  <a16:creationId xmlns:a16="http://schemas.microsoft.com/office/drawing/2014/main" id="{3E46838F-9E74-6E9B-476C-C6E0E0C038CA}"/>
                </a:ext>
              </a:extLst>
            </p:cNvPr>
            <p:cNvSpPr txBox="1">
              <a:spLocks noChangeArrowheads="1"/>
            </p:cNvSpPr>
            <p:nvPr/>
          </p:nvSpPr>
          <p:spPr bwMode="auto">
            <a:xfrm>
              <a:off x="5893809" y="4784725"/>
              <a:ext cx="7670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CN" dirty="0">
                  <a:latin typeface="Source Sans Pro" panose="020B0503030403020204" pitchFamily="34" charset="0"/>
                  <a:ea typeface="SimSun" pitchFamily="2" charset="-122"/>
                </a:rPr>
                <a:t>400</a:t>
              </a:r>
              <a:endParaRPr lang="en-US" altLang="en-US" dirty="0">
                <a:latin typeface="Source Sans Pro" panose="020B0503030403020204" pitchFamily="34" charset="0"/>
              </a:endParaRPr>
            </a:p>
          </p:txBody>
        </p:sp>
        <p:sp>
          <p:nvSpPr>
            <p:cNvPr id="13" name="Line 22">
              <a:extLst>
                <a:ext uri="{FF2B5EF4-FFF2-40B4-BE49-F238E27FC236}">
                  <a16:creationId xmlns:a16="http://schemas.microsoft.com/office/drawing/2014/main" id="{74987AFC-B3CB-5F73-34B4-40D3A7466879}"/>
                </a:ext>
              </a:extLst>
            </p:cNvPr>
            <p:cNvSpPr>
              <a:spLocks noChangeShapeType="1"/>
            </p:cNvSpPr>
            <p:nvPr/>
          </p:nvSpPr>
          <p:spPr bwMode="auto">
            <a:xfrm>
              <a:off x="6267450" y="2916238"/>
              <a:ext cx="0" cy="190658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14" name="Text Box 23">
              <a:extLst>
                <a:ext uri="{FF2B5EF4-FFF2-40B4-BE49-F238E27FC236}">
                  <a16:creationId xmlns:a16="http://schemas.microsoft.com/office/drawing/2014/main" id="{C41122EF-8AEA-FC72-A7C6-68D9FA1D3676}"/>
                </a:ext>
              </a:extLst>
            </p:cNvPr>
            <p:cNvSpPr txBox="1">
              <a:spLocks noChangeArrowheads="1"/>
            </p:cNvSpPr>
            <p:nvPr/>
          </p:nvSpPr>
          <p:spPr bwMode="auto">
            <a:xfrm>
              <a:off x="4172712" y="2746375"/>
              <a:ext cx="7447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40k</a:t>
              </a:r>
              <a:endParaRPr lang="en-US" altLang="en-US" dirty="0">
                <a:latin typeface="Source Sans Pro" panose="020B0503030403020204" pitchFamily="34" charset="0"/>
              </a:endParaRPr>
            </a:p>
          </p:txBody>
        </p:sp>
        <p:sp>
          <p:nvSpPr>
            <p:cNvPr id="15" name="Line 24">
              <a:extLst>
                <a:ext uri="{FF2B5EF4-FFF2-40B4-BE49-F238E27FC236}">
                  <a16:creationId xmlns:a16="http://schemas.microsoft.com/office/drawing/2014/main" id="{D2C29D20-42C6-6BA6-4005-A68A2ADD4A1F}"/>
                </a:ext>
              </a:extLst>
            </p:cNvPr>
            <p:cNvSpPr>
              <a:spLocks noChangeShapeType="1"/>
            </p:cNvSpPr>
            <p:nvPr/>
          </p:nvSpPr>
          <p:spPr bwMode="auto">
            <a:xfrm>
              <a:off x="4945063" y="2916238"/>
              <a:ext cx="1322387"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grpSp>
      <p:grpSp>
        <p:nvGrpSpPr>
          <p:cNvPr id="16" name="Group 15">
            <a:extLst>
              <a:ext uri="{FF2B5EF4-FFF2-40B4-BE49-F238E27FC236}">
                <a16:creationId xmlns:a16="http://schemas.microsoft.com/office/drawing/2014/main" id="{A093D4B1-5692-7497-A0F9-1F0CB5768964}"/>
              </a:ext>
            </a:extLst>
          </p:cNvPr>
          <p:cNvGrpSpPr/>
          <p:nvPr/>
        </p:nvGrpSpPr>
        <p:grpSpPr>
          <a:xfrm>
            <a:off x="2101851" y="1946275"/>
            <a:ext cx="3832225" cy="3587453"/>
            <a:chOff x="577850" y="1946275"/>
            <a:chExt cx="3832225" cy="3587453"/>
          </a:xfrm>
        </p:grpSpPr>
        <p:sp>
          <p:nvSpPr>
            <p:cNvPr id="17" name="Rectangle 18">
              <a:extLst>
                <a:ext uri="{FF2B5EF4-FFF2-40B4-BE49-F238E27FC236}">
                  <a16:creationId xmlns:a16="http://schemas.microsoft.com/office/drawing/2014/main" id="{B2F751D5-1955-60F2-A81E-1135F708228F}"/>
                </a:ext>
              </a:extLst>
            </p:cNvPr>
            <p:cNvSpPr>
              <a:spLocks noChangeArrowheads="1"/>
            </p:cNvSpPr>
            <p:nvPr/>
          </p:nvSpPr>
          <p:spPr bwMode="auto">
            <a:xfrm>
              <a:off x="1155700" y="3678238"/>
              <a:ext cx="1201738" cy="1111250"/>
            </a:xfrm>
            <a:prstGeom prst="rect">
              <a:avLst/>
            </a:prstGeom>
            <a:solidFill>
              <a:srgbClr val="67C8C7"/>
            </a:solidFill>
            <a:ln w="9525">
              <a:solidFill>
                <a:srgbClr val="67C8C7"/>
              </a:solidFill>
              <a:miter lim="800000"/>
              <a:headEnd/>
              <a:tailEnd/>
            </a:ln>
          </p:spPr>
          <p:txBody>
            <a:bodyPr wrap="none"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endParaRPr lang="en-US" altLang="en-US" dirty="0">
                <a:latin typeface="Source Sans Pro" panose="020B0503030403020204" pitchFamily="34" charset="0"/>
              </a:endParaRPr>
            </a:p>
          </p:txBody>
        </p:sp>
        <p:sp>
          <p:nvSpPr>
            <p:cNvPr id="18" name="Line 4">
              <a:extLst>
                <a:ext uri="{FF2B5EF4-FFF2-40B4-BE49-F238E27FC236}">
                  <a16:creationId xmlns:a16="http://schemas.microsoft.com/office/drawing/2014/main" id="{7B01E168-1BF1-804E-6A0F-785BC680FBBB}"/>
                </a:ext>
              </a:extLst>
            </p:cNvPr>
            <p:cNvSpPr>
              <a:spLocks noChangeShapeType="1"/>
            </p:cNvSpPr>
            <p:nvPr/>
          </p:nvSpPr>
          <p:spPr bwMode="auto">
            <a:xfrm>
              <a:off x="1139825" y="2241550"/>
              <a:ext cx="0" cy="2562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19" name="Line 5">
              <a:extLst>
                <a:ext uri="{FF2B5EF4-FFF2-40B4-BE49-F238E27FC236}">
                  <a16:creationId xmlns:a16="http://schemas.microsoft.com/office/drawing/2014/main" id="{4EFEECEF-D669-07F7-B4DB-77D55BBC4047}"/>
                </a:ext>
              </a:extLst>
            </p:cNvPr>
            <p:cNvSpPr>
              <a:spLocks noChangeShapeType="1"/>
            </p:cNvSpPr>
            <p:nvPr/>
          </p:nvSpPr>
          <p:spPr bwMode="auto">
            <a:xfrm>
              <a:off x="1146175" y="4800600"/>
              <a:ext cx="29178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20" name="Line 6">
              <a:extLst>
                <a:ext uri="{FF2B5EF4-FFF2-40B4-BE49-F238E27FC236}">
                  <a16:creationId xmlns:a16="http://schemas.microsoft.com/office/drawing/2014/main" id="{42A4DAFA-89D7-C288-8213-BFF8BFB899B2}"/>
                </a:ext>
              </a:extLst>
            </p:cNvPr>
            <p:cNvSpPr>
              <a:spLocks noChangeShapeType="1"/>
            </p:cNvSpPr>
            <p:nvPr/>
          </p:nvSpPr>
          <p:spPr bwMode="auto">
            <a:xfrm>
              <a:off x="1155700" y="2670175"/>
              <a:ext cx="2555875" cy="21177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21" name="Text Box 7">
              <a:extLst>
                <a:ext uri="{FF2B5EF4-FFF2-40B4-BE49-F238E27FC236}">
                  <a16:creationId xmlns:a16="http://schemas.microsoft.com/office/drawing/2014/main" id="{B69E44EF-6B49-F831-8E5D-AB92F061F70C}"/>
                </a:ext>
              </a:extLst>
            </p:cNvPr>
            <p:cNvSpPr txBox="1">
              <a:spLocks noChangeArrowheads="1"/>
            </p:cNvSpPr>
            <p:nvPr/>
          </p:nvSpPr>
          <p:spPr bwMode="auto">
            <a:xfrm>
              <a:off x="3986213" y="4614863"/>
              <a:ext cx="4238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i="1"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22" name="Text Box 8">
              <a:extLst>
                <a:ext uri="{FF2B5EF4-FFF2-40B4-BE49-F238E27FC236}">
                  <a16:creationId xmlns:a16="http://schemas.microsoft.com/office/drawing/2014/main" id="{9187F61F-6997-DCBA-FBF6-123537649E74}"/>
                </a:ext>
              </a:extLst>
            </p:cNvPr>
            <p:cNvSpPr txBox="1">
              <a:spLocks noChangeArrowheads="1"/>
            </p:cNvSpPr>
            <p:nvPr/>
          </p:nvSpPr>
          <p:spPr bwMode="auto">
            <a:xfrm>
              <a:off x="3302000" y="4187825"/>
              <a:ext cx="695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D</a:t>
              </a:r>
              <a:endParaRPr lang="en-US" altLang="en-US" dirty="0">
                <a:latin typeface="Source Sans Pro" panose="020B0503030403020204" pitchFamily="34" charset="0"/>
              </a:endParaRPr>
            </a:p>
          </p:txBody>
        </p:sp>
        <p:sp>
          <p:nvSpPr>
            <p:cNvPr id="23" name="Text Box 9">
              <a:extLst>
                <a:ext uri="{FF2B5EF4-FFF2-40B4-BE49-F238E27FC236}">
                  <a16:creationId xmlns:a16="http://schemas.microsoft.com/office/drawing/2014/main" id="{1C57A86F-543F-E486-6F06-9FE1BA88453F}"/>
                </a:ext>
              </a:extLst>
            </p:cNvPr>
            <p:cNvSpPr txBox="1">
              <a:spLocks noChangeArrowheads="1"/>
            </p:cNvSpPr>
            <p:nvPr/>
          </p:nvSpPr>
          <p:spPr bwMode="auto">
            <a:xfrm>
              <a:off x="815975" y="1946275"/>
              <a:ext cx="3714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i="1" dirty="0">
                  <a:latin typeface="Source Sans Pro" panose="020B0503030403020204" pitchFamily="34" charset="0"/>
                  <a:ea typeface="SimSun" pitchFamily="2" charset="-122"/>
                </a:rPr>
                <a:t>P</a:t>
              </a:r>
              <a:endParaRPr lang="en-US" altLang="en-US" dirty="0">
                <a:latin typeface="Source Sans Pro" panose="020B0503030403020204" pitchFamily="34" charset="0"/>
              </a:endParaRPr>
            </a:p>
          </p:txBody>
        </p:sp>
        <p:sp>
          <p:nvSpPr>
            <p:cNvPr id="24" name="Text Box 20">
              <a:extLst>
                <a:ext uri="{FF2B5EF4-FFF2-40B4-BE49-F238E27FC236}">
                  <a16:creationId xmlns:a16="http://schemas.microsoft.com/office/drawing/2014/main" id="{F489D0C3-6D95-515B-3B32-F9B005C4E17E}"/>
                </a:ext>
              </a:extLst>
            </p:cNvPr>
            <p:cNvSpPr txBox="1">
              <a:spLocks noChangeArrowheads="1"/>
            </p:cNvSpPr>
            <p:nvPr/>
          </p:nvSpPr>
          <p:spPr bwMode="auto">
            <a:xfrm>
              <a:off x="1827213" y="4794250"/>
              <a:ext cx="6556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400</a:t>
              </a:r>
              <a:endParaRPr lang="en-US" altLang="en-US" dirty="0">
                <a:latin typeface="Source Sans Pro" panose="020B0503030403020204" pitchFamily="34" charset="0"/>
              </a:endParaRPr>
            </a:p>
          </p:txBody>
        </p:sp>
        <p:sp>
          <p:nvSpPr>
            <p:cNvPr id="25" name="Text Box 25">
              <a:extLst>
                <a:ext uri="{FF2B5EF4-FFF2-40B4-BE49-F238E27FC236}">
                  <a16:creationId xmlns:a16="http://schemas.microsoft.com/office/drawing/2014/main" id="{5C5268F6-74F5-9297-4198-415173D62095}"/>
                </a:ext>
              </a:extLst>
            </p:cNvPr>
            <p:cNvSpPr txBox="1">
              <a:spLocks noChangeArrowheads="1"/>
            </p:cNvSpPr>
            <p:nvPr/>
          </p:nvSpPr>
          <p:spPr bwMode="auto">
            <a:xfrm>
              <a:off x="3405188" y="4775200"/>
              <a:ext cx="6556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800</a:t>
              </a:r>
              <a:endParaRPr lang="en-US" altLang="en-US" dirty="0">
                <a:latin typeface="Source Sans Pro" panose="020B0503030403020204" pitchFamily="34" charset="0"/>
              </a:endParaRPr>
            </a:p>
          </p:txBody>
        </p:sp>
        <p:sp>
          <p:nvSpPr>
            <p:cNvPr id="26" name="Text Box 26">
              <a:extLst>
                <a:ext uri="{FF2B5EF4-FFF2-40B4-BE49-F238E27FC236}">
                  <a16:creationId xmlns:a16="http://schemas.microsoft.com/office/drawing/2014/main" id="{0CD37327-D0EA-3F00-6D9C-7EA8C099A0FF}"/>
                </a:ext>
              </a:extLst>
            </p:cNvPr>
            <p:cNvSpPr txBox="1">
              <a:spLocks noChangeArrowheads="1"/>
            </p:cNvSpPr>
            <p:nvPr/>
          </p:nvSpPr>
          <p:spPr bwMode="auto">
            <a:xfrm>
              <a:off x="585788" y="2495550"/>
              <a:ext cx="6556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200</a:t>
              </a:r>
              <a:endParaRPr lang="en-US" altLang="en-US" dirty="0">
                <a:latin typeface="Source Sans Pro" panose="020B0503030403020204" pitchFamily="34" charset="0"/>
              </a:endParaRPr>
            </a:p>
          </p:txBody>
        </p:sp>
        <p:sp>
          <p:nvSpPr>
            <p:cNvPr id="27" name="Text Box 27">
              <a:extLst>
                <a:ext uri="{FF2B5EF4-FFF2-40B4-BE49-F238E27FC236}">
                  <a16:creationId xmlns:a16="http://schemas.microsoft.com/office/drawing/2014/main" id="{0DF6152A-D538-B248-5D97-C963F75B6349}"/>
                </a:ext>
              </a:extLst>
            </p:cNvPr>
            <p:cNvSpPr txBox="1">
              <a:spLocks noChangeArrowheads="1"/>
            </p:cNvSpPr>
            <p:nvPr/>
          </p:nvSpPr>
          <p:spPr bwMode="auto">
            <a:xfrm>
              <a:off x="577850" y="3478213"/>
              <a:ext cx="655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100</a:t>
              </a:r>
              <a:endParaRPr lang="en-US" altLang="en-US" dirty="0">
                <a:latin typeface="Source Sans Pro" panose="020B0503030403020204" pitchFamily="34" charset="0"/>
              </a:endParaRPr>
            </a:p>
          </p:txBody>
        </p:sp>
        <p:sp>
          <p:nvSpPr>
            <p:cNvPr id="28" name="Line 28">
              <a:extLst>
                <a:ext uri="{FF2B5EF4-FFF2-40B4-BE49-F238E27FC236}">
                  <a16:creationId xmlns:a16="http://schemas.microsoft.com/office/drawing/2014/main" id="{5F5D55EF-6C71-24E9-3F74-6D93A1CECE4B}"/>
                </a:ext>
              </a:extLst>
            </p:cNvPr>
            <p:cNvSpPr>
              <a:spLocks noChangeShapeType="1"/>
            </p:cNvSpPr>
            <p:nvPr/>
          </p:nvSpPr>
          <p:spPr bwMode="auto">
            <a:xfrm>
              <a:off x="1144588" y="2663825"/>
              <a:ext cx="1566862" cy="270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29" name="Text Box 29">
              <a:extLst>
                <a:ext uri="{FF2B5EF4-FFF2-40B4-BE49-F238E27FC236}">
                  <a16:creationId xmlns:a16="http://schemas.microsoft.com/office/drawing/2014/main" id="{7858270D-93ED-37E8-60AA-F68F5D5AA58B}"/>
                </a:ext>
              </a:extLst>
            </p:cNvPr>
            <p:cNvSpPr txBox="1">
              <a:spLocks noChangeArrowheads="1"/>
            </p:cNvSpPr>
            <p:nvPr/>
          </p:nvSpPr>
          <p:spPr bwMode="auto">
            <a:xfrm>
              <a:off x="2654300" y="5072063"/>
              <a:ext cx="695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MR</a:t>
              </a:r>
              <a:endParaRPr lang="en-US" altLang="en-US" dirty="0">
                <a:latin typeface="Source Sans Pro" panose="020B0503030403020204" pitchFamily="34" charset="0"/>
              </a:endParaRPr>
            </a:p>
          </p:txBody>
        </p:sp>
      </p:grpSp>
      <p:sp>
        <p:nvSpPr>
          <p:cNvPr id="30" name="Rounded Rectangular Callout 29">
            <a:extLst>
              <a:ext uri="{FF2B5EF4-FFF2-40B4-BE49-F238E27FC236}">
                <a16:creationId xmlns:a16="http://schemas.microsoft.com/office/drawing/2014/main" id="{86CA8269-7AE6-1E69-78C4-279433F8D73B}"/>
              </a:ext>
            </a:extLst>
          </p:cNvPr>
          <p:cNvSpPr/>
          <p:nvPr/>
        </p:nvSpPr>
        <p:spPr>
          <a:xfrm>
            <a:off x="4873626" y="5706111"/>
            <a:ext cx="5763490" cy="860651"/>
          </a:xfrm>
          <a:prstGeom prst="wedgeRoundRectCallout">
            <a:avLst>
              <a:gd name="adj1" fmla="val -52027"/>
              <a:gd name="adj2" fmla="val -86240"/>
              <a:gd name="adj3" fmla="val 16667"/>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285750" indent="-166688">
              <a:buFont typeface="Arial" panose="020B0604020202020204" pitchFamily="34" charset="0"/>
              <a:buChar char="•"/>
            </a:pPr>
            <a:r>
              <a:rPr lang="en-US" sz="2400" dirty="0">
                <a:solidFill>
                  <a:schemeClr val="bg1"/>
                </a:solidFill>
                <a:latin typeface="Source Sans Pro" panose="020B0503030403020204" pitchFamily="34" charset="0"/>
              </a:rPr>
              <a:t>Note that we can graph MR along with D</a:t>
            </a:r>
          </a:p>
          <a:p>
            <a:pPr marL="285750" indent="-166688">
              <a:buFont typeface="Arial" panose="020B0604020202020204" pitchFamily="34" charset="0"/>
              <a:buChar char="•"/>
            </a:pPr>
            <a:r>
              <a:rPr lang="en-US" sz="2400" dirty="0">
                <a:solidFill>
                  <a:schemeClr val="bg1"/>
                </a:solidFill>
                <a:latin typeface="Source Sans Pro" panose="020B0503030403020204" pitchFamily="34" charset="0"/>
              </a:rPr>
              <a:t>MR is always below</a:t>
            </a:r>
          </a:p>
        </p:txBody>
      </p:sp>
      <p:sp>
        <p:nvSpPr>
          <p:cNvPr id="31" name="Rectangle 3">
            <a:extLst>
              <a:ext uri="{FF2B5EF4-FFF2-40B4-BE49-F238E27FC236}">
                <a16:creationId xmlns:a16="http://schemas.microsoft.com/office/drawing/2014/main" id="{72A3D082-B88C-EF68-C847-59D3DC3678EF}"/>
              </a:ext>
            </a:extLst>
          </p:cNvPr>
          <p:cNvSpPr txBox="1">
            <a:spLocks noChangeArrowheads="1"/>
          </p:cNvSpPr>
          <p:nvPr/>
        </p:nvSpPr>
        <p:spPr>
          <a:xfrm>
            <a:off x="2046288" y="1057554"/>
            <a:ext cx="7823200" cy="984885"/>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eaLnBrk="1" hangingPunct="1">
              <a:buFontTx/>
              <a:buNone/>
            </a:pPr>
            <a:r>
              <a:rPr lang="en-US" altLang="en-US" kern="0">
                <a:ea typeface="ＭＳ Ｐゴシック" pitchFamily="34" charset="-128"/>
              </a:rPr>
              <a:t>Demand: 	</a:t>
            </a:r>
            <a:r>
              <a:rPr lang="en-US" altLang="en-US" i="1" kern="0">
                <a:ea typeface="ＭＳ Ｐゴシック" pitchFamily="34" charset="-128"/>
              </a:rPr>
              <a:t>P</a:t>
            </a:r>
            <a:r>
              <a:rPr lang="en-US" altLang="en-US" kern="0">
                <a:ea typeface="ＭＳ Ｐゴシック" pitchFamily="34" charset="-128"/>
              </a:rPr>
              <a:t> = 200 – 0.25</a:t>
            </a:r>
            <a:r>
              <a:rPr lang="en-US" altLang="en-US" i="1" kern="0">
                <a:ea typeface="ＭＳ Ｐゴシック" pitchFamily="34" charset="-128"/>
              </a:rPr>
              <a:t>Q</a:t>
            </a:r>
          </a:p>
          <a:p>
            <a:pPr marL="0" indent="0" eaLnBrk="1" hangingPunct="1">
              <a:buFontTx/>
              <a:buNone/>
            </a:pPr>
            <a:r>
              <a:rPr lang="en-US" altLang="en-US" kern="0">
                <a:ea typeface="ＭＳ Ｐゴシック" pitchFamily="34" charset="-128"/>
              </a:rPr>
              <a:t>	            MR =  200 – 0.5</a:t>
            </a:r>
            <a:r>
              <a:rPr lang="en-US" altLang="en-US" i="1" kern="0">
                <a:ea typeface="ＭＳ Ｐゴシック" pitchFamily="34" charset="-128"/>
              </a:rPr>
              <a:t>Q</a:t>
            </a:r>
            <a:endParaRPr lang="en-US" altLang="en-US" i="1" kern="0" dirty="0">
              <a:ea typeface="ＭＳ Ｐゴシック" pitchFamily="34" charset="-128"/>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9312DCF7-F27B-4982-925F-574856591FE5}"/>
                  </a:ext>
                </a:extLst>
              </p14:cNvPr>
              <p14:cNvContentPartPr/>
              <p14:nvPr/>
            </p14:nvContentPartPr>
            <p14:xfrm>
              <a:off x="924480" y="2982960"/>
              <a:ext cx="5743440" cy="2504880"/>
            </p14:xfrm>
          </p:contentPart>
        </mc:Choice>
        <mc:Fallback>
          <p:pic>
            <p:nvPicPr>
              <p:cNvPr id="2" name="Ink 1">
                <a:extLst>
                  <a:ext uri="{FF2B5EF4-FFF2-40B4-BE49-F238E27FC236}">
                    <a16:creationId xmlns:a16="http://schemas.microsoft.com/office/drawing/2014/main" id="{9312DCF7-F27B-4982-925F-574856591FE5}"/>
                  </a:ext>
                </a:extLst>
              </p:cNvPr>
              <p:cNvPicPr/>
              <p:nvPr/>
            </p:nvPicPr>
            <p:blipFill>
              <a:blip r:embed="rId3"/>
              <a:stretch>
                <a:fillRect/>
              </a:stretch>
            </p:blipFill>
            <p:spPr>
              <a:xfrm>
                <a:off x="908280" y="2966760"/>
                <a:ext cx="5775840" cy="253728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en-US" altLang="en-US" sz="3600" dirty="0">
                <a:ea typeface="ＭＳ Ｐゴシック" pitchFamily="34" charset="-128"/>
              </a:rPr>
              <a:t>MR and revenue: Example</a:t>
            </a:r>
          </a:p>
        </p:txBody>
      </p:sp>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217BAE16-CC10-4257-AA4C-65071D9368C1}" type="slidenum">
              <a:rPr lang="en-US" altLang="en-US" sz="1400">
                <a:latin typeface="Source Sans Pro" panose="020B0503030403020204" pitchFamily="34" charset="0"/>
              </a:rPr>
              <a:pPr eaLnBrk="1" hangingPunct="1"/>
              <a:t>14</a:t>
            </a:fld>
            <a:endParaRPr lang="en-US" altLang="en-US" sz="1400" dirty="0">
              <a:latin typeface="Source Sans Pro" panose="020B0503030403020204" pitchFamily="34" charset="0"/>
            </a:endParaRPr>
          </a:p>
        </p:txBody>
      </p:sp>
      <p:sp>
        <p:nvSpPr>
          <p:cNvPr id="2" name="Line 10">
            <a:extLst>
              <a:ext uri="{FF2B5EF4-FFF2-40B4-BE49-F238E27FC236}">
                <a16:creationId xmlns:a16="http://schemas.microsoft.com/office/drawing/2014/main" id="{4B732C16-95A9-D036-23A1-26B322D96856}"/>
              </a:ext>
            </a:extLst>
          </p:cNvPr>
          <p:cNvSpPr>
            <a:spLocks noChangeShapeType="1"/>
          </p:cNvSpPr>
          <p:nvPr/>
        </p:nvSpPr>
        <p:spPr bwMode="auto">
          <a:xfrm>
            <a:off x="7263513" y="2074410"/>
            <a:ext cx="0" cy="2562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ndParaRPr>
          </a:p>
        </p:txBody>
      </p:sp>
      <p:sp>
        <p:nvSpPr>
          <p:cNvPr id="4" name="Line 11">
            <a:extLst>
              <a:ext uri="{FF2B5EF4-FFF2-40B4-BE49-F238E27FC236}">
                <a16:creationId xmlns:a16="http://schemas.microsoft.com/office/drawing/2014/main" id="{B306572E-1A27-9F2F-162E-C235EE726B9F}"/>
              </a:ext>
            </a:extLst>
          </p:cNvPr>
          <p:cNvSpPr>
            <a:spLocks noChangeShapeType="1"/>
          </p:cNvSpPr>
          <p:nvPr/>
        </p:nvSpPr>
        <p:spPr bwMode="auto">
          <a:xfrm>
            <a:off x="7261925" y="4625521"/>
            <a:ext cx="29178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ndParaRPr>
          </a:p>
        </p:txBody>
      </p:sp>
      <p:sp>
        <p:nvSpPr>
          <p:cNvPr id="5" name="Text Box 12">
            <a:extLst>
              <a:ext uri="{FF2B5EF4-FFF2-40B4-BE49-F238E27FC236}">
                <a16:creationId xmlns:a16="http://schemas.microsoft.com/office/drawing/2014/main" id="{E18A8907-8BF5-57EA-D10C-EC505B0096CD}"/>
              </a:ext>
            </a:extLst>
          </p:cNvPr>
          <p:cNvSpPr txBox="1">
            <a:spLocks noChangeArrowheads="1"/>
          </p:cNvSpPr>
          <p:nvPr/>
        </p:nvSpPr>
        <p:spPr bwMode="auto">
          <a:xfrm>
            <a:off x="10132124" y="4463596"/>
            <a:ext cx="514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6" name="Text Box 13">
            <a:extLst>
              <a:ext uri="{FF2B5EF4-FFF2-40B4-BE49-F238E27FC236}">
                <a16:creationId xmlns:a16="http://schemas.microsoft.com/office/drawing/2014/main" id="{DDF98CF4-497F-4DA0-E13D-D3872963EB45}"/>
              </a:ext>
            </a:extLst>
          </p:cNvPr>
          <p:cNvSpPr txBox="1">
            <a:spLocks noChangeArrowheads="1"/>
          </p:cNvSpPr>
          <p:nvPr/>
        </p:nvSpPr>
        <p:spPr bwMode="auto">
          <a:xfrm>
            <a:off x="6492240" y="1883909"/>
            <a:ext cx="7115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a:t>
            </a:r>
            <a:endParaRPr lang="en-US" altLang="en-US" dirty="0">
              <a:latin typeface="Source Sans Pro" panose="020B0503030403020204" pitchFamily="34" charset="0"/>
            </a:endParaRPr>
          </a:p>
        </p:txBody>
      </p:sp>
      <p:sp>
        <p:nvSpPr>
          <p:cNvPr id="20" name="Arc 14">
            <a:extLst>
              <a:ext uri="{FF2B5EF4-FFF2-40B4-BE49-F238E27FC236}">
                <a16:creationId xmlns:a16="http://schemas.microsoft.com/office/drawing/2014/main" id="{63F89F54-2091-C999-3ECF-1119359B5FD4}"/>
              </a:ext>
            </a:extLst>
          </p:cNvPr>
          <p:cNvSpPr>
            <a:spLocks/>
          </p:cNvSpPr>
          <p:nvPr/>
        </p:nvSpPr>
        <p:spPr bwMode="auto">
          <a:xfrm rot="16200000">
            <a:off x="7516718" y="2464140"/>
            <a:ext cx="2152650" cy="2655888"/>
          </a:xfrm>
          <a:custGeom>
            <a:avLst/>
            <a:gdLst>
              <a:gd name="T0" fmla="*/ 2147483647 w 21600"/>
              <a:gd name="T1" fmla="*/ 0 h 42913"/>
              <a:gd name="T2" fmla="*/ 2147483647 w 21600"/>
              <a:gd name="T3" fmla="*/ 2147483647 h 42913"/>
              <a:gd name="T4" fmla="*/ 0 w 21600"/>
              <a:gd name="T5" fmla="*/ 2147483647 h 42913"/>
              <a:gd name="T6" fmla="*/ 0 60000 65536"/>
              <a:gd name="T7" fmla="*/ 0 60000 65536"/>
              <a:gd name="T8" fmla="*/ 0 60000 65536"/>
              <a:gd name="T9" fmla="*/ 0 w 21600"/>
              <a:gd name="T10" fmla="*/ 0 h 42913"/>
              <a:gd name="T11" fmla="*/ 21600 w 21600"/>
              <a:gd name="T12" fmla="*/ 42913 h 42913"/>
            </a:gdLst>
            <a:ahLst/>
            <a:cxnLst>
              <a:cxn ang="T6">
                <a:pos x="T0" y="T1"/>
              </a:cxn>
              <a:cxn ang="T7">
                <a:pos x="T2" y="T3"/>
              </a:cxn>
              <a:cxn ang="T8">
                <a:pos x="T4" y="T5"/>
              </a:cxn>
            </a:cxnLst>
            <a:rect l="T9" t="T10" r="T11" b="T12"/>
            <a:pathLst>
              <a:path w="21600" h="42913" fill="none" extrusionOk="0">
                <a:moveTo>
                  <a:pt x="2439" y="0"/>
                </a:moveTo>
                <a:cubicBezTo>
                  <a:pt x="13354" y="1241"/>
                  <a:pt x="21600" y="10476"/>
                  <a:pt x="21600" y="21462"/>
                </a:cubicBezTo>
                <a:cubicBezTo>
                  <a:pt x="21600" y="32412"/>
                  <a:pt x="13405" y="41630"/>
                  <a:pt x="2531" y="42913"/>
                </a:cubicBezTo>
              </a:path>
              <a:path w="21600" h="42913" stroke="0" extrusionOk="0">
                <a:moveTo>
                  <a:pt x="2439" y="0"/>
                </a:moveTo>
                <a:cubicBezTo>
                  <a:pt x="13354" y="1241"/>
                  <a:pt x="21600" y="10476"/>
                  <a:pt x="21600" y="21462"/>
                </a:cubicBezTo>
                <a:cubicBezTo>
                  <a:pt x="21600" y="32412"/>
                  <a:pt x="13405" y="41630"/>
                  <a:pt x="2531" y="42913"/>
                </a:cubicBezTo>
                <a:lnTo>
                  <a:pt x="0" y="21462"/>
                </a:lnTo>
                <a:lnTo>
                  <a:pt x="2439"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dirty="0">
              <a:latin typeface="Source Sans Pro" panose="020B0503030403020204" pitchFamily="34" charset="0"/>
            </a:endParaRPr>
          </a:p>
        </p:txBody>
      </p:sp>
      <p:sp>
        <p:nvSpPr>
          <p:cNvPr id="21" name="Text Box 15">
            <a:extLst>
              <a:ext uri="{FF2B5EF4-FFF2-40B4-BE49-F238E27FC236}">
                <a16:creationId xmlns:a16="http://schemas.microsoft.com/office/drawing/2014/main" id="{CDEAE42F-A030-0208-A81C-533467EBAFB9}"/>
              </a:ext>
            </a:extLst>
          </p:cNvPr>
          <p:cNvSpPr txBox="1">
            <a:spLocks noChangeArrowheads="1"/>
          </p:cNvSpPr>
          <p:nvPr/>
        </p:nvSpPr>
        <p:spPr bwMode="auto">
          <a:xfrm>
            <a:off x="9849550" y="3719059"/>
            <a:ext cx="695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R</a:t>
            </a:r>
            <a:endParaRPr lang="en-US" altLang="en-US" dirty="0">
              <a:latin typeface="Source Sans Pro" panose="020B0503030403020204" pitchFamily="34" charset="0"/>
            </a:endParaRPr>
          </a:p>
        </p:txBody>
      </p:sp>
      <p:sp>
        <p:nvSpPr>
          <p:cNvPr id="23" name="Text Box 21">
            <a:extLst>
              <a:ext uri="{FF2B5EF4-FFF2-40B4-BE49-F238E27FC236}">
                <a16:creationId xmlns:a16="http://schemas.microsoft.com/office/drawing/2014/main" id="{D92A8884-62B9-79CA-FA92-D90A11634AA1}"/>
              </a:ext>
            </a:extLst>
          </p:cNvPr>
          <p:cNvSpPr txBox="1">
            <a:spLocks noChangeArrowheads="1"/>
          </p:cNvSpPr>
          <p:nvPr/>
        </p:nvSpPr>
        <p:spPr bwMode="auto">
          <a:xfrm>
            <a:off x="8208819" y="4587421"/>
            <a:ext cx="768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CN" dirty="0">
                <a:latin typeface="Source Sans Pro" panose="020B0503030403020204" pitchFamily="34" charset="0"/>
                <a:ea typeface="SimSun" pitchFamily="2" charset="-122"/>
              </a:rPr>
              <a:t>400</a:t>
            </a:r>
            <a:endParaRPr lang="en-US" altLang="en-US" dirty="0">
              <a:latin typeface="Source Sans Pro" panose="020B0503030403020204" pitchFamily="34" charset="0"/>
            </a:endParaRPr>
          </a:p>
        </p:txBody>
      </p:sp>
      <p:sp>
        <p:nvSpPr>
          <p:cNvPr id="24" name="Line 22">
            <a:extLst>
              <a:ext uri="{FF2B5EF4-FFF2-40B4-BE49-F238E27FC236}">
                <a16:creationId xmlns:a16="http://schemas.microsoft.com/office/drawing/2014/main" id="{4618648D-EAD7-A784-68CE-E89D65A55366}"/>
              </a:ext>
            </a:extLst>
          </p:cNvPr>
          <p:cNvSpPr>
            <a:spLocks noChangeShapeType="1"/>
          </p:cNvSpPr>
          <p:nvPr/>
        </p:nvSpPr>
        <p:spPr bwMode="auto">
          <a:xfrm>
            <a:off x="8582724" y="2718935"/>
            <a:ext cx="0" cy="190658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ndParaRPr>
          </a:p>
        </p:txBody>
      </p:sp>
      <p:sp>
        <p:nvSpPr>
          <p:cNvPr id="25" name="Text Box 23">
            <a:extLst>
              <a:ext uri="{FF2B5EF4-FFF2-40B4-BE49-F238E27FC236}">
                <a16:creationId xmlns:a16="http://schemas.microsoft.com/office/drawing/2014/main" id="{9052721C-C1C4-30E5-844D-A60A636B18F7}"/>
              </a:ext>
            </a:extLst>
          </p:cNvPr>
          <p:cNvSpPr txBox="1">
            <a:spLocks noChangeArrowheads="1"/>
          </p:cNvSpPr>
          <p:nvPr/>
        </p:nvSpPr>
        <p:spPr bwMode="auto">
          <a:xfrm>
            <a:off x="6492240" y="2505527"/>
            <a:ext cx="7131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40k</a:t>
            </a:r>
            <a:endParaRPr lang="en-US" altLang="en-US" dirty="0">
              <a:latin typeface="Source Sans Pro" panose="020B0503030403020204" pitchFamily="34" charset="0"/>
            </a:endParaRPr>
          </a:p>
        </p:txBody>
      </p:sp>
      <p:sp>
        <p:nvSpPr>
          <p:cNvPr id="26" name="Line 24">
            <a:extLst>
              <a:ext uri="{FF2B5EF4-FFF2-40B4-BE49-F238E27FC236}">
                <a16:creationId xmlns:a16="http://schemas.microsoft.com/office/drawing/2014/main" id="{2CC2739F-AE7D-A505-876C-39E57B12BFE4}"/>
              </a:ext>
            </a:extLst>
          </p:cNvPr>
          <p:cNvSpPr>
            <a:spLocks noChangeShapeType="1"/>
          </p:cNvSpPr>
          <p:nvPr/>
        </p:nvSpPr>
        <p:spPr bwMode="auto">
          <a:xfrm>
            <a:off x="7260338" y="2697162"/>
            <a:ext cx="1322387"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ndParaRPr>
          </a:p>
        </p:txBody>
      </p:sp>
      <p:sp>
        <p:nvSpPr>
          <p:cNvPr id="27" name="Rectangle 3">
            <a:extLst>
              <a:ext uri="{FF2B5EF4-FFF2-40B4-BE49-F238E27FC236}">
                <a16:creationId xmlns:a16="http://schemas.microsoft.com/office/drawing/2014/main" id="{201CDDAA-047D-AA2D-821C-9C1516C25DB7}"/>
              </a:ext>
            </a:extLst>
          </p:cNvPr>
          <p:cNvSpPr txBox="1">
            <a:spLocks noChangeArrowheads="1"/>
          </p:cNvSpPr>
          <p:nvPr/>
        </p:nvSpPr>
        <p:spPr bwMode="auto">
          <a:xfrm>
            <a:off x="1426464" y="2765389"/>
            <a:ext cx="5115624" cy="504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eaLnBrk="1" hangingPunct="1">
              <a:lnSpc>
                <a:spcPct val="120000"/>
              </a:lnSpc>
            </a:pP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 = 404, </a:t>
            </a:r>
            <a:r>
              <a:rPr lang="en-US" altLang="en-US" sz="2400" i="1" kern="0" dirty="0">
                <a:latin typeface="Source Sans Pro" panose="020B0503030403020204" pitchFamily="34" charset="0"/>
                <a:ea typeface="ＭＳ Ｐゴシック" pitchFamily="34" charset="-128"/>
              </a:rPr>
              <a:t>P</a:t>
            </a:r>
            <a:r>
              <a:rPr lang="en-US" altLang="en-US" sz="2400" i="1"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 = 99,  so </a:t>
            </a:r>
            <a:r>
              <a:rPr lang="en-US" altLang="en-US" sz="2400" i="1" kern="0" dirty="0">
                <a:latin typeface="Source Sans Pro" panose="020B0503030403020204" pitchFamily="34" charset="0"/>
                <a:ea typeface="ＭＳ Ｐゴシック" pitchFamily="34" charset="-128"/>
              </a:rPr>
              <a:t>R</a:t>
            </a:r>
            <a:r>
              <a:rPr lang="en-US" altLang="en-US" sz="2400" i="1"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 = $39,996</a:t>
            </a:r>
          </a:p>
        </p:txBody>
      </p:sp>
      <p:sp>
        <p:nvSpPr>
          <p:cNvPr id="28" name="Rectangle 3">
            <a:extLst>
              <a:ext uri="{FF2B5EF4-FFF2-40B4-BE49-F238E27FC236}">
                <a16:creationId xmlns:a16="http://schemas.microsoft.com/office/drawing/2014/main" id="{65FECDDF-9F86-20AC-3680-72A51DDEFBB3}"/>
              </a:ext>
            </a:extLst>
          </p:cNvPr>
          <p:cNvSpPr txBox="1">
            <a:spLocks noChangeArrowheads="1"/>
          </p:cNvSpPr>
          <p:nvPr/>
        </p:nvSpPr>
        <p:spPr bwMode="auto">
          <a:xfrm>
            <a:off x="1426464" y="3423710"/>
            <a:ext cx="5115624" cy="504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eaLnBrk="1" hangingPunct="1">
              <a:lnSpc>
                <a:spcPct val="120000"/>
              </a:lnSpc>
            </a:pP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2</a:t>
            </a:r>
            <a:r>
              <a:rPr lang="en-US" altLang="en-US" sz="2400" kern="0" dirty="0">
                <a:latin typeface="Source Sans Pro" panose="020B0503030403020204" pitchFamily="34" charset="0"/>
                <a:ea typeface="ＭＳ Ｐゴシック" pitchFamily="34" charset="-128"/>
              </a:rPr>
              <a:t> = 396, </a:t>
            </a:r>
            <a:r>
              <a:rPr lang="en-US" altLang="en-US" sz="2400" i="1" kern="0" dirty="0">
                <a:latin typeface="Source Sans Pro" panose="020B0503030403020204" pitchFamily="34" charset="0"/>
                <a:ea typeface="ＭＳ Ｐゴシック" pitchFamily="34" charset="-128"/>
              </a:rPr>
              <a:t>P</a:t>
            </a:r>
            <a:r>
              <a:rPr lang="en-US" altLang="en-US" sz="2400" i="1" kern="0" baseline="-25000" dirty="0">
                <a:latin typeface="Source Sans Pro" panose="020B0503030403020204" pitchFamily="34" charset="0"/>
                <a:ea typeface="ＭＳ Ｐゴシック" pitchFamily="34" charset="-128"/>
              </a:rPr>
              <a:t>2</a:t>
            </a:r>
            <a:r>
              <a:rPr lang="en-US" altLang="en-US" sz="2400" kern="0" dirty="0">
                <a:latin typeface="Source Sans Pro" panose="020B0503030403020204" pitchFamily="34" charset="0"/>
                <a:ea typeface="ＭＳ Ｐゴシック" pitchFamily="34" charset="-128"/>
              </a:rPr>
              <a:t> = 101, so </a:t>
            </a:r>
            <a:r>
              <a:rPr lang="en-US" altLang="en-US" sz="2400" i="1" kern="0" dirty="0">
                <a:latin typeface="Source Sans Pro" panose="020B0503030403020204" pitchFamily="34" charset="0"/>
                <a:ea typeface="ＭＳ Ｐゴシック" pitchFamily="34" charset="-128"/>
              </a:rPr>
              <a:t>R</a:t>
            </a:r>
            <a:r>
              <a:rPr lang="en-US" altLang="en-US" sz="2400" i="1" kern="0" baseline="-25000" dirty="0">
                <a:latin typeface="Source Sans Pro" panose="020B0503030403020204" pitchFamily="34" charset="0"/>
                <a:ea typeface="ＭＳ Ｐゴシック" pitchFamily="34" charset="-128"/>
              </a:rPr>
              <a:t>2</a:t>
            </a:r>
            <a:r>
              <a:rPr lang="en-US" altLang="en-US" sz="2400" kern="0" dirty="0">
                <a:latin typeface="Source Sans Pro" panose="020B0503030403020204" pitchFamily="34" charset="0"/>
                <a:ea typeface="ＭＳ Ｐゴシック" pitchFamily="34" charset="-128"/>
              </a:rPr>
              <a:t> = $39,996</a:t>
            </a:r>
          </a:p>
        </p:txBody>
      </p:sp>
      <p:sp>
        <p:nvSpPr>
          <p:cNvPr id="29" name="Rectangle 3">
            <a:extLst>
              <a:ext uri="{FF2B5EF4-FFF2-40B4-BE49-F238E27FC236}">
                <a16:creationId xmlns:a16="http://schemas.microsoft.com/office/drawing/2014/main" id="{496C4577-6DD3-0710-1654-2DCBA716A05F}"/>
              </a:ext>
            </a:extLst>
          </p:cNvPr>
          <p:cNvSpPr txBox="1">
            <a:spLocks noChangeArrowheads="1"/>
          </p:cNvSpPr>
          <p:nvPr/>
        </p:nvSpPr>
        <p:spPr bwMode="auto">
          <a:xfrm>
            <a:off x="1426464" y="4082029"/>
            <a:ext cx="5115624"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eaLnBrk="1" hangingPunct="1">
              <a:lnSpc>
                <a:spcPct val="120000"/>
              </a:lnSpc>
            </a:pPr>
            <a:r>
              <a:rPr lang="en-US" altLang="en-US" sz="2400" kern="0" dirty="0">
                <a:latin typeface="Source Sans Pro" panose="020B0503030403020204" pitchFamily="34" charset="0"/>
                <a:ea typeface="ＭＳ Ｐゴシック" pitchFamily="34" charset="-128"/>
              </a:rPr>
              <a:t>Revenue is </a:t>
            </a:r>
            <a:r>
              <a:rPr lang="en-US" altLang="en-US" sz="2400" b="1" kern="0" dirty="0">
                <a:latin typeface="Source Sans Pro" panose="020B0503030403020204" pitchFamily="34" charset="0"/>
                <a:ea typeface="ＭＳ Ｐゴシック" pitchFamily="34" charset="-128"/>
              </a:rPr>
              <a:t>reduced </a:t>
            </a:r>
            <a:r>
              <a:rPr lang="en-US" altLang="en-US" sz="2400" kern="0" dirty="0">
                <a:latin typeface="Source Sans Pro" panose="020B0503030403020204" pitchFamily="34" charset="0"/>
                <a:ea typeface="ＭＳ Ｐゴシック" pitchFamily="34" charset="-128"/>
              </a:rPr>
              <a:t>as we move in </a:t>
            </a:r>
            <a:r>
              <a:rPr lang="en-US" altLang="en-US" sz="2400" b="1" kern="0" dirty="0">
                <a:latin typeface="Source Sans Pro" panose="020B0503030403020204" pitchFamily="34" charset="0"/>
                <a:ea typeface="ＭＳ Ｐゴシック" pitchFamily="34" charset="-128"/>
              </a:rPr>
              <a:t>either direction </a:t>
            </a:r>
            <a:r>
              <a:rPr lang="en-US" altLang="en-US" sz="2400" kern="0" dirty="0">
                <a:latin typeface="Source Sans Pro" panose="020B0503030403020204" pitchFamily="34" charset="0"/>
                <a:ea typeface="ＭＳ Ｐゴシック" pitchFamily="34" charset="-128"/>
              </a:rPr>
              <a:t>from the top of the revenue curve</a:t>
            </a:r>
          </a:p>
        </p:txBody>
      </p:sp>
      <p:cxnSp>
        <p:nvCxnSpPr>
          <p:cNvPr id="30" name="Straight Connector 29">
            <a:extLst>
              <a:ext uri="{FF2B5EF4-FFF2-40B4-BE49-F238E27FC236}">
                <a16:creationId xmlns:a16="http://schemas.microsoft.com/office/drawing/2014/main" id="{52B90F34-C800-168D-4D04-8A7F72FFBAA9}"/>
              </a:ext>
            </a:extLst>
          </p:cNvPr>
          <p:cNvCxnSpPr/>
          <p:nvPr/>
        </p:nvCxnSpPr>
        <p:spPr>
          <a:xfrm flipV="1">
            <a:off x="8720836" y="2739571"/>
            <a:ext cx="0" cy="1885950"/>
          </a:xfrm>
          <a:prstGeom prst="line">
            <a:avLst/>
          </a:prstGeom>
          <a:ln w="19050">
            <a:solidFill>
              <a:srgbClr val="007360"/>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0E196C7-021F-3842-74AD-D05DA658B633}"/>
              </a:ext>
            </a:extLst>
          </p:cNvPr>
          <p:cNvCxnSpPr/>
          <p:nvPr/>
        </p:nvCxnSpPr>
        <p:spPr>
          <a:xfrm flipV="1">
            <a:off x="8426921" y="2739571"/>
            <a:ext cx="0" cy="1885950"/>
          </a:xfrm>
          <a:prstGeom prst="line">
            <a:avLst/>
          </a:prstGeom>
          <a:ln w="19050">
            <a:solidFill>
              <a:srgbClr val="007360"/>
            </a:solidFill>
            <a:prstDash val="dash"/>
          </a:ln>
        </p:spPr>
        <p:style>
          <a:lnRef idx="1">
            <a:schemeClr val="accent1"/>
          </a:lnRef>
          <a:fillRef idx="0">
            <a:schemeClr val="accent1"/>
          </a:fillRef>
          <a:effectRef idx="0">
            <a:schemeClr val="accent1"/>
          </a:effectRef>
          <a:fontRef idx="minor">
            <a:schemeClr val="tx1"/>
          </a:fontRef>
        </p:style>
      </p:cxnSp>
      <p:sp>
        <p:nvSpPr>
          <p:cNvPr id="32" name="Rectangle 3">
            <a:extLst>
              <a:ext uri="{FF2B5EF4-FFF2-40B4-BE49-F238E27FC236}">
                <a16:creationId xmlns:a16="http://schemas.microsoft.com/office/drawing/2014/main" id="{E37314DE-0172-B885-20EF-17CA86C5DBAF}"/>
              </a:ext>
            </a:extLst>
          </p:cNvPr>
          <p:cNvSpPr txBox="1">
            <a:spLocks noChangeArrowheads="1"/>
          </p:cNvSpPr>
          <p:nvPr/>
        </p:nvSpPr>
        <p:spPr bwMode="auto">
          <a:xfrm>
            <a:off x="1426464" y="1663869"/>
            <a:ext cx="5115624" cy="948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eaLnBrk="1" hangingPunct="1">
              <a:lnSpc>
                <a:spcPct val="120000"/>
              </a:lnSpc>
            </a:pPr>
            <a:r>
              <a:rPr lang="en-US" altLang="en-US" kern="0" dirty="0">
                <a:ea typeface="ＭＳ Ｐゴシック" pitchFamily="34" charset="-128"/>
              </a:rPr>
              <a:t>What if you think </a:t>
            </a:r>
            <a:r>
              <a:rPr lang="en-US" altLang="en-US" i="1" kern="0" dirty="0">
                <a:ea typeface="ＭＳ Ｐゴシック" pitchFamily="34" charset="-128"/>
              </a:rPr>
              <a:t>Q*</a:t>
            </a:r>
            <a:r>
              <a:rPr lang="en-US" altLang="en-US" kern="0" dirty="0">
                <a:ea typeface="ＭＳ Ｐゴシック" pitchFamily="34" charset="-128"/>
              </a:rPr>
              <a:t> = 400 isn’t the right answer?</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0C92704-33F1-5481-D386-1DCD6F966401}"/>
                  </a:ext>
                </a:extLst>
              </p14:cNvPr>
              <p14:cNvContentPartPr/>
              <p14:nvPr/>
            </p14:nvContentPartPr>
            <p14:xfrm>
              <a:off x="7197840" y="158400"/>
              <a:ext cx="3610080" cy="2025720"/>
            </p14:xfrm>
          </p:contentPart>
        </mc:Choice>
        <mc:Fallback>
          <p:pic>
            <p:nvPicPr>
              <p:cNvPr id="3" name="Ink 2">
                <a:extLst>
                  <a:ext uri="{FF2B5EF4-FFF2-40B4-BE49-F238E27FC236}">
                    <a16:creationId xmlns:a16="http://schemas.microsoft.com/office/drawing/2014/main" id="{60C92704-33F1-5481-D386-1DCD6F966401}"/>
                  </a:ext>
                </a:extLst>
              </p:cNvPr>
              <p:cNvPicPr/>
              <p:nvPr/>
            </p:nvPicPr>
            <p:blipFill>
              <a:blip r:embed="rId3"/>
              <a:stretch>
                <a:fillRect/>
              </a:stretch>
            </p:blipFill>
            <p:spPr>
              <a:xfrm>
                <a:off x="7181640" y="142200"/>
                <a:ext cx="3642480" cy="20581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en-US" altLang="en-US" sz="3600" dirty="0">
                <a:ea typeface="ＭＳ Ｐゴシック" pitchFamily="34" charset="-128"/>
              </a:rPr>
              <a:t>Elasticity and revenue</a:t>
            </a:r>
          </a:p>
        </p:txBody>
      </p:sp>
      <p:sp>
        <p:nvSpPr>
          <p:cNvPr id="276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4CD9CE78-6A2A-4ECD-BA79-1ED988EDE7BB}" type="slidenum">
              <a:rPr lang="en-US" altLang="en-US" sz="1400">
                <a:latin typeface="Source Sans Pro" panose="020B0503030403020204" pitchFamily="34" charset="0"/>
              </a:rPr>
              <a:pPr eaLnBrk="1" hangingPunct="1"/>
              <a:t>15</a:t>
            </a:fld>
            <a:endParaRPr lang="en-US" altLang="en-US" sz="1400" dirty="0">
              <a:latin typeface="Source Sans Pro" panose="020B0503030403020204" pitchFamily="34" charset="0"/>
            </a:endParaRP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049F428E-8C12-6CEF-F9F9-557C9D73A4CE}"/>
                  </a:ext>
                </a:extLst>
              </p:cNvPr>
              <p:cNvSpPr txBox="1">
                <a:spLocks noChangeArrowheads="1"/>
              </p:cNvSpPr>
              <p:nvPr/>
            </p:nvSpPr>
            <p:spPr bwMode="auto">
              <a:xfrm>
                <a:off x="868680" y="2233773"/>
                <a:ext cx="10579608" cy="74392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400" kern="0" dirty="0">
                    <a:latin typeface="Source Sans Pro" panose="020B0503030403020204" pitchFamily="34" charset="0"/>
                    <a:ea typeface="ＭＳ Ｐゴシック" pitchFamily="34" charset="-128"/>
                  </a:rPr>
                  <a:t>Recall: </a:t>
                </a:r>
                <a:r>
                  <a:rPr lang="en-US" altLang="en-US" sz="2400" kern="0" dirty="0" err="1">
                    <a:latin typeface="Source Sans Pro" panose="020B0503030403020204" pitchFamily="34" charset="0"/>
                    <a:ea typeface="ＭＳ Ｐゴシック" pitchFamily="34" charset="-128"/>
                  </a:rPr>
                  <a:t>ε</a:t>
                </a:r>
                <a:r>
                  <a:rPr lang="en-US" altLang="en-US" sz="2400" kern="0" baseline="-25000" dirty="0" err="1">
                    <a:latin typeface="Source Sans Pro" panose="020B0503030403020204" pitchFamily="34" charset="0"/>
                    <a:ea typeface="ＭＳ Ｐゴシック" pitchFamily="34" charset="-128"/>
                  </a:rPr>
                  <a:t>D</a:t>
                </a:r>
                <a:r>
                  <a:rPr lang="en-US" altLang="en-US" sz="2400" kern="0" dirty="0">
                    <a:latin typeface="Source Sans Pro" panose="020B0503030403020204" pitchFamily="34" charset="0"/>
                    <a:ea typeface="ＭＳ Ｐゴシック" pitchFamily="34" charset="-128"/>
                  </a:rPr>
                  <a:t> = </a:t>
                </a:r>
                <a14:m>
                  <m:oMath xmlns:m="http://schemas.openxmlformats.org/officeDocument/2006/math">
                    <m:f>
                      <m:fPr>
                        <m:ctrlPr>
                          <a:rPr lang="en-US" altLang="en-US" sz="2400" i="1" kern="0">
                            <a:latin typeface="Cambria Math" panose="02040503050406030204" pitchFamily="18" charset="0"/>
                            <a:ea typeface="ＭＳ Ｐゴシック" pitchFamily="34" charset="-128"/>
                          </a:rPr>
                        </m:ctrlPr>
                      </m:fPr>
                      <m:num>
                        <m:r>
                          <m:rPr>
                            <m:nor/>
                          </m:rPr>
                          <a:rPr lang="en-US" altLang="en-US" sz="2400" kern="0" dirty="0">
                            <a:latin typeface="Source Sans Pro" panose="020B0503030403020204" pitchFamily="34" charset="0"/>
                            <a:ea typeface="ＭＳ Ｐゴシック" pitchFamily="34" charset="-128"/>
                            <a:sym typeface="Symbol" pitchFamily="18" charset="2"/>
                          </a:rPr>
                          <m:t>Δ</m:t>
                        </m:r>
                        <m:r>
                          <m:rPr>
                            <m:nor/>
                          </m:rPr>
                          <a:rPr lang="en-US" altLang="en-US" sz="2400" i="1" kern="0" dirty="0">
                            <a:latin typeface="Source Sans Pro" panose="020B0503030403020204" pitchFamily="34" charset="0"/>
                            <a:ea typeface="ＭＳ Ｐゴシック" pitchFamily="34" charset="-128"/>
                          </a:rPr>
                          <m:t>Q</m:t>
                        </m:r>
                        <m:r>
                          <m:rPr>
                            <m:nor/>
                          </m:rPr>
                          <a:rPr lang="en-US" altLang="en-US" sz="2400" kern="0" dirty="0">
                            <a:latin typeface="Source Sans Pro" panose="020B0503030403020204" pitchFamily="34" charset="0"/>
                            <a:ea typeface="ＭＳ Ｐゴシック" pitchFamily="34" charset="-128"/>
                          </a:rPr>
                          <m:t>/</m:t>
                        </m:r>
                        <m:r>
                          <m:rPr>
                            <m:nor/>
                          </m:rPr>
                          <a:rPr lang="en-US" altLang="en-US" sz="2400" i="1" kern="0" dirty="0">
                            <a:latin typeface="Source Sans Pro" panose="020B0503030403020204" pitchFamily="34" charset="0"/>
                            <a:ea typeface="ＭＳ Ｐゴシック" pitchFamily="34" charset="-128"/>
                          </a:rPr>
                          <m:t>Q</m:t>
                        </m:r>
                      </m:num>
                      <m:den>
                        <m:r>
                          <m:rPr>
                            <m:nor/>
                          </m:rPr>
                          <a:rPr lang="en-US" altLang="en-US" sz="2400" kern="0" dirty="0">
                            <a:latin typeface="Source Sans Pro" panose="020B0503030403020204" pitchFamily="34" charset="0"/>
                            <a:ea typeface="ＭＳ Ｐゴシック" pitchFamily="34" charset="-128"/>
                          </a:rPr>
                          <m:t>Δ</m:t>
                        </m:r>
                        <m:r>
                          <m:rPr>
                            <m:nor/>
                          </m:rPr>
                          <a:rPr lang="en-US" altLang="en-US" sz="2400" i="1" kern="0" dirty="0">
                            <a:latin typeface="Source Sans Pro" panose="020B0503030403020204" pitchFamily="34" charset="0"/>
                            <a:ea typeface="ＭＳ Ｐゴシック" pitchFamily="34" charset="-128"/>
                          </a:rPr>
                          <m:t>P</m:t>
                        </m:r>
                        <m:r>
                          <m:rPr>
                            <m:nor/>
                          </m:rPr>
                          <a:rPr lang="en-US" altLang="en-US" sz="2400" kern="0" dirty="0">
                            <a:latin typeface="Source Sans Pro" panose="020B0503030403020204" pitchFamily="34" charset="0"/>
                            <a:ea typeface="ＭＳ Ｐゴシック" pitchFamily="34" charset="-128"/>
                          </a:rPr>
                          <m:t>/</m:t>
                        </m:r>
                        <m:r>
                          <m:rPr>
                            <m:nor/>
                          </m:rPr>
                          <a:rPr lang="en-US" altLang="en-US" sz="2400" i="1" kern="0" dirty="0">
                            <a:latin typeface="Source Sans Pro" panose="020B0503030403020204" pitchFamily="34" charset="0"/>
                            <a:ea typeface="ＭＳ Ｐゴシック" pitchFamily="34" charset="-128"/>
                          </a:rPr>
                          <m:t>P</m:t>
                        </m:r>
                      </m:den>
                    </m:f>
                  </m:oMath>
                </a14:m>
                <a:r>
                  <a:rPr lang="en-US" altLang="en-US" sz="2400" kern="0" dirty="0">
                    <a:latin typeface="Source Sans Pro" panose="020B0503030403020204" pitchFamily="34" charset="0"/>
                    <a:ea typeface="ＭＳ Ｐゴシック" pitchFamily="34" charset="-128"/>
                  </a:rPr>
                  <a:t>   or   </a:t>
                </a:r>
                <a14:m>
                  <m:oMath xmlns:m="http://schemas.openxmlformats.org/officeDocument/2006/math">
                    <m:f>
                      <m:fPr>
                        <m:ctrlPr>
                          <a:rPr lang="en-US" altLang="en-US" sz="2400" i="1" kern="0">
                            <a:latin typeface="Cambria Math" panose="02040503050406030204" pitchFamily="18" charset="0"/>
                            <a:ea typeface="ＭＳ Ｐゴシック" pitchFamily="34" charset="-128"/>
                          </a:rPr>
                        </m:ctrlPr>
                      </m:fPr>
                      <m:num>
                        <m:r>
                          <m:rPr>
                            <m:nor/>
                          </m:rPr>
                          <a:rPr lang="en-US" altLang="en-US" sz="2400" i="1" kern="0" dirty="0">
                            <a:latin typeface="Source Sans Pro" panose="020B0503030403020204" pitchFamily="34" charset="0"/>
                            <a:ea typeface="ＭＳ Ｐゴシック" pitchFamily="34" charset="-128"/>
                          </a:rPr>
                          <m:t>dQ</m:t>
                        </m:r>
                      </m:num>
                      <m:den>
                        <m:r>
                          <m:rPr>
                            <m:nor/>
                          </m:rPr>
                          <a:rPr lang="en-US" altLang="en-US" sz="2400" i="1" kern="0" dirty="0">
                            <a:latin typeface="Source Sans Pro" panose="020B0503030403020204" pitchFamily="34" charset="0"/>
                            <a:ea typeface="ＭＳ Ｐゴシック" pitchFamily="34" charset="-128"/>
                          </a:rPr>
                          <m:t>dP</m:t>
                        </m:r>
                      </m:den>
                    </m:f>
                  </m:oMath>
                </a14:m>
                <a:r>
                  <a:rPr lang="en-US" altLang="en-US" sz="2400"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14:m>
                  <m:oMath xmlns:m="http://schemas.openxmlformats.org/officeDocument/2006/math">
                    <m:f>
                      <m:fPr>
                        <m:ctrlPr>
                          <a:rPr lang="en-US" altLang="en-US" sz="2400" i="1" kern="0">
                            <a:latin typeface="Cambria Math" panose="02040503050406030204" pitchFamily="18" charset="0"/>
                            <a:ea typeface="ＭＳ Ｐゴシック" pitchFamily="34" charset="-128"/>
                          </a:rPr>
                        </m:ctrlPr>
                      </m:fPr>
                      <m:num>
                        <m:r>
                          <m:rPr>
                            <m:nor/>
                          </m:rPr>
                          <a:rPr lang="en-US" altLang="en-US" sz="2400" i="1" kern="0" dirty="0">
                            <a:latin typeface="Source Sans Pro" panose="020B0503030403020204" pitchFamily="34" charset="0"/>
                            <a:ea typeface="ＭＳ Ｐゴシック" pitchFamily="34" charset="-128"/>
                          </a:rPr>
                          <m:t>P</m:t>
                        </m:r>
                      </m:num>
                      <m:den>
                        <m:r>
                          <m:rPr>
                            <m:nor/>
                          </m:rPr>
                          <a:rPr lang="en-US" altLang="en-US" sz="2400" i="1" kern="0" dirty="0">
                            <a:latin typeface="Source Sans Pro" panose="020B0503030403020204" pitchFamily="34" charset="0"/>
                            <a:ea typeface="ＭＳ Ｐゴシック" pitchFamily="34" charset="-128"/>
                          </a:rPr>
                          <m:t>Q</m:t>
                        </m:r>
                      </m:den>
                    </m:f>
                  </m:oMath>
                </a14:m>
                <a:endParaRPr lang="en-US" altLang="en-US" sz="2400" kern="0" dirty="0">
                  <a:latin typeface="Source Sans Pro" panose="020B0503030403020204" pitchFamily="34" charset="0"/>
                  <a:ea typeface="ＭＳ Ｐゴシック" pitchFamily="34" charset="-128"/>
                </a:endParaRPr>
              </a:p>
            </p:txBody>
          </p:sp>
        </mc:Choice>
        <mc:Fallback xmlns="">
          <p:sp>
            <p:nvSpPr>
              <p:cNvPr id="2" name="Rectangle 3">
                <a:extLst>
                  <a:ext uri="{FF2B5EF4-FFF2-40B4-BE49-F238E27FC236}">
                    <a16:creationId xmlns:a16="http://schemas.microsoft.com/office/drawing/2014/main" id="{049F428E-8C12-6CEF-F9F9-557C9D73A4CE}"/>
                  </a:ext>
                </a:extLst>
              </p:cNvPr>
              <p:cNvSpPr txBox="1">
                <a:spLocks noRot="1" noChangeAspect="1" noMove="1" noResize="1" noEditPoints="1" noAdjustHandles="1" noChangeArrowheads="1" noChangeShapeType="1" noTextEdit="1"/>
              </p:cNvSpPr>
              <p:nvPr/>
            </p:nvSpPr>
            <p:spPr bwMode="auto">
              <a:xfrm>
                <a:off x="868680" y="2233773"/>
                <a:ext cx="10579608" cy="743922"/>
              </a:xfrm>
              <a:prstGeom prst="rect">
                <a:avLst/>
              </a:prstGeom>
              <a:blipFill>
                <a:blip r:embed="rId2"/>
                <a:stretch>
                  <a:fillRect l="-959" b="-1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3" name="Rectangle 3">
            <a:extLst>
              <a:ext uri="{FF2B5EF4-FFF2-40B4-BE49-F238E27FC236}">
                <a16:creationId xmlns:a16="http://schemas.microsoft.com/office/drawing/2014/main" id="{FD7D5349-42D4-EB80-E427-DEDB18BD67B0}"/>
              </a:ext>
            </a:extLst>
          </p:cNvPr>
          <p:cNvSpPr txBox="1">
            <a:spLocks noChangeArrowheads="1"/>
          </p:cNvSpPr>
          <p:nvPr/>
        </p:nvSpPr>
        <p:spPr bwMode="auto">
          <a:xfrm>
            <a:off x="868680" y="3022173"/>
            <a:ext cx="105796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400" kern="0" dirty="0">
                <a:latin typeface="Source Sans Pro" panose="020B0503030403020204" pitchFamily="34" charset="0"/>
                <a:ea typeface="ＭＳ Ｐゴシック" pitchFamily="34" charset="-128"/>
              </a:rPr>
              <a:t>Revenue maximized where MR = 0</a:t>
            </a:r>
          </a:p>
        </p:txBody>
      </p:sp>
      <p:sp>
        <p:nvSpPr>
          <p:cNvPr id="4" name="Rectangle 3">
            <a:extLst>
              <a:ext uri="{FF2B5EF4-FFF2-40B4-BE49-F238E27FC236}">
                <a16:creationId xmlns:a16="http://schemas.microsoft.com/office/drawing/2014/main" id="{94A27746-FEA8-B168-6CC7-1ADB59DCB057}"/>
              </a:ext>
            </a:extLst>
          </p:cNvPr>
          <p:cNvSpPr txBox="1">
            <a:spLocks noChangeArrowheads="1"/>
          </p:cNvSpPr>
          <p:nvPr/>
        </p:nvSpPr>
        <p:spPr bwMode="auto">
          <a:xfrm>
            <a:off x="868680" y="3528316"/>
            <a:ext cx="10579608"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lgn="ctr" eaLnBrk="1" hangingPunct="1">
              <a:buNone/>
            </a:pPr>
            <a:r>
              <a:rPr lang="en-US" altLang="en-US" sz="2400" i="1" kern="0" dirty="0">
                <a:latin typeface="Source Sans Pro" panose="020B0503030403020204" pitchFamily="34" charset="0"/>
                <a:ea typeface="ＭＳ Ｐゴシック" pitchFamily="34" charset="-128"/>
              </a:rPr>
              <a:t>P</a:t>
            </a:r>
            <a:r>
              <a:rPr lang="en-US" altLang="en-US" sz="2400" kern="0" dirty="0">
                <a:latin typeface="Source Sans Pro" panose="020B0503030403020204" pitchFamily="34" charset="0"/>
                <a:ea typeface="ＭＳ Ｐゴシック" pitchFamily="34" charset="-128"/>
              </a:rPr>
              <a:t> + (</a:t>
            </a:r>
            <a:r>
              <a:rPr lang="en-US" altLang="en-US" sz="2400" i="1" kern="0" dirty="0" err="1">
                <a:latin typeface="Source Sans Pro" panose="020B0503030403020204" pitchFamily="34" charset="0"/>
                <a:ea typeface="ＭＳ Ｐゴシック" pitchFamily="34" charset="-128"/>
              </a:rPr>
              <a:t>dP</a:t>
            </a:r>
            <a:r>
              <a:rPr lang="en-US" altLang="en-US" sz="2400" kern="0" dirty="0">
                <a:latin typeface="Source Sans Pro" panose="020B0503030403020204" pitchFamily="34" charset="0"/>
                <a:ea typeface="ＭＳ Ｐゴシック" pitchFamily="34" charset="-128"/>
              </a:rPr>
              <a:t>/</a:t>
            </a:r>
            <a:r>
              <a:rPr lang="en-US" altLang="en-US" sz="2400" i="1" kern="0" dirty="0" err="1">
                <a:latin typeface="Source Sans Pro" panose="020B0503030403020204" pitchFamily="34" charset="0"/>
                <a:ea typeface="ＭＳ Ｐゴシック" pitchFamily="34" charset="-128"/>
              </a:rPr>
              <a:t>dQ</a:t>
            </a:r>
            <a:r>
              <a:rPr lang="en-US" altLang="en-US" sz="2400"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a:latin typeface="Source Sans Pro" panose="020B0503030403020204" pitchFamily="34" charset="0"/>
                <a:ea typeface="ＭＳ Ｐゴシック" pitchFamily="34" charset="-128"/>
              </a:rPr>
              <a:t>Q</a:t>
            </a:r>
            <a:r>
              <a:rPr lang="en-US" altLang="en-US" sz="2400" kern="0" dirty="0">
                <a:latin typeface="Source Sans Pro" panose="020B0503030403020204" pitchFamily="34" charset="0"/>
                <a:ea typeface="ＭＳ Ｐゴシック" pitchFamily="34" charset="-128"/>
              </a:rPr>
              <a:t> = 0</a:t>
            </a:r>
          </a:p>
          <a:p>
            <a:pPr marL="0" indent="0" algn="ctr" eaLnBrk="1" hangingPunct="1">
              <a:buNone/>
            </a:pPr>
            <a:r>
              <a:rPr lang="en-US" altLang="en-US" sz="2400" i="1" kern="0" dirty="0">
                <a:latin typeface="Source Sans Pro" panose="020B0503030403020204" pitchFamily="34" charset="0"/>
                <a:ea typeface="ＭＳ Ｐゴシック" pitchFamily="34" charset="-128"/>
              </a:rPr>
              <a:t>P</a:t>
            </a:r>
            <a:r>
              <a:rPr lang="en-US" altLang="en-US" sz="2400" kern="0" dirty="0">
                <a:latin typeface="Source Sans Pro" panose="020B0503030403020204" pitchFamily="34" charset="0"/>
                <a:ea typeface="ＭＳ Ｐゴシック" pitchFamily="34" charset="-128"/>
              </a:rPr>
              <a:t> = - (</a:t>
            </a:r>
            <a:r>
              <a:rPr lang="en-US" altLang="en-US" sz="2400" i="1" kern="0" dirty="0" err="1">
                <a:latin typeface="Source Sans Pro" panose="020B0503030403020204" pitchFamily="34" charset="0"/>
                <a:ea typeface="ＭＳ Ｐゴシック" pitchFamily="34" charset="-128"/>
              </a:rPr>
              <a:t>dP</a:t>
            </a:r>
            <a:r>
              <a:rPr lang="en-US" altLang="en-US" sz="2400" kern="0" dirty="0">
                <a:latin typeface="Source Sans Pro" panose="020B0503030403020204" pitchFamily="34" charset="0"/>
                <a:ea typeface="ＭＳ Ｐゴシック" pitchFamily="34" charset="-128"/>
              </a:rPr>
              <a:t>/</a:t>
            </a:r>
            <a:r>
              <a:rPr lang="en-US" altLang="en-US" sz="2400" i="1" kern="0" dirty="0" err="1">
                <a:latin typeface="Source Sans Pro" panose="020B0503030403020204" pitchFamily="34" charset="0"/>
                <a:ea typeface="ＭＳ Ｐゴシック" pitchFamily="34" charset="-128"/>
              </a:rPr>
              <a:t>dQ</a:t>
            </a:r>
            <a:r>
              <a:rPr lang="en-US" altLang="en-US" sz="2400"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a:latin typeface="Source Sans Pro" panose="020B0503030403020204" pitchFamily="34" charset="0"/>
                <a:ea typeface="ＭＳ Ｐゴシック" pitchFamily="34" charset="-128"/>
              </a:rPr>
              <a:t>Q</a:t>
            </a:r>
          </a:p>
          <a:p>
            <a:pPr marL="0" indent="0" algn="ctr" eaLnBrk="1" hangingPunct="1">
              <a:buNone/>
            </a:pPr>
            <a:r>
              <a:rPr lang="en-US" altLang="en-US" sz="2400" kern="0" dirty="0">
                <a:latin typeface="Source Sans Pro" panose="020B0503030403020204" pitchFamily="34" charset="0"/>
                <a:ea typeface="ＭＳ Ｐゴシック" pitchFamily="34" charset="-128"/>
              </a:rPr>
              <a:t>1 = - (</a:t>
            </a:r>
            <a:r>
              <a:rPr lang="en-US" altLang="en-US" sz="2400" i="1" kern="0" dirty="0" err="1">
                <a:latin typeface="Source Sans Pro" panose="020B0503030403020204" pitchFamily="34" charset="0"/>
                <a:ea typeface="ＭＳ Ｐゴシック" pitchFamily="34" charset="-128"/>
              </a:rPr>
              <a:t>dP</a:t>
            </a:r>
            <a:r>
              <a:rPr lang="en-US" altLang="en-US" sz="2400" kern="0" dirty="0">
                <a:latin typeface="Source Sans Pro" panose="020B0503030403020204" pitchFamily="34" charset="0"/>
                <a:ea typeface="ＭＳ Ｐゴシック" pitchFamily="34" charset="-128"/>
              </a:rPr>
              <a:t>/</a:t>
            </a:r>
            <a:r>
              <a:rPr lang="en-US" altLang="en-US" sz="2400" i="1" kern="0" dirty="0" err="1">
                <a:latin typeface="Source Sans Pro" panose="020B0503030403020204" pitchFamily="34" charset="0"/>
                <a:ea typeface="ＭＳ Ｐゴシック" pitchFamily="34" charset="-128"/>
              </a:rPr>
              <a:t>dQ</a:t>
            </a:r>
            <a:r>
              <a:rPr lang="en-US" altLang="en-US" sz="2400"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sym typeface="Symbol" pitchFamily="18" charset="2"/>
              </a:rPr>
              <a:t>x </a:t>
            </a:r>
            <a:r>
              <a:rPr lang="en-US" altLang="en-US" sz="2400" i="1" kern="0" dirty="0">
                <a:latin typeface="Source Sans Pro" panose="020B0503030403020204" pitchFamily="34" charset="0"/>
                <a:ea typeface="ＭＳ Ｐゴシック" pitchFamily="34" charset="-128"/>
              </a:rPr>
              <a:t>Q/P</a:t>
            </a:r>
          </a:p>
          <a:p>
            <a:pPr marL="0" indent="0" algn="ctr" eaLnBrk="1" hangingPunct="1">
              <a:buNone/>
            </a:pPr>
            <a:r>
              <a:rPr lang="en-US" altLang="en-US" sz="2400" kern="0" dirty="0">
                <a:latin typeface="Source Sans Pro" panose="020B0503030403020204" pitchFamily="34" charset="0"/>
                <a:ea typeface="ＭＳ Ｐゴシック" pitchFamily="34" charset="-128"/>
              </a:rPr>
              <a:t>1 = - 1</a:t>
            </a:r>
            <a:r>
              <a:rPr lang="en-US" altLang="en-US" sz="2400" i="1" kern="0" dirty="0">
                <a:latin typeface="Source Sans Pro" panose="020B0503030403020204" pitchFamily="34" charset="0"/>
                <a:ea typeface="ＭＳ Ｐゴシック" pitchFamily="34" charset="-128"/>
              </a:rPr>
              <a:t>/</a:t>
            </a:r>
            <a:r>
              <a:rPr lang="en-US" altLang="en-US" sz="2400" kern="0" dirty="0" err="1">
                <a:latin typeface="Source Sans Pro" panose="020B0503030403020204" pitchFamily="34" charset="0"/>
                <a:ea typeface="ＭＳ Ｐゴシック" pitchFamily="34" charset="-128"/>
              </a:rPr>
              <a:t>ε</a:t>
            </a:r>
            <a:r>
              <a:rPr lang="en-US" altLang="en-US" sz="2400" kern="0" baseline="-25000" dirty="0" err="1">
                <a:latin typeface="Source Sans Pro" panose="020B0503030403020204" pitchFamily="34" charset="0"/>
                <a:ea typeface="ＭＳ Ｐゴシック" pitchFamily="34" charset="-128"/>
              </a:rPr>
              <a:t>D</a:t>
            </a:r>
            <a:endParaRPr lang="en-US" altLang="en-US" sz="2400" kern="0" dirty="0">
              <a:latin typeface="Source Sans Pro" panose="020B0503030403020204" pitchFamily="34" charset="0"/>
              <a:ea typeface="ＭＳ Ｐゴシック" pitchFamily="34" charset="-128"/>
            </a:endParaRPr>
          </a:p>
          <a:p>
            <a:pPr eaLnBrk="1" hangingPunct="1"/>
            <a:r>
              <a:rPr lang="en-US" altLang="en-US" sz="2400" kern="0" dirty="0">
                <a:latin typeface="Source Sans Pro" panose="020B0503030403020204" pitchFamily="34" charset="0"/>
                <a:ea typeface="ＭＳ Ｐゴシック" pitchFamily="34" charset="-128"/>
              </a:rPr>
              <a:t>Revenue </a:t>
            </a:r>
            <a:r>
              <a:rPr lang="en-US" altLang="en-US" sz="2400" b="1" kern="0" dirty="0">
                <a:latin typeface="Source Sans Pro" panose="020B0503030403020204" pitchFamily="34" charset="0"/>
                <a:ea typeface="ＭＳ Ｐゴシック" pitchFamily="34" charset="-128"/>
              </a:rPr>
              <a:t>maximized </a:t>
            </a:r>
            <a:r>
              <a:rPr lang="en-US" altLang="en-US" sz="2400" kern="0" dirty="0">
                <a:latin typeface="Source Sans Pro" panose="020B0503030403020204" pitchFamily="34" charset="0"/>
                <a:ea typeface="ＭＳ Ｐゴシック" pitchFamily="34" charset="-128"/>
              </a:rPr>
              <a:t>when </a:t>
            </a:r>
            <a:r>
              <a:rPr lang="en-US" altLang="en-US" sz="2400" b="1" kern="0" dirty="0" err="1">
                <a:latin typeface="Source Sans Pro" panose="020B0503030403020204" pitchFamily="34" charset="0"/>
                <a:ea typeface="ＭＳ Ｐゴシック" pitchFamily="34" charset="-128"/>
              </a:rPr>
              <a:t>ε</a:t>
            </a:r>
            <a:r>
              <a:rPr lang="en-US" altLang="en-US" sz="2400" b="1" kern="0" baseline="-25000" dirty="0" err="1">
                <a:latin typeface="Source Sans Pro" panose="020B0503030403020204" pitchFamily="34" charset="0"/>
                <a:ea typeface="ＭＳ Ｐゴシック" pitchFamily="34" charset="-128"/>
              </a:rPr>
              <a:t>D</a:t>
            </a:r>
            <a:r>
              <a:rPr lang="en-US" altLang="en-US" sz="2400" b="1" kern="0" dirty="0">
                <a:latin typeface="Source Sans Pro" panose="020B0503030403020204" pitchFamily="34" charset="0"/>
                <a:ea typeface="ＭＳ Ｐゴシック" pitchFamily="34" charset="-128"/>
              </a:rPr>
              <a:t> = -1</a:t>
            </a:r>
          </a:p>
        </p:txBody>
      </p:sp>
      <p:sp>
        <p:nvSpPr>
          <p:cNvPr id="6" name="Rectangle 3">
            <a:extLst>
              <a:ext uri="{FF2B5EF4-FFF2-40B4-BE49-F238E27FC236}">
                <a16:creationId xmlns:a16="http://schemas.microsoft.com/office/drawing/2014/main" id="{6456237E-E640-CA79-9255-4B96DA574705}"/>
              </a:ext>
            </a:extLst>
          </p:cNvPr>
          <p:cNvSpPr txBox="1">
            <a:spLocks noChangeArrowheads="1"/>
          </p:cNvSpPr>
          <p:nvPr/>
        </p:nvSpPr>
        <p:spPr bwMode="auto">
          <a:xfrm>
            <a:off x="868680" y="1204410"/>
            <a:ext cx="10579608"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400" kern="0" dirty="0">
                <a:latin typeface="Source Sans Pro" panose="020B0503030403020204" pitchFamily="34" charset="0"/>
                <a:ea typeface="ＭＳ Ｐゴシック" pitchFamily="34" charset="-128"/>
              </a:rPr>
              <a:t>Key to MR </a:t>
            </a:r>
            <a:r>
              <a:rPr lang="en-US" altLang="ja-JP" sz="2400" kern="0" dirty="0">
                <a:latin typeface="Source Sans Pro" panose="020B0503030403020204" pitchFamily="34" charset="0"/>
                <a:ea typeface="ＭＳ Ｐゴシック" pitchFamily="34" charset="-128"/>
              </a:rPr>
              <a:t>is </a:t>
            </a:r>
            <a:r>
              <a:rPr lang="en-US" altLang="ja-JP" sz="2400" b="1" kern="0" dirty="0">
                <a:latin typeface="Source Sans Pro" panose="020B0503030403020204" pitchFamily="34" charset="0"/>
                <a:ea typeface="ＭＳ Ｐゴシック" pitchFamily="34" charset="-128"/>
              </a:rPr>
              <a:t>how strongly consumers react </a:t>
            </a:r>
            <a:r>
              <a:rPr lang="en-US" altLang="ja-JP" sz="2400" kern="0" dirty="0">
                <a:latin typeface="Source Sans Pro" panose="020B0503030403020204" pitchFamily="34" charset="0"/>
                <a:ea typeface="ＭＳ Ｐゴシック" pitchFamily="34" charset="-128"/>
              </a:rPr>
              <a:t>to price changes</a:t>
            </a:r>
          </a:p>
          <a:p>
            <a:pPr eaLnBrk="1" hangingPunct="1"/>
            <a:r>
              <a:rPr lang="en-US" altLang="en-US" sz="2400" kern="0" dirty="0">
                <a:latin typeface="Source Sans Pro" panose="020B0503030403020204" pitchFamily="34" charset="0"/>
                <a:ea typeface="ＭＳ Ｐゴシック" pitchFamily="34" charset="-128"/>
              </a:rPr>
              <a:t>This is </a:t>
            </a:r>
            <a:r>
              <a:rPr lang="en-US" altLang="en-US" sz="2400" b="1" kern="0" dirty="0">
                <a:latin typeface="Source Sans Pro" panose="020B0503030403020204" pitchFamily="34" charset="0"/>
                <a:ea typeface="ＭＳ Ｐゴシック" pitchFamily="34" charset="-128"/>
              </a:rPr>
              <a:t>demand elasticity</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90D512EF-6F44-B602-8D2B-EE53485F083C}"/>
                  </a:ext>
                </a:extLst>
              </p14:cNvPr>
              <p14:cNvContentPartPr/>
              <p14:nvPr/>
            </p14:nvContentPartPr>
            <p14:xfrm>
              <a:off x="4107240" y="2114640"/>
              <a:ext cx="7179120" cy="3475440"/>
            </p14:xfrm>
          </p:contentPart>
        </mc:Choice>
        <mc:Fallback>
          <p:pic>
            <p:nvPicPr>
              <p:cNvPr id="5" name="Ink 4">
                <a:extLst>
                  <a:ext uri="{FF2B5EF4-FFF2-40B4-BE49-F238E27FC236}">
                    <a16:creationId xmlns:a16="http://schemas.microsoft.com/office/drawing/2014/main" id="{90D512EF-6F44-B602-8D2B-EE53485F083C}"/>
                  </a:ext>
                </a:extLst>
              </p:cNvPr>
              <p:cNvPicPr/>
              <p:nvPr/>
            </p:nvPicPr>
            <p:blipFill>
              <a:blip r:embed="rId4"/>
              <a:stretch>
                <a:fillRect/>
              </a:stretch>
            </p:blipFill>
            <p:spPr>
              <a:xfrm>
                <a:off x="4091040" y="2098440"/>
                <a:ext cx="7211520" cy="35078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n-US" altLang="en-US" sz="3600" dirty="0">
                <a:ea typeface="ＭＳ Ｐゴシック" pitchFamily="34" charset="-128"/>
              </a:rPr>
              <a:t>Elasticity and revenue</a:t>
            </a:r>
          </a:p>
        </p:txBody>
      </p:sp>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2BA136D6-9BAD-49FE-9680-7961BB9F4324}" type="slidenum">
              <a:rPr lang="en-US" altLang="en-US" sz="1400">
                <a:latin typeface="Source Sans Pro" panose="020B0503030403020204" pitchFamily="34" charset="0"/>
              </a:rPr>
              <a:pPr eaLnBrk="1" hangingPunct="1"/>
              <a:t>16</a:t>
            </a:fld>
            <a:endParaRPr lang="en-US" altLang="en-US" sz="1400" dirty="0">
              <a:latin typeface="Source Sans Pro" panose="020B0503030403020204" pitchFamily="34" charset="0"/>
            </a:endParaRPr>
          </a:p>
        </p:txBody>
      </p:sp>
      <p:sp>
        <p:nvSpPr>
          <p:cNvPr id="3" name="Text Box 14">
            <a:extLst>
              <a:ext uri="{FF2B5EF4-FFF2-40B4-BE49-F238E27FC236}">
                <a16:creationId xmlns:a16="http://schemas.microsoft.com/office/drawing/2014/main" id="{DF066C6A-2B98-0837-4F89-90654BDF9B77}"/>
              </a:ext>
            </a:extLst>
          </p:cNvPr>
          <p:cNvSpPr txBox="1">
            <a:spLocks noChangeArrowheads="1"/>
          </p:cNvSpPr>
          <p:nvPr/>
        </p:nvSpPr>
        <p:spPr bwMode="auto">
          <a:xfrm>
            <a:off x="2927288" y="3547198"/>
            <a:ext cx="12360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 gain</a:t>
            </a:r>
          </a:p>
        </p:txBody>
      </p:sp>
      <p:grpSp>
        <p:nvGrpSpPr>
          <p:cNvPr id="5" name="Group 4">
            <a:extLst>
              <a:ext uri="{FF2B5EF4-FFF2-40B4-BE49-F238E27FC236}">
                <a16:creationId xmlns:a16="http://schemas.microsoft.com/office/drawing/2014/main" id="{413A388C-B62E-BF0B-BC4F-547653DDA4F1}"/>
              </a:ext>
            </a:extLst>
          </p:cNvPr>
          <p:cNvGrpSpPr/>
          <p:nvPr/>
        </p:nvGrpSpPr>
        <p:grpSpPr>
          <a:xfrm>
            <a:off x="944213" y="2181225"/>
            <a:ext cx="4418300" cy="3666251"/>
            <a:chOff x="599788" y="2181225"/>
            <a:chExt cx="4418300" cy="3666251"/>
          </a:xfrm>
        </p:grpSpPr>
        <p:sp>
          <p:nvSpPr>
            <p:cNvPr id="6" name="Line 5">
              <a:extLst>
                <a:ext uri="{FF2B5EF4-FFF2-40B4-BE49-F238E27FC236}">
                  <a16:creationId xmlns:a16="http://schemas.microsoft.com/office/drawing/2014/main" id="{2C5CF726-825E-A42E-2617-FF822A4C85C9}"/>
                </a:ext>
              </a:extLst>
            </p:cNvPr>
            <p:cNvSpPr>
              <a:spLocks noChangeShapeType="1"/>
            </p:cNvSpPr>
            <p:nvPr/>
          </p:nvSpPr>
          <p:spPr bwMode="auto">
            <a:xfrm>
              <a:off x="1144245" y="2559050"/>
              <a:ext cx="0" cy="28209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7" name="Line 6">
              <a:extLst>
                <a:ext uri="{FF2B5EF4-FFF2-40B4-BE49-F238E27FC236}">
                  <a16:creationId xmlns:a16="http://schemas.microsoft.com/office/drawing/2014/main" id="{24A8C5F3-6723-EEA8-9C31-9A51618FFB74}"/>
                </a:ext>
              </a:extLst>
            </p:cNvPr>
            <p:cNvSpPr>
              <a:spLocks noChangeShapeType="1"/>
            </p:cNvSpPr>
            <p:nvPr/>
          </p:nvSpPr>
          <p:spPr bwMode="auto">
            <a:xfrm>
              <a:off x="1131888" y="5368925"/>
              <a:ext cx="3581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8" name="Line 7">
              <a:extLst>
                <a:ext uri="{FF2B5EF4-FFF2-40B4-BE49-F238E27FC236}">
                  <a16:creationId xmlns:a16="http://schemas.microsoft.com/office/drawing/2014/main" id="{1B72B4EF-86E4-2670-565E-018E1D6FFBA9}"/>
                </a:ext>
              </a:extLst>
            </p:cNvPr>
            <p:cNvSpPr>
              <a:spLocks noChangeShapeType="1"/>
            </p:cNvSpPr>
            <p:nvPr/>
          </p:nvSpPr>
          <p:spPr bwMode="auto">
            <a:xfrm>
              <a:off x="1144588" y="3086100"/>
              <a:ext cx="3095625" cy="22796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9" name="Text Box 10">
              <a:extLst>
                <a:ext uri="{FF2B5EF4-FFF2-40B4-BE49-F238E27FC236}">
                  <a16:creationId xmlns:a16="http://schemas.microsoft.com/office/drawing/2014/main" id="{ED38BCD9-182D-EAE1-F0A4-30D71275EDDE}"/>
                </a:ext>
              </a:extLst>
            </p:cNvPr>
            <p:cNvSpPr txBox="1">
              <a:spLocks noChangeArrowheads="1"/>
            </p:cNvSpPr>
            <p:nvPr/>
          </p:nvSpPr>
          <p:spPr bwMode="auto">
            <a:xfrm>
              <a:off x="4131482" y="4914984"/>
              <a:ext cx="714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D</a:t>
              </a:r>
            </a:p>
          </p:txBody>
        </p:sp>
        <p:sp>
          <p:nvSpPr>
            <p:cNvPr id="10" name="Rectangle 11">
              <a:extLst>
                <a:ext uri="{FF2B5EF4-FFF2-40B4-BE49-F238E27FC236}">
                  <a16:creationId xmlns:a16="http://schemas.microsoft.com/office/drawing/2014/main" id="{501B32F8-0942-04CF-0188-96A2CA006C3D}"/>
                </a:ext>
              </a:extLst>
            </p:cNvPr>
            <p:cNvSpPr>
              <a:spLocks noChangeArrowheads="1"/>
            </p:cNvSpPr>
            <p:nvPr/>
          </p:nvSpPr>
          <p:spPr bwMode="auto">
            <a:xfrm>
              <a:off x="1155700" y="4706938"/>
              <a:ext cx="2203450" cy="639762"/>
            </a:xfrm>
            <a:prstGeom prst="rect">
              <a:avLst/>
            </a:prstGeom>
            <a:solidFill>
              <a:srgbClr val="C8C8C8"/>
            </a:solidFill>
            <a:ln w="9525">
              <a:solidFill>
                <a:srgbClr val="C8C8C8"/>
              </a:solidFill>
              <a:miter lim="800000"/>
              <a:headEnd/>
              <a:tailEnd/>
            </a:ln>
          </p:spPr>
          <p:txBody>
            <a:bodyPr wrap="none"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endParaRPr lang="en-US" altLang="en-US" dirty="0">
                <a:latin typeface="Source Sans Pro" panose="020B0503030403020204" pitchFamily="34" charset="0"/>
              </a:endParaRPr>
            </a:p>
          </p:txBody>
        </p:sp>
        <p:sp>
          <p:nvSpPr>
            <p:cNvPr id="11" name="Text Box 12">
              <a:extLst>
                <a:ext uri="{FF2B5EF4-FFF2-40B4-BE49-F238E27FC236}">
                  <a16:creationId xmlns:a16="http://schemas.microsoft.com/office/drawing/2014/main" id="{5AE94BC7-CBD2-A490-86B3-E264EB3A0AA3}"/>
                </a:ext>
              </a:extLst>
            </p:cNvPr>
            <p:cNvSpPr txBox="1">
              <a:spLocks noChangeArrowheads="1"/>
            </p:cNvSpPr>
            <p:nvPr/>
          </p:nvSpPr>
          <p:spPr bwMode="auto">
            <a:xfrm>
              <a:off x="599788" y="4570413"/>
              <a:ext cx="527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spcBef>
                  <a:spcPct val="50000"/>
                </a:spcBef>
              </a:pPr>
              <a:r>
                <a:rPr lang="en-US" altLang="en-US" dirty="0">
                  <a:latin typeface="Source Sans Pro" panose="020B0503030403020204" pitchFamily="34" charset="0"/>
                </a:rPr>
                <a:t>P</a:t>
              </a:r>
              <a:r>
                <a:rPr lang="en-US" altLang="en-US" baseline="-25000" dirty="0">
                  <a:latin typeface="Source Sans Pro" panose="020B0503030403020204" pitchFamily="34" charset="0"/>
                </a:rPr>
                <a:t>1</a:t>
              </a:r>
              <a:endParaRPr lang="en-US" altLang="en-US" dirty="0">
                <a:latin typeface="Source Sans Pro" panose="020B0503030403020204" pitchFamily="34" charset="0"/>
              </a:endParaRPr>
            </a:p>
          </p:txBody>
        </p:sp>
        <p:sp>
          <p:nvSpPr>
            <p:cNvPr id="12" name="Text Box 13">
              <a:extLst>
                <a:ext uri="{FF2B5EF4-FFF2-40B4-BE49-F238E27FC236}">
                  <a16:creationId xmlns:a16="http://schemas.microsoft.com/office/drawing/2014/main" id="{654C0C32-8857-FC90-E0EA-EDF9CB4CF1C4}"/>
                </a:ext>
              </a:extLst>
            </p:cNvPr>
            <p:cNvSpPr txBox="1">
              <a:spLocks noChangeArrowheads="1"/>
            </p:cNvSpPr>
            <p:nvPr/>
          </p:nvSpPr>
          <p:spPr bwMode="auto">
            <a:xfrm>
              <a:off x="3243263" y="5385666"/>
              <a:ext cx="5478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Q</a:t>
              </a:r>
              <a:r>
                <a:rPr lang="en-US" altLang="en-US" baseline="-25000" dirty="0">
                  <a:latin typeface="Source Sans Pro" panose="020B0503030403020204" pitchFamily="34" charset="0"/>
                </a:rPr>
                <a:t>1</a:t>
              </a:r>
              <a:endParaRPr lang="en-US" altLang="en-US" dirty="0">
                <a:latin typeface="Source Sans Pro" panose="020B0503030403020204" pitchFamily="34" charset="0"/>
              </a:endParaRPr>
            </a:p>
          </p:txBody>
        </p:sp>
        <p:sp>
          <p:nvSpPr>
            <p:cNvPr id="13" name="Text Box 15">
              <a:extLst>
                <a:ext uri="{FF2B5EF4-FFF2-40B4-BE49-F238E27FC236}">
                  <a16:creationId xmlns:a16="http://schemas.microsoft.com/office/drawing/2014/main" id="{559BC758-01CE-60B2-9A3D-9A45B8E1D9A0}"/>
                </a:ext>
              </a:extLst>
            </p:cNvPr>
            <p:cNvSpPr txBox="1">
              <a:spLocks noChangeArrowheads="1"/>
            </p:cNvSpPr>
            <p:nvPr/>
          </p:nvSpPr>
          <p:spPr bwMode="auto">
            <a:xfrm>
              <a:off x="4303713" y="5385811"/>
              <a:ext cx="714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Q</a:t>
              </a:r>
            </a:p>
          </p:txBody>
        </p:sp>
        <p:sp>
          <p:nvSpPr>
            <p:cNvPr id="14" name="Text Box 16">
              <a:extLst>
                <a:ext uri="{FF2B5EF4-FFF2-40B4-BE49-F238E27FC236}">
                  <a16:creationId xmlns:a16="http://schemas.microsoft.com/office/drawing/2014/main" id="{F619CF8C-7AED-641C-D84E-8A11C1A0F2AC}"/>
                </a:ext>
              </a:extLst>
            </p:cNvPr>
            <p:cNvSpPr txBox="1">
              <a:spLocks noChangeArrowheads="1"/>
            </p:cNvSpPr>
            <p:nvPr/>
          </p:nvSpPr>
          <p:spPr bwMode="auto">
            <a:xfrm>
              <a:off x="833438" y="2181225"/>
              <a:ext cx="714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P</a:t>
              </a:r>
            </a:p>
          </p:txBody>
        </p:sp>
      </p:grpSp>
      <p:sp>
        <p:nvSpPr>
          <p:cNvPr id="15" name="Text Box 17">
            <a:extLst>
              <a:ext uri="{FF2B5EF4-FFF2-40B4-BE49-F238E27FC236}">
                <a16:creationId xmlns:a16="http://schemas.microsoft.com/office/drawing/2014/main" id="{4C8A8078-62E3-CF34-688C-3D42E1C68DB1}"/>
              </a:ext>
            </a:extLst>
          </p:cNvPr>
          <p:cNvSpPr txBox="1">
            <a:spLocks noChangeArrowheads="1"/>
          </p:cNvSpPr>
          <p:nvPr/>
        </p:nvSpPr>
        <p:spPr bwMode="auto">
          <a:xfrm>
            <a:off x="469877" y="4276726"/>
            <a:ext cx="10198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spcBef>
                <a:spcPct val="50000"/>
              </a:spcBef>
            </a:pPr>
            <a:r>
              <a:rPr lang="en-US" altLang="en-US" dirty="0">
                <a:latin typeface="Source Sans Pro" panose="020B0503030403020204" pitchFamily="34" charset="0"/>
              </a:rPr>
              <a:t>P</a:t>
            </a:r>
            <a:r>
              <a:rPr lang="en-US" altLang="en-US" baseline="-25000" dirty="0">
                <a:latin typeface="Source Sans Pro" panose="020B0503030403020204" pitchFamily="34" charset="0"/>
              </a:rPr>
              <a:t>1</a:t>
            </a:r>
            <a:r>
              <a:rPr lang="en-US" altLang="en-US" dirty="0">
                <a:latin typeface="Source Sans Pro" panose="020B0503030403020204" pitchFamily="34" charset="0"/>
              </a:rPr>
              <a:t>+dP</a:t>
            </a:r>
          </a:p>
        </p:txBody>
      </p:sp>
      <p:sp>
        <p:nvSpPr>
          <p:cNvPr id="16" name="Rectangle 18">
            <a:extLst>
              <a:ext uri="{FF2B5EF4-FFF2-40B4-BE49-F238E27FC236}">
                <a16:creationId xmlns:a16="http://schemas.microsoft.com/office/drawing/2014/main" id="{9B9AB599-D577-4082-3A8D-DEFD4776FD18}"/>
              </a:ext>
            </a:extLst>
          </p:cNvPr>
          <p:cNvSpPr>
            <a:spLocks noChangeArrowheads="1"/>
          </p:cNvSpPr>
          <p:nvPr/>
        </p:nvSpPr>
        <p:spPr bwMode="auto">
          <a:xfrm>
            <a:off x="1501713" y="4527551"/>
            <a:ext cx="1927225" cy="176213"/>
          </a:xfrm>
          <a:prstGeom prst="rect">
            <a:avLst/>
          </a:prstGeom>
          <a:solidFill>
            <a:srgbClr val="67C8C7"/>
          </a:solidFill>
          <a:ln w="9525">
            <a:solidFill>
              <a:srgbClr val="67C8C7"/>
            </a:solidFill>
            <a:miter lim="800000"/>
            <a:headEnd/>
            <a:tailEnd/>
          </a:ln>
        </p:spPr>
        <p:txBody>
          <a:bodyPr wrap="none"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endParaRPr lang="en-US" altLang="en-US" sz="1800" dirty="0">
              <a:latin typeface="Source Sans Pro" panose="020B0503030403020204" pitchFamily="34" charset="0"/>
            </a:endParaRPr>
          </a:p>
        </p:txBody>
      </p:sp>
      <p:sp>
        <p:nvSpPr>
          <p:cNvPr id="17" name="Rectangle 19">
            <a:extLst>
              <a:ext uri="{FF2B5EF4-FFF2-40B4-BE49-F238E27FC236}">
                <a16:creationId xmlns:a16="http://schemas.microsoft.com/office/drawing/2014/main" id="{B602EE33-C4F1-B98B-4908-C952ADB06FB1}"/>
              </a:ext>
            </a:extLst>
          </p:cNvPr>
          <p:cNvSpPr>
            <a:spLocks noChangeArrowheads="1"/>
          </p:cNvSpPr>
          <p:nvPr/>
        </p:nvSpPr>
        <p:spPr bwMode="auto">
          <a:xfrm>
            <a:off x="3428937" y="4706939"/>
            <a:ext cx="279400" cy="649287"/>
          </a:xfrm>
          <a:prstGeom prst="rect">
            <a:avLst/>
          </a:prstGeom>
          <a:solidFill>
            <a:srgbClr val="789B4A"/>
          </a:solidFill>
          <a:ln w="9525">
            <a:solidFill>
              <a:srgbClr val="789B4A"/>
            </a:solidFill>
            <a:miter lim="800000"/>
            <a:headEnd/>
            <a:tailEnd/>
          </a:ln>
        </p:spPr>
        <p:txBody>
          <a:bodyPr wrap="none"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endParaRPr lang="en-US" altLang="en-US" sz="1800" dirty="0">
              <a:latin typeface="Source Sans Pro" panose="020B0503030403020204" pitchFamily="34" charset="0"/>
            </a:endParaRPr>
          </a:p>
        </p:txBody>
      </p:sp>
      <p:sp>
        <p:nvSpPr>
          <p:cNvPr id="18" name="Text Box 20">
            <a:extLst>
              <a:ext uri="{FF2B5EF4-FFF2-40B4-BE49-F238E27FC236}">
                <a16:creationId xmlns:a16="http://schemas.microsoft.com/office/drawing/2014/main" id="{7D8A6620-9A98-087E-A6BD-91923B188F44}"/>
              </a:ext>
            </a:extLst>
          </p:cNvPr>
          <p:cNvSpPr txBox="1">
            <a:spLocks noChangeArrowheads="1"/>
          </p:cNvSpPr>
          <p:nvPr/>
        </p:nvSpPr>
        <p:spPr bwMode="auto">
          <a:xfrm>
            <a:off x="2674360" y="5392161"/>
            <a:ext cx="987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Q</a:t>
            </a:r>
            <a:r>
              <a:rPr lang="en-US" altLang="en-US" baseline="-25000" dirty="0">
                <a:latin typeface="Source Sans Pro" panose="020B0503030403020204" pitchFamily="34" charset="0"/>
              </a:rPr>
              <a:t>1</a:t>
            </a:r>
            <a:r>
              <a:rPr lang="en-US" altLang="en-US" dirty="0">
                <a:latin typeface="Source Sans Pro" panose="020B0503030403020204" pitchFamily="34" charset="0"/>
              </a:rPr>
              <a:t>-dQ</a:t>
            </a:r>
          </a:p>
        </p:txBody>
      </p:sp>
      <p:sp>
        <p:nvSpPr>
          <p:cNvPr id="19" name="Text Box 21">
            <a:extLst>
              <a:ext uri="{FF2B5EF4-FFF2-40B4-BE49-F238E27FC236}">
                <a16:creationId xmlns:a16="http://schemas.microsoft.com/office/drawing/2014/main" id="{ADCE34DE-4DCE-EF99-3258-5300E4E0E490}"/>
              </a:ext>
            </a:extLst>
          </p:cNvPr>
          <p:cNvSpPr txBox="1">
            <a:spLocks noChangeArrowheads="1"/>
          </p:cNvSpPr>
          <p:nvPr/>
        </p:nvSpPr>
        <p:spPr bwMode="auto">
          <a:xfrm>
            <a:off x="3944874" y="4213803"/>
            <a:ext cx="13154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 lost</a:t>
            </a:r>
          </a:p>
        </p:txBody>
      </p:sp>
      <p:sp>
        <p:nvSpPr>
          <p:cNvPr id="20" name="Line 22">
            <a:extLst>
              <a:ext uri="{FF2B5EF4-FFF2-40B4-BE49-F238E27FC236}">
                <a16:creationId xmlns:a16="http://schemas.microsoft.com/office/drawing/2014/main" id="{DA34096C-C08C-7FA9-77C8-7994A70C5378}"/>
              </a:ext>
            </a:extLst>
          </p:cNvPr>
          <p:cNvSpPr>
            <a:spLocks noChangeShapeType="1"/>
          </p:cNvSpPr>
          <p:nvPr/>
        </p:nvSpPr>
        <p:spPr bwMode="auto">
          <a:xfrm flipH="1">
            <a:off x="2528824" y="3962400"/>
            <a:ext cx="704850" cy="635000"/>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dirty="0">
              <a:latin typeface="Source Sans Pro" panose="020B0503030403020204" pitchFamily="34" charset="0"/>
            </a:endParaRPr>
          </a:p>
        </p:txBody>
      </p:sp>
      <p:sp>
        <p:nvSpPr>
          <p:cNvPr id="21" name="Line 23">
            <a:extLst>
              <a:ext uri="{FF2B5EF4-FFF2-40B4-BE49-F238E27FC236}">
                <a16:creationId xmlns:a16="http://schemas.microsoft.com/office/drawing/2014/main" id="{B35EEFDE-1C6F-24D6-BC0A-7B192BD3B377}"/>
              </a:ext>
            </a:extLst>
          </p:cNvPr>
          <p:cNvSpPr>
            <a:spLocks noChangeShapeType="1"/>
          </p:cNvSpPr>
          <p:nvPr/>
        </p:nvSpPr>
        <p:spPr bwMode="auto">
          <a:xfrm flipH="1">
            <a:off x="3570224" y="4616450"/>
            <a:ext cx="762000" cy="444500"/>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dirty="0">
              <a:latin typeface="Source Sans Pro" panose="020B0503030403020204" pitchFamily="34" charset="0"/>
            </a:endParaRPr>
          </a:p>
        </p:txBody>
      </p:sp>
      <p:sp>
        <p:nvSpPr>
          <p:cNvPr id="22" name="Text Box 24">
            <a:extLst>
              <a:ext uri="{FF2B5EF4-FFF2-40B4-BE49-F238E27FC236}">
                <a16:creationId xmlns:a16="http://schemas.microsoft.com/office/drawing/2014/main" id="{BD3F5CCA-5E8A-7ACF-46BF-ACCEE8EEC74B}"/>
              </a:ext>
            </a:extLst>
          </p:cNvPr>
          <p:cNvSpPr txBox="1">
            <a:spLocks noChangeArrowheads="1"/>
          </p:cNvSpPr>
          <p:nvPr/>
        </p:nvSpPr>
        <p:spPr bwMode="auto">
          <a:xfrm>
            <a:off x="5260339" y="3558149"/>
            <a:ext cx="618758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342900" indent="-342900" eaLnBrk="1" hangingPunct="1">
              <a:buFont typeface="Arial" panose="020B0604020202020204" pitchFamily="34" charset="0"/>
              <a:buChar char="•"/>
            </a:pPr>
            <a:r>
              <a:rPr lang="en-US" altLang="en-US" dirty="0">
                <a:latin typeface="Source Sans Pro" panose="020B0503030403020204" pitchFamily="34" charset="0"/>
              </a:rPr>
              <a:t>Revenue</a:t>
            </a:r>
            <a:r>
              <a:rPr lang="en-US" altLang="en-US" b="1" dirty="0">
                <a:latin typeface="Source Sans Pro" panose="020B0503030403020204" pitchFamily="34" charset="0"/>
              </a:rPr>
              <a:t> gain </a:t>
            </a:r>
            <a:r>
              <a:rPr lang="en-US" altLang="en-US" dirty="0">
                <a:latin typeface="Source Sans Pro" panose="020B0503030403020204" pitchFamily="34" charset="0"/>
              </a:rPr>
              <a:t>is greater than revenue </a:t>
            </a:r>
            <a:r>
              <a:rPr lang="en-US" altLang="en-US" b="1" dirty="0">
                <a:latin typeface="Source Sans Pro" panose="020B0503030403020204" pitchFamily="34" charset="0"/>
              </a:rPr>
              <a:t>loss</a:t>
            </a:r>
            <a:r>
              <a:rPr lang="en-US" altLang="en-US" dirty="0">
                <a:latin typeface="Source Sans Pro" panose="020B0503030403020204" pitchFamily="34" charset="0"/>
              </a:rPr>
              <a:t>, so </a:t>
            </a:r>
            <a:r>
              <a:rPr lang="en-US" altLang="en-US" b="1" dirty="0">
                <a:latin typeface="Source Sans Pro" panose="020B0503030403020204" pitchFamily="34" charset="0"/>
              </a:rPr>
              <a:t>raise prices </a:t>
            </a:r>
            <a:r>
              <a:rPr lang="en-US" altLang="en-US" dirty="0">
                <a:latin typeface="Source Sans Pro" panose="020B0503030403020204" pitchFamily="34" charset="0"/>
              </a:rPr>
              <a:t>to raise revenue when -1 &lt; </a:t>
            </a:r>
            <a:r>
              <a:rPr lang="en-US" altLang="en-US" kern="0" dirty="0" err="1">
                <a:latin typeface="Source Sans Pro" panose="020B0503030403020204" pitchFamily="34" charset="0"/>
              </a:rPr>
              <a:t>ε</a:t>
            </a:r>
            <a:r>
              <a:rPr lang="en-US" altLang="en-US" kern="0" baseline="-25000" dirty="0" err="1">
                <a:latin typeface="Source Sans Pro" panose="020B0503030403020204" pitchFamily="34" charset="0"/>
              </a:rPr>
              <a:t>D</a:t>
            </a:r>
            <a:endParaRPr lang="en-US" altLang="en-US" dirty="0">
              <a:latin typeface="Source Sans Pro" panose="020B0503030403020204" pitchFamily="34" charset="0"/>
            </a:endParaRPr>
          </a:p>
        </p:txBody>
      </p:sp>
      <p:sp>
        <p:nvSpPr>
          <p:cNvPr id="23" name="Text Box 25">
            <a:extLst>
              <a:ext uri="{FF2B5EF4-FFF2-40B4-BE49-F238E27FC236}">
                <a16:creationId xmlns:a16="http://schemas.microsoft.com/office/drawing/2014/main" id="{8CB37C7C-C5DF-7803-0AC8-04E479685FD3}"/>
              </a:ext>
            </a:extLst>
          </p:cNvPr>
          <p:cNvSpPr txBox="1">
            <a:spLocks noChangeArrowheads="1"/>
          </p:cNvSpPr>
          <p:nvPr/>
        </p:nvSpPr>
        <p:spPr bwMode="auto">
          <a:xfrm>
            <a:off x="5260339" y="2174433"/>
            <a:ext cx="61875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342900" indent="-342900" eaLnBrk="1" hangingPunct="1">
              <a:buFont typeface="Arial" panose="020B0604020202020204" pitchFamily="34" charset="0"/>
              <a:buChar char="•"/>
            </a:pPr>
            <a:r>
              <a:rPr lang="en-US" altLang="en-US" dirty="0">
                <a:latin typeface="Source Sans Pro" panose="020B0503030403020204" pitchFamily="34" charset="0"/>
              </a:rPr>
              <a:t>A firm increases price by </a:t>
            </a:r>
            <a:r>
              <a:rPr lang="en-US" altLang="en-US" i="1" dirty="0" err="1">
                <a:latin typeface="Source Sans Pro" panose="020B0503030403020204" pitchFamily="34" charset="0"/>
              </a:rPr>
              <a:t>dP</a:t>
            </a:r>
            <a:endParaRPr lang="en-US" altLang="en-US" dirty="0">
              <a:latin typeface="Source Sans Pro" panose="020B0503030403020204" pitchFamily="34" charset="0"/>
            </a:endParaRPr>
          </a:p>
        </p:txBody>
      </p:sp>
      <p:sp>
        <p:nvSpPr>
          <p:cNvPr id="24" name="Text Box 25">
            <a:extLst>
              <a:ext uri="{FF2B5EF4-FFF2-40B4-BE49-F238E27FC236}">
                <a16:creationId xmlns:a16="http://schemas.microsoft.com/office/drawing/2014/main" id="{C4DEDFB9-6630-D689-F973-1A6A21592F5C}"/>
              </a:ext>
            </a:extLst>
          </p:cNvPr>
          <p:cNvSpPr txBox="1">
            <a:spLocks noChangeArrowheads="1"/>
          </p:cNvSpPr>
          <p:nvPr/>
        </p:nvSpPr>
        <p:spPr bwMode="auto">
          <a:xfrm>
            <a:off x="5260339" y="2681625"/>
            <a:ext cx="618758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342900" indent="-342900" eaLnBrk="1" hangingPunct="1">
              <a:buFont typeface="Arial" panose="020B0604020202020204" pitchFamily="34" charset="0"/>
              <a:buChar char="•"/>
            </a:pPr>
            <a:r>
              <a:rPr lang="en-US" altLang="en-US" dirty="0">
                <a:latin typeface="Source Sans Pro" panose="020B0503030403020204" pitchFamily="34" charset="0"/>
              </a:rPr>
              <a:t>If demand is </a:t>
            </a:r>
            <a:r>
              <a:rPr lang="en-US" altLang="en-US" b="1" dirty="0">
                <a:latin typeface="Source Sans Pro" panose="020B0503030403020204" pitchFamily="34" charset="0"/>
              </a:rPr>
              <a:t>inelastic </a:t>
            </a:r>
            <a:r>
              <a:rPr lang="en-US" altLang="en-US" dirty="0">
                <a:latin typeface="Source Sans Pro" panose="020B0503030403020204" pitchFamily="34" charset="0"/>
              </a:rPr>
              <a:t>(-1 &lt; </a:t>
            </a:r>
            <a:r>
              <a:rPr lang="en-US" altLang="en-US" kern="0" dirty="0" err="1">
                <a:latin typeface="Source Sans Pro" panose="020B0503030403020204" pitchFamily="34" charset="0"/>
              </a:rPr>
              <a:t>ε</a:t>
            </a:r>
            <a:r>
              <a:rPr lang="en-US" altLang="en-US" kern="0" baseline="-25000" dirty="0" err="1">
                <a:latin typeface="Source Sans Pro" panose="020B0503030403020204" pitchFamily="34" charset="0"/>
              </a:rPr>
              <a:t>D</a:t>
            </a:r>
            <a:r>
              <a:rPr lang="en-US" altLang="en-US" dirty="0">
                <a:latin typeface="Source Sans Pro" panose="020B0503030403020204" pitchFamily="34" charset="0"/>
              </a:rPr>
              <a:t> &lt; 0) then </a:t>
            </a:r>
            <a:r>
              <a:rPr lang="en-US" altLang="en-US" b="1" i="1" dirty="0">
                <a:latin typeface="Source Sans Pro" panose="020B0503030403020204" pitchFamily="34" charset="0"/>
              </a:rPr>
              <a:t>Q</a:t>
            </a:r>
            <a:r>
              <a:rPr lang="en-US" altLang="en-US" b="1" dirty="0">
                <a:latin typeface="Source Sans Pro" panose="020B0503030403020204" pitchFamily="34" charset="0"/>
              </a:rPr>
              <a:t> will fall </a:t>
            </a:r>
            <a:r>
              <a:rPr lang="en-US" altLang="en-US" dirty="0">
                <a:latin typeface="Source Sans Pro" panose="020B0503030403020204" pitchFamily="34" charset="0"/>
              </a:rPr>
              <a:t>by a </a:t>
            </a:r>
            <a:r>
              <a:rPr lang="en-US" altLang="en-US" b="1" dirty="0">
                <a:latin typeface="Source Sans Pro" panose="020B0503030403020204" pitchFamily="34" charset="0"/>
              </a:rPr>
              <a:t>smaller % </a:t>
            </a:r>
            <a:r>
              <a:rPr lang="en-US" altLang="en-US" dirty="0">
                <a:latin typeface="Source Sans Pro" panose="020B0503030403020204" pitchFamily="34" charset="0"/>
              </a:rPr>
              <a:t>than </a:t>
            </a:r>
            <a:r>
              <a:rPr lang="en-US" altLang="en-US" i="1" dirty="0">
                <a:latin typeface="Source Sans Pro" panose="020B0503030403020204" pitchFamily="34" charset="0"/>
              </a:rPr>
              <a:t>P</a:t>
            </a:r>
            <a:r>
              <a:rPr lang="en-US" altLang="en-US" dirty="0">
                <a:latin typeface="Source Sans Pro" panose="020B0503030403020204" pitchFamily="34" charset="0"/>
              </a:rPr>
              <a:t> increased</a:t>
            </a:r>
          </a:p>
        </p:txBody>
      </p:sp>
      <p:cxnSp>
        <p:nvCxnSpPr>
          <p:cNvPr id="26" name="Straight Connector 25">
            <a:extLst>
              <a:ext uri="{FF2B5EF4-FFF2-40B4-BE49-F238E27FC236}">
                <a16:creationId xmlns:a16="http://schemas.microsoft.com/office/drawing/2014/main" id="{24B4CDC9-F7BF-55A5-50F4-D968D58ED445}"/>
              </a:ext>
            </a:extLst>
          </p:cNvPr>
          <p:cNvCxnSpPr/>
          <p:nvPr/>
        </p:nvCxnSpPr>
        <p:spPr>
          <a:xfrm flipV="1">
            <a:off x="3418051" y="5268688"/>
            <a:ext cx="0" cy="198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7FA2141-6E62-DA51-DA3A-70245A14A510}"/>
              </a:ext>
            </a:extLst>
          </p:cNvPr>
          <p:cNvCxnSpPr/>
          <p:nvPr/>
        </p:nvCxnSpPr>
        <p:spPr>
          <a:xfrm>
            <a:off x="1327994" y="4524294"/>
            <a:ext cx="3553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 Box 24">
            <a:extLst>
              <a:ext uri="{FF2B5EF4-FFF2-40B4-BE49-F238E27FC236}">
                <a16:creationId xmlns:a16="http://schemas.microsoft.com/office/drawing/2014/main" id="{C8FCB7F6-CC1C-6152-123B-528F66652464}"/>
              </a:ext>
            </a:extLst>
          </p:cNvPr>
          <p:cNvSpPr txBox="1">
            <a:spLocks noChangeArrowheads="1"/>
          </p:cNvSpPr>
          <p:nvPr/>
        </p:nvSpPr>
        <p:spPr bwMode="auto">
          <a:xfrm>
            <a:off x="5260339" y="4434673"/>
            <a:ext cx="618758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342900" indent="-342900" eaLnBrk="1" hangingPunct="1">
              <a:buFont typeface="Arial" panose="020B0604020202020204" pitchFamily="34" charset="0"/>
              <a:buChar char="•"/>
            </a:pPr>
            <a:r>
              <a:rPr lang="en-US" altLang="en-US" dirty="0">
                <a:latin typeface="Source Sans Pro" panose="020B0503030403020204" pitchFamily="34" charset="0"/>
              </a:rPr>
              <a:t>When </a:t>
            </a:r>
            <a:r>
              <a:rPr lang="en-US" altLang="en-US" kern="0" dirty="0" err="1">
                <a:latin typeface="Source Sans Pro" panose="020B0503030403020204" pitchFamily="34" charset="0"/>
              </a:rPr>
              <a:t>ε</a:t>
            </a:r>
            <a:r>
              <a:rPr lang="en-US" altLang="en-US" kern="0" baseline="-25000" dirty="0" err="1">
                <a:latin typeface="Source Sans Pro" panose="020B0503030403020204" pitchFamily="34" charset="0"/>
              </a:rPr>
              <a:t>D</a:t>
            </a:r>
            <a:r>
              <a:rPr lang="en-US" altLang="en-US" dirty="0">
                <a:latin typeface="Source Sans Pro" panose="020B0503030403020204" pitchFamily="34" charset="0"/>
              </a:rPr>
              <a:t> &lt; -1 (elastic), revenue</a:t>
            </a:r>
            <a:r>
              <a:rPr lang="en-US" altLang="en-US" b="1" dirty="0">
                <a:latin typeface="Source Sans Pro" panose="020B0503030403020204" pitchFamily="34" charset="0"/>
              </a:rPr>
              <a:t> gain </a:t>
            </a:r>
            <a:r>
              <a:rPr lang="en-US" altLang="en-US" dirty="0">
                <a:latin typeface="Source Sans Pro" panose="020B0503030403020204" pitchFamily="34" charset="0"/>
              </a:rPr>
              <a:t>is less than revenue </a:t>
            </a:r>
            <a:r>
              <a:rPr lang="en-US" altLang="en-US" b="1" dirty="0">
                <a:latin typeface="Source Sans Pro" panose="020B0503030403020204" pitchFamily="34" charset="0"/>
              </a:rPr>
              <a:t>loss</a:t>
            </a:r>
            <a:r>
              <a:rPr lang="en-US" altLang="en-US" dirty="0">
                <a:latin typeface="Source Sans Pro" panose="020B0503030403020204" pitchFamily="34" charset="0"/>
              </a:rPr>
              <a:t>, so </a:t>
            </a:r>
            <a:r>
              <a:rPr lang="en-US" altLang="en-US" b="1" dirty="0">
                <a:latin typeface="Source Sans Pro" panose="020B0503030403020204" pitchFamily="34" charset="0"/>
              </a:rPr>
              <a:t>lower prices </a:t>
            </a:r>
            <a:r>
              <a:rPr lang="en-US" altLang="en-US" dirty="0">
                <a:latin typeface="Source Sans Pro" panose="020B0503030403020204" pitchFamily="34" charset="0"/>
              </a:rPr>
              <a:t>to raise revenue</a:t>
            </a:r>
          </a:p>
        </p:txBody>
      </p:sp>
      <p:sp>
        <p:nvSpPr>
          <p:cNvPr id="30" name="Rectangle 3">
            <a:extLst>
              <a:ext uri="{FF2B5EF4-FFF2-40B4-BE49-F238E27FC236}">
                <a16:creationId xmlns:a16="http://schemas.microsoft.com/office/drawing/2014/main" id="{C85C341E-C647-7EA1-AA46-387898D6DD71}"/>
              </a:ext>
            </a:extLst>
          </p:cNvPr>
          <p:cNvSpPr txBox="1">
            <a:spLocks noChangeArrowheads="1"/>
          </p:cNvSpPr>
          <p:nvPr/>
        </p:nvSpPr>
        <p:spPr bwMode="auto">
          <a:xfrm>
            <a:off x="652464" y="1254578"/>
            <a:ext cx="822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buFontTx/>
              <a:buNone/>
            </a:pPr>
            <a:r>
              <a:rPr lang="en-US" altLang="en-US" kern="0" dirty="0">
                <a:ea typeface="ＭＳ Ｐゴシック" pitchFamily="34" charset="-128"/>
              </a:rPr>
              <a:t>How do we </a:t>
            </a:r>
            <a:r>
              <a:rPr lang="en-US" altLang="en-US" b="1" kern="0" dirty="0">
                <a:ea typeface="ＭＳ Ｐゴシック" pitchFamily="34" charset="-128"/>
              </a:rPr>
              <a:t>interpret </a:t>
            </a:r>
            <a:r>
              <a:rPr lang="en-US" altLang="en-US" kern="0" dirty="0">
                <a:ea typeface="ＭＳ Ｐゴシック" pitchFamily="34" charset="-128"/>
              </a:rPr>
              <a:t>the condition </a:t>
            </a:r>
            <a:r>
              <a:rPr lang="en-US" altLang="en-US" sz="2400" kern="0" dirty="0" err="1">
                <a:latin typeface="Source Sans Pro" panose="020B0503030403020204" pitchFamily="34" charset="0"/>
                <a:ea typeface="ＭＳ Ｐゴシック" pitchFamily="34" charset="-128"/>
              </a:rPr>
              <a:t>ε</a:t>
            </a:r>
            <a:r>
              <a:rPr lang="en-US" altLang="en-US" sz="2400" kern="0" baseline="-25000" dirty="0" err="1">
                <a:latin typeface="Source Sans Pro" panose="020B0503030403020204" pitchFamily="34" charset="0"/>
                <a:ea typeface="ＭＳ Ｐゴシック" pitchFamily="34" charset="-128"/>
              </a:rPr>
              <a:t>D</a:t>
            </a:r>
            <a:r>
              <a:rPr lang="en-US" altLang="en-US" kern="0" dirty="0">
                <a:ea typeface="ＭＳ Ｐゴシック" pitchFamily="34" charset="-128"/>
              </a:rPr>
              <a:t> =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P spid="16" grpId="0" animBg="1"/>
      <p:bldP spid="17" grpId="0" animBg="1"/>
      <p:bldP spid="18" grpId="0"/>
      <p:bldP spid="19" grpId="0"/>
      <p:bldP spid="20" grpId="0" animBg="1"/>
      <p:bldP spid="21" grpId="0" animBg="1"/>
      <p:bldP spid="22" grpId="0"/>
      <p:bldP spid="23" grpId="0"/>
      <p:bldP spid="24"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altLang="en-US" sz="3600" dirty="0">
                <a:ea typeface="ＭＳ Ｐゴシック" pitchFamily="34" charset="-128"/>
              </a:rPr>
              <a:t>Elasticity and revenue: Example</a:t>
            </a:r>
          </a:p>
        </p:txBody>
      </p:sp>
      <p:sp>
        <p:nvSpPr>
          <p:cNvPr id="296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F033DC25-F2C7-4B7E-A9FE-95E029AD56AB}" type="slidenum">
              <a:rPr lang="en-US" altLang="en-US" sz="1400">
                <a:latin typeface="Source Sans Pro" panose="020B0503030403020204" pitchFamily="34" charset="0"/>
              </a:rPr>
              <a:pPr eaLnBrk="1" hangingPunct="1"/>
              <a:t>17</a:t>
            </a:fld>
            <a:endParaRPr lang="en-US" altLang="en-US" sz="1400" dirty="0">
              <a:latin typeface="Source Sans Pro" panose="020B0503030403020204" pitchFamily="34" charset="0"/>
            </a:endParaRPr>
          </a:p>
        </p:txBody>
      </p:sp>
      <p:sp>
        <p:nvSpPr>
          <p:cNvPr id="2" name="Rectangle 3">
            <a:extLst>
              <a:ext uri="{FF2B5EF4-FFF2-40B4-BE49-F238E27FC236}">
                <a16:creationId xmlns:a16="http://schemas.microsoft.com/office/drawing/2014/main" id="{5D4C0293-7542-885D-D3BD-7A7302AB87AA}"/>
              </a:ext>
            </a:extLst>
          </p:cNvPr>
          <p:cNvSpPr txBox="1">
            <a:spLocks noChangeArrowheads="1"/>
          </p:cNvSpPr>
          <p:nvPr/>
        </p:nvSpPr>
        <p:spPr bwMode="auto">
          <a:xfrm>
            <a:off x="621792" y="1258491"/>
            <a:ext cx="10853928" cy="1951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lnSpc>
                <a:spcPct val="90000"/>
              </a:lnSpc>
            </a:pPr>
            <a:r>
              <a:rPr lang="en-US" altLang="en-US" sz="2800" kern="0" dirty="0">
                <a:latin typeface="Source Sans Pro" panose="020B0503030403020204" pitchFamily="34" charset="0"/>
                <a:ea typeface="ＭＳ Ｐゴシック" pitchFamily="34" charset="-128"/>
              </a:rPr>
              <a:t>Return to the demand curve </a:t>
            </a:r>
            <a:r>
              <a:rPr lang="en-US" altLang="en-US" sz="2800" i="1" kern="0" dirty="0">
                <a:latin typeface="Source Sans Pro" panose="020B0503030403020204" pitchFamily="34" charset="0"/>
                <a:ea typeface="ＭＳ Ｐゴシック" pitchFamily="34" charset="-128"/>
              </a:rPr>
              <a:t>P</a:t>
            </a:r>
            <a:r>
              <a:rPr lang="en-US" altLang="en-US" sz="2800" kern="0" dirty="0">
                <a:latin typeface="Source Sans Pro" panose="020B0503030403020204" pitchFamily="34" charset="0"/>
                <a:ea typeface="ＭＳ Ｐゴシック" pitchFamily="34" charset="-128"/>
              </a:rPr>
              <a:t> = 200 – 0.25</a:t>
            </a:r>
            <a:r>
              <a:rPr lang="en-US" altLang="en-US" sz="2800" i="1" kern="0" dirty="0">
                <a:latin typeface="Source Sans Pro" panose="020B0503030403020204" pitchFamily="34" charset="0"/>
                <a:ea typeface="ＭＳ Ｐゴシック" pitchFamily="34" charset="-128"/>
              </a:rPr>
              <a:t>Q</a:t>
            </a:r>
          </a:p>
          <a:p>
            <a:pPr lvl="1" eaLnBrk="1" hangingPunct="1">
              <a:lnSpc>
                <a:spcPct val="90000"/>
              </a:lnSpc>
            </a:pPr>
            <a:r>
              <a:rPr lang="en-US" altLang="en-US" kern="0" dirty="0">
                <a:latin typeface="Source Sans Pro" panose="020B0503030403020204" pitchFamily="34" charset="0"/>
                <a:ea typeface="ＭＳ Ｐゴシック" pitchFamily="34" charset="-128"/>
              </a:rPr>
              <a:t>Already determined revenue is maximized when </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 = 400 and </a:t>
            </a:r>
            <a:r>
              <a:rPr lang="en-US" altLang="en-US" i="1" kern="0" dirty="0">
                <a:latin typeface="Source Sans Pro" panose="020B0503030403020204" pitchFamily="34" charset="0"/>
                <a:ea typeface="ＭＳ Ｐゴシック" pitchFamily="34" charset="-128"/>
              </a:rPr>
              <a:t>P</a:t>
            </a:r>
            <a:r>
              <a:rPr lang="en-US" altLang="en-US" kern="0" dirty="0">
                <a:latin typeface="Source Sans Pro" panose="020B0503030403020204" pitchFamily="34" charset="0"/>
                <a:ea typeface="ＭＳ Ｐゴシック" pitchFamily="34" charset="-128"/>
              </a:rPr>
              <a:t> = 100</a:t>
            </a:r>
          </a:p>
          <a:p>
            <a:pPr eaLnBrk="1" hangingPunct="1">
              <a:lnSpc>
                <a:spcPct val="90000"/>
              </a:lnSpc>
            </a:pPr>
            <a:r>
              <a:rPr lang="en-US" altLang="en-US" sz="2800" kern="0" dirty="0">
                <a:latin typeface="Source Sans Pro" panose="020B0503030403020204" pitchFamily="34" charset="0"/>
                <a:ea typeface="ＭＳ Ｐゴシック" pitchFamily="34" charset="-128"/>
              </a:rPr>
              <a:t>Could also find this by </a:t>
            </a:r>
            <a:r>
              <a:rPr lang="en-US" altLang="en-US" sz="2800" b="1" kern="0" dirty="0">
                <a:latin typeface="Source Sans Pro" panose="020B0503030403020204" pitchFamily="34" charset="0"/>
                <a:ea typeface="ＭＳ Ｐゴシック" pitchFamily="34" charset="-128"/>
              </a:rPr>
              <a:t>analyzing elasticity</a:t>
            </a:r>
            <a:endParaRPr lang="en-US" altLang="en-US" sz="2800" kern="0" dirty="0">
              <a:latin typeface="Source Sans Pro" panose="020B0503030403020204" pitchFamily="34" charset="0"/>
              <a:ea typeface="ＭＳ Ｐゴシック" pitchFamily="34" charset="-128"/>
            </a:endParaRPr>
          </a:p>
        </p:txBody>
      </p:sp>
      <p:sp>
        <p:nvSpPr>
          <p:cNvPr id="3" name="Rectangle 3">
            <a:extLst>
              <a:ext uri="{FF2B5EF4-FFF2-40B4-BE49-F238E27FC236}">
                <a16:creationId xmlns:a16="http://schemas.microsoft.com/office/drawing/2014/main" id="{33E19F27-6D26-0007-59D9-5EBD35FAEE77}"/>
              </a:ext>
            </a:extLst>
          </p:cNvPr>
          <p:cNvSpPr txBox="1">
            <a:spLocks noChangeArrowheads="1"/>
          </p:cNvSpPr>
          <p:nvPr/>
        </p:nvSpPr>
        <p:spPr bwMode="auto">
          <a:xfrm>
            <a:off x="621792" y="3271059"/>
            <a:ext cx="1085392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eaLnBrk="1" hangingPunct="1">
              <a:lnSpc>
                <a:spcPct val="90000"/>
              </a:lnSpc>
            </a:pPr>
            <a:r>
              <a:rPr lang="en-US" altLang="en-US" kern="0" dirty="0">
                <a:latin typeface="Source Sans Pro" panose="020B0503030403020204" pitchFamily="34" charset="0"/>
                <a:ea typeface="ＭＳ Ｐゴシック" pitchFamily="34" charset="-128"/>
              </a:rPr>
              <a:t>Elasticity is (</a:t>
            </a:r>
            <a:r>
              <a:rPr lang="en-US" altLang="en-US" i="1" kern="0" dirty="0" err="1">
                <a:latin typeface="Source Sans Pro" panose="020B0503030403020204" pitchFamily="34" charset="0"/>
                <a:ea typeface="ＭＳ Ｐゴシック" pitchFamily="34" charset="-128"/>
              </a:rPr>
              <a:t>dQ</a:t>
            </a:r>
            <a:r>
              <a:rPr lang="en-US" altLang="en-US" kern="0" dirty="0">
                <a:latin typeface="Source Sans Pro" panose="020B0503030403020204" pitchFamily="34" charset="0"/>
                <a:ea typeface="ＭＳ Ｐゴシック" pitchFamily="34" charset="-128"/>
              </a:rPr>
              <a:t>/</a:t>
            </a:r>
            <a:r>
              <a:rPr lang="en-US" altLang="en-US" i="1" kern="0" dirty="0" err="1">
                <a:latin typeface="Source Sans Pro" panose="020B0503030403020204" pitchFamily="34" charset="0"/>
                <a:ea typeface="ＭＳ Ｐゴシック" pitchFamily="34" charset="-128"/>
              </a:rPr>
              <a:t>dP</a:t>
            </a:r>
            <a:r>
              <a:rPr lang="en-US" altLang="en-US" kern="0" dirty="0">
                <a:latin typeface="Source Sans Pro" panose="020B0503030403020204" pitchFamily="34" charset="0"/>
                <a:ea typeface="ＭＳ Ｐゴシック" pitchFamily="34" charset="-128"/>
              </a:rPr>
              <a:t>) </a:t>
            </a:r>
            <a:r>
              <a:rPr lang="en-US" altLang="en-US" kern="0" dirty="0">
                <a:latin typeface="Source Sans Pro" panose="020B0503030403020204" pitchFamily="34" charset="0"/>
                <a:ea typeface="ＭＳ Ｐゴシック" pitchFamily="34" charset="-128"/>
                <a:sym typeface="Symbol" pitchFamily="18" charset="2"/>
              </a:rPr>
              <a:t>x </a:t>
            </a:r>
            <a:r>
              <a:rPr lang="en-US" altLang="en-US" kern="0" dirty="0">
                <a:latin typeface="Source Sans Pro" panose="020B0503030403020204" pitchFamily="34" charset="0"/>
                <a:ea typeface="ＭＳ Ｐゴシック" pitchFamily="34" charset="-128"/>
              </a:rPr>
              <a:t>(</a:t>
            </a:r>
            <a:r>
              <a:rPr lang="en-US" altLang="en-US" i="1" kern="0" dirty="0">
                <a:latin typeface="Source Sans Pro" panose="020B0503030403020204" pitchFamily="34" charset="0"/>
                <a:ea typeface="ＭＳ Ｐゴシック" pitchFamily="34" charset="-128"/>
              </a:rPr>
              <a:t>P</a:t>
            </a:r>
            <a:r>
              <a:rPr lang="en-US" altLang="en-US" kern="0" dirty="0">
                <a:latin typeface="Source Sans Pro" panose="020B0503030403020204" pitchFamily="34" charset="0"/>
                <a:ea typeface="ＭＳ Ｐゴシック" pitchFamily="34" charset="-128"/>
              </a:rPr>
              <a:t>/</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 so 1/</a:t>
            </a:r>
            <a:r>
              <a:rPr lang="en-US" altLang="en-US" kern="0" dirty="0" err="1">
                <a:latin typeface="Source Sans Pro" panose="020B0503030403020204" pitchFamily="34" charset="0"/>
              </a:rPr>
              <a:t>ε</a:t>
            </a:r>
            <a:r>
              <a:rPr lang="en-US" altLang="en-US" kern="0" baseline="-25000" dirty="0" err="1">
                <a:latin typeface="Source Sans Pro" panose="020B0503030403020204" pitchFamily="34" charset="0"/>
              </a:rPr>
              <a:t>D</a:t>
            </a:r>
            <a:r>
              <a:rPr lang="en-US" altLang="en-US" kern="0" dirty="0">
                <a:latin typeface="Source Sans Pro" panose="020B0503030403020204" pitchFamily="34" charset="0"/>
                <a:ea typeface="ＭＳ Ｐゴシック" pitchFamily="34" charset="-128"/>
              </a:rPr>
              <a:t> = (</a:t>
            </a:r>
            <a:r>
              <a:rPr lang="en-US" altLang="en-US" i="1" kern="0" dirty="0" err="1">
                <a:latin typeface="Source Sans Pro" panose="020B0503030403020204" pitchFamily="34" charset="0"/>
                <a:ea typeface="ＭＳ Ｐゴシック" pitchFamily="34" charset="-128"/>
              </a:rPr>
              <a:t>dP</a:t>
            </a:r>
            <a:r>
              <a:rPr lang="en-US" altLang="en-US" kern="0" dirty="0">
                <a:latin typeface="Source Sans Pro" panose="020B0503030403020204" pitchFamily="34" charset="0"/>
                <a:ea typeface="ＭＳ Ｐゴシック" pitchFamily="34" charset="-128"/>
              </a:rPr>
              <a:t>/</a:t>
            </a:r>
            <a:r>
              <a:rPr lang="en-US" altLang="en-US" i="1" kern="0" dirty="0" err="1">
                <a:latin typeface="Source Sans Pro" panose="020B0503030403020204" pitchFamily="34" charset="0"/>
                <a:ea typeface="ＭＳ Ｐゴシック" pitchFamily="34" charset="-128"/>
              </a:rPr>
              <a:t>dQ</a:t>
            </a:r>
            <a:r>
              <a:rPr lang="en-US" altLang="en-US" kern="0" dirty="0">
                <a:latin typeface="Source Sans Pro" panose="020B0503030403020204" pitchFamily="34" charset="0"/>
                <a:ea typeface="ＭＳ Ｐゴシック" pitchFamily="34" charset="-128"/>
              </a:rPr>
              <a:t>) </a:t>
            </a:r>
            <a:r>
              <a:rPr lang="en-US" altLang="en-US" kern="0" dirty="0">
                <a:latin typeface="Source Sans Pro" panose="020B0503030403020204" pitchFamily="34" charset="0"/>
                <a:ea typeface="ＭＳ Ｐゴシック" pitchFamily="34" charset="-128"/>
                <a:sym typeface="Symbol" pitchFamily="18" charset="2"/>
              </a:rPr>
              <a:t>x </a:t>
            </a:r>
            <a:r>
              <a:rPr lang="en-US" altLang="en-US" kern="0" dirty="0">
                <a:latin typeface="Source Sans Pro" panose="020B0503030403020204" pitchFamily="34" charset="0"/>
                <a:ea typeface="ＭＳ Ｐゴシック" pitchFamily="34" charset="-128"/>
              </a:rPr>
              <a:t>(</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a:t>
            </a:r>
            <a:r>
              <a:rPr lang="en-US" altLang="en-US" i="1" kern="0" dirty="0">
                <a:latin typeface="Source Sans Pro" panose="020B0503030403020204" pitchFamily="34" charset="0"/>
                <a:ea typeface="ＭＳ Ｐゴシック" pitchFamily="34" charset="-128"/>
              </a:rPr>
              <a:t>P</a:t>
            </a:r>
            <a:r>
              <a:rPr lang="en-US" altLang="en-US" kern="0" dirty="0">
                <a:latin typeface="Source Sans Pro" panose="020B0503030403020204" pitchFamily="34" charset="0"/>
                <a:ea typeface="ＭＳ Ｐゴシック" pitchFamily="34" charset="-128"/>
              </a:rPr>
              <a:t>)</a:t>
            </a:r>
          </a:p>
        </p:txBody>
      </p:sp>
      <p:sp>
        <p:nvSpPr>
          <p:cNvPr id="4" name="Rectangle 3">
            <a:extLst>
              <a:ext uri="{FF2B5EF4-FFF2-40B4-BE49-F238E27FC236}">
                <a16:creationId xmlns:a16="http://schemas.microsoft.com/office/drawing/2014/main" id="{A38AAEBF-1A3C-AF98-A391-1E39BB37CEFB}"/>
              </a:ext>
            </a:extLst>
          </p:cNvPr>
          <p:cNvSpPr txBox="1">
            <a:spLocks noChangeArrowheads="1"/>
          </p:cNvSpPr>
          <p:nvPr/>
        </p:nvSpPr>
        <p:spPr bwMode="auto">
          <a:xfrm>
            <a:off x="621792" y="3812455"/>
            <a:ext cx="1085392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eaLnBrk="1" hangingPunct="1">
              <a:lnSpc>
                <a:spcPct val="90000"/>
              </a:lnSpc>
            </a:pPr>
            <a:r>
              <a:rPr lang="en-US" altLang="en-US" i="1" kern="0" dirty="0" err="1">
                <a:latin typeface="Source Sans Pro" panose="020B0503030403020204" pitchFamily="34" charset="0"/>
                <a:ea typeface="ＭＳ Ｐゴシック" pitchFamily="34" charset="-128"/>
              </a:rPr>
              <a:t>dP</a:t>
            </a:r>
            <a:r>
              <a:rPr lang="en-US" altLang="en-US" kern="0" dirty="0">
                <a:latin typeface="Source Sans Pro" panose="020B0503030403020204" pitchFamily="34" charset="0"/>
                <a:ea typeface="ＭＳ Ｐゴシック" pitchFamily="34" charset="-128"/>
              </a:rPr>
              <a:t>/</a:t>
            </a:r>
            <a:r>
              <a:rPr lang="en-US" altLang="en-US" i="1" kern="0" dirty="0" err="1">
                <a:latin typeface="Source Sans Pro" panose="020B0503030403020204" pitchFamily="34" charset="0"/>
                <a:ea typeface="ＭＳ Ｐゴシック" pitchFamily="34" charset="-128"/>
              </a:rPr>
              <a:t>dQ</a:t>
            </a:r>
            <a:r>
              <a:rPr lang="en-US" altLang="en-US" kern="0" dirty="0">
                <a:latin typeface="Source Sans Pro" panose="020B0503030403020204" pitchFamily="34" charset="0"/>
                <a:ea typeface="ＭＳ Ｐゴシック" pitchFamily="34" charset="-128"/>
              </a:rPr>
              <a:t> = –0.25 (the </a:t>
            </a:r>
            <a:r>
              <a:rPr lang="en-US" altLang="en-US" b="1" kern="0" dirty="0">
                <a:latin typeface="Source Sans Pro" panose="020B0503030403020204" pitchFamily="34" charset="0"/>
                <a:ea typeface="ＭＳ Ｐゴシック" pitchFamily="34" charset="-128"/>
              </a:rPr>
              <a:t>slope </a:t>
            </a:r>
            <a:r>
              <a:rPr lang="en-US" altLang="en-US" kern="0" dirty="0">
                <a:latin typeface="Source Sans Pro" panose="020B0503030403020204" pitchFamily="34" charset="0"/>
                <a:ea typeface="ＭＳ Ｐゴシック" pitchFamily="34" charset="-128"/>
              </a:rPr>
              <a:t>of demand)</a:t>
            </a:r>
          </a:p>
        </p:txBody>
      </p:sp>
      <p:sp>
        <p:nvSpPr>
          <p:cNvPr id="5" name="Rectangle 3">
            <a:extLst>
              <a:ext uri="{FF2B5EF4-FFF2-40B4-BE49-F238E27FC236}">
                <a16:creationId xmlns:a16="http://schemas.microsoft.com/office/drawing/2014/main" id="{D69A0ED3-D1EB-530A-03B4-88A318DCB574}"/>
              </a:ext>
            </a:extLst>
          </p:cNvPr>
          <p:cNvSpPr txBox="1">
            <a:spLocks noChangeArrowheads="1"/>
          </p:cNvSpPr>
          <p:nvPr/>
        </p:nvSpPr>
        <p:spPr bwMode="auto">
          <a:xfrm>
            <a:off x="621792" y="4353851"/>
            <a:ext cx="10853928" cy="102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eaLnBrk="1" hangingPunct="1">
              <a:lnSpc>
                <a:spcPct val="90000"/>
              </a:lnSpc>
            </a:pPr>
            <a:r>
              <a:rPr lang="en-US" altLang="en-US" b="1" kern="0" dirty="0">
                <a:latin typeface="Source Sans Pro" panose="020B0503030403020204" pitchFamily="34" charset="0"/>
                <a:ea typeface="ＭＳ Ｐゴシック" pitchFamily="34" charset="-128"/>
              </a:rPr>
              <a:t>Replace </a:t>
            </a:r>
            <a:r>
              <a:rPr lang="en-US" altLang="en-US" b="1" i="1" kern="0" dirty="0">
                <a:latin typeface="Source Sans Pro" panose="020B0503030403020204" pitchFamily="34" charset="0"/>
                <a:ea typeface="ＭＳ Ｐゴシック" pitchFamily="34" charset="-128"/>
              </a:rPr>
              <a:t>P</a:t>
            </a:r>
            <a:r>
              <a:rPr lang="en-US" altLang="en-US" b="1" kern="0" dirty="0">
                <a:latin typeface="Source Sans Pro" panose="020B0503030403020204" pitchFamily="34" charset="0"/>
                <a:ea typeface="ＭＳ Ｐゴシック" pitchFamily="34" charset="-128"/>
              </a:rPr>
              <a:t> </a:t>
            </a:r>
            <a:r>
              <a:rPr lang="en-US" altLang="en-US" kern="0" dirty="0">
                <a:latin typeface="Source Sans Pro" panose="020B0503030403020204" pitchFamily="34" charset="0"/>
                <a:ea typeface="ＭＳ Ｐゴシック" pitchFamily="34" charset="-128"/>
              </a:rPr>
              <a:t>with P(</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 and insert </a:t>
            </a:r>
            <a:r>
              <a:rPr lang="en-US" altLang="en-US" i="1" kern="0" dirty="0" err="1">
                <a:latin typeface="Source Sans Pro" panose="020B0503030403020204" pitchFamily="34" charset="0"/>
                <a:ea typeface="ＭＳ Ｐゴシック" pitchFamily="34" charset="-128"/>
              </a:rPr>
              <a:t>dP</a:t>
            </a:r>
            <a:r>
              <a:rPr lang="en-US" altLang="en-US" kern="0" dirty="0">
                <a:latin typeface="Source Sans Pro" panose="020B0503030403020204" pitchFamily="34" charset="0"/>
                <a:ea typeface="ＭＳ Ｐゴシック" pitchFamily="34" charset="-128"/>
              </a:rPr>
              <a:t>/</a:t>
            </a:r>
            <a:r>
              <a:rPr lang="en-US" altLang="en-US" i="1" kern="0" dirty="0" err="1">
                <a:latin typeface="Source Sans Pro" panose="020B0503030403020204" pitchFamily="34" charset="0"/>
                <a:ea typeface="ＭＳ Ｐゴシック" pitchFamily="34" charset="-128"/>
              </a:rPr>
              <a:t>dQ</a:t>
            </a:r>
            <a:r>
              <a:rPr lang="en-US" altLang="en-US" i="1" kern="0" dirty="0">
                <a:latin typeface="Source Sans Pro" panose="020B0503030403020204" pitchFamily="34" charset="0"/>
                <a:ea typeface="ＭＳ Ｐゴシック" pitchFamily="34" charset="-128"/>
              </a:rPr>
              <a:t> = </a:t>
            </a:r>
            <a:r>
              <a:rPr lang="en-US" altLang="en-US" kern="0" dirty="0">
                <a:latin typeface="Source Sans Pro" panose="020B0503030403020204" pitchFamily="34" charset="0"/>
                <a:ea typeface="ＭＳ Ｐゴシック" pitchFamily="34" charset="-128"/>
              </a:rPr>
              <a:t>-0.25</a:t>
            </a:r>
          </a:p>
          <a:p>
            <a:pPr marL="0" lvl="1" indent="0" algn="ctr" eaLnBrk="1" hangingPunct="1">
              <a:lnSpc>
                <a:spcPct val="90000"/>
              </a:lnSpc>
              <a:buNone/>
            </a:pPr>
            <a:r>
              <a:rPr lang="en-US" altLang="en-US" kern="0" dirty="0">
                <a:latin typeface="Source Sans Pro" panose="020B0503030403020204" pitchFamily="34" charset="0"/>
                <a:ea typeface="ＭＳ Ｐゴシック" pitchFamily="34" charset="-128"/>
              </a:rPr>
              <a:t>1/</a:t>
            </a:r>
            <a:r>
              <a:rPr lang="en-US" altLang="en-US" kern="0" dirty="0" err="1">
                <a:latin typeface="Source Sans Pro" panose="020B0503030403020204" pitchFamily="34" charset="0"/>
              </a:rPr>
              <a:t>ε</a:t>
            </a:r>
            <a:r>
              <a:rPr lang="en-US" altLang="en-US" kern="0" baseline="-25000" dirty="0" err="1">
                <a:latin typeface="Source Sans Pro" panose="020B0503030403020204" pitchFamily="34" charset="0"/>
              </a:rPr>
              <a:t>D</a:t>
            </a:r>
            <a:r>
              <a:rPr lang="en-US" altLang="en-US" kern="0" dirty="0">
                <a:latin typeface="Source Sans Pro" panose="020B0503030403020204" pitchFamily="34" charset="0"/>
                <a:ea typeface="ＭＳ Ｐゴシック" pitchFamily="34" charset="-128"/>
              </a:rPr>
              <a:t> = –0.25 </a:t>
            </a:r>
            <a:r>
              <a:rPr lang="en-US" altLang="en-US" kern="0" dirty="0">
                <a:latin typeface="Source Sans Pro" panose="020B0503030403020204" pitchFamily="34" charset="0"/>
                <a:ea typeface="ＭＳ Ｐゴシック" pitchFamily="34" charset="-128"/>
                <a:sym typeface="Symbol" pitchFamily="18" charset="2"/>
              </a:rPr>
              <a:t>x </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/(200–0.25</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a:t>
            </a:r>
          </a:p>
        </p:txBody>
      </p:sp>
      <p:sp>
        <p:nvSpPr>
          <p:cNvPr id="11" name="Rectangle 3">
            <a:extLst>
              <a:ext uri="{FF2B5EF4-FFF2-40B4-BE49-F238E27FC236}">
                <a16:creationId xmlns:a16="http://schemas.microsoft.com/office/drawing/2014/main" id="{E609390B-F112-B5AA-8FBC-1834479252AA}"/>
              </a:ext>
            </a:extLst>
          </p:cNvPr>
          <p:cNvSpPr txBox="1">
            <a:spLocks noChangeArrowheads="1"/>
          </p:cNvSpPr>
          <p:nvPr/>
        </p:nvSpPr>
        <p:spPr bwMode="auto">
          <a:xfrm>
            <a:off x="621792" y="5436933"/>
            <a:ext cx="1085392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eaLnBrk="1" hangingPunct="1">
              <a:lnSpc>
                <a:spcPct val="90000"/>
              </a:lnSpc>
            </a:pPr>
            <a:r>
              <a:rPr lang="en-US" altLang="en-US" kern="0" dirty="0">
                <a:latin typeface="Source Sans Pro" panose="020B0503030403020204" pitchFamily="34" charset="0"/>
                <a:ea typeface="ＭＳ Ｐゴシック" pitchFamily="34" charset="-128"/>
              </a:rPr>
              <a:t>Set equal to –1, do a little algebra, and find </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 = 400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altLang="en-US" sz="3600" dirty="0">
                <a:ea typeface="ＭＳ Ｐゴシック" pitchFamily="34" charset="-128"/>
              </a:rPr>
              <a:t>The algebra ...</a:t>
            </a:r>
          </a:p>
        </p:txBody>
      </p:sp>
      <p:sp>
        <p:nvSpPr>
          <p:cNvPr id="296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F033DC25-F2C7-4B7E-A9FE-95E029AD56AB}" type="slidenum">
              <a:rPr lang="en-US" altLang="en-US" sz="1400">
                <a:latin typeface="Source Sans Pro" panose="020B0503030403020204" pitchFamily="34" charset="0"/>
              </a:rPr>
              <a:pPr eaLnBrk="1" hangingPunct="1"/>
              <a:t>18</a:t>
            </a:fld>
            <a:endParaRPr lang="en-US" altLang="en-US" sz="1400" dirty="0">
              <a:latin typeface="Source Sans Pro" panose="020B0503030403020204" pitchFamily="34" charset="0"/>
            </a:endParaRPr>
          </a:p>
        </p:txBody>
      </p:sp>
      <p:sp>
        <p:nvSpPr>
          <p:cNvPr id="2" name="Rectangle 3">
            <a:extLst>
              <a:ext uri="{FF2B5EF4-FFF2-40B4-BE49-F238E27FC236}">
                <a16:creationId xmlns:a16="http://schemas.microsoft.com/office/drawing/2014/main" id="{549F7688-4BE0-13D7-BE32-ECF9090283BC}"/>
              </a:ext>
            </a:extLst>
          </p:cNvPr>
          <p:cNvSpPr txBox="1">
            <a:spLocks noChangeArrowheads="1"/>
          </p:cNvSpPr>
          <p:nvPr/>
        </p:nvSpPr>
        <p:spPr bwMode="auto">
          <a:xfrm>
            <a:off x="1790700" y="1618042"/>
            <a:ext cx="858678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lvl="1" indent="0" algn="ctr" eaLnBrk="1" hangingPunct="1">
              <a:lnSpc>
                <a:spcPct val="90000"/>
              </a:lnSpc>
              <a:buNone/>
            </a:pPr>
            <a:r>
              <a:rPr lang="en-US" altLang="en-US" kern="0" dirty="0">
                <a:latin typeface="Source Sans Pro" panose="020B0503030403020204" pitchFamily="34" charset="0"/>
                <a:ea typeface="ＭＳ Ｐゴシック" pitchFamily="34" charset="-128"/>
              </a:rPr>
              <a:t>1/</a:t>
            </a:r>
            <a:r>
              <a:rPr lang="en-US" altLang="en-US" kern="0" dirty="0" err="1">
                <a:latin typeface="Source Sans Pro" panose="020B0503030403020204" pitchFamily="34" charset="0"/>
              </a:rPr>
              <a:t>ε</a:t>
            </a:r>
            <a:r>
              <a:rPr lang="en-US" altLang="en-US" kern="0" baseline="-25000" dirty="0" err="1">
                <a:latin typeface="Source Sans Pro" panose="020B0503030403020204" pitchFamily="34" charset="0"/>
              </a:rPr>
              <a:t>D</a:t>
            </a:r>
            <a:r>
              <a:rPr lang="en-US" altLang="en-US" kern="0" dirty="0">
                <a:latin typeface="Source Sans Pro" panose="020B0503030403020204" pitchFamily="34" charset="0"/>
                <a:ea typeface="ＭＳ Ｐゴシック" pitchFamily="34" charset="-128"/>
              </a:rPr>
              <a:t> = -0.25 </a:t>
            </a:r>
            <a:r>
              <a:rPr lang="en-US" altLang="en-US" kern="0" dirty="0">
                <a:latin typeface="Source Sans Pro" panose="020B0503030403020204" pitchFamily="34" charset="0"/>
                <a:ea typeface="ＭＳ Ｐゴシック" pitchFamily="34" charset="-128"/>
                <a:sym typeface="Symbol" pitchFamily="18" charset="2"/>
              </a:rPr>
              <a:t>x </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/(200–0.25</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a:t>
            </a:r>
          </a:p>
        </p:txBody>
      </p:sp>
      <p:sp>
        <p:nvSpPr>
          <p:cNvPr id="3" name="Rectangle 3">
            <a:extLst>
              <a:ext uri="{FF2B5EF4-FFF2-40B4-BE49-F238E27FC236}">
                <a16:creationId xmlns:a16="http://schemas.microsoft.com/office/drawing/2014/main" id="{024928CA-3BC4-E0E9-F89C-F447F64883F8}"/>
              </a:ext>
            </a:extLst>
          </p:cNvPr>
          <p:cNvSpPr txBox="1">
            <a:spLocks noChangeArrowheads="1"/>
          </p:cNvSpPr>
          <p:nvPr/>
        </p:nvSpPr>
        <p:spPr bwMode="auto">
          <a:xfrm>
            <a:off x="1790700" y="2157918"/>
            <a:ext cx="858678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lvl="1" indent="0" algn="ctr" eaLnBrk="1" hangingPunct="1">
              <a:lnSpc>
                <a:spcPct val="90000"/>
              </a:lnSpc>
              <a:buNone/>
            </a:pPr>
            <a:r>
              <a:rPr lang="en-US" altLang="en-US" kern="0" dirty="0">
                <a:latin typeface="Source Sans Pro" panose="020B0503030403020204" pitchFamily="34" charset="0"/>
                <a:ea typeface="ＭＳ Ｐゴシック" pitchFamily="34" charset="-128"/>
              </a:rPr>
              <a:t>-1 = -(1/4) </a:t>
            </a:r>
            <a:r>
              <a:rPr lang="en-US" altLang="en-US" kern="0" dirty="0">
                <a:latin typeface="Source Sans Pro" panose="020B0503030403020204" pitchFamily="34" charset="0"/>
                <a:ea typeface="ＭＳ Ｐゴシック" pitchFamily="34" charset="-128"/>
                <a:sym typeface="Symbol" pitchFamily="18" charset="2"/>
              </a:rPr>
              <a:t>x </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/(200–0.25</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a:t>
            </a:r>
          </a:p>
        </p:txBody>
      </p:sp>
      <p:sp>
        <p:nvSpPr>
          <p:cNvPr id="4" name="Rectangle 3">
            <a:extLst>
              <a:ext uri="{FF2B5EF4-FFF2-40B4-BE49-F238E27FC236}">
                <a16:creationId xmlns:a16="http://schemas.microsoft.com/office/drawing/2014/main" id="{67B0D0AD-4CEA-2952-AB5C-D0C3544BCA35}"/>
              </a:ext>
            </a:extLst>
          </p:cNvPr>
          <p:cNvSpPr txBox="1">
            <a:spLocks noChangeArrowheads="1"/>
          </p:cNvSpPr>
          <p:nvPr/>
        </p:nvSpPr>
        <p:spPr bwMode="auto">
          <a:xfrm>
            <a:off x="1790700" y="2697794"/>
            <a:ext cx="858678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lvl="1" indent="0" algn="ctr" eaLnBrk="1" hangingPunct="1">
              <a:lnSpc>
                <a:spcPct val="90000"/>
              </a:lnSpc>
              <a:buNone/>
            </a:pPr>
            <a:r>
              <a:rPr lang="en-US" altLang="en-US" kern="0" dirty="0">
                <a:latin typeface="Source Sans Pro" panose="020B0503030403020204" pitchFamily="34" charset="0"/>
                <a:ea typeface="ＭＳ Ｐゴシック" pitchFamily="34" charset="-128"/>
              </a:rPr>
              <a:t>4 = </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/(200–0.25</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a:t>
            </a:r>
          </a:p>
        </p:txBody>
      </p:sp>
      <p:sp>
        <p:nvSpPr>
          <p:cNvPr id="9" name="Rectangle 3">
            <a:extLst>
              <a:ext uri="{FF2B5EF4-FFF2-40B4-BE49-F238E27FC236}">
                <a16:creationId xmlns:a16="http://schemas.microsoft.com/office/drawing/2014/main" id="{CCF60A7F-5E3E-604C-F550-AEE7B1E92CC5}"/>
              </a:ext>
            </a:extLst>
          </p:cNvPr>
          <p:cNvSpPr txBox="1">
            <a:spLocks noChangeArrowheads="1"/>
          </p:cNvSpPr>
          <p:nvPr/>
        </p:nvSpPr>
        <p:spPr bwMode="auto">
          <a:xfrm>
            <a:off x="1790700" y="3237670"/>
            <a:ext cx="858678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lvl="1" indent="0" algn="ctr" eaLnBrk="1" hangingPunct="1">
              <a:lnSpc>
                <a:spcPct val="90000"/>
              </a:lnSpc>
              <a:buNone/>
            </a:pPr>
            <a:r>
              <a:rPr lang="en-US" altLang="en-US" kern="0" dirty="0">
                <a:latin typeface="Source Sans Pro" panose="020B0503030403020204" pitchFamily="34" charset="0"/>
                <a:ea typeface="ＭＳ Ｐゴシック" pitchFamily="34" charset="-128"/>
              </a:rPr>
              <a:t>4 x (200–0.25</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 = </a:t>
            </a:r>
            <a:r>
              <a:rPr lang="en-US" altLang="en-US" i="1" kern="0" dirty="0">
                <a:latin typeface="Source Sans Pro" panose="020B0503030403020204" pitchFamily="34" charset="0"/>
                <a:ea typeface="ＭＳ Ｐゴシック" pitchFamily="34" charset="-128"/>
              </a:rPr>
              <a:t>Q</a:t>
            </a:r>
          </a:p>
        </p:txBody>
      </p:sp>
      <p:sp>
        <p:nvSpPr>
          <p:cNvPr id="14" name="Rectangle 3">
            <a:extLst>
              <a:ext uri="{FF2B5EF4-FFF2-40B4-BE49-F238E27FC236}">
                <a16:creationId xmlns:a16="http://schemas.microsoft.com/office/drawing/2014/main" id="{1384DF5B-CBDC-29B8-3B37-72CA29254365}"/>
              </a:ext>
            </a:extLst>
          </p:cNvPr>
          <p:cNvSpPr txBox="1">
            <a:spLocks noChangeArrowheads="1"/>
          </p:cNvSpPr>
          <p:nvPr/>
        </p:nvSpPr>
        <p:spPr bwMode="auto">
          <a:xfrm>
            <a:off x="1790700" y="3777546"/>
            <a:ext cx="858678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lvl="1" indent="0" algn="ctr" eaLnBrk="1" hangingPunct="1">
              <a:lnSpc>
                <a:spcPct val="90000"/>
              </a:lnSpc>
              <a:buNone/>
            </a:pPr>
            <a:r>
              <a:rPr lang="en-US" altLang="en-US" kern="0" dirty="0">
                <a:latin typeface="Source Sans Pro" panose="020B0503030403020204" pitchFamily="34" charset="0"/>
                <a:ea typeface="ＭＳ Ｐゴシック" pitchFamily="34" charset="-128"/>
              </a:rPr>
              <a:t>4 x 200 – 4 x 0.25</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 = </a:t>
            </a:r>
            <a:r>
              <a:rPr lang="en-US" altLang="en-US" i="1" kern="0" dirty="0">
                <a:latin typeface="Source Sans Pro" panose="020B0503030403020204" pitchFamily="34" charset="0"/>
                <a:ea typeface="ＭＳ Ｐゴシック" pitchFamily="34" charset="-128"/>
              </a:rPr>
              <a:t>Q</a:t>
            </a:r>
          </a:p>
        </p:txBody>
      </p:sp>
      <p:sp>
        <p:nvSpPr>
          <p:cNvPr id="15" name="Rectangle 3">
            <a:extLst>
              <a:ext uri="{FF2B5EF4-FFF2-40B4-BE49-F238E27FC236}">
                <a16:creationId xmlns:a16="http://schemas.microsoft.com/office/drawing/2014/main" id="{A0278C44-D21B-8AFC-66E3-250ED776EACE}"/>
              </a:ext>
            </a:extLst>
          </p:cNvPr>
          <p:cNvSpPr txBox="1">
            <a:spLocks noChangeArrowheads="1"/>
          </p:cNvSpPr>
          <p:nvPr/>
        </p:nvSpPr>
        <p:spPr bwMode="auto">
          <a:xfrm>
            <a:off x="1790700" y="4317422"/>
            <a:ext cx="858678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lvl="1" indent="0" algn="ctr" eaLnBrk="1" hangingPunct="1">
              <a:lnSpc>
                <a:spcPct val="90000"/>
              </a:lnSpc>
              <a:buNone/>
            </a:pPr>
            <a:r>
              <a:rPr lang="en-US" altLang="en-US" kern="0" dirty="0">
                <a:latin typeface="Source Sans Pro" panose="020B0503030403020204" pitchFamily="34" charset="0"/>
                <a:ea typeface="ＭＳ Ｐゴシック" pitchFamily="34" charset="-128"/>
              </a:rPr>
              <a:t>800 – </a:t>
            </a:r>
            <a:r>
              <a:rPr lang="en-US" altLang="en-US" i="1" kern="0" dirty="0">
                <a:latin typeface="Source Sans Pro" panose="020B0503030403020204" pitchFamily="34" charset="0"/>
                <a:ea typeface="ＭＳ Ｐゴシック" pitchFamily="34" charset="-128"/>
              </a:rPr>
              <a:t>Q</a:t>
            </a:r>
            <a:r>
              <a:rPr lang="en-US" altLang="en-US" kern="0" dirty="0">
                <a:latin typeface="Source Sans Pro" panose="020B0503030403020204" pitchFamily="34" charset="0"/>
                <a:ea typeface="ＭＳ Ｐゴシック" pitchFamily="34" charset="-128"/>
              </a:rPr>
              <a:t> = </a:t>
            </a:r>
            <a:r>
              <a:rPr lang="en-US" altLang="en-US" i="1" kern="0" dirty="0">
                <a:latin typeface="Source Sans Pro" panose="020B0503030403020204" pitchFamily="34" charset="0"/>
                <a:ea typeface="ＭＳ Ｐゴシック" pitchFamily="34" charset="-128"/>
              </a:rPr>
              <a:t>Q</a:t>
            </a:r>
          </a:p>
        </p:txBody>
      </p:sp>
      <p:sp>
        <p:nvSpPr>
          <p:cNvPr id="16" name="Rectangle 3">
            <a:extLst>
              <a:ext uri="{FF2B5EF4-FFF2-40B4-BE49-F238E27FC236}">
                <a16:creationId xmlns:a16="http://schemas.microsoft.com/office/drawing/2014/main" id="{CDEF4005-50B8-20D2-20C8-11CFB233423F}"/>
              </a:ext>
            </a:extLst>
          </p:cNvPr>
          <p:cNvSpPr txBox="1">
            <a:spLocks noChangeArrowheads="1"/>
          </p:cNvSpPr>
          <p:nvPr/>
        </p:nvSpPr>
        <p:spPr bwMode="auto">
          <a:xfrm>
            <a:off x="1790700" y="4857298"/>
            <a:ext cx="858678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lvl="1" indent="0" algn="ctr" eaLnBrk="1" hangingPunct="1">
              <a:lnSpc>
                <a:spcPct val="90000"/>
              </a:lnSpc>
              <a:buNone/>
            </a:pPr>
            <a:r>
              <a:rPr lang="en-US" altLang="en-US" kern="0" dirty="0">
                <a:latin typeface="Source Sans Pro" panose="020B0503030403020204" pitchFamily="34" charset="0"/>
                <a:ea typeface="ＭＳ Ｐゴシック" pitchFamily="34" charset="-128"/>
              </a:rPr>
              <a:t>800 = 2</a:t>
            </a:r>
            <a:r>
              <a:rPr lang="en-US" altLang="en-US" i="1" kern="0" dirty="0">
                <a:latin typeface="Source Sans Pro" panose="020B0503030403020204" pitchFamily="34" charset="0"/>
                <a:ea typeface="ＭＳ Ｐゴシック" pitchFamily="34" charset="-128"/>
              </a:rPr>
              <a:t>Q</a:t>
            </a:r>
          </a:p>
        </p:txBody>
      </p:sp>
      <p:sp>
        <p:nvSpPr>
          <p:cNvPr id="17" name="Rectangle 3">
            <a:extLst>
              <a:ext uri="{FF2B5EF4-FFF2-40B4-BE49-F238E27FC236}">
                <a16:creationId xmlns:a16="http://schemas.microsoft.com/office/drawing/2014/main" id="{38394847-2E12-1FC2-8731-A79D47FEF922}"/>
              </a:ext>
            </a:extLst>
          </p:cNvPr>
          <p:cNvSpPr txBox="1">
            <a:spLocks noChangeArrowheads="1"/>
          </p:cNvSpPr>
          <p:nvPr/>
        </p:nvSpPr>
        <p:spPr bwMode="auto">
          <a:xfrm>
            <a:off x="1790700" y="5397173"/>
            <a:ext cx="858678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lvl="1" indent="0" algn="ctr" eaLnBrk="1" hangingPunct="1">
              <a:lnSpc>
                <a:spcPct val="90000"/>
              </a:lnSpc>
              <a:buNone/>
            </a:pPr>
            <a:r>
              <a:rPr lang="en-US" altLang="en-US" kern="0" dirty="0">
                <a:latin typeface="Source Sans Pro" panose="020B0503030403020204" pitchFamily="34" charset="0"/>
                <a:ea typeface="ＭＳ Ｐゴシック" pitchFamily="34" charset="-128"/>
              </a:rPr>
              <a:t>400 = </a:t>
            </a:r>
            <a:r>
              <a:rPr lang="en-US" altLang="en-US" i="1" kern="0" dirty="0">
                <a:latin typeface="Source Sans Pro" panose="020B0503030403020204" pitchFamily="34" charset="0"/>
                <a:ea typeface="ＭＳ Ｐゴシック" pitchFamily="34" charset="-128"/>
              </a:rPr>
              <a:t>Q</a:t>
            </a:r>
          </a:p>
        </p:txBody>
      </p:sp>
    </p:spTree>
    <p:extLst>
      <p:ext uri="{BB962C8B-B14F-4D97-AF65-F5344CB8AC3E}">
        <p14:creationId xmlns:p14="http://schemas.microsoft.com/office/powerpoint/2010/main" val="566834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altLang="en-US" sz="3600" dirty="0">
                <a:ea typeface="ＭＳ Ｐゴシック" pitchFamily="34" charset="-128"/>
              </a:rPr>
              <a:t>Example: The eclipse</a:t>
            </a:r>
          </a:p>
        </p:txBody>
      </p:sp>
      <p:sp>
        <p:nvSpPr>
          <p:cNvPr id="307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F41A6AB2-4066-4D83-B07A-74657151B8E0}" type="slidenum">
              <a:rPr lang="en-US" altLang="en-US" sz="1400">
                <a:latin typeface="Source Sans Pro" panose="020B0503030403020204" pitchFamily="34" charset="0"/>
              </a:rPr>
              <a:pPr eaLnBrk="1" hangingPunct="1"/>
              <a:t>19</a:t>
            </a:fld>
            <a:endParaRPr lang="en-US" altLang="en-US" sz="1400" dirty="0">
              <a:latin typeface="Source Sans Pro" panose="020B0503030403020204" pitchFamily="34" charset="0"/>
            </a:endParaRPr>
          </a:p>
        </p:txBody>
      </p:sp>
      <p:sp>
        <p:nvSpPr>
          <p:cNvPr id="2" name="Rectangle 1"/>
          <p:cNvSpPr/>
          <p:nvPr/>
        </p:nvSpPr>
        <p:spPr>
          <a:xfrm>
            <a:off x="128016" y="6489505"/>
            <a:ext cx="10835640" cy="276999"/>
          </a:xfrm>
          <a:prstGeom prst="rect">
            <a:avLst/>
          </a:prstGeom>
        </p:spPr>
        <p:txBody>
          <a:bodyPr wrap="square">
            <a:spAutoFit/>
          </a:bodyPr>
          <a:lstStyle/>
          <a:p>
            <a:r>
              <a:rPr lang="en-US" sz="1200" dirty="0">
                <a:latin typeface="Source Sans Pro" panose="020B0503030403020204" pitchFamily="34" charset="0"/>
                <a:cs typeface="Calibri" panose="020F0502020204030204" pitchFamily="34" charset="0"/>
              </a:rPr>
              <a:t>Source: “Carbondale hopes 60,000 eclipse tourists can invigorate city: 'Mother Nature has given us a gift’,” </a:t>
            </a:r>
            <a:r>
              <a:rPr lang="en-US" sz="1200" i="1" dirty="0">
                <a:latin typeface="Source Sans Pro" panose="020B0503030403020204" pitchFamily="34" charset="0"/>
                <a:cs typeface="Calibri" panose="020F0502020204030204" pitchFamily="34" charset="0"/>
              </a:rPr>
              <a:t>Chicago Tribune</a:t>
            </a:r>
            <a:r>
              <a:rPr lang="en-US" sz="1200" dirty="0">
                <a:latin typeface="Source Sans Pro" panose="020B0503030403020204" pitchFamily="34" charset="0"/>
                <a:cs typeface="Calibri" panose="020F0502020204030204" pitchFamily="34" charset="0"/>
              </a:rPr>
              <a:t>, August 18, 2017</a:t>
            </a:r>
          </a:p>
        </p:txBody>
      </p:sp>
      <p:sp>
        <p:nvSpPr>
          <p:cNvPr id="3" name="Rectangle 3">
            <a:extLst>
              <a:ext uri="{FF2B5EF4-FFF2-40B4-BE49-F238E27FC236}">
                <a16:creationId xmlns:a16="http://schemas.microsoft.com/office/drawing/2014/main" id="{F6AA5C99-A10C-340A-E93C-E341DDD383EB}"/>
              </a:ext>
            </a:extLst>
          </p:cNvPr>
          <p:cNvSpPr txBox="1">
            <a:spLocks noChangeArrowheads="1"/>
          </p:cNvSpPr>
          <p:nvPr/>
        </p:nvSpPr>
        <p:spPr bwMode="auto">
          <a:xfrm>
            <a:off x="1161288" y="1692218"/>
            <a:ext cx="9966960" cy="270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800" kern="0">
                <a:ea typeface="ＭＳ Ｐゴシック" pitchFamily="34" charset="-128"/>
              </a:rPr>
              <a:t>What are the examples of how Carbondale’s business owners were seeking to maximize revenue?</a:t>
            </a:r>
          </a:p>
          <a:p>
            <a:pPr eaLnBrk="1" hangingPunct="1"/>
            <a:r>
              <a:rPr lang="en-US" altLang="en-US" sz="2800" kern="0">
                <a:ea typeface="ＭＳ Ｐゴシック" pitchFamily="34" charset="-128"/>
              </a:rPr>
              <a:t>Why were they able to “get away” with these higher prices?</a:t>
            </a:r>
          </a:p>
          <a:p>
            <a:pPr lvl="1" eaLnBrk="1" hangingPunct="1"/>
            <a:r>
              <a:rPr lang="en-US" altLang="en-US" sz="2800" kern="0">
                <a:ea typeface="ＭＳ Ｐゴシック" pitchFamily="34" charset="-128"/>
              </a:rPr>
              <a:t>In terms of elasticity?</a:t>
            </a:r>
          </a:p>
          <a:p>
            <a:pPr eaLnBrk="1" hangingPunct="1"/>
            <a:r>
              <a:rPr lang="en-US" altLang="en-US" sz="2800" kern="0">
                <a:ea typeface="ＭＳ Ｐゴシック" pitchFamily="34" charset="-128"/>
              </a:rPr>
              <a:t>How will this help them to plan for 2024?</a:t>
            </a:r>
            <a:endParaRPr lang="en-US" altLang="en-US" sz="2800" kern="0" dirty="0">
              <a:ea typeface="ＭＳ Ｐゴシック" pitchFamily="34" charset="-128"/>
            </a:endParaRPr>
          </a:p>
        </p:txBody>
      </p:sp>
      <p:sp>
        <p:nvSpPr>
          <p:cNvPr id="4" name="5-Point Star 3">
            <a:extLst>
              <a:ext uri="{FF2B5EF4-FFF2-40B4-BE49-F238E27FC236}">
                <a16:creationId xmlns:a16="http://schemas.microsoft.com/office/drawing/2014/main" id="{AE87E259-64C2-D0FB-8425-5439DD9B226E}"/>
              </a:ext>
            </a:extLst>
          </p:cNvPr>
          <p:cNvSpPr/>
          <p:nvPr/>
        </p:nvSpPr>
        <p:spPr>
          <a:xfrm>
            <a:off x="12383833"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1234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ource Sans Pro" panose="020B0503030403020204" pitchFamily="34" charset="0"/>
                <a:ea typeface="Source Sans Pro" panose="020B0503030403020204" pitchFamily="34" charset="0"/>
              </a:rPr>
              <a:t>Agenda</a:t>
            </a:r>
          </a:p>
        </p:txBody>
      </p:sp>
      <p:sp>
        <p:nvSpPr>
          <p:cNvPr id="5" name="Slide Number Placeholder 4"/>
          <p:cNvSpPr>
            <a:spLocks noGrp="1"/>
          </p:cNvSpPr>
          <p:nvPr>
            <p:ph type="sldNum" sz="quarter" idx="12"/>
          </p:nvPr>
        </p:nvSpPr>
        <p:spPr/>
        <p:txBody>
          <a:bodyPr/>
          <a:lstStyle/>
          <a:p>
            <a:fld id="{601CDD02-EF00-47E2-B6EB-B4DAE4D672DA}" type="slidenum">
              <a:rPr lang="en-US" altLang="en-US" smtClean="0">
                <a:latin typeface="Source Sans Pro" panose="020B0503030403020204" pitchFamily="34" charset="0"/>
                <a:ea typeface="Source Sans Pro" panose="020B0503030403020204" pitchFamily="34" charset="0"/>
              </a:rPr>
              <a:pPr/>
              <a:t>20</a:t>
            </a:fld>
            <a:endParaRPr lang="en-US" altLang="en-US" dirty="0">
              <a:latin typeface="Source Sans Pro" panose="020B0503030403020204" pitchFamily="34" charset="0"/>
              <a:ea typeface="Source Sans Pro" panose="020B0503030403020204" pitchFamily="34" charset="0"/>
            </a:endParaRPr>
          </a:p>
        </p:txBody>
      </p:sp>
      <p:sp>
        <p:nvSpPr>
          <p:cNvPr id="3" name="TextBox 2">
            <a:extLst>
              <a:ext uri="{FF2B5EF4-FFF2-40B4-BE49-F238E27FC236}">
                <a16:creationId xmlns:a16="http://schemas.microsoft.com/office/drawing/2014/main" id="{2B2184C6-D75F-AC83-D496-BF32E0199FD4}"/>
              </a:ext>
            </a:extLst>
          </p:cNvPr>
          <p:cNvSpPr txBox="1"/>
          <p:nvPr/>
        </p:nvSpPr>
        <p:spPr>
          <a:xfrm>
            <a:off x="3135630" y="2882540"/>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Price discrimination</a:t>
            </a:r>
          </a:p>
        </p:txBody>
      </p:sp>
      <p:sp>
        <p:nvSpPr>
          <p:cNvPr id="4" name="TextBox 3">
            <a:extLst>
              <a:ext uri="{FF2B5EF4-FFF2-40B4-BE49-F238E27FC236}">
                <a16:creationId xmlns:a16="http://schemas.microsoft.com/office/drawing/2014/main" id="{329CF844-6FDF-79D4-67E3-AE9956C7EFEE}"/>
              </a:ext>
            </a:extLst>
          </p:cNvPr>
          <p:cNvSpPr txBox="1"/>
          <p:nvPr/>
        </p:nvSpPr>
        <p:spPr>
          <a:xfrm>
            <a:off x="3135630" y="1462806"/>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Revenue maximization</a:t>
            </a:r>
          </a:p>
        </p:txBody>
      </p:sp>
      <p:sp>
        <p:nvSpPr>
          <p:cNvPr id="6" name="TextBox 5">
            <a:extLst>
              <a:ext uri="{FF2B5EF4-FFF2-40B4-BE49-F238E27FC236}">
                <a16:creationId xmlns:a16="http://schemas.microsoft.com/office/drawing/2014/main" id="{E84895CF-D2BF-869D-D975-2B719F592C42}"/>
              </a:ext>
            </a:extLst>
          </p:cNvPr>
          <p:cNvSpPr txBox="1"/>
          <p:nvPr/>
        </p:nvSpPr>
        <p:spPr>
          <a:xfrm>
            <a:off x="3135630" y="2172673"/>
            <a:ext cx="4819686" cy="523220"/>
          </a:xfrm>
          <a:prstGeom prst="rect">
            <a:avLst/>
          </a:prstGeom>
          <a:solidFill>
            <a:srgbClr val="67C8C7"/>
          </a:solidFill>
          <a:ln>
            <a:solidFill>
              <a:srgbClr val="67C8C7"/>
            </a:solidFill>
          </a:ln>
        </p:spPr>
        <p:txBody>
          <a:bodyPr wrap="square" rtlCol="0">
            <a:spAutoFit/>
          </a:bodyPr>
          <a:lstStyle/>
          <a:p>
            <a:pPr marL="285750" indent="-285750">
              <a:buFont typeface="Arial" panose="020B0604020202020204" pitchFamily="34" charset="0"/>
              <a:buChar char="•"/>
            </a:pPr>
            <a:r>
              <a:rPr lang="en-US" sz="2800" b="1" dirty="0">
                <a:solidFill>
                  <a:schemeClr val="bg1"/>
                </a:solidFill>
                <a:latin typeface="Source Sans Pro" panose="020B0503030403020204" pitchFamily="34" charset="0"/>
                <a:ea typeface="Source Sans Pro" panose="020B0503030403020204" pitchFamily="34" charset="0"/>
              </a:rPr>
              <a:t>Monopoly pricing</a:t>
            </a:r>
          </a:p>
        </p:txBody>
      </p:sp>
      <p:sp>
        <p:nvSpPr>
          <p:cNvPr id="7" name="TextBox 6">
            <a:extLst>
              <a:ext uri="{FF2B5EF4-FFF2-40B4-BE49-F238E27FC236}">
                <a16:creationId xmlns:a16="http://schemas.microsoft.com/office/drawing/2014/main" id="{E96A6280-F61F-B796-F55C-2B6E9A8D7BF2}"/>
              </a:ext>
            </a:extLst>
          </p:cNvPr>
          <p:cNvSpPr txBox="1"/>
          <p:nvPr/>
        </p:nvSpPr>
        <p:spPr>
          <a:xfrm>
            <a:off x="3135630" y="5722005"/>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American Airlines case</a:t>
            </a:r>
          </a:p>
        </p:txBody>
      </p:sp>
      <p:sp>
        <p:nvSpPr>
          <p:cNvPr id="14" name="TextBox 13">
            <a:extLst>
              <a:ext uri="{FF2B5EF4-FFF2-40B4-BE49-F238E27FC236}">
                <a16:creationId xmlns:a16="http://schemas.microsoft.com/office/drawing/2014/main" id="{F782CB19-3363-370A-9187-377E496725E2}"/>
              </a:ext>
            </a:extLst>
          </p:cNvPr>
          <p:cNvSpPr txBox="1"/>
          <p:nvPr/>
        </p:nvSpPr>
        <p:spPr>
          <a:xfrm>
            <a:off x="3135630" y="3592407"/>
            <a:ext cx="4819686" cy="523220"/>
          </a:xfrm>
          <a:prstGeom prst="rect">
            <a:avLst/>
          </a:prstGeom>
          <a:solidFill>
            <a:schemeClr val="bg1"/>
          </a:solidFill>
          <a:ln>
            <a:solidFill>
              <a:schemeClr val="bg1"/>
            </a:solid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Two-part tariffs</a:t>
            </a:r>
          </a:p>
        </p:txBody>
      </p:sp>
      <p:sp>
        <p:nvSpPr>
          <p:cNvPr id="15" name="TextBox 14">
            <a:extLst>
              <a:ext uri="{FF2B5EF4-FFF2-40B4-BE49-F238E27FC236}">
                <a16:creationId xmlns:a16="http://schemas.microsoft.com/office/drawing/2014/main" id="{CA092126-42F0-A1D6-2EEF-C913B0620F70}"/>
              </a:ext>
            </a:extLst>
          </p:cNvPr>
          <p:cNvSpPr txBox="1"/>
          <p:nvPr/>
        </p:nvSpPr>
        <p:spPr>
          <a:xfrm>
            <a:off x="3135630" y="4302274"/>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Bundling</a:t>
            </a:r>
          </a:p>
        </p:txBody>
      </p:sp>
      <p:sp>
        <p:nvSpPr>
          <p:cNvPr id="16" name="TextBox 15">
            <a:extLst>
              <a:ext uri="{FF2B5EF4-FFF2-40B4-BE49-F238E27FC236}">
                <a16:creationId xmlns:a16="http://schemas.microsoft.com/office/drawing/2014/main" id="{CCFDB27B-E160-463F-C46C-4D0B88B1DFB3}"/>
              </a:ext>
            </a:extLst>
          </p:cNvPr>
          <p:cNvSpPr txBox="1"/>
          <p:nvPr/>
        </p:nvSpPr>
        <p:spPr>
          <a:xfrm>
            <a:off x="3135630" y="5012141"/>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Adverse selection</a:t>
            </a:r>
          </a:p>
        </p:txBody>
      </p:sp>
    </p:spTree>
    <p:extLst>
      <p:ext uri="{BB962C8B-B14F-4D97-AF65-F5344CB8AC3E}">
        <p14:creationId xmlns:p14="http://schemas.microsoft.com/office/powerpoint/2010/main" val="255475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en-US" altLang="en-US" dirty="0"/>
              <a:t>Focus on monopolies</a:t>
            </a:r>
          </a:p>
        </p:txBody>
      </p:sp>
      <p:sp>
        <p:nvSpPr>
          <p:cNvPr id="194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3B9F5EE9-B7AF-4A8B-B245-6095154DF5C9}" type="slidenum">
              <a:rPr lang="en-US" altLang="en-US" sz="1400">
                <a:latin typeface="Source Sans Pro" panose="020B0503030403020204" pitchFamily="34" charset="0"/>
                <a:ea typeface="Source Sans Pro" panose="020B0503030403020204" pitchFamily="34" charset="0"/>
              </a:rPr>
              <a:pPr eaLnBrk="1" hangingPunct="1"/>
              <a:t>21</a:t>
            </a:fld>
            <a:endParaRPr lang="en-US" altLang="en-US" sz="1400" dirty="0">
              <a:latin typeface="Source Sans Pro" panose="020B0503030403020204" pitchFamily="34" charset="0"/>
              <a:ea typeface="Source Sans Pro" panose="020B0503030403020204" pitchFamily="34" charset="0"/>
            </a:endParaRPr>
          </a:p>
        </p:txBody>
      </p:sp>
      <p:grpSp>
        <p:nvGrpSpPr>
          <p:cNvPr id="2" name="Group 1">
            <a:extLst>
              <a:ext uri="{FF2B5EF4-FFF2-40B4-BE49-F238E27FC236}">
                <a16:creationId xmlns:a16="http://schemas.microsoft.com/office/drawing/2014/main" id="{1E634C08-FE72-29ED-A558-E79FDDEBB22D}"/>
              </a:ext>
            </a:extLst>
          </p:cNvPr>
          <p:cNvGrpSpPr/>
          <p:nvPr/>
        </p:nvGrpSpPr>
        <p:grpSpPr>
          <a:xfrm>
            <a:off x="658368" y="2612785"/>
            <a:ext cx="10780776" cy="1508105"/>
            <a:chOff x="658368" y="2454206"/>
            <a:chExt cx="10780776" cy="1508105"/>
          </a:xfrm>
        </p:grpSpPr>
        <p:sp>
          <p:nvSpPr>
            <p:cNvPr id="3" name="Rectangle 3">
              <a:extLst>
                <a:ext uri="{FF2B5EF4-FFF2-40B4-BE49-F238E27FC236}">
                  <a16:creationId xmlns:a16="http://schemas.microsoft.com/office/drawing/2014/main" id="{C2C3452A-48E6-BCC4-71AD-00FBB068EBD4}"/>
                </a:ext>
              </a:extLst>
            </p:cNvPr>
            <p:cNvSpPr txBox="1">
              <a:spLocks noChangeArrowheads="1"/>
            </p:cNvSpPr>
            <p:nvPr/>
          </p:nvSpPr>
          <p:spPr bwMode="auto">
            <a:xfrm>
              <a:off x="2391374" y="2454206"/>
              <a:ext cx="9047770"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Firm doesn’t need to be a true monopoly to use price strategies</a:t>
              </a:r>
            </a:p>
            <a:p>
              <a:pPr lvl="1"/>
              <a:r>
                <a:rPr lang="en-US" altLang="en-US" sz="2400" kern="0" dirty="0">
                  <a:latin typeface="Source Sans Pro" panose="020B0503030403020204" pitchFamily="34" charset="0"/>
                  <a:ea typeface="Source Sans Pro" panose="020B0503030403020204" pitchFamily="34" charset="0"/>
                </a:rPr>
                <a:t>Describing in </a:t>
              </a:r>
              <a:r>
                <a:rPr lang="en-US" altLang="en-US" sz="2400" b="1" kern="0" dirty="0">
                  <a:latin typeface="Source Sans Pro" panose="020B0503030403020204" pitchFamily="34" charset="0"/>
                  <a:ea typeface="Source Sans Pro" panose="020B0503030403020204" pitchFamily="34" charset="0"/>
                </a:rPr>
                <a:t>non-monopoly situations </a:t>
              </a:r>
              <a:r>
                <a:rPr lang="en-US" altLang="en-US" sz="2400" kern="0" dirty="0">
                  <a:latin typeface="Source Sans Pro" panose="020B0503030403020204" pitchFamily="34" charset="0"/>
                  <a:ea typeface="Source Sans Pro" panose="020B0503030403020204" pitchFamily="34" charset="0"/>
                </a:rPr>
                <a:t>is </a:t>
              </a:r>
              <a:r>
                <a:rPr lang="en-US" altLang="en-US" sz="2400" b="1" kern="0" dirty="0">
                  <a:latin typeface="Source Sans Pro" panose="020B0503030403020204" pitchFamily="34" charset="0"/>
                  <a:ea typeface="Source Sans Pro" panose="020B0503030403020204" pitchFamily="34" charset="0"/>
                </a:rPr>
                <a:t>very complicated</a:t>
              </a:r>
            </a:p>
            <a:p>
              <a:r>
                <a:rPr lang="en-US" altLang="en-US" sz="2400" kern="0" dirty="0">
                  <a:latin typeface="Source Sans Pro" panose="020B0503030403020204" pitchFamily="34" charset="0"/>
                  <a:ea typeface="Source Sans Pro" panose="020B0503030403020204" pitchFamily="34" charset="0"/>
                </a:rPr>
                <a:t>Focus on monopoly to concentrate on </a:t>
              </a:r>
              <a:r>
                <a:rPr lang="en-US" altLang="en-US" sz="2400" b="1" kern="0" dirty="0">
                  <a:latin typeface="Source Sans Pro" panose="020B0503030403020204" pitchFamily="34" charset="0"/>
                  <a:ea typeface="Source Sans Pro" panose="020B0503030403020204" pitchFamily="34" charset="0"/>
                </a:rPr>
                <a:t>the basics</a:t>
              </a:r>
            </a:p>
          </p:txBody>
        </p:sp>
        <p:sp>
          <p:nvSpPr>
            <p:cNvPr id="4" name="Rounded Rectangle 3">
              <a:extLst>
                <a:ext uri="{FF2B5EF4-FFF2-40B4-BE49-F238E27FC236}">
                  <a16:creationId xmlns:a16="http://schemas.microsoft.com/office/drawing/2014/main" id="{B1AF8928-14B6-E3D8-D6D9-1DE041909C51}"/>
                </a:ext>
              </a:extLst>
            </p:cNvPr>
            <p:cNvSpPr/>
            <p:nvPr/>
          </p:nvSpPr>
          <p:spPr>
            <a:xfrm>
              <a:off x="658368" y="2454206"/>
              <a:ext cx="1733006" cy="876389"/>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dirty="0">
                  <a:solidFill>
                    <a:schemeClr val="bg1"/>
                  </a:solidFill>
                  <a:latin typeface="Source Sans Pro" panose="020B0503030403020204" pitchFamily="34" charset="0"/>
                  <a:ea typeface="Source Sans Pro" panose="020B0503030403020204" pitchFamily="34" charset="0"/>
                </a:rPr>
                <a:t>Easiest to start</a:t>
              </a:r>
              <a:endParaRPr lang="en-US" sz="2400" b="1" dirty="0">
                <a:solidFill>
                  <a:schemeClr val="bg1"/>
                </a:solidFill>
                <a:latin typeface="Source Sans Pro" panose="020B0503030403020204" pitchFamily="34" charset="0"/>
                <a:ea typeface="Source Sans Pro" panose="020B0503030403020204" pitchFamily="34" charset="0"/>
              </a:endParaRPr>
            </a:p>
          </p:txBody>
        </p:sp>
      </p:grpSp>
      <p:grpSp>
        <p:nvGrpSpPr>
          <p:cNvPr id="10" name="Group 9">
            <a:extLst>
              <a:ext uri="{FF2B5EF4-FFF2-40B4-BE49-F238E27FC236}">
                <a16:creationId xmlns:a16="http://schemas.microsoft.com/office/drawing/2014/main" id="{35956818-962B-5D9F-01EB-CD54AED9CFAA}"/>
              </a:ext>
            </a:extLst>
          </p:cNvPr>
          <p:cNvGrpSpPr/>
          <p:nvPr/>
        </p:nvGrpSpPr>
        <p:grpSpPr>
          <a:xfrm>
            <a:off x="658368" y="4426659"/>
            <a:ext cx="10780776" cy="1354217"/>
            <a:chOff x="658368" y="4426659"/>
            <a:chExt cx="10780776" cy="1354217"/>
          </a:xfrm>
        </p:grpSpPr>
        <p:sp>
          <p:nvSpPr>
            <p:cNvPr id="11" name="Rectangle 3">
              <a:extLst>
                <a:ext uri="{FF2B5EF4-FFF2-40B4-BE49-F238E27FC236}">
                  <a16:creationId xmlns:a16="http://schemas.microsoft.com/office/drawing/2014/main" id="{2463E5C5-13B2-1D4E-C5FC-3F1A6D0BB3B8}"/>
                </a:ext>
              </a:extLst>
            </p:cNvPr>
            <p:cNvSpPr txBox="1">
              <a:spLocks noChangeArrowheads="1"/>
            </p:cNvSpPr>
            <p:nvPr/>
          </p:nvSpPr>
          <p:spPr bwMode="auto">
            <a:xfrm>
              <a:off x="2391374" y="4426659"/>
              <a:ext cx="9047770"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Very rarely find true monopolies</a:t>
              </a:r>
            </a:p>
            <a:p>
              <a:r>
                <a:rPr lang="en-US" altLang="en-US" sz="2400" kern="0" dirty="0">
                  <a:latin typeface="Source Sans Pro" panose="020B0503030403020204" pitchFamily="34" charset="0"/>
                  <a:ea typeface="Source Sans Pro" panose="020B0503030403020204" pitchFamily="34" charset="0"/>
                </a:rPr>
                <a:t>Lessons are very helpful for </a:t>
              </a:r>
              <a:r>
                <a:rPr lang="en-US" altLang="en-US" sz="2400" b="1" kern="0" dirty="0">
                  <a:latin typeface="Source Sans Pro" panose="020B0503030403020204" pitchFamily="34" charset="0"/>
                  <a:ea typeface="Source Sans Pro" panose="020B0503030403020204" pitchFamily="34" charset="0"/>
                </a:rPr>
                <a:t>imperfectly competitive markets </a:t>
              </a:r>
              <a:r>
                <a:rPr lang="en-US" altLang="en-US" sz="2400" kern="0" dirty="0">
                  <a:latin typeface="Source Sans Pro" panose="020B0503030403020204" pitchFamily="34" charset="0"/>
                  <a:ea typeface="Source Sans Pro" panose="020B0503030403020204" pitchFamily="34" charset="0"/>
                </a:rPr>
                <a:t>in general</a:t>
              </a:r>
            </a:p>
          </p:txBody>
        </p:sp>
        <p:sp>
          <p:nvSpPr>
            <p:cNvPr id="12" name="Rounded Rectangle 11">
              <a:extLst>
                <a:ext uri="{FF2B5EF4-FFF2-40B4-BE49-F238E27FC236}">
                  <a16:creationId xmlns:a16="http://schemas.microsoft.com/office/drawing/2014/main" id="{6A8BC5C0-EEEE-5D20-442F-E7EA9E6FFBF5}"/>
                </a:ext>
              </a:extLst>
            </p:cNvPr>
            <p:cNvSpPr/>
            <p:nvPr/>
          </p:nvSpPr>
          <p:spPr>
            <a:xfrm>
              <a:off x="658368" y="4426659"/>
              <a:ext cx="1733006" cy="876389"/>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dirty="0">
                  <a:solidFill>
                    <a:schemeClr val="bg1"/>
                  </a:solidFill>
                  <a:latin typeface="Source Sans Pro" panose="020B0503030403020204" pitchFamily="34" charset="0"/>
                  <a:ea typeface="Source Sans Pro" panose="020B0503030403020204" pitchFamily="34" charset="0"/>
                </a:rPr>
                <a:t>Apply to all</a:t>
              </a:r>
              <a:endParaRPr lang="en-US" sz="2400" b="1" dirty="0">
                <a:solidFill>
                  <a:schemeClr val="bg1"/>
                </a:solidFill>
                <a:latin typeface="Source Sans Pro" panose="020B0503030403020204" pitchFamily="34" charset="0"/>
                <a:ea typeface="Source Sans Pro" panose="020B0503030403020204" pitchFamily="34" charset="0"/>
              </a:endParaRPr>
            </a:p>
          </p:txBody>
        </p:sp>
      </p:grpSp>
      <p:grpSp>
        <p:nvGrpSpPr>
          <p:cNvPr id="13" name="Group 12">
            <a:extLst>
              <a:ext uri="{FF2B5EF4-FFF2-40B4-BE49-F238E27FC236}">
                <a16:creationId xmlns:a16="http://schemas.microsoft.com/office/drawing/2014/main" id="{65465E47-8E0D-8031-8957-A04F2A5A3EE6}"/>
              </a:ext>
            </a:extLst>
          </p:cNvPr>
          <p:cNvGrpSpPr/>
          <p:nvPr/>
        </p:nvGrpSpPr>
        <p:grpSpPr>
          <a:xfrm>
            <a:off x="658368" y="1430627"/>
            <a:ext cx="10780776" cy="876389"/>
            <a:chOff x="658368" y="1040495"/>
            <a:chExt cx="10780776" cy="876389"/>
          </a:xfrm>
        </p:grpSpPr>
        <p:sp>
          <p:nvSpPr>
            <p:cNvPr id="14" name="Rectangle 3">
              <a:extLst>
                <a:ext uri="{FF2B5EF4-FFF2-40B4-BE49-F238E27FC236}">
                  <a16:creationId xmlns:a16="http://schemas.microsoft.com/office/drawing/2014/main" id="{005C91DE-8C15-67EA-4C46-9E0471048E94}"/>
                </a:ext>
              </a:extLst>
            </p:cNvPr>
            <p:cNvSpPr txBox="1">
              <a:spLocks noChangeArrowheads="1"/>
            </p:cNvSpPr>
            <p:nvPr/>
          </p:nvSpPr>
          <p:spPr bwMode="auto">
            <a:xfrm>
              <a:off x="2391374" y="1040495"/>
              <a:ext cx="90477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t>Sophisticated pricing strategies practiced by firms with </a:t>
              </a:r>
              <a:r>
                <a:rPr lang="en-US" altLang="en-US" b="1" kern="0"/>
                <a:t>market power</a:t>
              </a:r>
              <a:endParaRPr lang="en-US" altLang="en-US" kern="0" dirty="0"/>
            </a:p>
          </p:txBody>
        </p:sp>
        <p:sp>
          <p:nvSpPr>
            <p:cNvPr id="15" name="Rounded Rectangle 4">
              <a:extLst>
                <a:ext uri="{FF2B5EF4-FFF2-40B4-BE49-F238E27FC236}">
                  <a16:creationId xmlns:a16="http://schemas.microsoft.com/office/drawing/2014/main" id="{F9A3A1DE-0DC5-857C-F257-E77F7E9587E3}"/>
                </a:ext>
              </a:extLst>
            </p:cNvPr>
            <p:cNvSpPr/>
            <p:nvPr/>
          </p:nvSpPr>
          <p:spPr>
            <a:xfrm>
              <a:off x="658368" y="1040495"/>
              <a:ext cx="1733006" cy="876389"/>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dirty="0">
                  <a:solidFill>
                    <a:schemeClr val="bg1"/>
                  </a:solidFill>
                  <a:latin typeface="Source Sans Pro" panose="020B0503030403020204" pitchFamily="34" charset="0"/>
                  <a:ea typeface="Source Sans Pro" panose="020B0503030403020204" pitchFamily="34" charset="0"/>
                </a:rPr>
                <a:t>Market power</a:t>
              </a:r>
              <a:endParaRPr lang="en-US" sz="2400" b="1" dirty="0">
                <a:solidFill>
                  <a:schemeClr val="bg1"/>
                </a:solidFill>
                <a:latin typeface="Source Sans Pro" panose="020B0503030403020204" pitchFamily="34" charset="0"/>
                <a:ea typeface="Source Sans Pro" panose="020B0503030403020204" pitchFamily="34" charset="0"/>
              </a:endParaRPr>
            </a:p>
          </p:txBody>
        </p:sp>
      </p:grpSp>
    </p:spTree>
    <p:extLst>
      <p:ext uri="{BB962C8B-B14F-4D97-AF65-F5344CB8AC3E}">
        <p14:creationId xmlns:p14="http://schemas.microsoft.com/office/powerpoint/2010/main" val="1685479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en-US" altLang="en-US" sz="3600" dirty="0">
                <a:ea typeface="ＭＳ Ｐゴシック" pitchFamily="34" charset="-128"/>
              </a:rPr>
              <a:t>Monopoly pricing</a:t>
            </a:r>
          </a:p>
        </p:txBody>
      </p:sp>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64B64F8-85C6-4426-A247-E95872785458}" type="slidenum">
              <a:rPr lang="en-US" altLang="en-US" sz="1400">
                <a:latin typeface="Source Sans Pro" panose="020B0503030403020204" pitchFamily="34" charset="0"/>
              </a:rPr>
              <a:pPr eaLnBrk="1" hangingPunct="1"/>
              <a:t>22</a:t>
            </a:fld>
            <a:endParaRPr lang="en-US" altLang="en-US" sz="1400" dirty="0">
              <a:latin typeface="Source Sans Pro" panose="020B0503030403020204" pitchFamily="34" charset="0"/>
            </a:endParaRPr>
          </a:p>
        </p:txBody>
      </p:sp>
      <p:sp>
        <p:nvSpPr>
          <p:cNvPr id="2" name="Rectangle 5">
            <a:extLst>
              <a:ext uri="{FF2B5EF4-FFF2-40B4-BE49-F238E27FC236}">
                <a16:creationId xmlns:a16="http://schemas.microsoft.com/office/drawing/2014/main" id="{1DB0A00A-CDE9-51A4-B78E-44CBC18FBF02}"/>
              </a:ext>
            </a:extLst>
          </p:cNvPr>
          <p:cNvSpPr>
            <a:spLocks noChangeArrowheads="1"/>
          </p:cNvSpPr>
          <p:nvPr/>
        </p:nvSpPr>
        <p:spPr bwMode="auto">
          <a:xfrm>
            <a:off x="2443164" y="4280321"/>
            <a:ext cx="1779588" cy="1236243"/>
          </a:xfrm>
          <a:prstGeom prst="rect">
            <a:avLst/>
          </a:prstGeom>
          <a:solidFill>
            <a:srgbClr val="67C8C7"/>
          </a:solidFill>
          <a:ln w="9525">
            <a:solidFill>
              <a:srgbClr val="67C8C7"/>
            </a:solidFill>
            <a:miter lim="800000"/>
            <a:headEnd/>
            <a:tailEnd/>
          </a:ln>
          <a:effectLst/>
        </p:spPr>
        <p:txBody>
          <a:bodyPr wrap="none" anchor="ctr"/>
          <a:lstStyle/>
          <a:p>
            <a:pPr>
              <a:defRPr/>
            </a:pPr>
            <a:endParaRPr lang="en-US" sz="2000" dirty="0">
              <a:latin typeface="Source Sans Pro" panose="020B0503030403020204" pitchFamily="34" charset="0"/>
              <a:ea typeface="ＭＳ Ｐゴシック" charset="0"/>
              <a:cs typeface="ＭＳ Ｐゴシック" charset="0"/>
            </a:endParaRPr>
          </a:p>
        </p:txBody>
      </p:sp>
      <p:sp>
        <p:nvSpPr>
          <p:cNvPr id="3" name="Line 6">
            <a:extLst>
              <a:ext uri="{FF2B5EF4-FFF2-40B4-BE49-F238E27FC236}">
                <a16:creationId xmlns:a16="http://schemas.microsoft.com/office/drawing/2014/main" id="{6C86F433-8ED0-7BC5-2378-B36C709BDE70}"/>
              </a:ext>
            </a:extLst>
          </p:cNvPr>
          <p:cNvSpPr>
            <a:spLocks noChangeShapeType="1"/>
          </p:cNvSpPr>
          <p:nvPr/>
        </p:nvSpPr>
        <p:spPr bwMode="auto">
          <a:xfrm>
            <a:off x="2446338" y="2516188"/>
            <a:ext cx="0" cy="3008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ndParaRPr>
          </a:p>
        </p:txBody>
      </p:sp>
      <p:sp>
        <p:nvSpPr>
          <p:cNvPr id="4" name="Line 7">
            <a:extLst>
              <a:ext uri="{FF2B5EF4-FFF2-40B4-BE49-F238E27FC236}">
                <a16:creationId xmlns:a16="http://schemas.microsoft.com/office/drawing/2014/main" id="{F525819E-B095-CA4A-BB81-82B1B483533F}"/>
              </a:ext>
            </a:extLst>
          </p:cNvPr>
          <p:cNvSpPr>
            <a:spLocks noChangeShapeType="1"/>
          </p:cNvSpPr>
          <p:nvPr/>
        </p:nvSpPr>
        <p:spPr bwMode="auto">
          <a:xfrm>
            <a:off x="2452689" y="5521325"/>
            <a:ext cx="396557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ndParaRPr>
          </a:p>
        </p:txBody>
      </p:sp>
      <p:sp>
        <p:nvSpPr>
          <p:cNvPr id="5" name="Line 8">
            <a:extLst>
              <a:ext uri="{FF2B5EF4-FFF2-40B4-BE49-F238E27FC236}">
                <a16:creationId xmlns:a16="http://schemas.microsoft.com/office/drawing/2014/main" id="{2654ABCB-0F98-E7A5-574D-AD0B4C1CB73E}"/>
              </a:ext>
            </a:extLst>
          </p:cNvPr>
          <p:cNvSpPr>
            <a:spLocks noChangeShapeType="1"/>
          </p:cNvSpPr>
          <p:nvPr/>
        </p:nvSpPr>
        <p:spPr bwMode="auto">
          <a:xfrm>
            <a:off x="2443164" y="2862263"/>
            <a:ext cx="3355975" cy="26479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ndParaRPr>
          </a:p>
        </p:txBody>
      </p:sp>
      <p:sp>
        <p:nvSpPr>
          <p:cNvPr id="6" name="Text Box 9">
            <a:extLst>
              <a:ext uri="{FF2B5EF4-FFF2-40B4-BE49-F238E27FC236}">
                <a16:creationId xmlns:a16="http://schemas.microsoft.com/office/drawing/2014/main" id="{FF2B9484-1235-E6F8-0739-53F41241BB36}"/>
              </a:ext>
            </a:extLst>
          </p:cNvPr>
          <p:cNvSpPr txBox="1">
            <a:spLocks noChangeArrowheads="1"/>
          </p:cNvSpPr>
          <p:nvPr/>
        </p:nvSpPr>
        <p:spPr bwMode="auto">
          <a:xfrm>
            <a:off x="6084888" y="5480050"/>
            <a:ext cx="4238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7" name="Text Box 10">
            <a:extLst>
              <a:ext uri="{FF2B5EF4-FFF2-40B4-BE49-F238E27FC236}">
                <a16:creationId xmlns:a16="http://schemas.microsoft.com/office/drawing/2014/main" id="{81D261E3-9C6D-3CA9-8896-689D6ECC6ACB}"/>
              </a:ext>
            </a:extLst>
          </p:cNvPr>
          <p:cNvSpPr txBox="1">
            <a:spLocks noChangeArrowheads="1"/>
          </p:cNvSpPr>
          <p:nvPr/>
        </p:nvSpPr>
        <p:spPr bwMode="auto">
          <a:xfrm>
            <a:off x="5534026" y="4972915"/>
            <a:ext cx="6953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D</a:t>
            </a:r>
            <a:endParaRPr lang="en-US" altLang="en-US" dirty="0">
              <a:latin typeface="Source Sans Pro" panose="020B0503030403020204" pitchFamily="34" charset="0"/>
            </a:endParaRPr>
          </a:p>
        </p:txBody>
      </p:sp>
      <p:sp>
        <p:nvSpPr>
          <p:cNvPr id="8" name="Text Box 11">
            <a:extLst>
              <a:ext uri="{FF2B5EF4-FFF2-40B4-BE49-F238E27FC236}">
                <a16:creationId xmlns:a16="http://schemas.microsoft.com/office/drawing/2014/main" id="{3E98D46B-F852-16CF-A087-40A231DA1C7D}"/>
              </a:ext>
            </a:extLst>
          </p:cNvPr>
          <p:cNvSpPr txBox="1">
            <a:spLocks noChangeArrowheads="1"/>
          </p:cNvSpPr>
          <p:nvPr/>
        </p:nvSpPr>
        <p:spPr bwMode="auto">
          <a:xfrm>
            <a:off x="2122489" y="2433638"/>
            <a:ext cx="3714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P</a:t>
            </a:r>
            <a:endParaRPr lang="en-US" altLang="en-US" dirty="0">
              <a:latin typeface="Source Sans Pro" panose="020B0503030403020204" pitchFamily="34" charset="0"/>
            </a:endParaRPr>
          </a:p>
        </p:txBody>
      </p:sp>
      <p:sp>
        <p:nvSpPr>
          <p:cNvPr id="9" name="Line 13">
            <a:extLst>
              <a:ext uri="{FF2B5EF4-FFF2-40B4-BE49-F238E27FC236}">
                <a16:creationId xmlns:a16="http://schemas.microsoft.com/office/drawing/2014/main" id="{36A158BA-E200-D08C-935A-37D0B3938B05}"/>
              </a:ext>
            </a:extLst>
          </p:cNvPr>
          <p:cNvSpPr>
            <a:spLocks noChangeShapeType="1"/>
          </p:cNvSpPr>
          <p:nvPr/>
        </p:nvSpPr>
        <p:spPr bwMode="auto">
          <a:xfrm>
            <a:off x="2462213" y="2882901"/>
            <a:ext cx="2112962" cy="3133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000" dirty="0">
              <a:latin typeface="Source Sans Pro" panose="020B0503030403020204" pitchFamily="34" charset="0"/>
              <a:ea typeface="ＭＳ Ｐゴシック" charset="0"/>
              <a:cs typeface="ＭＳ Ｐゴシック" charset="0"/>
            </a:endParaRPr>
          </a:p>
        </p:txBody>
      </p:sp>
      <p:sp>
        <p:nvSpPr>
          <p:cNvPr id="10" name="Text Box 14">
            <a:extLst>
              <a:ext uri="{FF2B5EF4-FFF2-40B4-BE49-F238E27FC236}">
                <a16:creationId xmlns:a16="http://schemas.microsoft.com/office/drawing/2014/main" id="{2EE325A3-5309-D0D9-4FD1-F76B53B61898}"/>
              </a:ext>
            </a:extLst>
          </p:cNvPr>
          <p:cNvSpPr txBox="1">
            <a:spLocks noChangeArrowheads="1"/>
          </p:cNvSpPr>
          <p:nvPr/>
        </p:nvSpPr>
        <p:spPr bwMode="auto">
          <a:xfrm>
            <a:off x="4518026" y="5648325"/>
            <a:ext cx="6953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MR</a:t>
            </a:r>
            <a:endParaRPr lang="en-US" altLang="en-US" dirty="0">
              <a:latin typeface="Source Sans Pro" panose="020B0503030403020204" pitchFamily="34" charset="0"/>
            </a:endParaRPr>
          </a:p>
        </p:txBody>
      </p:sp>
      <p:sp>
        <p:nvSpPr>
          <p:cNvPr id="11" name="Rectangle 17">
            <a:extLst>
              <a:ext uri="{FF2B5EF4-FFF2-40B4-BE49-F238E27FC236}">
                <a16:creationId xmlns:a16="http://schemas.microsoft.com/office/drawing/2014/main" id="{3E520D6C-183A-3B3D-25C1-8872A9CDC3E4}"/>
              </a:ext>
            </a:extLst>
          </p:cNvPr>
          <p:cNvSpPr>
            <a:spLocks noChangeArrowheads="1"/>
          </p:cNvSpPr>
          <p:nvPr/>
        </p:nvSpPr>
        <p:spPr bwMode="auto">
          <a:xfrm>
            <a:off x="2455864" y="4267200"/>
            <a:ext cx="1779588" cy="1258887"/>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000" dirty="0">
              <a:latin typeface="Source Sans Pro" panose="020B0503030403020204" pitchFamily="34" charset="0"/>
              <a:ea typeface="ＭＳ Ｐゴシック" charset="0"/>
              <a:cs typeface="ＭＳ Ｐゴシック" charset="0"/>
            </a:endParaRPr>
          </a:p>
        </p:txBody>
      </p:sp>
      <p:sp>
        <p:nvSpPr>
          <p:cNvPr id="12" name="Text Box 22">
            <a:extLst>
              <a:ext uri="{FF2B5EF4-FFF2-40B4-BE49-F238E27FC236}">
                <a16:creationId xmlns:a16="http://schemas.microsoft.com/office/drawing/2014/main" id="{54F2E4BA-DECB-B40E-8BBA-C8C78C0DA0F8}"/>
              </a:ext>
            </a:extLst>
          </p:cNvPr>
          <p:cNvSpPr txBox="1">
            <a:spLocks noChangeArrowheads="1"/>
          </p:cNvSpPr>
          <p:nvPr/>
        </p:nvSpPr>
        <p:spPr bwMode="auto">
          <a:xfrm>
            <a:off x="3918137" y="5648325"/>
            <a:ext cx="5619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13" name="Text Box 23">
            <a:extLst>
              <a:ext uri="{FF2B5EF4-FFF2-40B4-BE49-F238E27FC236}">
                <a16:creationId xmlns:a16="http://schemas.microsoft.com/office/drawing/2014/main" id="{96FE39F2-9229-DB5C-E82D-E108D0EA8B47}"/>
              </a:ext>
            </a:extLst>
          </p:cNvPr>
          <p:cNvSpPr txBox="1">
            <a:spLocks noChangeArrowheads="1"/>
          </p:cNvSpPr>
          <p:nvPr/>
        </p:nvSpPr>
        <p:spPr bwMode="auto">
          <a:xfrm>
            <a:off x="1860269" y="4079502"/>
            <a:ext cx="5619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P*</a:t>
            </a:r>
            <a:endParaRPr lang="en-US" altLang="en-US" dirty="0">
              <a:latin typeface="Source Sans Pro" panose="020B0503030403020204" pitchFamily="34" charset="0"/>
            </a:endParaRPr>
          </a:p>
        </p:txBody>
      </p:sp>
      <p:sp>
        <p:nvSpPr>
          <p:cNvPr id="14" name="Text Box 24">
            <a:extLst>
              <a:ext uri="{FF2B5EF4-FFF2-40B4-BE49-F238E27FC236}">
                <a16:creationId xmlns:a16="http://schemas.microsoft.com/office/drawing/2014/main" id="{031674AD-27EA-A133-30ED-F493DE10D53E}"/>
              </a:ext>
            </a:extLst>
          </p:cNvPr>
          <p:cNvSpPr txBox="1">
            <a:spLocks noChangeArrowheads="1"/>
          </p:cNvSpPr>
          <p:nvPr/>
        </p:nvSpPr>
        <p:spPr bwMode="auto">
          <a:xfrm>
            <a:off x="6624638" y="2280328"/>
            <a:ext cx="4220146" cy="2603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1775" indent="-231775">
              <a:defRPr>
                <a:solidFill>
                  <a:schemeClr val="tx1"/>
                </a:solidFill>
                <a:latin typeface="Arial" charset="0"/>
                <a:ea typeface="ＭＳ Ｐゴシック" charset="0"/>
                <a:cs typeface="Arial" charset="0"/>
              </a:defRPr>
            </a:lvl1pPr>
            <a:lvl2pPr>
              <a:defRPr>
                <a:solidFill>
                  <a:schemeClr val="tx1"/>
                </a:solidFill>
                <a:latin typeface="Arial" charset="0"/>
                <a:ea typeface="Arial" charset="0"/>
                <a:cs typeface="Arial" charset="0"/>
              </a:defRPr>
            </a:lvl2pPr>
            <a:lvl3pPr>
              <a:defRPr>
                <a:solidFill>
                  <a:schemeClr val="tx1"/>
                </a:solidFill>
                <a:latin typeface="Arial" charset="0"/>
                <a:ea typeface="Arial" charset="0"/>
                <a:cs typeface="Arial" charset="0"/>
              </a:defRPr>
            </a:lvl3pPr>
            <a:lvl4pPr>
              <a:defRPr>
                <a:solidFill>
                  <a:schemeClr val="tx1"/>
                </a:solidFill>
                <a:latin typeface="Arial" charset="0"/>
                <a:ea typeface="Arial" charset="0"/>
                <a:cs typeface="Arial" charset="0"/>
              </a:defRPr>
            </a:lvl4pPr>
            <a:lvl5pPr>
              <a:defRPr>
                <a:solidFill>
                  <a:schemeClr val="tx1"/>
                </a:solidFill>
                <a:latin typeface="Arial" charset="0"/>
                <a:ea typeface="Arial" charset="0"/>
                <a:cs typeface="Arial" charset="0"/>
              </a:defRPr>
            </a:lvl5pPr>
            <a:lvl6pPr fontAlgn="base">
              <a:spcBef>
                <a:spcPct val="0"/>
              </a:spcBef>
              <a:spcAft>
                <a:spcPct val="0"/>
              </a:spcAft>
              <a:defRPr>
                <a:solidFill>
                  <a:schemeClr val="tx1"/>
                </a:solidFill>
                <a:latin typeface="Arial" charset="0"/>
                <a:ea typeface="Arial" charset="0"/>
                <a:cs typeface="Arial" charset="0"/>
              </a:defRPr>
            </a:lvl6pPr>
            <a:lvl7pPr fontAlgn="base">
              <a:spcBef>
                <a:spcPct val="0"/>
              </a:spcBef>
              <a:spcAft>
                <a:spcPct val="0"/>
              </a:spcAft>
              <a:defRPr>
                <a:solidFill>
                  <a:schemeClr val="tx1"/>
                </a:solidFill>
                <a:latin typeface="Arial" charset="0"/>
                <a:ea typeface="Arial" charset="0"/>
                <a:cs typeface="Arial" charset="0"/>
              </a:defRPr>
            </a:lvl7pPr>
            <a:lvl8pPr fontAlgn="base">
              <a:spcBef>
                <a:spcPct val="0"/>
              </a:spcBef>
              <a:spcAft>
                <a:spcPct val="0"/>
              </a:spcAft>
              <a:defRPr>
                <a:solidFill>
                  <a:schemeClr val="tx1"/>
                </a:solidFill>
                <a:latin typeface="Arial" charset="0"/>
                <a:ea typeface="Arial" charset="0"/>
                <a:cs typeface="Arial" charset="0"/>
              </a:defRPr>
            </a:lvl8pPr>
            <a:lvl9pPr fontAlgn="base">
              <a:spcBef>
                <a:spcPct val="0"/>
              </a:spcBef>
              <a:spcAft>
                <a:spcPct val="0"/>
              </a:spcAft>
              <a:defRPr>
                <a:solidFill>
                  <a:schemeClr val="tx1"/>
                </a:solidFill>
                <a:latin typeface="Arial" charset="0"/>
                <a:ea typeface="Arial" charset="0"/>
                <a:cs typeface="Arial" charset="0"/>
              </a:defRPr>
            </a:lvl9pPr>
          </a:lstStyle>
          <a:p>
            <a:pPr>
              <a:spcBef>
                <a:spcPct val="20000"/>
              </a:spcBef>
              <a:spcAft>
                <a:spcPct val="20000"/>
              </a:spcAft>
              <a:buFontTx/>
              <a:buChar char="•"/>
              <a:defRPr/>
            </a:pPr>
            <a:r>
              <a:rPr lang="en-US" sz="2400" dirty="0">
                <a:latin typeface="Source Sans Pro" panose="020B0503030403020204" pitchFamily="34" charset="0"/>
              </a:rPr>
              <a:t>Monopolist maximizes revenue where MR = 0</a:t>
            </a:r>
          </a:p>
          <a:p>
            <a:pPr>
              <a:spcBef>
                <a:spcPct val="20000"/>
              </a:spcBef>
              <a:spcAft>
                <a:spcPct val="20000"/>
              </a:spcAft>
              <a:buFontTx/>
              <a:buChar char="•"/>
              <a:defRPr/>
            </a:pPr>
            <a:r>
              <a:rPr lang="en-US" sz="2400" dirty="0">
                <a:latin typeface="Source Sans Pro" panose="020B0503030403020204" pitchFamily="34" charset="0"/>
              </a:rPr>
              <a:t>Where is the </a:t>
            </a:r>
            <a:r>
              <a:rPr lang="en-US" sz="2400" b="1" dirty="0">
                <a:latin typeface="Source Sans Pro" panose="020B0503030403020204" pitchFamily="34" charset="0"/>
              </a:rPr>
              <a:t>consumer surplus </a:t>
            </a:r>
            <a:r>
              <a:rPr lang="en-US" sz="2400" dirty="0">
                <a:latin typeface="Source Sans Pro" panose="020B0503030403020204" pitchFamily="34" charset="0"/>
              </a:rPr>
              <a:t>on this graph?</a:t>
            </a:r>
          </a:p>
          <a:p>
            <a:pPr marL="685800" lvl="1" indent="-228600">
              <a:spcBef>
                <a:spcPct val="20000"/>
              </a:spcBef>
              <a:spcAft>
                <a:spcPct val="20000"/>
              </a:spcAft>
              <a:buFontTx/>
              <a:buChar char="•"/>
              <a:defRPr/>
            </a:pPr>
            <a:r>
              <a:rPr lang="en-US" sz="2400" dirty="0">
                <a:latin typeface="Source Sans Pro" panose="020B0503030403020204" pitchFamily="34" charset="0"/>
                <a:ea typeface="Source Sans Pro" panose="020B0503030403020204" pitchFamily="34" charset="0"/>
              </a:rPr>
              <a:t>If possible, the firm would like to capture this</a:t>
            </a:r>
          </a:p>
        </p:txBody>
      </p:sp>
      <mc:AlternateContent xmlns:mc="http://schemas.openxmlformats.org/markup-compatibility/2006">
        <mc:Choice xmlns:p14="http://schemas.microsoft.com/office/powerpoint/2010/main" Requires="p14">
          <p:contentPart p14:bwMode="auto" r:id="rId2">
            <p14:nvContentPartPr>
              <p14:cNvPr id="15" name="Ink 14">
                <a:extLst>
                  <a:ext uri="{FF2B5EF4-FFF2-40B4-BE49-F238E27FC236}">
                    <a16:creationId xmlns:a16="http://schemas.microsoft.com/office/drawing/2014/main" id="{E245294C-CD51-5EBC-65C9-19DA3C446941}"/>
                  </a:ext>
                </a:extLst>
              </p14:cNvPr>
              <p14:cNvContentPartPr/>
              <p14:nvPr/>
            </p14:nvContentPartPr>
            <p14:xfrm>
              <a:off x="2439360" y="2809440"/>
              <a:ext cx="1793160" cy="1507320"/>
            </p14:xfrm>
          </p:contentPart>
        </mc:Choice>
        <mc:Fallback>
          <p:pic>
            <p:nvPicPr>
              <p:cNvPr id="15" name="Ink 14">
                <a:extLst>
                  <a:ext uri="{FF2B5EF4-FFF2-40B4-BE49-F238E27FC236}">
                    <a16:creationId xmlns:a16="http://schemas.microsoft.com/office/drawing/2014/main" id="{E245294C-CD51-5EBC-65C9-19DA3C446941}"/>
                  </a:ext>
                </a:extLst>
              </p:cNvPr>
              <p:cNvPicPr/>
              <p:nvPr/>
            </p:nvPicPr>
            <p:blipFill>
              <a:blip r:embed="rId3"/>
              <a:stretch>
                <a:fillRect/>
              </a:stretch>
            </p:blipFill>
            <p:spPr>
              <a:xfrm>
                <a:off x="2423160" y="2793240"/>
                <a:ext cx="1825560" cy="1539720"/>
              </a:xfrm>
              <a:prstGeom prst="rect">
                <a:avLst/>
              </a:prstGeom>
            </p:spPr>
          </p:pic>
        </mc:Fallback>
      </mc:AlternateContent>
    </p:spTree>
    <p:extLst>
      <p:ext uri="{BB962C8B-B14F-4D97-AF65-F5344CB8AC3E}">
        <p14:creationId xmlns:p14="http://schemas.microsoft.com/office/powerpoint/2010/main" val="426330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350B6-8490-F10F-9564-4C9782B451A0}"/>
              </a:ext>
            </a:extLst>
          </p:cNvPr>
          <p:cNvSpPr>
            <a:spLocks noGrp="1"/>
          </p:cNvSpPr>
          <p:nvPr>
            <p:ph type="title"/>
          </p:nvPr>
        </p:nvSpPr>
        <p:spPr/>
        <p:txBody>
          <a:bodyPr/>
          <a:lstStyle/>
          <a:p>
            <a:r>
              <a:rPr lang="en-US" dirty="0"/>
              <a:t>Monopoly revenue maximization example</a:t>
            </a:r>
          </a:p>
        </p:txBody>
      </p:sp>
      <p:sp>
        <p:nvSpPr>
          <p:cNvPr id="5" name="Slide Number Placeholder 4">
            <a:extLst>
              <a:ext uri="{FF2B5EF4-FFF2-40B4-BE49-F238E27FC236}">
                <a16:creationId xmlns:a16="http://schemas.microsoft.com/office/drawing/2014/main" id="{2C83FE12-E84C-0872-030B-A3ACA1EA6BCC}"/>
              </a:ext>
            </a:extLst>
          </p:cNvPr>
          <p:cNvSpPr>
            <a:spLocks noGrp="1"/>
          </p:cNvSpPr>
          <p:nvPr>
            <p:ph type="sldNum" sz="quarter" idx="12"/>
          </p:nvPr>
        </p:nvSpPr>
        <p:spPr/>
        <p:txBody>
          <a:bodyPr/>
          <a:lstStyle/>
          <a:p>
            <a:fld id="{5CFE1013-2C98-4127-ADA7-A49329A5DD27}" type="slidenum">
              <a:rPr lang="en-US" altLang="en-US" smtClean="0"/>
              <a:pPr/>
              <a:t>23</a:t>
            </a:fld>
            <a:endParaRPr lang="en-US" altLang="en-US" dirty="0"/>
          </a:p>
        </p:txBody>
      </p:sp>
      <p:sp>
        <p:nvSpPr>
          <p:cNvPr id="6" name="TextBox 5">
            <a:extLst>
              <a:ext uri="{FF2B5EF4-FFF2-40B4-BE49-F238E27FC236}">
                <a16:creationId xmlns:a16="http://schemas.microsoft.com/office/drawing/2014/main" id="{A49AF6C3-5AB2-1BC7-2D5A-1450A728B79C}"/>
              </a:ext>
            </a:extLst>
          </p:cNvPr>
          <p:cNvSpPr txBox="1"/>
          <p:nvPr/>
        </p:nvSpPr>
        <p:spPr>
          <a:xfrm>
            <a:off x="1299883" y="1999129"/>
            <a:ext cx="8713694" cy="1815882"/>
          </a:xfrm>
          <a:prstGeom prst="rect">
            <a:avLst/>
          </a:prstGeom>
          <a:noFill/>
        </p:spPr>
        <p:txBody>
          <a:bodyPr wrap="square" rtlCol="0">
            <a:spAutoFit/>
          </a:bodyPr>
          <a:lstStyle/>
          <a:p>
            <a:r>
              <a:rPr lang="en-US" sz="2800" dirty="0">
                <a:latin typeface="Source Sans Pro" panose="020B0503030403020204" pitchFamily="34" charset="0"/>
                <a:ea typeface="Source Sans Pro" panose="020B0503030403020204" pitchFamily="34" charset="0"/>
              </a:rPr>
              <a:t>Find the revenue maximizing quantity (Q) and price (P) for a monopolist who faces the following demand curve:</a:t>
            </a:r>
          </a:p>
          <a:p>
            <a:endParaRPr lang="en-US" sz="2800" dirty="0">
              <a:latin typeface="Source Sans Pro" panose="020B0503030403020204" pitchFamily="34" charset="0"/>
              <a:ea typeface="Source Sans Pro" panose="020B0503030403020204" pitchFamily="34" charset="0"/>
            </a:endParaRPr>
          </a:p>
          <a:p>
            <a:pPr algn="ctr"/>
            <a:r>
              <a:rPr lang="en-US" sz="2800" i="1" dirty="0">
                <a:latin typeface="Source Sans Pro" panose="020B0503030403020204" pitchFamily="34" charset="0"/>
                <a:ea typeface="Source Sans Pro" panose="020B0503030403020204" pitchFamily="34" charset="0"/>
              </a:rPr>
              <a:t>Q</a:t>
            </a:r>
            <a:r>
              <a:rPr lang="en-US" sz="2800" i="1" baseline="30000" dirty="0">
                <a:latin typeface="Source Sans Pro" panose="020B0503030403020204" pitchFamily="34" charset="0"/>
                <a:ea typeface="Source Sans Pro" panose="020B0503030403020204" pitchFamily="34" charset="0"/>
              </a:rPr>
              <a:t>D</a:t>
            </a:r>
            <a:r>
              <a:rPr lang="en-US" sz="2800" dirty="0">
                <a:latin typeface="Source Sans Pro" panose="020B0503030403020204" pitchFamily="34" charset="0"/>
                <a:ea typeface="Source Sans Pro" panose="020B0503030403020204" pitchFamily="34" charset="0"/>
              </a:rPr>
              <a:t> = 144 – 9</a:t>
            </a:r>
            <a:r>
              <a:rPr lang="en-US" sz="2800" i="1" dirty="0">
                <a:latin typeface="Source Sans Pro" panose="020B0503030403020204" pitchFamily="34" charset="0"/>
                <a:ea typeface="Source Sans Pro" panose="020B0503030403020204" pitchFamily="34" charset="0"/>
              </a:rPr>
              <a:t>P</a:t>
            </a:r>
          </a:p>
        </p:txBody>
      </p:sp>
      <p:sp>
        <p:nvSpPr>
          <p:cNvPr id="3" name="5-Point Star 2">
            <a:extLst>
              <a:ext uri="{FF2B5EF4-FFF2-40B4-BE49-F238E27FC236}">
                <a16:creationId xmlns:a16="http://schemas.microsoft.com/office/drawing/2014/main" id="{325CFF7B-3C12-4075-AAC8-23493DCDE44D}"/>
              </a:ext>
            </a:extLst>
          </p:cNvPr>
          <p:cNvSpPr/>
          <p:nvPr/>
        </p:nvSpPr>
        <p:spPr>
          <a:xfrm>
            <a:off x="12629640"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E12692B-7520-7B56-0CF3-655E3F79F06C}"/>
                  </a:ext>
                </a:extLst>
              </p14:cNvPr>
              <p14:cNvContentPartPr/>
              <p14:nvPr/>
            </p14:nvContentPartPr>
            <p14:xfrm>
              <a:off x="2605680" y="2899440"/>
              <a:ext cx="9372960" cy="3612960"/>
            </p14:xfrm>
          </p:contentPart>
        </mc:Choice>
        <mc:Fallback>
          <p:pic>
            <p:nvPicPr>
              <p:cNvPr id="4" name="Ink 3">
                <a:extLst>
                  <a:ext uri="{FF2B5EF4-FFF2-40B4-BE49-F238E27FC236}">
                    <a16:creationId xmlns:a16="http://schemas.microsoft.com/office/drawing/2014/main" id="{7E12692B-7520-7B56-0CF3-655E3F79F06C}"/>
                  </a:ext>
                </a:extLst>
              </p:cNvPr>
              <p:cNvPicPr/>
              <p:nvPr/>
            </p:nvPicPr>
            <p:blipFill>
              <a:blip r:embed="rId3"/>
              <a:stretch>
                <a:fillRect/>
              </a:stretch>
            </p:blipFill>
            <p:spPr>
              <a:xfrm>
                <a:off x="2589480" y="2883240"/>
                <a:ext cx="9405360" cy="3645360"/>
              </a:xfrm>
              <a:prstGeom prst="rect">
                <a:avLst/>
              </a:prstGeom>
            </p:spPr>
          </p:pic>
        </mc:Fallback>
      </mc:AlternateContent>
    </p:spTree>
    <p:extLst>
      <p:ext uri="{BB962C8B-B14F-4D97-AF65-F5344CB8AC3E}">
        <p14:creationId xmlns:p14="http://schemas.microsoft.com/office/powerpoint/2010/main" val="1433420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r>
              <a:rPr lang="en-US" altLang="en-US" dirty="0"/>
              <a:t>Review of monopoly pricing</a:t>
            </a:r>
          </a:p>
        </p:txBody>
      </p:sp>
      <p:sp>
        <p:nvSpPr>
          <p:cNvPr id="235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335BEBE3-B76A-4C99-B907-988DC0FD93C4}" type="slidenum">
              <a:rPr lang="en-US" altLang="en-US" sz="1400">
                <a:latin typeface="Source Sans Pro" panose="020B0503030403020204" pitchFamily="34" charset="0"/>
                <a:ea typeface="Source Sans Pro" panose="020B0503030403020204" pitchFamily="34" charset="0"/>
              </a:rPr>
              <a:pPr eaLnBrk="1" hangingPunct="1"/>
              <a:t>24</a:t>
            </a:fld>
            <a:endParaRPr lang="en-US" altLang="en-US" sz="1400" dirty="0">
              <a:latin typeface="Source Sans Pro" panose="020B0503030403020204" pitchFamily="34" charset="0"/>
              <a:ea typeface="Source Sans Pro" panose="020B0503030403020204" pitchFamily="34" charset="0"/>
            </a:endParaRPr>
          </a:p>
        </p:txBody>
      </p:sp>
      <p:sp>
        <p:nvSpPr>
          <p:cNvPr id="2" name="Rectangle 3">
            <a:extLst>
              <a:ext uri="{FF2B5EF4-FFF2-40B4-BE49-F238E27FC236}">
                <a16:creationId xmlns:a16="http://schemas.microsoft.com/office/drawing/2014/main" id="{73EECA2B-2589-6E25-96F6-A9F8A8C4B4FA}"/>
              </a:ext>
            </a:extLst>
          </p:cNvPr>
          <p:cNvSpPr txBox="1">
            <a:spLocks noChangeArrowheads="1"/>
          </p:cNvSpPr>
          <p:nvPr/>
        </p:nvSpPr>
        <p:spPr bwMode="auto">
          <a:xfrm>
            <a:off x="1021080" y="1388922"/>
            <a:ext cx="102717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dirty="0">
                <a:ea typeface="ＭＳ Ｐゴシック" pitchFamily="34" charset="-128"/>
              </a:rPr>
              <a:t>Monopolist sets the high price P* because it must charge all consumers the </a:t>
            </a:r>
            <a:r>
              <a:rPr lang="en-US" altLang="en-US" b="1" kern="0" dirty="0">
                <a:ea typeface="ＭＳ Ｐゴシック" pitchFamily="34" charset="-128"/>
              </a:rPr>
              <a:t>same price</a:t>
            </a:r>
          </a:p>
        </p:txBody>
      </p:sp>
      <p:sp>
        <p:nvSpPr>
          <p:cNvPr id="3" name="Rectangle 3">
            <a:extLst>
              <a:ext uri="{FF2B5EF4-FFF2-40B4-BE49-F238E27FC236}">
                <a16:creationId xmlns:a16="http://schemas.microsoft.com/office/drawing/2014/main" id="{0EB0D9E1-6394-63D5-F386-65CE0EB173BC}"/>
              </a:ext>
            </a:extLst>
          </p:cNvPr>
          <p:cNvSpPr txBox="1">
            <a:spLocks noChangeArrowheads="1"/>
          </p:cNvSpPr>
          <p:nvPr/>
        </p:nvSpPr>
        <p:spPr bwMode="auto">
          <a:xfrm>
            <a:off x="1021080" y="2249938"/>
            <a:ext cx="1027176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However, the market demand curve is constructed from the prospective choices of many </a:t>
            </a:r>
            <a:r>
              <a:rPr lang="en-US" altLang="en-US" sz="2400" b="1" kern="0" dirty="0">
                <a:latin typeface="Source Sans Pro" panose="020B0503030403020204" pitchFamily="34" charset="0"/>
                <a:ea typeface="ＭＳ Ｐゴシック" pitchFamily="34" charset="-128"/>
              </a:rPr>
              <a:t>different types</a:t>
            </a:r>
            <a:r>
              <a:rPr lang="en-US" altLang="en-US" sz="2400" kern="0" dirty="0">
                <a:latin typeface="Source Sans Pro" panose="020B0503030403020204" pitchFamily="34" charset="0"/>
                <a:ea typeface="ＭＳ Ｐゴシック" pitchFamily="34" charset="-128"/>
              </a:rPr>
              <a:t> of consumers</a:t>
            </a:r>
          </a:p>
          <a:p>
            <a:pPr lvl="1"/>
            <a:r>
              <a:rPr lang="en-US" altLang="en-US" sz="2400" kern="0" dirty="0">
                <a:latin typeface="Source Sans Pro" panose="020B0503030403020204" pitchFamily="34" charset="0"/>
                <a:ea typeface="ＭＳ Ｐゴシック" pitchFamily="34" charset="-128"/>
              </a:rPr>
              <a:t>Firm could improve revenue if it could charge </a:t>
            </a:r>
            <a:r>
              <a:rPr lang="en-US" altLang="en-US" sz="2400" b="1" kern="0" dirty="0">
                <a:latin typeface="Source Sans Pro" panose="020B0503030403020204" pitchFamily="34" charset="0"/>
                <a:ea typeface="ＭＳ Ｐゴシック" pitchFamily="34" charset="-128"/>
              </a:rPr>
              <a:t>different people different prices</a:t>
            </a:r>
          </a:p>
          <a:p>
            <a:r>
              <a:rPr lang="en-US" altLang="en-US" sz="2400" kern="0" dirty="0">
                <a:latin typeface="Source Sans Pro" panose="020B0503030403020204" pitchFamily="34" charset="0"/>
                <a:ea typeface="ＭＳ Ｐゴシック" pitchFamily="34" charset="-128"/>
              </a:rPr>
              <a:t>How would this work?</a:t>
            </a:r>
          </a:p>
        </p:txBody>
      </p:sp>
      <p:sp>
        <p:nvSpPr>
          <p:cNvPr id="4" name="Rectangle 3">
            <a:extLst>
              <a:ext uri="{FF2B5EF4-FFF2-40B4-BE49-F238E27FC236}">
                <a16:creationId xmlns:a16="http://schemas.microsoft.com/office/drawing/2014/main" id="{AF77BD88-33A3-7110-8A37-5AA3C3726A90}"/>
              </a:ext>
            </a:extLst>
          </p:cNvPr>
          <p:cNvSpPr txBox="1">
            <a:spLocks noChangeArrowheads="1"/>
          </p:cNvSpPr>
          <p:nvPr/>
        </p:nvSpPr>
        <p:spPr bwMode="auto">
          <a:xfrm>
            <a:off x="1021080" y="4526726"/>
            <a:ext cx="1027176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buFontTx/>
              <a:buNone/>
            </a:pPr>
            <a:r>
              <a:rPr lang="en-US" altLang="en-US" sz="2400" kern="0" dirty="0">
                <a:latin typeface="Source Sans Pro" panose="020B0503030403020204" pitchFamily="34" charset="0"/>
                <a:ea typeface="ＭＳ Ｐゴシック" pitchFamily="34" charset="-128"/>
              </a:rPr>
              <a:t>		</a:t>
            </a:r>
            <a:r>
              <a:rPr lang="en-US" altLang="en-US" sz="2400" b="1" kern="0" dirty="0">
                <a:latin typeface="Source Sans Pro" panose="020B0503030403020204" pitchFamily="34" charset="0"/>
                <a:ea typeface="ＭＳ Ｐゴシック" pitchFamily="34" charset="-128"/>
              </a:rPr>
              <a:t>High demand </a:t>
            </a:r>
            <a:r>
              <a:rPr lang="en-US" altLang="en-US" sz="2400" kern="0" dirty="0">
                <a:latin typeface="Source Sans Pro" panose="020B0503030403020204" pitchFamily="34" charset="0"/>
                <a:ea typeface="ＭＳ Ｐゴシック" pitchFamily="34" charset="-128"/>
              </a:rPr>
              <a:t>people:	P</a:t>
            </a:r>
            <a:r>
              <a:rPr lang="en-US" altLang="en-US" sz="2400" kern="0" baseline="30000" dirty="0">
                <a:latin typeface="Source Sans Pro" panose="020B0503030403020204" pitchFamily="34" charset="0"/>
                <a:ea typeface="ＭＳ Ｐゴシック" pitchFamily="34" charset="-128"/>
              </a:rPr>
              <a:t>H</a:t>
            </a:r>
            <a:r>
              <a:rPr lang="en-US" altLang="en-US" sz="2400" kern="0" dirty="0">
                <a:latin typeface="Source Sans Pro" panose="020B0503030403020204" pitchFamily="34" charset="0"/>
                <a:ea typeface="ＭＳ Ｐゴシック" pitchFamily="34" charset="-128"/>
              </a:rPr>
              <a:t> &gt; P*</a:t>
            </a:r>
          </a:p>
          <a:p>
            <a:pPr>
              <a:buFontTx/>
              <a:buNone/>
            </a:pPr>
            <a:r>
              <a:rPr lang="en-US" altLang="en-US" sz="2400" kern="0" dirty="0">
                <a:latin typeface="Source Sans Pro" panose="020B0503030403020204" pitchFamily="34" charset="0"/>
                <a:ea typeface="ＭＳ Ｐゴシック" pitchFamily="34" charset="-128"/>
              </a:rPr>
              <a:t>		</a:t>
            </a:r>
            <a:r>
              <a:rPr lang="en-US" altLang="en-US" sz="2400" b="1" kern="0" dirty="0">
                <a:latin typeface="Source Sans Pro" panose="020B0503030403020204" pitchFamily="34" charset="0"/>
                <a:ea typeface="ＭＳ Ｐゴシック" pitchFamily="34" charset="-128"/>
              </a:rPr>
              <a:t>Low demand </a:t>
            </a:r>
            <a:r>
              <a:rPr lang="en-US" altLang="en-US" sz="2400" kern="0" dirty="0">
                <a:latin typeface="Source Sans Pro" panose="020B0503030403020204" pitchFamily="34" charset="0"/>
                <a:ea typeface="ＭＳ Ｐゴシック" pitchFamily="34" charset="-128"/>
              </a:rPr>
              <a:t>people:	P</a:t>
            </a:r>
            <a:r>
              <a:rPr lang="en-US" altLang="en-US" sz="2400" kern="0" baseline="30000" dirty="0">
                <a:latin typeface="Source Sans Pro" panose="020B0503030403020204" pitchFamily="34" charset="0"/>
                <a:ea typeface="ＭＳ Ｐゴシック" pitchFamily="34" charset="-128"/>
              </a:rPr>
              <a:t>L</a:t>
            </a:r>
            <a:r>
              <a:rPr lang="en-US" altLang="en-US" sz="2400" kern="0" dirty="0">
                <a:latin typeface="Source Sans Pro" panose="020B0503030403020204" pitchFamily="34" charset="0"/>
                <a:ea typeface="ＭＳ Ｐゴシック" pitchFamily="34" charset="-128"/>
              </a:rPr>
              <a:t> &lt; P*</a:t>
            </a:r>
          </a:p>
        </p:txBody>
      </p:sp>
    </p:spTree>
    <p:extLst>
      <p:ext uri="{BB962C8B-B14F-4D97-AF65-F5344CB8AC3E}">
        <p14:creationId xmlns:p14="http://schemas.microsoft.com/office/powerpoint/2010/main" val="545542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en-US" altLang="en-US" dirty="0"/>
              <a:t>Charging different prices</a:t>
            </a:r>
          </a:p>
        </p:txBody>
      </p:sp>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64B64F8-85C6-4426-A247-E95872785458}" type="slidenum">
              <a:rPr lang="en-US" altLang="en-US" sz="1400">
                <a:latin typeface="Source Sans Pro" panose="020B0503030403020204" pitchFamily="34" charset="0"/>
                <a:ea typeface="Source Sans Pro" panose="020B0503030403020204" pitchFamily="34" charset="0"/>
              </a:rPr>
              <a:pPr eaLnBrk="1" hangingPunct="1"/>
              <a:t>25</a:t>
            </a:fld>
            <a:endParaRPr lang="en-US" altLang="en-US" sz="1400" dirty="0">
              <a:latin typeface="Source Sans Pro" panose="020B0503030403020204" pitchFamily="34" charset="0"/>
              <a:ea typeface="Source Sans Pro" panose="020B0503030403020204" pitchFamily="34" charset="0"/>
            </a:endParaRPr>
          </a:p>
        </p:txBody>
      </p:sp>
      <p:sp>
        <p:nvSpPr>
          <p:cNvPr id="2" name="Rectangle 5">
            <a:extLst>
              <a:ext uri="{FF2B5EF4-FFF2-40B4-BE49-F238E27FC236}">
                <a16:creationId xmlns:a16="http://schemas.microsoft.com/office/drawing/2014/main" id="{03CE66BA-87AB-B0D0-3101-FAFE6488FA10}"/>
              </a:ext>
            </a:extLst>
          </p:cNvPr>
          <p:cNvSpPr>
            <a:spLocks noChangeArrowheads="1"/>
          </p:cNvSpPr>
          <p:nvPr/>
        </p:nvSpPr>
        <p:spPr bwMode="auto">
          <a:xfrm>
            <a:off x="4934206" y="4622657"/>
            <a:ext cx="642618" cy="1016590"/>
          </a:xfrm>
          <a:prstGeom prst="rect">
            <a:avLst/>
          </a:prstGeom>
          <a:solidFill>
            <a:srgbClr val="67C8C7"/>
          </a:solidFill>
          <a:ln w="9525">
            <a:solidFill>
              <a:srgbClr val="67C8C7"/>
            </a:solidFill>
            <a:miter lim="800000"/>
            <a:headEnd/>
            <a:tailEnd/>
          </a:ln>
          <a:effectLst/>
        </p:spPr>
        <p:txBody>
          <a:bodyPr wrap="none" anchor="ctr"/>
          <a:lstStyle/>
          <a:p>
            <a:pPr>
              <a:defRPr/>
            </a:pPr>
            <a:endParaRPr lang="en-US" sz="2000" dirty="0">
              <a:latin typeface="Source Sans Pro" panose="020B0503030403020204" pitchFamily="34" charset="0"/>
              <a:ea typeface="ＭＳ Ｐゴシック" charset="0"/>
              <a:cs typeface="ＭＳ Ｐゴシック" charset="0"/>
            </a:endParaRPr>
          </a:p>
        </p:txBody>
      </p:sp>
      <p:sp>
        <p:nvSpPr>
          <p:cNvPr id="3" name="Rectangle 5">
            <a:extLst>
              <a:ext uri="{FF2B5EF4-FFF2-40B4-BE49-F238E27FC236}">
                <a16:creationId xmlns:a16="http://schemas.microsoft.com/office/drawing/2014/main" id="{ECC37DD4-6212-5C25-2E4C-574EED530F42}"/>
              </a:ext>
            </a:extLst>
          </p:cNvPr>
          <p:cNvSpPr>
            <a:spLocks noChangeArrowheads="1"/>
          </p:cNvSpPr>
          <p:nvPr/>
        </p:nvSpPr>
        <p:spPr bwMode="auto">
          <a:xfrm>
            <a:off x="2702954" y="3137000"/>
            <a:ext cx="1112560" cy="929263"/>
          </a:xfrm>
          <a:prstGeom prst="rect">
            <a:avLst/>
          </a:prstGeom>
          <a:solidFill>
            <a:srgbClr val="67C8C7"/>
          </a:solidFill>
          <a:ln w="9525">
            <a:solidFill>
              <a:srgbClr val="67C8C7"/>
            </a:solidFill>
            <a:miter lim="800000"/>
            <a:headEnd/>
            <a:tailEnd/>
          </a:ln>
          <a:effectLst/>
        </p:spPr>
        <p:txBody>
          <a:bodyPr wrap="none" anchor="ctr"/>
          <a:lstStyle/>
          <a:p>
            <a:pPr>
              <a:defRPr/>
            </a:pPr>
            <a:endParaRPr lang="en-US" sz="2000" dirty="0">
              <a:latin typeface="Source Sans Pro" panose="020B0503030403020204" pitchFamily="34" charset="0"/>
              <a:ea typeface="ＭＳ Ｐゴシック" charset="0"/>
              <a:cs typeface="ＭＳ Ｐゴシック" charset="0"/>
            </a:endParaRPr>
          </a:p>
        </p:txBody>
      </p:sp>
      <p:sp>
        <p:nvSpPr>
          <p:cNvPr id="4" name="Rectangle 5">
            <a:extLst>
              <a:ext uri="{FF2B5EF4-FFF2-40B4-BE49-F238E27FC236}">
                <a16:creationId xmlns:a16="http://schemas.microsoft.com/office/drawing/2014/main" id="{6C506BBE-F831-ADFE-366E-D3BF85DB8083}"/>
              </a:ext>
            </a:extLst>
          </p:cNvPr>
          <p:cNvSpPr>
            <a:spLocks noChangeArrowheads="1"/>
          </p:cNvSpPr>
          <p:nvPr/>
        </p:nvSpPr>
        <p:spPr bwMode="auto">
          <a:xfrm>
            <a:off x="2724437" y="4074535"/>
            <a:ext cx="2203006" cy="1572981"/>
          </a:xfrm>
          <a:prstGeom prst="rect">
            <a:avLst/>
          </a:prstGeom>
          <a:solidFill>
            <a:srgbClr val="67C8C7"/>
          </a:solidFill>
          <a:ln w="9525">
            <a:solidFill>
              <a:srgbClr val="67C8C7"/>
            </a:solidFill>
            <a:miter lim="800000"/>
            <a:headEnd/>
            <a:tailEnd/>
          </a:ln>
          <a:effectLst/>
        </p:spPr>
        <p:txBody>
          <a:bodyPr wrap="none" anchor="ctr"/>
          <a:lstStyle/>
          <a:p>
            <a:pPr>
              <a:defRPr/>
            </a:pPr>
            <a:endParaRPr lang="en-US" sz="2000" dirty="0">
              <a:latin typeface="Source Sans Pro" panose="020B0503030403020204" pitchFamily="34" charset="0"/>
              <a:ea typeface="ＭＳ Ｐゴシック" charset="0"/>
              <a:cs typeface="ＭＳ Ｐゴシック" charset="0"/>
            </a:endParaRPr>
          </a:p>
        </p:txBody>
      </p:sp>
      <p:sp>
        <p:nvSpPr>
          <p:cNvPr id="5" name="Line 6">
            <a:extLst>
              <a:ext uri="{FF2B5EF4-FFF2-40B4-BE49-F238E27FC236}">
                <a16:creationId xmlns:a16="http://schemas.microsoft.com/office/drawing/2014/main" id="{EE2F3978-E882-120A-D01B-7AF0A2B01B78}"/>
              </a:ext>
            </a:extLst>
          </p:cNvPr>
          <p:cNvSpPr>
            <a:spLocks noChangeShapeType="1"/>
          </p:cNvSpPr>
          <p:nvPr/>
        </p:nvSpPr>
        <p:spPr bwMode="auto">
          <a:xfrm>
            <a:off x="2706861" y="1738985"/>
            <a:ext cx="0" cy="39188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ndParaRPr>
          </a:p>
        </p:txBody>
      </p:sp>
      <p:sp>
        <p:nvSpPr>
          <p:cNvPr id="6" name="Line 7">
            <a:extLst>
              <a:ext uri="{FF2B5EF4-FFF2-40B4-BE49-F238E27FC236}">
                <a16:creationId xmlns:a16="http://schemas.microsoft.com/office/drawing/2014/main" id="{E5828D14-F833-BA24-AE42-D8CC845BCA89}"/>
              </a:ext>
            </a:extLst>
          </p:cNvPr>
          <p:cNvSpPr>
            <a:spLocks noChangeShapeType="1"/>
          </p:cNvSpPr>
          <p:nvPr/>
        </p:nvSpPr>
        <p:spPr bwMode="auto">
          <a:xfrm>
            <a:off x="2714672" y="5653721"/>
            <a:ext cx="487841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ndParaRPr>
          </a:p>
        </p:txBody>
      </p:sp>
      <p:sp>
        <p:nvSpPr>
          <p:cNvPr id="7" name="Line 8">
            <a:extLst>
              <a:ext uri="{FF2B5EF4-FFF2-40B4-BE49-F238E27FC236}">
                <a16:creationId xmlns:a16="http://schemas.microsoft.com/office/drawing/2014/main" id="{1918B991-083D-89C1-2BBC-3C17B22B6FF8}"/>
              </a:ext>
            </a:extLst>
          </p:cNvPr>
          <p:cNvSpPr>
            <a:spLocks noChangeShapeType="1"/>
          </p:cNvSpPr>
          <p:nvPr/>
        </p:nvSpPr>
        <p:spPr bwMode="auto">
          <a:xfrm>
            <a:off x="2702954" y="2189812"/>
            <a:ext cx="4128488" cy="344943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ndParaRPr>
          </a:p>
        </p:txBody>
      </p:sp>
      <p:sp>
        <p:nvSpPr>
          <p:cNvPr id="8" name="Text Box 9">
            <a:extLst>
              <a:ext uri="{FF2B5EF4-FFF2-40B4-BE49-F238E27FC236}">
                <a16:creationId xmlns:a16="http://schemas.microsoft.com/office/drawing/2014/main" id="{F124E83D-E8D3-9A87-BD94-767B662FF922}"/>
              </a:ext>
            </a:extLst>
          </p:cNvPr>
          <p:cNvSpPr txBox="1">
            <a:spLocks noChangeArrowheads="1"/>
          </p:cNvSpPr>
          <p:nvPr/>
        </p:nvSpPr>
        <p:spPr bwMode="auto">
          <a:xfrm>
            <a:off x="7182970" y="5599953"/>
            <a:ext cx="521431" cy="49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9" name="Text Box 10">
            <a:extLst>
              <a:ext uri="{FF2B5EF4-FFF2-40B4-BE49-F238E27FC236}">
                <a16:creationId xmlns:a16="http://schemas.microsoft.com/office/drawing/2014/main" id="{E594C568-E000-494D-2520-BF8FE8F91F4A}"/>
              </a:ext>
            </a:extLst>
          </p:cNvPr>
          <p:cNvSpPr txBox="1">
            <a:spLocks noChangeArrowheads="1"/>
          </p:cNvSpPr>
          <p:nvPr/>
        </p:nvSpPr>
        <p:spPr bwMode="auto">
          <a:xfrm>
            <a:off x="6505303" y="5074679"/>
            <a:ext cx="8553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D</a:t>
            </a:r>
            <a:endParaRPr lang="en-US" altLang="en-US" dirty="0">
              <a:latin typeface="Source Sans Pro" panose="020B0503030403020204" pitchFamily="34" charset="0"/>
            </a:endParaRPr>
          </a:p>
        </p:txBody>
      </p:sp>
      <p:sp>
        <p:nvSpPr>
          <p:cNvPr id="10" name="Text Box 11">
            <a:extLst>
              <a:ext uri="{FF2B5EF4-FFF2-40B4-BE49-F238E27FC236}">
                <a16:creationId xmlns:a16="http://schemas.microsoft.com/office/drawing/2014/main" id="{936EEA90-4644-6DBC-3439-61BC79DC81A7}"/>
              </a:ext>
            </a:extLst>
          </p:cNvPr>
          <p:cNvSpPr txBox="1">
            <a:spLocks noChangeArrowheads="1"/>
          </p:cNvSpPr>
          <p:nvPr/>
        </p:nvSpPr>
        <p:spPr bwMode="auto">
          <a:xfrm>
            <a:off x="2308464" y="1631449"/>
            <a:ext cx="456985" cy="49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P</a:t>
            </a:r>
            <a:endParaRPr lang="en-US" altLang="en-US" dirty="0">
              <a:latin typeface="Source Sans Pro" panose="020B0503030403020204" pitchFamily="34" charset="0"/>
            </a:endParaRPr>
          </a:p>
        </p:txBody>
      </p:sp>
      <p:sp>
        <p:nvSpPr>
          <p:cNvPr id="11" name="Line 13">
            <a:extLst>
              <a:ext uri="{FF2B5EF4-FFF2-40B4-BE49-F238E27FC236}">
                <a16:creationId xmlns:a16="http://schemas.microsoft.com/office/drawing/2014/main" id="{D4EEC6FE-6FA4-3011-1ED3-A5D568E54A4D}"/>
              </a:ext>
            </a:extLst>
          </p:cNvPr>
          <p:cNvSpPr>
            <a:spLocks noChangeShapeType="1"/>
          </p:cNvSpPr>
          <p:nvPr/>
        </p:nvSpPr>
        <p:spPr bwMode="auto">
          <a:xfrm>
            <a:off x="2726390" y="2216695"/>
            <a:ext cx="2599345" cy="40822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000" dirty="0">
              <a:latin typeface="Source Sans Pro" panose="020B0503030403020204" pitchFamily="34" charset="0"/>
              <a:ea typeface="ＭＳ Ｐゴシック" charset="0"/>
              <a:cs typeface="ＭＳ Ｐゴシック" charset="0"/>
            </a:endParaRPr>
          </a:p>
        </p:txBody>
      </p:sp>
      <p:sp>
        <p:nvSpPr>
          <p:cNvPr id="12" name="Text Box 14">
            <a:extLst>
              <a:ext uri="{FF2B5EF4-FFF2-40B4-BE49-F238E27FC236}">
                <a16:creationId xmlns:a16="http://schemas.microsoft.com/office/drawing/2014/main" id="{9811EEDC-67CC-E440-4D39-4056EF10655D}"/>
              </a:ext>
            </a:extLst>
          </p:cNvPr>
          <p:cNvSpPr txBox="1">
            <a:spLocks noChangeArrowheads="1"/>
          </p:cNvSpPr>
          <p:nvPr/>
        </p:nvSpPr>
        <p:spPr bwMode="auto">
          <a:xfrm>
            <a:off x="5358243" y="5994699"/>
            <a:ext cx="8553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MR</a:t>
            </a:r>
            <a:endParaRPr lang="en-US" altLang="en-US" dirty="0">
              <a:latin typeface="Source Sans Pro" panose="020B0503030403020204" pitchFamily="34" charset="0"/>
            </a:endParaRPr>
          </a:p>
        </p:txBody>
      </p:sp>
      <p:sp>
        <p:nvSpPr>
          <p:cNvPr id="13" name="Rectangle 17">
            <a:extLst>
              <a:ext uri="{FF2B5EF4-FFF2-40B4-BE49-F238E27FC236}">
                <a16:creationId xmlns:a16="http://schemas.microsoft.com/office/drawing/2014/main" id="{B2D48DA2-29CB-BC8D-9CDB-FB278DA9189E}"/>
              </a:ext>
            </a:extLst>
          </p:cNvPr>
          <p:cNvSpPr>
            <a:spLocks noChangeArrowheads="1"/>
          </p:cNvSpPr>
          <p:nvPr/>
        </p:nvSpPr>
        <p:spPr bwMode="auto">
          <a:xfrm>
            <a:off x="2718579" y="4076324"/>
            <a:ext cx="2208866" cy="1583602"/>
          </a:xfrm>
          <a:prstGeom prst="rect">
            <a:avLst/>
          </a:prstGeom>
          <a:noFill/>
          <a:ln w="190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000" dirty="0">
              <a:latin typeface="Source Sans Pro" panose="020B0503030403020204" pitchFamily="34" charset="0"/>
              <a:ea typeface="ＭＳ Ｐゴシック" charset="0"/>
              <a:cs typeface="ＭＳ Ｐゴシック" charset="0"/>
            </a:endParaRPr>
          </a:p>
        </p:txBody>
      </p:sp>
      <p:sp>
        <p:nvSpPr>
          <p:cNvPr id="14" name="Text Box 22">
            <a:extLst>
              <a:ext uri="{FF2B5EF4-FFF2-40B4-BE49-F238E27FC236}">
                <a16:creationId xmlns:a16="http://schemas.microsoft.com/office/drawing/2014/main" id="{A77FD1F7-D2BB-A93F-9DD1-05C9BAC7CAC0}"/>
              </a:ext>
            </a:extLst>
          </p:cNvPr>
          <p:cNvSpPr txBox="1">
            <a:spLocks noChangeArrowheads="1"/>
          </p:cNvSpPr>
          <p:nvPr/>
        </p:nvSpPr>
        <p:spPr bwMode="auto">
          <a:xfrm>
            <a:off x="4581332" y="5794644"/>
            <a:ext cx="6913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CN"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15" name="Text Box 23">
            <a:extLst>
              <a:ext uri="{FF2B5EF4-FFF2-40B4-BE49-F238E27FC236}">
                <a16:creationId xmlns:a16="http://schemas.microsoft.com/office/drawing/2014/main" id="{FE3E351B-7F37-C909-2822-275FFEE85101}"/>
              </a:ext>
            </a:extLst>
          </p:cNvPr>
          <p:cNvSpPr txBox="1">
            <a:spLocks noChangeArrowheads="1"/>
          </p:cNvSpPr>
          <p:nvPr/>
        </p:nvSpPr>
        <p:spPr bwMode="auto">
          <a:xfrm>
            <a:off x="2181175" y="3866760"/>
            <a:ext cx="4960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P*</a:t>
            </a:r>
            <a:endParaRPr lang="en-US" altLang="en-US" dirty="0">
              <a:latin typeface="Source Sans Pro" panose="020B0503030403020204" pitchFamily="34" charset="0"/>
            </a:endParaRPr>
          </a:p>
        </p:txBody>
      </p:sp>
      <p:cxnSp>
        <p:nvCxnSpPr>
          <p:cNvPr id="16" name="Straight Connector 15">
            <a:extLst>
              <a:ext uri="{FF2B5EF4-FFF2-40B4-BE49-F238E27FC236}">
                <a16:creationId xmlns:a16="http://schemas.microsoft.com/office/drawing/2014/main" id="{629E22C8-B8AC-D93D-234B-E7393C572478}"/>
              </a:ext>
            </a:extLst>
          </p:cNvPr>
          <p:cNvCxnSpPr>
            <a:cxnSpLocks/>
          </p:cNvCxnSpPr>
          <p:nvPr/>
        </p:nvCxnSpPr>
        <p:spPr>
          <a:xfrm>
            <a:off x="2710451" y="3137000"/>
            <a:ext cx="1112561"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 name="Text Box 23">
            <a:extLst>
              <a:ext uri="{FF2B5EF4-FFF2-40B4-BE49-F238E27FC236}">
                <a16:creationId xmlns:a16="http://schemas.microsoft.com/office/drawing/2014/main" id="{0015A580-4C23-60C8-EA29-4FD443775193}"/>
              </a:ext>
            </a:extLst>
          </p:cNvPr>
          <p:cNvSpPr txBox="1">
            <a:spLocks noChangeArrowheads="1"/>
          </p:cNvSpPr>
          <p:nvPr/>
        </p:nvSpPr>
        <p:spPr bwMode="auto">
          <a:xfrm>
            <a:off x="2181176" y="2929395"/>
            <a:ext cx="4960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P</a:t>
            </a:r>
            <a:r>
              <a:rPr lang="en-US" altLang="zh-CN" baseline="30000" dirty="0">
                <a:latin typeface="Source Sans Pro" panose="020B0503030403020204" pitchFamily="34" charset="0"/>
                <a:ea typeface="SimSun" pitchFamily="2" charset="-122"/>
              </a:rPr>
              <a:t>H</a:t>
            </a:r>
            <a:endParaRPr lang="en-US" altLang="en-US" dirty="0">
              <a:latin typeface="Source Sans Pro" panose="020B0503030403020204" pitchFamily="34" charset="0"/>
            </a:endParaRPr>
          </a:p>
        </p:txBody>
      </p:sp>
      <p:cxnSp>
        <p:nvCxnSpPr>
          <p:cNvPr id="18" name="Straight Connector 17">
            <a:extLst>
              <a:ext uri="{FF2B5EF4-FFF2-40B4-BE49-F238E27FC236}">
                <a16:creationId xmlns:a16="http://schemas.microsoft.com/office/drawing/2014/main" id="{5AE36D24-3F1F-C1F1-5068-1D948A96DE21}"/>
              </a:ext>
            </a:extLst>
          </p:cNvPr>
          <p:cNvCxnSpPr>
            <a:cxnSpLocks/>
          </p:cNvCxnSpPr>
          <p:nvPr/>
        </p:nvCxnSpPr>
        <p:spPr>
          <a:xfrm>
            <a:off x="2710451" y="4617107"/>
            <a:ext cx="286637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Text Box 23">
            <a:extLst>
              <a:ext uri="{FF2B5EF4-FFF2-40B4-BE49-F238E27FC236}">
                <a16:creationId xmlns:a16="http://schemas.microsoft.com/office/drawing/2014/main" id="{2B0DEA6B-0240-87D7-EAD6-8AEAEFB6213C}"/>
              </a:ext>
            </a:extLst>
          </p:cNvPr>
          <p:cNvSpPr txBox="1">
            <a:spLocks noChangeArrowheads="1"/>
          </p:cNvSpPr>
          <p:nvPr/>
        </p:nvSpPr>
        <p:spPr bwMode="auto">
          <a:xfrm>
            <a:off x="2181176" y="4422602"/>
            <a:ext cx="4960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P</a:t>
            </a:r>
            <a:r>
              <a:rPr lang="en-US" altLang="zh-CN" baseline="30000" dirty="0">
                <a:latin typeface="Source Sans Pro" panose="020B0503030403020204" pitchFamily="34" charset="0"/>
                <a:ea typeface="SimSun" pitchFamily="2" charset="-122"/>
              </a:rPr>
              <a:t>L</a:t>
            </a:r>
            <a:endParaRPr lang="en-US" altLang="en-US" dirty="0">
              <a:latin typeface="Source Sans Pro" panose="020B0503030403020204" pitchFamily="34" charset="0"/>
            </a:endParaRPr>
          </a:p>
        </p:txBody>
      </p:sp>
      <p:cxnSp>
        <p:nvCxnSpPr>
          <p:cNvPr id="20" name="Straight Connector 19">
            <a:extLst>
              <a:ext uri="{FF2B5EF4-FFF2-40B4-BE49-F238E27FC236}">
                <a16:creationId xmlns:a16="http://schemas.microsoft.com/office/drawing/2014/main" id="{9F396556-640D-DED6-8D02-F6D8C8E70BC2}"/>
              </a:ext>
            </a:extLst>
          </p:cNvPr>
          <p:cNvCxnSpPr>
            <a:cxnSpLocks/>
          </p:cNvCxnSpPr>
          <p:nvPr/>
        </p:nvCxnSpPr>
        <p:spPr>
          <a:xfrm flipV="1">
            <a:off x="3823055" y="3176532"/>
            <a:ext cx="0" cy="2477189"/>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8549FA9-7E5B-4972-5C27-71638A3D35E1}"/>
              </a:ext>
            </a:extLst>
          </p:cNvPr>
          <p:cNvCxnSpPr>
            <a:cxnSpLocks/>
          </p:cNvCxnSpPr>
          <p:nvPr/>
        </p:nvCxnSpPr>
        <p:spPr>
          <a:xfrm flipV="1">
            <a:off x="5576824" y="4591800"/>
            <a:ext cx="1189" cy="106192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2" name="Rectangle 3">
            <a:extLst>
              <a:ext uri="{FF2B5EF4-FFF2-40B4-BE49-F238E27FC236}">
                <a16:creationId xmlns:a16="http://schemas.microsoft.com/office/drawing/2014/main" id="{B6A71CBB-4E6C-7018-C37B-D58B9670635F}"/>
              </a:ext>
            </a:extLst>
          </p:cNvPr>
          <p:cNvSpPr txBox="1">
            <a:spLocks noChangeArrowheads="1"/>
          </p:cNvSpPr>
          <p:nvPr/>
        </p:nvSpPr>
        <p:spPr bwMode="auto">
          <a:xfrm>
            <a:off x="5935978" y="1648305"/>
            <a:ext cx="4908665"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How does this </a:t>
            </a:r>
            <a:r>
              <a:rPr lang="en-US" altLang="en-US" sz="2400" b="1" kern="0" dirty="0">
                <a:latin typeface="Source Sans Pro" panose="020B0503030403020204" pitchFamily="34" charset="0"/>
                <a:ea typeface="ＭＳ Ｐゴシック" pitchFamily="34" charset="-128"/>
              </a:rPr>
              <a:t>improve</a:t>
            </a:r>
            <a:r>
              <a:rPr lang="en-US" altLang="en-US" sz="2400" kern="0" dirty="0">
                <a:latin typeface="Source Sans Pro" panose="020B0503030403020204" pitchFamily="34" charset="0"/>
                <a:ea typeface="ＭＳ Ｐゴシック" pitchFamily="34" charset="-128"/>
              </a:rPr>
              <a:t> </a:t>
            </a:r>
            <a:r>
              <a:rPr lang="en-US" altLang="ja-JP" sz="2400" kern="0" dirty="0">
                <a:latin typeface="Source Sans Pro" panose="020B0503030403020204" pitchFamily="34" charset="0"/>
                <a:ea typeface="ＭＳ Ｐゴシック" pitchFamily="34" charset="-128"/>
              </a:rPr>
              <a:t>revenue relative to only charging P*?</a:t>
            </a:r>
          </a:p>
          <a:p>
            <a:pPr lvl="1"/>
            <a:r>
              <a:rPr lang="en-US" altLang="ja-JP" sz="2400" b="1" kern="0" dirty="0">
                <a:latin typeface="Source Sans Pro" panose="020B0503030403020204" pitchFamily="34" charset="0"/>
                <a:ea typeface="ＭＳ Ｐゴシック" pitchFamily="34" charset="-128"/>
              </a:rPr>
              <a:t>Consumer surplus</a:t>
            </a:r>
          </a:p>
          <a:p>
            <a:pPr lvl="1"/>
            <a:r>
              <a:rPr lang="en-US" altLang="ja-JP" sz="2400" b="1" kern="0" dirty="0">
                <a:latin typeface="Source Sans Pro" panose="020B0503030403020204" pitchFamily="34" charset="0"/>
                <a:ea typeface="ＭＳ Ｐゴシック" pitchFamily="34" charset="-128"/>
              </a:rPr>
              <a:t>Unserved consumers</a:t>
            </a:r>
            <a:endParaRPr lang="en-US" altLang="en-US" sz="2400" kern="0" dirty="0">
              <a:latin typeface="Source Sans Pro" panose="020B0503030403020204" pitchFamily="34" charset="0"/>
              <a:ea typeface="ＭＳ Ｐゴシック" pitchFamily="34" charset="-128"/>
            </a:endParaRPr>
          </a:p>
        </p:txBody>
      </p:sp>
      <mc:AlternateContent xmlns:mc="http://schemas.openxmlformats.org/markup-compatibility/2006">
        <mc:Choice xmlns:p14="http://schemas.microsoft.com/office/powerpoint/2010/main" Requires="p14">
          <p:contentPart p14:bwMode="auto" r:id="rId2">
            <p14:nvContentPartPr>
              <p14:cNvPr id="23" name="Ink 22">
                <a:extLst>
                  <a:ext uri="{FF2B5EF4-FFF2-40B4-BE49-F238E27FC236}">
                    <a16:creationId xmlns:a16="http://schemas.microsoft.com/office/drawing/2014/main" id="{A7967839-03CD-DBDE-0671-8868F620AD51}"/>
                  </a:ext>
                </a:extLst>
              </p14:cNvPr>
              <p14:cNvContentPartPr/>
              <p14:nvPr/>
            </p14:nvContentPartPr>
            <p14:xfrm>
              <a:off x="3078360" y="1036080"/>
              <a:ext cx="6818040" cy="4453560"/>
            </p14:xfrm>
          </p:contentPart>
        </mc:Choice>
        <mc:Fallback>
          <p:pic>
            <p:nvPicPr>
              <p:cNvPr id="23" name="Ink 22">
                <a:extLst>
                  <a:ext uri="{FF2B5EF4-FFF2-40B4-BE49-F238E27FC236}">
                    <a16:creationId xmlns:a16="http://schemas.microsoft.com/office/drawing/2014/main" id="{A7967839-03CD-DBDE-0671-8868F620AD51}"/>
                  </a:ext>
                </a:extLst>
              </p:cNvPr>
              <p:cNvPicPr/>
              <p:nvPr/>
            </p:nvPicPr>
            <p:blipFill>
              <a:blip r:embed="rId3"/>
              <a:stretch>
                <a:fillRect/>
              </a:stretch>
            </p:blipFill>
            <p:spPr>
              <a:xfrm>
                <a:off x="3062160" y="1019880"/>
                <a:ext cx="6850440" cy="4485960"/>
              </a:xfrm>
              <a:prstGeom prst="rect">
                <a:avLst/>
              </a:prstGeom>
            </p:spPr>
          </p:pic>
        </mc:Fallback>
      </mc:AlternateContent>
    </p:spTree>
    <p:extLst>
      <p:ext uri="{BB962C8B-B14F-4D97-AF65-F5344CB8AC3E}">
        <p14:creationId xmlns:p14="http://schemas.microsoft.com/office/powerpoint/2010/main" val="484335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7" grpId="0"/>
      <p:bldP spid="19" grpId="0"/>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ource Sans Pro" panose="020B0503030403020204" pitchFamily="34" charset="0"/>
                <a:ea typeface="Source Sans Pro" panose="020B0503030403020204" pitchFamily="34" charset="0"/>
              </a:rPr>
              <a:t>Agenda</a:t>
            </a:r>
          </a:p>
        </p:txBody>
      </p:sp>
      <p:sp>
        <p:nvSpPr>
          <p:cNvPr id="5" name="Slide Number Placeholder 4"/>
          <p:cNvSpPr>
            <a:spLocks noGrp="1"/>
          </p:cNvSpPr>
          <p:nvPr>
            <p:ph type="sldNum" sz="quarter" idx="12"/>
          </p:nvPr>
        </p:nvSpPr>
        <p:spPr/>
        <p:txBody>
          <a:bodyPr/>
          <a:lstStyle/>
          <a:p>
            <a:fld id="{601CDD02-EF00-47E2-B6EB-B4DAE4D672DA}" type="slidenum">
              <a:rPr lang="en-US" altLang="en-US" smtClean="0">
                <a:latin typeface="Source Sans Pro" panose="020B0503030403020204" pitchFamily="34" charset="0"/>
                <a:ea typeface="Source Sans Pro" panose="020B0503030403020204" pitchFamily="34" charset="0"/>
              </a:rPr>
              <a:pPr/>
              <a:t>26</a:t>
            </a:fld>
            <a:endParaRPr lang="en-US" altLang="en-US" dirty="0">
              <a:latin typeface="Source Sans Pro" panose="020B0503030403020204" pitchFamily="34" charset="0"/>
              <a:ea typeface="Source Sans Pro" panose="020B0503030403020204" pitchFamily="34" charset="0"/>
            </a:endParaRPr>
          </a:p>
        </p:txBody>
      </p:sp>
      <p:sp>
        <p:nvSpPr>
          <p:cNvPr id="3" name="TextBox 2">
            <a:extLst>
              <a:ext uri="{FF2B5EF4-FFF2-40B4-BE49-F238E27FC236}">
                <a16:creationId xmlns:a16="http://schemas.microsoft.com/office/drawing/2014/main" id="{66F41300-733A-C35F-0E25-DEC81A7FB124}"/>
              </a:ext>
            </a:extLst>
          </p:cNvPr>
          <p:cNvSpPr txBox="1"/>
          <p:nvPr/>
        </p:nvSpPr>
        <p:spPr>
          <a:xfrm>
            <a:off x="3135630" y="2882540"/>
            <a:ext cx="4819686" cy="523220"/>
          </a:xfrm>
          <a:prstGeom prst="rect">
            <a:avLst/>
          </a:prstGeom>
          <a:solidFill>
            <a:srgbClr val="67C8C7"/>
          </a:solidFill>
          <a:ln>
            <a:solidFill>
              <a:srgbClr val="67C8C7"/>
            </a:solidFill>
          </a:ln>
        </p:spPr>
        <p:txBody>
          <a:bodyPr wrap="square" rtlCol="0">
            <a:spAutoFit/>
          </a:bodyPr>
          <a:lstStyle/>
          <a:p>
            <a:pPr marL="285750" indent="-285750">
              <a:buFont typeface="Arial" panose="020B0604020202020204" pitchFamily="34" charset="0"/>
              <a:buChar char="•"/>
            </a:pPr>
            <a:r>
              <a:rPr lang="en-US" sz="2800" b="1" dirty="0">
                <a:solidFill>
                  <a:schemeClr val="bg1"/>
                </a:solidFill>
                <a:latin typeface="Source Sans Pro" panose="020B0503030403020204" pitchFamily="34" charset="0"/>
                <a:ea typeface="Source Sans Pro" panose="020B0503030403020204" pitchFamily="34" charset="0"/>
              </a:rPr>
              <a:t>Price discrimination</a:t>
            </a:r>
          </a:p>
        </p:txBody>
      </p:sp>
      <p:sp>
        <p:nvSpPr>
          <p:cNvPr id="4" name="TextBox 3">
            <a:extLst>
              <a:ext uri="{FF2B5EF4-FFF2-40B4-BE49-F238E27FC236}">
                <a16:creationId xmlns:a16="http://schemas.microsoft.com/office/drawing/2014/main" id="{C8A8897A-50E6-0D2B-FB42-C99878CFF56E}"/>
              </a:ext>
            </a:extLst>
          </p:cNvPr>
          <p:cNvSpPr txBox="1"/>
          <p:nvPr/>
        </p:nvSpPr>
        <p:spPr>
          <a:xfrm>
            <a:off x="3135630" y="1462806"/>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Revenue maximization</a:t>
            </a:r>
          </a:p>
        </p:txBody>
      </p:sp>
      <p:sp>
        <p:nvSpPr>
          <p:cNvPr id="6" name="TextBox 5">
            <a:extLst>
              <a:ext uri="{FF2B5EF4-FFF2-40B4-BE49-F238E27FC236}">
                <a16:creationId xmlns:a16="http://schemas.microsoft.com/office/drawing/2014/main" id="{AC9A3CBA-7D1C-6687-1CD3-E5E7291EE671}"/>
              </a:ext>
            </a:extLst>
          </p:cNvPr>
          <p:cNvSpPr txBox="1"/>
          <p:nvPr/>
        </p:nvSpPr>
        <p:spPr>
          <a:xfrm>
            <a:off x="3135630" y="2172673"/>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Monopoly pricing</a:t>
            </a:r>
          </a:p>
        </p:txBody>
      </p:sp>
      <p:sp>
        <p:nvSpPr>
          <p:cNvPr id="7" name="TextBox 6">
            <a:extLst>
              <a:ext uri="{FF2B5EF4-FFF2-40B4-BE49-F238E27FC236}">
                <a16:creationId xmlns:a16="http://schemas.microsoft.com/office/drawing/2014/main" id="{569804AB-0B88-2F0A-0601-3D75389E2455}"/>
              </a:ext>
            </a:extLst>
          </p:cNvPr>
          <p:cNvSpPr txBox="1"/>
          <p:nvPr/>
        </p:nvSpPr>
        <p:spPr>
          <a:xfrm>
            <a:off x="3135630" y="5722005"/>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American Airlines case</a:t>
            </a:r>
          </a:p>
        </p:txBody>
      </p:sp>
      <p:sp>
        <p:nvSpPr>
          <p:cNvPr id="14" name="TextBox 13">
            <a:extLst>
              <a:ext uri="{FF2B5EF4-FFF2-40B4-BE49-F238E27FC236}">
                <a16:creationId xmlns:a16="http://schemas.microsoft.com/office/drawing/2014/main" id="{FB48E17D-D03D-B659-F662-323BFB3C082C}"/>
              </a:ext>
            </a:extLst>
          </p:cNvPr>
          <p:cNvSpPr txBox="1"/>
          <p:nvPr/>
        </p:nvSpPr>
        <p:spPr>
          <a:xfrm>
            <a:off x="3135630" y="3592407"/>
            <a:ext cx="4819686" cy="523220"/>
          </a:xfrm>
          <a:prstGeom prst="rect">
            <a:avLst/>
          </a:prstGeom>
          <a:solidFill>
            <a:schemeClr val="bg1"/>
          </a:solidFill>
          <a:ln>
            <a:solidFill>
              <a:schemeClr val="bg1"/>
            </a:solid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Two-part tariffs</a:t>
            </a:r>
          </a:p>
        </p:txBody>
      </p:sp>
      <p:sp>
        <p:nvSpPr>
          <p:cNvPr id="15" name="TextBox 14">
            <a:extLst>
              <a:ext uri="{FF2B5EF4-FFF2-40B4-BE49-F238E27FC236}">
                <a16:creationId xmlns:a16="http://schemas.microsoft.com/office/drawing/2014/main" id="{197E88D5-ABCD-464C-6611-DDCBAE333254}"/>
              </a:ext>
            </a:extLst>
          </p:cNvPr>
          <p:cNvSpPr txBox="1"/>
          <p:nvPr/>
        </p:nvSpPr>
        <p:spPr>
          <a:xfrm>
            <a:off x="3135630" y="4302274"/>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Bundling</a:t>
            </a:r>
          </a:p>
        </p:txBody>
      </p:sp>
      <p:sp>
        <p:nvSpPr>
          <p:cNvPr id="16" name="TextBox 15">
            <a:extLst>
              <a:ext uri="{FF2B5EF4-FFF2-40B4-BE49-F238E27FC236}">
                <a16:creationId xmlns:a16="http://schemas.microsoft.com/office/drawing/2014/main" id="{2DBC874A-3E56-E04F-96B6-F6CAAE41DB45}"/>
              </a:ext>
            </a:extLst>
          </p:cNvPr>
          <p:cNvSpPr txBox="1"/>
          <p:nvPr/>
        </p:nvSpPr>
        <p:spPr>
          <a:xfrm>
            <a:off x="3135630" y="5012141"/>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Adverse selection</a:t>
            </a:r>
          </a:p>
        </p:txBody>
      </p:sp>
    </p:spTree>
    <p:extLst>
      <p:ext uri="{BB962C8B-B14F-4D97-AF65-F5344CB8AC3E}">
        <p14:creationId xmlns:p14="http://schemas.microsoft.com/office/powerpoint/2010/main" val="3561334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en-US" altLang="en-US" dirty="0"/>
              <a:t>Price discrimination</a:t>
            </a:r>
          </a:p>
        </p:txBody>
      </p:sp>
      <p:sp>
        <p:nvSpPr>
          <p:cNvPr id="245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C21F44B7-FBE1-4FD5-9A93-3F093E5D0657}" type="slidenum">
              <a:rPr lang="en-US" altLang="en-US" sz="1400">
                <a:latin typeface="Source Sans Pro" panose="020B0503030403020204" pitchFamily="34" charset="0"/>
                <a:ea typeface="Source Sans Pro" panose="020B0503030403020204" pitchFamily="34" charset="0"/>
              </a:rPr>
              <a:pPr eaLnBrk="1" hangingPunct="1"/>
              <a:t>27</a:t>
            </a:fld>
            <a:endParaRPr lang="en-US" altLang="en-US" sz="1400" dirty="0">
              <a:latin typeface="Source Sans Pro" panose="020B0503030403020204" pitchFamily="34" charset="0"/>
              <a:ea typeface="Source Sans Pro" panose="020B0503030403020204" pitchFamily="34" charset="0"/>
            </a:endParaRPr>
          </a:p>
        </p:txBody>
      </p:sp>
      <p:sp>
        <p:nvSpPr>
          <p:cNvPr id="13" name="Rectangle 3">
            <a:extLst>
              <a:ext uri="{FF2B5EF4-FFF2-40B4-BE49-F238E27FC236}">
                <a16:creationId xmlns:a16="http://schemas.microsoft.com/office/drawing/2014/main" id="{D5EC7DBA-14E4-BA04-F974-407EF42C1B93}"/>
              </a:ext>
            </a:extLst>
          </p:cNvPr>
          <p:cNvSpPr txBox="1">
            <a:spLocks noChangeArrowheads="1"/>
          </p:cNvSpPr>
          <p:nvPr/>
        </p:nvSpPr>
        <p:spPr bwMode="auto">
          <a:xfrm>
            <a:off x="731520" y="941777"/>
            <a:ext cx="10850880"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dirty="0">
                <a:ea typeface="ＭＳ Ｐゴシック" pitchFamily="34" charset="-128"/>
              </a:rPr>
              <a:t>Charging different customers different prices for either:</a:t>
            </a:r>
          </a:p>
          <a:p>
            <a:pPr lvl="1"/>
            <a:r>
              <a:rPr lang="en-US" altLang="en-US" kern="0" dirty="0"/>
              <a:t>The </a:t>
            </a:r>
            <a:r>
              <a:rPr lang="en-US" altLang="en-US" b="1" kern="0" dirty="0"/>
              <a:t>same product</a:t>
            </a:r>
          </a:p>
          <a:p>
            <a:pPr lvl="1"/>
            <a:r>
              <a:rPr lang="en-US" altLang="en-US" b="1" kern="0" dirty="0"/>
              <a:t>Similar </a:t>
            </a:r>
            <a:r>
              <a:rPr lang="en-US" altLang="en-US" kern="0" dirty="0"/>
              <a:t>(related) products produced by the </a:t>
            </a:r>
            <a:r>
              <a:rPr lang="en-US" altLang="en-US" b="1" kern="0" dirty="0"/>
              <a:t>same firm</a:t>
            </a:r>
          </a:p>
          <a:p>
            <a:r>
              <a:rPr lang="en-US" altLang="en-US" kern="0" dirty="0">
                <a:ea typeface="ＭＳ Ｐゴシック" pitchFamily="34" charset="-128"/>
              </a:rPr>
              <a:t>These price differences must arise because of </a:t>
            </a:r>
            <a:r>
              <a:rPr lang="en-US" altLang="en-US" b="1" kern="0" dirty="0">
                <a:ea typeface="ＭＳ Ｐゴシック" pitchFamily="34" charset="-128"/>
              </a:rPr>
              <a:t>differences in demand</a:t>
            </a:r>
            <a:r>
              <a:rPr lang="en-US" altLang="en-US" kern="0" dirty="0">
                <a:ea typeface="ＭＳ Ｐゴシック" pitchFamily="34" charset="-128"/>
              </a:rPr>
              <a:t>, not the costs of serving the consumers</a:t>
            </a:r>
          </a:p>
          <a:p>
            <a:pPr lvl="1"/>
            <a:r>
              <a:rPr lang="en-US" altLang="en-US" kern="0" dirty="0">
                <a:ea typeface="ＭＳ Ｐゴシック" pitchFamily="34" charset="-128"/>
              </a:rPr>
              <a:t>CMO is given the cost to produce/serve consumers by others in C-Suite</a:t>
            </a:r>
          </a:p>
        </p:txBody>
      </p:sp>
      <p:grpSp>
        <p:nvGrpSpPr>
          <p:cNvPr id="14" name="Group 13">
            <a:extLst>
              <a:ext uri="{FF2B5EF4-FFF2-40B4-BE49-F238E27FC236}">
                <a16:creationId xmlns:a16="http://schemas.microsoft.com/office/drawing/2014/main" id="{E8E85E8B-81FA-69C9-51EF-17A872945EB6}"/>
              </a:ext>
            </a:extLst>
          </p:cNvPr>
          <p:cNvGrpSpPr/>
          <p:nvPr/>
        </p:nvGrpSpPr>
        <p:grpSpPr>
          <a:xfrm>
            <a:off x="1853184" y="3955311"/>
            <a:ext cx="3657600" cy="2674088"/>
            <a:chOff x="3124200" y="3879112"/>
            <a:chExt cx="1371600" cy="2674088"/>
          </a:xfrm>
          <a:solidFill>
            <a:srgbClr val="005F85"/>
          </a:solidFill>
        </p:grpSpPr>
        <p:sp>
          <p:nvSpPr>
            <p:cNvPr id="15" name="Rounded Rectangle 14">
              <a:extLst>
                <a:ext uri="{FF2B5EF4-FFF2-40B4-BE49-F238E27FC236}">
                  <a16:creationId xmlns:a16="http://schemas.microsoft.com/office/drawing/2014/main" id="{79191B55-80C6-39DB-9EFC-142211067E04}"/>
                </a:ext>
              </a:extLst>
            </p:cNvPr>
            <p:cNvSpPr/>
            <p:nvPr/>
          </p:nvSpPr>
          <p:spPr>
            <a:xfrm>
              <a:off x="3124200" y="4343400"/>
              <a:ext cx="1371600" cy="1828800"/>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Source Sans Pro" panose="020B0503030403020204" pitchFamily="34" charset="0"/>
              </a:endParaRPr>
            </a:p>
          </p:txBody>
        </p:sp>
        <p:sp>
          <p:nvSpPr>
            <p:cNvPr id="16" name="Oval 15">
              <a:extLst>
                <a:ext uri="{FF2B5EF4-FFF2-40B4-BE49-F238E27FC236}">
                  <a16:creationId xmlns:a16="http://schemas.microsoft.com/office/drawing/2014/main" id="{63D48DEE-81DA-1673-4A8F-560195B0239C}"/>
                </a:ext>
              </a:extLst>
            </p:cNvPr>
            <p:cNvSpPr/>
            <p:nvPr/>
          </p:nvSpPr>
          <p:spPr>
            <a:xfrm>
              <a:off x="3124200" y="3879112"/>
              <a:ext cx="1371600" cy="1371600"/>
            </a:xfrm>
            <a:prstGeom prst="ellipse">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Source Sans Pro" panose="020B0503030403020204" pitchFamily="34" charset="0"/>
              </a:endParaRPr>
            </a:p>
          </p:txBody>
        </p:sp>
        <p:sp>
          <p:nvSpPr>
            <p:cNvPr id="17" name="Oval 16">
              <a:extLst>
                <a:ext uri="{FF2B5EF4-FFF2-40B4-BE49-F238E27FC236}">
                  <a16:creationId xmlns:a16="http://schemas.microsoft.com/office/drawing/2014/main" id="{CD7FB254-8816-E46E-4DF1-DE4C32B838A7}"/>
                </a:ext>
              </a:extLst>
            </p:cNvPr>
            <p:cNvSpPr/>
            <p:nvPr/>
          </p:nvSpPr>
          <p:spPr>
            <a:xfrm>
              <a:off x="3124200" y="5181600"/>
              <a:ext cx="1371600" cy="1371600"/>
            </a:xfrm>
            <a:prstGeom prst="ellipse">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Source Sans Pro" panose="020B0503030403020204" pitchFamily="34" charset="0"/>
              </a:endParaRPr>
            </a:p>
          </p:txBody>
        </p:sp>
      </p:grpSp>
      <p:grpSp>
        <p:nvGrpSpPr>
          <p:cNvPr id="18" name="Group 17">
            <a:extLst>
              <a:ext uri="{FF2B5EF4-FFF2-40B4-BE49-F238E27FC236}">
                <a16:creationId xmlns:a16="http://schemas.microsoft.com/office/drawing/2014/main" id="{6B34EE0B-F622-2348-2389-422D0CCB069D}"/>
              </a:ext>
            </a:extLst>
          </p:cNvPr>
          <p:cNvGrpSpPr/>
          <p:nvPr/>
        </p:nvGrpSpPr>
        <p:grpSpPr>
          <a:xfrm>
            <a:off x="6635496" y="3955311"/>
            <a:ext cx="3657600" cy="2674088"/>
            <a:chOff x="3124200" y="3879112"/>
            <a:chExt cx="1371600" cy="2674088"/>
          </a:xfrm>
          <a:solidFill>
            <a:srgbClr val="67C8C7"/>
          </a:solidFill>
        </p:grpSpPr>
        <p:sp>
          <p:nvSpPr>
            <p:cNvPr id="19" name="Rounded Rectangle 18">
              <a:extLst>
                <a:ext uri="{FF2B5EF4-FFF2-40B4-BE49-F238E27FC236}">
                  <a16:creationId xmlns:a16="http://schemas.microsoft.com/office/drawing/2014/main" id="{14C3E4FB-6AA2-11B6-7848-9D22AEFC770A}"/>
                </a:ext>
              </a:extLst>
            </p:cNvPr>
            <p:cNvSpPr/>
            <p:nvPr/>
          </p:nvSpPr>
          <p:spPr>
            <a:xfrm>
              <a:off x="3124200" y="4343400"/>
              <a:ext cx="1371600" cy="1828800"/>
            </a:xfrm>
            <a:prstGeom prst="roundRect">
              <a:avLst/>
            </a:prstGeom>
            <a:grp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Source Sans Pro" panose="020B0503030403020204" pitchFamily="34" charset="0"/>
              </a:endParaRPr>
            </a:p>
          </p:txBody>
        </p:sp>
        <p:sp>
          <p:nvSpPr>
            <p:cNvPr id="20" name="Oval 19">
              <a:extLst>
                <a:ext uri="{FF2B5EF4-FFF2-40B4-BE49-F238E27FC236}">
                  <a16:creationId xmlns:a16="http://schemas.microsoft.com/office/drawing/2014/main" id="{CAA08BFF-2991-5243-176D-AFEC1F508B6D}"/>
                </a:ext>
              </a:extLst>
            </p:cNvPr>
            <p:cNvSpPr/>
            <p:nvPr/>
          </p:nvSpPr>
          <p:spPr>
            <a:xfrm>
              <a:off x="3124200" y="3879112"/>
              <a:ext cx="1371600" cy="1371600"/>
            </a:xfrm>
            <a:prstGeom prst="ellipse">
              <a:avLst/>
            </a:prstGeom>
            <a:grp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Source Sans Pro" panose="020B0503030403020204" pitchFamily="34" charset="0"/>
              </a:endParaRPr>
            </a:p>
          </p:txBody>
        </p:sp>
        <p:sp>
          <p:nvSpPr>
            <p:cNvPr id="21" name="Oval 20">
              <a:extLst>
                <a:ext uri="{FF2B5EF4-FFF2-40B4-BE49-F238E27FC236}">
                  <a16:creationId xmlns:a16="http://schemas.microsoft.com/office/drawing/2014/main" id="{59AFCC7D-283F-47FF-FB90-6BCA2525EB6E}"/>
                </a:ext>
              </a:extLst>
            </p:cNvPr>
            <p:cNvSpPr/>
            <p:nvPr/>
          </p:nvSpPr>
          <p:spPr>
            <a:xfrm>
              <a:off x="3124200" y="5181600"/>
              <a:ext cx="1371600" cy="1371600"/>
            </a:xfrm>
            <a:prstGeom prst="ellipse">
              <a:avLst/>
            </a:prstGeom>
            <a:grp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Source Sans Pro" panose="020B0503030403020204" pitchFamily="34" charset="0"/>
              </a:endParaRPr>
            </a:p>
          </p:txBody>
        </p:sp>
      </p:grpSp>
      <p:sp>
        <p:nvSpPr>
          <p:cNvPr id="22" name="Rectangle 21">
            <a:extLst>
              <a:ext uri="{FF2B5EF4-FFF2-40B4-BE49-F238E27FC236}">
                <a16:creationId xmlns:a16="http://schemas.microsoft.com/office/drawing/2014/main" id="{E080D4FD-03AE-6DF3-EE51-373084038D85}"/>
              </a:ext>
            </a:extLst>
          </p:cNvPr>
          <p:cNvSpPr/>
          <p:nvPr/>
        </p:nvSpPr>
        <p:spPr>
          <a:xfrm>
            <a:off x="1853184" y="4153486"/>
            <a:ext cx="3657600" cy="1877437"/>
          </a:xfrm>
          <a:prstGeom prst="rect">
            <a:avLst/>
          </a:prstGeom>
        </p:spPr>
        <p:txBody>
          <a:bodyPr wrap="square">
            <a:spAutoFit/>
          </a:bodyPr>
          <a:lstStyle/>
          <a:p>
            <a:pPr algn="ctr">
              <a:spcBef>
                <a:spcPts val="0"/>
              </a:spcBef>
              <a:spcAft>
                <a:spcPts val="1200"/>
              </a:spcAft>
            </a:pPr>
            <a:r>
              <a:rPr lang="en-US" altLang="en-US" sz="2400" b="1" dirty="0">
                <a:solidFill>
                  <a:schemeClr val="bg1"/>
                </a:solidFill>
                <a:latin typeface="Source Sans Pro" panose="020B0503030403020204" pitchFamily="34" charset="0"/>
              </a:rPr>
              <a:t>Same product</a:t>
            </a:r>
          </a:p>
          <a:p>
            <a:pPr marL="285750" indent="-285750">
              <a:spcBef>
                <a:spcPts val="0"/>
              </a:spcBef>
              <a:spcAft>
                <a:spcPts val="1200"/>
              </a:spcAft>
              <a:buFont typeface="Arial" panose="020B0604020202020204" pitchFamily="34" charset="0"/>
              <a:buChar char="•"/>
            </a:pPr>
            <a:r>
              <a:rPr lang="en-US" altLang="en-US" sz="2400" dirty="0">
                <a:solidFill>
                  <a:schemeClr val="bg1"/>
                </a:solidFill>
                <a:latin typeface="Source Sans Pro" panose="020B0503030403020204" pitchFamily="34" charset="0"/>
              </a:rPr>
              <a:t>Kids prices at </a:t>
            </a:r>
            <a:r>
              <a:rPr lang="en-US" altLang="en-US" sz="2400" b="1" dirty="0">
                <a:solidFill>
                  <a:schemeClr val="bg1"/>
                </a:solidFill>
                <a:latin typeface="Source Sans Pro" panose="020B0503030403020204" pitchFamily="34" charset="0"/>
              </a:rPr>
              <a:t>movies</a:t>
            </a:r>
          </a:p>
          <a:p>
            <a:pPr marL="285750" indent="-285750">
              <a:spcBef>
                <a:spcPts val="0"/>
              </a:spcBef>
              <a:spcAft>
                <a:spcPts val="1200"/>
              </a:spcAft>
              <a:buFont typeface="Arial" panose="020B0604020202020204" pitchFamily="34" charset="0"/>
              <a:buChar char="•"/>
            </a:pPr>
            <a:r>
              <a:rPr lang="en-US" altLang="en-US" sz="2400" dirty="0">
                <a:solidFill>
                  <a:schemeClr val="bg1"/>
                </a:solidFill>
                <a:latin typeface="Source Sans Pro" panose="020B0503030403020204" pitchFamily="34" charset="0"/>
              </a:rPr>
              <a:t>Discounts via </a:t>
            </a:r>
            <a:r>
              <a:rPr lang="en-US" altLang="en-US" sz="2400" b="1" dirty="0">
                <a:solidFill>
                  <a:schemeClr val="bg1"/>
                </a:solidFill>
                <a:latin typeface="Source Sans Pro" panose="020B0503030403020204" pitchFamily="34" charset="0"/>
              </a:rPr>
              <a:t>targeted coupons</a:t>
            </a:r>
          </a:p>
        </p:txBody>
      </p:sp>
      <p:sp>
        <p:nvSpPr>
          <p:cNvPr id="23" name="Rectangle 22">
            <a:extLst>
              <a:ext uri="{FF2B5EF4-FFF2-40B4-BE49-F238E27FC236}">
                <a16:creationId xmlns:a16="http://schemas.microsoft.com/office/drawing/2014/main" id="{E7571379-99CB-0FC7-4FCC-6366E3AC5374}"/>
              </a:ext>
            </a:extLst>
          </p:cNvPr>
          <p:cNvSpPr/>
          <p:nvPr/>
        </p:nvSpPr>
        <p:spPr>
          <a:xfrm>
            <a:off x="6635496" y="4153486"/>
            <a:ext cx="3657600" cy="2246769"/>
          </a:xfrm>
          <a:prstGeom prst="rect">
            <a:avLst/>
          </a:prstGeom>
        </p:spPr>
        <p:txBody>
          <a:bodyPr wrap="square">
            <a:spAutoFit/>
          </a:bodyPr>
          <a:lstStyle/>
          <a:p>
            <a:pPr algn="ctr">
              <a:spcBef>
                <a:spcPts val="0"/>
              </a:spcBef>
              <a:spcAft>
                <a:spcPts val="1200"/>
              </a:spcAft>
            </a:pPr>
            <a:r>
              <a:rPr lang="en-US" altLang="en-US" sz="2400" b="1" dirty="0">
                <a:solidFill>
                  <a:schemeClr val="bg1"/>
                </a:solidFill>
                <a:latin typeface="Source Sans Pro" panose="020B0503030403020204" pitchFamily="34" charset="0"/>
              </a:rPr>
              <a:t>Similar products</a:t>
            </a:r>
          </a:p>
          <a:p>
            <a:pPr marL="285750" indent="-285750">
              <a:spcBef>
                <a:spcPts val="0"/>
              </a:spcBef>
              <a:spcAft>
                <a:spcPts val="1200"/>
              </a:spcAft>
              <a:buFont typeface="Arial" panose="020B0604020202020204" pitchFamily="34" charset="0"/>
              <a:buChar char="•"/>
            </a:pPr>
            <a:r>
              <a:rPr lang="en-US" altLang="en-US" sz="2400" b="1" dirty="0">
                <a:solidFill>
                  <a:schemeClr val="bg1"/>
                </a:solidFill>
                <a:latin typeface="Source Sans Pro" panose="020B0503030403020204" pitchFamily="34" charset="0"/>
              </a:rPr>
              <a:t>First class </a:t>
            </a:r>
            <a:r>
              <a:rPr lang="en-US" altLang="en-US" sz="2400" dirty="0">
                <a:solidFill>
                  <a:schemeClr val="bg1"/>
                </a:solidFill>
                <a:latin typeface="Source Sans Pro" panose="020B0503030403020204" pitchFamily="34" charset="0"/>
              </a:rPr>
              <a:t>v. </a:t>
            </a:r>
            <a:r>
              <a:rPr lang="en-US" altLang="en-US" sz="2400" b="1" dirty="0">
                <a:solidFill>
                  <a:schemeClr val="bg1"/>
                </a:solidFill>
                <a:latin typeface="Source Sans Pro" panose="020B0503030403020204" pitchFamily="34" charset="0"/>
              </a:rPr>
              <a:t>coach </a:t>
            </a:r>
            <a:r>
              <a:rPr lang="en-US" altLang="en-US" sz="2400" dirty="0">
                <a:solidFill>
                  <a:schemeClr val="bg1"/>
                </a:solidFill>
                <a:latin typeface="Source Sans Pro" panose="020B0503030403020204" pitchFamily="34" charset="0"/>
              </a:rPr>
              <a:t>seating</a:t>
            </a:r>
          </a:p>
          <a:p>
            <a:pPr marL="285750" indent="-285750">
              <a:spcBef>
                <a:spcPts val="0"/>
              </a:spcBef>
              <a:spcAft>
                <a:spcPts val="1200"/>
              </a:spcAft>
              <a:buFont typeface="Arial" panose="020B0604020202020204" pitchFamily="34" charset="0"/>
              <a:buChar char="•"/>
            </a:pPr>
            <a:r>
              <a:rPr lang="en-US" altLang="en-US" sz="2400" dirty="0">
                <a:solidFill>
                  <a:schemeClr val="bg1"/>
                </a:solidFill>
                <a:latin typeface="Source Sans Pro" panose="020B0503030403020204" pitchFamily="34" charset="0"/>
              </a:rPr>
              <a:t>Menus of </a:t>
            </a:r>
            <a:r>
              <a:rPr lang="en-US" altLang="en-US" sz="2400" b="1" dirty="0">
                <a:solidFill>
                  <a:schemeClr val="bg1"/>
                </a:solidFill>
                <a:latin typeface="Source Sans Pro" panose="020B0503030403020204" pitchFamily="34" charset="0"/>
              </a:rPr>
              <a:t>cell phone service </a:t>
            </a:r>
            <a:r>
              <a:rPr lang="en-US" altLang="en-US" sz="2400" dirty="0">
                <a:solidFill>
                  <a:schemeClr val="bg1"/>
                </a:solidFill>
                <a:latin typeface="Source Sans Pro" panose="020B0503030403020204" pitchFamily="34" charset="0"/>
              </a:rPr>
              <a:t>plans</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C9C23EA-1225-D9FF-5F3B-8464F2493C40}"/>
                  </a:ext>
                </a:extLst>
              </p14:cNvPr>
              <p14:cNvContentPartPr/>
              <p14:nvPr/>
            </p14:nvContentPartPr>
            <p14:xfrm>
              <a:off x="1008360" y="174960"/>
              <a:ext cx="10658520" cy="3324240"/>
            </p14:xfrm>
          </p:contentPart>
        </mc:Choice>
        <mc:Fallback>
          <p:pic>
            <p:nvPicPr>
              <p:cNvPr id="2" name="Ink 1">
                <a:extLst>
                  <a:ext uri="{FF2B5EF4-FFF2-40B4-BE49-F238E27FC236}">
                    <a16:creationId xmlns:a16="http://schemas.microsoft.com/office/drawing/2014/main" id="{6C9C23EA-1225-D9FF-5F3B-8464F2493C40}"/>
                  </a:ext>
                </a:extLst>
              </p:cNvPr>
              <p:cNvPicPr/>
              <p:nvPr/>
            </p:nvPicPr>
            <p:blipFill>
              <a:blip r:embed="rId3"/>
              <a:stretch>
                <a:fillRect/>
              </a:stretch>
            </p:blipFill>
            <p:spPr>
              <a:xfrm>
                <a:off x="986400" y="158760"/>
                <a:ext cx="10696320" cy="336204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en-US" dirty="0">
                <a:ea typeface="ＭＳ Ｐゴシック" pitchFamily="34" charset="-128"/>
              </a:rPr>
              <a:t>Price discrimination</a:t>
            </a:r>
          </a:p>
        </p:txBody>
      </p:sp>
      <p:sp>
        <p:nvSpPr>
          <p:cNvPr id="256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53662C54-9689-4ACF-84D2-F678A2CF7E1C}" type="slidenum">
              <a:rPr lang="en-US" altLang="en-US" sz="1400">
                <a:latin typeface="Source Sans Pro" panose="020B0503030403020204" pitchFamily="34" charset="0"/>
              </a:rPr>
              <a:pPr eaLnBrk="1" hangingPunct="1"/>
              <a:t>28</a:t>
            </a:fld>
            <a:endParaRPr lang="en-US" altLang="en-US" sz="1400" dirty="0">
              <a:latin typeface="Source Sans Pro" panose="020B0503030403020204" pitchFamily="34" charset="0"/>
            </a:endParaRPr>
          </a:p>
        </p:txBody>
      </p:sp>
      <p:sp>
        <p:nvSpPr>
          <p:cNvPr id="4" name="Rectangle 3"/>
          <p:cNvSpPr/>
          <p:nvPr/>
        </p:nvSpPr>
        <p:spPr>
          <a:xfrm>
            <a:off x="150270" y="6510246"/>
            <a:ext cx="8532564" cy="276999"/>
          </a:xfrm>
          <a:prstGeom prst="rect">
            <a:avLst/>
          </a:prstGeom>
        </p:spPr>
        <p:txBody>
          <a:bodyPr wrap="square">
            <a:spAutoFit/>
          </a:bodyPr>
          <a:lstStyle/>
          <a:p>
            <a:r>
              <a:rPr lang="en-US" sz="1200" dirty="0">
                <a:latin typeface="Source Sans Pro" panose="020B0503030403020204" pitchFamily="34" charset="0"/>
                <a:cs typeface="Calibri" panose="020F0502020204030204" pitchFamily="34" charset="0"/>
              </a:rPr>
              <a:t>Source: https://datafiniti.co/shoe-brands-change-prices-depending-gender/</a:t>
            </a:r>
          </a:p>
        </p:txBody>
      </p:sp>
      <p:pic>
        <p:nvPicPr>
          <p:cNvPr id="1028" name="Picture 4" descr="http://datafiniti.co/wp-content/uploads/2017/06/difference-between-women-and-mens-pric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0139" y="810646"/>
            <a:ext cx="5051725" cy="282302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datafiniti.co/wp-content/uploads/2017/06/difference-between-women-and-mens-prices-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8477" y="3715066"/>
            <a:ext cx="5255046" cy="2768284"/>
          </a:xfrm>
          <a:prstGeom prst="rect">
            <a:avLst/>
          </a:prstGeom>
          <a:noFill/>
          <a:extLst>
            <a:ext uri="{909E8E84-426E-40DD-AFC4-6F175D3DCCD1}">
              <a14:hiddenFill xmlns:a14="http://schemas.microsoft.com/office/drawing/2010/main">
                <a:solidFill>
                  <a:srgbClr val="FFFFFF"/>
                </a:solidFill>
              </a14:hiddenFill>
            </a:ext>
          </a:extLst>
        </p:spPr>
      </p:pic>
      <p:sp>
        <p:nvSpPr>
          <p:cNvPr id="2" name="5-Point Star 1">
            <a:extLst>
              <a:ext uri="{FF2B5EF4-FFF2-40B4-BE49-F238E27FC236}">
                <a16:creationId xmlns:a16="http://schemas.microsoft.com/office/drawing/2014/main" id="{7FFBDDC1-D999-588B-802A-207D1A5136E8}"/>
              </a:ext>
            </a:extLst>
          </p:cNvPr>
          <p:cNvSpPr/>
          <p:nvPr/>
        </p:nvSpPr>
        <p:spPr>
          <a:xfrm>
            <a:off x="12490402" y="350300"/>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719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Price discrimination</a:t>
            </a:r>
          </a:p>
        </p:txBody>
      </p:sp>
      <p:sp>
        <p:nvSpPr>
          <p:cNvPr id="4" name="Slide Number Placeholder 3"/>
          <p:cNvSpPr>
            <a:spLocks noGrp="1"/>
          </p:cNvSpPr>
          <p:nvPr>
            <p:ph type="sldNum" sz="quarter" idx="12"/>
          </p:nvPr>
        </p:nvSpPr>
        <p:spPr/>
        <p:txBody>
          <a:bodyPr/>
          <a:lstStyle/>
          <a:p>
            <a:fld id="{28BC9C31-8EB3-4B66-B53A-2A3D39C96852}" type="slidenum">
              <a:rPr lang="en-US" altLang="en-US" smtClean="0"/>
              <a:pPr/>
              <a:t>29</a:t>
            </a:fld>
            <a:endParaRPr lang="en-US" altLang="en-US" dirty="0"/>
          </a:p>
        </p:txBody>
      </p:sp>
      <p:pic>
        <p:nvPicPr>
          <p:cNvPr id="3" name="Picture 2">
            <a:extLst>
              <a:ext uri="{FF2B5EF4-FFF2-40B4-BE49-F238E27FC236}">
                <a16:creationId xmlns:a16="http://schemas.microsoft.com/office/drawing/2014/main" id="{71B72E84-6F1C-A346-5941-D26C80F4BED2}"/>
              </a:ext>
            </a:extLst>
          </p:cNvPr>
          <p:cNvPicPr>
            <a:picLocks noChangeAspect="1"/>
          </p:cNvPicPr>
          <p:nvPr/>
        </p:nvPicPr>
        <p:blipFill>
          <a:blip r:embed="rId2"/>
          <a:stretch>
            <a:fillRect/>
          </a:stretch>
        </p:blipFill>
        <p:spPr>
          <a:xfrm>
            <a:off x="439395" y="782103"/>
            <a:ext cx="5310898" cy="2836092"/>
          </a:xfrm>
          <a:prstGeom prst="rect">
            <a:avLst/>
          </a:prstGeom>
        </p:spPr>
      </p:pic>
      <p:pic>
        <p:nvPicPr>
          <p:cNvPr id="6" name="Picture 5">
            <a:extLst>
              <a:ext uri="{FF2B5EF4-FFF2-40B4-BE49-F238E27FC236}">
                <a16:creationId xmlns:a16="http://schemas.microsoft.com/office/drawing/2014/main" id="{3E7AE2F7-A7D2-E0E7-EB52-763873E16A7B}"/>
              </a:ext>
            </a:extLst>
          </p:cNvPr>
          <p:cNvPicPr>
            <a:picLocks noChangeAspect="1"/>
          </p:cNvPicPr>
          <p:nvPr/>
        </p:nvPicPr>
        <p:blipFill>
          <a:blip r:embed="rId3"/>
          <a:stretch>
            <a:fillRect/>
          </a:stretch>
        </p:blipFill>
        <p:spPr>
          <a:xfrm>
            <a:off x="809451" y="3555277"/>
            <a:ext cx="4076919" cy="3042477"/>
          </a:xfrm>
          <a:prstGeom prst="rect">
            <a:avLst/>
          </a:prstGeom>
        </p:spPr>
      </p:pic>
      <p:pic>
        <p:nvPicPr>
          <p:cNvPr id="7" name="Picture 6">
            <a:extLst>
              <a:ext uri="{FF2B5EF4-FFF2-40B4-BE49-F238E27FC236}">
                <a16:creationId xmlns:a16="http://schemas.microsoft.com/office/drawing/2014/main" id="{937A6D0D-5172-6B17-D3E9-429264B9F9CB}"/>
              </a:ext>
            </a:extLst>
          </p:cNvPr>
          <p:cNvPicPr>
            <a:picLocks noChangeAspect="1"/>
          </p:cNvPicPr>
          <p:nvPr/>
        </p:nvPicPr>
        <p:blipFill>
          <a:blip r:embed="rId4"/>
          <a:stretch>
            <a:fillRect/>
          </a:stretch>
        </p:blipFill>
        <p:spPr>
          <a:xfrm>
            <a:off x="5967219" y="1189220"/>
            <a:ext cx="5145711" cy="4942076"/>
          </a:xfrm>
          <a:prstGeom prst="rect">
            <a:avLst/>
          </a:prstGeom>
        </p:spPr>
      </p:pic>
      <p:sp>
        <p:nvSpPr>
          <p:cNvPr id="8" name="Rectangle 7">
            <a:extLst>
              <a:ext uri="{FF2B5EF4-FFF2-40B4-BE49-F238E27FC236}">
                <a16:creationId xmlns:a16="http://schemas.microsoft.com/office/drawing/2014/main" id="{1FEF636F-0BAF-56DC-492F-05D9FF5D6304}"/>
              </a:ext>
            </a:extLst>
          </p:cNvPr>
          <p:cNvSpPr/>
          <p:nvPr/>
        </p:nvSpPr>
        <p:spPr>
          <a:xfrm>
            <a:off x="128714" y="6599244"/>
            <a:ext cx="11453686" cy="253916"/>
          </a:xfrm>
          <a:prstGeom prst="rect">
            <a:avLst/>
          </a:prstGeom>
        </p:spPr>
        <p:txBody>
          <a:bodyPr wrap="square">
            <a:spAutoFit/>
          </a:bodyPr>
          <a:lstStyle/>
          <a:p>
            <a:r>
              <a:rPr lang="en-US" sz="1050" dirty="0">
                <a:latin typeface="Source Sans Pro" panose="020B0503030403020204" pitchFamily="34" charset="0"/>
                <a:cs typeface="Calibri" panose="020F0502020204030204" pitchFamily="34" charset="0"/>
              </a:rPr>
              <a:t>Source: From Cradle to Cane: The Cost of Being a Female Consumer, NYC Consumer Affairs (https://www.nyc.gov/assets/dca/downloads/pdf/partners/Study-of-Gender-Pricing-in-NYC.pdf)</a:t>
            </a:r>
          </a:p>
        </p:txBody>
      </p:sp>
      <p:sp>
        <p:nvSpPr>
          <p:cNvPr id="5" name="5-Point Star 4">
            <a:extLst>
              <a:ext uri="{FF2B5EF4-FFF2-40B4-BE49-F238E27FC236}">
                <a16:creationId xmlns:a16="http://schemas.microsoft.com/office/drawing/2014/main" id="{60ECFF2D-2C09-219C-9C15-3CFE7EE9A492}"/>
              </a:ext>
            </a:extLst>
          </p:cNvPr>
          <p:cNvSpPr/>
          <p:nvPr/>
        </p:nvSpPr>
        <p:spPr>
          <a:xfrm>
            <a:off x="12619808"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69CA7665-8FFE-896F-1B08-7F51B7A9C8C1}"/>
                  </a:ext>
                </a:extLst>
              </p14:cNvPr>
              <p14:cNvContentPartPr/>
              <p14:nvPr/>
            </p14:nvContentPartPr>
            <p14:xfrm>
              <a:off x="6969600" y="3729600"/>
              <a:ext cx="931680" cy="2211120"/>
            </p14:xfrm>
          </p:contentPart>
        </mc:Choice>
        <mc:Fallback>
          <p:pic>
            <p:nvPicPr>
              <p:cNvPr id="9" name="Ink 8">
                <a:extLst>
                  <a:ext uri="{FF2B5EF4-FFF2-40B4-BE49-F238E27FC236}">
                    <a16:creationId xmlns:a16="http://schemas.microsoft.com/office/drawing/2014/main" id="{69CA7665-8FFE-896F-1B08-7F51B7A9C8C1}"/>
                  </a:ext>
                </a:extLst>
              </p:cNvPr>
              <p:cNvPicPr/>
              <p:nvPr/>
            </p:nvPicPr>
            <p:blipFill>
              <a:blip r:embed="rId6"/>
              <a:stretch>
                <a:fillRect/>
              </a:stretch>
            </p:blipFill>
            <p:spPr>
              <a:xfrm>
                <a:off x="6953400" y="3713400"/>
                <a:ext cx="964080" cy="2243520"/>
              </a:xfrm>
              <a:prstGeom prst="rect">
                <a:avLst/>
              </a:prstGeom>
            </p:spPr>
          </p:pic>
        </mc:Fallback>
      </mc:AlternateContent>
    </p:spTree>
    <p:extLst>
      <p:ext uri="{BB962C8B-B14F-4D97-AF65-F5344CB8AC3E}">
        <p14:creationId xmlns:p14="http://schemas.microsoft.com/office/powerpoint/2010/main" val="21762197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Price discrimination?</a:t>
            </a:r>
          </a:p>
        </p:txBody>
      </p:sp>
      <p:sp>
        <p:nvSpPr>
          <p:cNvPr id="4" name="Slide Number Placeholder 3"/>
          <p:cNvSpPr>
            <a:spLocks noGrp="1"/>
          </p:cNvSpPr>
          <p:nvPr>
            <p:ph type="sldNum" sz="quarter" idx="12"/>
          </p:nvPr>
        </p:nvSpPr>
        <p:spPr/>
        <p:txBody>
          <a:bodyPr/>
          <a:lstStyle/>
          <a:p>
            <a:fld id="{28BC9C31-8EB3-4B66-B53A-2A3D39C96852}" type="slidenum">
              <a:rPr lang="en-US" altLang="en-US" smtClean="0"/>
              <a:pPr/>
              <a:t>30</a:t>
            </a:fld>
            <a:endParaRPr lang="en-US" altLang="en-US" dirty="0"/>
          </a:p>
        </p:txBody>
      </p:sp>
      <p:sp>
        <p:nvSpPr>
          <p:cNvPr id="3" name="Rectangle 2">
            <a:extLst>
              <a:ext uri="{FF2B5EF4-FFF2-40B4-BE49-F238E27FC236}">
                <a16:creationId xmlns:a16="http://schemas.microsoft.com/office/drawing/2014/main" id="{085DA152-2809-C7AA-0EF2-F18D5493950D}"/>
              </a:ext>
            </a:extLst>
          </p:cNvPr>
          <p:cNvSpPr/>
          <p:nvPr/>
        </p:nvSpPr>
        <p:spPr>
          <a:xfrm>
            <a:off x="75284" y="6534835"/>
            <a:ext cx="8075364" cy="276999"/>
          </a:xfrm>
          <a:prstGeom prst="rect">
            <a:avLst/>
          </a:prstGeom>
        </p:spPr>
        <p:txBody>
          <a:bodyPr wrap="square">
            <a:spAutoFit/>
          </a:bodyPr>
          <a:lstStyle/>
          <a:p>
            <a:r>
              <a:rPr lang="en-US" sz="1200" dirty="0">
                <a:latin typeface="Source Sans Pro" panose="020B0503030403020204" pitchFamily="34" charset="0"/>
                <a:cs typeface="Calibri" panose="020F0502020204030204" pitchFamily="34" charset="0"/>
              </a:rPr>
              <a:t>Source: https://www.cato.org/blog/sexist-price-discrimination</a:t>
            </a:r>
          </a:p>
        </p:txBody>
      </p:sp>
      <p:grpSp>
        <p:nvGrpSpPr>
          <p:cNvPr id="6" name="Group 5">
            <a:extLst>
              <a:ext uri="{FF2B5EF4-FFF2-40B4-BE49-F238E27FC236}">
                <a16:creationId xmlns:a16="http://schemas.microsoft.com/office/drawing/2014/main" id="{05FF75AD-41A4-7670-2F42-EDAA7174D5FB}"/>
              </a:ext>
            </a:extLst>
          </p:cNvPr>
          <p:cNvGrpSpPr/>
          <p:nvPr/>
        </p:nvGrpSpPr>
        <p:grpSpPr>
          <a:xfrm>
            <a:off x="706582" y="1032336"/>
            <a:ext cx="10751127" cy="859934"/>
            <a:chOff x="706582" y="1032336"/>
            <a:chExt cx="10751127" cy="859934"/>
          </a:xfrm>
        </p:grpSpPr>
        <p:sp>
          <p:nvSpPr>
            <p:cNvPr id="7" name="Rectangle 6">
              <a:extLst>
                <a:ext uri="{FF2B5EF4-FFF2-40B4-BE49-F238E27FC236}">
                  <a16:creationId xmlns:a16="http://schemas.microsoft.com/office/drawing/2014/main" id="{801BFE3C-CE1E-2C05-0C10-7901CC528D42}"/>
                </a:ext>
              </a:extLst>
            </p:cNvPr>
            <p:cNvSpPr/>
            <p:nvPr/>
          </p:nvSpPr>
          <p:spPr>
            <a:xfrm>
              <a:off x="2997967" y="1032336"/>
              <a:ext cx="8459742" cy="461665"/>
            </a:xfrm>
            <a:prstGeom prst="rect">
              <a:avLst/>
            </a:prstGeom>
          </p:spPr>
          <p:txBody>
            <a:bodyPr wrap="square">
              <a:spAutoFit/>
            </a:bodyPr>
            <a:lstStyle/>
            <a:p>
              <a:pPr marL="285750" indent="-285750">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Men’s clothes and shoes more standardized than women’s?</a:t>
              </a:r>
              <a:endParaRPr lang="en-US" sz="2400" dirty="0">
                <a:latin typeface="Source Sans Pro" panose="020B0503030403020204" pitchFamily="34" charset="0"/>
                <a:cs typeface="Calibri" panose="020F0502020204030204" pitchFamily="34" charset="0"/>
              </a:endParaRPr>
            </a:p>
          </p:txBody>
        </p:sp>
        <p:sp>
          <p:nvSpPr>
            <p:cNvPr id="8" name="Rounded Rectangle 7">
              <a:extLst>
                <a:ext uri="{FF2B5EF4-FFF2-40B4-BE49-F238E27FC236}">
                  <a16:creationId xmlns:a16="http://schemas.microsoft.com/office/drawing/2014/main" id="{D91D145B-D613-4C01-D298-3DC59B4B9379}"/>
                </a:ext>
              </a:extLst>
            </p:cNvPr>
            <p:cNvSpPr/>
            <p:nvPr/>
          </p:nvSpPr>
          <p:spPr>
            <a:xfrm>
              <a:off x="706582" y="1032336"/>
              <a:ext cx="2291385" cy="859934"/>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Source Sans Pro" panose="020B0503030403020204" pitchFamily="34" charset="0"/>
                </a:rPr>
                <a:t>Different </a:t>
              </a:r>
              <a:r>
                <a:rPr lang="en-US" sz="2400" b="1" dirty="0">
                  <a:solidFill>
                    <a:schemeClr val="bg1"/>
                  </a:solidFill>
                  <a:latin typeface="Source Sans Pro" panose="020B0503030403020204" pitchFamily="34" charset="0"/>
                </a:rPr>
                <a:t>cost</a:t>
              </a:r>
              <a:r>
                <a:rPr lang="en-US" sz="2400" dirty="0">
                  <a:solidFill>
                    <a:schemeClr val="bg1"/>
                  </a:solidFill>
                  <a:latin typeface="Source Sans Pro" panose="020B0503030403020204" pitchFamily="34" charset="0"/>
                </a:rPr>
                <a:t> of production?</a:t>
              </a:r>
            </a:p>
          </p:txBody>
        </p:sp>
      </p:grpSp>
      <p:grpSp>
        <p:nvGrpSpPr>
          <p:cNvPr id="9" name="Group 8">
            <a:extLst>
              <a:ext uri="{FF2B5EF4-FFF2-40B4-BE49-F238E27FC236}">
                <a16:creationId xmlns:a16="http://schemas.microsoft.com/office/drawing/2014/main" id="{E77C6073-3D29-F325-A6DC-99451EC0B894}"/>
              </a:ext>
            </a:extLst>
          </p:cNvPr>
          <p:cNvGrpSpPr/>
          <p:nvPr/>
        </p:nvGrpSpPr>
        <p:grpSpPr>
          <a:xfrm>
            <a:off x="706582" y="2017846"/>
            <a:ext cx="10751127" cy="1200329"/>
            <a:chOff x="706582" y="2130631"/>
            <a:chExt cx="10751127" cy="1200329"/>
          </a:xfrm>
        </p:grpSpPr>
        <p:sp>
          <p:nvSpPr>
            <p:cNvPr id="10" name="Rectangle 9">
              <a:extLst>
                <a:ext uri="{FF2B5EF4-FFF2-40B4-BE49-F238E27FC236}">
                  <a16:creationId xmlns:a16="http://schemas.microsoft.com/office/drawing/2014/main" id="{AC2E09C4-D845-C5E8-EEE3-7AA8F954C9CA}"/>
                </a:ext>
              </a:extLst>
            </p:cNvPr>
            <p:cNvSpPr/>
            <p:nvPr/>
          </p:nvSpPr>
          <p:spPr>
            <a:xfrm>
              <a:off x="2997967" y="2130631"/>
              <a:ext cx="8459742" cy="1200329"/>
            </a:xfrm>
            <a:prstGeom prst="rect">
              <a:avLst/>
            </a:prstGeom>
          </p:spPr>
          <p:txBody>
            <a:bodyPr wrap="square">
              <a:spAutoFit/>
            </a:bodyPr>
            <a:lstStyle/>
            <a:p>
              <a:pPr marL="285750" indent="-285750">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Color/design part of the product</a:t>
              </a:r>
            </a:p>
            <a:p>
              <a:pPr marL="285750" indent="-285750">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Women place inherent value on some products being branded as “for women” or else enjoy the scent, colors, etc.?</a:t>
              </a:r>
              <a:endParaRPr lang="en-US" sz="2400" dirty="0">
                <a:latin typeface="Source Sans Pro" panose="020B0503030403020204" pitchFamily="34" charset="0"/>
                <a:cs typeface="Calibri" panose="020F0502020204030204" pitchFamily="34" charset="0"/>
              </a:endParaRPr>
            </a:p>
          </p:txBody>
        </p:sp>
        <p:sp>
          <p:nvSpPr>
            <p:cNvPr id="11" name="Rounded Rectangle 10">
              <a:extLst>
                <a:ext uri="{FF2B5EF4-FFF2-40B4-BE49-F238E27FC236}">
                  <a16:creationId xmlns:a16="http://schemas.microsoft.com/office/drawing/2014/main" id="{A7A98D67-F7AE-385A-B269-07A5E4CAB08D}"/>
                </a:ext>
              </a:extLst>
            </p:cNvPr>
            <p:cNvSpPr/>
            <p:nvPr/>
          </p:nvSpPr>
          <p:spPr>
            <a:xfrm>
              <a:off x="706582" y="2130631"/>
              <a:ext cx="2291385" cy="859934"/>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Branding</a:t>
              </a:r>
              <a:r>
                <a:rPr lang="en-US" sz="2400" dirty="0">
                  <a:solidFill>
                    <a:schemeClr val="bg1"/>
                  </a:solidFill>
                  <a:latin typeface="Source Sans Pro" panose="020B0503030403020204" pitchFamily="34" charset="0"/>
                </a:rPr>
                <a:t> and design?</a:t>
              </a:r>
            </a:p>
          </p:txBody>
        </p:sp>
      </p:grpSp>
      <p:grpSp>
        <p:nvGrpSpPr>
          <p:cNvPr id="12" name="Group 11">
            <a:extLst>
              <a:ext uri="{FF2B5EF4-FFF2-40B4-BE49-F238E27FC236}">
                <a16:creationId xmlns:a16="http://schemas.microsoft.com/office/drawing/2014/main" id="{48B1A2E4-C695-0DE7-3A92-924E491BD2D4}"/>
              </a:ext>
            </a:extLst>
          </p:cNvPr>
          <p:cNvGrpSpPr/>
          <p:nvPr/>
        </p:nvGrpSpPr>
        <p:grpSpPr>
          <a:xfrm>
            <a:off x="706582" y="3260623"/>
            <a:ext cx="10751127" cy="1200330"/>
            <a:chOff x="706582" y="3292322"/>
            <a:chExt cx="10751127" cy="1200330"/>
          </a:xfrm>
        </p:grpSpPr>
        <p:sp>
          <p:nvSpPr>
            <p:cNvPr id="13" name="Rectangle 12">
              <a:extLst>
                <a:ext uri="{FF2B5EF4-FFF2-40B4-BE49-F238E27FC236}">
                  <a16:creationId xmlns:a16="http://schemas.microsoft.com/office/drawing/2014/main" id="{5382BA25-6957-A87C-73CC-73B8FF3217E1}"/>
                </a:ext>
              </a:extLst>
            </p:cNvPr>
            <p:cNvSpPr/>
            <p:nvPr/>
          </p:nvSpPr>
          <p:spPr>
            <a:xfrm>
              <a:off x="2997967" y="3292323"/>
              <a:ext cx="8459742" cy="1200329"/>
            </a:xfrm>
            <a:prstGeom prst="rect">
              <a:avLst/>
            </a:prstGeom>
          </p:spPr>
          <p:txBody>
            <a:bodyPr wrap="square">
              <a:spAutoFit/>
            </a:bodyPr>
            <a:lstStyle/>
            <a:p>
              <a:pPr marL="285750" indent="-285750">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Women may buy fewer units of any given brand relative to men?</a:t>
              </a:r>
            </a:p>
            <a:p>
              <a:pPr marL="742950" lvl="1" indent="-285750">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For variety?</a:t>
              </a:r>
              <a:endParaRPr lang="en-US" sz="2400" dirty="0">
                <a:latin typeface="Source Sans Pro" panose="020B0503030403020204" pitchFamily="34" charset="0"/>
                <a:cs typeface="Calibri" panose="020F0502020204030204" pitchFamily="34" charset="0"/>
              </a:endParaRPr>
            </a:p>
          </p:txBody>
        </p:sp>
        <p:sp>
          <p:nvSpPr>
            <p:cNvPr id="14" name="Rounded Rectangle 13">
              <a:extLst>
                <a:ext uri="{FF2B5EF4-FFF2-40B4-BE49-F238E27FC236}">
                  <a16:creationId xmlns:a16="http://schemas.microsoft.com/office/drawing/2014/main" id="{9091E3A9-E227-2095-B9F4-E5564B0DDA50}"/>
                </a:ext>
              </a:extLst>
            </p:cNvPr>
            <p:cNvSpPr/>
            <p:nvPr/>
          </p:nvSpPr>
          <p:spPr>
            <a:xfrm>
              <a:off x="706582" y="3292322"/>
              <a:ext cx="2291385" cy="859934"/>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Quantity</a:t>
              </a:r>
              <a:r>
                <a:rPr lang="en-US" sz="2400" dirty="0">
                  <a:solidFill>
                    <a:schemeClr val="bg1"/>
                  </a:solidFill>
                  <a:latin typeface="Source Sans Pro" panose="020B0503030403020204" pitchFamily="34" charset="0"/>
                </a:rPr>
                <a:t> differences?</a:t>
              </a:r>
            </a:p>
          </p:txBody>
        </p:sp>
      </p:grpSp>
      <p:grpSp>
        <p:nvGrpSpPr>
          <p:cNvPr id="15" name="Group 14">
            <a:extLst>
              <a:ext uri="{FF2B5EF4-FFF2-40B4-BE49-F238E27FC236}">
                <a16:creationId xmlns:a16="http://schemas.microsoft.com/office/drawing/2014/main" id="{4D36AF52-F544-4FCD-D86C-7B9E7EB0F58C}"/>
              </a:ext>
            </a:extLst>
          </p:cNvPr>
          <p:cNvGrpSpPr/>
          <p:nvPr/>
        </p:nvGrpSpPr>
        <p:grpSpPr>
          <a:xfrm>
            <a:off x="706582" y="4503401"/>
            <a:ext cx="10751127" cy="859934"/>
            <a:chOff x="706582" y="4390617"/>
            <a:chExt cx="10751127" cy="859934"/>
          </a:xfrm>
        </p:grpSpPr>
        <p:sp>
          <p:nvSpPr>
            <p:cNvPr id="16" name="Rectangle 15">
              <a:extLst>
                <a:ext uri="{FF2B5EF4-FFF2-40B4-BE49-F238E27FC236}">
                  <a16:creationId xmlns:a16="http://schemas.microsoft.com/office/drawing/2014/main" id="{78F422D9-9DDB-C089-6BFC-C361783C8F9F}"/>
                </a:ext>
              </a:extLst>
            </p:cNvPr>
            <p:cNvSpPr/>
            <p:nvPr/>
          </p:nvSpPr>
          <p:spPr>
            <a:xfrm>
              <a:off x="2997967" y="4390618"/>
              <a:ext cx="8459742" cy="830997"/>
            </a:xfrm>
            <a:prstGeom prst="rect">
              <a:avLst/>
            </a:prstGeom>
          </p:spPr>
          <p:txBody>
            <a:bodyPr wrap="square">
              <a:spAutoFit/>
            </a:bodyPr>
            <a:lstStyle/>
            <a:p>
              <a:pPr marL="285750" indent="-285750">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Women might have a relative taste for variety and quality on surveyed products?</a:t>
              </a:r>
              <a:endParaRPr lang="en-US" sz="2400" dirty="0">
                <a:latin typeface="Source Sans Pro" panose="020B0503030403020204" pitchFamily="34" charset="0"/>
                <a:cs typeface="Calibri" panose="020F0502020204030204" pitchFamily="34" charset="0"/>
              </a:endParaRPr>
            </a:p>
          </p:txBody>
        </p:sp>
        <p:sp>
          <p:nvSpPr>
            <p:cNvPr id="17" name="Rounded Rectangle 16">
              <a:extLst>
                <a:ext uri="{FF2B5EF4-FFF2-40B4-BE49-F238E27FC236}">
                  <a16:creationId xmlns:a16="http://schemas.microsoft.com/office/drawing/2014/main" id="{74661F2B-8825-3279-6075-1B12E7D1249A}"/>
                </a:ext>
              </a:extLst>
            </p:cNvPr>
            <p:cNvSpPr/>
            <p:nvPr/>
          </p:nvSpPr>
          <p:spPr>
            <a:xfrm>
              <a:off x="706582" y="4390617"/>
              <a:ext cx="2291385" cy="859934"/>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Standardized</a:t>
              </a:r>
              <a:r>
                <a:rPr lang="en-US" sz="2400" dirty="0">
                  <a:solidFill>
                    <a:schemeClr val="bg1"/>
                  </a:solidFill>
                  <a:latin typeface="Source Sans Pro" panose="020B0503030403020204" pitchFamily="34" charset="0"/>
                </a:rPr>
                <a:t> products?</a:t>
              </a:r>
            </a:p>
          </p:txBody>
        </p:sp>
      </p:grpSp>
      <p:grpSp>
        <p:nvGrpSpPr>
          <p:cNvPr id="18" name="Group 17">
            <a:extLst>
              <a:ext uri="{FF2B5EF4-FFF2-40B4-BE49-F238E27FC236}">
                <a16:creationId xmlns:a16="http://schemas.microsoft.com/office/drawing/2014/main" id="{B0D01830-D17F-0760-EE52-6433988B85A4}"/>
              </a:ext>
            </a:extLst>
          </p:cNvPr>
          <p:cNvGrpSpPr/>
          <p:nvPr/>
        </p:nvGrpSpPr>
        <p:grpSpPr>
          <a:xfrm>
            <a:off x="706582" y="5488911"/>
            <a:ext cx="10751127" cy="859934"/>
            <a:chOff x="706582" y="5488911"/>
            <a:chExt cx="10751127" cy="859934"/>
          </a:xfrm>
        </p:grpSpPr>
        <p:sp>
          <p:nvSpPr>
            <p:cNvPr id="19" name="Rectangle 18">
              <a:extLst>
                <a:ext uri="{FF2B5EF4-FFF2-40B4-BE49-F238E27FC236}">
                  <a16:creationId xmlns:a16="http://schemas.microsoft.com/office/drawing/2014/main" id="{2DFE8AD1-4A23-2B98-6EE0-88AC94E1883F}"/>
                </a:ext>
              </a:extLst>
            </p:cNvPr>
            <p:cNvSpPr/>
            <p:nvPr/>
          </p:nvSpPr>
          <p:spPr>
            <a:xfrm>
              <a:off x="2997967" y="5488912"/>
              <a:ext cx="8459742" cy="830997"/>
            </a:xfrm>
            <a:prstGeom prst="rect">
              <a:avLst/>
            </a:prstGeom>
          </p:spPr>
          <p:txBody>
            <a:bodyPr wrap="square">
              <a:spAutoFit/>
            </a:bodyPr>
            <a:lstStyle/>
            <a:p>
              <a:pPr marL="285750" indent="-285750">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Athletic shoes</a:t>
              </a:r>
            </a:p>
            <a:p>
              <a:pPr marL="285750" indent="-285750">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Free cover at a bar</a:t>
              </a:r>
              <a:endParaRPr lang="en-US" sz="2400" dirty="0">
                <a:latin typeface="Source Sans Pro" panose="020B0503030403020204" pitchFamily="34" charset="0"/>
                <a:cs typeface="Calibri" panose="020F0502020204030204" pitchFamily="34" charset="0"/>
              </a:endParaRPr>
            </a:p>
          </p:txBody>
        </p:sp>
        <p:sp>
          <p:nvSpPr>
            <p:cNvPr id="24" name="Rounded Rectangle 23">
              <a:extLst>
                <a:ext uri="{FF2B5EF4-FFF2-40B4-BE49-F238E27FC236}">
                  <a16:creationId xmlns:a16="http://schemas.microsoft.com/office/drawing/2014/main" id="{A10F2AA3-4C75-5BA3-72BB-499C99DDEBA9}"/>
                </a:ext>
              </a:extLst>
            </p:cNvPr>
            <p:cNvSpPr/>
            <p:nvPr/>
          </p:nvSpPr>
          <p:spPr>
            <a:xfrm>
              <a:off x="706582" y="5488911"/>
              <a:ext cx="2291385" cy="859934"/>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Source Sans Pro" panose="020B0503030403020204" pitchFamily="34" charset="0"/>
                </a:rPr>
                <a:t>Women are </a:t>
              </a:r>
              <a:r>
                <a:rPr lang="en-US" sz="2400" b="1" dirty="0">
                  <a:solidFill>
                    <a:schemeClr val="bg1"/>
                  </a:solidFill>
                  <a:latin typeface="Source Sans Pro" panose="020B0503030403020204" pitchFamily="34" charset="0"/>
                </a:rPr>
                <a:t>beneficiaries</a:t>
              </a:r>
              <a:r>
                <a:rPr lang="en-US" sz="2400" dirty="0">
                  <a:solidFill>
                    <a:schemeClr val="bg1"/>
                  </a:solidFill>
                  <a:latin typeface="Source Sans Pro" panose="020B0503030403020204" pitchFamily="34" charset="0"/>
                </a:rPr>
                <a:t>?</a:t>
              </a:r>
            </a:p>
          </p:txBody>
        </p:sp>
      </p:grpSp>
      <p:sp>
        <p:nvSpPr>
          <p:cNvPr id="5" name="5-Point Star 4">
            <a:extLst>
              <a:ext uri="{FF2B5EF4-FFF2-40B4-BE49-F238E27FC236}">
                <a16:creationId xmlns:a16="http://schemas.microsoft.com/office/drawing/2014/main" id="{ADA97394-BA04-D1C8-0AE7-76C9C73FC8EC}"/>
              </a:ext>
            </a:extLst>
          </p:cNvPr>
          <p:cNvSpPr/>
          <p:nvPr/>
        </p:nvSpPr>
        <p:spPr>
          <a:xfrm>
            <a:off x="13017910"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1098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en-US" altLang="en-US" dirty="0"/>
              <a:t>Three requirements for price discrimination</a:t>
            </a:r>
          </a:p>
        </p:txBody>
      </p:sp>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369FE035-8A22-42FE-A721-0604F95D6851}" type="slidenum">
              <a:rPr lang="en-US" altLang="en-US" sz="1400">
                <a:latin typeface="Source Sans Pro" panose="020B0503030403020204" pitchFamily="34" charset="0"/>
                <a:ea typeface="Source Sans Pro" panose="020B0503030403020204" pitchFamily="34" charset="0"/>
              </a:rPr>
              <a:pPr eaLnBrk="1" hangingPunct="1"/>
              <a:t>31</a:t>
            </a:fld>
            <a:endParaRPr lang="en-US" altLang="en-US" sz="1400" dirty="0">
              <a:latin typeface="Source Sans Pro" panose="020B0503030403020204" pitchFamily="34" charset="0"/>
              <a:ea typeface="Source Sans Pro" panose="020B0503030403020204" pitchFamily="34" charset="0"/>
            </a:endParaRPr>
          </a:p>
        </p:txBody>
      </p:sp>
      <p:grpSp>
        <p:nvGrpSpPr>
          <p:cNvPr id="2" name="Group 1">
            <a:extLst>
              <a:ext uri="{FF2B5EF4-FFF2-40B4-BE49-F238E27FC236}">
                <a16:creationId xmlns:a16="http://schemas.microsoft.com/office/drawing/2014/main" id="{56A71C3C-D3F8-BC42-C58B-C27D7496AA55}"/>
              </a:ext>
            </a:extLst>
          </p:cNvPr>
          <p:cNvGrpSpPr/>
          <p:nvPr/>
        </p:nvGrpSpPr>
        <p:grpSpPr>
          <a:xfrm>
            <a:off x="1164294" y="1011562"/>
            <a:ext cx="9909089" cy="1143000"/>
            <a:chOff x="1164294" y="1038994"/>
            <a:chExt cx="9909089" cy="1143000"/>
          </a:xfrm>
        </p:grpSpPr>
        <p:grpSp>
          <p:nvGrpSpPr>
            <p:cNvPr id="3" name="Group 2">
              <a:extLst>
                <a:ext uri="{FF2B5EF4-FFF2-40B4-BE49-F238E27FC236}">
                  <a16:creationId xmlns:a16="http://schemas.microsoft.com/office/drawing/2014/main" id="{52731E89-3FE2-A5BA-9EB2-EC3F485DBA05}"/>
                </a:ext>
              </a:extLst>
            </p:cNvPr>
            <p:cNvGrpSpPr/>
            <p:nvPr/>
          </p:nvGrpSpPr>
          <p:grpSpPr>
            <a:xfrm>
              <a:off x="1368053" y="1038994"/>
              <a:ext cx="9705330" cy="1143000"/>
              <a:chOff x="1368053" y="1038994"/>
              <a:chExt cx="9705330" cy="1143000"/>
            </a:xfrm>
          </p:grpSpPr>
          <p:sp>
            <p:nvSpPr>
              <p:cNvPr id="5" name="Rounded Rectangle 4">
                <a:extLst>
                  <a:ext uri="{FF2B5EF4-FFF2-40B4-BE49-F238E27FC236}">
                    <a16:creationId xmlns:a16="http://schemas.microsoft.com/office/drawing/2014/main" id="{5B657CE3-57AC-B23B-49E7-E298FF816F6D}"/>
                  </a:ext>
                </a:extLst>
              </p:cNvPr>
              <p:cNvSpPr/>
              <p:nvPr/>
            </p:nvSpPr>
            <p:spPr>
              <a:xfrm>
                <a:off x="2816716" y="1129231"/>
                <a:ext cx="8256667" cy="962526"/>
              </a:xfrm>
              <a:prstGeom prst="roundRect">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sp>
            <p:nvSpPr>
              <p:cNvPr id="6" name="Rounded Rectangle 5">
                <a:extLst>
                  <a:ext uri="{FF2B5EF4-FFF2-40B4-BE49-F238E27FC236}">
                    <a16:creationId xmlns:a16="http://schemas.microsoft.com/office/drawing/2014/main" id="{F7677975-3A82-0448-B653-0509C2F8A998}"/>
                  </a:ext>
                </a:extLst>
              </p:cNvPr>
              <p:cNvSpPr/>
              <p:nvPr/>
            </p:nvSpPr>
            <p:spPr>
              <a:xfrm>
                <a:off x="1368053" y="1038994"/>
                <a:ext cx="2651760" cy="114300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sp>
            <p:nvSpPr>
              <p:cNvPr id="7" name="Rounded Rectangle 6">
                <a:extLst>
                  <a:ext uri="{FF2B5EF4-FFF2-40B4-BE49-F238E27FC236}">
                    <a16:creationId xmlns:a16="http://schemas.microsoft.com/office/drawing/2014/main" id="{C8F3966E-68DE-6C54-8BB2-80CF10820D95}"/>
                  </a:ext>
                </a:extLst>
              </p:cNvPr>
              <p:cNvSpPr/>
              <p:nvPr/>
            </p:nvSpPr>
            <p:spPr>
              <a:xfrm>
                <a:off x="1459494" y="1129231"/>
                <a:ext cx="2464548" cy="962526"/>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kern="0" dirty="0">
                    <a:solidFill>
                      <a:schemeClr val="bg1"/>
                    </a:solidFill>
                    <a:latin typeface="Source Sans Pro" panose="020B0503030403020204" pitchFamily="34" charset="0"/>
                  </a:rPr>
                  <a:t>Firm must have </a:t>
                </a:r>
                <a:r>
                  <a:rPr lang="en-US" altLang="en-US" sz="2400" b="1" kern="0" dirty="0">
                    <a:solidFill>
                      <a:schemeClr val="bg1"/>
                    </a:solidFill>
                    <a:latin typeface="Source Sans Pro" panose="020B0503030403020204" pitchFamily="34" charset="0"/>
                  </a:rPr>
                  <a:t>market power</a:t>
                </a:r>
                <a:endParaRPr lang="en-US" sz="2400" dirty="0">
                  <a:solidFill>
                    <a:schemeClr val="bg1"/>
                  </a:solidFill>
                  <a:latin typeface="Source Sans Pro" panose="020B0503030403020204" pitchFamily="34" charset="0"/>
                </a:endParaRPr>
              </a:p>
            </p:txBody>
          </p:sp>
          <p:sp>
            <p:nvSpPr>
              <p:cNvPr id="8" name="Rectangle 3">
                <a:extLst>
                  <a:ext uri="{FF2B5EF4-FFF2-40B4-BE49-F238E27FC236}">
                    <a16:creationId xmlns:a16="http://schemas.microsoft.com/office/drawing/2014/main" id="{24F131E4-C968-0124-D1ED-622E5D1DBA4C}"/>
                  </a:ext>
                </a:extLst>
              </p:cNvPr>
              <p:cNvSpPr txBox="1">
                <a:spLocks noChangeArrowheads="1"/>
              </p:cNvSpPr>
              <p:nvPr/>
            </p:nvSpPr>
            <p:spPr bwMode="auto">
              <a:xfrm>
                <a:off x="4139457" y="1194996"/>
                <a:ext cx="56540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a:spcBef>
                    <a:spcPct val="50000"/>
                  </a:spcBef>
                </a:pPr>
                <a:r>
                  <a:rPr lang="en-US" altLang="en-US" sz="2400" kern="0" dirty="0">
                    <a:latin typeface="Source Sans Pro" panose="020B0503030403020204" pitchFamily="34" charset="0"/>
                    <a:ea typeface="ＭＳ Ｐゴシック" pitchFamily="34" charset="-128"/>
                  </a:rPr>
                  <a:t>Competitive firms cannot charge different prices for the same product</a:t>
                </a:r>
              </a:p>
            </p:txBody>
          </p:sp>
        </p:grpSp>
        <p:sp>
          <p:nvSpPr>
            <p:cNvPr id="4" name="Oval 3">
              <a:extLst>
                <a:ext uri="{FF2B5EF4-FFF2-40B4-BE49-F238E27FC236}">
                  <a16:creationId xmlns:a16="http://schemas.microsoft.com/office/drawing/2014/main" id="{67F66F1F-F2AF-1B17-6AA8-858AF1476623}"/>
                </a:ext>
              </a:extLst>
            </p:cNvPr>
            <p:cNvSpPr/>
            <p:nvPr/>
          </p:nvSpPr>
          <p:spPr>
            <a:xfrm>
              <a:off x="1164294" y="1381894"/>
              <a:ext cx="457200" cy="457200"/>
            </a:xfrm>
            <a:prstGeom prst="ellipse">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Source Sans Pro" panose="020B0503030403020204" pitchFamily="34" charset="0"/>
                </a:rPr>
                <a:t>1</a:t>
              </a:r>
            </a:p>
          </p:txBody>
        </p:sp>
      </p:grpSp>
      <p:grpSp>
        <p:nvGrpSpPr>
          <p:cNvPr id="9" name="Group 8">
            <a:extLst>
              <a:ext uri="{FF2B5EF4-FFF2-40B4-BE49-F238E27FC236}">
                <a16:creationId xmlns:a16="http://schemas.microsoft.com/office/drawing/2014/main" id="{6895D959-F49F-34BE-1310-FDF5AA1F8A7F}"/>
              </a:ext>
            </a:extLst>
          </p:cNvPr>
          <p:cNvGrpSpPr/>
          <p:nvPr/>
        </p:nvGrpSpPr>
        <p:grpSpPr>
          <a:xfrm>
            <a:off x="1102471" y="2217213"/>
            <a:ext cx="9970912" cy="2212848"/>
            <a:chOff x="1102471" y="2244645"/>
            <a:chExt cx="9970912" cy="2212848"/>
          </a:xfrm>
        </p:grpSpPr>
        <p:grpSp>
          <p:nvGrpSpPr>
            <p:cNvPr id="10" name="Group 9">
              <a:extLst>
                <a:ext uri="{FF2B5EF4-FFF2-40B4-BE49-F238E27FC236}">
                  <a16:creationId xmlns:a16="http://schemas.microsoft.com/office/drawing/2014/main" id="{99339312-3F7D-F408-604B-99374F68B56F}"/>
                </a:ext>
              </a:extLst>
            </p:cNvPr>
            <p:cNvGrpSpPr/>
            <p:nvPr/>
          </p:nvGrpSpPr>
          <p:grpSpPr>
            <a:xfrm>
              <a:off x="1368053" y="2244645"/>
              <a:ext cx="9705330" cy="2212848"/>
              <a:chOff x="1368053" y="2244645"/>
              <a:chExt cx="9705330" cy="2212848"/>
            </a:xfrm>
          </p:grpSpPr>
          <p:sp>
            <p:nvSpPr>
              <p:cNvPr id="12" name="Rounded Rectangle 11">
                <a:extLst>
                  <a:ext uri="{FF2B5EF4-FFF2-40B4-BE49-F238E27FC236}">
                    <a16:creationId xmlns:a16="http://schemas.microsoft.com/office/drawing/2014/main" id="{19794D67-4CD3-EEE0-6892-DCCC0C27536E}"/>
                  </a:ext>
                </a:extLst>
              </p:cNvPr>
              <p:cNvSpPr/>
              <p:nvPr/>
            </p:nvSpPr>
            <p:spPr>
              <a:xfrm>
                <a:off x="2754893" y="2334236"/>
                <a:ext cx="8318490" cy="2033667"/>
              </a:xfrm>
              <a:prstGeom prst="roundRect">
                <a:avLst>
                  <a:gd name="adj" fmla="val 10055"/>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sp>
            <p:nvSpPr>
              <p:cNvPr id="13" name="Rounded Rectangle 12">
                <a:extLst>
                  <a:ext uri="{FF2B5EF4-FFF2-40B4-BE49-F238E27FC236}">
                    <a16:creationId xmlns:a16="http://schemas.microsoft.com/office/drawing/2014/main" id="{0E9E79C5-B8A0-2609-EC9C-EA3C4822ED65}"/>
                  </a:ext>
                </a:extLst>
              </p:cNvPr>
              <p:cNvSpPr/>
              <p:nvPr/>
            </p:nvSpPr>
            <p:spPr>
              <a:xfrm>
                <a:off x="1368053" y="2244645"/>
                <a:ext cx="2651760" cy="2212848"/>
              </a:xfrm>
              <a:prstGeom prst="roundRect">
                <a:avLst>
                  <a:gd name="adj" fmla="val 1059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sp>
            <p:nvSpPr>
              <p:cNvPr id="14" name="Rounded Rectangle 13">
                <a:extLst>
                  <a:ext uri="{FF2B5EF4-FFF2-40B4-BE49-F238E27FC236}">
                    <a16:creationId xmlns:a16="http://schemas.microsoft.com/office/drawing/2014/main" id="{B1E2072B-1EB8-908C-17D1-12CE94D7F04D}"/>
                  </a:ext>
                </a:extLst>
              </p:cNvPr>
              <p:cNvSpPr/>
              <p:nvPr/>
            </p:nvSpPr>
            <p:spPr>
              <a:xfrm>
                <a:off x="1459494" y="2334236"/>
                <a:ext cx="2464548" cy="2033667"/>
              </a:xfrm>
              <a:prstGeom prst="roundRect">
                <a:avLst>
                  <a:gd name="adj" fmla="val 10055"/>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en-US" sz="2400" kern="0" dirty="0">
                    <a:solidFill>
                      <a:schemeClr val="bg1"/>
                    </a:solidFill>
                    <a:latin typeface="Source Sans Pro" panose="020B0503030403020204" pitchFamily="34" charset="0"/>
                  </a:rPr>
                  <a:t>Firm can identify at least two market segments with </a:t>
                </a:r>
                <a:r>
                  <a:rPr lang="en-US" altLang="en-US" sz="2400" b="1" kern="0" dirty="0">
                    <a:solidFill>
                      <a:schemeClr val="bg1"/>
                    </a:solidFill>
                    <a:latin typeface="Source Sans Pro" panose="020B0503030403020204" pitchFamily="34" charset="0"/>
                  </a:rPr>
                  <a:t>different elasticities</a:t>
                </a:r>
              </a:p>
            </p:txBody>
          </p:sp>
          <p:sp>
            <p:nvSpPr>
              <p:cNvPr id="15" name="Rectangle 3">
                <a:extLst>
                  <a:ext uri="{FF2B5EF4-FFF2-40B4-BE49-F238E27FC236}">
                    <a16:creationId xmlns:a16="http://schemas.microsoft.com/office/drawing/2014/main" id="{7E8965DD-BBF4-4A84-E290-B8C2512A05FF}"/>
                  </a:ext>
                </a:extLst>
              </p:cNvPr>
              <p:cNvSpPr txBox="1">
                <a:spLocks noChangeArrowheads="1"/>
              </p:cNvSpPr>
              <p:nvPr/>
            </p:nvSpPr>
            <p:spPr bwMode="auto">
              <a:xfrm>
                <a:off x="4077634" y="2874977"/>
                <a:ext cx="56540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a:spcBef>
                    <a:spcPct val="50000"/>
                  </a:spcBef>
                </a:pPr>
                <a:r>
                  <a:rPr lang="en-US" altLang="en-US" sz="2400" kern="0" dirty="0">
                    <a:latin typeface="Source Sans Pro" panose="020B0503030403020204" pitchFamily="34" charset="0"/>
                    <a:ea typeface="ＭＳ Ｐゴシック" pitchFamily="34" charset="-128"/>
                  </a:rPr>
                  <a:t>Depends on consumers’ personal characteristics and preferences</a:t>
                </a:r>
              </a:p>
            </p:txBody>
          </p:sp>
        </p:grpSp>
        <p:sp>
          <p:nvSpPr>
            <p:cNvPr id="11" name="Oval 10">
              <a:extLst>
                <a:ext uri="{FF2B5EF4-FFF2-40B4-BE49-F238E27FC236}">
                  <a16:creationId xmlns:a16="http://schemas.microsoft.com/office/drawing/2014/main" id="{5C54D08F-B856-E008-494A-545BE7C6BD04}"/>
                </a:ext>
              </a:extLst>
            </p:cNvPr>
            <p:cNvSpPr/>
            <p:nvPr/>
          </p:nvSpPr>
          <p:spPr>
            <a:xfrm>
              <a:off x="1102471" y="3121318"/>
              <a:ext cx="457200" cy="457200"/>
            </a:xfrm>
            <a:prstGeom prst="ellipse">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Source Sans Pro" panose="020B0503030403020204" pitchFamily="34" charset="0"/>
                </a:rPr>
                <a:t>2</a:t>
              </a:r>
            </a:p>
          </p:txBody>
        </p:sp>
      </p:grpSp>
      <p:grpSp>
        <p:nvGrpSpPr>
          <p:cNvPr id="16" name="Group 15">
            <a:extLst>
              <a:ext uri="{FF2B5EF4-FFF2-40B4-BE49-F238E27FC236}">
                <a16:creationId xmlns:a16="http://schemas.microsoft.com/office/drawing/2014/main" id="{C3285282-B388-E26B-1E0C-62377045E53E}"/>
              </a:ext>
            </a:extLst>
          </p:cNvPr>
          <p:cNvGrpSpPr/>
          <p:nvPr/>
        </p:nvGrpSpPr>
        <p:grpSpPr>
          <a:xfrm>
            <a:off x="1164294" y="4426434"/>
            <a:ext cx="9909089" cy="1911096"/>
            <a:chOff x="1164294" y="4453866"/>
            <a:chExt cx="9909089" cy="1911096"/>
          </a:xfrm>
        </p:grpSpPr>
        <p:grpSp>
          <p:nvGrpSpPr>
            <p:cNvPr id="17" name="Group 16">
              <a:extLst>
                <a:ext uri="{FF2B5EF4-FFF2-40B4-BE49-F238E27FC236}">
                  <a16:creationId xmlns:a16="http://schemas.microsoft.com/office/drawing/2014/main" id="{5F72702B-C98D-89AA-B272-7C95756ABCA3}"/>
                </a:ext>
              </a:extLst>
            </p:cNvPr>
            <p:cNvGrpSpPr/>
            <p:nvPr/>
          </p:nvGrpSpPr>
          <p:grpSpPr>
            <a:xfrm>
              <a:off x="1365888" y="4453866"/>
              <a:ext cx="9707495" cy="1911096"/>
              <a:chOff x="1365888" y="4453866"/>
              <a:chExt cx="9707495" cy="1911096"/>
            </a:xfrm>
          </p:grpSpPr>
          <p:sp>
            <p:nvSpPr>
              <p:cNvPr id="19" name="Rounded Rectangle 18">
                <a:extLst>
                  <a:ext uri="{FF2B5EF4-FFF2-40B4-BE49-F238E27FC236}">
                    <a16:creationId xmlns:a16="http://schemas.microsoft.com/office/drawing/2014/main" id="{7A731315-67D2-2618-1225-E4775896F0C5}"/>
                  </a:ext>
                </a:extLst>
              </p:cNvPr>
              <p:cNvSpPr/>
              <p:nvPr/>
            </p:nvSpPr>
            <p:spPr>
              <a:xfrm>
                <a:off x="2816716" y="4544359"/>
                <a:ext cx="8256667" cy="1730111"/>
              </a:xfrm>
              <a:prstGeom prst="roundRect">
                <a:avLst>
                  <a:gd name="adj" fmla="val 8506"/>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sp>
            <p:nvSpPr>
              <p:cNvPr id="20" name="Rounded Rectangle 19">
                <a:extLst>
                  <a:ext uri="{FF2B5EF4-FFF2-40B4-BE49-F238E27FC236}">
                    <a16:creationId xmlns:a16="http://schemas.microsoft.com/office/drawing/2014/main" id="{4869F9DA-05FF-9928-6210-C0EA097E9C84}"/>
                  </a:ext>
                </a:extLst>
              </p:cNvPr>
              <p:cNvSpPr/>
              <p:nvPr/>
            </p:nvSpPr>
            <p:spPr>
              <a:xfrm>
                <a:off x="1365888" y="4453866"/>
                <a:ext cx="2651760" cy="1911096"/>
              </a:xfrm>
              <a:prstGeom prst="roundRect">
                <a:avLst>
                  <a:gd name="adj" fmla="val 1209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Source Sans Pro" panose="020B0503030403020204" pitchFamily="34" charset="0"/>
                </a:endParaRPr>
              </a:p>
            </p:txBody>
          </p:sp>
          <p:sp>
            <p:nvSpPr>
              <p:cNvPr id="21" name="Rounded Rectangle 20">
                <a:extLst>
                  <a:ext uri="{FF2B5EF4-FFF2-40B4-BE49-F238E27FC236}">
                    <a16:creationId xmlns:a16="http://schemas.microsoft.com/office/drawing/2014/main" id="{53617029-A004-DDAD-82CA-7D23A31F6166}"/>
                  </a:ext>
                </a:extLst>
              </p:cNvPr>
              <p:cNvSpPr/>
              <p:nvPr/>
            </p:nvSpPr>
            <p:spPr>
              <a:xfrm>
                <a:off x="1459494" y="4544359"/>
                <a:ext cx="2464548" cy="1730111"/>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kern="0" dirty="0">
                    <a:solidFill>
                      <a:schemeClr val="bg1"/>
                    </a:solidFill>
                    <a:latin typeface="Source Sans Pro" panose="020B0503030403020204" pitchFamily="34" charset="0"/>
                  </a:rPr>
                  <a:t>Firm can </a:t>
                </a:r>
                <a:r>
                  <a:rPr lang="en-US" altLang="en-US" sz="2400" b="1" kern="0" dirty="0">
                    <a:solidFill>
                      <a:schemeClr val="bg1"/>
                    </a:solidFill>
                    <a:latin typeface="Source Sans Pro" panose="020B0503030403020204" pitchFamily="34" charset="0"/>
                  </a:rPr>
                  <a:t>enforce price differences</a:t>
                </a:r>
              </a:p>
            </p:txBody>
          </p:sp>
          <p:sp>
            <p:nvSpPr>
              <p:cNvPr id="22" name="Rectangle 3">
                <a:extLst>
                  <a:ext uri="{FF2B5EF4-FFF2-40B4-BE49-F238E27FC236}">
                    <a16:creationId xmlns:a16="http://schemas.microsoft.com/office/drawing/2014/main" id="{0FD5F436-D07F-700C-6CA0-3B3E8F71ED69}"/>
                  </a:ext>
                </a:extLst>
              </p:cNvPr>
              <p:cNvSpPr txBox="1">
                <a:spLocks noChangeArrowheads="1"/>
              </p:cNvSpPr>
              <p:nvPr/>
            </p:nvSpPr>
            <p:spPr bwMode="auto">
              <a:xfrm>
                <a:off x="4139456" y="4714342"/>
                <a:ext cx="687210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31775" indent="-231775">
                  <a:spcBef>
                    <a:spcPct val="50000"/>
                  </a:spcBef>
                </a:pPr>
                <a:r>
                  <a:rPr lang="en-US" altLang="en-US" sz="2400" kern="0" dirty="0">
                    <a:latin typeface="Source Sans Pro" panose="020B0503030403020204" pitchFamily="34" charset="0"/>
                    <a:ea typeface="Source Sans Pro" panose="020B0503030403020204" pitchFamily="34" charset="0"/>
                  </a:rPr>
                  <a:t>Consumers targeted for the high price </a:t>
                </a:r>
                <a:r>
                  <a:rPr lang="en-US" altLang="en-US" sz="2400" b="1" kern="0" dirty="0">
                    <a:latin typeface="Source Sans Pro" panose="020B0503030403020204" pitchFamily="34" charset="0"/>
                    <a:ea typeface="Source Sans Pro" panose="020B0503030403020204" pitchFamily="34" charset="0"/>
                  </a:rPr>
                  <a:t>cannot pay the lower price </a:t>
                </a:r>
                <a:r>
                  <a:rPr lang="en-US" altLang="en-US" sz="2400" kern="0" dirty="0">
                    <a:latin typeface="Source Sans Pro" panose="020B0503030403020204" pitchFamily="34" charset="0"/>
                    <a:ea typeface="Source Sans Pro" panose="020B0503030403020204" pitchFamily="34" charset="0"/>
                  </a:rPr>
                  <a:t>instead</a:t>
                </a:r>
              </a:p>
              <a:p>
                <a:pPr marL="231775" indent="-231775">
                  <a:spcBef>
                    <a:spcPct val="50000"/>
                  </a:spcBef>
                </a:pPr>
                <a:r>
                  <a:rPr lang="en-US" altLang="en-US" sz="2400" kern="0" dirty="0">
                    <a:latin typeface="Source Sans Pro" panose="020B0503030403020204" pitchFamily="34" charset="0"/>
                    <a:ea typeface="Source Sans Pro" panose="020B0503030403020204" pitchFamily="34" charset="0"/>
                  </a:rPr>
                  <a:t>A </a:t>
                </a:r>
                <a:r>
                  <a:rPr lang="en-US" altLang="en-US" sz="2400" b="1" kern="0" dirty="0">
                    <a:latin typeface="Source Sans Pro" panose="020B0503030403020204" pitchFamily="34" charset="0"/>
                    <a:ea typeface="Source Sans Pro" panose="020B0503030403020204" pitchFamily="34" charset="0"/>
                  </a:rPr>
                  <a:t>restriction on resale </a:t>
                </a:r>
                <a:r>
                  <a:rPr lang="en-US" altLang="en-US" sz="2400" kern="0" dirty="0">
                    <a:latin typeface="Source Sans Pro" panose="020B0503030403020204" pitchFamily="34" charset="0"/>
                    <a:ea typeface="Source Sans Pro" panose="020B0503030403020204" pitchFamily="34" charset="0"/>
                  </a:rPr>
                  <a:t>among consumers</a:t>
                </a:r>
              </a:p>
            </p:txBody>
          </p:sp>
        </p:grpSp>
        <p:sp>
          <p:nvSpPr>
            <p:cNvPr id="18" name="Oval 17">
              <a:extLst>
                <a:ext uri="{FF2B5EF4-FFF2-40B4-BE49-F238E27FC236}">
                  <a16:creationId xmlns:a16="http://schemas.microsoft.com/office/drawing/2014/main" id="{0FC0C10D-9830-039D-B9C7-9D899D2313B7}"/>
                </a:ext>
              </a:extLst>
            </p:cNvPr>
            <p:cNvSpPr/>
            <p:nvPr/>
          </p:nvSpPr>
          <p:spPr>
            <a:xfrm>
              <a:off x="1164294" y="5180814"/>
              <a:ext cx="457200" cy="457200"/>
            </a:xfrm>
            <a:prstGeom prst="ellipse">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Source Sans Pro" panose="020B0503030403020204" pitchFamily="34" charset="0"/>
                </a:rPr>
                <a:t>3</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Rounded Rectangle 16"/>
          <p:cNvSpPr/>
          <p:nvPr/>
        </p:nvSpPr>
        <p:spPr>
          <a:xfrm>
            <a:off x="1843757" y="4826844"/>
            <a:ext cx="2651760" cy="1911096"/>
          </a:xfrm>
          <a:prstGeom prst="roundRect">
            <a:avLst>
              <a:gd name="adj" fmla="val 1209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latin typeface="Source Sans Pro" panose="020B0503030403020204" pitchFamily="34" charset="0"/>
              <a:ea typeface="Source Sans Pro" panose="020B0503030403020204" pitchFamily="34" charset="0"/>
            </a:endParaRPr>
          </a:p>
        </p:txBody>
      </p:sp>
      <p:sp>
        <p:nvSpPr>
          <p:cNvPr id="28675" name="Rectangle 2"/>
          <p:cNvSpPr>
            <a:spLocks noGrp="1" noChangeArrowheads="1"/>
          </p:cNvSpPr>
          <p:nvPr>
            <p:ph type="title"/>
          </p:nvPr>
        </p:nvSpPr>
        <p:spPr/>
        <p:txBody>
          <a:bodyPr/>
          <a:lstStyle/>
          <a:p>
            <a:r>
              <a:rPr lang="en-US" altLang="en-US" dirty="0"/>
              <a:t>Differences in pricing strategies</a:t>
            </a:r>
          </a:p>
        </p:txBody>
      </p:sp>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879E8913-4873-4166-BB3E-E30A1F9F70F7}" type="slidenum">
              <a:rPr lang="en-US" altLang="en-US" sz="1400">
                <a:latin typeface="Source Sans Pro" panose="020B0503030403020204" pitchFamily="34" charset="0"/>
                <a:ea typeface="Source Sans Pro" panose="020B0503030403020204" pitchFamily="34" charset="0"/>
              </a:rPr>
              <a:pPr eaLnBrk="1" hangingPunct="1"/>
              <a:t>32</a:t>
            </a:fld>
            <a:endParaRPr lang="en-US" altLang="en-US" sz="1400" dirty="0">
              <a:latin typeface="Source Sans Pro" panose="020B0503030403020204" pitchFamily="34" charset="0"/>
              <a:ea typeface="Source Sans Pro" panose="020B0503030403020204" pitchFamily="34" charset="0"/>
            </a:endParaRPr>
          </a:p>
        </p:txBody>
      </p:sp>
      <p:sp>
        <p:nvSpPr>
          <p:cNvPr id="2" name="Rounded Rectangle 1">
            <a:extLst>
              <a:ext uri="{FF2B5EF4-FFF2-40B4-BE49-F238E27FC236}">
                <a16:creationId xmlns:a16="http://schemas.microsoft.com/office/drawing/2014/main" id="{235D1830-4E68-7FB6-CA92-1BA2FA657060}"/>
              </a:ext>
            </a:extLst>
          </p:cNvPr>
          <p:cNvSpPr/>
          <p:nvPr/>
        </p:nvSpPr>
        <p:spPr>
          <a:xfrm>
            <a:off x="1271016" y="5205937"/>
            <a:ext cx="3128730" cy="859934"/>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kern="0" dirty="0">
                <a:solidFill>
                  <a:schemeClr val="bg1"/>
                </a:solidFill>
                <a:latin typeface="Source Sans Pro" panose="020B0503030403020204" pitchFamily="34" charset="0"/>
                <a:ea typeface="Source Sans Pro" panose="020B0503030403020204" pitchFamily="34" charset="0"/>
              </a:rPr>
              <a:t>Design a </a:t>
            </a:r>
            <a:r>
              <a:rPr lang="en-US" altLang="en-US" sz="2400" b="1" kern="0" dirty="0">
                <a:solidFill>
                  <a:schemeClr val="bg1"/>
                </a:solidFill>
                <a:latin typeface="Source Sans Pro" panose="020B0503030403020204" pitchFamily="34" charset="0"/>
                <a:ea typeface="Source Sans Pro" panose="020B0503030403020204" pitchFamily="34" charset="0"/>
              </a:rPr>
              <a:t>menu of products</a:t>
            </a:r>
            <a:endParaRPr lang="en-US" altLang="en-US" sz="2400" b="1" kern="0" dirty="0">
              <a:solidFill>
                <a:schemeClr val="bg1"/>
              </a:solidFill>
              <a:latin typeface="Source Sans Pro" panose="020B0503030403020204" pitchFamily="34" charset="0"/>
            </a:endParaRPr>
          </a:p>
        </p:txBody>
      </p:sp>
      <p:sp>
        <p:nvSpPr>
          <p:cNvPr id="3" name="Rectangle 3">
            <a:extLst>
              <a:ext uri="{FF2B5EF4-FFF2-40B4-BE49-F238E27FC236}">
                <a16:creationId xmlns:a16="http://schemas.microsoft.com/office/drawing/2014/main" id="{3C48A6AE-701F-B20F-F5A2-C837DFFE5597}"/>
              </a:ext>
            </a:extLst>
          </p:cNvPr>
          <p:cNvSpPr txBox="1">
            <a:spLocks noChangeArrowheads="1"/>
          </p:cNvSpPr>
          <p:nvPr/>
        </p:nvSpPr>
        <p:spPr bwMode="auto">
          <a:xfrm>
            <a:off x="4553338" y="5205938"/>
            <a:ext cx="603541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spcBef>
                <a:spcPct val="50000"/>
              </a:spcBef>
            </a:pPr>
            <a:r>
              <a:rPr lang="en-US" altLang="en-US" sz="2400" kern="0" dirty="0">
                <a:latin typeface="Source Sans Pro" panose="020B0503030403020204" pitchFamily="34" charset="0"/>
                <a:ea typeface="ＭＳ Ｐゴシック" pitchFamily="34" charset="-128"/>
              </a:rPr>
              <a:t>Consumers </a:t>
            </a:r>
            <a:r>
              <a:rPr lang="en-US" altLang="en-US" sz="2400" b="1" kern="0" dirty="0">
                <a:latin typeface="Source Sans Pro" panose="020B0503030403020204" pitchFamily="34" charset="0"/>
                <a:ea typeface="ＭＳ Ｐゴシック" pitchFamily="34" charset="-128"/>
              </a:rPr>
              <a:t>voluntarily </a:t>
            </a:r>
            <a:r>
              <a:rPr lang="en-US" altLang="en-US" sz="2400" kern="0" dirty="0">
                <a:latin typeface="Source Sans Pro" panose="020B0503030403020204" pitchFamily="34" charset="0"/>
                <a:ea typeface="ＭＳ Ｐゴシック" pitchFamily="34" charset="-128"/>
              </a:rPr>
              <a:t>sort themselves by their demand characteristics</a:t>
            </a:r>
          </a:p>
        </p:txBody>
      </p:sp>
      <p:sp>
        <p:nvSpPr>
          <p:cNvPr id="4" name="Rectangle 3">
            <a:extLst>
              <a:ext uri="{FF2B5EF4-FFF2-40B4-BE49-F238E27FC236}">
                <a16:creationId xmlns:a16="http://schemas.microsoft.com/office/drawing/2014/main" id="{D6969104-BF29-2FBC-7859-C46717AACFDF}"/>
              </a:ext>
            </a:extLst>
          </p:cNvPr>
          <p:cNvSpPr txBox="1">
            <a:spLocks noChangeArrowheads="1"/>
          </p:cNvSpPr>
          <p:nvPr/>
        </p:nvSpPr>
        <p:spPr bwMode="auto">
          <a:xfrm>
            <a:off x="722376" y="1147608"/>
            <a:ext cx="10716768"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419100" indent="-419100"/>
            <a:r>
              <a:rPr lang="en-US" altLang="en-US" kern="0" dirty="0">
                <a:ea typeface="ＭＳ Ｐゴシック" pitchFamily="34" charset="-128"/>
              </a:rPr>
              <a:t>Main differences across price discrimination methods depend on </a:t>
            </a:r>
            <a:r>
              <a:rPr lang="en-US" altLang="en-US" b="1" kern="0" dirty="0">
                <a:ea typeface="ＭＳ Ｐゴシック" pitchFamily="34" charset="-128"/>
              </a:rPr>
              <a:t>information available </a:t>
            </a:r>
            <a:r>
              <a:rPr lang="en-US" altLang="en-US" kern="0" dirty="0">
                <a:ea typeface="ＭＳ Ｐゴシック" pitchFamily="34" charset="-128"/>
              </a:rPr>
              <a:t>to the firm</a:t>
            </a:r>
          </a:p>
          <a:p>
            <a:pPr marL="419100" indent="-419100"/>
            <a:r>
              <a:rPr lang="en-US" altLang="en-US" kern="0" dirty="0">
                <a:ea typeface="ＭＳ Ｐゴシック" pitchFamily="34" charset="-128"/>
              </a:rPr>
              <a:t>How can the firm obtain information on </a:t>
            </a:r>
            <a:r>
              <a:rPr lang="en-US" altLang="en-US" b="1" kern="0" dirty="0">
                <a:ea typeface="ＭＳ Ｐゴシック" pitchFamily="34" charset="-128"/>
              </a:rPr>
              <a:t>differences among consumers</a:t>
            </a:r>
            <a:r>
              <a:rPr lang="en-US" altLang="en-US" kern="0" dirty="0">
                <a:ea typeface="ＭＳ Ｐゴシック" pitchFamily="34" charset="-128"/>
              </a:rPr>
              <a:t>?</a:t>
            </a:r>
          </a:p>
        </p:txBody>
      </p:sp>
      <p:sp>
        <p:nvSpPr>
          <p:cNvPr id="5" name="Rounded Rectangle 4">
            <a:extLst>
              <a:ext uri="{FF2B5EF4-FFF2-40B4-BE49-F238E27FC236}">
                <a16:creationId xmlns:a16="http://schemas.microsoft.com/office/drawing/2014/main" id="{70290227-3B90-1B77-56FF-8A515225BE75}"/>
              </a:ext>
            </a:extLst>
          </p:cNvPr>
          <p:cNvSpPr/>
          <p:nvPr/>
        </p:nvSpPr>
        <p:spPr>
          <a:xfrm>
            <a:off x="1271016" y="2778405"/>
            <a:ext cx="3128730" cy="2033667"/>
          </a:xfrm>
          <a:prstGeom prst="roundRect">
            <a:avLst>
              <a:gd name="adj" fmla="val 10055"/>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en-US" sz="2400" b="1" dirty="0">
                <a:solidFill>
                  <a:schemeClr val="bg1"/>
                </a:solidFill>
                <a:latin typeface="Source Sans Pro" panose="020B0503030403020204" pitchFamily="34" charset="0"/>
                <a:ea typeface="Source Sans Pro" panose="020B0503030403020204" pitchFamily="34" charset="0"/>
              </a:rPr>
              <a:t>Ask </a:t>
            </a:r>
            <a:r>
              <a:rPr lang="en-US" altLang="en-US" sz="2400" dirty="0">
                <a:solidFill>
                  <a:schemeClr val="bg1"/>
                </a:solidFill>
                <a:latin typeface="Source Sans Pro" panose="020B0503030403020204" pitchFamily="34" charset="0"/>
                <a:ea typeface="Source Sans Pro" panose="020B0503030403020204" pitchFamily="34" charset="0"/>
              </a:rPr>
              <a:t>customer about characteristics, and vary price based on </a:t>
            </a:r>
            <a:r>
              <a:rPr lang="en-US" altLang="en-US" sz="2400" b="1" dirty="0">
                <a:solidFill>
                  <a:schemeClr val="bg1"/>
                </a:solidFill>
                <a:latin typeface="Source Sans Pro" panose="020B0503030403020204" pitchFamily="34" charset="0"/>
                <a:ea typeface="Source Sans Pro" panose="020B0503030403020204" pitchFamily="34" charset="0"/>
              </a:rPr>
              <a:t>customer</a:t>
            </a:r>
            <a:r>
              <a:rPr lang="ja-JP" altLang="en-US" sz="2400" b="1" dirty="0">
                <a:solidFill>
                  <a:schemeClr val="bg1"/>
                </a:solidFill>
                <a:latin typeface="Source Sans Pro" panose="020B0503030403020204" pitchFamily="34" charset="0"/>
                <a:ea typeface="Arial" pitchFamily="34" charset="0"/>
              </a:rPr>
              <a:t>’</a:t>
            </a:r>
            <a:r>
              <a:rPr lang="en-US" altLang="ja-JP" sz="2400" b="1" dirty="0">
                <a:solidFill>
                  <a:schemeClr val="bg1"/>
                </a:solidFill>
                <a:latin typeface="Source Sans Pro" panose="020B0503030403020204" pitchFamily="34" charset="0"/>
                <a:ea typeface="Source Sans Pro" panose="020B0503030403020204" pitchFamily="34" charset="0"/>
              </a:rPr>
              <a:t>s response</a:t>
            </a:r>
            <a:endParaRPr lang="en-US" altLang="en-US" sz="2400" b="1" kern="0" dirty="0">
              <a:solidFill>
                <a:schemeClr val="bg1"/>
              </a:solidFill>
              <a:latin typeface="Source Sans Pro" panose="020B0503030403020204" pitchFamily="34" charset="0"/>
            </a:endParaRPr>
          </a:p>
        </p:txBody>
      </p:sp>
      <p:sp>
        <p:nvSpPr>
          <p:cNvPr id="6" name="Rectangle 3">
            <a:extLst>
              <a:ext uri="{FF2B5EF4-FFF2-40B4-BE49-F238E27FC236}">
                <a16:creationId xmlns:a16="http://schemas.microsoft.com/office/drawing/2014/main" id="{E0BD2B45-1213-ADCE-81C9-BB638CD9E5A1}"/>
              </a:ext>
            </a:extLst>
          </p:cNvPr>
          <p:cNvSpPr txBox="1">
            <a:spLocks noChangeArrowheads="1"/>
          </p:cNvSpPr>
          <p:nvPr/>
        </p:nvSpPr>
        <p:spPr bwMode="auto">
          <a:xfrm>
            <a:off x="4553338" y="2778405"/>
            <a:ext cx="6035414"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Two obvious difficulties</a:t>
            </a:r>
          </a:p>
          <a:p>
            <a:pPr lvl="1"/>
            <a:r>
              <a:rPr lang="en-US" altLang="en-US" sz="2400" kern="0" dirty="0">
                <a:latin typeface="Source Sans Pro" panose="020B0503030403020204" pitchFamily="34" charset="0"/>
                <a:ea typeface="Source Sans Pro" panose="020B0503030403020204" pitchFamily="34" charset="0"/>
              </a:rPr>
              <a:t>Can be </a:t>
            </a:r>
            <a:r>
              <a:rPr lang="en-US" altLang="en-US" sz="2400" b="1" kern="0" dirty="0">
                <a:latin typeface="Source Sans Pro" panose="020B0503030403020204" pitchFamily="34" charset="0"/>
                <a:ea typeface="Source Sans Pro" panose="020B0503030403020204" pitchFamily="34" charset="0"/>
              </a:rPr>
              <a:t>illegal</a:t>
            </a:r>
          </a:p>
          <a:p>
            <a:pPr lvl="1"/>
            <a:r>
              <a:rPr lang="en-US" altLang="en-US" sz="2400" kern="0" dirty="0">
                <a:latin typeface="Source Sans Pro" panose="020B0503030403020204" pitchFamily="34" charset="0"/>
                <a:ea typeface="Source Sans Pro" panose="020B0503030403020204" pitchFamily="34" charset="0"/>
              </a:rPr>
              <a:t>Customers have an </a:t>
            </a:r>
            <a:r>
              <a:rPr lang="en-US" altLang="en-US" sz="2400" b="1" kern="0" dirty="0">
                <a:latin typeface="Source Sans Pro" panose="020B0503030403020204" pitchFamily="34" charset="0"/>
                <a:ea typeface="Source Sans Pro" panose="020B0503030403020204" pitchFamily="34" charset="0"/>
              </a:rPr>
              <a:t>incentive to lie</a:t>
            </a:r>
          </a:p>
          <a:p>
            <a:r>
              <a:rPr lang="en-US" altLang="en-US" sz="2400" kern="0" dirty="0">
                <a:latin typeface="Source Sans Pro" panose="020B0503030403020204" pitchFamily="34" charset="0"/>
                <a:ea typeface="Source Sans Pro" panose="020B0503030403020204" pitchFamily="34" charset="0"/>
              </a:rPr>
              <a:t>Firms (behaving legally) must be able to </a:t>
            </a:r>
            <a:r>
              <a:rPr lang="en-US" altLang="en-US" sz="2400" b="1" kern="0" dirty="0">
                <a:latin typeface="Source Sans Pro" panose="020B0503030403020204" pitchFamily="34" charset="0"/>
                <a:ea typeface="Source Sans Pro" panose="020B0503030403020204" pitchFamily="34" charset="0"/>
              </a:rPr>
              <a:t>enforce </a:t>
            </a:r>
            <a:r>
              <a:rPr lang="ja-JP" altLang="en-US" sz="2400" b="1" kern="0" dirty="0">
                <a:latin typeface="Source Sans Pro" panose="020B0503030403020204" pitchFamily="34" charset="0"/>
                <a:ea typeface="Arial" pitchFamily="34" charset="0"/>
              </a:rPr>
              <a:t>“</a:t>
            </a:r>
            <a:r>
              <a:rPr lang="en-US" altLang="ja-JP" sz="2400" b="1" kern="0" dirty="0">
                <a:latin typeface="Source Sans Pro" panose="020B0503030403020204" pitchFamily="34" charset="0"/>
                <a:ea typeface="Source Sans Pro" panose="020B0503030403020204" pitchFamily="34" charset="0"/>
              </a:rPr>
              <a:t>honesty</a:t>
            </a:r>
            <a:r>
              <a:rPr lang="ja-JP" altLang="en-US" sz="2400" b="1" kern="0" dirty="0">
                <a:latin typeface="Source Sans Pro" panose="020B0503030403020204" pitchFamily="34" charset="0"/>
                <a:ea typeface="Arial" pitchFamily="34" charset="0"/>
              </a:rPr>
              <a:t>”</a:t>
            </a:r>
            <a:endParaRPr lang="en-US" altLang="ja-JP" sz="2400" b="1" kern="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Legal issues with discrimination</a:t>
            </a:r>
          </a:p>
        </p:txBody>
      </p:sp>
      <p:sp>
        <p:nvSpPr>
          <p:cNvPr id="5" name="Slide Number Placeholder 4"/>
          <p:cNvSpPr>
            <a:spLocks noGrp="1"/>
          </p:cNvSpPr>
          <p:nvPr>
            <p:ph type="sldNum" sz="quarter" idx="12"/>
          </p:nvPr>
        </p:nvSpPr>
        <p:spPr/>
        <p:txBody>
          <a:bodyPr/>
          <a:lstStyle/>
          <a:p>
            <a:fld id="{3F53B34B-B4A8-48C6-AF30-3F676D82174D}" type="slidenum">
              <a:rPr lang="en-US" altLang="en-US" smtClean="0"/>
              <a:pPr/>
              <a:t>33</a:t>
            </a:fld>
            <a:endParaRPr lang="en-US" altLang="en-US" dirty="0"/>
          </a:p>
        </p:txBody>
      </p:sp>
      <p:grpSp>
        <p:nvGrpSpPr>
          <p:cNvPr id="3" name="Group 2">
            <a:extLst>
              <a:ext uri="{FF2B5EF4-FFF2-40B4-BE49-F238E27FC236}">
                <a16:creationId xmlns:a16="http://schemas.microsoft.com/office/drawing/2014/main" id="{4B3BDB40-7ACC-9F4B-ED13-DD39487D4B24}"/>
              </a:ext>
            </a:extLst>
          </p:cNvPr>
          <p:cNvGrpSpPr/>
          <p:nvPr/>
        </p:nvGrpSpPr>
        <p:grpSpPr>
          <a:xfrm>
            <a:off x="1234440" y="1344246"/>
            <a:ext cx="9710928" cy="2462214"/>
            <a:chOff x="304800" y="2222158"/>
            <a:chExt cx="9710928" cy="2462214"/>
          </a:xfrm>
        </p:grpSpPr>
        <p:sp>
          <p:nvSpPr>
            <p:cNvPr id="4" name="Rectangle 3">
              <a:extLst>
                <a:ext uri="{FF2B5EF4-FFF2-40B4-BE49-F238E27FC236}">
                  <a16:creationId xmlns:a16="http://schemas.microsoft.com/office/drawing/2014/main" id="{9C345671-C1CE-5474-8EB0-E24FFF69043D}"/>
                </a:ext>
              </a:extLst>
            </p:cNvPr>
            <p:cNvSpPr/>
            <p:nvPr/>
          </p:nvSpPr>
          <p:spPr>
            <a:xfrm>
              <a:off x="2357610" y="2222159"/>
              <a:ext cx="7658118" cy="2462213"/>
            </a:xfrm>
            <a:prstGeom prst="rect">
              <a:avLst/>
            </a:prstGeom>
          </p:spPr>
          <p:txBody>
            <a:bodyPr wrap="square">
              <a:spAutoFit/>
            </a:bodyPr>
            <a:lstStyle/>
            <a:p>
              <a:pPr marL="285750" indent="-285750">
                <a:spcAft>
                  <a:spcPts val="600"/>
                </a:spcAft>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You create the rule or process to intentionally treat the protected class differently</a:t>
              </a:r>
            </a:p>
            <a:p>
              <a:pPr marL="742950" lvl="1" indent="-285750">
                <a:spcAft>
                  <a:spcPts val="600"/>
                </a:spcAft>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Protected classes include sex, race, religion, national origin</a:t>
              </a:r>
            </a:p>
            <a:p>
              <a:pPr marL="742950" lvl="1" indent="-285750">
                <a:spcAft>
                  <a:spcPts val="600"/>
                </a:spcAft>
                <a:buFont typeface="Arial" panose="020B0604020202020204" pitchFamily="34" charset="0"/>
                <a:buChar char="•"/>
              </a:pPr>
              <a:r>
                <a:rPr lang="en-US" sz="2400" dirty="0">
                  <a:latin typeface="Source Sans Pro" panose="020B0503030403020204" pitchFamily="34" charset="0"/>
                  <a:cs typeface="Calibri" panose="020F0502020204030204" pitchFamily="34" charset="0"/>
                </a:rPr>
                <a:t>E.g., the person’s race determines the price they pay off the price list</a:t>
              </a:r>
            </a:p>
          </p:txBody>
        </p:sp>
        <p:sp>
          <p:nvSpPr>
            <p:cNvPr id="12" name="Rounded Rectangle 11">
              <a:extLst>
                <a:ext uri="{FF2B5EF4-FFF2-40B4-BE49-F238E27FC236}">
                  <a16:creationId xmlns:a16="http://schemas.microsoft.com/office/drawing/2014/main" id="{211FDE6A-9630-04B4-CF81-538B6CC90706}"/>
                </a:ext>
              </a:extLst>
            </p:cNvPr>
            <p:cNvSpPr/>
            <p:nvPr/>
          </p:nvSpPr>
          <p:spPr>
            <a:xfrm>
              <a:off x="304800" y="2222158"/>
              <a:ext cx="2052810" cy="1106345"/>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Disparate treatment</a:t>
              </a:r>
              <a:endParaRPr lang="en-US" sz="2400" dirty="0">
                <a:solidFill>
                  <a:schemeClr val="bg1"/>
                </a:solidFill>
                <a:latin typeface="Source Sans Pro" panose="020B0503030403020204" pitchFamily="34" charset="0"/>
              </a:endParaRPr>
            </a:p>
          </p:txBody>
        </p:sp>
      </p:grpSp>
      <p:grpSp>
        <p:nvGrpSpPr>
          <p:cNvPr id="13" name="Group 12">
            <a:extLst>
              <a:ext uri="{FF2B5EF4-FFF2-40B4-BE49-F238E27FC236}">
                <a16:creationId xmlns:a16="http://schemas.microsoft.com/office/drawing/2014/main" id="{221210A9-F3B8-8F4F-E0BC-BDC019F6FDC2}"/>
              </a:ext>
            </a:extLst>
          </p:cNvPr>
          <p:cNvGrpSpPr/>
          <p:nvPr/>
        </p:nvGrpSpPr>
        <p:grpSpPr>
          <a:xfrm>
            <a:off x="1234440" y="3987266"/>
            <a:ext cx="9710928" cy="1277273"/>
            <a:chOff x="304800" y="3371702"/>
            <a:chExt cx="9710928" cy="1277273"/>
          </a:xfrm>
        </p:grpSpPr>
        <p:sp>
          <p:nvSpPr>
            <p:cNvPr id="14" name="Rectangle 13">
              <a:extLst>
                <a:ext uri="{FF2B5EF4-FFF2-40B4-BE49-F238E27FC236}">
                  <a16:creationId xmlns:a16="http://schemas.microsoft.com/office/drawing/2014/main" id="{BFF0E3A1-FC7A-6C6A-41B5-6EE6B498A395}"/>
                </a:ext>
              </a:extLst>
            </p:cNvPr>
            <p:cNvSpPr/>
            <p:nvPr/>
          </p:nvSpPr>
          <p:spPr>
            <a:xfrm>
              <a:off x="2357610" y="3371702"/>
              <a:ext cx="7658118" cy="1277273"/>
            </a:xfrm>
            <a:prstGeom prst="rect">
              <a:avLst/>
            </a:prstGeom>
          </p:spPr>
          <p:txBody>
            <a:bodyPr wrap="square">
              <a:spAutoFit/>
            </a:bodyPr>
            <a:lstStyle/>
            <a:p>
              <a:pPr marL="285750" indent="-285750">
                <a:spcAft>
                  <a:spcPts val="600"/>
                </a:spcAft>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You don’t intentionally try to discriminate, but the effect of your rule disadvantages the protected class</a:t>
              </a:r>
            </a:p>
            <a:p>
              <a:pPr marL="742950" lvl="1" indent="-285750">
                <a:spcAft>
                  <a:spcPts val="600"/>
                </a:spcAft>
                <a:buFont typeface="Arial" panose="020B0604020202020204" pitchFamily="34" charset="0"/>
                <a:buChar char="•"/>
              </a:pPr>
              <a:r>
                <a:rPr lang="en-US" sz="2400" dirty="0">
                  <a:solidFill>
                    <a:srgbClr val="222222"/>
                  </a:solidFill>
                  <a:latin typeface="Source Sans Pro" panose="020B0503030403020204" pitchFamily="34" charset="0"/>
                  <a:cs typeface="Calibri" panose="020F0502020204030204" pitchFamily="34" charset="0"/>
                </a:rPr>
                <a:t>E.g., you set interest rates based on zip code</a:t>
              </a:r>
              <a:endParaRPr lang="en-US" sz="2400" dirty="0">
                <a:latin typeface="Source Sans Pro" panose="020B0503030403020204" pitchFamily="34" charset="0"/>
                <a:cs typeface="Calibri" panose="020F0502020204030204" pitchFamily="34" charset="0"/>
              </a:endParaRPr>
            </a:p>
          </p:txBody>
        </p:sp>
        <p:sp>
          <p:nvSpPr>
            <p:cNvPr id="15" name="Rounded Rectangle 14">
              <a:extLst>
                <a:ext uri="{FF2B5EF4-FFF2-40B4-BE49-F238E27FC236}">
                  <a16:creationId xmlns:a16="http://schemas.microsoft.com/office/drawing/2014/main" id="{25CF6B67-9311-D914-5F08-68099F5216AB}"/>
                </a:ext>
              </a:extLst>
            </p:cNvPr>
            <p:cNvSpPr/>
            <p:nvPr/>
          </p:nvSpPr>
          <p:spPr>
            <a:xfrm>
              <a:off x="304800" y="3371702"/>
              <a:ext cx="2052810" cy="1087654"/>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Disparate impact</a:t>
              </a:r>
              <a:endParaRPr lang="en-US" sz="2400" dirty="0">
                <a:solidFill>
                  <a:schemeClr val="bg1"/>
                </a:solidFill>
                <a:latin typeface="Source Sans Pro" panose="020B0503030403020204" pitchFamily="34" charset="0"/>
              </a:endParaRPr>
            </a:p>
          </p:txBody>
        </p:sp>
      </p:grpSp>
    </p:spTree>
    <p:extLst>
      <p:ext uri="{BB962C8B-B14F-4D97-AF65-F5344CB8AC3E}">
        <p14:creationId xmlns:p14="http://schemas.microsoft.com/office/powerpoint/2010/main" val="99742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en-US" altLang="en-US" dirty="0"/>
              <a:t>Three types of price discrimination</a:t>
            </a:r>
          </a:p>
        </p:txBody>
      </p:sp>
      <p:sp>
        <p:nvSpPr>
          <p:cNvPr id="296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8662764B-15D4-423A-9E66-8D8289D0F413}" type="slidenum">
              <a:rPr lang="en-US" altLang="en-US" sz="1400">
                <a:latin typeface="Source Sans Pro" panose="020B0503030403020204" pitchFamily="34" charset="0"/>
                <a:ea typeface="Source Sans Pro" panose="020B0503030403020204" pitchFamily="34" charset="0"/>
              </a:rPr>
              <a:pPr eaLnBrk="1" hangingPunct="1"/>
              <a:t>34</a:t>
            </a:fld>
            <a:endParaRPr lang="en-US" altLang="en-US" sz="1400" dirty="0">
              <a:latin typeface="Source Sans Pro" panose="020B0503030403020204" pitchFamily="34" charset="0"/>
              <a:ea typeface="Source Sans Pro" panose="020B0503030403020204" pitchFamily="34" charset="0"/>
            </a:endParaRPr>
          </a:p>
        </p:txBody>
      </p:sp>
      <p:grpSp>
        <p:nvGrpSpPr>
          <p:cNvPr id="2" name="Group 1">
            <a:extLst>
              <a:ext uri="{FF2B5EF4-FFF2-40B4-BE49-F238E27FC236}">
                <a16:creationId xmlns:a16="http://schemas.microsoft.com/office/drawing/2014/main" id="{C466E50E-1B3A-90A4-1563-C99AC2551F18}"/>
              </a:ext>
            </a:extLst>
          </p:cNvPr>
          <p:cNvGrpSpPr/>
          <p:nvPr/>
        </p:nvGrpSpPr>
        <p:grpSpPr>
          <a:xfrm>
            <a:off x="769620" y="1580830"/>
            <a:ext cx="10495788" cy="1723549"/>
            <a:chOff x="457200" y="1669702"/>
            <a:chExt cx="10495788" cy="1723549"/>
          </a:xfrm>
        </p:grpSpPr>
        <p:sp>
          <p:nvSpPr>
            <p:cNvPr id="3" name="Rectangle 3">
              <a:extLst>
                <a:ext uri="{FF2B5EF4-FFF2-40B4-BE49-F238E27FC236}">
                  <a16:creationId xmlns:a16="http://schemas.microsoft.com/office/drawing/2014/main" id="{D43F7CA3-5F33-EF9A-8521-E563452BA31A}"/>
                </a:ext>
              </a:extLst>
            </p:cNvPr>
            <p:cNvSpPr txBox="1">
              <a:spLocks noChangeArrowheads="1"/>
            </p:cNvSpPr>
            <p:nvPr/>
          </p:nvSpPr>
          <p:spPr bwMode="auto">
            <a:xfrm>
              <a:off x="2667000" y="1669702"/>
              <a:ext cx="8285988"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a:spcBef>
                  <a:spcPts val="0"/>
                </a:spcBef>
                <a:spcAft>
                  <a:spcPts val="600"/>
                </a:spcAft>
              </a:pPr>
              <a:r>
                <a:rPr lang="en-US" altLang="ja-JP" sz="2400" b="1" kern="0" dirty="0">
                  <a:latin typeface="Source Sans Pro" panose="020B0503030403020204" pitchFamily="34" charset="0"/>
                  <a:ea typeface="Source Sans Pro" panose="020B0503030403020204" pitchFamily="34" charset="0"/>
                </a:rPr>
                <a:t>“Perfect” </a:t>
              </a:r>
              <a:r>
                <a:rPr lang="en-US" altLang="ja-JP" sz="2400" kern="0" dirty="0">
                  <a:latin typeface="Source Sans Pro" panose="020B0503030403020204" pitchFamily="34" charset="0"/>
                  <a:ea typeface="Source Sans Pro" panose="020B0503030403020204" pitchFamily="34" charset="0"/>
                </a:rPr>
                <a:t>price discrimination</a:t>
              </a:r>
            </a:p>
            <a:p>
              <a:pPr marL="228600" indent="-228600">
                <a:spcBef>
                  <a:spcPts val="0"/>
                </a:spcBef>
                <a:spcAft>
                  <a:spcPts val="600"/>
                </a:spcAft>
              </a:pPr>
              <a:r>
                <a:rPr lang="en-US" altLang="ja-JP" sz="2400" b="1" kern="0" dirty="0">
                  <a:latin typeface="Source Sans Pro" panose="020B0503030403020204" pitchFamily="34" charset="0"/>
                  <a:ea typeface="Source Sans Pro" panose="020B0503030403020204" pitchFamily="34" charset="0"/>
                </a:rPr>
                <a:t>Complete information </a:t>
              </a:r>
              <a:r>
                <a:rPr lang="en-US" altLang="ja-JP" sz="2400" kern="0" dirty="0">
                  <a:latin typeface="Source Sans Pro" panose="020B0503030403020204" pitchFamily="34" charset="0"/>
                  <a:ea typeface="Source Sans Pro" panose="020B0503030403020204" pitchFamily="34" charset="0"/>
                </a:rPr>
                <a:t>about each consumer’s tastes</a:t>
              </a:r>
            </a:p>
            <a:p>
              <a:pPr marL="228600" indent="-228600">
                <a:spcBef>
                  <a:spcPts val="0"/>
                </a:spcBef>
                <a:spcAft>
                  <a:spcPts val="600"/>
                </a:spcAft>
              </a:pPr>
              <a:r>
                <a:rPr lang="en-US" altLang="ja-JP" sz="2400" kern="0" dirty="0">
                  <a:latin typeface="Source Sans Pro" panose="020B0503030403020204" pitchFamily="34" charset="0"/>
                  <a:ea typeface="Source Sans Pro" panose="020B0503030403020204" pitchFamily="34" charset="0"/>
                </a:rPr>
                <a:t>Each consumer is charged the </a:t>
              </a:r>
              <a:r>
                <a:rPr lang="en-US" altLang="ja-JP" sz="2400" b="1" kern="0" dirty="0">
                  <a:latin typeface="Source Sans Pro" panose="020B0503030403020204" pitchFamily="34" charset="0"/>
                  <a:ea typeface="Source Sans Pro" panose="020B0503030403020204" pitchFamily="34" charset="0"/>
                </a:rPr>
                <a:t>maximum price </a:t>
              </a:r>
              <a:r>
                <a:rPr lang="en-US" altLang="ja-JP" sz="2400" kern="0" dirty="0">
                  <a:latin typeface="Source Sans Pro" panose="020B0503030403020204" pitchFamily="34" charset="0"/>
                  <a:ea typeface="Source Sans Pro" panose="020B0503030403020204" pitchFamily="34" charset="0"/>
                </a:rPr>
                <a:t>she would pay for each individual unit</a:t>
              </a:r>
            </a:p>
          </p:txBody>
        </p:sp>
        <p:sp>
          <p:nvSpPr>
            <p:cNvPr id="5" name="Rounded Rectangle 4">
              <a:extLst>
                <a:ext uri="{FF2B5EF4-FFF2-40B4-BE49-F238E27FC236}">
                  <a16:creationId xmlns:a16="http://schemas.microsoft.com/office/drawing/2014/main" id="{4C795FAA-E29F-D09F-9233-5617F5AD3DC9}"/>
                </a:ext>
              </a:extLst>
            </p:cNvPr>
            <p:cNvSpPr/>
            <p:nvPr/>
          </p:nvSpPr>
          <p:spPr>
            <a:xfrm>
              <a:off x="457200" y="1669702"/>
              <a:ext cx="2057400" cy="1066800"/>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First-degree</a:t>
              </a:r>
            </a:p>
          </p:txBody>
        </p:sp>
      </p:grpSp>
      <p:grpSp>
        <p:nvGrpSpPr>
          <p:cNvPr id="9" name="Group 8">
            <a:extLst>
              <a:ext uri="{FF2B5EF4-FFF2-40B4-BE49-F238E27FC236}">
                <a16:creationId xmlns:a16="http://schemas.microsoft.com/office/drawing/2014/main" id="{3368E6A3-D91D-2BB4-64AB-98A4726BC235}"/>
              </a:ext>
            </a:extLst>
          </p:cNvPr>
          <p:cNvGrpSpPr/>
          <p:nvPr/>
        </p:nvGrpSpPr>
        <p:grpSpPr>
          <a:xfrm>
            <a:off x="769620" y="3341661"/>
            <a:ext cx="10495788" cy="1643527"/>
            <a:chOff x="457200" y="3255435"/>
            <a:chExt cx="10495788" cy="1643527"/>
          </a:xfrm>
        </p:grpSpPr>
        <p:sp>
          <p:nvSpPr>
            <p:cNvPr id="10" name="Rectangle 3">
              <a:extLst>
                <a:ext uri="{FF2B5EF4-FFF2-40B4-BE49-F238E27FC236}">
                  <a16:creationId xmlns:a16="http://schemas.microsoft.com/office/drawing/2014/main" id="{F3A489C9-E7E6-BA6B-248B-DEB3AA846AEA}"/>
                </a:ext>
              </a:extLst>
            </p:cNvPr>
            <p:cNvSpPr txBox="1">
              <a:spLocks noChangeArrowheads="1"/>
            </p:cNvSpPr>
            <p:nvPr/>
          </p:nvSpPr>
          <p:spPr bwMode="auto">
            <a:xfrm>
              <a:off x="2667000" y="3255435"/>
              <a:ext cx="8285988"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a:spcBef>
                  <a:spcPts val="0"/>
                </a:spcBef>
                <a:spcAft>
                  <a:spcPts val="600"/>
                </a:spcAft>
              </a:pPr>
              <a:r>
                <a:rPr lang="en-US" altLang="en-US" sz="2400" b="1" kern="0" dirty="0">
                  <a:latin typeface="Source Sans Pro" panose="020B0503030403020204" pitchFamily="34" charset="0"/>
                  <a:ea typeface="Source Sans Pro" panose="020B0503030403020204" pitchFamily="34" charset="0"/>
                </a:rPr>
                <a:t>Cannot tell consumers apart</a:t>
              </a:r>
              <a:r>
                <a:rPr lang="en-US" altLang="en-US" sz="2400" kern="0" dirty="0">
                  <a:latin typeface="Source Sans Pro" panose="020B0503030403020204" pitchFamily="34" charset="0"/>
                  <a:ea typeface="Source Sans Pro" panose="020B0503030403020204" pitchFamily="34" charset="0"/>
                </a:rPr>
                <a:t> until </a:t>
              </a:r>
              <a:r>
                <a:rPr lang="en-US" altLang="en-US" sz="2400" b="1" i="1" kern="0" dirty="0">
                  <a:latin typeface="Source Sans Pro" panose="020B0503030403020204" pitchFamily="34" charset="0"/>
                  <a:ea typeface="Source Sans Pro" panose="020B0503030403020204" pitchFamily="34" charset="0"/>
                </a:rPr>
                <a:t>after </a:t>
              </a:r>
              <a:r>
                <a:rPr lang="en-US" altLang="en-US" sz="2400" kern="0" dirty="0">
                  <a:latin typeface="Source Sans Pro" panose="020B0503030403020204" pitchFamily="34" charset="0"/>
                  <a:ea typeface="Source Sans Pro" panose="020B0503030403020204" pitchFamily="34" charset="0"/>
                </a:rPr>
                <a:t>the purchase decision</a:t>
              </a:r>
              <a:endParaRPr lang="en-US" altLang="en-US" sz="2400" b="1" kern="0" dirty="0">
                <a:latin typeface="Source Sans Pro" panose="020B0503030403020204" pitchFamily="34" charset="0"/>
                <a:ea typeface="Source Sans Pro" panose="020B0503030403020204" pitchFamily="34" charset="0"/>
              </a:endParaRPr>
            </a:p>
            <a:p>
              <a:pPr marL="228600" indent="-228600">
                <a:spcBef>
                  <a:spcPts val="0"/>
                </a:spcBef>
                <a:spcAft>
                  <a:spcPts val="600"/>
                </a:spcAft>
              </a:pPr>
              <a:r>
                <a:rPr lang="en-US" altLang="en-US" sz="2400" kern="0" dirty="0">
                  <a:latin typeface="Source Sans Pro" panose="020B0503030403020204" pitchFamily="34" charset="0"/>
                  <a:ea typeface="Source Sans Pro" panose="020B0503030403020204" pitchFamily="34" charset="0"/>
                </a:rPr>
                <a:t>Consumers </a:t>
              </a:r>
              <a:r>
                <a:rPr lang="en-US" altLang="en-US" sz="2400" b="1" kern="0" dirty="0">
                  <a:latin typeface="Source Sans Pro" panose="020B0503030403020204" pitchFamily="34" charset="0"/>
                  <a:ea typeface="Source Sans Pro" panose="020B0503030403020204" pitchFamily="34" charset="0"/>
                </a:rPr>
                <a:t>self-select </a:t>
              </a:r>
              <a:r>
                <a:rPr lang="en-US" altLang="en-US" sz="2400" kern="0" dirty="0">
                  <a:latin typeface="Source Sans Pro" panose="020B0503030403020204" pitchFamily="34" charset="0"/>
                  <a:ea typeface="Source Sans Pro" panose="020B0503030403020204" pitchFamily="34" charset="0"/>
                </a:rPr>
                <a:t>into different groups by purchasing different </a:t>
              </a:r>
              <a:r>
                <a:rPr lang="en-US" altLang="en-US" sz="2400" b="1" kern="0" dirty="0">
                  <a:latin typeface="Source Sans Pro" panose="020B0503030403020204" pitchFamily="34" charset="0"/>
                  <a:ea typeface="Source Sans Pro" panose="020B0503030403020204" pitchFamily="34" charset="0"/>
                </a:rPr>
                <a:t>quantities/qualities </a:t>
              </a:r>
              <a:r>
                <a:rPr lang="en-US" altLang="en-US" sz="2400" kern="0" dirty="0">
                  <a:latin typeface="Source Sans Pro" panose="020B0503030403020204" pitchFamily="34" charset="0"/>
                  <a:ea typeface="Source Sans Pro" panose="020B0503030403020204" pitchFamily="34" charset="0"/>
                </a:rPr>
                <a:t>of the firm</a:t>
              </a:r>
              <a:r>
                <a:rPr lang="en-US" altLang="ja-JP" sz="2400" kern="0" dirty="0">
                  <a:latin typeface="Source Sans Pro" panose="020B0503030403020204" pitchFamily="34" charset="0"/>
                  <a:ea typeface="Source Sans Pro" panose="020B0503030403020204" pitchFamily="34" charset="0"/>
                </a:rPr>
                <a:t>’s product/service</a:t>
              </a:r>
            </a:p>
          </p:txBody>
        </p:sp>
        <p:sp>
          <p:nvSpPr>
            <p:cNvPr id="11" name="Rounded Rectangle 10">
              <a:extLst>
                <a:ext uri="{FF2B5EF4-FFF2-40B4-BE49-F238E27FC236}">
                  <a16:creationId xmlns:a16="http://schemas.microsoft.com/office/drawing/2014/main" id="{3111C006-0F17-B521-8AD8-320B40CBF0FF}"/>
                </a:ext>
              </a:extLst>
            </p:cNvPr>
            <p:cNvSpPr/>
            <p:nvPr/>
          </p:nvSpPr>
          <p:spPr>
            <a:xfrm>
              <a:off x="457200" y="3255435"/>
              <a:ext cx="2057400" cy="1066800"/>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Second-degree</a:t>
              </a:r>
            </a:p>
          </p:txBody>
        </p:sp>
      </p:grpSp>
      <p:grpSp>
        <p:nvGrpSpPr>
          <p:cNvPr id="14" name="Group 13">
            <a:extLst>
              <a:ext uri="{FF2B5EF4-FFF2-40B4-BE49-F238E27FC236}">
                <a16:creationId xmlns:a16="http://schemas.microsoft.com/office/drawing/2014/main" id="{76ACEEA8-3438-4464-072C-A5782ED6C245}"/>
              </a:ext>
            </a:extLst>
          </p:cNvPr>
          <p:cNvGrpSpPr/>
          <p:nvPr/>
        </p:nvGrpSpPr>
        <p:grpSpPr>
          <a:xfrm>
            <a:off x="769620" y="5022471"/>
            <a:ext cx="10495788" cy="1646605"/>
            <a:chOff x="457200" y="5148943"/>
            <a:chExt cx="10495788" cy="1646605"/>
          </a:xfrm>
        </p:grpSpPr>
        <p:sp>
          <p:nvSpPr>
            <p:cNvPr id="19" name="Rectangle 3">
              <a:extLst>
                <a:ext uri="{FF2B5EF4-FFF2-40B4-BE49-F238E27FC236}">
                  <a16:creationId xmlns:a16="http://schemas.microsoft.com/office/drawing/2014/main" id="{D894212C-8F4C-1777-0F8C-C06FDA01D682}"/>
                </a:ext>
              </a:extLst>
            </p:cNvPr>
            <p:cNvSpPr txBox="1">
              <a:spLocks noChangeArrowheads="1"/>
            </p:cNvSpPr>
            <p:nvPr/>
          </p:nvSpPr>
          <p:spPr bwMode="auto">
            <a:xfrm>
              <a:off x="2667000" y="5148943"/>
              <a:ext cx="8285988" cy="1646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a:spcBef>
                  <a:spcPts val="0"/>
                </a:spcBef>
                <a:spcAft>
                  <a:spcPts val="600"/>
                </a:spcAft>
              </a:pPr>
              <a:r>
                <a:rPr lang="en-US" altLang="en-US" sz="2400" kern="0" dirty="0">
                  <a:latin typeface="Source Sans Pro" panose="020B0503030403020204" pitchFamily="34" charset="0"/>
                  <a:ea typeface="Source Sans Pro" panose="020B0503030403020204" pitchFamily="34" charset="0"/>
                </a:rPr>
                <a:t>Segment consumers into a small number of </a:t>
              </a:r>
              <a:r>
                <a:rPr lang="en-US" altLang="en-US" sz="2400" b="1" kern="0" dirty="0">
                  <a:latin typeface="Source Sans Pro" panose="020B0503030403020204" pitchFamily="34" charset="0"/>
                  <a:ea typeface="Source Sans Pro" panose="020B0503030403020204" pitchFamily="34" charset="0"/>
                </a:rPr>
                <a:t>coarse groups</a:t>
              </a:r>
              <a:r>
                <a:rPr lang="en-US" altLang="en-US" sz="2400" kern="0" dirty="0">
                  <a:latin typeface="Source Sans Pro" panose="020B0503030403020204" pitchFamily="34" charset="0"/>
                  <a:ea typeface="Source Sans Pro" panose="020B0503030403020204" pitchFamily="34" charset="0"/>
                </a:rPr>
                <a:t> based on objective observable traits </a:t>
              </a:r>
              <a:r>
                <a:rPr lang="en-US" altLang="en-US" sz="2400" b="1" i="1" kern="0" dirty="0">
                  <a:latin typeface="Source Sans Pro" panose="020B0503030403020204" pitchFamily="34" charset="0"/>
                  <a:ea typeface="Source Sans Pro" panose="020B0503030403020204" pitchFamily="34" charset="0"/>
                </a:rPr>
                <a:t>before </a:t>
              </a:r>
              <a:r>
                <a:rPr lang="en-US" altLang="en-US" sz="2400" kern="0" dirty="0">
                  <a:latin typeface="Source Sans Pro" panose="020B0503030403020204" pitchFamily="34" charset="0"/>
                  <a:ea typeface="Source Sans Pro" panose="020B0503030403020204" pitchFamily="34" charset="0"/>
                </a:rPr>
                <a:t>the purchase decision</a:t>
              </a:r>
            </a:p>
            <a:p>
              <a:pPr marL="228600" indent="-228600">
                <a:spcBef>
                  <a:spcPts val="0"/>
                </a:spcBef>
                <a:spcAft>
                  <a:spcPts val="600"/>
                </a:spcAft>
              </a:pPr>
              <a:r>
                <a:rPr lang="en-US" altLang="en-US" sz="2400" kern="0" dirty="0">
                  <a:latin typeface="Source Sans Pro" panose="020B0503030403020204" pitchFamily="34" charset="0"/>
                  <a:ea typeface="Source Sans Pro" panose="020B0503030403020204" pitchFamily="34" charset="0"/>
                </a:rPr>
                <a:t>Set </a:t>
              </a:r>
              <a:r>
                <a:rPr lang="en-US" altLang="en-US" sz="2400" kern="0" dirty="0" err="1">
                  <a:latin typeface="Source Sans Pro" panose="020B0503030403020204" pitchFamily="34" charset="0"/>
                  <a:ea typeface="Source Sans Pro" panose="020B0503030403020204" pitchFamily="34" charset="0"/>
                </a:rPr>
                <a:t>MR</a:t>
              </a:r>
              <a:r>
                <a:rPr lang="en-US" altLang="en-US" sz="2400" kern="0" baseline="-25000" dirty="0" err="1">
                  <a:latin typeface="Source Sans Pro" panose="020B0503030403020204" pitchFamily="34" charset="0"/>
                  <a:ea typeface="Source Sans Pro" panose="020B0503030403020204" pitchFamily="34" charset="0"/>
                </a:rPr>
                <a:t>i</a:t>
              </a:r>
              <a:r>
                <a:rPr lang="en-US" altLang="en-US" sz="2400" kern="0" dirty="0">
                  <a:latin typeface="Source Sans Pro" panose="020B0503030403020204" pitchFamily="34" charset="0"/>
                  <a:ea typeface="Source Sans Pro" panose="020B0503030403020204" pitchFamily="34" charset="0"/>
                </a:rPr>
                <a:t> = cost to serve for each group </a:t>
              </a:r>
              <a:r>
                <a:rPr lang="en-US" altLang="en-US" sz="2400" kern="0" dirty="0" err="1">
                  <a:latin typeface="Source Sans Pro" panose="020B0503030403020204" pitchFamily="34" charset="0"/>
                  <a:ea typeface="Source Sans Pro" panose="020B0503030403020204" pitchFamily="34" charset="0"/>
                </a:rPr>
                <a:t>i</a:t>
              </a:r>
              <a:endParaRPr lang="en-US" altLang="en-US" sz="2400" kern="0" dirty="0">
                <a:latin typeface="Source Sans Pro" panose="020B0503030403020204" pitchFamily="34" charset="0"/>
                <a:ea typeface="Source Sans Pro" panose="020B0503030403020204" pitchFamily="34" charset="0"/>
              </a:endParaRPr>
            </a:p>
          </p:txBody>
        </p:sp>
        <p:sp>
          <p:nvSpPr>
            <p:cNvPr id="20" name="Rounded Rectangle 19">
              <a:extLst>
                <a:ext uri="{FF2B5EF4-FFF2-40B4-BE49-F238E27FC236}">
                  <a16:creationId xmlns:a16="http://schemas.microsoft.com/office/drawing/2014/main" id="{39D84E04-74A3-E646-763B-ECADF8A64B91}"/>
                </a:ext>
              </a:extLst>
            </p:cNvPr>
            <p:cNvSpPr/>
            <p:nvPr/>
          </p:nvSpPr>
          <p:spPr>
            <a:xfrm>
              <a:off x="457200" y="5178425"/>
              <a:ext cx="2057400" cy="1066800"/>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Third-degree</a:t>
              </a:r>
            </a:p>
          </p:txBody>
        </p:sp>
      </p:grpSp>
      <p:sp>
        <p:nvSpPr>
          <p:cNvPr id="21" name="Rectangle 3">
            <a:extLst>
              <a:ext uri="{FF2B5EF4-FFF2-40B4-BE49-F238E27FC236}">
                <a16:creationId xmlns:a16="http://schemas.microsoft.com/office/drawing/2014/main" id="{6FB28511-732D-AB5D-127D-F5D14B2B66B6}"/>
              </a:ext>
            </a:extLst>
          </p:cNvPr>
          <p:cNvSpPr txBox="1">
            <a:spLocks noChangeArrowheads="1"/>
          </p:cNvSpPr>
          <p:nvPr/>
        </p:nvSpPr>
        <p:spPr bwMode="auto">
          <a:xfrm>
            <a:off x="768096" y="1012226"/>
            <a:ext cx="94427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FontTx/>
              <a:buNone/>
            </a:pPr>
            <a:r>
              <a:rPr lang="en-US" altLang="en-US" kern="0" dirty="0"/>
              <a:t>Differ by information required by the firm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en-US" altLang="en-US" dirty="0"/>
              <a:t>Types of price discrimination</a:t>
            </a:r>
          </a:p>
        </p:txBody>
      </p:sp>
      <p:sp>
        <p:nvSpPr>
          <p:cNvPr id="307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5CFCC93-BD09-4D6F-9592-B5C523A424F1}" type="slidenum">
              <a:rPr lang="en-US" altLang="en-US" sz="1400">
                <a:latin typeface="Source Sans Pro" panose="020B0503030403020204" pitchFamily="34" charset="0"/>
                <a:ea typeface="Source Sans Pro" panose="020B0503030403020204" pitchFamily="34" charset="0"/>
              </a:rPr>
              <a:pPr eaLnBrk="1" hangingPunct="1"/>
              <a:t>35</a:t>
            </a:fld>
            <a:endParaRPr lang="en-US" altLang="en-US" sz="1400" dirty="0">
              <a:latin typeface="Source Sans Pro" panose="020B0503030403020204" pitchFamily="34" charset="0"/>
              <a:ea typeface="Source Sans Pro" panose="020B0503030403020204" pitchFamily="34" charset="0"/>
            </a:endParaRPr>
          </a:p>
        </p:txBody>
      </p:sp>
      <p:grpSp>
        <p:nvGrpSpPr>
          <p:cNvPr id="2" name="Group 1">
            <a:extLst>
              <a:ext uri="{FF2B5EF4-FFF2-40B4-BE49-F238E27FC236}">
                <a16:creationId xmlns:a16="http://schemas.microsoft.com/office/drawing/2014/main" id="{656D2517-7496-EE01-7FCE-B5578693205B}"/>
              </a:ext>
            </a:extLst>
          </p:cNvPr>
          <p:cNvGrpSpPr/>
          <p:nvPr/>
        </p:nvGrpSpPr>
        <p:grpSpPr>
          <a:xfrm>
            <a:off x="2830209" y="3947070"/>
            <a:ext cx="6038850" cy="1143000"/>
            <a:chOff x="1600200" y="4245114"/>
            <a:chExt cx="5638800" cy="1143000"/>
          </a:xfrm>
          <a:solidFill>
            <a:srgbClr val="007360"/>
          </a:solidFill>
        </p:grpSpPr>
        <p:sp>
          <p:nvSpPr>
            <p:cNvPr id="3" name="Pentagon 2">
              <a:extLst>
                <a:ext uri="{FF2B5EF4-FFF2-40B4-BE49-F238E27FC236}">
                  <a16:creationId xmlns:a16="http://schemas.microsoft.com/office/drawing/2014/main" id="{523F57FC-6578-047D-0972-15765E0AF803}"/>
                </a:ext>
              </a:extLst>
            </p:cNvPr>
            <p:cNvSpPr/>
            <p:nvPr/>
          </p:nvSpPr>
          <p:spPr>
            <a:xfrm>
              <a:off x="1600200" y="4245114"/>
              <a:ext cx="2133600" cy="1143000"/>
            </a:xfrm>
            <a:prstGeom prst="homePlate">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First</a:t>
              </a:r>
            </a:p>
          </p:txBody>
        </p:sp>
        <p:sp>
          <p:nvSpPr>
            <p:cNvPr id="5" name="Chevron 4">
              <a:extLst>
                <a:ext uri="{FF2B5EF4-FFF2-40B4-BE49-F238E27FC236}">
                  <a16:creationId xmlns:a16="http://schemas.microsoft.com/office/drawing/2014/main" id="{3A4E142F-619E-2FA1-4AC3-9F5A060B9979}"/>
                </a:ext>
              </a:extLst>
            </p:cNvPr>
            <p:cNvSpPr/>
            <p:nvPr/>
          </p:nvSpPr>
          <p:spPr>
            <a:xfrm>
              <a:off x="3267456" y="4245114"/>
              <a:ext cx="2218944" cy="1143000"/>
            </a:xfrm>
            <a:prstGeom prst="chevron">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Third</a:t>
              </a:r>
            </a:p>
          </p:txBody>
        </p:sp>
        <p:sp>
          <p:nvSpPr>
            <p:cNvPr id="8" name="Chevron 7">
              <a:extLst>
                <a:ext uri="{FF2B5EF4-FFF2-40B4-BE49-F238E27FC236}">
                  <a16:creationId xmlns:a16="http://schemas.microsoft.com/office/drawing/2014/main" id="{4ACE4A34-1E2C-A4B6-5A3B-972820567AFD}"/>
                </a:ext>
              </a:extLst>
            </p:cNvPr>
            <p:cNvSpPr/>
            <p:nvPr/>
          </p:nvSpPr>
          <p:spPr>
            <a:xfrm>
              <a:off x="5020056" y="4245114"/>
              <a:ext cx="2218944" cy="1143000"/>
            </a:xfrm>
            <a:prstGeom prst="chevron">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Second</a:t>
              </a:r>
            </a:p>
          </p:txBody>
        </p:sp>
      </p:grpSp>
      <p:sp>
        <p:nvSpPr>
          <p:cNvPr id="9" name="Rectangle 3">
            <a:extLst>
              <a:ext uri="{FF2B5EF4-FFF2-40B4-BE49-F238E27FC236}">
                <a16:creationId xmlns:a16="http://schemas.microsoft.com/office/drawing/2014/main" id="{E2D39765-681E-74C4-BD98-88AB3C90ACFA}"/>
              </a:ext>
            </a:extLst>
          </p:cNvPr>
          <p:cNvSpPr txBox="1">
            <a:spLocks noChangeArrowheads="1"/>
          </p:cNvSpPr>
          <p:nvPr/>
        </p:nvSpPr>
        <p:spPr bwMode="auto">
          <a:xfrm>
            <a:off x="565544" y="5315293"/>
            <a:ext cx="1081365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buFontTx/>
              <a:buNone/>
            </a:pPr>
            <a:r>
              <a:rPr lang="en-US" altLang="en-US" sz="2400" kern="0" dirty="0">
                <a:latin typeface="Source Sans Pro" panose="020B0503030403020204" pitchFamily="34" charset="0"/>
                <a:ea typeface="Source Sans Pro" panose="020B0503030403020204" pitchFamily="34" charset="0"/>
              </a:rPr>
              <a:t>(Second-degree is the trickiest conceptually, but perhaps the </a:t>
            </a:r>
            <a:r>
              <a:rPr lang="en-US" altLang="en-US" sz="2400" b="1" kern="0" dirty="0">
                <a:latin typeface="Source Sans Pro" panose="020B0503030403020204" pitchFamily="34" charset="0"/>
                <a:ea typeface="Source Sans Pro" panose="020B0503030403020204" pitchFamily="34" charset="0"/>
              </a:rPr>
              <a:t>most common</a:t>
            </a:r>
            <a:r>
              <a:rPr lang="en-US" altLang="en-US" sz="2400" kern="0" dirty="0">
                <a:latin typeface="Source Sans Pro" panose="020B0503030403020204" pitchFamily="34" charset="0"/>
                <a:ea typeface="Source Sans Pro" panose="020B0503030403020204" pitchFamily="34" charset="0"/>
              </a:rPr>
              <a:t>)</a:t>
            </a:r>
          </a:p>
          <a:p>
            <a:pPr>
              <a:buFontTx/>
              <a:buNone/>
            </a:pPr>
            <a:r>
              <a:rPr lang="en-US" altLang="en-US" sz="2400" kern="0" dirty="0">
                <a:latin typeface="Source Sans Pro" panose="020B0503030403020204" pitchFamily="34" charset="0"/>
                <a:ea typeface="Source Sans Pro" panose="020B0503030403020204" pitchFamily="34" charset="0"/>
              </a:rPr>
              <a:t>REMEMBER: the cost to produce or serve is given to the CMO by others (COO &amp; CFO)</a:t>
            </a:r>
          </a:p>
        </p:txBody>
      </p:sp>
      <p:sp>
        <p:nvSpPr>
          <p:cNvPr id="13" name="Rectangle 3">
            <a:extLst>
              <a:ext uri="{FF2B5EF4-FFF2-40B4-BE49-F238E27FC236}">
                <a16:creationId xmlns:a16="http://schemas.microsoft.com/office/drawing/2014/main" id="{FAA739DF-0060-5760-F7FF-C785230C8200}"/>
              </a:ext>
            </a:extLst>
          </p:cNvPr>
          <p:cNvSpPr txBox="1">
            <a:spLocks noChangeArrowheads="1"/>
          </p:cNvSpPr>
          <p:nvPr/>
        </p:nvSpPr>
        <p:spPr bwMode="auto">
          <a:xfrm>
            <a:off x="565545" y="1167302"/>
            <a:ext cx="10722864"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dirty="0"/>
              <a:t>1</a:t>
            </a:r>
            <a:r>
              <a:rPr lang="en-US" altLang="en-US" kern="0" baseline="30000" dirty="0"/>
              <a:t>st</a:t>
            </a:r>
            <a:r>
              <a:rPr lang="en-US" altLang="en-US" kern="0" dirty="0"/>
              <a:t> degree price discrimination is primarily useful as an </a:t>
            </a:r>
            <a:r>
              <a:rPr lang="en-US" altLang="en-US" b="1" kern="0" dirty="0"/>
              <a:t>interesting benchmark</a:t>
            </a:r>
          </a:p>
          <a:p>
            <a:pPr lvl="1"/>
            <a:r>
              <a:rPr lang="en-US" altLang="en-US" kern="0" dirty="0"/>
              <a:t>Maximum revenue firm could collect if it was </a:t>
            </a:r>
            <a:r>
              <a:rPr lang="en-US" altLang="en-US" b="1" kern="0" dirty="0"/>
              <a:t>omniscient </a:t>
            </a:r>
            <a:r>
              <a:rPr lang="en-US" altLang="en-US" kern="0" dirty="0"/>
              <a:t>and </a:t>
            </a:r>
            <a:r>
              <a:rPr lang="en-US" altLang="en-US" b="1" kern="0" dirty="0"/>
              <a:t>omnipotent</a:t>
            </a:r>
          </a:p>
          <a:p>
            <a:r>
              <a:rPr lang="en-US" altLang="en-US" kern="0" dirty="0"/>
              <a:t>Actual discriminatory practices are generally either 2</a:t>
            </a:r>
            <a:r>
              <a:rPr lang="en-US" altLang="en-US" kern="0" baseline="30000" dirty="0"/>
              <a:t>nd</a:t>
            </a:r>
            <a:r>
              <a:rPr lang="en-US" altLang="en-US" kern="0" dirty="0"/>
              <a:t> or 3</a:t>
            </a:r>
            <a:r>
              <a:rPr lang="en-US" altLang="en-US" kern="0" baseline="30000" dirty="0"/>
              <a:t>rd</a:t>
            </a:r>
            <a:r>
              <a:rPr lang="en-US" altLang="en-US" kern="0" dirty="0"/>
              <a:t> degree</a:t>
            </a:r>
          </a:p>
          <a:p>
            <a:pPr lvl="1"/>
            <a:r>
              <a:rPr lang="en-US" altLang="en-US" kern="0" dirty="0"/>
              <a:t>Many firms </a:t>
            </a:r>
            <a:r>
              <a:rPr lang="en-US" altLang="en-US" b="1" kern="0" dirty="0"/>
              <a:t>combine </a:t>
            </a:r>
            <a:r>
              <a:rPr lang="en-US" altLang="en-US" kern="0" dirty="0"/>
              <a:t>the two types of price discrimination</a:t>
            </a:r>
          </a:p>
          <a:p>
            <a:r>
              <a:rPr lang="en-US" altLang="en-US" kern="0" dirty="0"/>
              <a:t>We will proceed in the following order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en-US" altLang="en-US" dirty="0">
                <a:ea typeface="ＭＳ Ｐゴシック" pitchFamily="34" charset="-128"/>
              </a:rPr>
              <a:t> 1</a:t>
            </a:r>
            <a:r>
              <a:rPr lang="en-US" altLang="en-US" baseline="30000" dirty="0">
                <a:ea typeface="ＭＳ Ｐゴシック" pitchFamily="34" charset="-128"/>
              </a:rPr>
              <a:t>st</a:t>
            </a:r>
            <a:r>
              <a:rPr lang="en-US" altLang="en-US" dirty="0">
                <a:ea typeface="ＭＳ Ｐゴシック" pitchFamily="34" charset="-128"/>
              </a:rPr>
              <a:t> degree price discrimination is perfect insight</a:t>
            </a:r>
          </a:p>
        </p:txBody>
      </p:sp>
      <p:sp>
        <p:nvSpPr>
          <p:cNvPr id="317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1124A53-1121-4655-B201-51AD5C32E194}" type="slidenum">
              <a:rPr lang="en-US" altLang="en-US" sz="1400">
                <a:latin typeface="Source Sans Pro" panose="020B0503030403020204" pitchFamily="34" charset="0"/>
              </a:rPr>
              <a:pPr eaLnBrk="1" hangingPunct="1"/>
              <a:t>36</a:t>
            </a:fld>
            <a:endParaRPr lang="en-US" altLang="en-US" sz="1400" dirty="0">
              <a:latin typeface="Source Sans Pro" panose="020B0503030403020204" pitchFamily="34" charset="0"/>
            </a:endParaRPr>
          </a:p>
        </p:txBody>
      </p:sp>
      <p:grpSp>
        <p:nvGrpSpPr>
          <p:cNvPr id="2" name="Group 1">
            <a:extLst>
              <a:ext uri="{FF2B5EF4-FFF2-40B4-BE49-F238E27FC236}">
                <a16:creationId xmlns:a16="http://schemas.microsoft.com/office/drawing/2014/main" id="{394FC242-DD82-AED3-3D42-0AA4FA36998C}"/>
              </a:ext>
            </a:extLst>
          </p:cNvPr>
          <p:cNvGrpSpPr/>
          <p:nvPr/>
        </p:nvGrpSpPr>
        <p:grpSpPr>
          <a:xfrm>
            <a:off x="10584029" y="123520"/>
            <a:ext cx="1308370" cy="338554"/>
            <a:chOff x="10584029" y="123520"/>
            <a:chExt cx="1308370" cy="338554"/>
          </a:xfrm>
        </p:grpSpPr>
        <p:sp>
          <p:nvSpPr>
            <p:cNvPr id="34" name="TextBox 33">
              <a:extLst>
                <a:ext uri="{FF2B5EF4-FFF2-40B4-BE49-F238E27FC236}">
                  <a16:creationId xmlns:a16="http://schemas.microsoft.com/office/drawing/2014/main" id="{4DC85488-FD27-3D71-3B55-30A1E6DCE8C6}"/>
                </a:ext>
              </a:extLst>
            </p:cNvPr>
            <p:cNvSpPr txBox="1"/>
            <p:nvPr/>
          </p:nvSpPr>
          <p:spPr>
            <a:xfrm>
              <a:off x="10584029" y="123520"/>
              <a:ext cx="1308370"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1</a:t>
              </a:r>
              <a:r>
                <a:rPr lang="en-US" sz="1600" baseline="30000" dirty="0">
                  <a:latin typeface="Source Sans Pro" panose="020B0503030403020204" pitchFamily="34" charset="0"/>
                  <a:ea typeface="Source Sans Pro" panose="020B0503030403020204" pitchFamily="34" charset="0"/>
                </a:rPr>
                <a:t>st</a:t>
              </a:r>
              <a:r>
                <a:rPr lang="en-US" sz="1600" dirty="0">
                  <a:latin typeface="Source Sans Pro" panose="020B0503030403020204" pitchFamily="34" charset="0"/>
                  <a:ea typeface="Source Sans Pro" panose="020B0503030403020204" pitchFamily="34" charset="0"/>
                </a:rPr>
                <a:t> degree PD</a:t>
              </a:r>
            </a:p>
          </p:txBody>
        </p:sp>
        <p:cxnSp>
          <p:nvCxnSpPr>
            <p:cNvPr id="35" name="Straight Connector 34">
              <a:extLst>
                <a:ext uri="{FF2B5EF4-FFF2-40B4-BE49-F238E27FC236}">
                  <a16:creationId xmlns:a16="http://schemas.microsoft.com/office/drawing/2014/main" id="{56E1A76E-9F4B-9B48-C837-4A45DF8DCAE4}"/>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E141E5-DB94-0023-865F-BAFB806CB7C3}"/>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29" name="Text Box 35">
            <a:extLst>
              <a:ext uri="{FF2B5EF4-FFF2-40B4-BE49-F238E27FC236}">
                <a16:creationId xmlns:a16="http://schemas.microsoft.com/office/drawing/2014/main" id="{D16B879E-4489-CD84-80DA-77C7023A1228}"/>
              </a:ext>
            </a:extLst>
          </p:cNvPr>
          <p:cNvSpPr txBox="1">
            <a:spLocks noChangeArrowheads="1"/>
          </p:cNvSpPr>
          <p:nvPr/>
        </p:nvSpPr>
        <p:spPr bwMode="auto">
          <a:xfrm>
            <a:off x="365761" y="5591904"/>
            <a:ext cx="8329612"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285750" indent="-285750">
              <a:spcBef>
                <a:spcPct val="20000"/>
              </a:spcBef>
              <a:buFont typeface="Arial" panose="020B0604020202020204" pitchFamily="34" charset="0"/>
              <a:buChar char="•"/>
              <a:defRPr/>
            </a:pPr>
            <a:r>
              <a:rPr lang="en-US" sz="2400" dirty="0">
                <a:latin typeface="Source Sans Pro" panose="020B0503030403020204" pitchFamily="34" charset="0"/>
                <a:ea typeface="Source Sans Pro" panose="020B0503030403020204" pitchFamily="34" charset="0"/>
                <a:cs typeface="ＭＳ Ｐゴシック" charset="0"/>
              </a:rPr>
              <a:t>Does this ever really happen?</a:t>
            </a:r>
          </a:p>
          <a:p>
            <a:pPr marL="285750" indent="-285750">
              <a:spcBef>
                <a:spcPct val="20000"/>
              </a:spcBef>
              <a:buFont typeface="Arial" panose="020B0604020202020204" pitchFamily="34" charset="0"/>
              <a:buChar char="•"/>
              <a:defRPr/>
            </a:pPr>
            <a:r>
              <a:rPr lang="en-US" sz="2400" b="1" dirty="0">
                <a:latin typeface="Source Sans Pro" panose="020B0503030403020204" pitchFamily="34" charset="0"/>
                <a:ea typeface="Source Sans Pro" panose="020B0503030403020204" pitchFamily="34" charset="0"/>
                <a:cs typeface="ＭＳ Ｐゴシック" charset="0"/>
              </a:rPr>
              <a:t>How much information </a:t>
            </a:r>
            <a:r>
              <a:rPr lang="en-US" sz="2400" dirty="0">
                <a:latin typeface="Source Sans Pro" panose="020B0503030403020204" pitchFamily="34" charset="0"/>
                <a:ea typeface="Source Sans Pro" panose="020B0503030403020204" pitchFamily="34" charset="0"/>
                <a:cs typeface="ＭＳ Ｐゴシック" charset="0"/>
              </a:rPr>
              <a:t>can a firm have about a customer?</a:t>
            </a:r>
          </a:p>
        </p:txBody>
      </p:sp>
      <p:sp>
        <p:nvSpPr>
          <p:cNvPr id="30" name="Rectangle 26">
            <a:extLst>
              <a:ext uri="{FF2B5EF4-FFF2-40B4-BE49-F238E27FC236}">
                <a16:creationId xmlns:a16="http://schemas.microsoft.com/office/drawing/2014/main" id="{CE1BE662-2F2C-6D05-9BE1-3057B107B41E}"/>
              </a:ext>
            </a:extLst>
          </p:cNvPr>
          <p:cNvSpPr>
            <a:spLocks noChangeArrowheads="1"/>
          </p:cNvSpPr>
          <p:nvPr/>
        </p:nvSpPr>
        <p:spPr bwMode="auto">
          <a:xfrm>
            <a:off x="2568004" y="3738564"/>
            <a:ext cx="164592" cy="1414460"/>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31" name="Rectangle 27">
            <a:extLst>
              <a:ext uri="{FF2B5EF4-FFF2-40B4-BE49-F238E27FC236}">
                <a16:creationId xmlns:a16="http://schemas.microsoft.com/office/drawing/2014/main" id="{D631EB34-DD6A-6E5C-F8F1-C4EE8E651F3B}"/>
              </a:ext>
            </a:extLst>
          </p:cNvPr>
          <p:cNvSpPr>
            <a:spLocks noChangeArrowheads="1"/>
          </p:cNvSpPr>
          <p:nvPr/>
        </p:nvSpPr>
        <p:spPr bwMode="auto">
          <a:xfrm>
            <a:off x="2733104" y="3871914"/>
            <a:ext cx="164592" cy="1289048"/>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32" name="Rectangle 28">
            <a:extLst>
              <a:ext uri="{FF2B5EF4-FFF2-40B4-BE49-F238E27FC236}">
                <a16:creationId xmlns:a16="http://schemas.microsoft.com/office/drawing/2014/main" id="{DF568FC0-9C75-C6C8-0789-000FD8B7E114}"/>
              </a:ext>
            </a:extLst>
          </p:cNvPr>
          <p:cNvSpPr>
            <a:spLocks noChangeArrowheads="1"/>
          </p:cNvSpPr>
          <p:nvPr/>
        </p:nvSpPr>
        <p:spPr bwMode="auto">
          <a:xfrm>
            <a:off x="2898204" y="3998914"/>
            <a:ext cx="164592" cy="1154110"/>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33" name="Rectangle 29">
            <a:extLst>
              <a:ext uri="{FF2B5EF4-FFF2-40B4-BE49-F238E27FC236}">
                <a16:creationId xmlns:a16="http://schemas.microsoft.com/office/drawing/2014/main" id="{0687E3AD-55F8-5FC0-BEF4-43105CFFCE96}"/>
              </a:ext>
            </a:extLst>
          </p:cNvPr>
          <p:cNvSpPr>
            <a:spLocks noChangeArrowheads="1"/>
          </p:cNvSpPr>
          <p:nvPr/>
        </p:nvSpPr>
        <p:spPr bwMode="auto">
          <a:xfrm>
            <a:off x="3069654" y="4119564"/>
            <a:ext cx="164592" cy="1033460"/>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37" name="Rectangle 30">
            <a:extLst>
              <a:ext uri="{FF2B5EF4-FFF2-40B4-BE49-F238E27FC236}">
                <a16:creationId xmlns:a16="http://schemas.microsoft.com/office/drawing/2014/main" id="{DE3C2789-0D6E-BDCF-EE6D-20AF32A62B9E}"/>
              </a:ext>
            </a:extLst>
          </p:cNvPr>
          <p:cNvSpPr>
            <a:spLocks noChangeArrowheads="1"/>
          </p:cNvSpPr>
          <p:nvPr/>
        </p:nvSpPr>
        <p:spPr bwMode="auto">
          <a:xfrm>
            <a:off x="3234754" y="4265614"/>
            <a:ext cx="164592" cy="887410"/>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38" name="Rectangle 31">
            <a:extLst>
              <a:ext uri="{FF2B5EF4-FFF2-40B4-BE49-F238E27FC236}">
                <a16:creationId xmlns:a16="http://schemas.microsoft.com/office/drawing/2014/main" id="{A985E97A-2128-AA25-BAFC-720037599CB9}"/>
              </a:ext>
            </a:extLst>
          </p:cNvPr>
          <p:cNvSpPr>
            <a:spLocks noChangeArrowheads="1"/>
          </p:cNvSpPr>
          <p:nvPr/>
        </p:nvSpPr>
        <p:spPr bwMode="auto">
          <a:xfrm>
            <a:off x="3406204" y="4373564"/>
            <a:ext cx="164592" cy="786384"/>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39" name="Rectangle 18">
            <a:extLst>
              <a:ext uri="{FF2B5EF4-FFF2-40B4-BE49-F238E27FC236}">
                <a16:creationId xmlns:a16="http://schemas.microsoft.com/office/drawing/2014/main" id="{06546E06-76C1-8D2B-9919-E04F1E13E5CB}"/>
              </a:ext>
            </a:extLst>
          </p:cNvPr>
          <p:cNvSpPr>
            <a:spLocks noChangeArrowheads="1"/>
          </p:cNvSpPr>
          <p:nvPr/>
        </p:nvSpPr>
        <p:spPr bwMode="auto">
          <a:xfrm>
            <a:off x="1215454" y="2671763"/>
            <a:ext cx="164592" cy="2481261"/>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40" name="Rectangle 19">
            <a:extLst>
              <a:ext uri="{FF2B5EF4-FFF2-40B4-BE49-F238E27FC236}">
                <a16:creationId xmlns:a16="http://schemas.microsoft.com/office/drawing/2014/main" id="{857E5422-6274-63D9-7B1C-FB334EDF048D}"/>
              </a:ext>
            </a:extLst>
          </p:cNvPr>
          <p:cNvSpPr>
            <a:spLocks noChangeArrowheads="1"/>
          </p:cNvSpPr>
          <p:nvPr/>
        </p:nvSpPr>
        <p:spPr bwMode="auto">
          <a:xfrm>
            <a:off x="1386904" y="2792414"/>
            <a:ext cx="164592" cy="2368549"/>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41" name="Rectangle 20">
            <a:extLst>
              <a:ext uri="{FF2B5EF4-FFF2-40B4-BE49-F238E27FC236}">
                <a16:creationId xmlns:a16="http://schemas.microsoft.com/office/drawing/2014/main" id="{5BB7EDAF-9173-9EF0-E8A7-BFC362341643}"/>
              </a:ext>
            </a:extLst>
          </p:cNvPr>
          <p:cNvSpPr>
            <a:spLocks noChangeArrowheads="1"/>
          </p:cNvSpPr>
          <p:nvPr/>
        </p:nvSpPr>
        <p:spPr bwMode="auto">
          <a:xfrm>
            <a:off x="1558354" y="2932114"/>
            <a:ext cx="164592" cy="2228849"/>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42" name="Rectangle 21">
            <a:extLst>
              <a:ext uri="{FF2B5EF4-FFF2-40B4-BE49-F238E27FC236}">
                <a16:creationId xmlns:a16="http://schemas.microsoft.com/office/drawing/2014/main" id="{731346BE-FE49-DFD8-C970-A11EB57C9580}"/>
              </a:ext>
            </a:extLst>
          </p:cNvPr>
          <p:cNvSpPr>
            <a:spLocks noChangeArrowheads="1"/>
          </p:cNvSpPr>
          <p:nvPr/>
        </p:nvSpPr>
        <p:spPr bwMode="auto">
          <a:xfrm>
            <a:off x="1729804" y="3078164"/>
            <a:ext cx="164592" cy="2074860"/>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43" name="Rectangle 22">
            <a:extLst>
              <a:ext uri="{FF2B5EF4-FFF2-40B4-BE49-F238E27FC236}">
                <a16:creationId xmlns:a16="http://schemas.microsoft.com/office/drawing/2014/main" id="{79054AD9-7501-EF86-9E84-D0C46CB6BF25}"/>
              </a:ext>
            </a:extLst>
          </p:cNvPr>
          <p:cNvSpPr>
            <a:spLocks noChangeArrowheads="1"/>
          </p:cNvSpPr>
          <p:nvPr/>
        </p:nvSpPr>
        <p:spPr bwMode="auto">
          <a:xfrm>
            <a:off x="1894904" y="3198814"/>
            <a:ext cx="164592" cy="1954210"/>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44" name="Rectangle 23">
            <a:extLst>
              <a:ext uri="{FF2B5EF4-FFF2-40B4-BE49-F238E27FC236}">
                <a16:creationId xmlns:a16="http://schemas.microsoft.com/office/drawing/2014/main" id="{FA5A9C09-3A49-EE9E-3D97-4B757191AF99}"/>
              </a:ext>
            </a:extLst>
          </p:cNvPr>
          <p:cNvSpPr>
            <a:spLocks noChangeArrowheads="1"/>
          </p:cNvSpPr>
          <p:nvPr/>
        </p:nvSpPr>
        <p:spPr bwMode="auto">
          <a:xfrm>
            <a:off x="2066354" y="3338514"/>
            <a:ext cx="164592" cy="1814510"/>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45" name="Rectangle 24">
            <a:extLst>
              <a:ext uri="{FF2B5EF4-FFF2-40B4-BE49-F238E27FC236}">
                <a16:creationId xmlns:a16="http://schemas.microsoft.com/office/drawing/2014/main" id="{8F432882-608F-CFC0-0E16-D8C94626563E}"/>
              </a:ext>
            </a:extLst>
          </p:cNvPr>
          <p:cNvSpPr>
            <a:spLocks noChangeArrowheads="1"/>
          </p:cNvSpPr>
          <p:nvPr/>
        </p:nvSpPr>
        <p:spPr bwMode="auto">
          <a:xfrm>
            <a:off x="2231454" y="3471863"/>
            <a:ext cx="164592" cy="1689099"/>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46" name="Rectangle 25">
            <a:extLst>
              <a:ext uri="{FF2B5EF4-FFF2-40B4-BE49-F238E27FC236}">
                <a16:creationId xmlns:a16="http://schemas.microsoft.com/office/drawing/2014/main" id="{0F6B8BA4-87E7-4D58-7C15-491493668A27}"/>
              </a:ext>
            </a:extLst>
          </p:cNvPr>
          <p:cNvSpPr>
            <a:spLocks noChangeArrowheads="1"/>
          </p:cNvSpPr>
          <p:nvPr/>
        </p:nvSpPr>
        <p:spPr bwMode="auto">
          <a:xfrm>
            <a:off x="2402904" y="3598864"/>
            <a:ext cx="164592" cy="1562098"/>
          </a:xfrm>
          <a:prstGeom prst="rect">
            <a:avLst/>
          </a:prstGeom>
          <a:solidFill>
            <a:srgbClr val="67C8C7"/>
          </a:solidFill>
          <a:ln>
            <a:solidFill>
              <a:srgbClr val="67C8C7"/>
            </a:solidFill>
          </a:ln>
          <a:effectLst/>
        </p:spPr>
        <p:txBody>
          <a:bodyPr wrap="none" anchor="ct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47" name="Line 5">
            <a:extLst>
              <a:ext uri="{FF2B5EF4-FFF2-40B4-BE49-F238E27FC236}">
                <a16:creationId xmlns:a16="http://schemas.microsoft.com/office/drawing/2014/main" id="{A5731EAA-5055-A468-1041-9399C176C55A}"/>
              </a:ext>
            </a:extLst>
          </p:cNvPr>
          <p:cNvSpPr>
            <a:spLocks noChangeShapeType="1"/>
          </p:cNvSpPr>
          <p:nvPr/>
        </p:nvSpPr>
        <p:spPr bwMode="auto">
          <a:xfrm>
            <a:off x="1205929" y="2159001"/>
            <a:ext cx="0" cy="30083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a typeface="Source Sans Pro" panose="020B0503030403020204" pitchFamily="34" charset="0"/>
            </a:endParaRPr>
          </a:p>
        </p:txBody>
      </p:sp>
      <p:sp>
        <p:nvSpPr>
          <p:cNvPr id="48" name="Line 6">
            <a:extLst>
              <a:ext uri="{FF2B5EF4-FFF2-40B4-BE49-F238E27FC236}">
                <a16:creationId xmlns:a16="http://schemas.microsoft.com/office/drawing/2014/main" id="{856942E8-B910-2FBA-EC6C-3D2FA5C22BE2}"/>
              </a:ext>
            </a:extLst>
          </p:cNvPr>
          <p:cNvSpPr>
            <a:spLocks noChangeShapeType="1"/>
          </p:cNvSpPr>
          <p:nvPr/>
        </p:nvSpPr>
        <p:spPr bwMode="auto">
          <a:xfrm>
            <a:off x="1212280" y="5164138"/>
            <a:ext cx="396557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a typeface="Source Sans Pro" panose="020B0503030403020204" pitchFamily="34" charset="0"/>
            </a:endParaRPr>
          </a:p>
        </p:txBody>
      </p:sp>
      <p:sp>
        <p:nvSpPr>
          <p:cNvPr id="49" name="Line 7">
            <a:extLst>
              <a:ext uri="{FF2B5EF4-FFF2-40B4-BE49-F238E27FC236}">
                <a16:creationId xmlns:a16="http://schemas.microsoft.com/office/drawing/2014/main" id="{DAFFCC37-0F1B-4565-2B9B-4F088981C182}"/>
              </a:ext>
            </a:extLst>
          </p:cNvPr>
          <p:cNvSpPr>
            <a:spLocks noChangeShapeType="1"/>
          </p:cNvSpPr>
          <p:nvPr/>
        </p:nvSpPr>
        <p:spPr bwMode="auto">
          <a:xfrm>
            <a:off x="1202755" y="2505075"/>
            <a:ext cx="3355975" cy="26479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dirty="0">
              <a:latin typeface="Source Sans Pro" panose="020B0503030403020204" pitchFamily="34" charset="0"/>
              <a:ea typeface="Source Sans Pro" panose="020B0503030403020204" pitchFamily="34" charset="0"/>
            </a:endParaRPr>
          </a:p>
        </p:txBody>
      </p:sp>
      <p:sp>
        <p:nvSpPr>
          <p:cNvPr id="50" name="Text Box 8">
            <a:extLst>
              <a:ext uri="{FF2B5EF4-FFF2-40B4-BE49-F238E27FC236}">
                <a16:creationId xmlns:a16="http://schemas.microsoft.com/office/drawing/2014/main" id="{0F312F98-2C75-AF24-F0E4-363C546CBE4B}"/>
              </a:ext>
            </a:extLst>
          </p:cNvPr>
          <p:cNvSpPr txBox="1">
            <a:spLocks noChangeArrowheads="1"/>
          </p:cNvSpPr>
          <p:nvPr/>
        </p:nvSpPr>
        <p:spPr bwMode="auto">
          <a:xfrm>
            <a:off x="4844479" y="5122863"/>
            <a:ext cx="4238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Q</a:t>
            </a:r>
            <a:endParaRPr lang="en-US" altLang="en-US" dirty="0">
              <a:latin typeface="Source Sans Pro" panose="020B0503030403020204" pitchFamily="34" charset="0"/>
              <a:ea typeface="Source Sans Pro" panose="020B0503030403020204" pitchFamily="34" charset="0"/>
            </a:endParaRPr>
          </a:p>
        </p:txBody>
      </p:sp>
      <p:sp>
        <p:nvSpPr>
          <p:cNvPr id="51" name="Text Box 9">
            <a:extLst>
              <a:ext uri="{FF2B5EF4-FFF2-40B4-BE49-F238E27FC236}">
                <a16:creationId xmlns:a16="http://schemas.microsoft.com/office/drawing/2014/main" id="{ABFA5F45-7A71-5D04-64F0-5F5802C614E9}"/>
              </a:ext>
            </a:extLst>
          </p:cNvPr>
          <p:cNvSpPr txBox="1">
            <a:spLocks noChangeArrowheads="1"/>
          </p:cNvSpPr>
          <p:nvPr/>
        </p:nvSpPr>
        <p:spPr bwMode="auto">
          <a:xfrm>
            <a:off x="4482530" y="4693105"/>
            <a:ext cx="6953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D</a:t>
            </a:r>
            <a:endParaRPr lang="en-US" altLang="en-US" dirty="0">
              <a:latin typeface="Source Sans Pro" panose="020B0503030403020204" pitchFamily="34" charset="0"/>
              <a:ea typeface="Source Sans Pro" panose="020B0503030403020204" pitchFamily="34" charset="0"/>
            </a:endParaRPr>
          </a:p>
        </p:txBody>
      </p:sp>
      <p:sp>
        <p:nvSpPr>
          <p:cNvPr id="52" name="Text Box 10">
            <a:extLst>
              <a:ext uri="{FF2B5EF4-FFF2-40B4-BE49-F238E27FC236}">
                <a16:creationId xmlns:a16="http://schemas.microsoft.com/office/drawing/2014/main" id="{BBED54F4-4F80-39A8-DB66-289F1069DA44}"/>
              </a:ext>
            </a:extLst>
          </p:cNvPr>
          <p:cNvSpPr txBox="1">
            <a:spLocks noChangeArrowheads="1"/>
          </p:cNvSpPr>
          <p:nvPr/>
        </p:nvSpPr>
        <p:spPr bwMode="auto">
          <a:xfrm>
            <a:off x="834598" y="2076450"/>
            <a:ext cx="3714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P</a:t>
            </a:r>
            <a:endParaRPr lang="en-US" altLang="en-US" dirty="0">
              <a:latin typeface="Source Sans Pro" panose="020B0503030403020204" pitchFamily="34" charset="0"/>
              <a:ea typeface="Source Sans Pro" panose="020B0503030403020204" pitchFamily="34" charset="0"/>
            </a:endParaRPr>
          </a:p>
        </p:txBody>
      </p:sp>
      <p:sp>
        <p:nvSpPr>
          <p:cNvPr id="53" name="Text Box 32">
            <a:extLst>
              <a:ext uri="{FF2B5EF4-FFF2-40B4-BE49-F238E27FC236}">
                <a16:creationId xmlns:a16="http://schemas.microsoft.com/office/drawing/2014/main" id="{D80C8195-CAAB-5C19-0D2C-0AF5F527B345}"/>
              </a:ext>
            </a:extLst>
          </p:cNvPr>
          <p:cNvSpPr txBox="1">
            <a:spLocks noChangeArrowheads="1"/>
          </p:cNvSpPr>
          <p:nvPr/>
        </p:nvSpPr>
        <p:spPr bwMode="auto">
          <a:xfrm>
            <a:off x="5366188" y="2104252"/>
            <a:ext cx="627633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4950" indent="-234950">
              <a:defRPr>
                <a:solidFill>
                  <a:schemeClr val="tx1"/>
                </a:solidFill>
                <a:latin typeface="Arial" charset="0"/>
                <a:ea typeface="ＭＳ Ｐゴシック" charset="0"/>
                <a:cs typeface="Arial" charset="0"/>
              </a:defRPr>
            </a:lvl1pPr>
            <a:lvl2pPr>
              <a:defRPr>
                <a:solidFill>
                  <a:schemeClr val="tx1"/>
                </a:solidFill>
                <a:latin typeface="Arial" charset="0"/>
                <a:ea typeface="Arial" charset="0"/>
                <a:cs typeface="Arial" charset="0"/>
              </a:defRPr>
            </a:lvl2pPr>
            <a:lvl3pPr>
              <a:defRPr>
                <a:solidFill>
                  <a:schemeClr val="tx1"/>
                </a:solidFill>
                <a:latin typeface="Arial" charset="0"/>
                <a:ea typeface="Arial" charset="0"/>
                <a:cs typeface="Arial" charset="0"/>
              </a:defRPr>
            </a:lvl3pPr>
            <a:lvl4pPr>
              <a:defRPr>
                <a:solidFill>
                  <a:schemeClr val="tx1"/>
                </a:solidFill>
                <a:latin typeface="Arial" charset="0"/>
                <a:ea typeface="Arial" charset="0"/>
                <a:cs typeface="Arial" charset="0"/>
              </a:defRPr>
            </a:lvl4pPr>
            <a:lvl5pPr>
              <a:defRPr>
                <a:solidFill>
                  <a:schemeClr val="tx1"/>
                </a:solidFill>
                <a:latin typeface="Arial" charset="0"/>
                <a:ea typeface="Arial" charset="0"/>
                <a:cs typeface="Arial" charset="0"/>
              </a:defRPr>
            </a:lvl5pPr>
            <a:lvl6pPr fontAlgn="base">
              <a:spcBef>
                <a:spcPct val="0"/>
              </a:spcBef>
              <a:spcAft>
                <a:spcPct val="0"/>
              </a:spcAft>
              <a:defRPr>
                <a:solidFill>
                  <a:schemeClr val="tx1"/>
                </a:solidFill>
                <a:latin typeface="Arial" charset="0"/>
                <a:ea typeface="Arial" charset="0"/>
                <a:cs typeface="Arial" charset="0"/>
              </a:defRPr>
            </a:lvl6pPr>
            <a:lvl7pPr fontAlgn="base">
              <a:spcBef>
                <a:spcPct val="0"/>
              </a:spcBef>
              <a:spcAft>
                <a:spcPct val="0"/>
              </a:spcAft>
              <a:defRPr>
                <a:solidFill>
                  <a:schemeClr val="tx1"/>
                </a:solidFill>
                <a:latin typeface="Arial" charset="0"/>
                <a:ea typeface="Arial" charset="0"/>
                <a:cs typeface="Arial" charset="0"/>
              </a:defRPr>
            </a:lvl7pPr>
            <a:lvl8pPr fontAlgn="base">
              <a:spcBef>
                <a:spcPct val="0"/>
              </a:spcBef>
              <a:spcAft>
                <a:spcPct val="0"/>
              </a:spcAft>
              <a:defRPr>
                <a:solidFill>
                  <a:schemeClr val="tx1"/>
                </a:solidFill>
                <a:latin typeface="Arial" charset="0"/>
                <a:ea typeface="Arial" charset="0"/>
                <a:cs typeface="Arial" charset="0"/>
              </a:defRPr>
            </a:lvl8pPr>
            <a:lvl9pPr fontAlgn="base">
              <a:spcBef>
                <a:spcPct val="0"/>
              </a:spcBef>
              <a:spcAft>
                <a:spcPct val="0"/>
              </a:spcAft>
              <a:defRPr>
                <a:solidFill>
                  <a:schemeClr val="tx1"/>
                </a:solidFill>
                <a:latin typeface="Arial" charset="0"/>
                <a:ea typeface="Arial" charset="0"/>
                <a:cs typeface="Arial" charset="0"/>
              </a:defRPr>
            </a:lvl9pPr>
          </a:lstStyle>
          <a:p>
            <a:pPr>
              <a:spcBef>
                <a:spcPct val="50000"/>
              </a:spcBef>
              <a:buFontTx/>
              <a:buChar char="•"/>
              <a:defRPr/>
            </a:pPr>
            <a:r>
              <a:rPr lang="en-US" sz="2400" dirty="0">
                <a:latin typeface="Source Sans Pro" panose="020B0503030403020204" pitchFamily="34" charset="0"/>
                <a:ea typeface="Source Sans Pro" panose="020B0503030403020204" pitchFamily="34" charset="0"/>
              </a:rPr>
              <a:t>Imagine firm lines up all consumers in order, from </a:t>
            </a:r>
            <a:r>
              <a:rPr lang="en-US" sz="2400" b="1" dirty="0">
                <a:latin typeface="Source Sans Pro" panose="020B0503030403020204" pitchFamily="34" charset="0"/>
                <a:ea typeface="Source Sans Pro" panose="020B0503030403020204" pitchFamily="34" charset="0"/>
              </a:rPr>
              <a:t>highest demand to lowest</a:t>
            </a:r>
          </a:p>
          <a:p>
            <a:pPr>
              <a:spcBef>
                <a:spcPct val="50000"/>
              </a:spcBef>
              <a:buFontTx/>
              <a:buChar char="•"/>
              <a:defRPr/>
            </a:pPr>
            <a:r>
              <a:rPr lang="en-US" sz="2400" dirty="0">
                <a:latin typeface="Source Sans Pro" panose="020B0503030403020204" pitchFamily="34" charset="0"/>
                <a:ea typeface="Source Sans Pro" panose="020B0503030403020204" pitchFamily="34" charset="0"/>
              </a:rPr>
              <a:t>Person with highest demand is charged P</a:t>
            </a:r>
            <a:r>
              <a:rPr lang="en-US" sz="2400" baseline="-25000" dirty="0">
                <a:latin typeface="Source Sans Pro" panose="020B0503030403020204" pitchFamily="34" charset="0"/>
                <a:ea typeface="Source Sans Pro" panose="020B0503030403020204" pitchFamily="34" charset="0"/>
              </a:rPr>
              <a:t>1</a:t>
            </a:r>
          </a:p>
          <a:p>
            <a:pPr>
              <a:spcBef>
                <a:spcPct val="50000"/>
              </a:spcBef>
              <a:buFontTx/>
              <a:buChar char="•"/>
              <a:defRPr/>
            </a:pPr>
            <a:r>
              <a:rPr lang="en-US" sz="2400" dirty="0">
                <a:latin typeface="Source Sans Pro" panose="020B0503030403020204" pitchFamily="34" charset="0"/>
                <a:ea typeface="Source Sans Pro" panose="020B0503030403020204" pitchFamily="34" charset="0"/>
              </a:rPr>
              <a:t>Person with 2</a:t>
            </a:r>
            <a:r>
              <a:rPr lang="en-US" sz="2400" baseline="30000" dirty="0">
                <a:latin typeface="Source Sans Pro" panose="020B0503030403020204" pitchFamily="34" charset="0"/>
                <a:ea typeface="Source Sans Pro" panose="020B0503030403020204" pitchFamily="34" charset="0"/>
              </a:rPr>
              <a:t>nd</a:t>
            </a:r>
            <a:r>
              <a:rPr lang="en-US" sz="2400" dirty="0">
                <a:latin typeface="Source Sans Pro" panose="020B0503030403020204" pitchFamily="34" charset="0"/>
                <a:ea typeface="Source Sans Pro" panose="020B0503030403020204" pitchFamily="34" charset="0"/>
              </a:rPr>
              <a:t>-highest demand is charged P</a:t>
            </a:r>
            <a:r>
              <a:rPr lang="en-US" sz="2400" baseline="-25000" dirty="0">
                <a:latin typeface="Source Sans Pro" panose="020B0503030403020204" pitchFamily="34" charset="0"/>
                <a:ea typeface="Source Sans Pro" panose="020B0503030403020204" pitchFamily="34" charset="0"/>
              </a:rPr>
              <a:t>2</a:t>
            </a:r>
          </a:p>
          <a:p>
            <a:pPr>
              <a:spcBef>
                <a:spcPct val="50000"/>
              </a:spcBef>
              <a:buFontTx/>
              <a:buChar char="•"/>
              <a:defRPr/>
            </a:pPr>
            <a:r>
              <a:rPr lang="en-US" sz="2400" dirty="0">
                <a:latin typeface="Source Sans Pro" panose="020B0503030403020204" pitchFamily="34" charset="0"/>
                <a:ea typeface="Source Sans Pro" panose="020B0503030403020204" pitchFamily="34" charset="0"/>
              </a:rPr>
              <a:t>And so on</a:t>
            </a:r>
          </a:p>
          <a:p>
            <a:pPr>
              <a:spcBef>
                <a:spcPct val="50000"/>
              </a:spcBef>
              <a:buFontTx/>
              <a:buChar char="•"/>
              <a:defRPr/>
            </a:pPr>
            <a:r>
              <a:rPr lang="en-US" sz="2400" b="1" dirty="0">
                <a:latin typeface="Source Sans Pro" panose="020B0503030403020204" pitchFamily="34" charset="0"/>
                <a:ea typeface="Source Sans Pro" panose="020B0503030403020204" pitchFamily="34" charset="0"/>
              </a:rPr>
              <a:t>Revenue </a:t>
            </a:r>
            <a:r>
              <a:rPr lang="en-US" sz="2400" dirty="0">
                <a:latin typeface="Source Sans Pro" panose="020B0503030403020204" pitchFamily="34" charset="0"/>
                <a:ea typeface="Source Sans Pro" panose="020B0503030403020204" pitchFamily="34" charset="0"/>
              </a:rPr>
              <a:t>from each is shaded under demand</a:t>
            </a:r>
          </a:p>
          <a:p>
            <a:pPr>
              <a:spcBef>
                <a:spcPct val="50000"/>
              </a:spcBef>
              <a:buFontTx/>
              <a:buChar char="•"/>
              <a:defRPr/>
            </a:pPr>
            <a:r>
              <a:rPr lang="en-US" sz="2400" dirty="0">
                <a:latin typeface="Source Sans Pro" panose="020B0503030403020204" pitchFamily="34" charset="0"/>
                <a:ea typeface="Source Sans Pro" panose="020B0503030403020204" pitchFamily="34" charset="0"/>
              </a:rPr>
              <a:t>Firm serves </a:t>
            </a:r>
            <a:r>
              <a:rPr lang="en-US" sz="2400" b="1" dirty="0">
                <a:latin typeface="Source Sans Pro" panose="020B0503030403020204" pitchFamily="34" charset="0"/>
                <a:ea typeface="Source Sans Pro" panose="020B0503030403020204" pitchFamily="34" charset="0"/>
              </a:rPr>
              <a:t>all consumers </a:t>
            </a:r>
            <a:r>
              <a:rPr lang="en-US" sz="2400" dirty="0">
                <a:latin typeface="Source Sans Pro" panose="020B0503030403020204" pitchFamily="34" charset="0"/>
                <a:ea typeface="Source Sans Pro" panose="020B0503030403020204" pitchFamily="34" charset="0"/>
              </a:rPr>
              <a:t>willing to pay a </a:t>
            </a:r>
            <a:r>
              <a:rPr lang="en-US" sz="2400" b="1" dirty="0">
                <a:latin typeface="Source Sans Pro" panose="020B0503030403020204" pitchFamily="34" charset="0"/>
                <a:ea typeface="Source Sans Pro" panose="020B0503030403020204" pitchFamily="34" charset="0"/>
              </a:rPr>
              <a:t>price above </a:t>
            </a:r>
            <a:r>
              <a:rPr lang="en-US" sz="2400" dirty="0">
                <a:latin typeface="Source Sans Pro" panose="020B0503030403020204" pitchFamily="34" charset="0"/>
                <a:ea typeface="Source Sans Pro" panose="020B0503030403020204" pitchFamily="34" charset="0"/>
              </a:rPr>
              <a:t>cost to serve</a:t>
            </a:r>
          </a:p>
        </p:txBody>
      </p:sp>
      <p:sp>
        <p:nvSpPr>
          <p:cNvPr id="54" name="Text Box 33">
            <a:extLst>
              <a:ext uri="{FF2B5EF4-FFF2-40B4-BE49-F238E27FC236}">
                <a16:creationId xmlns:a16="http://schemas.microsoft.com/office/drawing/2014/main" id="{8A7A10B6-4265-41AC-7B1A-529D68A8940D}"/>
              </a:ext>
            </a:extLst>
          </p:cNvPr>
          <p:cNvSpPr txBox="1">
            <a:spLocks noChangeArrowheads="1"/>
          </p:cNvSpPr>
          <p:nvPr/>
        </p:nvSpPr>
        <p:spPr bwMode="auto">
          <a:xfrm>
            <a:off x="812085" y="2426277"/>
            <a:ext cx="4667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P</a:t>
            </a:r>
            <a:r>
              <a:rPr lang="en-US" altLang="zh-CN" baseline="-25000" dirty="0">
                <a:latin typeface="Source Sans Pro" panose="020B0503030403020204" pitchFamily="34" charset="0"/>
                <a:ea typeface="Source Sans Pro" panose="020B0503030403020204" pitchFamily="34" charset="0"/>
              </a:rPr>
              <a:t>1</a:t>
            </a:r>
            <a:endParaRPr lang="en-US" altLang="en-US" baseline="-25000" dirty="0">
              <a:latin typeface="Source Sans Pro" panose="020B0503030403020204" pitchFamily="34" charset="0"/>
              <a:ea typeface="Source Sans Pro" panose="020B0503030403020204" pitchFamily="34" charset="0"/>
            </a:endParaRPr>
          </a:p>
        </p:txBody>
      </p:sp>
      <p:sp>
        <p:nvSpPr>
          <p:cNvPr id="55" name="Text Box 34">
            <a:extLst>
              <a:ext uri="{FF2B5EF4-FFF2-40B4-BE49-F238E27FC236}">
                <a16:creationId xmlns:a16="http://schemas.microsoft.com/office/drawing/2014/main" id="{09524B8B-C2CC-60D3-31C3-B8AEAE54A2FE}"/>
              </a:ext>
            </a:extLst>
          </p:cNvPr>
          <p:cNvSpPr txBox="1">
            <a:spLocks noChangeArrowheads="1"/>
          </p:cNvSpPr>
          <p:nvPr/>
        </p:nvSpPr>
        <p:spPr bwMode="auto">
          <a:xfrm>
            <a:off x="666611" y="2597727"/>
            <a:ext cx="4667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P</a:t>
            </a:r>
            <a:r>
              <a:rPr lang="en-US" altLang="zh-CN" baseline="-25000" dirty="0">
                <a:latin typeface="Source Sans Pro" panose="020B0503030403020204" pitchFamily="34" charset="0"/>
                <a:ea typeface="Source Sans Pro" panose="020B0503030403020204" pitchFamily="34" charset="0"/>
              </a:rPr>
              <a:t>2</a:t>
            </a:r>
            <a:endParaRPr lang="en-US" altLang="en-US" baseline="-25000" dirty="0">
              <a:latin typeface="Source Sans Pro" panose="020B0503030403020204" pitchFamily="34" charset="0"/>
              <a:ea typeface="Source Sans Pro" panose="020B0503030403020204" pitchFamily="34" charset="0"/>
            </a:endParaRPr>
          </a:p>
        </p:txBody>
      </p:sp>
      <p:sp>
        <p:nvSpPr>
          <p:cNvPr id="56" name="Rectangle 3">
            <a:extLst>
              <a:ext uri="{FF2B5EF4-FFF2-40B4-BE49-F238E27FC236}">
                <a16:creationId xmlns:a16="http://schemas.microsoft.com/office/drawing/2014/main" id="{C963DEE8-F744-BAF1-59A2-4A9B42690F6D}"/>
              </a:ext>
            </a:extLst>
          </p:cNvPr>
          <p:cNvSpPr txBox="1">
            <a:spLocks noChangeArrowheads="1"/>
          </p:cNvSpPr>
          <p:nvPr/>
        </p:nvSpPr>
        <p:spPr bwMode="auto">
          <a:xfrm>
            <a:off x="365761" y="1066800"/>
            <a:ext cx="9867266"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Source Sans Pro" panose="020B050303040302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0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0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t>What if the firm knows </a:t>
            </a:r>
            <a:r>
              <a:rPr lang="en-US" altLang="en-US" sz="2400" b="1" kern="0" dirty="0"/>
              <a:t>everything </a:t>
            </a:r>
            <a:r>
              <a:rPr lang="en-US" altLang="en-US" sz="2400" kern="0" dirty="0"/>
              <a:t>about each of its potential customers?</a:t>
            </a:r>
          </a:p>
          <a:p>
            <a:pPr lvl="1"/>
            <a:r>
              <a:rPr lang="en-US" altLang="en-US" sz="2400" kern="0" dirty="0"/>
              <a:t>Charge them each the </a:t>
            </a:r>
            <a:r>
              <a:rPr lang="en-US" altLang="en-US" sz="2400" b="1" kern="0" dirty="0"/>
              <a:t>maximum </a:t>
            </a:r>
            <a:r>
              <a:rPr lang="en-US" altLang="en-US" sz="2400" kern="0" dirty="0"/>
              <a:t>they would pay</a:t>
            </a:r>
          </a:p>
        </p:txBody>
      </p:sp>
      <p:sp>
        <p:nvSpPr>
          <p:cNvPr id="57" name="Line 13">
            <a:extLst>
              <a:ext uri="{FF2B5EF4-FFF2-40B4-BE49-F238E27FC236}">
                <a16:creationId xmlns:a16="http://schemas.microsoft.com/office/drawing/2014/main" id="{3E85A66A-ECCD-1B84-31DC-1915CA4623DC}"/>
              </a:ext>
            </a:extLst>
          </p:cNvPr>
          <p:cNvSpPr>
            <a:spLocks noChangeShapeType="1"/>
          </p:cNvSpPr>
          <p:nvPr/>
        </p:nvSpPr>
        <p:spPr bwMode="auto">
          <a:xfrm>
            <a:off x="1217083" y="4385519"/>
            <a:ext cx="384914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000">
              <a:latin typeface="Source Sans Pro" panose="020B0503030403020204" pitchFamily="34" charset="0"/>
              <a:ea typeface="Source Sans Pro" panose="020B0503030403020204" pitchFamily="34" charset="0"/>
              <a:cs typeface="ＭＳ Ｐゴシック" charset="0"/>
            </a:endParaRPr>
          </a:p>
        </p:txBody>
      </p:sp>
      <p:sp>
        <p:nvSpPr>
          <p:cNvPr id="58" name="Text Box 14">
            <a:extLst>
              <a:ext uri="{FF2B5EF4-FFF2-40B4-BE49-F238E27FC236}">
                <a16:creationId xmlns:a16="http://schemas.microsoft.com/office/drawing/2014/main" id="{77FC4C3E-F891-7B88-90E7-62791B487391}"/>
              </a:ext>
            </a:extLst>
          </p:cNvPr>
          <p:cNvSpPr txBox="1">
            <a:spLocks noChangeArrowheads="1"/>
          </p:cNvSpPr>
          <p:nvPr/>
        </p:nvSpPr>
        <p:spPr bwMode="auto">
          <a:xfrm>
            <a:off x="3925297" y="3554522"/>
            <a:ext cx="14057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cs typeface="Times New Roman" panose="02020603050405020304" pitchFamily="18" charset="0"/>
              </a:rPr>
              <a:t>Cost to produce</a:t>
            </a:r>
            <a:endParaRPr lang="en-US" altLang="en-US" dirty="0">
              <a:latin typeface="Source Sans Pro" panose="020B0503030403020204" pitchFamily="34" charset="0"/>
              <a:ea typeface="Source Sans Pro" panose="020B0503030403020204" pitchFamily="34"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051E457-B056-999E-254E-47C34BC0B8FE}"/>
                  </a:ext>
                </a:extLst>
              </p14:cNvPr>
              <p14:cNvContentPartPr/>
              <p14:nvPr/>
            </p14:nvContentPartPr>
            <p14:xfrm>
              <a:off x="3726360" y="4479120"/>
              <a:ext cx="674640" cy="483480"/>
            </p14:xfrm>
          </p:contentPart>
        </mc:Choice>
        <mc:Fallback>
          <p:pic>
            <p:nvPicPr>
              <p:cNvPr id="3" name="Ink 2">
                <a:extLst>
                  <a:ext uri="{FF2B5EF4-FFF2-40B4-BE49-F238E27FC236}">
                    <a16:creationId xmlns:a16="http://schemas.microsoft.com/office/drawing/2014/main" id="{B051E457-B056-999E-254E-47C34BC0B8FE}"/>
                  </a:ext>
                </a:extLst>
              </p:cNvPr>
              <p:cNvPicPr/>
              <p:nvPr/>
            </p:nvPicPr>
            <p:blipFill>
              <a:blip r:embed="rId3"/>
              <a:stretch>
                <a:fillRect/>
              </a:stretch>
            </p:blipFill>
            <p:spPr>
              <a:xfrm>
                <a:off x="3710160" y="4462920"/>
                <a:ext cx="707040" cy="515880"/>
              </a:xfrm>
              <a:prstGeom prst="rect">
                <a:avLst/>
              </a:prstGeom>
            </p:spPr>
          </p:pic>
        </mc:Fallback>
      </mc:AlternateContent>
    </p:spTree>
    <p:extLst>
      <p:ext uri="{BB962C8B-B14F-4D97-AF65-F5344CB8AC3E}">
        <p14:creationId xmlns:p14="http://schemas.microsoft.com/office/powerpoint/2010/main" val="261782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5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5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55"/>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3">
                                            <p:txEl>
                                              <p:pRg st="4" end="4"/>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3">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1" grpId="0" animBg="1"/>
      <p:bldP spid="32" grpId="0" animBg="1"/>
      <p:bldP spid="33"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54" grpId="0"/>
      <p:bldP spid="54" grpId="1"/>
      <p:bldP spid="55" grpId="0"/>
      <p:bldP spid="55" grpId="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en-US" altLang="en-US" dirty="0"/>
              <a:t>Two key properties of 1</a:t>
            </a:r>
            <a:r>
              <a:rPr lang="en-US" altLang="en-US" baseline="30000" dirty="0"/>
              <a:t>st</a:t>
            </a:r>
            <a:r>
              <a:rPr lang="en-US" altLang="en-US" dirty="0"/>
              <a:t> degree price discrimination</a:t>
            </a:r>
          </a:p>
        </p:txBody>
      </p:sp>
      <p:sp>
        <p:nvSpPr>
          <p:cNvPr id="327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2C45FC86-B4A0-402B-B1DB-E037D038243B}" type="slidenum">
              <a:rPr lang="en-US" altLang="en-US" sz="1400">
                <a:latin typeface="Source Sans Pro" panose="020B0503030403020204" pitchFamily="34" charset="0"/>
                <a:ea typeface="Source Sans Pro" panose="020B0503030403020204" pitchFamily="34" charset="0"/>
              </a:rPr>
              <a:pPr eaLnBrk="1" hangingPunct="1"/>
              <a:t>37</a:t>
            </a:fld>
            <a:endParaRPr lang="en-US" altLang="en-US" sz="1400" dirty="0">
              <a:latin typeface="Source Sans Pro" panose="020B0503030403020204" pitchFamily="34" charset="0"/>
              <a:ea typeface="Source Sans Pro" panose="020B0503030403020204" pitchFamily="34" charset="0"/>
            </a:endParaRPr>
          </a:p>
        </p:txBody>
      </p:sp>
      <p:grpSp>
        <p:nvGrpSpPr>
          <p:cNvPr id="8" name="Group 7">
            <a:extLst>
              <a:ext uri="{FF2B5EF4-FFF2-40B4-BE49-F238E27FC236}">
                <a16:creationId xmlns:a16="http://schemas.microsoft.com/office/drawing/2014/main" id="{630F2221-33FD-3604-53C2-4EDFED0990D2}"/>
              </a:ext>
            </a:extLst>
          </p:cNvPr>
          <p:cNvGrpSpPr/>
          <p:nvPr/>
        </p:nvGrpSpPr>
        <p:grpSpPr>
          <a:xfrm>
            <a:off x="10584029" y="123520"/>
            <a:ext cx="1308370" cy="338554"/>
            <a:chOff x="10584029" y="123520"/>
            <a:chExt cx="1308370" cy="338554"/>
          </a:xfrm>
        </p:grpSpPr>
        <p:sp>
          <p:nvSpPr>
            <p:cNvPr id="9" name="TextBox 8">
              <a:extLst>
                <a:ext uri="{FF2B5EF4-FFF2-40B4-BE49-F238E27FC236}">
                  <a16:creationId xmlns:a16="http://schemas.microsoft.com/office/drawing/2014/main" id="{7787B5A3-A918-07F6-315D-E35C61713BB7}"/>
                </a:ext>
              </a:extLst>
            </p:cNvPr>
            <p:cNvSpPr txBox="1"/>
            <p:nvPr/>
          </p:nvSpPr>
          <p:spPr>
            <a:xfrm>
              <a:off x="10584029" y="123520"/>
              <a:ext cx="1308370"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1</a:t>
              </a:r>
              <a:r>
                <a:rPr lang="en-US" sz="1600" baseline="30000" dirty="0">
                  <a:latin typeface="Source Sans Pro" panose="020B0503030403020204" pitchFamily="34" charset="0"/>
                  <a:ea typeface="Source Sans Pro" panose="020B0503030403020204" pitchFamily="34" charset="0"/>
                </a:rPr>
                <a:t>st</a:t>
              </a:r>
              <a:r>
                <a:rPr lang="en-US" sz="1600" dirty="0">
                  <a:latin typeface="Source Sans Pro" panose="020B0503030403020204" pitchFamily="34" charset="0"/>
                  <a:ea typeface="Source Sans Pro" panose="020B0503030403020204" pitchFamily="34" charset="0"/>
                </a:rPr>
                <a:t> degree PD</a:t>
              </a:r>
            </a:p>
          </p:txBody>
        </p:sp>
        <p:cxnSp>
          <p:nvCxnSpPr>
            <p:cNvPr id="10" name="Straight Connector 9">
              <a:extLst>
                <a:ext uri="{FF2B5EF4-FFF2-40B4-BE49-F238E27FC236}">
                  <a16:creationId xmlns:a16="http://schemas.microsoft.com/office/drawing/2014/main" id="{80BED36E-C7B2-29A2-4382-2D6622FCDBFA}"/>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2F28FF8-36A7-3BE6-27CD-4EF3D0F650A5}"/>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4E79C947-57C7-8A12-F1E9-B3513111C30F}"/>
              </a:ext>
            </a:extLst>
          </p:cNvPr>
          <p:cNvGrpSpPr/>
          <p:nvPr/>
        </p:nvGrpSpPr>
        <p:grpSpPr>
          <a:xfrm>
            <a:off x="1045464" y="2547182"/>
            <a:ext cx="8305800" cy="984885"/>
            <a:chOff x="381000" y="2179115"/>
            <a:chExt cx="8305800" cy="984885"/>
          </a:xfrm>
        </p:grpSpPr>
        <p:sp>
          <p:nvSpPr>
            <p:cNvPr id="3" name="Rectangle 3">
              <a:extLst>
                <a:ext uri="{FF2B5EF4-FFF2-40B4-BE49-F238E27FC236}">
                  <a16:creationId xmlns:a16="http://schemas.microsoft.com/office/drawing/2014/main" id="{B379B6B8-F147-FCF4-34C0-6565342811A7}"/>
                </a:ext>
              </a:extLst>
            </p:cNvPr>
            <p:cNvSpPr txBox="1">
              <a:spLocks noChangeArrowheads="1"/>
            </p:cNvSpPr>
            <p:nvPr/>
          </p:nvSpPr>
          <p:spPr bwMode="auto">
            <a:xfrm>
              <a:off x="457200" y="2179115"/>
              <a:ext cx="822960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Deadweight loss is </a:t>
              </a:r>
              <a:r>
                <a:rPr lang="en-US" altLang="en-US" sz="2400" b="1" kern="0" dirty="0">
                  <a:latin typeface="Source Sans Pro" panose="020B0503030403020204" pitchFamily="34" charset="0"/>
                  <a:ea typeface="ＭＳ Ｐゴシック" pitchFamily="34" charset="-128"/>
                </a:rPr>
                <a:t>zero</a:t>
              </a:r>
            </a:p>
            <a:p>
              <a:pPr lvl="1"/>
              <a:r>
                <a:rPr lang="en-US" altLang="en-US" sz="2400" kern="0" dirty="0">
                  <a:latin typeface="Source Sans Pro" panose="020B0503030403020204" pitchFamily="34" charset="0"/>
                  <a:ea typeface="ＭＳ Ｐゴシック" pitchFamily="34" charset="-128"/>
                </a:rPr>
                <a:t>The market is </a:t>
              </a:r>
              <a:r>
                <a:rPr lang="en-US" altLang="en-US" sz="2400" b="1" kern="0" dirty="0">
                  <a:latin typeface="Source Sans Pro" panose="020B0503030403020204" pitchFamily="34" charset="0"/>
                  <a:ea typeface="ＭＳ Ｐゴシック" pitchFamily="34" charset="-128"/>
                </a:rPr>
                <a:t>efficient</a:t>
              </a:r>
            </a:p>
          </p:txBody>
        </p:sp>
        <p:sp>
          <p:nvSpPr>
            <p:cNvPr id="4" name="Oval 3">
              <a:extLst>
                <a:ext uri="{FF2B5EF4-FFF2-40B4-BE49-F238E27FC236}">
                  <a16:creationId xmlns:a16="http://schemas.microsoft.com/office/drawing/2014/main" id="{DA730223-D411-4811-BEDF-8D4BE0F05207}"/>
                </a:ext>
              </a:extLst>
            </p:cNvPr>
            <p:cNvSpPr/>
            <p:nvPr/>
          </p:nvSpPr>
          <p:spPr>
            <a:xfrm>
              <a:off x="381000" y="2209800"/>
              <a:ext cx="381000" cy="381000"/>
            </a:xfrm>
            <a:prstGeom prst="ellipse">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2</a:t>
              </a:r>
            </a:p>
          </p:txBody>
        </p:sp>
      </p:grpSp>
      <p:sp>
        <p:nvSpPr>
          <p:cNvPr id="5" name="Rectangle 3">
            <a:extLst>
              <a:ext uri="{FF2B5EF4-FFF2-40B4-BE49-F238E27FC236}">
                <a16:creationId xmlns:a16="http://schemas.microsoft.com/office/drawing/2014/main" id="{2E3A160F-CE50-EF76-D44B-ABE673A52462}"/>
              </a:ext>
            </a:extLst>
          </p:cNvPr>
          <p:cNvSpPr txBox="1">
            <a:spLocks noChangeArrowheads="1"/>
          </p:cNvSpPr>
          <p:nvPr/>
        </p:nvSpPr>
        <p:spPr bwMode="auto">
          <a:xfrm>
            <a:off x="1121664" y="3709824"/>
            <a:ext cx="9988296"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First-degree price discrimination is probably </a:t>
            </a:r>
            <a:r>
              <a:rPr lang="en-US" altLang="en-US" sz="2400" b="1" kern="0" dirty="0">
                <a:latin typeface="Source Sans Pro" panose="020B0503030403020204" pitchFamily="34" charset="0"/>
                <a:ea typeface="ＭＳ Ｐゴシック" pitchFamily="34" charset="-128"/>
              </a:rPr>
              <a:t>impossible in practice</a:t>
            </a:r>
            <a:r>
              <a:rPr lang="en-US" altLang="en-US" sz="2400" kern="0" dirty="0">
                <a:latin typeface="Source Sans Pro" panose="020B0503030403020204" pitchFamily="34" charset="0"/>
                <a:ea typeface="ＭＳ Ｐゴシック" pitchFamily="34" charset="-128"/>
              </a:rPr>
              <a:t>, but other forms of price discrimination share some characteristics</a:t>
            </a:r>
          </a:p>
          <a:p>
            <a:pPr lvl="1"/>
            <a:r>
              <a:rPr lang="en-US" altLang="en-US" sz="2400" b="1" kern="0" dirty="0">
                <a:latin typeface="Source Sans Pro" panose="020B0503030403020204" pitchFamily="34" charset="0"/>
                <a:ea typeface="Source Sans Pro" panose="020B0503030403020204" pitchFamily="34" charset="0"/>
              </a:rPr>
              <a:t>More consumers </a:t>
            </a:r>
            <a:r>
              <a:rPr lang="en-US" altLang="en-US" sz="2400" kern="0" dirty="0">
                <a:latin typeface="Source Sans Pro" panose="020B0503030403020204" pitchFamily="34" charset="0"/>
                <a:ea typeface="Source Sans Pro" panose="020B0503030403020204" pitchFamily="34" charset="0"/>
              </a:rPr>
              <a:t>may be </a:t>
            </a:r>
            <a:r>
              <a:rPr lang="en-US" altLang="en-US" sz="2400" b="1" kern="0" dirty="0">
                <a:latin typeface="Source Sans Pro" panose="020B0503030403020204" pitchFamily="34" charset="0"/>
                <a:ea typeface="Source Sans Pro" panose="020B0503030403020204" pitchFamily="34" charset="0"/>
              </a:rPr>
              <a:t>served</a:t>
            </a:r>
            <a:endParaRPr lang="en-US" altLang="en-US" sz="2400" kern="0" dirty="0">
              <a:latin typeface="Source Sans Pro" panose="020B0503030403020204" pitchFamily="34" charset="0"/>
              <a:ea typeface="Source Sans Pro" panose="020B0503030403020204" pitchFamily="34" charset="0"/>
            </a:endParaRPr>
          </a:p>
          <a:p>
            <a:pPr lvl="1"/>
            <a:r>
              <a:rPr lang="en-US" altLang="en-US" sz="2400" b="1" kern="0" dirty="0">
                <a:latin typeface="Source Sans Pro" panose="020B0503030403020204" pitchFamily="34" charset="0"/>
                <a:ea typeface="Source Sans Pro" panose="020B0503030403020204" pitchFamily="34" charset="0"/>
              </a:rPr>
              <a:t>Firm captures some </a:t>
            </a:r>
            <a:r>
              <a:rPr lang="en-US" altLang="en-US" sz="2400" kern="0" dirty="0">
                <a:latin typeface="Source Sans Pro" panose="020B0503030403020204" pitchFamily="34" charset="0"/>
                <a:ea typeface="Source Sans Pro" panose="020B0503030403020204" pitchFamily="34" charset="0"/>
              </a:rPr>
              <a:t>of the high-demand </a:t>
            </a:r>
            <a:r>
              <a:rPr lang="en-US" altLang="en-US" sz="2400" b="1" kern="0" dirty="0">
                <a:latin typeface="Source Sans Pro" panose="020B0503030403020204" pitchFamily="34" charset="0"/>
                <a:ea typeface="Source Sans Pro" panose="020B0503030403020204" pitchFamily="34" charset="0"/>
              </a:rPr>
              <a:t>consumer surplus</a:t>
            </a:r>
            <a:endParaRPr lang="en-US" altLang="en-US" sz="2400" kern="0" dirty="0">
              <a:latin typeface="Source Sans Pro" panose="020B0503030403020204" pitchFamily="34" charset="0"/>
              <a:ea typeface="Source Sans Pro" panose="020B0503030403020204" pitchFamily="34" charset="0"/>
            </a:endParaRPr>
          </a:p>
        </p:txBody>
      </p:sp>
      <p:grpSp>
        <p:nvGrpSpPr>
          <p:cNvPr id="6" name="Group 5">
            <a:extLst>
              <a:ext uri="{FF2B5EF4-FFF2-40B4-BE49-F238E27FC236}">
                <a16:creationId xmlns:a16="http://schemas.microsoft.com/office/drawing/2014/main" id="{BCD91354-41FC-8CB1-3B9B-F283E86F01DD}"/>
              </a:ext>
            </a:extLst>
          </p:cNvPr>
          <p:cNvGrpSpPr/>
          <p:nvPr/>
        </p:nvGrpSpPr>
        <p:grpSpPr>
          <a:xfrm>
            <a:off x="1045464" y="1415225"/>
            <a:ext cx="8305800" cy="984885"/>
            <a:chOff x="381000" y="1204913"/>
            <a:chExt cx="8305800" cy="984885"/>
          </a:xfrm>
        </p:grpSpPr>
        <p:sp>
          <p:nvSpPr>
            <p:cNvPr id="7" name="Rectangle 3">
              <a:extLst>
                <a:ext uri="{FF2B5EF4-FFF2-40B4-BE49-F238E27FC236}">
                  <a16:creationId xmlns:a16="http://schemas.microsoft.com/office/drawing/2014/main" id="{5856E1CB-7A69-D4FF-C19A-ADAB09296AB0}"/>
                </a:ext>
              </a:extLst>
            </p:cNvPr>
            <p:cNvSpPr txBox="1">
              <a:spLocks noChangeArrowheads="1"/>
            </p:cNvSpPr>
            <p:nvPr/>
          </p:nvSpPr>
          <p:spPr bwMode="auto">
            <a:xfrm>
              <a:off x="457200" y="1204913"/>
              <a:ext cx="822960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Consumers retain </a:t>
              </a:r>
              <a:r>
                <a:rPr lang="en-US" altLang="en-US" sz="2400" b="1" kern="0" dirty="0">
                  <a:latin typeface="Source Sans Pro" panose="020B0503030403020204" pitchFamily="34" charset="0"/>
                  <a:ea typeface="ＭＳ Ｐゴシック" pitchFamily="34" charset="-128"/>
                </a:rPr>
                <a:t>no surplus</a:t>
              </a:r>
            </a:p>
            <a:p>
              <a:pPr lvl="1"/>
              <a:r>
                <a:rPr lang="en-US" altLang="en-US" sz="2400" kern="0" dirty="0">
                  <a:latin typeface="Source Sans Pro" panose="020B0503030403020204" pitchFamily="34" charset="0"/>
                  <a:ea typeface="ＭＳ Ｐゴシック" pitchFamily="34" charset="-128"/>
                </a:rPr>
                <a:t>The </a:t>
              </a:r>
              <a:r>
                <a:rPr lang="en-US" altLang="en-US" sz="2400" b="1" kern="0" dirty="0">
                  <a:latin typeface="Source Sans Pro" panose="020B0503030403020204" pitchFamily="34" charset="0"/>
                  <a:ea typeface="ＭＳ Ｐゴシック" pitchFamily="34" charset="-128"/>
                </a:rPr>
                <a:t>firm captures all </a:t>
              </a:r>
              <a:r>
                <a:rPr lang="en-US" altLang="en-US" sz="2400" kern="0" dirty="0">
                  <a:latin typeface="Source Sans Pro" panose="020B0503030403020204" pitchFamily="34" charset="0"/>
                  <a:ea typeface="ＭＳ Ｐゴシック" pitchFamily="34" charset="-128"/>
                </a:rPr>
                <a:t>surplus generated in the market</a:t>
              </a:r>
            </a:p>
          </p:txBody>
        </p:sp>
        <p:sp>
          <p:nvSpPr>
            <p:cNvPr id="12" name="Oval 11">
              <a:extLst>
                <a:ext uri="{FF2B5EF4-FFF2-40B4-BE49-F238E27FC236}">
                  <a16:creationId xmlns:a16="http://schemas.microsoft.com/office/drawing/2014/main" id="{473E865E-46BB-BDDB-1DFA-338B7B7619F3}"/>
                </a:ext>
              </a:extLst>
            </p:cNvPr>
            <p:cNvSpPr/>
            <p:nvPr/>
          </p:nvSpPr>
          <p:spPr>
            <a:xfrm>
              <a:off x="381000" y="1219200"/>
              <a:ext cx="381000" cy="381000"/>
            </a:xfrm>
            <a:prstGeom prst="ellipse">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en-US" altLang="en-US" dirty="0"/>
              <a:t>Example: Colleges and financial aid </a:t>
            </a:r>
          </a:p>
        </p:txBody>
      </p:sp>
      <p:sp>
        <p:nvSpPr>
          <p:cNvPr id="337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4E5C186-51A0-4C67-B1E2-25F0007A9E09}" type="slidenum">
              <a:rPr lang="en-US" altLang="en-US" sz="1400">
                <a:latin typeface="Source Sans Pro" panose="020B0503030403020204" pitchFamily="34" charset="0"/>
                <a:ea typeface="Source Sans Pro" panose="020B0503030403020204" pitchFamily="34" charset="0"/>
              </a:rPr>
              <a:pPr eaLnBrk="1" hangingPunct="1"/>
              <a:t>38</a:t>
            </a:fld>
            <a:endParaRPr lang="en-US" altLang="en-US" sz="1400" dirty="0">
              <a:latin typeface="Source Sans Pro" panose="020B0503030403020204" pitchFamily="34" charset="0"/>
              <a:ea typeface="Source Sans Pro" panose="020B0503030403020204" pitchFamily="34" charset="0"/>
            </a:endParaRPr>
          </a:p>
        </p:txBody>
      </p:sp>
      <p:sp>
        <p:nvSpPr>
          <p:cNvPr id="6" name="TextBox 5"/>
          <p:cNvSpPr txBox="1"/>
          <p:nvPr/>
        </p:nvSpPr>
        <p:spPr>
          <a:xfrm>
            <a:off x="140209" y="6538584"/>
            <a:ext cx="8229600" cy="276999"/>
          </a:xfrm>
          <a:prstGeom prst="rect">
            <a:avLst/>
          </a:prstGeom>
          <a:noFill/>
        </p:spPr>
        <p:txBody>
          <a:bodyPr wrap="square" rtlCol="0">
            <a:spAutoFit/>
          </a:bodyPr>
          <a:lstStyle/>
          <a:p>
            <a:r>
              <a:rPr lang="en-US" sz="1200" dirty="0">
                <a:latin typeface="Source Sans Pro" panose="020B0503030403020204" pitchFamily="34" charset="0"/>
                <a:ea typeface="Source Sans Pro" panose="020B0503030403020204" pitchFamily="34" charset="0"/>
              </a:rPr>
              <a:t>Source: </a:t>
            </a:r>
            <a:r>
              <a:rPr lang="en-US" sz="1200" dirty="0">
                <a:latin typeface="Source Sans Pro" panose="020B0503030403020204" pitchFamily="34" charset="0"/>
              </a:rPr>
              <a:t>“Does </a:t>
            </a:r>
            <a:r>
              <a:rPr lang="en-US" sz="1200" dirty="0">
                <a:latin typeface="Source Sans Pro" panose="020B0503030403020204" pitchFamily="34" charset="0"/>
                <a:ea typeface="Source Sans Pro" panose="020B0503030403020204" pitchFamily="34" charset="0"/>
              </a:rPr>
              <a:t>Federal</a:t>
            </a:r>
            <a:r>
              <a:rPr lang="en-US" sz="1200" dirty="0">
                <a:latin typeface="Source Sans Pro" panose="020B0503030403020204" pitchFamily="34" charset="0"/>
              </a:rPr>
              <a:t> Aid Drive College Tuition?” Regulation, Summer 2016</a:t>
            </a:r>
          </a:p>
        </p:txBody>
      </p:sp>
      <p:grpSp>
        <p:nvGrpSpPr>
          <p:cNvPr id="11" name="Group 10">
            <a:extLst>
              <a:ext uri="{FF2B5EF4-FFF2-40B4-BE49-F238E27FC236}">
                <a16:creationId xmlns:a16="http://schemas.microsoft.com/office/drawing/2014/main" id="{630F2221-33FD-3604-53C2-4EDFED0990D2}"/>
              </a:ext>
            </a:extLst>
          </p:cNvPr>
          <p:cNvGrpSpPr/>
          <p:nvPr/>
        </p:nvGrpSpPr>
        <p:grpSpPr>
          <a:xfrm>
            <a:off x="10584029" y="123520"/>
            <a:ext cx="1308370" cy="338554"/>
            <a:chOff x="10584029" y="123520"/>
            <a:chExt cx="1308370" cy="338554"/>
          </a:xfrm>
        </p:grpSpPr>
        <p:sp>
          <p:nvSpPr>
            <p:cNvPr id="12" name="TextBox 11">
              <a:extLst>
                <a:ext uri="{FF2B5EF4-FFF2-40B4-BE49-F238E27FC236}">
                  <a16:creationId xmlns:a16="http://schemas.microsoft.com/office/drawing/2014/main" id="{7787B5A3-A918-07F6-315D-E35C61713BB7}"/>
                </a:ext>
              </a:extLst>
            </p:cNvPr>
            <p:cNvSpPr txBox="1"/>
            <p:nvPr/>
          </p:nvSpPr>
          <p:spPr>
            <a:xfrm>
              <a:off x="10584029" y="123520"/>
              <a:ext cx="1308370"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1</a:t>
              </a:r>
              <a:r>
                <a:rPr lang="en-US" sz="1600" baseline="30000" dirty="0">
                  <a:latin typeface="Source Sans Pro" panose="020B0503030403020204" pitchFamily="34" charset="0"/>
                  <a:ea typeface="Source Sans Pro" panose="020B0503030403020204" pitchFamily="34" charset="0"/>
                </a:rPr>
                <a:t>st</a:t>
              </a:r>
              <a:r>
                <a:rPr lang="en-US" sz="1600" dirty="0">
                  <a:latin typeface="Source Sans Pro" panose="020B0503030403020204" pitchFamily="34" charset="0"/>
                  <a:ea typeface="Source Sans Pro" panose="020B0503030403020204" pitchFamily="34" charset="0"/>
                </a:rPr>
                <a:t> degree PD</a:t>
              </a:r>
            </a:p>
          </p:txBody>
        </p:sp>
        <p:cxnSp>
          <p:nvCxnSpPr>
            <p:cNvPr id="13" name="Straight Connector 12">
              <a:extLst>
                <a:ext uri="{FF2B5EF4-FFF2-40B4-BE49-F238E27FC236}">
                  <a16:creationId xmlns:a16="http://schemas.microsoft.com/office/drawing/2014/main" id="{80BED36E-C7B2-29A2-4382-2D6622FCDBFA}"/>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2F28FF8-36A7-3BE6-27CD-4EF3D0F650A5}"/>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2" name="Rectangle 3">
            <a:extLst>
              <a:ext uri="{FF2B5EF4-FFF2-40B4-BE49-F238E27FC236}">
                <a16:creationId xmlns:a16="http://schemas.microsoft.com/office/drawing/2014/main" id="{23C7FFB0-9920-6379-FB72-4DCB1319A0C6}"/>
              </a:ext>
            </a:extLst>
          </p:cNvPr>
          <p:cNvSpPr txBox="1">
            <a:spLocks noChangeArrowheads="1"/>
          </p:cNvSpPr>
          <p:nvPr/>
        </p:nvSpPr>
        <p:spPr bwMode="auto">
          <a:xfrm>
            <a:off x="713232" y="1347396"/>
            <a:ext cx="10661904" cy="41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spcBef>
                <a:spcPct val="25000"/>
              </a:spcBef>
              <a:spcAft>
                <a:spcPct val="25000"/>
              </a:spcAft>
            </a:pPr>
            <a:r>
              <a:rPr lang="en-US" altLang="en-US" sz="2800" kern="0"/>
              <a:t>College applicants share a large amount of information with college admission and financial aid officers</a:t>
            </a:r>
          </a:p>
          <a:p>
            <a:pPr lvl="1">
              <a:spcBef>
                <a:spcPct val="25000"/>
              </a:spcBef>
              <a:spcAft>
                <a:spcPct val="25000"/>
              </a:spcAft>
            </a:pPr>
            <a:r>
              <a:rPr lang="en-US" altLang="en-US" sz="2800" kern="0"/>
              <a:t>How and why does this help colleges charge </a:t>
            </a:r>
            <a:r>
              <a:rPr lang="en-US" altLang="en-US" sz="2800" b="1" kern="0"/>
              <a:t>different students different prices</a:t>
            </a:r>
            <a:r>
              <a:rPr lang="en-US" altLang="en-US" sz="2800" kern="0"/>
              <a:t>?</a:t>
            </a:r>
          </a:p>
          <a:p>
            <a:pPr>
              <a:spcBef>
                <a:spcPct val="25000"/>
              </a:spcBef>
              <a:spcAft>
                <a:spcPct val="25000"/>
              </a:spcAft>
            </a:pPr>
            <a:r>
              <a:rPr lang="en-US" altLang="en-US" sz="2800" kern="0"/>
              <a:t>What actions by applicants signal </a:t>
            </a:r>
            <a:r>
              <a:rPr lang="en-US" altLang="en-US" sz="2800" b="1" kern="0"/>
              <a:t>strong demand </a:t>
            </a:r>
            <a:r>
              <a:rPr lang="en-US" altLang="en-US" sz="2800" kern="0"/>
              <a:t>(or low price sensitivity) to a financial aid officer?</a:t>
            </a:r>
          </a:p>
          <a:p>
            <a:pPr>
              <a:spcBef>
                <a:spcPct val="25000"/>
              </a:spcBef>
              <a:spcAft>
                <a:spcPct val="25000"/>
              </a:spcAft>
            </a:pPr>
            <a:r>
              <a:rPr lang="en-US" altLang="en-US" sz="2800" kern="0"/>
              <a:t>How different are the described </a:t>
            </a:r>
            <a:r>
              <a:rPr lang="en-US" altLang="en-US" sz="2800" b="1" kern="0"/>
              <a:t>financial aid policies </a:t>
            </a:r>
            <a:r>
              <a:rPr lang="en-US" altLang="en-US" sz="2800" kern="0"/>
              <a:t>from true first-degree price discrimination?</a:t>
            </a:r>
            <a:endParaRPr lang="en-US" altLang="en-US" sz="2800" kern="0" dirty="0"/>
          </a:p>
        </p:txBody>
      </p:sp>
      <p:sp>
        <p:nvSpPr>
          <p:cNvPr id="3" name="5-Point Star 2">
            <a:extLst>
              <a:ext uri="{FF2B5EF4-FFF2-40B4-BE49-F238E27FC236}">
                <a16:creationId xmlns:a16="http://schemas.microsoft.com/office/drawing/2014/main" id="{4C587C04-DD10-DD82-E9C4-CA30F6D27071}"/>
              </a:ext>
            </a:extLst>
          </p:cNvPr>
          <p:cNvSpPr/>
          <p:nvPr/>
        </p:nvSpPr>
        <p:spPr>
          <a:xfrm>
            <a:off x="12649304"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en-US" altLang="en-US" dirty="0"/>
              <a:t>Example: Online targeting</a:t>
            </a:r>
          </a:p>
        </p:txBody>
      </p:sp>
      <p:sp>
        <p:nvSpPr>
          <p:cNvPr id="337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4E5C186-51A0-4C67-B1E2-25F0007A9E09}" type="slidenum">
              <a:rPr lang="en-US" altLang="en-US" sz="1400">
                <a:latin typeface="Source Sans Pro" panose="020B0503030403020204" pitchFamily="34" charset="0"/>
                <a:ea typeface="Source Sans Pro" panose="020B0503030403020204" pitchFamily="34" charset="0"/>
              </a:rPr>
              <a:pPr eaLnBrk="1" hangingPunct="1"/>
              <a:t>39</a:t>
            </a:fld>
            <a:endParaRPr lang="en-US" altLang="en-US" sz="1400" dirty="0">
              <a:latin typeface="Source Sans Pro" panose="020B0503030403020204" pitchFamily="34" charset="0"/>
              <a:ea typeface="Source Sans Pro" panose="020B0503030403020204" pitchFamily="34" charset="0"/>
            </a:endParaRPr>
          </a:p>
        </p:txBody>
      </p:sp>
      <p:sp>
        <p:nvSpPr>
          <p:cNvPr id="10" name="Rectangle 3"/>
          <p:cNvSpPr txBox="1">
            <a:spLocks noChangeArrowheads="1"/>
          </p:cNvSpPr>
          <p:nvPr/>
        </p:nvSpPr>
        <p:spPr bwMode="auto">
          <a:xfrm>
            <a:off x="1124712" y="1657110"/>
            <a:ext cx="10158984"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spcBef>
                <a:spcPct val="25000"/>
              </a:spcBef>
              <a:spcAft>
                <a:spcPct val="25000"/>
              </a:spcAft>
            </a:pPr>
            <a:r>
              <a:rPr lang="en-US" altLang="en-US" sz="2800" kern="0" dirty="0"/>
              <a:t>How are online retailers trying to approach first degree price discrimination?</a:t>
            </a:r>
          </a:p>
          <a:p>
            <a:pPr>
              <a:spcBef>
                <a:spcPct val="25000"/>
              </a:spcBef>
              <a:spcAft>
                <a:spcPct val="25000"/>
              </a:spcAft>
            </a:pPr>
            <a:r>
              <a:rPr lang="en-US" altLang="en-US" sz="2800" kern="0" dirty="0"/>
              <a:t>What do you think the challenges they will face in implementing this?</a:t>
            </a:r>
          </a:p>
          <a:p>
            <a:pPr lvl="1">
              <a:spcBef>
                <a:spcPct val="25000"/>
              </a:spcBef>
              <a:spcAft>
                <a:spcPct val="25000"/>
              </a:spcAft>
            </a:pPr>
            <a:r>
              <a:rPr lang="en-US" altLang="en-US" sz="2800" kern="0" dirty="0"/>
              <a:t>With consumers?</a:t>
            </a:r>
          </a:p>
          <a:p>
            <a:pPr lvl="1">
              <a:spcBef>
                <a:spcPct val="25000"/>
              </a:spcBef>
              <a:spcAft>
                <a:spcPct val="25000"/>
              </a:spcAft>
            </a:pPr>
            <a:r>
              <a:rPr lang="en-US" altLang="en-US" sz="2800" kern="0" dirty="0"/>
              <a:t>With competitors?</a:t>
            </a:r>
          </a:p>
        </p:txBody>
      </p:sp>
      <p:sp>
        <p:nvSpPr>
          <p:cNvPr id="15" name="Rectangle 14"/>
          <p:cNvSpPr/>
          <p:nvPr/>
        </p:nvSpPr>
        <p:spPr>
          <a:xfrm>
            <a:off x="118873" y="6482969"/>
            <a:ext cx="9996376" cy="307777"/>
          </a:xfrm>
          <a:prstGeom prst="rect">
            <a:avLst/>
          </a:prstGeom>
        </p:spPr>
        <p:txBody>
          <a:bodyPr wrap="square">
            <a:spAutoFit/>
          </a:bodyPr>
          <a:lstStyle/>
          <a:p>
            <a:pPr>
              <a:spcBef>
                <a:spcPct val="25000"/>
              </a:spcBef>
              <a:spcAft>
                <a:spcPct val="25000"/>
              </a:spcAft>
            </a:pPr>
            <a:r>
              <a:rPr lang="en-US" altLang="en-US" sz="1400" dirty="0">
                <a:latin typeface="Source Sans Pro" panose="020B0503030403020204" pitchFamily="34" charset="0"/>
                <a:ea typeface="Source Sans Pro" panose="020B0503030403020204" pitchFamily="34" charset="0"/>
              </a:rPr>
              <a:t>Source: </a:t>
            </a:r>
            <a:r>
              <a:rPr lang="en-US" altLang="en-US" sz="1400" dirty="0">
                <a:latin typeface="Source Sans Pro" panose="020B0503030403020204" pitchFamily="34" charset="0"/>
                <a:ea typeface="Source Sans Pro" panose="020B0503030403020204" pitchFamily="34" charset="0"/>
                <a:hlinkClick r:id="rId2"/>
              </a:rPr>
              <a:t>https://www.theatlantic.com/magazine/archive/2017/05/how-online-shopping-makes-suckers-of-us-all/521448/</a:t>
            </a:r>
            <a:endParaRPr lang="en-US" altLang="en-US" sz="1400" dirty="0">
              <a:latin typeface="Source Sans Pro" panose="020B0503030403020204" pitchFamily="34" charset="0"/>
              <a:ea typeface="Source Sans Pro" panose="020B0503030403020204" pitchFamily="34" charset="0"/>
            </a:endParaRPr>
          </a:p>
        </p:txBody>
      </p:sp>
      <p:grpSp>
        <p:nvGrpSpPr>
          <p:cNvPr id="11" name="Group 10">
            <a:extLst>
              <a:ext uri="{FF2B5EF4-FFF2-40B4-BE49-F238E27FC236}">
                <a16:creationId xmlns:a16="http://schemas.microsoft.com/office/drawing/2014/main" id="{630F2221-33FD-3604-53C2-4EDFED0990D2}"/>
              </a:ext>
            </a:extLst>
          </p:cNvPr>
          <p:cNvGrpSpPr/>
          <p:nvPr/>
        </p:nvGrpSpPr>
        <p:grpSpPr>
          <a:xfrm>
            <a:off x="10584029" y="123520"/>
            <a:ext cx="1308370" cy="338554"/>
            <a:chOff x="10584029" y="123520"/>
            <a:chExt cx="1308370" cy="338554"/>
          </a:xfrm>
        </p:grpSpPr>
        <p:sp>
          <p:nvSpPr>
            <p:cNvPr id="12" name="TextBox 11">
              <a:extLst>
                <a:ext uri="{FF2B5EF4-FFF2-40B4-BE49-F238E27FC236}">
                  <a16:creationId xmlns:a16="http://schemas.microsoft.com/office/drawing/2014/main" id="{7787B5A3-A918-07F6-315D-E35C61713BB7}"/>
                </a:ext>
              </a:extLst>
            </p:cNvPr>
            <p:cNvSpPr txBox="1"/>
            <p:nvPr/>
          </p:nvSpPr>
          <p:spPr>
            <a:xfrm>
              <a:off x="10584029" y="123520"/>
              <a:ext cx="1308370"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1</a:t>
              </a:r>
              <a:r>
                <a:rPr lang="en-US" sz="1600" baseline="30000" dirty="0">
                  <a:latin typeface="Source Sans Pro" panose="020B0503030403020204" pitchFamily="34" charset="0"/>
                  <a:ea typeface="Source Sans Pro" panose="020B0503030403020204" pitchFamily="34" charset="0"/>
                </a:rPr>
                <a:t>st</a:t>
              </a:r>
              <a:r>
                <a:rPr lang="en-US" sz="1600" dirty="0">
                  <a:latin typeface="Source Sans Pro" panose="020B0503030403020204" pitchFamily="34" charset="0"/>
                  <a:ea typeface="Source Sans Pro" panose="020B0503030403020204" pitchFamily="34" charset="0"/>
                </a:rPr>
                <a:t> degree PD</a:t>
              </a:r>
            </a:p>
          </p:txBody>
        </p:sp>
        <p:cxnSp>
          <p:nvCxnSpPr>
            <p:cNvPr id="13" name="Straight Connector 12">
              <a:extLst>
                <a:ext uri="{FF2B5EF4-FFF2-40B4-BE49-F238E27FC236}">
                  <a16:creationId xmlns:a16="http://schemas.microsoft.com/office/drawing/2014/main" id="{80BED36E-C7B2-29A2-4382-2D6622FCDBFA}"/>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2F28FF8-36A7-3BE6-27CD-4EF3D0F650A5}"/>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2" name="5-Point Star 1">
            <a:extLst>
              <a:ext uri="{FF2B5EF4-FFF2-40B4-BE49-F238E27FC236}">
                <a16:creationId xmlns:a16="http://schemas.microsoft.com/office/drawing/2014/main" id="{6F9DD3AB-8184-E81F-F5A1-D812C5272EB7}"/>
              </a:ext>
            </a:extLst>
          </p:cNvPr>
          <p:cNvSpPr/>
          <p:nvPr/>
        </p:nvSpPr>
        <p:spPr>
          <a:xfrm>
            <a:off x="12678801"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057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en-US" altLang="en-US" dirty="0"/>
              <a:t>Third-degree price discrimination</a:t>
            </a:r>
          </a:p>
        </p:txBody>
      </p:sp>
      <p:sp>
        <p:nvSpPr>
          <p:cNvPr id="348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4CAA5C8A-539A-44D8-B032-E14375EF3E4A}" type="slidenum">
              <a:rPr lang="en-US" altLang="en-US" sz="1400">
                <a:latin typeface="Source Sans Pro" panose="020B0503030403020204" pitchFamily="34" charset="0"/>
                <a:ea typeface="Source Sans Pro" panose="020B0503030403020204" pitchFamily="34" charset="0"/>
              </a:rPr>
              <a:pPr eaLnBrk="1" hangingPunct="1"/>
              <a:t>40</a:t>
            </a:fld>
            <a:endParaRPr lang="en-US" altLang="en-US" sz="1400" dirty="0">
              <a:latin typeface="Source Sans Pro" panose="020B0503030403020204" pitchFamily="34" charset="0"/>
              <a:ea typeface="Source Sans Pro" panose="020B0503030403020204" pitchFamily="34" charset="0"/>
            </a:endParaRPr>
          </a:p>
        </p:txBody>
      </p:sp>
      <p:grpSp>
        <p:nvGrpSpPr>
          <p:cNvPr id="7" name="Group 6">
            <a:extLst>
              <a:ext uri="{FF2B5EF4-FFF2-40B4-BE49-F238E27FC236}">
                <a16:creationId xmlns:a16="http://schemas.microsoft.com/office/drawing/2014/main" id="{904327A0-2BC9-7632-8B2A-18B09E289707}"/>
              </a:ext>
            </a:extLst>
          </p:cNvPr>
          <p:cNvGrpSpPr/>
          <p:nvPr/>
        </p:nvGrpSpPr>
        <p:grpSpPr>
          <a:xfrm>
            <a:off x="10553572" y="123520"/>
            <a:ext cx="1369285" cy="338554"/>
            <a:chOff x="10553572" y="123520"/>
            <a:chExt cx="1369285" cy="338554"/>
          </a:xfrm>
        </p:grpSpPr>
        <p:sp>
          <p:nvSpPr>
            <p:cNvPr id="8" name="TextBox 7">
              <a:extLst>
                <a:ext uri="{FF2B5EF4-FFF2-40B4-BE49-F238E27FC236}">
                  <a16:creationId xmlns:a16="http://schemas.microsoft.com/office/drawing/2014/main" id="{C4ED27D8-6D44-5D59-433C-3C3842218019}"/>
                </a:ext>
              </a:extLst>
            </p:cNvPr>
            <p:cNvSpPr txBox="1"/>
            <p:nvPr/>
          </p:nvSpPr>
          <p:spPr>
            <a:xfrm>
              <a:off x="10553572" y="123520"/>
              <a:ext cx="1369285"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3</a:t>
              </a:r>
              <a:r>
                <a:rPr lang="en-US" sz="1600" baseline="30000" dirty="0">
                  <a:latin typeface="Source Sans Pro" panose="020B0503030403020204" pitchFamily="34" charset="0"/>
                  <a:ea typeface="Source Sans Pro" panose="020B0503030403020204" pitchFamily="34" charset="0"/>
                </a:rPr>
                <a:t>rd</a:t>
              </a:r>
              <a:r>
                <a:rPr lang="en-US" sz="1600" dirty="0">
                  <a:latin typeface="Source Sans Pro" panose="020B0503030403020204" pitchFamily="34" charset="0"/>
                  <a:ea typeface="Source Sans Pro" panose="020B0503030403020204" pitchFamily="34" charset="0"/>
                </a:rPr>
                <a:t> degree PD</a:t>
              </a:r>
            </a:p>
          </p:txBody>
        </p:sp>
        <p:cxnSp>
          <p:nvCxnSpPr>
            <p:cNvPr id="9" name="Straight Connector 8">
              <a:extLst>
                <a:ext uri="{FF2B5EF4-FFF2-40B4-BE49-F238E27FC236}">
                  <a16:creationId xmlns:a16="http://schemas.microsoft.com/office/drawing/2014/main" id="{11806C51-0C84-EE2A-A2CB-2233DBADF631}"/>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A7F3E83-553A-841B-9C08-BB31884FA4D4}"/>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BF8A8C1F-2A0A-8D8E-37DD-EF0F62F0EDE5}"/>
              </a:ext>
            </a:extLst>
          </p:cNvPr>
          <p:cNvGrpSpPr/>
          <p:nvPr/>
        </p:nvGrpSpPr>
        <p:grpSpPr>
          <a:xfrm>
            <a:off x="476408" y="4860504"/>
            <a:ext cx="11023091" cy="1354217"/>
            <a:chOff x="307848" y="5077784"/>
            <a:chExt cx="11023091" cy="1354217"/>
          </a:xfrm>
        </p:grpSpPr>
        <p:sp>
          <p:nvSpPr>
            <p:cNvPr id="12" name="Rectangle 3">
              <a:extLst>
                <a:ext uri="{FF2B5EF4-FFF2-40B4-BE49-F238E27FC236}">
                  <a16:creationId xmlns:a16="http://schemas.microsoft.com/office/drawing/2014/main" id="{38F0E80F-4F6E-2BB5-B459-06032D75A2F7}"/>
                </a:ext>
              </a:extLst>
            </p:cNvPr>
            <p:cNvSpPr txBox="1">
              <a:spLocks noChangeArrowheads="1"/>
            </p:cNvSpPr>
            <p:nvPr/>
          </p:nvSpPr>
          <p:spPr bwMode="auto">
            <a:xfrm>
              <a:off x="2430216" y="5077784"/>
              <a:ext cx="8900723"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a:r>
                <a:rPr lang="en-US" altLang="en-US" sz="2400" kern="0" dirty="0">
                  <a:latin typeface="Source Sans Pro" panose="020B0503030403020204" pitchFamily="34" charset="0"/>
                  <a:ea typeface="ＭＳ Ｐゴシック" pitchFamily="34" charset="-128"/>
                </a:rPr>
                <a:t>Charge a </a:t>
              </a:r>
              <a:r>
                <a:rPr lang="en-US" altLang="en-US" sz="2400" b="1" kern="0" dirty="0">
                  <a:latin typeface="Source Sans Pro" panose="020B0503030403020204" pitchFamily="34" charset="0"/>
                  <a:ea typeface="ＭＳ Ｐゴシック" pitchFamily="34" charset="-128"/>
                </a:rPr>
                <a:t>different price </a:t>
              </a:r>
              <a:r>
                <a:rPr lang="en-US" altLang="en-US" sz="2400" kern="0" dirty="0">
                  <a:latin typeface="Source Sans Pro" panose="020B0503030403020204" pitchFamily="34" charset="0"/>
                  <a:ea typeface="ＭＳ Ｐゴシック" pitchFamily="34" charset="-128"/>
                </a:rPr>
                <a:t>to </a:t>
              </a:r>
              <a:r>
                <a:rPr lang="en-US" altLang="en-US" sz="2400" b="1" kern="0" dirty="0">
                  <a:latin typeface="Source Sans Pro" panose="020B0503030403020204" pitchFamily="34" charset="0"/>
                  <a:ea typeface="ＭＳ Ｐゴシック" pitchFamily="34" charset="-128"/>
                </a:rPr>
                <a:t>each group</a:t>
              </a:r>
            </a:p>
            <a:p>
              <a:pPr marL="228600" indent="-228600"/>
              <a:r>
                <a:rPr lang="en-US" altLang="en-US" sz="2400" kern="0" dirty="0">
                  <a:latin typeface="Source Sans Pro" panose="020B0503030403020204" pitchFamily="34" charset="0"/>
                  <a:ea typeface="ＭＳ Ｐゴシック" pitchFamily="34" charset="-128"/>
                </a:rPr>
                <a:t>Select the prices by finding </a:t>
              </a:r>
              <a:r>
                <a:rPr lang="en-US" altLang="en-US" sz="2400" b="1" kern="0" dirty="0">
                  <a:latin typeface="Source Sans Pro" panose="020B0503030403020204" pitchFamily="34" charset="0"/>
                  <a:ea typeface="ＭＳ Ｐゴシック" pitchFamily="34" charset="-128"/>
                </a:rPr>
                <a:t>MR</a:t>
              </a:r>
              <a:r>
                <a:rPr lang="en-US" altLang="en-US" sz="2400" b="1" kern="0" baseline="-25000" dirty="0">
                  <a:latin typeface="Source Sans Pro" panose="020B0503030403020204" pitchFamily="34" charset="0"/>
                  <a:ea typeface="ＭＳ Ｐゴシック" pitchFamily="34" charset="-128"/>
                </a:rPr>
                <a:t>A</a:t>
              </a:r>
              <a:r>
                <a:rPr lang="en-US" altLang="en-US" sz="2400" b="1" kern="0" dirty="0">
                  <a:latin typeface="Source Sans Pro" panose="020B0503030403020204" pitchFamily="34" charset="0"/>
                  <a:ea typeface="ＭＳ Ｐゴシック" pitchFamily="34" charset="-128"/>
                </a:rPr>
                <a:t> = Cost to produce</a:t>
              </a:r>
              <a:r>
                <a:rPr lang="en-US" altLang="en-US" sz="2400" kern="0" dirty="0">
                  <a:latin typeface="Source Sans Pro" panose="020B0503030403020204" pitchFamily="34" charset="0"/>
                  <a:ea typeface="ＭＳ Ｐゴシック" pitchFamily="34" charset="-128"/>
                </a:rPr>
                <a:t> and </a:t>
              </a:r>
              <a:r>
                <a:rPr lang="en-US" altLang="en-US" sz="2400" b="1" kern="0" dirty="0">
                  <a:latin typeface="Source Sans Pro" panose="020B0503030403020204" pitchFamily="34" charset="0"/>
                  <a:ea typeface="ＭＳ Ｐゴシック" pitchFamily="34" charset="-128"/>
                </a:rPr>
                <a:t>MR</a:t>
              </a:r>
              <a:r>
                <a:rPr lang="en-US" altLang="en-US" sz="2400" b="1" kern="0" baseline="-25000" dirty="0">
                  <a:latin typeface="Source Sans Pro" panose="020B0503030403020204" pitchFamily="34" charset="0"/>
                  <a:ea typeface="ＭＳ Ｐゴシック" pitchFamily="34" charset="-128"/>
                </a:rPr>
                <a:t>B</a:t>
              </a:r>
              <a:r>
                <a:rPr lang="en-US" altLang="en-US" sz="2400" b="1" kern="0" dirty="0">
                  <a:latin typeface="Source Sans Pro" panose="020B0503030403020204" pitchFamily="34" charset="0"/>
                  <a:ea typeface="ＭＳ Ｐゴシック" pitchFamily="34" charset="-128"/>
                </a:rPr>
                <a:t> = Cost to produce</a:t>
              </a:r>
            </a:p>
          </p:txBody>
        </p:sp>
        <p:sp>
          <p:nvSpPr>
            <p:cNvPr id="13" name="Rounded Rectangle 12">
              <a:extLst>
                <a:ext uri="{FF2B5EF4-FFF2-40B4-BE49-F238E27FC236}">
                  <a16:creationId xmlns:a16="http://schemas.microsoft.com/office/drawing/2014/main" id="{8777A861-9228-53AC-531A-73524398AA41}"/>
                </a:ext>
              </a:extLst>
            </p:cNvPr>
            <p:cNvSpPr/>
            <p:nvPr/>
          </p:nvSpPr>
          <p:spPr>
            <a:xfrm>
              <a:off x="307848" y="5077784"/>
              <a:ext cx="2122370" cy="1186974"/>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en-US" sz="2400" b="1" kern="0" dirty="0">
                  <a:solidFill>
                    <a:schemeClr val="bg1"/>
                  </a:solidFill>
                  <a:latin typeface="Source Sans Pro" panose="020B0503030403020204" pitchFamily="34" charset="0"/>
                  <a:ea typeface="Source Sans Pro" panose="020B0503030403020204" pitchFamily="34" charset="0"/>
                </a:rPr>
                <a:t>Third-degree price discrimination</a:t>
              </a:r>
              <a:endParaRPr lang="en-US" altLang="en-US" sz="2400" b="1" kern="0" dirty="0">
                <a:solidFill>
                  <a:schemeClr val="bg1"/>
                </a:solidFill>
                <a:latin typeface="Source Sans Pro" panose="020B0503030403020204" pitchFamily="34" charset="0"/>
              </a:endParaRPr>
            </a:p>
          </p:txBody>
        </p:sp>
      </p:grpSp>
      <p:sp>
        <p:nvSpPr>
          <p:cNvPr id="14" name="Rectangle 3">
            <a:extLst>
              <a:ext uri="{FF2B5EF4-FFF2-40B4-BE49-F238E27FC236}">
                <a16:creationId xmlns:a16="http://schemas.microsoft.com/office/drawing/2014/main" id="{A4944B56-46DD-F8B1-7719-A13ECF11771D}"/>
              </a:ext>
            </a:extLst>
          </p:cNvPr>
          <p:cNvSpPr txBox="1">
            <a:spLocks noChangeArrowheads="1"/>
          </p:cNvSpPr>
          <p:nvPr/>
        </p:nvSpPr>
        <p:spPr bwMode="auto">
          <a:xfrm>
            <a:off x="2598776" y="1200855"/>
            <a:ext cx="8983624"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a:r>
              <a:rPr lang="en-US" altLang="en-US" sz="2400" kern="0" dirty="0">
                <a:latin typeface="Source Sans Pro" panose="020B0503030403020204" pitchFamily="34" charset="0"/>
                <a:ea typeface="ＭＳ Ｐゴシック" pitchFamily="34" charset="-128"/>
              </a:rPr>
              <a:t>A firm offers a </a:t>
            </a:r>
            <a:r>
              <a:rPr lang="en-US" altLang="en-US" sz="2400" b="1" kern="0" dirty="0">
                <a:latin typeface="Source Sans Pro" panose="020B0503030403020204" pitchFamily="34" charset="0"/>
                <a:ea typeface="ＭＳ Ｐゴシック" pitchFamily="34" charset="-128"/>
              </a:rPr>
              <a:t>single product</a:t>
            </a:r>
          </a:p>
          <a:p>
            <a:pPr marL="228600" indent="-228600"/>
            <a:r>
              <a:rPr lang="en-US" altLang="en-US" sz="2400" kern="0" dirty="0">
                <a:latin typeface="Source Sans Pro" panose="020B0503030403020204" pitchFamily="34" charset="0"/>
                <a:ea typeface="ＭＳ Ｐゴシック" pitchFamily="34" charset="-128"/>
              </a:rPr>
              <a:t>Consumers </a:t>
            </a:r>
            <a:r>
              <a:rPr lang="en-US" altLang="en-US" sz="2400" b="1" kern="0" dirty="0">
                <a:latin typeface="Source Sans Pro" panose="020B0503030403020204" pitchFamily="34" charset="0"/>
                <a:ea typeface="ＭＳ Ｐゴシック" pitchFamily="34" charset="-128"/>
              </a:rPr>
              <a:t>tastes vary </a:t>
            </a:r>
            <a:r>
              <a:rPr lang="en-US" altLang="en-US" sz="2400" kern="0" dirty="0">
                <a:latin typeface="Source Sans Pro" panose="020B0503030403020204" pitchFamily="34" charset="0"/>
                <a:ea typeface="ＭＳ Ｐゴシック" pitchFamily="34" charset="-128"/>
              </a:rPr>
              <a:t>for the firm</a:t>
            </a:r>
            <a:r>
              <a:rPr lang="en-US" altLang="ja-JP" sz="2400" kern="0" dirty="0">
                <a:latin typeface="Source Sans Pro" panose="020B0503030403020204" pitchFamily="34" charset="0"/>
                <a:ea typeface="ＭＳ Ｐゴシック" pitchFamily="34" charset="-128"/>
              </a:rPr>
              <a:t>’s product</a:t>
            </a:r>
          </a:p>
          <a:p>
            <a:pPr marL="457200" lvl="1" indent="-228600"/>
            <a:r>
              <a:rPr lang="en-US" altLang="ja-JP" sz="2400" kern="0" dirty="0">
                <a:latin typeface="Source Sans Pro" panose="020B0503030403020204" pitchFamily="34" charset="0"/>
                <a:ea typeface="ＭＳ Ｐゴシック" pitchFamily="34" charset="-128"/>
              </a:rPr>
              <a:t>When all consumers are </a:t>
            </a:r>
            <a:r>
              <a:rPr lang="en-US" altLang="ja-JP" sz="2400" b="1" kern="0" dirty="0">
                <a:latin typeface="Source Sans Pro" panose="020B0503030403020204" pitchFamily="34" charset="0"/>
                <a:ea typeface="ＭＳ Ｐゴシック" pitchFamily="34" charset="-128"/>
              </a:rPr>
              <a:t>grouped together</a:t>
            </a:r>
            <a:r>
              <a:rPr lang="en-US" altLang="ja-JP" sz="2400" kern="0" dirty="0">
                <a:latin typeface="Source Sans Pro" panose="020B0503030403020204" pitchFamily="34" charset="0"/>
                <a:ea typeface="ＭＳ Ｐゴシック" pitchFamily="34" charset="-128"/>
              </a:rPr>
              <a:t>, they have the downward-sloping demand curve P(Q)</a:t>
            </a:r>
          </a:p>
          <a:p>
            <a:pPr marL="228600" indent="-228600"/>
            <a:r>
              <a:rPr lang="en-US" altLang="en-US" sz="2400" kern="0" dirty="0">
                <a:latin typeface="Source Sans Pro" panose="020B0503030403020204" pitchFamily="34" charset="0"/>
                <a:ea typeface="ＭＳ Ｐゴシック" pitchFamily="34" charset="-128"/>
              </a:rPr>
              <a:t>The firm is able to divide the market into </a:t>
            </a:r>
            <a:r>
              <a:rPr lang="en-US" altLang="en-US" sz="2400" b="1" kern="0" dirty="0">
                <a:latin typeface="Source Sans Pro" panose="020B0503030403020204" pitchFamily="34" charset="0"/>
                <a:ea typeface="ＭＳ Ｐゴシック" pitchFamily="34" charset="-128"/>
              </a:rPr>
              <a:t>two groups </a:t>
            </a:r>
            <a:r>
              <a:rPr lang="en-US" altLang="en-US" sz="2400" kern="0" dirty="0">
                <a:latin typeface="Source Sans Pro" panose="020B0503030403020204" pitchFamily="34" charset="0"/>
                <a:ea typeface="ＭＳ Ｐゴシック" pitchFamily="34" charset="-128"/>
              </a:rPr>
              <a:t>of consumers (A and B) based on some easily observed attribute (e.g., age, zip code)</a:t>
            </a:r>
          </a:p>
          <a:p>
            <a:pPr marL="457200" lvl="1" indent="-228600"/>
            <a:r>
              <a:rPr lang="en-US" altLang="en-US" sz="2400" kern="0" dirty="0">
                <a:latin typeface="Source Sans Pro" panose="020B0503030403020204" pitchFamily="34" charset="0"/>
                <a:ea typeface="ＭＳ Ｐゴシック" pitchFamily="34" charset="-128"/>
              </a:rPr>
              <a:t>The two groups have </a:t>
            </a:r>
            <a:r>
              <a:rPr lang="en-US" altLang="en-US" sz="2400" b="1" kern="0" dirty="0">
                <a:latin typeface="Source Sans Pro" panose="020B0503030403020204" pitchFamily="34" charset="0"/>
                <a:ea typeface="ＭＳ Ｐゴシック" pitchFamily="34" charset="-128"/>
              </a:rPr>
              <a:t>different demand curves</a:t>
            </a:r>
            <a:r>
              <a:rPr lang="en-US" altLang="en-US" sz="2400" kern="0" dirty="0">
                <a:latin typeface="Source Sans Pro" panose="020B0503030403020204" pitchFamily="34" charset="0"/>
                <a:ea typeface="ＭＳ Ｐゴシック" pitchFamily="34" charset="-128"/>
              </a:rPr>
              <a:t>, P</a:t>
            </a:r>
            <a:r>
              <a:rPr lang="en-US" altLang="en-US" sz="2400" kern="0" baseline="-25000" dirty="0">
                <a:latin typeface="Source Sans Pro" panose="020B0503030403020204" pitchFamily="34" charset="0"/>
                <a:ea typeface="ＭＳ Ｐゴシック" pitchFamily="34" charset="-128"/>
              </a:rPr>
              <a:t>A</a:t>
            </a:r>
            <a:r>
              <a:rPr lang="en-US" altLang="en-US" sz="2400" kern="0" dirty="0">
                <a:latin typeface="Source Sans Pro" panose="020B0503030403020204" pitchFamily="34" charset="0"/>
                <a:ea typeface="ＭＳ Ｐゴシック" pitchFamily="34" charset="-128"/>
              </a:rPr>
              <a:t>(Q</a:t>
            </a:r>
            <a:r>
              <a:rPr lang="en-US" altLang="en-US" sz="2400" kern="0" baseline="-25000" dirty="0">
                <a:latin typeface="Source Sans Pro" panose="020B0503030403020204" pitchFamily="34" charset="0"/>
                <a:ea typeface="ＭＳ Ｐゴシック" pitchFamily="34" charset="-128"/>
              </a:rPr>
              <a:t>A</a:t>
            </a:r>
            <a:r>
              <a:rPr lang="en-US" altLang="en-US" sz="2400" kern="0" dirty="0">
                <a:latin typeface="Source Sans Pro" panose="020B0503030403020204" pitchFamily="34" charset="0"/>
                <a:ea typeface="ＭＳ Ｐゴシック" pitchFamily="34" charset="-128"/>
              </a:rPr>
              <a:t>) and P</a:t>
            </a:r>
            <a:r>
              <a:rPr lang="en-US" altLang="en-US" sz="2400" kern="0" baseline="-25000" dirty="0">
                <a:latin typeface="Source Sans Pro" panose="020B0503030403020204" pitchFamily="34" charset="0"/>
                <a:ea typeface="ＭＳ Ｐゴシック" pitchFamily="34" charset="-128"/>
              </a:rPr>
              <a:t>B</a:t>
            </a:r>
            <a:r>
              <a:rPr lang="en-US" altLang="en-US" sz="2400" kern="0" dirty="0">
                <a:latin typeface="Source Sans Pro" panose="020B0503030403020204" pitchFamily="34" charset="0"/>
                <a:ea typeface="ＭＳ Ｐゴシック" pitchFamily="34" charset="-128"/>
              </a:rPr>
              <a:t>(Q</a:t>
            </a:r>
            <a:r>
              <a:rPr lang="en-US" altLang="en-US" sz="2400" kern="0" baseline="-25000" dirty="0">
                <a:latin typeface="Source Sans Pro" panose="020B0503030403020204" pitchFamily="34" charset="0"/>
                <a:ea typeface="ＭＳ Ｐゴシック" pitchFamily="34" charset="-128"/>
              </a:rPr>
              <a:t>B</a:t>
            </a:r>
            <a:r>
              <a:rPr lang="en-US" altLang="en-US" sz="2400" kern="0" dirty="0">
                <a:latin typeface="Source Sans Pro" panose="020B0503030403020204" pitchFamily="34" charset="0"/>
                <a:ea typeface="ＭＳ Ｐゴシック" pitchFamily="34" charset="-128"/>
              </a:rPr>
              <a:t>)</a:t>
            </a:r>
          </a:p>
        </p:txBody>
      </p:sp>
      <p:sp>
        <p:nvSpPr>
          <p:cNvPr id="15" name="Rounded Rectangle 14">
            <a:extLst>
              <a:ext uri="{FF2B5EF4-FFF2-40B4-BE49-F238E27FC236}">
                <a16:creationId xmlns:a16="http://schemas.microsoft.com/office/drawing/2014/main" id="{0B5A2E8B-5067-FE26-15CC-3307DE45082F}"/>
              </a:ext>
            </a:extLst>
          </p:cNvPr>
          <p:cNvSpPr/>
          <p:nvPr/>
        </p:nvSpPr>
        <p:spPr>
          <a:xfrm>
            <a:off x="476408" y="1200855"/>
            <a:ext cx="2122370" cy="1186974"/>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kern="0" dirty="0">
                <a:solidFill>
                  <a:schemeClr val="bg1"/>
                </a:solidFill>
                <a:latin typeface="Source Sans Pro" panose="020B0503030403020204" pitchFamily="34" charset="0"/>
                <a:ea typeface="Source Sans Pro" panose="020B0503030403020204" pitchFamily="34" charset="0"/>
              </a:rPr>
              <a:t>Assume the following scenario</a:t>
            </a:r>
            <a:endParaRPr lang="en-US" altLang="en-US" sz="2400" b="1" kern="0" dirty="0">
              <a:solidFill>
                <a:schemeClr val="bg1"/>
              </a:solidFill>
              <a:latin typeface="Source Sans Pro" panose="020B0503030403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en-US" altLang="en-US" dirty="0"/>
              <a:t>3rd degree price discrimination examples</a:t>
            </a:r>
          </a:p>
        </p:txBody>
      </p:sp>
      <p:sp>
        <p:nvSpPr>
          <p:cNvPr id="358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1E799CB-E177-4207-B447-5259342CD2C0}" type="slidenum">
              <a:rPr lang="en-US" altLang="en-US" sz="1400">
                <a:latin typeface="Source Sans Pro" panose="020B0503030403020204" pitchFamily="34" charset="0"/>
                <a:ea typeface="Source Sans Pro" panose="020B0503030403020204" pitchFamily="34" charset="0"/>
              </a:rPr>
              <a:pPr eaLnBrk="1" hangingPunct="1"/>
              <a:t>41</a:t>
            </a:fld>
            <a:endParaRPr lang="en-US" altLang="en-US" sz="1400" dirty="0">
              <a:latin typeface="Source Sans Pro" panose="020B0503030403020204" pitchFamily="34" charset="0"/>
              <a:ea typeface="Source Sans Pro" panose="020B0503030403020204" pitchFamily="34" charset="0"/>
            </a:endParaRPr>
          </a:p>
        </p:txBody>
      </p:sp>
      <p:grpSp>
        <p:nvGrpSpPr>
          <p:cNvPr id="8" name="Group 7">
            <a:extLst>
              <a:ext uri="{FF2B5EF4-FFF2-40B4-BE49-F238E27FC236}">
                <a16:creationId xmlns:a16="http://schemas.microsoft.com/office/drawing/2014/main" id="{405EEC6E-4816-F56C-FE0E-0A4BF0862CAB}"/>
              </a:ext>
            </a:extLst>
          </p:cNvPr>
          <p:cNvGrpSpPr/>
          <p:nvPr/>
        </p:nvGrpSpPr>
        <p:grpSpPr>
          <a:xfrm>
            <a:off x="10553572" y="123520"/>
            <a:ext cx="1369285" cy="338554"/>
            <a:chOff x="10553572" y="123520"/>
            <a:chExt cx="1369285" cy="338554"/>
          </a:xfrm>
        </p:grpSpPr>
        <p:sp>
          <p:nvSpPr>
            <p:cNvPr id="9" name="TextBox 8">
              <a:extLst>
                <a:ext uri="{FF2B5EF4-FFF2-40B4-BE49-F238E27FC236}">
                  <a16:creationId xmlns:a16="http://schemas.microsoft.com/office/drawing/2014/main" id="{5C5140AF-97B7-0BF2-C284-61CC3F8AD3AF}"/>
                </a:ext>
              </a:extLst>
            </p:cNvPr>
            <p:cNvSpPr txBox="1"/>
            <p:nvPr/>
          </p:nvSpPr>
          <p:spPr>
            <a:xfrm>
              <a:off x="10553572" y="123520"/>
              <a:ext cx="1369285"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3</a:t>
              </a:r>
              <a:r>
                <a:rPr lang="en-US" sz="1600" baseline="30000" dirty="0">
                  <a:latin typeface="Source Sans Pro" panose="020B0503030403020204" pitchFamily="34" charset="0"/>
                  <a:ea typeface="Source Sans Pro" panose="020B0503030403020204" pitchFamily="34" charset="0"/>
                </a:rPr>
                <a:t>rd</a:t>
              </a:r>
              <a:r>
                <a:rPr lang="en-US" sz="1600" dirty="0">
                  <a:latin typeface="Source Sans Pro" panose="020B0503030403020204" pitchFamily="34" charset="0"/>
                  <a:ea typeface="Source Sans Pro" panose="020B0503030403020204" pitchFamily="34" charset="0"/>
                </a:rPr>
                <a:t> degree PD</a:t>
              </a:r>
            </a:p>
          </p:txBody>
        </p:sp>
        <p:cxnSp>
          <p:nvCxnSpPr>
            <p:cNvPr id="10" name="Straight Connector 9">
              <a:extLst>
                <a:ext uri="{FF2B5EF4-FFF2-40B4-BE49-F238E27FC236}">
                  <a16:creationId xmlns:a16="http://schemas.microsoft.com/office/drawing/2014/main" id="{FEF42024-7071-3838-014D-A3BE8EFE5FA9}"/>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ABF81B6-2100-5734-D7F3-107F08E18C98}"/>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AAFFC61F-B306-BE00-43FA-C21723AB95C4}"/>
              </a:ext>
            </a:extLst>
          </p:cNvPr>
          <p:cNvGrpSpPr/>
          <p:nvPr/>
        </p:nvGrpSpPr>
        <p:grpSpPr>
          <a:xfrm>
            <a:off x="2286000" y="3801977"/>
            <a:ext cx="7620000" cy="2751223"/>
            <a:chOff x="685800" y="3886200"/>
            <a:chExt cx="7391400" cy="2751223"/>
          </a:xfrm>
          <a:solidFill>
            <a:srgbClr val="67C8C7"/>
          </a:solidFill>
        </p:grpSpPr>
        <p:sp>
          <p:nvSpPr>
            <p:cNvPr id="3" name="Rounded Rectangle 2">
              <a:extLst>
                <a:ext uri="{FF2B5EF4-FFF2-40B4-BE49-F238E27FC236}">
                  <a16:creationId xmlns:a16="http://schemas.microsoft.com/office/drawing/2014/main" id="{8087E14A-3605-21F8-587D-DC81E96BB1E1}"/>
                </a:ext>
              </a:extLst>
            </p:cNvPr>
            <p:cNvSpPr/>
            <p:nvPr/>
          </p:nvSpPr>
          <p:spPr>
            <a:xfrm>
              <a:off x="685800" y="4343400"/>
              <a:ext cx="7391400" cy="1828800"/>
            </a:xfrm>
            <a:prstGeom prst="roundRect">
              <a:avLst/>
            </a:prstGeom>
            <a:grp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8C8C8"/>
                </a:solidFill>
                <a:latin typeface="Source Sans Pro" panose="020B0503030403020204" pitchFamily="34" charset="0"/>
              </a:endParaRPr>
            </a:p>
          </p:txBody>
        </p:sp>
        <p:sp>
          <p:nvSpPr>
            <p:cNvPr id="4" name="Oval 3">
              <a:extLst>
                <a:ext uri="{FF2B5EF4-FFF2-40B4-BE49-F238E27FC236}">
                  <a16:creationId xmlns:a16="http://schemas.microsoft.com/office/drawing/2014/main" id="{3670774C-EC63-F481-38E2-E9D032B37C02}"/>
                </a:ext>
              </a:extLst>
            </p:cNvPr>
            <p:cNvSpPr/>
            <p:nvPr/>
          </p:nvSpPr>
          <p:spPr>
            <a:xfrm>
              <a:off x="685800" y="3886200"/>
              <a:ext cx="7391400" cy="1371600"/>
            </a:xfrm>
            <a:prstGeom prst="ellipse">
              <a:avLst/>
            </a:prstGeom>
            <a:grp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8C8C8"/>
                </a:solidFill>
                <a:latin typeface="Source Sans Pro" panose="020B0503030403020204" pitchFamily="34" charset="0"/>
              </a:endParaRPr>
            </a:p>
          </p:txBody>
        </p:sp>
        <p:sp>
          <p:nvSpPr>
            <p:cNvPr id="5" name="Oval 4">
              <a:extLst>
                <a:ext uri="{FF2B5EF4-FFF2-40B4-BE49-F238E27FC236}">
                  <a16:creationId xmlns:a16="http://schemas.microsoft.com/office/drawing/2014/main" id="{284AA3A0-5C8F-312D-70F5-F92F52FD7145}"/>
                </a:ext>
              </a:extLst>
            </p:cNvPr>
            <p:cNvSpPr/>
            <p:nvPr/>
          </p:nvSpPr>
          <p:spPr>
            <a:xfrm>
              <a:off x="685800" y="5265823"/>
              <a:ext cx="7391400" cy="1371600"/>
            </a:xfrm>
            <a:prstGeom prst="ellipse">
              <a:avLst/>
            </a:prstGeom>
            <a:grp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8C8C8"/>
                </a:solidFill>
                <a:latin typeface="Source Sans Pro" panose="020B0503030403020204" pitchFamily="34" charset="0"/>
              </a:endParaRPr>
            </a:p>
          </p:txBody>
        </p:sp>
      </p:grpSp>
      <p:sp>
        <p:nvSpPr>
          <p:cNvPr id="6" name="Rectangle 5">
            <a:extLst>
              <a:ext uri="{FF2B5EF4-FFF2-40B4-BE49-F238E27FC236}">
                <a16:creationId xmlns:a16="http://schemas.microsoft.com/office/drawing/2014/main" id="{581E245A-BA32-4664-AA44-2B7CE1C8EAFD}"/>
              </a:ext>
            </a:extLst>
          </p:cNvPr>
          <p:cNvSpPr/>
          <p:nvPr/>
        </p:nvSpPr>
        <p:spPr>
          <a:xfrm>
            <a:off x="2286000" y="4238870"/>
            <a:ext cx="7620000" cy="1877437"/>
          </a:xfrm>
          <a:prstGeom prst="rect">
            <a:avLst/>
          </a:prstGeom>
        </p:spPr>
        <p:txBody>
          <a:bodyPr wrap="square">
            <a:spAutoFit/>
          </a:bodyPr>
          <a:lstStyle/>
          <a:p>
            <a:pPr marL="342900" indent="-342900">
              <a:spcBef>
                <a:spcPts val="0"/>
              </a:spcBef>
              <a:spcAft>
                <a:spcPts val="1200"/>
              </a:spcAft>
              <a:buFont typeface="Arial" panose="020B0604020202020204" pitchFamily="34" charset="0"/>
              <a:buChar char="•"/>
            </a:pPr>
            <a:r>
              <a:rPr lang="en-US" altLang="en-US" sz="2400" dirty="0">
                <a:solidFill>
                  <a:schemeClr val="bg1"/>
                </a:solidFill>
                <a:latin typeface="Source Sans Pro" panose="020B0503030403020204" pitchFamily="34" charset="0"/>
              </a:rPr>
              <a:t>Be careful to consider </a:t>
            </a:r>
            <a:r>
              <a:rPr lang="en-US" altLang="en-US" sz="2400" b="1" dirty="0">
                <a:solidFill>
                  <a:schemeClr val="bg1"/>
                </a:solidFill>
                <a:latin typeface="Source Sans Pro" panose="020B0503030403020204" pitchFamily="34" charset="0"/>
              </a:rPr>
              <a:t>different production costs </a:t>
            </a:r>
            <a:r>
              <a:rPr lang="en-US" altLang="en-US" sz="2400" dirty="0">
                <a:solidFill>
                  <a:schemeClr val="bg1"/>
                </a:solidFill>
                <a:latin typeface="Source Sans Pro" panose="020B0503030403020204" pitchFamily="34" charset="0"/>
              </a:rPr>
              <a:t>for different groups</a:t>
            </a:r>
          </a:p>
          <a:p>
            <a:pPr marL="342900" indent="-342900">
              <a:spcBef>
                <a:spcPts val="0"/>
              </a:spcBef>
              <a:spcAft>
                <a:spcPts val="1200"/>
              </a:spcAft>
              <a:buFont typeface="Arial" panose="020B0604020202020204" pitchFamily="34" charset="0"/>
              <a:buChar char="•"/>
            </a:pPr>
            <a:r>
              <a:rPr lang="en-US" altLang="en-US" sz="2400" dirty="0">
                <a:solidFill>
                  <a:schemeClr val="bg1"/>
                </a:solidFill>
                <a:latin typeface="Source Sans Pro" panose="020B0503030403020204" pitchFamily="34" charset="0"/>
              </a:rPr>
              <a:t>E.g., </a:t>
            </a:r>
            <a:r>
              <a:rPr lang="en-US" altLang="en-US" sz="2400" dirty="0" err="1">
                <a:solidFill>
                  <a:schemeClr val="bg1"/>
                </a:solidFill>
                <a:latin typeface="Source Sans Pro" panose="020B0503030403020204" pitchFamily="34" charset="0"/>
              </a:rPr>
              <a:t>drycleaners’</a:t>
            </a:r>
            <a:r>
              <a:rPr lang="en-US" altLang="ja-JP" sz="2400" dirty="0">
                <a:solidFill>
                  <a:schemeClr val="bg1"/>
                </a:solidFill>
                <a:latin typeface="Source Sans Pro" panose="020B0503030403020204" pitchFamily="34" charset="0"/>
              </a:rPr>
              <a:t> prices for men’s and women’s clothes</a:t>
            </a:r>
          </a:p>
          <a:p>
            <a:pPr marL="800100" lvl="1" indent="-342900">
              <a:spcBef>
                <a:spcPts val="0"/>
              </a:spcBef>
              <a:spcAft>
                <a:spcPts val="1200"/>
              </a:spcAft>
              <a:buFont typeface="Arial" panose="020B0604020202020204" pitchFamily="34" charset="0"/>
              <a:buChar char="•"/>
            </a:pPr>
            <a:r>
              <a:rPr lang="en-US" altLang="ja-JP" sz="2400" dirty="0">
                <a:solidFill>
                  <a:schemeClr val="bg1"/>
                </a:solidFill>
                <a:latin typeface="Source Sans Pro" panose="020B0503030403020204" pitchFamily="34" charset="0"/>
              </a:rPr>
              <a:t>Are price differences due to price discrimination?</a:t>
            </a:r>
            <a:endParaRPr lang="en-US" altLang="en-US" sz="2400" dirty="0">
              <a:solidFill>
                <a:schemeClr val="bg1"/>
              </a:solidFill>
              <a:latin typeface="Source Sans Pro" panose="020B0503030403020204" pitchFamily="34" charset="0"/>
            </a:endParaRPr>
          </a:p>
        </p:txBody>
      </p:sp>
      <p:sp>
        <p:nvSpPr>
          <p:cNvPr id="7" name="Rectangle 3">
            <a:extLst>
              <a:ext uri="{FF2B5EF4-FFF2-40B4-BE49-F238E27FC236}">
                <a16:creationId xmlns:a16="http://schemas.microsoft.com/office/drawing/2014/main" id="{AE8AC962-A26A-1DBA-3361-28440573E4D4}"/>
              </a:ext>
            </a:extLst>
          </p:cNvPr>
          <p:cNvSpPr txBox="1">
            <a:spLocks noChangeArrowheads="1"/>
          </p:cNvSpPr>
          <p:nvPr/>
        </p:nvSpPr>
        <p:spPr bwMode="auto">
          <a:xfrm>
            <a:off x="996696" y="1502229"/>
            <a:ext cx="10213848"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ea typeface="ＭＳ Ｐゴシック" pitchFamily="34" charset="-128"/>
              </a:rPr>
              <a:t>Special prices for students, </a:t>
            </a:r>
            <a:r>
              <a:rPr lang="en-US" altLang="en-US" b="1" kern="0">
                <a:ea typeface="ＭＳ Ｐゴシック" pitchFamily="34" charset="-128"/>
              </a:rPr>
              <a:t>senior citizens</a:t>
            </a:r>
            <a:r>
              <a:rPr lang="en-US" altLang="en-US" kern="0">
                <a:ea typeface="ＭＳ Ｐゴシック" pitchFamily="34" charset="-128"/>
              </a:rPr>
              <a:t>, and children</a:t>
            </a:r>
          </a:p>
          <a:p>
            <a:r>
              <a:rPr lang="en-US" altLang="en-US" kern="0">
                <a:ea typeface="ＭＳ Ｐゴシック" pitchFamily="34" charset="-128"/>
              </a:rPr>
              <a:t>Varying textbook or pharmaceutical prices, based on the </a:t>
            </a:r>
            <a:r>
              <a:rPr lang="en-US" altLang="en-US" b="1" kern="0">
                <a:ea typeface="ＭＳ Ｐゴシック" pitchFamily="34" charset="-128"/>
              </a:rPr>
              <a:t>location </a:t>
            </a:r>
            <a:r>
              <a:rPr lang="en-US" altLang="en-US" kern="0">
                <a:ea typeface="ＭＳ Ｐゴシック" pitchFamily="34" charset="-128"/>
              </a:rPr>
              <a:t>(country) in which they are sold</a:t>
            </a:r>
          </a:p>
          <a:p>
            <a:r>
              <a:rPr lang="en-US" altLang="en-US" b="1" kern="0">
                <a:ea typeface="ＭＳ Ｐゴシック" pitchFamily="34" charset="-128"/>
              </a:rPr>
              <a:t>Coupons </a:t>
            </a:r>
            <a:r>
              <a:rPr lang="en-US" altLang="en-US" kern="0">
                <a:ea typeface="ＭＳ Ｐゴシック" pitchFamily="34" charset="-128"/>
              </a:rPr>
              <a:t>are mailed to some neighborhoods but not others</a:t>
            </a:r>
            <a:endParaRPr lang="en-US" altLang="en-US" kern="0" dirty="0">
              <a:ea typeface="ＭＳ Ｐゴシック" pitchFamily="34" charset="-128"/>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en-US" altLang="en-US" dirty="0"/>
              <a:t>Example: Pricing Greek yogurt!</a:t>
            </a:r>
          </a:p>
        </p:txBody>
      </p:sp>
      <p:sp>
        <p:nvSpPr>
          <p:cNvPr id="368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69369D4-B4C4-4E6B-BC39-6F38014628F7}" type="slidenum">
              <a:rPr lang="en-US" altLang="en-US" sz="1400">
                <a:latin typeface="Source Sans Pro" panose="020B0503030403020204" pitchFamily="34" charset="0"/>
                <a:ea typeface="Source Sans Pro" panose="020B0503030403020204" pitchFamily="34" charset="0"/>
              </a:rPr>
              <a:pPr eaLnBrk="1" hangingPunct="1"/>
              <a:t>42</a:t>
            </a:fld>
            <a:endParaRPr lang="en-US" altLang="en-US" sz="1400" dirty="0">
              <a:latin typeface="Source Sans Pro" panose="020B0503030403020204" pitchFamily="34" charset="0"/>
              <a:ea typeface="Source Sans Pro" panose="020B0503030403020204" pitchFamily="34" charset="0"/>
            </a:endParaRPr>
          </a:p>
        </p:txBody>
      </p:sp>
      <p:grpSp>
        <p:nvGrpSpPr>
          <p:cNvPr id="20" name="Group 19">
            <a:extLst>
              <a:ext uri="{FF2B5EF4-FFF2-40B4-BE49-F238E27FC236}">
                <a16:creationId xmlns:a16="http://schemas.microsoft.com/office/drawing/2014/main" id="{405EEC6E-4816-F56C-FE0E-0A4BF0862CAB}"/>
              </a:ext>
            </a:extLst>
          </p:cNvPr>
          <p:cNvGrpSpPr/>
          <p:nvPr/>
        </p:nvGrpSpPr>
        <p:grpSpPr>
          <a:xfrm>
            <a:off x="10553572" y="123520"/>
            <a:ext cx="1369285" cy="338554"/>
            <a:chOff x="10553572" y="123520"/>
            <a:chExt cx="1369285" cy="338554"/>
          </a:xfrm>
        </p:grpSpPr>
        <p:sp>
          <p:nvSpPr>
            <p:cNvPr id="21" name="TextBox 20">
              <a:extLst>
                <a:ext uri="{FF2B5EF4-FFF2-40B4-BE49-F238E27FC236}">
                  <a16:creationId xmlns:a16="http://schemas.microsoft.com/office/drawing/2014/main" id="{5C5140AF-97B7-0BF2-C284-61CC3F8AD3AF}"/>
                </a:ext>
              </a:extLst>
            </p:cNvPr>
            <p:cNvSpPr txBox="1"/>
            <p:nvPr/>
          </p:nvSpPr>
          <p:spPr>
            <a:xfrm>
              <a:off x="10553572" y="123520"/>
              <a:ext cx="1369285"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3</a:t>
              </a:r>
              <a:r>
                <a:rPr lang="en-US" sz="1600" baseline="30000" dirty="0">
                  <a:latin typeface="Source Sans Pro" panose="020B0503030403020204" pitchFamily="34" charset="0"/>
                  <a:ea typeface="Source Sans Pro" panose="020B0503030403020204" pitchFamily="34" charset="0"/>
                </a:rPr>
                <a:t>rd</a:t>
              </a:r>
              <a:r>
                <a:rPr lang="en-US" sz="1600" dirty="0">
                  <a:latin typeface="Source Sans Pro" panose="020B0503030403020204" pitchFamily="34" charset="0"/>
                  <a:ea typeface="Source Sans Pro" panose="020B0503030403020204" pitchFamily="34" charset="0"/>
                </a:rPr>
                <a:t> degree PD</a:t>
              </a:r>
            </a:p>
          </p:txBody>
        </p:sp>
        <p:cxnSp>
          <p:nvCxnSpPr>
            <p:cNvPr id="22" name="Straight Connector 21">
              <a:extLst>
                <a:ext uri="{FF2B5EF4-FFF2-40B4-BE49-F238E27FC236}">
                  <a16:creationId xmlns:a16="http://schemas.microsoft.com/office/drawing/2014/main" id="{FEF42024-7071-3838-014D-A3BE8EFE5FA9}"/>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BF81B6-2100-5734-D7F3-107F08E18C98}"/>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603D9973-C92A-A0B2-96CF-BAFEE910DA7C}"/>
              </a:ext>
            </a:extLst>
          </p:cNvPr>
          <p:cNvSpPr txBox="1"/>
          <p:nvPr/>
        </p:nvSpPr>
        <p:spPr>
          <a:xfrm>
            <a:off x="2827665" y="5412446"/>
            <a:ext cx="883575" cy="461665"/>
          </a:xfrm>
          <a:prstGeom prst="rect">
            <a:avLst/>
          </a:prstGeom>
          <a:noFill/>
        </p:spPr>
        <p:txBody>
          <a:bodyPr wrap="none" rtlCol="0">
            <a:spAutoFit/>
          </a:bodyPr>
          <a:lstStyle/>
          <a:p>
            <a:r>
              <a:rPr lang="en-US" sz="2400" dirty="0">
                <a:latin typeface="Source Sans Pro" panose="020B0503030403020204" pitchFamily="34" charset="0"/>
                <a:ea typeface="Source Sans Pro" panose="020B0503030403020204" pitchFamily="34" charset="0"/>
              </a:rPr>
              <a:t>$5.99</a:t>
            </a:r>
          </a:p>
        </p:txBody>
      </p:sp>
      <p:sp>
        <p:nvSpPr>
          <p:cNvPr id="4" name="TextBox 3">
            <a:extLst>
              <a:ext uri="{FF2B5EF4-FFF2-40B4-BE49-F238E27FC236}">
                <a16:creationId xmlns:a16="http://schemas.microsoft.com/office/drawing/2014/main" id="{C9EFF8FE-682F-CE5E-7A78-BDB7793D7B75}"/>
              </a:ext>
            </a:extLst>
          </p:cNvPr>
          <p:cNvSpPr txBox="1"/>
          <p:nvPr/>
        </p:nvSpPr>
        <p:spPr>
          <a:xfrm>
            <a:off x="7541064" y="5412446"/>
            <a:ext cx="883575" cy="461665"/>
          </a:xfrm>
          <a:prstGeom prst="rect">
            <a:avLst/>
          </a:prstGeom>
          <a:noFill/>
        </p:spPr>
        <p:txBody>
          <a:bodyPr wrap="none" rtlCol="0">
            <a:spAutoFit/>
          </a:bodyPr>
          <a:lstStyle/>
          <a:p>
            <a:r>
              <a:rPr lang="en-US" sz="2400" dirty="0">
                <a:latin typeface="Source Sans Pro" panose="020B0503030403020204" pitchFamily="34" charset="0"/>
                <a:ea typeface="Source Sans Pro" panose="020B0503030403020204" pitchFamily="34" charset="0"/>
              </a:rPr>
              <a:t>$5.99</a:t>
            </a:r>
          </a:p>
        </p:txBody>
      </p:sp>
      <p:pic>
        <p:nvPicPr>
          <p:cNvPr id="5" name="Picture 2">
            <a:extLst>
              <a:ext uri="{FF2B5EF4-FFF2-40B4-BE49-F238E27FC236}">
                <a16:creationId xmlns:a16="http://schemas.microsoft.com/office/drawing/2014/main" id="{97ED0024-C8FF-25FA-3420-804D6258D0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9807" y="1963044"/>
            <a:ext cx="2639290" cy="3247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1526B3D-355B-A969-21E6-4CB5628A1F94}"/>
              </a:ext>
            </a:extLst>
          </p:cNvPr>
          <p:cNvPicPr>
            <a:picLocks noChangeAspect="1"/>
          </p:cNvPicPr>
          <p:nvPr/>
        </p:nvPicPr>
        <p:blipFill>
          <a:blip r:embed="rId4"/>
          <a:stretch>
            <a:fillRect/>
          </a:stretch>
        </p:blipFill>
        <p:spPr>
          <a:xfrm>
            <a:off x="6222476" y="1651733"/>
            <a:ext cx="3520749" cy="3520749"/>
          </a:xfrm>
          <a:prstGeom prst="rect">
            <a:avLst/>
          </a:prstGeom>
        </p:spPr>
      </p:pic>
      <p:pic>
        <p:nvPicPr>
          <p:cNvPr id="7" name="Picture 6">
            <a:extLst>
              <a:ext uri="{FF2B5EF4-FFF2-40B4-BE49-F238E27FC236}">
                <a16:creationId xmlns:a16="http://schemas.microsoft.com/office/drawing/2014/main" id="{2E58D8FF-EA06-9D5B-A1FB-16D0A9B3A38A}"/>
              </a:ext>
            </a:extLst>
          </p:cNvPr>
          <p:cNvPicPr>
            <a:picLocks noChangeAspect="1"/>
          </p:cNvPicPr>
          <p:nvPr/>
        </p:nvPicPr>
        <p:blipFill rotWithShape="1">
          <a:blip r:embed="rId5"/>
          <a:srcRect t="15509" b="16731"/>
          <a:stretch/>
        </p:blipFill>
        <p:spPr>
          <a:xfrm>
            <a:off x="1261849" y="2451808"/>
            <a:ext cx="4015206" cy="2720674"/>
          </a:xfrm>
          <a:prstGeom prst="rect">
            <a:avLst/>
          </a:prstGeom>
        </p:spPr>
      </p:pic>
      <p:pic>
        <p:nvPicPr>
          <p:cNvPr id="8" name="Picture 4">
            <a:extLst>
              <a:ext uri="{FF2B5EF4-FFF2-40B4-BE49-F238E27FC236}">
                <a16:creationId xmlns:a16="http://schemas.microsoft.com/office/drawing/2014/main" id="{E2C5F070-5359-608A-E629-E9298EBA4C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400325" y="2480072"/>
            <a:ext cx="1837888" cy="125636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3">
            <a:extLst>
              <a:ext uri="{FF2B5EF4-FFF2-40B4-BE49-F238E27FC236}">
                <a16:creationId xmlns:a16="http://schemas.microsoft.com/office/drawing/2014/main" id="{28A455E7-A77A-A2A4-2C98-949DE657C088}"/>
              </a:ext>
            </a:extLst>
          </p:cNvPr>
          <p:cNvSpPr txBox="1">
            <a:spLocks noChangeArrowheads="1"/>
          </p:cNvSpPr>
          <p:nvPr/>
        </p:nvSpPr>
        <p:spPr bwMode="auto">
          <a:xfrm>
            <a:off x="1059872" y="983710"/>
            <a:ext cx="1064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t>Last Thursday, Mrs. Jones went shopping</a:t>
            </a:r>
            <a:endParaRPr lang="en-US" altLang="en-US" kern="0" dirty="0"/>
          </a:p>
        </p:txBody>
      </p:sp>
      <p:sp>
        <p:nvSpPr>
          <p:cNvPr id="3" name="5-Point Star 2">
            <a:extLst>
              <a:ext uri="{FF2B5EF4-FFF2-40B4-BE49-F238E27FC236}">
                <a16:creationId xmlns:a16="http://schemas.microsoft.com/office/drawing/2014/main" id="{0612253D-FEE5-C4B1-B672-C695A1FA4972}"/>
              </a:ext>
            </a:extLst>
          </p:cNvPr>
          <p:cNvSpPr/>
          <p:nvPr/>
        </p:nvSpPr>
        <p:spPr>
          <a:xfrm>
            <a:off x="12606256"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52689760-A7B5-20E3-31B3-BC0AB497AEEB}"/>
                  </a:ext>
                </a:extLst>
              </p14:cNvPr>
              <p14:cNvContentPartPr/>
              <p14:nvPr/>
            </p14:nvContentPartPr>
            <p14:xfrm>
              <a:off x="10614240" y="831600"/>
              <a:ext cx="919440" cy="1281600"/>
            </p14:xfrm>
          </p:contentPart>
        </mc:Choice>
        <mc:Fallback>
          <p:pic>
            <p:nvPicPr>
              <p:cNvPr id="9" name="Ink 8">
                <a:extLst>
                  <a:ext uri="{FF2B5EF4-FFF2-40B4-BE49-F238E27FC236}">
                    <a16:creationId xmlns:a16="http://schemas.microsoft.com/office/drawing/2014/main" id="{52689760-A7B5-20E3-31B3-BC0AB497AEEB}"/>
                  </a:ext>
                </a:extLst>
              </p:cNvPr>
              <p:cNvPicPr/>
              <p:nvPr/>
            </p:nvPicPr>
            <p:blipFill>
              <a:blip r:embed="rId8"/>
              <a:stretch>
                <a:fillRect/>
              </a:stretch>
            </p:blipFill>
            <p:spPr>
              <a:xfrm>
                <a:off x="10598040" y="815400"/>
                <a:ext cx="951840" cy="1314000"/>
              </a:xfrm>
              <a:prstGeom prst="rect">
                <a:avLst/>
              </a:prstGeom>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en-US" altLang="en-US" dirty="0"/>
              <a:t>Example: Movie prices at Tivoli</a:t>
            </a:r>
          </a:p>
        </p:txBody>
      </p:sp>
      <p:sp>
        <p:nvSpPr>
          <p:cNvPr id="378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A66C9EC7-26F4-4800-A393-D635BF43FFBB}" type="slidenum">
              <a:rPr lang="en-US" altLang="en-US" sz="1400">
                <a:latin typeface="Source Sans Pro" panose="020B0503030403020204" pitchFamily="34" charset="0"/>
                <a:ea typeface="Source Sans Pro" panose="020B0503030403020204" pitchFamily="34" charset="0"/>
              </a:rPr>
              <a:pPr eaLnBrk="1" hangingPunct="1"/>
              <a:t>43</a:t>
            </a:fld>
            <a:endParaRPr lang="en-US" altLang="en-US" sz="1400" dirty="0">
              <a:latin typeface="Source Sans Pro" panose="020B0503030403020204" pitchFamily="34" charset="0"/>
              <a:ea typeface="Source Sans Pro" panose="020B0503030403020204" pitchFamily="34" charset="0"/>
            </a:endParaRPr>
          </a:p>
        </p:txBody>
      </p:sp>
      <p:grpSp>
        <p:nvGrpSpPr>
          <p:cNvPr id="6" name="Group 5">
            <a:extLst>
              <a:ext uri="{FF2B5EF4-FFF2-40B4-BE49-F238E27FC236}">
                <a16:creationId xmlns:a16="http://schemas.microsoft.com/office/drawing/2014/main" id="{B0812356-5741-5164-2334-D0222E8EADED}"/>
              </a:ext>
            </a:extLst>
          </p:cNvPr>
          <p:cNvGrpSpPr/>
          <p:nvPr/>
        </p:nvGrpSpPr>
        <p:grpSpPr>
          <a:xfrm>
            <a:off x="10553572" y="123520"/>
            <a:ext cx="1369285" cy="338554"/>
            <a:chOff x="10553572" y="123520"/>
            <a:chExt cx="1369285" cy="338554"/>
          </a:xfrm>
        </p:grpSpPr>
        <p:sp>
          <p:nvSpPr>
            <p:cNvPr id="7" name="TextBox 6">
              <a:extLst>
                <a:ext uri="{FF2B5EF4-FFF2-40B4-BE49-F238E27FC236}">
                  <a16:creationId xmlns:a16="http://schemas.microsoft.com/office/drawing/2014/main" id="{6C7E9F92-CB0A-A444-3D9F-6A6B39679201}"/>
                </a:ext>
              </a:extLst>
            </p:cNvPr>
            <p:cNvSpPr txBox="1"/>
            <p:nvPr/>
          </p:nvSpPr>
          <p:spPr>
            <a:xfrm>
              <a:off x="10553572" y="123520"/>
              <a:ext cx="1369285"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3</a:t>
              </a:r>
              <a:r>
                <a:rPr lang="en-US" sz="1600" baseline="30000" dirty="0">
                  <a:latin typeface="Source Sans Pro" panose="020B0503030403020204" pitchFamily="34" charset="0"/>
                  <a:ea typeface="Source Sans Pro" panose="020B0503030403020204" pitchFamily="34" charset="0"/>
                </a:rPr>
                <a:t>rd</a:t>
              </a:r>
              <a:r>
                <a:rPr lang="en-US" sz="1600" dirty="0">
                  <a:latin typeface="Source Sans Pro" panose="020B0503030403020204" pitchFamily="34" charset="0"/>
                  <a:ea typeface="Source Sans Pro" panose="020B0503030403020204" pitchFamily="34" charset="0"/>
                </a:rPr>
                <a:t> degree PD</a:t>
              </a:r>
            </a:p>
          </p:txBody>
        </p:sp>
        <p:cxnSp>
          <p:nvCxnSpPr>
            <p:cNvPr id="8" name="Straight Connector 7">
              <a:extLst>
                <a:ext uri="{FF2B5EF4-FFF2-40B4-BE49-F238E27FC236}">
                  <a16:creationId xmlns:a16="http://schemas.microsoft.com/office/drawing/2014/main" id="{15C25CA8-BBF4-8B8E-C281-C00F07C897E5}"/>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CC56D-9373-AADB-F6E9-5379224FC439}"/>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5FEDA428-5C9C-B87D-A7B0-5683B57D3B8F}"/>
              </a:ext>
            </a:extLst>
          </p:cNvPr>
          <p:cNvSpPr txBox="1">
            <a:spLocks noChangeArrowheads="1"/>
          </p:cNvSpPr>
          <p:nvPr/>
        </p:nvSpPr>
        <p:spPr bwMode="auto">
          <a:xfrm>
            <a:off x="685800" y="1552717"/>
            <a:ext cx="10671048"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dirty="0">
                <a:ea typeface="ＭＳ Ｐゴシック" pitchFamily="34" charset="-128"/>
              </a:rPr>
              <a:t>Assumptions:</a:t>
            </a:r>
          </a:p>
          <a:p>
            <a:pPr lvl="1"/>
            <a:r>
              <a:rPr lang="en-US" altLang="en-US" b="1" kern="0" dirty="0"/>
              <a:t>Undergrads</a:t>
            </a:r>
            <a:r>
              <a:rPr lang="en-US" altLang="en-US" kern="0" dirty="0"/>
              <a:t> demand:		</a:t>
            </a:r>
            <a:r>
              <a:rPr lang="en-US" altLang="en-US" i="1" kern="0" dirty="0"/>
              <a:t>P</a:t>
            </a:r>
            <a:r>
              <a:rPr lang="en-US" altLang="en-US" i="1" kern="0" baseline="-25000" dirty="0"/>
              <a:t>U</a:t>
            </a:r>
            <a:r>
              <a:rPr lang="en-US" altLang="en-US" kern="0" dirty="0"/>
              <a:t> = 12 – </a:t>
            </a:r>
            <a:r>
              <a:rPr lang="en-US" altLang="en-US" i="1" kern="0" dirty="0"/>
              <a:t>Q</a:t>
            </a:r>
            <a:r>
              <a:rPr lang="en-US" altLang="en-US" i="1" kern="0" baseline="-25000" dirty="0"/>
              <a:t>U</a:t>
            </a:r>
            <a:r>
              <a:rPr lang="en-US" altLang="en-US" kern="0" dirty="0"/>
              <a:t> </a:t>
            </a:r>
          </a:p>
          <a:p>
            <a:pPr lvl="1"/>
            <a:r>
              <a:rPr lang="en-US" altLang="en-US" b="1" kern="0" dirty="0"/>
              <a:t>MBA </a:t>
            </a:r>
            <a:r>
              <a:rPr lang="en-US" altLang="en-US" kern="0" dirty="0"/>
              <a:t>students demand:	</a:t>
            </a:r>
            <a:r>
              <a:rPr lang="en-US" altLang="en-US" i="1" kern="0" dirty="0"/>
              <a:t>P</a:t>
            </a:r>
            <a:r>
              <a:rPr lang="en-US" altLang="en-US" i="1" kern="0" baseline="-25000" dirty="0"/>
              <a:t>M</a:t>
            </a:r>
            <a:r>
              <a:rPr lang="en-US" altLang="en-US" kern="0" dirty="0"/>
              <a:t> = 16 – </a:t>
            </a:r>
            <a:r>
              <a:rPr lang="en-US" altLang="en-US" i="1" kern="0" dirty="0"/>
              <a:t>Q</a:t>
            </a:r>
            <a:r>
              <a:rPr lang="en-US" altLang="en-US" i="1" kern="0" baseline="-25000" dirty="0"/>
              <a:t>M</a:t>
            </a:r>
            <a:r>
              <a:rPr lang="en-US" altLang="en-US" kern="0" dirty="0"/>
              <a:t> </a:t>
            </a:r>
          </a:p>
        </p:txBody>
      </p:sp>
      <p:sp>
        <p:nvSpPr>
          <p:cNvPr id="5" name="Rectangle 3">
            <a:extLst>
              <a:ext uri="{FF2B5EF4-FFF2-40B4-BE49-F238E27FC236}">
                <a16:creationId xmlns:a16="http://schemas.microsoft.com/office/drawing/2014/main" id="{D59B1999-429F-E67B-9375-F92D9322800C}"/>
              </a:ext>
            </a:extLst>
          </p:cNvPr>
          <p:cNvSpPr txBox="1">
            <a:spLocks noChangeArrowheads="1"/>
          </p:cNvSpPr>
          <p:nvPr/>
        </p:nvSpPr>
        <p:spPr bwMode="auto">
          <a:xfrm>
            <a:off x="685800" y="3311982"/>
            <a:ext cx="10671048"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If the Tivoli </a:t>
            </a:r>
            <a:r>
              <a:rPr lang="en-US" altLang="en-US" sz="2400" b="1" kern="0" dirty="0">
                <a:latin typeface="Source Sans Pro" panose="020B0503030403020204" pitchFamily="34" charset="0"/>
                <a:ea typeface="ＭＳ Ｐゴシック" pitchFamily="34" charset="-128"/>
              </a:rPr>
              <a:t>cannot tell them apart</a:t>
            </a:r>
            <a:r>
              <a:rPr lang="en-US" altLang="en-US" sz="2400" kern="0" dirty="0">
                <a:latin typeface="Source Sans Pro" panose="020B0503030403020204" pitchFamily="34" charset="0"/>
                <a:ea typeface="ＭＳ Ｐゴシック" pitchFamily="34" charset="-128"/>
              </a:rPr>
              <a:t>, it sets MR = cost to serve ($2) for the whole market</a:t>
            </a:r>
          </a:p>
          <a:p>
            <a:pPr lvl="1"/>
            <a:r>
              <a:rPr lang="en-US" altLang="en-US" sz="2400" kern="0" dirty="0">
                <a:latin typeface="Source Sans Pro" panose="020B0503030403020204" pitchFamily="34" charset="0"/>
                <a:ea typeface="ＭＳ Ｐゴシック" pitchFamily="34" charset="-128"/>
              </a:rPr>
              <a:t>This yields </a:t>
            </a:r>
            <a:r>
              <a:rPr lang="en-US" altLang="en-US" sz="2400" i="1" kern="0" dirty="0">
                <a:latin typeface="Source Sans Pro" panose="020B0503030403020204" pitchFamily="34" charset="0"/>
                <a:ea typeface="ＭＳ Ｐゴシック" pitchFamily="34" charset="-128"/>
              </a:rPr>
              <a:t>P</a:t>
            </a:r>
            <a:r>
              <a:rPr lang="en-US" altLang="en-US" sz="2400" kern="0" dirty="0">
                <a:latin typeface="Source Sans Pro" panose="020B0503030403020204" pitchFamily="34" charset="0"/>
                <a:ea typeface="ＭＳ Ｐゴシック" pitchFamily="34" charset="-128"/>
              </a:rPr>
              <a:t> = $8 and revenue = $96</a:t>
            </a:r>
          </a:p>
          <a:p>
            <a:r>
              <a:rPr lang="en-US" altLang="en-US" sz="2400" kern="0" dirty="0">
                <a:latin typeface="Source Sans Pro" panose="020B0503030403020204" pitchFamily="34" charset="0"/>
                <a:ea typeface="ＭＳ Ｐゴシック" pitchFamily="34" charset="-128"/>
              </a:rPr>
              <a:t>Quantities served are </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U</a:t>
            </a:r>
            <a:r>
              <a:rPr lang="en-US" altLang="en-US" sz="2400" kern="0" dirty="0">
                <a:latin typeface="Source Sans Pro" panose="020B0503030403020204" pitchFamily="34" charset="0"/>
                <a:ea typeface="ＭＳ Ｐゴシック" pitchFamily="34" charset="-128"/>
              </a:rPr>
              <a:t> = 4 and </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M</a:t>
            </a:r>
            <a:r>
              <a:rPr lang="en-US" altLang="en-US" sz="2400" kern="0" dirty="0">
                <a:latin typeface="Source Sans Pro" panose="020B0503030403020204" pitchFamily="34" charset="0"/>
                <a:ea typeface="ＭＳ Ｐゴシック" pitchFamily="34" charset="-128"/>
              </a:rPr>
              <a:t> = 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en-US" altLang="en-US" sz="3600" dirty="0">
                <a:ea typeface="ＭＳ Ｐゴシック" pitchFamily="34" charset="-128"/>
              </a:rPr>
              <a:t>Example: Tivoli</a:t>
            </a:r>
          </a:p>
        </p:txBody>
      </p:sp>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2EB61A20-523A-44E1-B858-544312E323FD}" type="slidenum">
              <a:rPr lang="en-US" altLang="en-US" sz="1400">
                <a:latin typeface="Source Sans Pro" panose="020B0503030403020204" pitchFamily="34" charset="0"/>
              </a:rPr>
              <a:pPr eaLnBrk="1" hangingPunct="1"/>
              <a:t>44</a:t>
            </a:fld>
            <a:endParaRPr lang="en-US" altLang="en-US" sz="1400" dirty="0">
              <a:latin typeface="Source Sans Pro" panose="020B0503030403020204" pitchFamily="34" charset="0"/>
            </a:endParaRPr>
          </a:p>
        </p:txBody>
      </p:sp>
      <p:grpSp>
        <p:nvGrpSpPr>
          <p:cNvPr id="8" name="Group 7">
            <a:extLst>
              <a:ext uri="{FF2B5EF4-FFF2-40B4-BE49-F238E27FC236}">
                <a16:creationId xmlns:a16="http://schemas.microsoft.com/office/drawing/2014/main" id="{DD985B17-6EEE-C694-5FF6-650F4658E059}"/>
              </a:ext>
            </a:extLst>
          </p:cNvPr>
          <p:cNvGrpSpPr/>
          <p:nvPr/>
        </p:nvGrpSpPr>
        <p:grpSpPr>
          <a:xfrm>
            <a:off x="10553572" y="123520"/>
            <a:ext cx="1369285" cy="338554"/>
            <a:chOff x="10553572" y="123520"/>
            <a:chExt cx="1369285" cy="338554"/>
          </a:xfrm>
        </p:grpSpPr>
        <p:sp>
          <p:nvSpPr>
            <p:cNvPr id="9" name="TextBox 8">
              <a:extLst>
                <a:ext uri="{FF2B5EF4-FFF2-40B4-BE49-F238E27FC236}">
                  <a16:creationId xmlns:a16="http://schemas.microsoft.com/office/drawing/2014/main" id="{084C1CE5-E661-92AE-FAC1-8900D017803B}"/>
                </a:ext>
              </a:extLst>
            </p:cNvPr>
            <p:cNvSpPr txBox="1"/>
            <p:nvPr/>
          </p:nvSpPr>
          <p:spPr>
            <a:xfrm>
              <a:off x="10553572" y="123520"/>
              <a:ext cx="1369285"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3</a:t>
              </a:r>
              <a:r>
                <a:rPr lang="en-US" sz="1600" baseline="30000" dirty="0">
                  <a:latin typeface="Source Sans Pro" panose="020B0503030403020204" pitchFamily="34" charset="0"/>
                  <a:ea typeface="Source Sans Pro" panose="020B0503030403020204" pitchFamily="34" charset="0"/>
                </a:rPr>
                <a:t>rd</a:t>
              </a:r>
              <a:r>
                <a:rPr lang="en-US" sz="1600" dirty="0">
                  <a:latin typeface="Source Sans Pro" panose="020B0503030403020204" pitchFamily="34" charset="0"/>
                  <a:ea typeface="Source Sans Pro" panose="020B0503030403020204" pitchFamily="34" charset="0"/>
                </a:rPr>
                <a:t> degree PD</a:t>
              </a:r>
            </a:p>
          </p:txBody>
        </p:sp>
        <p:cxnSp>
          <p:nvCxnSpPr>
            <p:cNvPr id="10" name="Straight Connector 9">
              <a:extLst>
                <a:ext uri="{FF2B5EF4-FFF2-40B4-BE49-F238E27FC236}">
                  <a16:creationId xmlns:a16="http://schemas.microsoft.com/office/drawing/2014/main" id="{F7283A5C-C40F-4F6C-5C82-583A974752BE}"/>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84E3A75-AAE4-DAEE-F999-B239A15D2898}"/>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F21BDD91-52EB-D43F-1EA9-FD909DB0CCF2}"/>
              </a:ext>
            </a:extLst>
          </p:cNvPr>
          <p:cNvGrpSpPr/>
          <p:nvPr/>
        </p:nvGrpSpPr>
        <p:grpSpPr>
          <a:xfrm>
            <a:off x="1508992" y="2836632"/>
            <a:ext cx="3798085" cy="3820815"/>
            <a:chOff x="405615" y="2836632"/>
            <a:chExt cx="3798085" cy="3820815"/>
          </a:xfrm>
        </p:grpSpPr>
        <p:sp>
          <p:nvSpPr>
            <p:cNvPr id="4" name="Rectangle 4">
              <a:extLst>
                <a:ext uri="{FF2B5EF4-FFF2-40B4-BE49-F238E27FC236}">
                  <a16:creationId xmlns:a16="http://schemas.microsoft.com/office/drawing/2014/main" id="{A847B520-E3E2-FC36-A09F-D0549A9DBB1F}"/>
                </a:ext>
              </a:extLst>
            </p:cNvPr>
            <p:cNvSpPr>
              <a:spLocks noChangeArrowheads="1"/>
            </p:cNvSpPr>
            <p:nvPr/>
          </p:nvSpPr>
          <p:spPr bwMode="auto">
            <a:xfrm>
              <a:off x="985837" y="4634630"/>
              <a:ext cx="1210349" cy="1481777"/>
            </a:xfrm>
            <a:prstGeom prst="rect">
              <a:avLst/>
            </a:prstGeom>
            <a:solidFill>
              <a:srgbClr val="67C8C7"/>
            </a:solidFill>
            <a:ln w="9525">
              <a:solidFill>
                <a:srgbClr val="67C8C7"/>
              </a:solidFill>
              <a:miter lim="800000"/>
              <a:headEnd/>
              <a:tailEnd/>
            </a:ln>
            <a:effectLst/>
          </p:spPr>
          <p:txBody>
            <a:bodyPr wrap="none" anchor="ctr"/>
            <a:lstStyle/>
            <a:p>
              <a:pPr>
                <a:defRPr/>
              </a:pPr>
              <a:endParaRPr lang="en-US" sz="2400" dirty="0">
                <a:latin typeface="Source Sans Pro" panose="020B0503030403020204" pitchFamily="34" charset="0"/>
                <a:ea typeface="ＭＳ Ｐゴシック" charset="0"/>
                <a:cs typeface="ＭＳ Ｐゴシック" charset="0"/>
              </a:endParaRPr>
            </a:p>
          </p:txBody>
        </p:sp>
        <p:sp>
          <p:nvSpPr>
            <p:cNvPr id="44" name="Line 5">
              <a:extLst>
                <a:ext uri="{FF2B5EF4-FFF2-40B4-BE49-F238E27FC236}">
                  <a16:creationId xmlns:a16="http://schemas.microsoft.com/office/drawing/2014/main" id="{B27511BD-F1CB-CF32-9402-0CD9C0336FB8}"/>
                </a:ext>
              </a:extLst>
            </p:cNvPr>
            <p:cNvSpPr>
              <a:spLocks noChangeShapeType="1"/>
            </p:cNvSpPr>
            <p:nvPr/>
          </p:nvSpPr>
          <p:spPr bwMode="auto">
            <a:xfrm>
              <a:off x="966788" y="3108095"/>
              <a:ext cx="0" cy="3008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45" name="Line 6">
              <a:extLst>
                <a:ext uri="{FF2B5EF4-FFF2-40B4-BE49-F238E27FC236}">
                  <a16:creationId xmlns:a16="http://schemas.microsoft.com/office/drawing/2014/main" id="{43FEE922-3B2D-AB87-8829-3C7FB1171ACA}"/>
                </a:ext>
              </a:extLst>
            </p:cNvPr>
            <p:cNvSpPr>
              <a:spLocks noChangeShapeType="1"/>
            </p:cNvSpPr>
            <p:nvPr/>
          </p:nvSpPr>
          <p:spPr bwMode="auto">
            <a:xfrm>
              <a:off x="973138" y="6113232"/>
              <a:ext cx="30956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46" name="Line 7">
              <a:extLst>
                <a:ext uri="{FF2B5EF4-FFF2-40B4-BE49-F238E27FC236}">
                  <a16:creationId xmlns:a16="http://schemas.microsoft.com/office/drawing/2014/main" id="{59C4AFEF-35E5-7FE1-00EA-1F13629C0C3D}"/>
                </a:ext>
              </a:extLst>
            </p:cNvPr>
            <p:cNvSpPr>
              <a:spLocks noChangeShapeType="1"/>
            </p:cNvSpPr>
            <p:nvPr/>
          </p:nvSpPr>
          <p:spPr bwMode="auto">
            <a:xfrm>
              <a:off x="963613" y="3454170"/>
              <a:ext cx="2732087" cy="26479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47" name="Text Box 8">
              <a:extLst>
                <a:ext uri="{FF2B5EF4-FFF2-40B4-BE49-F238E27FC236}">
                  <a16:creationId xmlns:a16="http://schemas.microsoft.com/office/drawing/2014/main" id="{93443C50-D2F1-834F-CA98-57E2AA015ADE}"/>
                </a:ext>
              </a:extLst>
            </p:cNvPr>
            <p:cNvSpPr txBox="1">
              <a:spLocks noChangeArrowheads="1"/>
            </p:cNvSpPr>
            <p:nvPr/>
          </p:nvSpPr>
          <p:spPr bwMode="auto">
            <a:xfrm>
              <a:off x="3779838" y="6094182"/>
              <a:ext cx="4238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48" name="Text Box 9">
              <a:extLst>
                <a:ext uri="{FF2B5EF4-FFF2-40B4-BE49-F238E27FC236}">
                  <a16:creationId xmlns:a16="http://schemas.microsoft.com/office/drawing/2014/main" id="{AF178141-CDDB-B6BF-5781-FD9A8DFF40AE}"/>
                </a:ext>
              </a:extLst>
            </p:cNvPr>
            <p:cNvSpPr txBox="1">
              <a:spLocks noChangeArrowheads="1"/>
            </p:cNvSpPr>
            <p:nvPr/>
          </p:nvSpPr>
          <p:spPr bwMode="auto">
            <a:xfrm>
              <a:off x="3487738" y="5575213"/>
              <a:ext cx="695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D</a:t>
              </a:r>
              <a:r>
                <a:rPr lang="en-US" altLang="zh-CN" baseline="-25000" dirty="0">
                  <a:latin typeface="Source Sans Pro" panose="020B0503030403020204" pitchFamily="34" charset="0"/>
                  <a:ea typeface="SimSun" pitchFamily="2" charset="-122"/>
                </a:rPr>
                <a:t>M</a:t>
              </a:r>
              <a:endParaRPr lang="en-US" altLang="en-US" dirty="0">
                <a:latin typeface="Source Sans Pro" panose="020B0503030403020204" pitchFamily="34" charset="0"/>
              </a:endParaRPr>
            </a:p>
          </p:txBody>
        </p:sp>
        <p:sp>
          <p:nvSpPr>
            <p:cNvPr id="49" name="Text Box 10">
              <a:extLst>
                <a:ext uri="{FF2B5EF4-FFF2-40B4-BE49-F238E27FC236}">
                  <a16:creationId xmlns:a16="http://schemas.microsoft.com/office/drawing/2014/main" id="{5E1AA924-6DA2-E655-6172-48CEEC75A2FC}"/>
                </a:ext>
              </a:extLst>
            </p:cNvPr>
            <p:cNvSpPr txBox="1">
              <a:spLocks noChangeArrowheads="1"/>
            </p:cNvSpPr>
            <p:nvPr/>
          </p:nvSpPr>
          <p:spPr bwMode="auto">
            <a:xfrm>
              <a:off x="575973" y="2836632"/>
              <a:ext cx="3714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P</a:t>
              </a:r>
              <a:endParaRPr lang="en-US" altLang="en-US" dirty="0">
                <a:latin typeface="Source Sans Pro" panose="020B0503030403020204" pitchFamily="34" charset="0"/>
              </a:endParaRPr>
            </a:p>
          </p:txBody>
        </p:sp>
        <p:sp>
          <p:nvSpPr>
            <p:cNvPr id="50" name="Line 11">
              <a:extLst>
                <a:ext uri="{FF2B5EF4-FFF2-40B4-BE49-F238E27FC236}">
                  <a16:creationId xmlns:a16="http://schemas.microsoft.com/office/drawing/2014/main" id="{CA56CAF6-5025-1D6C-EAC9-7CFEAF41D309}"/>
                </a:ext>
              </a:extLst>
            </p:cNvPr>
            <p:cNvSpPr>
              <a:spLocks noChangeShapeType="1"/>
            </p:cNvSpPr>
            <p:nvPr/>
          </p:nvSpPr>
          <p:spPr bwMode="auto">
            <a:xfrm>
              <a:off x="982663" y="3474807"/>
              <a:ext cx="1543050" cy="2878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ＭＳ Ｐゴシック" charset="0"/>
                <a:cs typeface="ＭＳ Ｐゴシック" charset="0"/>
              </a:endParaRPr>
            </a:p>
          </p:txBody>
        </p:sp>
        <p:sp>
          <p:nvSpPr>
            <p:cNvPr id="51" name="Text Box 12">
              <a:extLst>
                <a:ext uri="{FF2B5EF4-FFF2-40B4-BE49-F238E27FC236}">
                  <a16:creationId xmlns:a16="http://schemas.microsoft.com/office/drawing/2014/main" id="{5D260936-7326-F407-2573-5BE8127E7E16}"/>
                </a:ext>
              </a:extLst>
            </p:cNvPr>
            <p:cNvSpPr txBox="1">
              <a:spLocks noChangeArrowheads="1"/>
            </p:cNvSpPr>
            <p:nvPr/>
          </p:nvSpPr>
          <p:spPr bwMode="auto">
            <a:xfrm>
              <a:off x="2501900" y="6195782"/>
              <a:ext cx="8177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MR</a:t>
              </a:r>
              <a:r>
                <a:rPr lang="en-US" altLang="zh-CN" baseline="-25000" dirty="0">
                  <a:latin typeface="Source Sans Pro" panose="020B0503030403020204" pitchFamily="34" charset="0"/>
                  <a:ea typeface="SimSun" pitchFamily="2" charset="-122"/>
                </a:rPr>
                <a:t>M</a:t>
              </a:r>
              <a:endParaRPr lang="en-US" altLang="en-US" dirty="0">
                <a:latin typeface="Source Sans Pro" panose="020B0503030403020204" pitchFamily="34" charset="0"/>
              </a:endParaRPr>
            </a:p>
          </p:txBody>
        </p:sp>
        <p:sp>
          <p:nvSpPr>
            <p:cNvPr id="52" name="Rectangle 15">
              <a:extLst>
                <a:ext uri="{FF2B5EF4-FFF2-40B4-BE49-F238E27FC236}">
                  <a16:creationId xmlns:a16="http://schemas.microsoft.com/office/drawing/2014/main" id="{C52FBD12-D85F-2792-FEE5-DB588D3AAEE2}"/>
                </a:ext>
              </a:extLst>
            </p:cNvPr>
            <p:cNvSpPr>
              <a:spLocks noChangeArrowheads="1"/>
            </p:cNvSpPr>
            <p:nvPr/>
          </p:nvSpPr>
          <p:spPr bwMode="auto">
            <a:xfrm>
              <a:off x="976313" y="4634630"/>
              <a:ext cx="1219874" cy="1483365"/>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400" dirty="0">
                <a:latin typeface="Source Sans Pro" panose="020B0503030403020204" pitchFamily="34" charset="0"/>
                <a:ea typeface="ＭＳ Ｐゴシック" charset="0"/>
                <a:cs typeface="ＭＳ Ｐゴシック" charset="0"/>
              </a:endParaRPr>
            </a:p>
          </p:txBody>
        </p:sp>
        <p:sp>
          <p:nvSpPr>
            <p:cNvPr id="53" name="Text Box 16">
              <a:extLst>
                <a:ext uri="{FF2B5EF4-FFF2-40B4-BE49-F238E27FC236}">
                  <a16:creationId xmlns:a16="http://schemas.microsoft.com/office/drawing/2014/main" id="{5E327DF5-AC2A-6FB0-9BD7-41C50858171E}"/>
                </a:ext>
              </a:extLst>
            </p:cNvPr>
            <p:cNvSpPr txBox="1">
              <a:spLocks noChangeArrowheads="1"/>
            </p:cNvSpPr>
            <p:nvPr/>
          </p:nvSpPr>
          <p:spPr bwMode="auto">
            <a:xfrm>
              <a:off x="2038211" y="6106737"/>
              <a:ext cx="320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dirty="0">
                  <a:latin typeface="Source Sans Pro" panose="020B0503030403020204" pitchFamily="34" charset="0"/>
                  <a:ea typeface="SimSun" pitchFamily="2" charset="-122"/>
                </a:rPr>
                <a:t>7</a:t>
              </a:r>
              <a:endParaRPr lang="en-US" altLang="en-US" dirty="0">
                <a:latin typeface="Source Sans Pro" panose="020B0503030403020204" pitchFamily="34" charset="0"/>
              </a:endParaRPr>
            </a:p>
          </p:txBody>
        </p:sp>
        <p:sp>
          <p:nvSpPr>
            <p:cNvPr id="54" name="Text Box 17">
              <a:extLst>
                <a:ext uri="{FF2B5EF4-FFF2-40B4-BE49-F238E27FC236}">
                  <a16:creationId xmlns:a16="http://schemas.microsoft.com/office/drawing/2014/main" id="{A8D19269-41D7-28E5-A0C1-FE40E34AA980}"/>
                </a:ext>
              </a:extLst>
            </p:cNvPr>
            <p:cNvSpPr txBox="1">
              <a:spLocks noChangeArrowheads="1"/>
            </p:cNvSpPr>
            <p:nvPr/>
          </p:nvSpPr>
          <p:spPr bwMode="auto">
            <a:xfrm>
              <a:off x="485268" y="4421966"/>
              <a:ext cx="4619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9</a:t>
              </a:r>
              <a:endParaRPr lang="en-US" altLang="en-US" dirty="0">
                <a:latin typeface="Source Sans Pro" panose="020B0503030403020204" pitchFamily="34" charset="0"/>
              </a:endParaRPr>
            </a:p>
          </p:txBody>
        </p:sp>
        <p:sp>
          <p:nvSpPr>
            <p:cNvPr id="55" name="Text Box 18">
              <a:extLst>
                <a:ext uri="{FF2B5EF4-FFF2-40B4-BE49-F238E27FC236}">
                  <a16:creationId xmlns:a16="http://schemas.microsoft.com/office/drawing/2014/main" id="{0D10684F-779C-8BFA-FF90-821C50296CBC}"/>
                </a:ext>
              </a:extLst>
            </p:cNvPr>
            <p:cNvSpPr txBox="1">
              <a:spLocks noChangeArrowheads="1"/>
            </p:cNvSpPr>
            <p:nvPr/>
          </p:nvSpPr>
          <p:spPr bwMode="auto">
            <a:xfrm>
              <a:off x="1806575" y="3112857"/>
              <a:ext cx="1706563" cy="461665"/>
            </a:xfrm>
            <a:prstGeom prst="rect">
              <a:avLst/>
            </a:prstGeom>
            <a:solidFill>
              <a:srgbClr val="C8C8C8"/>
            </a:solidFill>
            <a:ln w="9525">
              <a:solidFill>
                <a:srgbClr val="C8C8C8"/>
              </a:solidFill>
              <a:miter lim="800000"/>
              <a:headEnd/>
              <a:tailEnd/>
            </a:ln>
            <a:effectLst/>
          </p:spPr>
          <p:txBody>
            <a:bodyPr>
              <a:spAutoFit/>
            </a:bodyPr>
            <a:lstStyle/>
            <a:p>
              <a:pPr algn="ctr">
                <a:spcBef>
                  <a:spcPct val="50000"/>
                </a:spcBef>
                <a:defRPr/>
              </a:pPr>
              <a:r>
                <a:rPr lang="en-US" sz="2400" b="1" dirty="0">
                  <a:latin typeface="Source Sans Pro" panose="020B0503030403020204" pitchFamily="34" charset="0"/>
                  <a:ea typeface="ＭＳ Ｐゴシック" charset="0"/>
                  <a:cs typeface="ＭＳ Ｐゴシック" charset="0"/>
                </a:rPr>
                <a:t>MBAs</a:t>
              </a:r>
            </a:p>
          </p:txBody>
        </p:sp>
        <p:sp>
          <p:nvSpPr>
            <p:cNvPr id="56" name="Text Box 34">
              <a:extLst>
                <a:ext uri="{FF2B5EF4-FFF2-40B4-BE49-F238E27FC236}">
                  <a16:creationId xmlns:a16="http://schemas.microsoft.com/office/drawing/2014/main" id="{B071A004-6207-F638-9ECD-88B83E5C1259}"/>
                </a:ext>
              </a:extLst>
            </p:cNvPr>
            <p:cNvSpPr txBox="1">
              <a:spLocks noChangeArrowheads="1"/>
            </p:cNvSpPr>
            <p:nvPr/>
          </p:nvSpPr>
          <p:spPr bwMode="auto">
            <a:xfrm>
              <a:off x="405615" y="3278822"/>
              <a:ext cx="5416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16</a:t>
              </a:r>
              <a:endParaRPr lang="en-US" altLang="en-US" dirty="0">
                <a:latin typeface="Source Sans Pro" panose="020B0503030403020204" pitchFamily="34" charset="0"/>
              </a:endParaRPr>
            </a:p>
          </p:txBody>
        </p:sp>
      </p:grpSp>
      <p:grpSp>
        <p:nvGrpSpPr>
          <p:cNvPr id="57" name="Group 56">
            <a:extLst>
              <a:ext uri="{FF2B5EF4-FFF2-40B4-BE49-F238E27FC236}">
                <a16:creationId xmlns:a16="http://schemas.microsoft.com/office/drawing/2014/main" id="{CE49102A-55FB-FF53-2C58-CA55F4CC4252}"/>
              </a:ext>
            </a:extLst>
          </p:cNvPr>
          <p:cNvGrpSpPr/>
          <p:nvPr/>
        </p:nvGrpSpPr>
        <p:grpSpPr>
          <a:xfrm>
            <a:off x="6206364" y="2830282"/>
            <a:ext cx="3829050" cy="3795415"/>
            <a:chOff x="4435475" y="2830282"/>
            <a:chExt cx="3829050" cy="3795415"/>
          </a:xfrm>
        </p:grpSpPr>
        <p:sp>
          <p:nvSpPr>
            <p:cNvPr id="58" name="Rectangle 36">
              <a:extLst>
                <a:ext uri="{FF2B5EF4-FFF2-40B4-BE49-F238E27FC236}">
                  <a16:creationId xmlns:a16="http://schemas.microsoft.com/office/drawing/2014/main" id="{C08822A6-0E11-0101-9AB9-3035CCC446FE}"/>
                </a:ext>
              </a:extLst>
            </p:cNvPr>
            <p:cNvSpPr>
              <a:spLocks noChangeArrowheads="1"/>
            </p:cNvSpPr>
            <p:nvPr/>
          </p:nvSpPr>
          <p:spPr bwMode="auto">
            <a:xfrm>
              <a:off x="5040313" y="4773527"/>
              <a:ext cx="887442" cy="1314305"/>
            </a:xfrm>
            <a:prstGeom prst="rect">
              <a:avLst/>
            </a:prstGeom>
            <a:solidFill>
              <a:srgbClr val="67C8C7"/>
            </a:solidFill>
            <a:ln w="9525">
              <a:solidFill>
                <a:srgbClr val="67C8C7"/>
              </a:solidFill>
              <a:miter lim="800000"/>
              <a:headEnd/>
              <a:tailEnd/>
            </a:ln>
            <a:effectLst/>
          </p:spPr>
          <p:txBody>
            <a:bodyPr wrap="none" anchor="ctr"/>
            <a:lstStyle/>
            <a:p>
              <a:pPr>
                <a:defRPr/>
              </a:pPr>
              <a:endParaRPr lang="en-US" sz="2400" dirty="0">
                <a:latin typeface="Source Sans Pro" panose="020B0503030403020204" pitchFamily="34" charset="0"/>
                <a:ea typeface="ＭＳ Ｐゴシック" charset="0"/>
                <a:cs typeface="ＭＳ Ｐゴシック" charset="0"/>
              </a:endParaRPr>
            </a:p>
          </p:txBody>
        </p:sp>
        <p:sp>
          <p:nvSpPr>
            <p:cNvPr id="59" name="Line 37">
              <a:extLst>
                <a:ext uri="{FF2B5EF4-FFF2-40B4-BE49-F238E27FC236}">
                  <a16:creationId xmlns:a16="http://schemas.microsoft.com/office/drawing/2014/main" id="{04DBF2F6-B77B-B872-3FF9-73DF08F0514F}"/>
                </a:ext>
              </a:extLst>
            </p:cNvPr>
            <p:cNvSpPr>
              <a:spLocks noChangeShapeType="1"/>
            </p:cNvSpPr>
            <p:nvPr/>
          </p:nvSpPr>
          <p:spPr bwMode="auto">
            <a:xfrm>
              <a:off x="5027613" y="3101745"/>
              <a:ext cx="0" cy="3008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60" name="Line 38">
              <a:extLst>
                <a:ext uri="{FF2B5EF4-FFF2-40B4-BE49-F238E27FC236}">
                  <a16:creationId xmlns:a16="http://schemas.microsoft.com/office/drawing/2014/main" id="{E147969B-80FE-FE96-4D24-A9BF94D0D0B7}"/>
                </a:ext>
              </a:extLst>
            </p:cNvPr>
            <p:cNvSpPr>
              <a:spLocks noChangeShapeType="1"/>
            </p:cNvSpPr>
            <p:nvPr/>
          </p:nvSpPr>
          <p:spPr bwMode="auto">
            <a:xfrm>
              <a:off x="5033963" y="6106882"/>
              <a:ext cx="30956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61" name="Line 39">
              <a:extLst>
                <a:ext uri="{FF2B5EF4-FFF2-40B4-BE49-F238E27FC236}">
                  <a16:creationId xmlns:a16="http://schemas.microsoft.com/office/drawing/2014/main" id="{0FB61AB8-251A-4418-E8A5-67FF1EC20E2A}"/>
                </a:ext>
              </a:extLst>
            </p:cNvPr>
            <p:cNvSpPr>
              <a:spLocks noChangeShapeType="1"/>
            </p:cNvSpPr>
            <p:nvPr/>
          </p:nvSpPr>
          <p:spPr bwMode="auto">
            <a:xfrm>
              <a:off x="5030788" y="3879620"/>
              <a:ext cx="2217737" cy="22225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ndParaRPr>
            </a:p>
          </p:txBody>
        </p:sp>
        <p:sp>
          <p:nvSpPr>
            <p:cNvPr id="62" name="Text Box 40">
              <a:extLst>
                <a:ext uri="{FF2B5EF4-FFF2-40B4-BE49-F238E27FC236}">
                  <a16:creationId xmlns:a16="http://schemas.microsoft.com/office/drawing/2014/main" id="{188E49CA-27A6-572B-5D8E-8C195891B7E7}"/>
                </a:ext>
              </a:extLst>
            </p:cNvPr>
            <p:cNvSpPr txBox="1">
              <a:spLocks noChangeArrowheads="1"/>
            </p:cNvSpPr>
            <p:nvPr/>
          </p:nvSpPr>
          <p:spPr bwMode="auto">
            <a:xfrm>
              <a:off x="7840663" y="6087832"/>
              <a:ext cx="4238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Q</a:t>
              </a:r>
              <a:endParaRPr lang="en-US" altLang="en-US" dirty="0">
                <a:latin typeface="Source Sans Pro" panose="020B0503030403020204" pitchFamily="34" charset="0"/>
              </a:endParaRPr>
            </a:p>
          </p:txBody>
        </p:sp>
        <p:sp>
          <p:nvSpPr>
            <p:cNvPr id="63" name="Text Box 41">
              <a:extLst>
                <a:ext uri="{FF2B5EF4-FFF2-40B4-BE49-F238E27FC236}">
                  <a16:creationId xmlns:a16="http://schemas.microsoft.com/office/drawing/2014/main" id="{FA4DA7AE-1BB0-3CBD-1DC4-4E3DC7935C8A}"/>
                </a:ext>
              </a:extLst>
            </p:cNvPr>
            <p:cNvSpPr txBox="1">
              <a:spLocks noChangeArrowheads="1"/>
            </p:cNvSpPr>
            <p:nvPr/>
          </p:nvSpPr>
          <p:spPr bwMode="auto">
            <a:xfrm>
              <a:off x="7161213" y="5634672"/>
              <a:ext cx="695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D</a:t>
              </a:r>
              <a:r>
                <a:rPr lang="en-US" altLang="zh-CN" baseline="-25000" dirty="0">
                  <a:latin typeface="Source Sans Pro" panose="020B0503030403020204" pitchFamily="34" charset="0"/>
                  <a:ea typeface="SimSun" pitchFamily="2" charset="-122"/>
                </a:rPr>
                <a:t>U</a:t>
              </a:r>
              <a:endParaRPr lang="en-US" altLang="en-US" dirty="0">
                <a:latin typeface="Source Sans Pro" panose="020B0503030403020204" pitchFamily="34" charset="0"/>
              </a:endParaRPr>
            </a:p>
          </p:txBody>
        </p:sp>
        <p:sp>
          <p:nvSpPr>
            <p:cNvPr id="38912" name="Text Box 42">
              <a:extLst>
                <a:ext uri="{FF2B5EF4-FFF2-40B4-BE49-F238E27FC236}">
                  <a16:creationId xmlns:a16="http://schemas.microsoft.com/office/drawing/2014/main" id="{2788AF7D-16E0-D55E-E362-9341CCA7B486}"/>
                </a:ext>
              </a:extLst>
            </p:cNvPr>
            <p:cNvSpPr txBox="1">
              <a:spLocks noChangeArrowheads="1"/>
            </p:cNvSpPr>
            <p:nvPr/>
          </p:nvSpPr>
          <p:spPr bwMode="auto">
            <a:xfrm>
              <a:off x="4636798" y="2830282"/>
              <a:ext cx="3714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P</a:t>
              </a:r>
              <a:endParaRPr lang="en-US" altLang="en-US" dirty="0">
                <a:latin typeface="Source Sans Pro" panose="020B0503030403020204" pitchFamily="34" charset="0"/>
              </a:endParaRPr>
            </a:p>
          </p:txBody>
        </p:sp>
        <p:sp>
          <p:nvSpPr>
            <p:cNvPr id="38913" name="Line 43">
              <a:extLst>
                <a:ext uri="{FF2B5EF4-FFF2-40B4-BE49-F238E27FC236}">
                  <a16:creationId xmlns:a16="http://schemas.microsoft.com/office/drawing/2014/main" id="{D15693D2-98FB-97E7-8BD0-8BEAD1F96151}"/>
                </a:ext>
              </a:extLst>
            </p:cNvPr>
            <p:cNvSpPr>
              <a:spLocks noChangeShapeType="1"/>
            </p:cNvSpPr>
            <p:nvPr/>
          </p:nvSpPr>
          <p:spPr bwMode="auto">
            <a:xfrm>
              <a:off x="5030788" y="3887557"/>
              <a:ext cx="1263650" cy="2459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ＭＳ Ｐゴシック" charset="0"/>
                <a:cs typeface="ＭＳ Ｐゴシック" charset="0"/>
              </a:endParaRPr>
            </a:p>
          </p:txBody>
        </p:sp>
        <p:sp>
          <p:nvSpPr>
            <p:cNvPr id="38916" name="Rectangle 46">
              <a:extLst>
                <a:ext uri="{FF2B5EF4-FFF2-40B4-BE49-F238E27FC236}">
                  <a16:creationId xmlns:a16="http://schemas.microsoft.com/office/drawing/2014/main" id="{2EFBBFBD-087B-5E7B-1CEE-2107868467E6}"/>
                </a:ext>
              </a:extLst>
            </p:cNvPr>
            <p:cNvSpPr>
              <a:spLocks noChangeArrowheads="1"/>
            </p:cNvSpPr>
            <p:nvPr/>
          </p:nvSpPr>
          <p:spPr bwMode="auto">
            <a:xfrm>
              <a:off x="5037137" y="4783814"/>
              <a:ext cx="889955" cy="1314305"/>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400" dirty="0">
                <a:latin typeface="Source Sans Pro" panose="020B0503030403020204" pitchFamily="34" charset="0"/>
                <a:ea typeface="ＭＳ Ｐゴシック" charset="0"/>
                <a:cs typeface="ＭＳ Ｐゴシック" charset="0"/>
              </a:endParaRPr>
            </a:p>
          </p:txBody>
        </p:sp>
        <p:sp>
          <p:nvSpPr>
            <p:cNvPr id="38917" name="Text Box 47">
              <a:extLst>
                <a:ext uri="{FF2B5EF4-FFF2-40B4-BE49-F238E27FC236}">
                  <a16:creationId xmlns:a16="http://schemas.microsoft.com/office/drawing/2014/main" id="{25962937-C85B-B2A6-7AA3-321AC4A99A15}"/>
                </a:ext>
              </a:extLst>
            </p:cNvPr>
            <p:cNvSpPr txBox="1">
              <a:spLocks noChangeArrowheads="1"/>
            </p:cNvSpPr>
            <p:nvPr/>
          </p:nvSpPr>
          <p:spPr bwMode="auto">
            <a:xfrm>
              <a:off x="5762549" y="6119570"/>
              <a:ext cx="320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dirty="0">
                  <a:latin typeface="Source Sans Pro" panose="020B0503030403020204" pitchFamily="34" charset="0"/>
                  <a:ea typeface="SimSun" pitchFamily="2" charset="-122"/>
                </a:rPr>
                <a:t>5</a:t>
              </a:r>
              <a:endParaRPr lang="en-US" altLang="en-US" dirty="0">
                <a:latin typeface="Source Sans Pro" panose="020B0503030403020204" pitchFamily="34" charset="0"/>
              </a:endParaRPr>
            </a:p>
          </p:txBody>
        </p:sp>
        <p:sp>
          <p:nvSpPr>
            <p:cNvPr id="38918" name="Text Box 48">
              <a:extLst>
                <a:ext uri="{FF2B5EF4-FFF2-40B4-BE49-F238E27FC236}">
                  <a16:creationId xmlns:a16="http://schemas.microsoft.com/office/drawing/2014/main" id="{7FCD45B9-390A-4BBC-6ACD-27BBD5D57F70}"/>
                </a:ext>
              </a:extLst>
            </p:cNvPr>
            <p:cNvSpPr txBox="1">
              <a:spLocks noChangeArrowheads="1"/>
            </p:cNvSpPr>
            <p:nvPr/>
          </p:nvSpPr>
          <p:spPr bwMode="auto">
            <a:xfrm>
              <a:off x="4531932" y="4572540"/>
              <a:ext cx="4619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en-US" dirty="0">
                  <a:latin typeface="Source Sans Pro" panose="020B0503030403020204" pitchFamily="34" charset="0"/>
                  <a:ea typeface="SimSun" pitchFamily="2" charset="-122"/>
                </a:rPr>
                <a:t>7</a:t>
              </a:r>
            </a:p>
          </p:txBody>
        </p:sp>
        <p:sp>
          <p:nvSpPr>
            <p:cNvPr id="38919" name="Text Box 49">
              <a:extLst>
                <a:ext uri="{FF2B5EF4-FFF2-40B4-BE49-F238E27FC236}">
                  <a16:creationId xmlns:a16="http://schemas.microsoft.com/office/drawing/2014/main" id="{6C96584C-D118-453D-3C77-334059B3CDED}"/>
                </a:ext>
              </a:extLst>
            </p:cNvPr>
            <p:cNvSpPr txBox="1">
              <a:spLocks noChangeArrowheads="1"/>
            </p:cNvSpPr>
            <p:nvPr/>
          </p:nvSpPr>
          <p:spPr bwMode="auto">
            <a:xfrm>
              <a:off x="5867400" y="3106507"/>
              <a:ext cx="1921638" cy="461665"/>
            </a:xfrm>
            <a:prstGeom prst="rect">
              <a:avLst/>
            </a:prstGeom>
            <a:solidFill>
              <a:srgbClr val="C8C8C8"/>
            </a:solidFill>
            <a:ln w="9525">
              <a:solidFill>
                <a:srgbClr val="C8C8C8"/>
              </a:solidFill>
              <a:miter lim="800000"/>
              <a:headEnd/>
              <a:tailEnd/>
            </a:ln>
            <a:effectLst/>
          </p:spPr>
          <p:txBody>
            <a:bodyPr wrap="square">
              <a:spAutoFit/>
            </a:bodyPr>
            <a:lstStyle/>
            <a:p>
              <a:pPr algn="ctr">
                <a:spcBef>
                  <a:spcPct val="50000"/>
                </a:spcBef>
                <a:defRPr/>
              </a:pPr>
              <a:r>
                <a:rPr lang="en-US" sz="2400" b="1" dirty="0">
                  <a:latin typeface="Source Sans Pro" panose="020B0503030403020204" pitchFamily="34" charset="0"/>
                  <a:ea typeface="ＭＳ Ｐゴシック" charset="0"/>
                  <a:cs typeface="ＭＳ Ｐゴシック" charset="0"/>
                </a:rPr>
                <a:t>Undergrads</a:t>
              </a:r>
            </a:p>
          </p:txBody>
        </p:sp>
        <p:sp>
          <p:nvSpPr>
            <p:cNvPr id="38920" name="Text Box 50">
              <a:extLst>
                <a:ext uri="{FF2B5EF4-FFF2-40B4-BE49-F238E27FC236}">
                  <a16:creationId xmlns:a16="http://schemas.microsoft.com/office/drawing/2014/main" id="{EE0A9C4E-E1A9-1390-5E7F-DF52B88C56D9}"/>
                </a:ext>
              </a:extLst>
            </p:cNvPr>
            <p:cNvSpPr txBox="1">
              <a:spLocks noChangeArrowheads="1"/>
            </p:cNvSpPr>
            <p:nvPr/>
          </p:nvSpPr>
          <p:spPr bwMode="auto">
            <a:xfrm>
              <a:off x="4435475" y="3673677"/>
              <a:ext cx="5584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imSun" pitchFamily="2" charset="-122"/>
                </a:rPr>
                <a:t>12</a:t>
              </a:r>
              <a:endParaRPr lang="en-US" altLang="en-US" dirty="0">
                <a:latin typeface="Source Sans Pro" panose="020B0503030403020204" pitchFamily="34" charset="0"/>
              </a:endParaRPr>
            </a:p>
          </p:txBody>
        </p:sp>
        <p:sp>
          <p:nvSpPr>
            <p:cNvPr id="38921" name="Text Box 52">
              <a:extLst>
                <a:ext uri="{FF2B5EF4-FFF2-40B4-BE49-F238E27FC236}">
                  <a16:creationId xmlns:a16="http://schemas.microsoft.com/office/drawing/2014/main" id="{A6D3476C-6760-D5A7-5EA9-24A5EF671A1A}"/>
                </a:ext>
              </a:extLst>
            </p:cNvPr>
            <p:cNvSpPr txBox="1">
              <a:spLocks noChangeArrowheads="1"/>
            </p:cNvSpPr>
            <p:nvPr/>
          </p:nvSpPr>
          <p:spPr bwMode="auto">
            <a:xfrm>
              <a:off x="6251575" y="6164032"/>
              <a:ext cx="8177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imSun" pitchFamily="2" charset="-122"/>
                </a:rPr>
                <a:t>MR</a:t>
              </a:r>
              <a:r>
                <a:rPr lang="en-US" altLang="zh-CN" baseline="-25000" dirty="0">
                  <a:latin typeface="Source Sans Pro" panose="020B0503030403020204" pitchFamily="34" charset="0"/>
                  <a:ea typeface="SimSun" pitchFamily="2" charset="-122"/>
                </a:rPr>
                <a:t>U</a:t>
              </a:r>
              <a:endParaRPr lang="en-US" altLang="en-US" dirty="0">
                <a:latin typeface="Source Sans Pro" panose="020B0503030403020204" pitchFamily="34" charset="0"/>
              </a:endParaRPr>
            </a:p>
          </p:txBody>
        </p:sp>
      </p:grpSp>
      <p:sp>
        <p:nvSpPr>
          <p:cNvPr id="38922" name="Line 53">
            <a:extLst>
              <a:ext uri="{FF2B5EF4-FFF2-40B4-BE49-F238E27FC236}">
                <a16:creationId xmlns:a16="http://schemas.microsoft.com/office/drawing/2014/main" id="{2BE2BE8F-D5D2-A7C9-B778-4F81421D94EE}"/>
              </a:ext>
            </a:extLst>
          </p:cNvPr>
          <p:cNvSpPr>
            <a:spLocks noChangeShapeType="1"/>
          </p:cNvSpPr>
          <p:nvPr/>
        </p:nvSpPr>
        <p:spPr bwMode="auto">
          <a:xfrm flipH="1">
            <a:off x="3290381" y="4559842"/>
            <a:ext cx="690562" cy="647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ＭＳ Ｐゴシック" charset="0"/>
              <a:cs typeface="ＭＳ Ｐゴシック" charset="0"/>
            </a:endParaRPr>
          </a:p>
        </p:txBody>
      </p:sp>
      <p:sp>
        <p:nvSpPr>
          <p:cNvPr id="38923" name="Text Box 54">
            <a:extLst>
              <a:ext uri="{FF2B5EF4-FFF2-40B4-BE49-F238E27FC236}">
                <a16:creationId xmlns:a16="http://schemas.microsoft.com/office/drawing/2014/main" id="{DB8EAA29-0F41-75D9-1AE0-C8EBF40B386D}"/>
              </a:ext>
            </a:extLst>
          </p:cNvPr>
          <p:cNvSpPr txBox="1">
            <a:spLocks noChangeArrowheads="1"/>
          </p:cNvSpPr>
          <p:nvPr/>
        </p:nvSpPr>
        <p:spPr bwMode="auto">
          <a:xfrm>
            <a:off x="3231135" y="4172965"/>
            <a:ext cx="2114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defRPr/>
            </a:pPr>
            <a:r>
              <a:rPr lang="en-US" sz="2400" dirty="0" err="1">
                <a:latin typeface="Source Sans Pro" panose="020B0503030403020204" pitchFamily="34" charset="0"/>
                <a:ea typeface="ＭＳ Ｐゴシック" charset="0"/>
                <a:cs typeface="ＭＳ Ｐゴシック" charset="0"/>
              </a:rPr>
              <a:t>Revenue</a:t>
            </a:r>
            <a:r>
              <a:rPr lang="en-US" sz="2400" baseline="-25000" dirty="0" err="1">
                <a:latin typeface="Source Sans Pro" panose="020B0503030403020204" pitchFamily="34" charset="0"/>
                <a:ea typeface="ＭＳ Ｐゴシック" charset="0"/>
                <a:cs typeface="ＭＳ Ｐゴシック" charset="0"/>
              </a:rPr>
              <a:t>M</a:t>
            </a:r>
            <a:r>
              <a:rPr lang="en-US" sz="2400" dirty="0">
                <a:latin typeface="Source Sans Pro" panose="020B0503030403020204" pitchFamily="34" charset="0"/>
                <a:ea typeface="ＭＳ Ｐゴシック" charset="0"/>
                <a:cs typeface="ＭＳ Ｐゴシック" charset="0"/>
              </a:rPr>
              <a:t> = 63</a:t>
            </a:r>
          </a:p>
        </p:txBody>
      </p:sp>
      <p:sp>
        <p:nvSpPr>
          <p:cNvPr id="38924" name="Line 55">
            <a:extLst>
              <a:ext uri="{FF2B5EF4-FFF2-40B4-BE49-F238E27FC236}">
                <a16:creationId xmlns:a16="http://schemas.microsoft.com/office/drawing/2014/main" id="{7252A620-52EA-FE40-A2EF-2A66A88AE440}"/>
              </a:ext>
            </a:extLst>
          </p:cNvPr>
          <p:cNvSpPr>
            <a:spLocks noChangeShapeType="1"/>
          </p:cNvSpPr>
          <p:nvPr/>
        </p:nvSpPr>
        <p:spPr bwMode="auto">
          <a:xfrm flipH="1">
            <a:off x="7704170" y="4612106"/>
            <a:ext cx="690562" cy="647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ＭＳ Ｐゴシック" charset="0"/>
              <a:cs typeface="ＭＳ Ｐゴシック" charset="0"/>
            </a:endParaRPr>
          </a:p>
        </p:txBody>
      </p:sp>
      <p:sp>
        <p:nvSpPr>
          <p:cNvPr id="38925" name="Text Box 56">
            <a:extLst>
              <a:ext uri="{FF2B5EF4-FFF2-40B4-BE49-F238E27FC236}">
                <a16:creationId xmlns:a16="http://schemas.microsoft.com/office/drawing/2014/main" id="{42526F87-721B-E09C-ECF1-CB9BBFDC2536}"/>
              </a:ext>
            </a:extLst>
          </p:cNvPr>
          <p:cNvSpPr txBox="1">
            <a:spLocks noChangeArrowheads="1"/>
          </p:cNvSpPr>
          <p:nvPr/>
        </p:nvSpPr>
        <p:spPr bwMode="auto">
          <a:xfrm>
            <a:off x="7644924" y="4225229"/>
            <a:ext cx="22177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defRPr/>
            </a:pPr>
            <a:r>
              <a:rPr lang="en-US" sz="2400" dirty="0" err="1">
                <a:latin typeface="Source Sans Pro" panose="020B0503030403020204" pitchFamily="34" charset="0"/>
                <a:ea typeface="ＭＳ Ｐゴシック" charset="0"/>
                <a:cs typeface="ＭＳ Ｐゴシック" charset="0"/>
              </a:rPr>
              <a:t>Revenue</a:t>
            </a:r>
            <a:r>
              <a:rPr lang="en-US" sz="2400" baseline="-25000" dirty="0" err="1">
                <a:latin typeface="Source Sans Pro" panose="020B0503030403020204" pitchFamily="34" charset="0"/>
                <a:ea typeface="ＭＳ Ｐゴシック" charset="0"/>
                <a:cs typeface="ＭＳ Ｐゴシック" charset="0"/>
              </a:rPr>
              <a:t>U</a:t>
            </a:r>
            <a:r>
              <a:rPr lang="en-US" sz="2400" dirty="0">
                <a:latin typeface="Source Sans Pro" panose="020B0503030403020204" pitchFamily="34" charset="0"/>
                <a:ea typeface="ＭＳ Ｐゴシック" charset="0"/>
                <a:cs typeface="ＭＳ Ｐゴシック" charset="0"/>
              </a:rPr>
              <a:t> = 35</a:t>
            </a:r>
          </a:p>
        </p:txBody>
      </p:sp>
      <p:sp>
        <p:nvSpPr>
          <p:cNvPr id="38926" name="Rectangle 3">
            <a:extLst>
              <a:ext uri="{FF2B5EF4-FFF2-40B4-BE49-F238E27FC236}">
                <a16:creationId xmlns:a16="http://schemas.microsoft.com/office/drawing/2014/main" id="{7C5E82DD-0C24-0D6D-AB09-758C073DC81B}"/>
              </a:ext>
            </a:extLst>
          </p:cNvPr>
          <p:cNvSpPr txBox="1">
            <a:spLocks noChangeArrowheads="1"/>
          </p:cNvSpPr>
          <p:nvPr/>
        </p:nvSpPr>
        <p:spPr bwMode="auto">
          <a:xfrm>
            <a:off x="893618" y="914400"/>
            <a:ext cx="10688782"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Suppose Tivoli can separate undergrads from MBAs based on student ID cards</a:t>
            </a:r>
          </a:p>
          <a:p>
            <a:r>
              <a:rPr lang="en-US" altLang="en-US" sz="2400" kern="0" dirty="0">
                <a:latin typeface="Source Sans Pro" panose="020B0503030403020204" pitchFamily="34" charset="0"/>
                <a:ea typeface="ＭＳ Ｐゴシック" pitchFamily="34" charset="-128"/>
              </a:rPr>
              <a:t>What is the optimal pricing plan?</a:t>
            </a:r>
          </a:p>
        </p:txBody>
      </p:sp>
      <p:sp>
        <p:nvSpPr>
          <p:cNvPr id="38927" name="Rectangle 3">
            <a:extLst>
              <a:ext uri="{FF2B5EF4-FFF2-40B4-BE49-F238E27FC236}">
                <a16:creationId xmlns:a16="http://schemas.microsoft.com/office/drawing/2014/main" id="{034A6767-46E5-604A-291D-01DDB1C2CEBE}"/>
              </a:ext>
            </a:extLst>
          </p:cNvPr>
          <p:cNvSpPr txBox="1">
            <a:spLocks noChangeArrowheads="1"/>
          </p:cNvSpPr>
          <p:nvPr/>
        </p:nvSpPr>
        <p:spPr bwMode="auto">
          <a:xfrm>
            <a:off x="893618" y="1830115"/>
            <a:ext cx="10688782"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400" kern="0" dirty="0">
                <a:latin typeface="Source Sans Pro" panose="020B0503030403020204" pitchFamily="34" charset="0"/>
                <a:ea typeface="ＭＳ Ｐゴシック" pitchFamily="34" charset="-128"/>
              </a:rPr>
              <a:t>Set MR = Cost for each </a:t>
            </a:r>
            <a:r>
              <a:rPr lang="en-US" altLang="en-US" sz="2400" b="1" kern="0" dirty="0">
                <a:latin typeface="Source Sans Pro" panose="020B0503030403020204" pitchFamily="34" charset="0"/>
                <a:ea typeface="ＭＳ Ｐゴシック" pitchFamily="34" charset="-128"/>
              </a:rPr>
              <a:t>sub-market</a:t>
            </a:r>
          </a:p>
          <a:p>
            <a:pPr lvl="1"/>
            <a:r>
              <a:rPr lang="en-US" altLang="en-US" sz="2400" kern="0" dirty="0">
                <a:latin typeface="Source Sans Pro" panose="020B0503030403020204" pitchFamily="34" charset="0"/>
                <a:ea typeface="ＭＳ Ｐゴシック" pitchFamily="34" charset="-128"/>
                <a:sym typeface="Wingdings" pitchFamily="2" charset="2"/>
              </a:rPr>
              <a:t>Total revenue increases to $98!</a:t>
            </a:r>
          </a:p>
        </p:txBody>
      </p:sp>
      <p:sp>
        <p:nvSpPr>
          <p:cNvPr id="38928" name="Line 13">
            <a:extLst>
              <a:ext uri="{FF2B5EF4-FFF2-40B4-BE49-F238E27FC236}">
                <a16:creationId xmlns:a16="http://schemas.microsoft.com/office/drawing/2014/main" id="{9A736F08-D835-AE0B-C467-35097D0EA0DB}"/>
              </a:ext>
            </a:extLst>
          </p:cNvPr>
          <p:cNvSpPr>
            <a:spLocks noChangeShapeType="1"/>
          </p:cNvSpPr>
          <p:nvPr/>
        </p:nvSpPr>
        <p:spPr bwMode="auto">
          <a:xfrm>
            <a:off x="2057467" y="5694311"/>
            <a:ext cx="24971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Source Sans Pro" panose="020B0503030403020204" pitchFamily="34" charset="0"/>
              <a:cs typeface="ＭＳ Ｐゴシック" charset="0"/>
            </a:endParaRPr>
          </a:p>
        </p:txBody>
      </p:sp>
      <p:sp>
        <p:nvSpPr>
          <p:cNvPr id="38929" name="Text Box 14">
            <a:extLst>
              <a:ext uri="{FF2B5EF4-FFF2-40B4-BE49-F238E27FC236}">
                <a16:creationId xmlns:a16="http://schemas.microsoft.com/office/drawing/2014/main" id="{959E1A0D-3DBF-6D06-5DB4-0C6B08758D55}"/>
              </a:ext>
            </a:extLst>
          </p:cNvPr>
          <p:cNvSpPr txBox="1">
            <a:spLocks noChangeArrowheads="1"/>
          </p:cNvSpPr>
          <p:nvPr/>
        </p:nvSpPr>
        <p:spPr bwMode="auto">
          <a:xfrm>
            <a:off x="4374311" y="5231891"/>
            <a:ext cx="8988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cs typeface="Times New Roman" panose="02020603050405020304" pitchFamily="18" charset="0"/>
              </a:rPr>
              <a:t>Cost</a:t>
            </a:r>
            <a:endParaRPr lang="en-US" altLang="en-US" dirty="0">
              <a:latin typeface="Source Sans Pro" panose="020B0503030403020204" pitchFamily="34" charset="0"/>
              <a:ea typeface="Source Sans Pro" panose="020B0503030403020204" pitchFamily="34" charset="0"/>
              <a:cs typeface="Times New Roman" panose="02020603050405020304" pitchFamily="18" charset="0"/>
            </a:endParaRPr>
          </a:p>
        </p:txBody>
      </p:sp>
      <p:sp>
        <p:nvSpPr>
          <p:cNvPr id="38930" name="Line 44">
            <a:extLst>
              <a:ext uri="{FF2B5EF4-FFF2-40B4-BE49-F238E27FC236}">
                <a16:creationId xmlns:a16="http://schemas.microsoft.com/office/drawing/2014/main" id="{CD4F82A1-36B2-E3A3-1856-2CCB958BFF75}"/>
              </a:ext>
            </a:extLst>
          </p:cNvPr>
          <p:cNvSpPr>
            <a:spLocks noChangeShapeType="1"/>
          </p:cNvSpPr>
          <p:nvPr/>
        </p:nvSpPr>
        <p:spPr bwMode="auto">
          <a:xfrm>
            <a:off x="6785804" y="5687961"/>
            <a:ext cx="24971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dirty="0">
              <a:latin typeface="Source Sans Pro" panose="020B0503030403020204" pitchFamily="34" charset="0"/>
              <a:ea typeface="Source Sans Pro" panose="020B0503030403020204" pitchFamily="34" charset="0"/>
              <a:cs typeface="ＭＳ Ｐゴシック" charset="0"/>
            </a:endParaRPr>
          </a:p>
        </p:txBody>
      </p:sp>
      <p:sp>
        <p:nvSpPr>
          <p:cNvPr id="38931" name="Text Box 45">
            <a:extLst>
              <a:ext uri="{FF2B5EF4-FFF2-40B4-BE49-F238E27FC236}">
                <a16:creationId xmlns:a16="http://schemas.microsoft.com/office/drawing/2014/main" id="{91337299-4356-F82B-33DD-4EB2AC2E2EBD}"/>
              </a:ext>
            </a:extLst>
          </p:cNvPr>
          <p:cNvSpPr txBox="1">
            <a:spLocks noChangeArrowheads="1"/>
          </p:cNvSpPr>
          <p:nvPr/>
        </p:nvSpPr>
        <p:spPr bwMode="auto">
          <a:xfrm>
            <a:off x="8918498" y="5225541"/>
            <a:ext cx="8024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cs typeface="Times New Roman" panose="02020603050405020304" pitchFamily="18" charset="0"/>
              </a:rPr>
              <a:t>Cost</a:t>
            </a:r>
            <a:endParaRPr lang="en-US" altLang="en-US" dirty="0">
              <a:latin typeface="Source Sans Pro" panose="020B0503030403020204" pitchFamily="34" charset="0"/>
              <a:ea typeface="Source Sans Pro" panose="020B0503030403020204" pitchFamily="34" charset="0"/>
              <a:cs typeface="Times New Roman" panose="02020603050405020304" pitchFamily="18" charset="0"/>
            </a:endParaRPr>
          </a:p>
        </p:txBody>
      </p:sp>
      <p:sp>
        <p:nvSpPr>
          <p:cNvPr id="38932" name="Text Box 50">
            <a:extLst>
              <a:ext uri="{FF2B5EF4-FFF2-40B4-BE49-F238E27FC236}">
                <a16:creationId xmlns:a16="http://schemas.microsoft.com/office/drawing/2014/main" id="{FAAAFE48-A6EF-45EE-47BF-B919B6A79C81}"/>
              </a:ext>
            </a:extLst>
          </p:cNvPr>
          <p:cNvSpPr txBox="1">
            <a:spLocks noChangeArrowheads="1"/>
          </p:cNvSpPr>
          <p:nvPr/>
        </p:nvSpPr>
        <p:spPr bwMode="auto">
          <a:xfrm>
            <a:off x="6206364" y="5453299"/>
            <a:ext cx="5584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en-US" dirty="0">
                <a:latin typeface="Source Sans Pro" panose="020B0503030403020204" pitchFamily="34" charset="0"/>
                <a:ea typeface="Source Sans Pro" panose="020B0503030403020204" pitchFamily="34" charset="0"/>
                <a:cs typeface="Times New Roman" panose="02020603050405020304" pitchFamily="18" charset="0"/>
              </a:rPr>
              <a:t>2</a:t>
            </a:r>
          </a:p>
        </p:txBody>
      </p:sp>
      <p:sp>
        <p:nvSpPr>
          <p:cNvPr id="38933" name="Text Box 50">
            <a:extLst>
              <a:ext uri="{FF2B5EF4-FFF2-40B4-BE49-F238E27FC236}">
                <a16:creationId xmlns:a16="http://schemas.microsoft.com/office/drawing/2014/main" id="{C68210D5-1D8D-FDE0-2A2A-CFD17284FA81}"/>
              </a:ext>
            </a:extLst>
          </p:cNvPr>
          <p:cNvSpPr txBox="1">
            <a:spLocks noChangeArrowheads="1"/>
          </p:cNvSpPr>
          <p:nvPr/>
        </p:nvSpPr>
        <p:spPr bwMode="auto">
          <a:xfrm>
            <a:off x="1487019" y="5453299"/>
            <a:ext cx="5584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en-US" dirty="0">
                <a:latin typeface="Source Sans Pro" panose="020B0503030403020204" pitchFamily="34" charset="0"/>
                <a:ea typeface="Source Sans Pro" panose="020B0503030403020204" pitchFamily="34" charset="0"/>
                <a:cs typeface="Times New Roman" panose="02020603050405020304" pitchFamily="18" charset="0"/>
              </a:rPr>
              <a:t>2</a:t>
            </a:r>
          </a:p>
        </p:txBody>
      </p:sp>
    </p:spTree>
    <p:extLst>
      <p:ext uri="{BB962C8B-B14F-4D97-AF65-F5344CB8AC3E}">
        <p14:creationId xmlns:p14="http://schemas.microsoft.com/office/powerpoint/2010/main" val="190444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9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9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9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9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9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9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9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9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89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9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3" grpId="0"/>
      <p:bldP spid="38925" grpId="0"/>
      <p:bldP spid="38926" grpId="0"/>
      <p:bldP spid="38927" grpId="0"/>
      <p:bldP spid="38928" grpId="0" animBg="1"/>
      <p:bldP spid="38929" grpId="0"/>
      <p:bldP spid="38930" grpId="0" animBg="1"/>
      <p:bldP spid="38931" grpId="0"/>
      <p:bldP spid="38932" grpId="0"/>
      <p:bldP spid="3893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en-US" altLang="en-US" dirty="0"/>
              <a:t>Second-degree price discrimination</a:t>
            </a:r>
          </a:p>
        </p:txBody>
      </p:sp>
      <p:sp>
        <p:nvSpPr>
          <p:cNvPr id="399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59B4CD0-C944-4094-9AB2-995B5AA402E7}" type="slidenum">
              <a:rPr lang="en-US" altLang="en-US" sz="1400">
                <a:latin typeface="Source Sans Pro" panose="020B0503030403020204" pitchFamily="34" charset="0"/>
                <a:ea typeface="Source Sans Pro" panose="020B0503030403020204" pitchFamily="34" charset="0"/>
              </a:rPr>
              <a:pPr eaLnBrk="1" hangingPunct="1"/>
              <a:t>45</a:t>
            </a:fld>
            <a:endParaRPr lang="en-US" altLang="en-US" sz="1400" dirty="0">
              <a:latin typeface="Source Sans Pro" panose="020B0503030403020204" pitchFamily="34" charset="0"/>
              <a:ea typeface="Source Sans Pro" panose="020B0503030403020204" pitchFamily="34" charset="0"/>
            </a:endParaRPr>
          </a:p>
        </p:txBody>
      </p:sp>
      <p:grpSp>
        <p:nvGrpSpPr>
          <p:cNvPr id="6" name="Group 5">
            <a:extLst>
              <a:ext uri="{FF2B5EF4-FFF2-40B4-BE49-F238E27FC236}">
                <a16:creationId xmlns:a16="http://schemas.microsoft.com/office/drawing/2014/main" id="{E1AE6A76-7B5A-0AC2-9435-10419CFF41AB}"/>
              </a:ext>
            </a:extLst>
          </p:cNvPr>
          <p:cNvGrpSpPr/>
          <p:nvPr/>
        </p:nvGrpSpPr>
        <p:grpSpPr>
          <a:xfrm>
            <a:off x="10539947" y="123520"/>
            <a:ext cx="1396536" cy="338554"/>
            <a:chOff x="10539947" y="123520"/>
            <a:chExt cx="1396536" cy="338554"/>
          </a:xfrm>
        </p:grpSpPr>
        <p:sp>
          <p:nvSpPr>
            <p:cNvPr id="7" name="TextBox 6">
              <a:extLst>
                <a:ext uri="{FF2B5EF4-FFF2-40B4-BE49-F238E27FC236}">
                  <a16:creationId xmlns:a16="http://schemas.microsoft.com/office/drawing/2014/main" id="{F7A3FC6E-6EBB-205C-4905-B83C465ED67C}"/>
                </a:ext>
              </a:extLst>
            </p:cNvPr>
            <p:cNvSpPr txBox="1"/>
            <p:nvPr/>
          </p:nvSpPr>
          <p:spPr>
            <a:xfrm>
              <a:off x="10539947" y="123520"/>
              <a:ext cx="1396536"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2</a:t>
              </a:r>
              <a:r>
                <a:rPr lang="en-US" sz="1600" baseline="30000" dirty="0">
                  <a:latin typeface="Source Sans Pro" panose="020B0503030403020204" pitchFamily="34" charset="0"/>
                  <a:ea typeface="Source Sans Pro" panose="020B0503030403020204" pitchFamily="34" charset="0"/>
                </a:rPr>
                <a:t>nd</a:t>
              </a:r>
              <a:r>
                <a:rPr lang="en-US" sz="1600" dirty="0">
                  <a:latin typeface="Source Sans Pro" panose="020B0503030403020204" pitchFamily="34" charset="0"/>
                  <a:ea typeface="Source Sans Pro" panose="020B0503030403020204" pitchFamily="34" charset="0"/>
                </a:rPr>
                <a:t> degree PD</a:t>
              </a:r>
            </a:p>
          </p:txBody>
        </p:sp>
        <p:cxnSp>
          <p:nvCxnSpPr>
            <p:cNvPr id="8" name="Straight Connector 7">
              <a:extLst>
                <a:ext uri="{FF2B5EF4-FFF2-40B4-BE49-F238E27FC236}">
                  <a16:creationId xmlns:a16="http://schemas.microsoft.com/office/drawing/2014/main" id="{3D183842-FE13-BC63-06F7-EC89AC307817}"/>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47DBB9A-1296-4EFD-6231-A500FE5778AF}"/>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2" name="Rounded Rectangle 1">
            <a:extLst>
              <a:ext uri="{FF2B5EF4-FFF2-40B4-BE49-F238E27FC236}">
                <a16:creationId xmlns:a16="http://schemas.microsoft.com/office/drawing/2014/main" id="{92AA49BA-2350-814A-B4D7-82AA35D5C311}"/>
              </a:ext>
            </a:extLst>
          </p:cNvPr>
          <p:cNvSpPr/>
          <p:nvPr/>
        </p:nvSpPr>
        <p:spPr>
          <a:xfrm>
            <a:off x="676656" y="1140670"/>
            <a:ext cx="1748270" cy="938784"/>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kern="0" dirty="0">
                <a:solidFill>
                  <a:schemeClr val="bg1"/>
                </a:solidFill>
                <a:latin typeface="Source Sans Pro" panose="020B0503030403020204" pitchFamily="34" charset="0"/>
                <a:ea typeface="Source Sans Pro" panose="020B0503030403020204" pitchFamily="34" charset="0"/>
              </a:rPr>
              <a:t>Key idea</a:t>
            </a:r>
          </a:p>
        </p:txBody>
      </p:sp>
      <p:sp>
        <p:nvSpPr>
          <p:cNvPr id="3" name="Rectangle 3">
            <a:extLst>
              <a:ext uri="{FF2B5EF4-FFF2-40B4-BE49-F238E27FC236}">
                <a16:creationId xmlns:a16="http://schemas.microsoft.com/office/drawing/2014/main" id="{5F371D81-50BF-A1BD-4E84-3A12A47FFE16}"/>
              </a:ext>
            </a:extLst>
          </p:cNvPr>
          <p:cNvSpPr txBox="1">
            <a:spLocks noChangeArrowheads="1"/>
          </p:cNvSpPr>
          <p:nvPr/>
        </p:nvSpPr>
        <p:spPr bwMode="auto">
          <a:xfrm>
            <a:off x="2424927" y="3994575"/>
            <a:ext cx="9157473" cy="2394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nSpc>
                <a:spcPct val="90000"/>
              </a:lnSpc>
            </a:pPr>
            <a:r>
              <a:rPr lang="en-US" altLang="en-US" sz="2400" kern="0" dirty="0">
                <a:latin typeface="Source Sans Pro" panose="020B0503030403020204" pitchFamily="34" charset="0"/>
                <a:ea typeface="Source Sans Pro" panose="020B0503030403020204" pitchFamily="34" charset="0"/>
              </a:rPr>
              <a:t>First studied by Jules </a:t>
            </a:r>
            <a:r>
              <a:rPr lang="en-US" altLang="en-US" sz="2400" kern="0" dirty="0" err="1">
                <a:latin typeface="Source Sans Pro" panose="020B0503030403020204" pitchFamily="34" charset="0"/>
                <a:ea typeface="Source Sans Pro" panose="020B0503030403020204" pitchFamily="34" charset="0"/>
              </a:rPr>
              <a:t>Dupuit</a:t>
            </a:r>
            <a:r>
              <a:rPr lang="en-US" altLang="en-US" sz="2400" kern="0" dirty="0">
                <a:latin typeface="Source Sans Pro" panose="020B0503030403020204" pitchFamily="34" charset="0"/>
                <a:ea typeface="Source Sans Pro" panose="020B0503030403020204" pitchFamily="34" charset="0"/>
              </a:rPr>
              <a:t> in mid-1800s in the context of French rail rates</a:t>
            </a:r>
          </a:p>
          <a:p>
            <a:pPr lvl="1">
              <a:lnSpc>
                <a:spcPct val="90000"/>
              </a:lnSpc>
            </a:pPr>
            <a:r>
              <a:rPr lang="en-US" altLang="en-US" sz="2400" kern="0" dirty="0">
                <a:latin typeface="Source Sans Pro" panose="020B0503030403020204" pitchFamily="34" charset="0"/>
                <a:ea typeface="Source Sans Pro" panose="020B0503030403020204" pitchFamily="34" charset="0"/>
              </a:rPr>
              <a:t>Railroads could charge different prices for shipping different items (e.g., coal v. corn), but</a:t>
            </a:r>
          </a:p>
          <a:p>
            <a:pPr marL="739775" indent="0">
              <a:lnSpc>
                <a:spcPct val="90000"/>
              </a:lnSpc>
              <a:buNone/>
            </a:pPr>
            <a:r>
              <a:rPr lang="en-US" altLang="ja-JP" sz="2400" i="1" kern="0" dirty="0">
                <a:latin typeface="Source Sans Pro" panose="020B0503030403020204" pitchFamily="34" charset="0"/>
                <a:ea typeface="Source Sans Pro" panose="020B0503030403020204" pitchFamily="34" charset="0"/>
              </a:rPr>
              <a:t>“Passengers cannot, unlike goods, be classified by external characteristics and must be left to classify themselves”</a:t>
            </a:r>
            <a:endParaRPr lang="en-US" altLang="en-US" sz="2400" i="1" kern="0" dirty="0">
              <a:latin typeface="Source Sans Pro" panose="020B0503030403020204" pitchFamily="34" charset="0"/>
              <a:ea typeface="Source Sans Pro" panose="020B0503030403020204" pitchFamily="34" charset="0"/>
            </a:endParaRPr>
          </a:p>
        </p:txBody>
      </p:sp>
      <p:sp>
        <p:nvSpPr>
          <p:cNvPr id="4" name="Rounded Rectangle 3">
            <a:extLst>
              <a:ext uri="{FF2B5EF4-FFF2-40B4-BE49-F238E27FC236}">
                <a16:creationId xmlns:a16="http://schemas.microsoft.com/office/drawing/2014/main" id="{B3F63D9B-106D-8A70-52F8-0CF9A0091B45}"/>
              </a:ext>
            </a:extLst>
          </p:cNvPr>
          <p:cNvSpPr/>
          <p:nvPr/>
        </p:nvSpPr>
        <p:spPr>
          <a:xfrm>
            <a:off x="676656" y="3994575"/>
            <a:ext cx="1748270" cy="1032678"/>
          </a:xfrm>
          <a:prstGeom prst="roundRect">
            <a:avLst>
              <a:gd name="adj" fmla="val 12004"/>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kern="0" dirty="0">
                <a:solidFill>
                  <a:schemeClr val="bg1"/>
                </a:solidFill>
                <a:latin typeface="Source Sans Pro" panose="020B0503030403020204" pitchFamily="34" charset="0"/>
                <a:ea typeface="Source Sans Pro" panose="020B0503030403020204" pitchFamily="34" charset="0"/>
              </a:rPr>
              <a:t>Initial insights</a:t>
            </a:r>
          </a:p>
        </p:txBody>
      </p:sp>
      <p:sp>
        <p:nvSpPr>
          <p:cNvPr id="5" name="Rectangle 3">
            <a:extLst>
              <a:ext uri="{FF2B5EF4-FFF2-40B4-BE49-F238E27FC236}">
                <a16:creationId xmlns:a16="http://schemas.microsoft.com/office/drawing/2014/main" id="{D2ADA659-4C87-7EF9-057A-52C7BFEA2210}"/>
              </a:ext>
            </a:extLst>
          </p:cNvPr>
          <p:cNvSpPr txBox="1">
            <a:spLocks noChangeArrowheads="1"/>
          </p:cNvSpPr>
          <p:nvPr/>
        </p:nvSpPr>
        <p:spPr bwMode="auto">
          <a:xfrm>
            <a:off x="2424927" y="1140671"/>
            <a:ext cx="9157473" cy="2548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nSpc>
                <a:spcPct val="90000"/>
              </a:lnSpc>
            </a:pPr>
            <a:r>
              <a:rPr lang="en-US" altLang="en-US" kern="0"/>
              <a:t>What if the firm </a:t>
            </a:r>
            <a:r>
              <a:rPr lang="en-US" altLang="en-US" b="1" kern="0"/>
              <a:t>cannot force </a:t>
            </a:r>
            <a:r>
              <a:rPr lang="en-US" altLang="en-US" kern="0"/>
              <a:t>consumers into </a:t>
            </a:r>
            <a:r>
              <a:rPr lang="en-US" altLang="en-US" b="1" kern="0"/>
              <a:t>groups </a:t>
            </a:r>
            <a:r>
              <a:rPr lang="en-US" altLang="en-US" kern="0"/>
              <a:t>that pay different prices?  </a:t>
            </a:r>
          </a:p>
          <a:p>
            <a:pPr lvl="1">
              <a:lnSpc>
                <a:spcPct val="90000"/>
              </a:lnSpc>
            </a:pPr>
            <a:r>
              <a:rPr lang="en-US" altLang="en-US" kern="0"/>
              <a:t>Consumers vary in their private tastes</a:t>
            </a:r>
          </a:p>
          <a:p>
            <a:pPr lvl="1">
              <a:lnSpc>
                <a:spcPct val="90000"/>
              </a:lnSpc>
            </a:pPr>
            <a:r>
              <a:rPr lang="en-US" altLang="en-US" kern="0"/>
              <a:t>Firm </a:t>
            </a:r>
            <a:r>
              <a:rPr lang="en-US" altLang="en-US" b="1" kern="0"/>
              <a:t>unable to observe </a:t>
            </a:r>
            <a:r>
              <a:rPr lang="en-US" altLang="en-US" kern="0"/>
              <a:t>these differences </a:t>
            </a:r>
            <a:r>
              <a:rPr lang="en-US" altLang="en-US" i="1" kern="0"/>
              <a:t>before </a:t>
            </a:r>
            <a:r>
              <a:rPr lang="en-US" altLang="en-US" kern="0"/>
              <a:t>purchase</a:t>
            </a:r>
          </a:p>
          <a:p>
            <a:pPr lvl="1">
              <a:lnSpc>
                <a:spcPct val="90000"/>
              </a:lnSpc>
            </a:pPr>
            <a:r>
              <a:rPr lang="en-US" altLang="en-US" kern="0"/>
              <a:t>Consumers must be convinced to </a:t>
            </a:r>
            <a:r>
              <a:rPr lang="en-US" altLang="ja-JP" b="1" kern="0"/>
              <a:t>“reveal” </a:t>
            </a:r>
            <a:r>
              <a:rPr lang="en-US" altLang="ja-JP" kern="0"/>
              <a:t>their private information</a:t>
            </a:r>
            <a:endParaRPr lang="en-US" altLang="en-US" kern="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en-US" altLang="en-US" dirty="0"/>
              <a:t>Second-degree price discrimination</a:t>
            </a:r>
          </a:p>
        </p:txBody>
      </p:sp>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A1BF3DE1-49CE-4E01-9503-C5078BA0B8CC}" type="slidenum">
              <a:rPr lang="en-US" altLang="en-US" sz="1400">
                <a:latin typeface="Source Sans Pro" panose="020B0503030403020204" pitchFamily="34" charset="0"/>
                <a:ea typeface="Source Sans Pro" panose="020B0503030403020204" pitchFamily="34" charset="0"/>
              </a:rPr>
              <a:pPr eaLnBrk="1" hangingPunct="1"/>
              <a:t>46</a:t>
            </a:fld>
            <a:endParaRPr lang="en-US" altLang="en-US" sz="1400" dirty="0">
              <a:latin typeface="Source Sans Pro" panose="020B0503030403020204" pitchFamily="34" charset="0"/>
              <a:ea typeface="Source Sans Pro" panose="020B0503030403020204" pitchFamily="34" charset="0"/>
            </a:endParaRPr>
          </a:p>
        </p:txBody>
      </p:sp>
      <p:grpSp>
        <p:nvGrpSpPr>
          <p:cNvPr id="6" name="Group 5">
            <a:extLst>
              <a:ext uri="{FF2B5EF4-FFF2-40B4-BE49-F238E27FC236}">
                <a16:creationId xmlns:a16="http://schemas.microsoft.com/office/drawing/2014/main" id="{3D262049-5564-C2A8-4EC1-81CAFC2C111C}"/>
              </a:ext>
            </a:extLst>
          </p:cNvPr>
          <p:cNvGrpSpPr/>
          <p:nvPr/>
        </p:nvGrpSpPr>
        <p:grpSpPr>
          <a:xfrm>
            <a:off x="10539947" y="123520"/>
            <a:ext cx="1396536" cy="338554"/>
            <a:chOff x="10539947" y="123520"/>
            <a:chExt cx="1396536" cy="338554"/>
          </a:xfrm>
        </p:grpSpPr>
        <p:sp>
          <p:nvSpPr>
            <p:cNvPr id="7" name="TextBox 6">
              <a:extLst>
                <a:ext uri="{FF2B5EF4-FFF2-40B4-BE49-F238E27FC236}">
                  <a16:creationId xmlns:a16="http://schemas.microsoft.com/office/drawing/2014/main" id="{3A27A08E-B494-0B31-61F0-38E2C6049EE9}"/>
                </a:ext>
              </a:extLst>
            </p:cNvPr>
            <p:cNvSpPr txBox="1"/>
            <p:nvPr/>
          </p:nvSpPr>
          <p:spPr>
            <a:xfrm>
              <a:off x="10539947" y="123520"/>
              <a:ext cx="1396536"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2</a:t>
              </a:r>
              <a:r>
                <a:rPr lang="en-US" sz="1600" baseline="30000" dirty="0">
                  <a:latin typeface="Source Sans Pro" panose="020B0503030403020204" pitchFamily="34" charset="0"/>
                  <a:ea typeface="Source Sans Pro" panose="020B0503030403020204" pitchFamily="34" charset="0"/>
                </a:rPr>
                <a:t>nd</a:t>
              </a:r>
              <a:r>
                <a:rPr lang="en-US" sz="1600" dirty="0">
                  <a:latin typeface="Source Sans Pro" panose="020B0503030403020204" pitchFamily="34" charset="0"/>
                  <a:ea typeface="Source Sans Pro" panose="020B0503030403020204" pitchFamily="34" charset="0"/>
                </a:rPr>
                <a:t> degree PD</a:t>
              </a:r>
            </a:p>
          </p:txBody>
        </p:sp>
        <p:cxnSp>
          <p:nvCxnSpPr>
            <p:cNvPr id="8" name="Straight Connector 7">
              <a:extLst>
                <a:ext uri="{FF2B5EF4-FFF2-40B4-BE49-F238E27FC236}">
                  <a16:creationId xmlns:a16="http://schemas.microsoft.com/office/drawing/2014/main" id="{60320574-E12D-CC02-949B-5BF5EB3CC986}"/>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B65C4E-443F-8C58-8ED9-F0BDF7BE8F34}"/>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2" name="Rectangle 3">
            <a:extLst>
              <a:ext uri="{FF2B5EF4-FFF2-40B4-BE49-F238E27FC236}">
                <a16:creationId xmlns:a16="http://schemas.microsoft.com/office/drawing/2014/main" id="{8C96A852-D08B-CD9D-0822-38C03332B2AD}"/>
              </a:ext>
            </a:extLst>
          </p:cNvPr>
          <p:cNvSpPr txBox="1">
            <a:spLocks noChangeArrowheads="1"/>
          </p:cNvSpPr>
          <p:nvPr/>
        </p:nvSpPr>
        <p:spPr bwMode="auto">
          <a:xfrm>
            <a:off x="588818" y="1019175"/>
            <a:ext cx="11230356" cy="53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dirty="0"/>
              <a:t>Firm’</a:t>
            </a:r>
            <a:r>
              <a:rPr lang="en-US" altLang="ja-JP" kern="0" dirty="0"/>
              <a:t>s strategy is to </a:t>
            </a:r>
            <a:r>
              <a:rPr lang="en-US" altLang="ja-JP" b="1" kern="0" dirty="0"/>
              <a:t>extract </a:t>
            </a:r>
            <a:r>
              <a:rPr lang="en-US" altLang="ja-JP" kern="0" dirty="0"/>
              <a:t>as much revenue from each (type of) customer while ensuring customers buy the </a:t>
            </a:r>
            <a:r>
              <a:rPr lang="en-US" altLang="ja-JP" b="1" kern="0" dirty="0"/>
              <a:t>products intended for them</a:t>
            </a:r>
            <a:endParaRPr lang="en-US" altLang="en-US" b="1" kern="0" dirty="0"/>
          </a:p>
          <a:p>
            <a:r>
              <a:rPr lang="en-US" altLang="en-US" kern="0" dirty="0"/>
              <a:t>This can lead to an interestingly diverse set of products</a:t>
            </a:r>
          </a:p>
          <a:p>
            <a:pPr indent="4763">
              <a:buFontTx/>
              <a:buNone/>
            </a:pPr>
            <a:r>
              <a:rPr lang="en-US" altLang="ja-JP" i="1" kern="0" dirty="0"/>
              <a:t>“It is not because of the few thousand francs which would have to be spent to put a roof over the third-class seats that some company or other has open carriages with wooden benches… What the company is trying to do is prevent the passengers who can pay the second-class fare from traveling third class; it hits the poor, not because it wants to hurt them, but to frighten the rich… And it is again for the same reason that the companies, having proved almost cruel to third-class passengers and mean to second-class ones, become lavish in dealing with first-class passengers. Having refused the poor what is necessary, they give the rich what is superfluous.”</a:t>
            </a:r>
          </a:p>
          <a:p>
            <a:r>
              <a:rPr lang="en-US" altLang="en-US" kern="0" dirty="0"/>
              <a:t>Important to convince the wealthy that it is </a:t>
            </a:r>
            <a:r>
              <a:rPr lang="en-US" altLang="en-US" b="1" kern="0" dirty="0"/>
              <a:t>worthwhile </a:t>
            </a:r>
            <a:r>
              <a:rPr lang="en-US" altLang="en-US" kern="0" dirty="0"/>
              <a:t>to purchase the </a:t>
            </a:r>
            <a:r>
              <a:rPr lang="en-US" altLang="en-US" b="1" kern="0" dirty="0"/>
              <a:t>highest-quality </a:t>
            </a:r>
            <a:r>
              <a:rPr lang="en-US" altLang="en-US" kern="0" dirty="0"/>
              <a:t>product</a:t>
            </a:r>
            <a:endParaRPr lang="en-US" altLang="en-US" i="1" kern="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en-US" altLang="en-US" dirty="0"/>
              <a:t>Implementing 2</a:t>
            </a:r>
            <a:r>
              <a:rPr lang="en-US" altLang="en-US" baseline="30000" dirty="0"/>
              <a:t>nd</a:t>
            </a:r>
            <a:r>
              <a:rPr lang="en-US" altLang="en-US" dirty="0"/>
              <a:t> degree price discrimination</a:t>
            </a:r>
          </a:p>
        </p:txBody>
      </p:sp>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5B2CC3AB-7034-4B05-92F8-2EA3898FABB3}" type="slidenum">
              <a:rPr lang="en-US" altLang="en-US" sz="1400">
                <a:latin typeface="Source Sans Pro" panose="020B0503030403020204" pitchFamily="34" charset="0"/>
                <a:ea typeface="Source Sans Pro" panose="020B0503030403020204" pitchFamily="34" charset="0"/>
              </a:rPr>
              <a:pPr eaLnBrk="1" hangingPunct="1"/>
              <a:t>47</a:t>
            </a:fld>
            <a:endParaRPr lang="en-US" altLang="en-US" sz="1400" dirty="0">
              <a:latin typeface="Source Sans Pro" panose="020B0503030403020204" pitchFamily="34" charset="0"/>
              <a:ea typeface="Source Sans Pro" panose="020B0503030403020204" pitchFamily="34" charset="0"/>
            </a:endParaRPr>
          </a:p>
        </p:txBody>
      </p:sp>
      <p:grpSp>
        <p:nvGrpSpPr>
          <p:cNvPr id="8" name="Group 7">
            <a:extLst>
              <a:ext uri="{FF2B5EF4-FFF2-40B4-BE49-F238E27FC236}">
                <a16:creationId xmlns:a16="http://schemas.microsoft.com/office/drawing/2014/main" id="{33CFEFA4-6F35-39F9-2873-157B7BEF63DB}"/>
              </a:ext>
            </a:extLst>
          </p:cNvPr>
          <p:cNvGrpSpPr/>
          <p:nvPr/>
        </p:nvGrpSpPr>
        <p:grpSpPr>
          <a:xfrm>
            <a:off x="10539947" y="123520"/>
            <a:ext cx="1396536" cy="338554"/>
            <a:chOff x="10539947" y="123520"/>
            <a:chExt cx="1396536" cy="338554"/>
          </a:xfrm>
        </p:grpSpPr>
        <p:sp>
          <p:nvSpPr>
            <p:cNvPr id="9" name="TextBox 8">
              <a:extLst>
                <a:ext uri="{FF2B5EF4-FFF2-40B4-BE49-F238E27FC236}">
                  <a16:creationId xmlns:a16="http://schemas.microsoft.com/office/drawing/2014/main" id="{33970A03-4E33-5007-737E-627E546603A7}"/>
                </a:ext>
              </a:extLst>
            </p:cNvPr>
            <p:cNvSpPr txBox="1"/>
            <p:nvPr/>
          </p:nvSpPr>
          <p:spPr>
            <a:xfrm>
              <a:off x="10539947" y="123520"/>
              <a:ext cx="1396536"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2</a:t>
              </a:r>
              <a:r>
                <a:rPr lang="en-US" sz="1600" baseline="30000" dirty="0">
                  <a:latin typeface="Source Sans Pro" panose="020B0503030403020204" pitchFamily="34" charset="0"/>
                  <a:ea typeface="Source Sans Pro" panose="020B0503030403020204" pitchFamily="34" charset="0"/>
                </a:rPr>
                <a:t>nd</a:t>
              </a:r>
              <a:r>
                <a:rPr lang="en-US" sz="1600" dirty="0">
                  <a:latin typeface="Source Sans Pro" panose="020B0503030403020204" pitchFamily="34" charset="0"/>
                  <a:ea typeface="Source Sans Pro" panose="020B0503030403020204" pitchFamily="34" charset="0"/>
                </a:rPr>
                <a:t> degree PD</a:t>
              </a:r>
            </a:p>
          </p:txBody>
        </p:sp>
        <p:cxnSp>
          <p:nvCxnSpPr>
            <p:cNvPr id="10" name="Straight Connector 9">
              <a:extLst>
                <a:ext uri="{FF2B5EF4-FFF2-40B4-BE49-F238E27FC236}">
                  <a16:creationId xmlns:a16="http://schemas.microsoft.com/office/drawing/2014/main" id="{1CFE5960-33F2-8034-7808-2F29C32E7BE7}"/>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1330F08-C018-7FA1-5227-157D979B0B78}"/>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2A1910AA-DACB-14CD-CCAE-CEF91C5108D1}"/>
              </a:ext>
            </a:extLst>
          </p:cNvPr>
          <p:cNvGrpSpPr/>
          <p:nvPr/>
        </p:nvGrpSpPr>
        <p:grpSpPr>
          <a:xfrm>
            <a:off x="2209800" y="4306467"/>
            <a:ext cx="7391400" cy="2205361"/>
            <a:chOff x="685800" y="4783555"/>
            <a:chExt cx="7391400" cy="1798621"/>
          </a:xfrm>
        </p:grpSpPr>
        <p:grpSp>
          <p:nvGrpSpPr>
            <p:cNvPr id="5" name="Group 4">
              <a:extLst>
                <a:ext uri="{FF2B5EF4-FFF2-40B4-BE49-F238E27FC236}">
                  <a16:creationId xmlns:a16="http://schemas.microsoft.com/office/drawing/2014/main" id="{49282CDE-3D28-DF1C-62DD-AC5E6EDFB804}"/>
                </a:ext>
              </a:extLst>
            </p:cNvPr>
            <p:cNvGrpSpPr/>
            <p:nvPr/>
          </p:nvGrpSpPr>
          <p:grpSpPr>
            <a:xfrm>
              <a:off x="685800" y="4811528"/>
              <a:ext cx="7391400" cy="1770648"/>
              <a:chOff x="685800" y="4806615"/>
              <a:chExt cx="7391400" cy="1770648"/>
            </a:xfrm>
            <a:solidFill>
              <a:srgbClr val="A51714"/>
            </a:solidFill>
          </p:grpSpPr>
          <p:sp>
            <p:nvSpPr>
              <p:cNvPr id="7" name="Rounded Rectangle 6">
                <a:extLst>
                  <a:ext uri="{FF2B5EF4-FFF2-40B4-BE49-F238E27FC236}">
                    <a16:creationId xmlns:a16="http://schemas.microsoft.com/office/drawing/2014/main" id="{370F03C1-45FC-41C2-958E-358CBA6CBA92}"/>
                  </a:ext>
                </a:extLst>
              </p:cNvPr>
              <p:cNvSpPr/>
              <p:nvPr/>
            </p:nvSpPr>
            <p:spPr>
              <a:xfrm>
                <a:off x="685800" y="5111912"/>
                <a:ext cx="7391400" cy="1148997"/>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C8C8C8"/>
                  </a:solidFill>
                  <a:latin typeface="Source Sans Pro" panose="020B0503030403020204" pitchFamily="34" charset="0"/>
                  <a:ea typeface="Source Sans Pro" panose="020B0503030403020204" pitchFamily="34" charset="0"/>
                </a:endParaRPr>
              </a:p>
            </p:txBody>
          </p:sp>
          <p:sp>
            <p:nvSpPr>
              <p:cNvPr id="18" name="Oval 17">
                <a:extLst>
                  <a:ext uri="{FF2B5EF4-FFF2-40B4-BE49-F238E27FC236}">
                    <a16:creationId xmlns:a16="http://schemas.microsoft.com/office/drawing/2014/main" id="{C3939B77-5BB7-A279-6A31-D66D5DA7ABBE}"/>
                  </a:ext>
                </a:extLst>
              </p:cNvPr>
              <p:cNvSpPr/>
              <p:nvPr/>
            </p:nvSpPr>
            <p:spPr>
              <a:xfrm>
                <a:off x="685800" y="4806615"/>
                <a:ext cx="7391400" cy="861748"/>
              </a:xfrm>
              <a:prstGeom prst="ellipse">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C8C8C8"/>
                  </a:solidFill>
                  <a:latin typeface="Source Sans Pro" panose="020B0503030403020204" pitchFamily="34" charset="0"/>
                  <a:ea typeface="Source Sans Pro" panose="020B0503030403020204" pitchFamily="34" charset="0"/>
                </a:endParaRPr>
              </a:p>
            </p:txBody>
          </p:sp>
          <p:sp>
            <p:nvSpPr>
              <p:cNvPr id="19" name="Oval 18">
                <a:extLst>
                  <a:ext uri="{FF2B5EF4-FFF2-40B4-BE49-F238E27FC236}">
                    <a16:creationId xmlns:a16="http://schemas.microsoft.com/office/drawing/2014/main" id="{DD5AABEC-2275-CDB4-3028-E05411C8D832}"/>
                  </a:ext>
                </a:extLst>
              </p:cNvPr>
              <p:cNvSpPr/>
              <p:nvPr/>
            </p:nvSpPr>
            <p:spPr>
              <a:xfrm>
                <a:off x="685800" y="5715515"/>
                <a:ext cx="7391400" cy="861748"/>
              </a:xfrm>
              <a:prstGeom prst="ellipse">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C8C8C8"/>
                  </a:solidFill>
                  <a:latin typeface="Source Sans Pro" panose="020B0503030403020204" pitchFamily="34" charset="0"/>
                  <a:ea typeface="Source Sans Pro" panose="020B0503030403020204" pitchFamily="34" charset="0"/>
                </a:endParaRPr>
              </a:p>
            </p:txBody>
          </p:sp>
        </p:grpSp>
        <p:sp>
          <p:nvSpPr>
            <p:cNvPr id="6" name="Rectangle 5">
              <a:extLst>
                <a:ext uri="{FF2B5EF4-FFF2-40B4-BE49-F238E27FC236}">
                  <a16:creationId xmlns:a16="http://schemas.microsoft.com/office/drawing/2014/main" id="{9BBE4DB3-8A19-62AC-7DF5-8E02E0814CFE}"/>
                </a:ext>
              </a:extLst>
            </p:cNvPr>
            <p:cNvSpPr/>
            <p:nvPr/>
          </p:nvSpPr>
          <p:spPr>
            <a:xfrm>
              <a:off x="685800" y="4783555"/>
              <a:ext cx="7391400" cy="1468424"/>
            </a:xfrm>
            <a:prstGeom prst="rect">
              <a:avLst/>
            </a:prstGeom>
          </p:spPr>
          <p:txBody>
            <a:bodyPr wrap="square">
              <a:spAutoFit/>
            </a:bodyPr>
            <a:lstStyle/>
            <a:p>
              <a:pPr algn="ctr">
                <a:spcAft>
                  <a:spcPts val="600"/>
                </a:spcAft>
              </a:pPr>
              <a:r>
                <a:rPr lang="en-US" altLang="en-US" sz="2400" dirty="0">
                  <a:solidFill>
                    <a:schemeClr val="bg1"/>
                  </a:solidFill>
                  <a:latin typeface="Source Sans Pro" panose="020B0503030403020204" pitchFamily="34" charset="0"/>
                  <a:ea typeface="Source Sans Pro" panose="020B0503030403020204" pitchFamily="34" charset="0"/>
                </a:rPr>
                <a:t>Examples</a:t>
              </a:r>
            </a:p>
            <a:p>
              <a:pPr marL="174625" indent="-174625">
                <a:spcAft>
                  <a:spcPts val="600"/>
                </a:spcAft>
                <a:buFontTx/>
                <a:buChar char="-"/>
              </a:pPr>
              <a:r>
                <a:rPr lang="en-US" altLang="en-US" sz="2400" b="1" dirty="0">
                  <a:solidFill>
                    <a:schemeClr val="bg1"/>
                  </a:solidFill>
                  <a:latin typeface="Source Sans Pro" panose="020B0503030403020204" pitchFamily="34" charset="0"/>
                  <a:ea typeface="Source Sans Pro" panose="020B0503030403020204" pitchFamily="34" charset="0"/>
                </a:rPr>
                <a:t>Movie</a:t>
              </a:r>
              <a:r>
                <a:rPr lang="en-US" altLang="en-US" sz="2400" dirty="0">
                  <a:solidFill>
                    <a:schemeClr val="bg1"/>
                  </a:solidFill>
                  <a:latin typeface="Source Sans Pro" panose="020B0503030403020204" pitchFamily="34" charset="0"/>
                  <a:ea typeface="Source Sans Pro" panose="020B0503030403020204" pitchFamily="34" charset="0"/>
                </a:rPr>
                <a:t> release timing, from theater to DVD to TV</a:t>
              </a:r>
            </a:p>
            <a:p>
              <a:pPr marL="174625" indent="-174625">
                <a:spcAft>
                  <a:spcPts val="600"/>
                </a:spcAft>
                <a:buFontTx/>
                <a:buChar char="-"/>
              </a:pPr>
              <a:r>
                <a:rPr lang="en-US" altLang="en-US" sz="2400" dirty="0">
                  <a:solidFill>
                    <a:schemeClr val="bg1"/>
                  </a:solidFill>
                  <a:latin typeface="Source Sans Pro" panose="020B0503030403020204" pitchFamily="34" charset="0"/>
                  <a:ea typeface="Source Sans Pro" panose="020B0503030403020204" pitchFamily="34" charset="0"/>
                </a:rPr>
                <a:t>Quantity discounts for packages of </a:t>
              </a:r>
              <a:r>
                <a:rPr lang="en-US" altLang="en-US" sz="2400" b="1" dirty="0">
                  <a:solidFill>
                    <a:schemeClr val="bg1"/>
                  </a:solidFill>
                  <a:latin typeface="Source Sans Pro" panose="020B0503030403020204" pitchFamily="34" charset="0"/>
                  <a:ea typeface="Source Sans Pro" panose="020B0503030403020204" pitchFamily="34" charset="0"/>
                </a:rPr>
                <a:t>soft drinks</a:t>
              </a:r>
            </a:p>
            <a:p>
              <a:pPr marL="174625" indent="-174625">
                <a:spcAft>
                  <a:spcPts val="600"/>
                </a:spcAft>
                <a:buFontTx/>
                <a:buChar char="-"/>
              </a:pPr>
              <a:r>
                <a:rPr lang="en-US" altLang="en-US" sz="2400" b="1" dirty="0">
                  <a:solidFill>
                    <a:schemeClr val="bg1"/>
                  </a:solidFill>
                  <a:latin typeface="Source Sans Pro" panose="020B0503030403020204" pitchFamily="34" charset="0"/>
                  <a:ea typeface="Source Sans Pro" panose="020B0503030403020204" pitchFamily="34" charset="0"/>
                </a:rPr>
                <a:t>High-end </a:t>
              </a:r>
              <a:r>
                <a:rPr lang="en-US" altLang="en-US" sz="2400" dirty="0">
                  <a:solidFill>
                    <a:schemeClr val="bg1"/>
                  </a:solidFill>
                  <a:latin typeface="Source Sans Pro" panose="020B0503030403020204" pitchFamily="34" charset="0"/>
                  <a:ea typeface="Source Sans Pro" panose="020B0503030403020204" pitchFamily="34" charset="0"/>
                </a:rPr>
                <a:t>and </a:t>
              </a:r>
              <a:r>
                <a:rPr lang="en-US" altLang="en-US" sz="2400" b="1" dirty="0">
                  <a:solidFill>
                    <a:schemeClr val="bg1"/>
                  </a:solidFill>
                  <a:latin typeface="Source Sans Pro" panose="020B0503030403020204" pitchFamily="34" charset="0"/>
                  <a:ea typeface="Source Sans Pro" panose="020B0503030403020204" pitchFamily="34" charset="0"/>
                </a:rPr>
                <a:t>low-end </a:t>
              </a:r>
              <a:r>
                <a:rPr lang="en-US" altLang="en-US" sz="2400" dirty="0">
                  <a:solidFill>
                    <a:schemeClr val="bg1"/>
                  </a:solidFill>
                  <a:latin typeface="Source Sans Pro" panose="020B0503030403020204" pitchFamily="34" charset="0"/>
                  <a:ea typeface="Source Sans Pro" panose="020B0503030403020204" pitchFamily="34" charset="0"/>
                </a:rPr>
                <a:t>computers or gadgets</a:t>
              </a:r>
            </a:p>
          </p:txBody>
        </p:sp>
      </p:grpSp>
      <p:sp>
        <p:nvSpPr>
          <p:cNvPr id="20" name="Rectangle 3">
            <a:extLst>
              <a:ext uri="{FF2B5EF4-FFF2-40B4-BE49-F238E27FC236}">
                <a16:creationId xmlns:a16="http://schemas.microsoft.com/office/drawing/2014/main" id="{2ADBB11A-19BE-01DC-4560-E440DA7E5FAE}"/>
              </a:ext>
            </a:extLst>
          </p:cNvPr>
          <p:cNvSpPr txBox="1">
            <a:spLocks noChangeArrowheads="1"/>
          </p:cNvSpPr>
          <p:nvPr/>
        </p:nvSpPr>
        <p:spPr bwMode="auto">
          <a:xfrm>
            <a:off x="740664" y="2055936"/>
            <a:ext cx="10497550"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This is what a </a:t>
            </a:r>
            <a:r>
              <a:rPr lang="en-US" altLang="en-US" sz="2400" b="1" kern="0" dirty="0">
                <a:latin typeface="Source Sans Pro" panose="020B0503030403020204" pitchFamily="34" charset="0"/>
                <a:ea typeface="Source Sans Pro" panose="020B0503030403020204" pitchFamily="34" charset="0"/>
              </a:rPr>
              <a:t>multi-product (imperfectly) competitive firm </a:t>
            </a:r>
            <a:r>
              <a:rPr lang="en-US" altLang="en-US" sz="2400" kern="0" dirty="0">
                <a:latin typeface="Source Sans Pro" panose="020B0503030403020204" pitchFamily="34" charset="0"/>
                <a:ea typeface="Source Sans Pro" panose="020B0503030403020204" pitchFamily="34" charset="0"/>
              </a:rPr>
              <a:t>does too!</a:t>
            </a:r>
          </a:p>
          <a:p>
            <a:pPr lvl="1"/>
            <a:r>
              <a:rPr lang="en-US" altLang="en-US" sz="2400" kern="0" dirty="0">
                <a:latin typeface="Source Sans Pro" panose="020B0503030403020204" pitchFamily="34" charset="0"/>
                <a:ea typeface="Source Sans Pro" panose="020B0503030403020204" pitchFamily="34" charset="0"/>
              </a:rPr>
              <a:t>Price discrimination must include variation in product characteristics and prices that </a:t>
            </a:r>
            <a:r>
              <a:rPr lang="en-US" altLang="en-US" sz="2400" b="1" kern="0" dirty="0">
                <a:latin typeface="Source Sans Pro" panose="020B0503030403020204" pitchFamily="34" charset="0"/>
                <a:ea typeface="Source Sans Pro" panose="020B0503030403020204" pitchFamily="34" charset="0"/>
              </a:rPr>
              <a:t>do not simply follow costs</a:t>
            </a:r>
          </a:p>
        </p:txBody>
      </p:sp>
      <p:sp>
        <p:nvSpPr>
          <p:cNvPr id="21" name="Rectangle 3">
            <a:extLst>
              <a:ext uri="{FF2B5EF4-FFF2-40B4-BE49-F238E27FC236}">
                <a16:creationId xmlns:a16="http://schemas.microsoft.com/office/drawing/2014/main" id="{5F6B9E38-26FA-BEB7-D594-21C9DF751897}"/>
              </a:ext>
            </a:extLst>
          </p:cNvPr>
          <p:cNvSpPr txBox="1">
            <a:spLocks noChangeArrowheads="1"/>
          </p:cNvSpPr>
          <p:nvPr/>
        </p:nvSpPr>
        <p:spPr bwMode="auto">
          <a:xfrm>
            <a:off x="740664" y="3441319"/>
            <a:ext cx="104975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Firms typically use </a:t>
            </a:r>
            <a:r>
              <a:rPr lang="en-US" altLang="en-US" sz="2400" b="1" kern="0" dirty="0">
                <a:latin typeface="Source Sans Pro" panose="020B0503030403020204" pitchFamily="34" charset="0"/>
                <a:ea typeface="Source Sans Pro" panose="020B0503030403020204" pitchFamily="34" charset="0"/>
              </a:rPr>
              <a:t>quantity </a:t>
            </a:r>
            <a:r>
              <a:rPr lang="en-US" altLang="en-US" sz="2400" kern="0" dirty="0">
                <a:latin typeface="Source Sans Pro" panose="020B0503030403020204" pitchFamily="34" charset="0"/>
                <a:ea typeface="Source Sans Pro" panose="020B0503030403020204" pitchFamily="34" charset="0"/>
              </a:rPr>
              <a:t>or </a:t>
            </a:r>
            <a:r>
              <a:rPr lang="en-US" altLang="en-US" sz="2400" b="1" kern="0" dirty="0">
                <a:latin typeface="Source Sans Pro" panose="020B0503030403020204" pitchFamily="34" charset="0"/>
                <a:ea typeface="Source Sans Pro" panose="020B0503030403020204" pitchFamily="34" charset="0"/>
              </a:rPr>
              <a:t>quality </a:t>
            </a:r>
            <a:r>
              <a:rPr lang="en-US" altLang="en-US" sz="2400" kern="0" dirty="0">
                <a:latin typeface="Source Sans Pro" panose="020B0503030403020204" pitchFamily="34" charset="0"/>
                <a:ea typeface="Source Sans Pro" panose="020B0503030403020204" pitchFamily="34" charset="0"/>
              </a:rPr>
              <a:t>differences to separate consumers</a:t>
            </a:r>
          </a:p>
        </p:txBody>
      </p:sp>
      <p:sp>
        <p:nvSpPr>
          <p:cNvPr id="22" name="Rectangle 3">
            <a:extLst>
              <a:ext uri="{FF2B5EF4-FFF2-40B4-BE49-F238E27FC236}">
                <a16:creationId xmlns:a16="http://schemas.microsoft.com/office/drawing/2014/main" id="{2EC209DD-3EF2-003D-3B98-89736D444196}"/>
              </a:ext>
            </a:extLst>
          </p:cNvPr>
          <p:cNvSpPr txBox="1">
            <a:spLocks noChangeArrowheads="1"/>
          </p:cNvSpPr>
          <p:nvPr/>
        </p:nvSpPr>
        <p:spPr bwMode="auto">
          <a:xfrm>
            <a:off x="740664" y="1219201"/>
            <a:ext cx="104975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t>Firm offers a </a:t>
            </a:r>
            <a:r>
              <a:rPr lang="en-US" altLang="en-US" b="1" kern="0"/>
              <a:t>variety of products</a:t>
            </a:r>
            <a:r>
              <a:rPr lang="en-US" altLang="en-US" kern="0"/>
              <a:t>, each aimed at different parts of the consumer population</a:t>
            </a:r>
            <a:endParaRPr lang="en-US" altLang="en-US"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en-US" altLang="en-US" dirty="0"/>
              <a:t>Example: Cell phone</a:t>
            </a:r>
          </a:p>
        </p:txBody>
      </p:sp>
      <p:sp>
        <p:nvSpPr>
          <p:cNvPr id="430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38D8913-5821-40B9-939A-25CCBA858C0E}" type="slidenum">
              <a:rPr lang="en-US" altLang="en-US" sz="1400">
                <a:latin typeface="Source Sans Pro" panose="020B0503030403020204" pitchFamily="34" charset="0"/>
                <a:ea typeface="Source Sans Pro" panose="020B0503030403020204" pitchFamily="34" charset="0"/>
              </a:rPr>
              <a:pPr eaLnBrk="1" hangingPunct="1"/>
              <a:t>48</a:t>
            </a:fld>
            <a:endParaRPr lang="en-US" altLang="en-US" sz="1400" dirty="0">
              <a:latin typeface="Source Sans Pro" panose="020B0503030403020204" pitchFamily="34" charset="0"/>
              <a:ea typeface="Source Sans Pro" panose="020B0503030403020204" pitchFamily="34" charset="0"/>
            </a:endParaRPr>
          </a:p>
        </p:txBody>
      </p:sp>
      <p:grpSp>
        <p:nvGrpSpPr>
          <p:cNvPr id="6" name="Group 5">
            <a:extLst>
              <a:ext uri="{FF2B5EF4-FFF2-40B4-BE49-F238E27FC236}">
                <a16:creationId xmlns:a16="http://schemas.microsoft.com/office/drawing/2014/main" id="{AA140AD6-9B08-6F3A-85D0-2F7B716EF1F4}"/>
              </a:ext>
            </a:extLst>
          </p:cNvPr>
          <p:cNvGrpSpPr/>
          <p:nvPr/>
        </p:nvGrpSpPr>
        <p:grpSpPr>
          <a:xfrm>
            <a:off x="10539947" y="123520"/>
            <a:ext cx="1396536" cy="338554"/>
            <a:chOff x="10539947" y="123520"/>
            <a:chExt cx="1396536" cy="338554"/>
          </a:xfrm>
        </p:grpSpPr>
        <p:sp>
          <p:nvSpPr>
            <p:cNvPr id="7" name="TextBox 6">
              <a:extLst>
                <a:ext uri="{FF2B5EF4-FFF2-40B4-BE49-F238E27FC236}">
                  <a16:creationId xmlns:a16="http://schemas.microsoft.com/office/drawing/2014/main" id="{9AC6C493-B537-4048-9EC0-FC4820D7CFF9}"/>
                </a:ext>
              </a:extLst>
            </p:cNvPr>
            <p:cNvSpPr txBox="1"/>
            <p:nvPr/>
          </p:nvSpPr>
          <p:spPr>
            <a:xfrm>
              <a:off x="10539947" y="123520"/>
              <a:ext cx="1396536"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2</a:t>
              </a:r>
              <a:r>
                <a:rPr lang="en-US" sz="1600" baseline="30000" dirty="0">
                  <a:latin typeface="Source Sans Pro" panose="020B0503030403020204" pitchFamily="34" charset="0"/>
                  <a:ea typeface="Source Sans Pro" panose="020B0503030403020204" pitchFamily="34" charset="0"/>
                </a:rPr>
                <a:t>nd</a:t>
              </a:r>
              <a:r>
                <a:rPr lang="en-US" sz="1600" dirty="0">
                  <a:latin typeface="Source Sans Pro" panose="020B0503030403020204" pitchFamily="34" charset="0"/>
                  <a:ea typeface="Source Sans Pro" panose="020B0503030403020204" pitchFamily="34" charset="0"/>
                </a:rPr>
                <a:t> degree PD</a:t>
              </a:r>
            </a:p>
          </p:txBody>
        </p:sp>
        <p:cxnSp>
          <p:nvCxnSpPr>
            <p:cNvPr id="8" name="Straight Connector 7">
              <a:extLst>
                <a:ext uri="{FF2B5EF4-FFF2-40B4-BE49-F238E27FC236}">
                  <a16:creationId xmlns:a16="http://schemas.microsoft.com/office/drawing/2014/main" id="{0992BD22-2BF2-FBC5-E52F-10B7D071BC4A}"/>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EB63FD5-D9C9-1144-21EF-1551F20971C9}"/>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2" name="Rectangle 3">
            <a:extLst>
              <a:ext uri="{FF2B5EF4-FFF2-40B4-BE49-F238E27FC236}">
                <a16:creationId xmlns:a16="http://schemas.microsoft.com/office/drawing/2014/main" id="{29898F7B-8426-4B58-1C5F-3736329C3511}"/>
              </a:ext>
            </a:extLst>
          </p:cNvPr>
          <p:cNvSpPr txBox="1">
            <a:spLocks noChangeArrowheads="1"/>
          </p:cNvSpPr>
          <p:nvPr/>
        </p:nvSpPr>
        <p:spPr bwMode="auto">
          <a:xfrm>
            <a:off x="1188720" y="2612452"/>
            <a:ext cx="10186416"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b="1" kern="0" dirty="0">
                <a:latin typeface="Source Sans Pro" panose="020B0503030403020204" pitchFamily="34" charset="0"/>
                <a:ea typeface="ＭＳ Ｐゴシック" pitchFamily="34" charset="-128"/>
              </a:rPr>
              <a:t>Individual </a:t>
            </a:r>
            <a:r>
              <a:rPr lang="en-US" altLang="en-US" sz="2400" kern="0" dirty="0">
                <a:latin typeface="Source Sans Pro" panose="020B0503030403020204" pitchFamily="34" charset="0"/>
                <a:ea typeface="ＭＳ Ｐゴシック" pitchFamily="34" charset="-128"/>
              </a:rPr>
              <a:t>monthly demand for cell phone minutes in each group is:</a:t>
            </a:r>
          </a:p>
          <a:p>
            <a:pPr>
              <a:buFontTx/>
              <a:buNone/>
            </a:pPr>
            <a:r>
              <a:rPr lang="en-US" altLang="en-US" sz="2400" kern="0" dirty="0">
                <a:latin typeface="Source Sans Pro" panose="020B0503030403020204" pitchFamily="34" charset="0"/>
                <a:ea typeface="ＭＳ Ｐゴシック" pitchFamily="34" charset="-128"/>
              </a:rPr>
              <a:t>			Undergrads:	P = 6 – 0.01Q</a:t>
            </a:r>
          </a:p>
          <a:p>
            <a:pPr>
              <a:buFontTx/>
              <a:buNone/>
            </a:pPr>
            <a:r>
              <a:rPr lang="en-US" altLang="en-US" sz="2400" kern="0" dirty="0">
                <a:latin typeface="Source Sans Pro" panose="020B0503030403020204" pitchFamily="34" charset="0"/>
                <a:ea typeface="ＭＳ Ｐゴシック" pitchFamily="34" charset="-128"/>
              </a:rPr>
              <a:t>			MBAs:		P = 6 – 0.05Q</a:t>
            </a:r>
          </a:p>
        </p:txBody>
      </p:sp>
      <p:sp>
        <p:nvSpPr>
          <p:cNvPr id="3" name="Rectangle 3">
            <a:extLst>
              <a:ext uri="{FF2B5EF4-FFF2-40B4-BE49-F238E27FC236}">
                <a16:creationId xmlns:a16="http://schemas.microsoft.com/office/drawing/2014/main" id="{349D602C-BB32-6488-63A4-85F6045C7FBD}"/>
              </a:ext>
            </a:extLst>
          </p:cNvPr>
          <p:cNvSpPr txBox="1">
            <a:spLocks noChangeArrowheads="1"/>
          </p:cNvSpPr>
          <p:nvPr/>
        </p:nvSpPr>
        <p:spPr bwMode="auto">
          <a:xfrm>
            <a:off x="1188720" y="4120557"/>
            <a:ext cx="10186416"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If the firm can choose only one per-minute price, it selects P = 3¢</a:t>
            </a:r>
          </a:p>
          <a:p>
            <a:r>
              <a:rPr lang="en-US" altLang="en-US" sz="2400" kern="0" dirty="0">
                <a:latin typeface="Source Sans Pro" panose="020B0503030403020204" pitchFamily="34" charset="0"/>
                <a:ea typeface="ＭＳ Ｐゴシック" pitchFamily="34" charset="-128"/>
              </a:rPr>
              <a:t>Results:</a:t>
            </a:r>
          </a:p>
          <a:p>
            <a:pPr>
              <a:buFontTx/>
              <a:buNone/>
            </a:pPr>
            <a:r>
              <a:rPr lang="en-US" altLang="en-US" sz="2400" kern="0" dirty="0">
                <a:latin typeface="Source Sans Pro" panose="020B0503030403020204" pitchFamily="34" charset="0"/>
                <a:ea typeface="ＭＳ Ｐゴシック" pitchFamily="34" charset="-128"/>
              </a:rPr>
              <a:t>	Q</a:t>
            </a:r>
            <a:r>
              <a:rPr lang="en-US" altLang="en-US" sz="2400" kern="0" baseline="-25000" dirty="0">
                <a:latin typeface="Source Sans Pro" panose="020B0503030403020204" pitchFamily="34" charset="0"/>
                <a:ea typeface="ＭＳ Ｐゴシック" pitchFamily="34" charset="-128"/>
              </a:rPr>
              <a:t>U</a:t>
            </a:r>
            <a:r>
              <a:rPr lang="en-US" altLang="en-US" sz="2400" kern="0" dirty="0">
                <a:latin typeface="Source Sans Pro" panose="020B0503030403020204" pitchFamily="34" charset="0"/>
                <a:ea typeface="ＭＳ Ｐゴシック" pitchFamily="34" charset="-128"/>
              </a:rPr>
              <a:t> = 300	</a:t>
            </a:r>
            <a:r>
              <a:rPr lang="en-US" altLang="en-US" sz="2400" kern="0" dirty="0" err="1">
                <a:latin typeface="Source Sans Pro" panose="020B0503030403020204" pitchFamily="34" charset="0"/>
                <a:ea typeface="ＭＳ Ｐゴシック" pitchFamily="34" charset="-128"/>
              </a:rPr>
              <a:t>Revenue</a:t>
            </a:r>
            <a:r>
              <a:rPr lang="en-US" altLang="en-US" sz="2400" kern="0" baseline="-25000" dirty="0" err="1">
                <a:latin typeface="Source Sans Pro" panose="020B0503030403020204" pitchFamily="34" charset="0"/>
                <a:ea typeface="ＭＳ Ｐゴシック" pitchFamily="34" charset="-128"/>
              </a:rPr>
              <a:t>U</a:t>
            </a:r>
            <a:r>
              <a:rPr lang="en-US" altLang="en-US" sz="2400" kern="0" dirty="0">
                <a:latin typeface="Source Sans Pro" panose="020B0503030403020204" pitchFamily="34" charset="0"/>
                <a:ea typeface="ＭＳ Ｐゴシック" pitchFamily="34" charset="-128"/>
              </a:rPr>
              <a:t> = 300</a:t>
            </a:r>
            <a:r>
              <a:rPr lang="en-US" altLang="en-US" sz="2400" kern="0" dirty="0">
                <a:latin typeface="Source Sans Pro" panose="020B0503030403020204" pitchFamily="34" charset="0"/>
                <a:ea typeface="ＭＳ Ｐゴシック" pitchFamily="34" charset="-128"/>
                <a:sym typeface="Symbol" pitchFamily="18" charset="2"/>
              </a:rPr>
              <a:t>x3</a:t>
            </a:r>
            <a:r>
              <a:rPr lang="en-US" altLang="en-US" sz="2400" kern="0" dirty="0">
                <a:latin typeface="Source Sans Pro" panose="020B0503030403020204" pitchFamily="34" charset="0"/>
                <a:ea typeface="ＭＳ Ｐゴシック" pitchFamily="34" charset="-128"/>
              </a:rPr>
              <a:t>¢</a:t>
            </a:r>
            <a:r>
              <a:rPr lang="en-US" altLang="en-US" sz="2400" kern="0" dirty="0">
                <a:latin typeface="Source Sans Pro" panose="020B0503030403020204" pitchFamily="34" charset="0"/>
                <a:ea typeface="ＭＳ Ｐゴシック" pitchFamily="34" charset="-128"/>
                <a:sym typeface="Symbol" pitchFamily="18" charset="2"/>
              </a:rPr>
              <a:t> =	$9.00</a:t>
            </a:r>
          </a:p>
          <a:p>
            <a:pPr>
              <a:buFontTx/>
              <a:buNone/>
            </a:pPr>
            <a:r>
              <a:rPr lang="en-US" altLang="en-US" sz="2400" kern="0" dirty="0">
                <a:latin typeface="Source Sans Pro" panose="020B0503030403020204" pitchFamily="34" charset="0"/>
                <a:ea typeface="ＭＳ Ｐゴシック" pitchFamily="34" charset="-128"/>
              </a:rPr>
              <a:t>	Q</a:t>
            </a:r>
            <a:r>
              <a:rPr lang="en-US" altLang="en-US" sz="2400" kern="0" baseline="-25000" dirty="0">
                <a:latin typeface="Source Sans Pro" panose="020B0503030403020204" pitchFamily="34" charset="0"/>
                <a:ea typeface="ＭＳ Ｐゴシック" pitchFamily="34" charset="-128"/>
              </a:rPr>
              <a:t>M</a:t>
            </a:r>
            <a:r>
              <a:rPr lang="en-US" altLang="en-US" sz="2400" kern="0" dirty="0">
                <a:latin typeface="Source Sans Pro" panose="020B0503030403020204" pitchFamily="34" charset="0"/>
                <a:ea typeface="ＭＳ Ｐゴシック" pitchFamily="34" charset="-128"/>
              </a:rPr>
              <a:t> = 60	</a:t>
            </a:r>
            <a:r>
              <a:rPr lang="en-US" altLang="en-US" sz="2400" kern="0" dirty="0" err="1">
                <a:latin typeface="Source Sans Pro" panose="020B0503030403020204" pitchFamily="34" charset="0"/>
                <a:ea typeface="ＭＳ Ｐゴシック" pitchFamily="34" charset="-128"/>
              </a:rPr>
              <a:t>Revenue</a:t>
            </a:r>
            <a:r>
              <a:rPr lang="en-US" altLang="en-US" sz="2400" kern="0" baseline="-25000" dirty="0" err="1">
                <a:latin typeface="Source Sans Pro" panose="020B0503030403020204" pitchFamily="34" charset="0"/>
                <a:ea typeface="ＭＳ Ｐゴシック" pitchFamily="34" charset="-128"/>
              </a:rPr>
              <a:t>M</a:t>
            </a:r>
            <a:r>
              <a:rPr lang="en-US" altLang="en-US" sz="2400" kern="0" dirty="0">
                <a:latin typeface="Source Sans Pro" panose="020B0503030403020204" pitchFamily="34" charset="0"/>
                <a:ea typeface="ＭＳ Ｐゴシック" pitchFamily="34" charset="-128"/>
              </a:rPr>
              <a:t> = 60</a:t>
            </a:r>
            <a:r>
              <a:rPr lang="en-US" altLang="en-US" sz="2400" kern="0" dirty="0">
                <a:latin typeface="Source Sans Pro" panose="020B0503030403020204" pitchFamily="34" charset="0"/>
                <a:ea typeface="ＭＳ Ｐゴシック" pitchFamily="34" charset="-128"/>
                <a:sym typeface="Symbol" pitchFamily="18" charset="2"/>
              </a:rPr>
              <a:t>x3</a:t>
            </a:r>
            <a:r>
              <a:rPr lang="en-US" altLang="en-US" sz="2400" kern="0" dirty="0">
                <a:latin typeface="Source Sans Pro" panose="020B0503030403020204" pitchFamily="34" charset="0"/>
                <a:ea typeface="ＭＳ Ｐゴシック" pitchFamily="34" charset="-128"/>
              </a:rPr>
              <a:t>¢</a:t>
            </a:r>
            <a:r>
              <a:rPr lang="en-US" altLang="en-US" sz="2400" kern="0" dirty="0">
                <a:latin typeface="Source Sans Pro" panose="020B0503030403020204" pitchFamily="34" charset="0"/>
                <a:ea typeface="ＭＳ Ｐゴシック" pitchFamily="34" charset="-128"/>
                <a:sym typeface="Symbol" pitchFamily="18" charset="2"/>
              </a:rPr>
              <a:t> = 	$1.80</a:t>
            </a:r>
          </a:p>
        </p:txBody>
      </p:sp>
      <p:sp>
        <p:nvSpPr>
          <p:cNvPr id="4" name="Rectangle 3">
            <a:extLst>
              <a:ext uri="{FF2B5EF4-FFF2-40B4-BE49-F238E27FC236}">
                <a16:creationId xmlns:a16="http://schemas.microsoft.com/office/drawing/2014/main" id="{D38631E8-A92E-A475-8F0D-0710DC247F89}"/>
              </a:ext>
            </a:extLst>
          </p:cNvPr>
          <p:cNvSpPr txBox="1">
            <a:spLocks noChangeArrowheads="1"/>
          </p:cNvSpPr>
          <p:nvPr/>
        </p:nvSpPr>
        <p:spPr bwMode="auto">
          <a:xfrm>
            <a:off x="1188720" y="1104347"/>
            <a:ext cx="10186416"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Assume two types of customers for a cell phone service firm:</a:t>
            </a:r>
          </a:p>
          <a:p>
            <a:pPr lvl="1"/>
            <a:r>
              <a:rPr lang="en-US" altLang="en-US" sz="2400" kern="0" dirty="0">
                <a:latin typeface="Source Sans Pro" panose="020B0503030403020204" pitchFamily="34" charset="0"/>
                <a:ea typeface="ＭＳ Ｐゴシック" pitchFamily="34" charset="-128"/>
              </a:rPr>
              <a:t>Chatty undergraduates (U)</a:t>
            </a:r>
          </a:p>
          <a:p>
            <a:pPr lvl="1"/>
            <a:r>
              <a:rPr lang="en-US" altLang="en-US" sz="2400" kern="0" dirty="0">
                <a:latin typeface="Source Sans Pro" panose="020B0503030403020204" pitchFamily="34" charset="0"/>
                <a:ea typeface="ＭＳ Ｐゴシック" pitchFamily="34" charset="-128"/>
              </a:rPr>
              <a:t>Serious MBAs (M)</a:t>
            </a:r>
            <a:endParaRPr lang="en-US" altLang="en-US" sz="2400" kern="0" dirty="0">
              <a:latin typeface="Source Sans Pro" panose="020B0503030403020204" pitchFamily="34" charset="0"/>
              <a:ea typeface="ＭＳ Ｐゴシック" pitchFamily="34" charset="-128"/>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en-US" altLang="en-US" dirty="0"/>
              <a:t>Example: Cell phone</a:t>
            </a:r>
          </a:p>
        </p:txBody>
      </p:sp>
      <p:sp>
        <p:nvSpPr>
          <p:cNvPr id="440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23029035-8FE6-47B4-A22F-A3130F6FACFB}" type="slidenum">
              <a:rPr lang="en-US" altLang="en-US" sz="1400">
                <a:latin typeface="Source Sans Pro" panose="020B0503030403020204" pitchFamily="34" charset="0"/>
                <a:ea typeface="Source Sans Pro" panose="020B0503030403020204" pitchFamily="34" charset="0"/>
              </a:rPr>
              <a:pPr eaLnBrk="1" hangingPunct="1"/>
              <a:t>49</a:t>
            </a:fld>
            <a:endParaRPr lang="en-US" altLang="en-US" sz="1400" dirty="0">
              <a:latin typeface="Source Sans Pro" panose="020B0503030403020204" pitchFamily="34" charset="0"/>
              <a:ea typeface="Source Sans Pro" panose="020B0503030403020204" pitchFamily="34" charset="0"/>
            </a:endParaRPr>
          </a:p>
        </p:txBody>
      </p:sp>
      <p:grpSp>
        <p:nvGrpSpPr>
          <p:cNvPr id="6" name="Group 5">
            <a:extLst>
              <a:ext uri="{FF2B5EF4-FFF2-40B4-BE49-F238E27FC236}">
                <a16:creationId xmlns:a16="http://schemas.microsoft.com/office/drawing/2014/main" id="{35D839BD-CDE8-1FB7-13A3-269865874AB1}"/>
              </a:ext>
            </a:extLst>
          </p:cNvPr>
          <p:cNvGrpSpPr/>
          <p:nvPr/>
        </p:nvGrpSpPr>
        <p:grpSpPr>
          <a:xfrm>
            <a:off x="10539947" y="123520"/>
            <a:ext cx="1396536" cy="338554"/>
            <a:chOff x="10539947" y="123520"/>
            <a:chExt cx="1396536" cy="338554"/>
          </a:xfrm>
        </p:grpSpPr>
        <p:sp>
          <p:nvSpPr>
            <p:cNvPr id="7" name="TextBox 6">
              <a:extLst>
                <a:ext uri="{FF2B5EF4-FFF2-40B4-BE49-F238E27FC236}">
                  <a16:creationId xmlns:a16="http://schemas.microsoft.com/office/drawing/2014/main" id="{7D7F6143-FB82-DCEA-6BD0-9E5C86B0928E}"/>
                </a:ext>
              </a:extLst>
            </p:cNvPr>
            <p:cNvSpPr txBox="1"/>
            <p:nvPr/>
          </p:nvSpPr>
          <p:spPr>
            <a:xfrm>
              <a:off x="10539947" y="123520"/>
              <a:ext cx="1396536"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2</a:t>
              </a:r>
              <a:r>
                <a:rPr lang="en-US" sz="1600" baseline="30000" dirty="0">
                  <a:latin typeface="Source Sans Pro" panose="020B0503030403020204" pitchFamily="34" charset="0"/>
                  <a:ea typeface="Source Sans Pro" panose="020B0503030403020204" pitchFamily="34" charset="0"/>
                </a:rPr>
                <a:t>nd</a:t>
              </a:r>
              <a:r>
                <a:rPr lang="en-US" sz="1600" dirty="0">
                  <a:latin typeface="Source Sans Pro" panose="020B0503030403020204" pitchFamily="34" charset="0"/>
                  <a:ea typeface="Source Sans Pro" panose="020B0503030403020204" pitchFamily="34" charset="0"/>
                </a:rPr>
                <a:t> degree PD</a:t>
              </a:r>
            </a:p>
          </p:txBody>
        </p:sp>
        <p:cxnSp>
          <p:nvCxnSpPr>
            <p:cNvPr id="8" name="Straight Connector 7">
              <a:extLst>
                <a:ext uri="{FF2B5EF4-FFF2-40B4-BE49-F238E27FC236}">
                  <a16:creationId xmlns:a16="http://schemas.microsoft.com/office/drawing/2014/main" id="{9D65328C-80EF-1C71-0542-E6AC38A8AE64}"/>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0824702-24CF-6F0B-6585-05526105E06A}"/>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2" name="Rectangle 3">
            <a:extLst>
              <a:ext uri="{FF2B5EF4-FFF2-40B4-BE49-F238E27FC236}">
                <a16:creationId xmlns:a16="http://schemas.microsoft.com/office/drawing/2014/main" id="{B6E4037E-E452-0851-992C-2A4171FDC2C9}"/>
              </a:ext>
            </a:extLst>
          </p:cNvPr>
          <p:cNvSpPr txBox="1">
            <a:spLocks noChangeArrowheads="1"/>
          </p:cNvSpPr>
          <p:nvPr/>
        </p:nvSpPr>
        <p:spPr bwMode="auto">
          <a:xfrm>
            <a:off x="630936" y="1954420"/>
            <a:ext cx="10780776"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Consider the following plan:</a:t>
            </a:r>
          </a:p>
          <a:p>
            <a:pPr lvl="1"/>
            <a:r>
              <a:rPr lang="en-US" altLang="en-US" sz="2400" kern="0" dirty="0">
                <a:latin typeface="Source Sans Pro" panose="020B0503030403020204" pitchFamily="34" charset="0"/>
                <a:ea typeface="Source Sans Pro" panose="020B0503030403020204" pitchFamily="34" charset="0"/>
              </a:rPr>
              <a:t>4¢ per minute for the first 30 minutes</a:t>
            </a:r>
          </a:p>
          <a:p>
            <a:pPr lvl="1"/>
            <a:r>
              <a:rPr lang="en-US" altLang="en-US" sz="2400" kern="0" dirty="0">
                <a:latin typeface="Source Sans Pro" panose="020B0503030403020204" pitchFamily="34" charset="0"/>
                <a:ea typeface="Source Sans Pro" panose="020B0503030403020204" pitchFamily="34" charset="0"/>
              </a:rPr>
              <a:t>3¢ per minute between 30 and 300 minutes</a:t>
            </a:r>
          </a:p>
          <a:p>
            <a:pPr lvl="1"/>
            <a:r>
              <a:rPr lang="en-US" altLang="en-US" sz="2400" kern="0" dirty="0">
                <a:latin typeface="Source Sans Pro" panose="020B0503030403020204" pitchFamily="34" charset="0"/>
                <a:ea typeface="Source Sans Pro" panose="020B0503030403020204" pitchFamily="34" charset="0"/>
              </a:rPr>
              <a:t>2¢ per minute for minutes beyond 300</a:t>
            </a:r>
          </a:p>
        </p:txBody>
      </p:sp>
      <p:sp>
        <p:nvSpPr>
          <p:cNvPr id="3" name="Rectangle 3">
            <a:extLst>
              <a:ext uri="{FF2B5EF4-FFF2-40B4-BE49-F238E27FC236}">
                <a16:creationId xmlns:a16="http://schemas.microsoft.com/office/drawing/2014/main" id="{AA700803-574B-1E78-DD72-C860D1945AD6}"/>
              </a:ext>
            </a:extLst>
          </p:cNvPr>
          <p:cNvSpPr txBox="1">
            <a:spLocks noChangeArrowheads="1"/>
          </p:cNvSpPr>
          <p:nvPr/>
        </p:nvSpPr>
        <p:spPr bwMode="auto">
          <a:xfrm>
            <a:off x="630936" y="3996136"/>
            <a:ext cx="107807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What is the effect on the consumers?</a:t>
            </a:r>
          </a:p>
        </p:txBody>
      </p:sp>
      <p:sp>
        <p:nvSpPr>
          <p:cNvPr id="4" name="Rectangle 3">
            <a:extLst>
              <a:ext uri="{FF2B5EF4-FFF2-40B4-BE49-F238E27FC236}">
                <a16:creationId xmlns:a16="http://schemas.microsoft.com/office/drawing/2014/main" id="{E4E537A3-E084-CFC2-F5CB-6A93813B5B5D}"/>
              </a:ext>
            </a:extLst>
          </p:cNvPr>
          <p:cNvSpPr txBox="1">
            <a:spLocks noChangeArrowheads="1"/>
          </p:cNvSpPr>
          <p:nvPr/>
        </p:nvSpPr>
        <p:spPr bwMode="auto">
          <a:xfrm>
            <a:off x="630936" y="4468192"/>
            <a:ext cx="10780776"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400" kern="0" dirty="0">
                <a:latin typeface="Source Sans Pro" panose="020B0503030403020204" pitchFamily="34" charset="0"/>
                <a:ea typeface="Source Sans Pro" panose="020B0503030403020204" pitchFamily="34" charset="0"/>
              </a:rPr>
              <a:t>Remember the height of demand at a specific quantity is the </a:t>
            </a:r>
            <a:r>
              <a:rPr lang="en-US" altLang="en-US" sz="2400" b="1" kern="0" dirty="0">
                <a:latin typeface="Source Sans Pro" panose="020B0503030403020204" pitchFamily="34" charset="0"/>
                <a:ea typeface="Source Sans Pro" panose="020B0503030403020204" pitchFamily="34" charset="0"/>
              </a:rPr>
              <a:t>marginal willingness to pay </a:t>
            </a:r>
            <a:r>
              <a:rPr lang="en-US" altLang="en-US" sz="2400" kern="0" dirty="0">
                <a:latin typeface="Source Sans Pro" panose="020B0503030403020204" pitchFamily="34" charset="0"/>
                <a:ea typeface="Source Sans Pro" panose="020B0503030403020204" pitchFamily="34" charset="0"/>
              </a:rPr>
              <a:t>for the next unit of a good</a:t>
            </a:r>
          </a:p>
          <a:p>
            <a:pPr lvl="1"/>
            <a:r>
              <a:rPr lang="en-US" altLang="en-US" sz="2400" kern="0" dirty="0">
                <a:latin typeface="Source Sans Pro" panose="020B0503030403020204" pitchFamily="34" charset="0"/>
                <a:ea typeface="Source Sans Pro" panose="020B0503030403020204" pitchFamily="34" charset="0"/>
              </a:rPr>
              <a:t>So, an MBA with demand of P = 6 – 0.05Q who spent 30 minutes on the phone this month is willing to pay up to 4.5¢ for the next minute on the phone</a:t>
            </a:r>
          </a:p>
        </p:txBody>
      </p:sp>
      <p:sp>
        <p:nvSpPr>
          <p:cNvPr id="5" name="Rectangle 3">
            <a:extLst>
              <a:ext uri="{FF2B5EF4-FFF2-40B4-BE49-F238E27FC236}">
                <a16:creationId xmlns:a16="http://schemas.microsoft.com/office/drawing/2014/main" id="{CCD5289D-88CE-513D-1828-4E471CC8F1F7}"/>
              </a:ext>
            </a:extLst>
          </p:cNvPr>
          <p:cNvSpPr txBox="1">
            <a:spLocks noChangeArrowheads="1"/>
          </p:cNvSpPr>
          <p:nvPr/>
        </p:nvSpPr>
        <p:spPr bwMode="auto">
          <a:xfrm>
            <a:off x="630936" y="1122006"/>
            <a:ext cx="107807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t>The firm would like to tailor different plans to different groups, extracting some of the consumer surplus</a:t>
            </a:r>
            <a:endParaRPr lang="en-US" altLang="en-US"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2"/>
          <p:cNvSpPr>
            <a:spLocks noGrp="1" noChangeArrowheads="1"/>
          </p:cNvSpPr>
          <p:nvPr>
            <p:ph type="title"/>
          </p:nvPr>
        </p:nvSpPr>
        <p:spPr/>
        <p:txBody>
          <a:bodyPr/>
          <a:lstStyle/>
          <a:p>
            <a:r>
              <a:rPr lang="en-US" altLang="en-US" dirty="0"/>
              <a:t>Example: Cell phone</a:t>
            </a:r>
          </a:p>
        </p:txBody>
      </p:sp>
      <p:sp>
        <p:nvSpPr>
          <p:cNvPr id="450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A4DB93BB-D8FD-4220-AF76-3E3F4FE3D570}" type="slidenum">
              <a:rPr lang="en-US" altLang="en-US" sz="1400">
                <a:latin typeface="Source Sans Pro" panose="020B0503030403020204" pitchFamily="34" charset="0"/>
                <a:ea typeface="Source Sans Pro" panose="020B0503030403020204" pitchFamily="34" charset="0"/>
              </a:rPr>
              <a:pPr eaLnBrk="1" hangingPunct="1"/>
              <a:t>50</a:t>
            </a:fld>
            <a:endParaRPr lang="en-US" altLang="en-US" sz="1400" dirty="0">
              <a:latin typeface="Source Sans Pro" panose="020B0503030403020204" pitchFamily="34" charset="0"/>
              <a:ea typeface="Source Sans Pro" panose="020B0503030403020204" pitchFamily="34" charset="0"/>
            </a:endParaRPr>
          </a:p>
        </p:txBody>
      </p:sp>
      <p:grpSp>
        <p:nvGrpSpPr>
          <p:cNvPr id="9" name="Group 8">
            <a:extLst>
              <a:ext uri="{FF2B5EF4-FFF2-40B4-BE49-F238E27FC236}">
                <a16:creationId xmlns:a16="http://schemas.microsoft.com/office/drawing/2014/main" id="{53EE7658-F647-BAD0-88DF-E25AB7ABF990}"/>
              </a:ext>
            </a:extLst>
          </p:cNvPr>
          <p:cNvGrpSpPr/>
          <p:nvPr/>
        </p:nvGrpSpPr>
        <p:grpSpPr>
          <a:xfrm>
            <a:off x="10539947" y="123520"/>
            <a:ext cx="1396536" cy="338554"/>
            <a:chOff x="10539947" y="123520"/>
            <a:chExt cx="1396536" cy="338554"/>
          </a:xfrm>
        </p:grpSpPr>
        <p:sp>
          <p:nvSpPr>
            <p:cNvPr id="10" name="TextBox 9">
              <a:extLst>
                <a:ext uri="{FF2B5EF4-FFF2-40B4-BE49-F238E27FC236}">
                  <a16:creationId xmlns:a16="http://schemas.microsoft.com/office/drawing/2014/main" id="{966B9777-4E82-BB59-481B-EF71FDFD0B40}"/>
                </a:ext>
              </a:extLst>
            </p:cNvPr>
            <p:cNvSpPr txBox="1"/>
            <p:nvPr/>
          </p:nvSpPr>
          <p:spPr>
            <a:xfrm>
              <a:off x="10539947" y="123520"/>
              <a:ext cx="1396536"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2</a:t>
              </a:r>
              <a:r>
                <a:rPr lang="en-US" sz="1600" baseline="30000" dirty="0">
                  <a:latin typeface="Source Sans Pro" panose="020B0503030403020204" pitchFamily="34" charset="0"/>
                  <a:ea typeface="Source Sans Pro" panose="020B0503030403020204" pitchFamily="34" charset="0"/>
                </a:rPr>
                <a:t>nd</a:t>
              </a:r>
              <a:r>
                <a:rPr lang="en-US" sz="1600" dirty="0">
                  <a:latin typeface="Source Sans Pro" panose="020B0503030403020204" pitchFamily="34" charset="0"/>
                  <a:ea typeface="Source Sans Pro" panose="020B0503030403020204" pitchFamily="34" charset="0"/>
                </a:rPr>
                <a:t> degree PD</a:t>
              </a:r>
            </a:p>
          </p:txBody>
        </p:sp>
        <p:cxnSp>
          <p:nvCxnSpPr>
            <p:cNvPr id="11" name="Straight Connector 10">
              <a:extLst>
                <a:ext uri="{FF2B5EF4-FFF2-40B4-BE49-F238E27FC236}">
                  <a16:creationId xmlns:a16="http://schemas.microsoft.com/office/drawing/2014/main" id="{56DDC008-C75B-6366-52F2-22EA7802EE04}"/>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046D5AF-71B4-D786-815E-8DA6F3C54B4C}"/>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5" name="Rectangle 4">
            <a:extLst>
              <a:ext uri="{FF2B5EF4-FFF2-40B4-BE49-F238E27FC236}">
                <a16:creationId xmlns:a16="http://schemas.microsoft.com/office/drawing/2014/main" id="{0525C1CF-A9B1-AE8C-648C-A2BDD7BC60B6}"/>
              </a:ext>
            </a:extLst>
          </p:cNvPr>
          <p:cNvSpPr>
            <a:spLocks noChangeArrowheads="1"/>
          </p:cNvSpPr>
          <p:nvPr/>
        </p:nvSpPr>
        <p:spPr bwMode="auto">
          <a:xfrm>
            <a:off x="1141921" y="3270926"/>
            <a:ext cx="904875" cy="1744662"/>
          </a:xfrm>
          <a:prstGeom prst="rect">
            <a:avLst/>
          </a:prstGeom>
          <a:solidFill>
            <a:srgbClr val="67C8C7"/>
          </a:solidFill>
          <a:ln>
            <a:solidFill>
              <a:srgbClr val="67C8C7"/>
            </a:solidFill>
          </a:ln>
          <a:effectLst/>
        </p:spPr>
        <p:txBody>
          <a:bodyPr wrap="none" anchor="ct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sp>
        <p:nvSpPr>
          <p:cNvPr id="6" name="Rectangle 32">
            <a:extLst>
              <a:ext uri="{FF2B5EF4-FFF2-40B4-BE49-F238E27FC236}">
                <a16:creationId xmlns:a16="http://schemas.microsoft.com/office/drawing/2014/main" id="{9F2AB185-D6C5-5411-B8A0-43450DDAC2A5}"/>
              </a:ext>
            </a:extLst>
          </p:cNvPr>
          <p:cNvSpPr>
            <a:spLocks noChangeArrowheads="1"/>
          </p:cNvSpPr>
          <p:nvPr/>
        </p:nvSpPr>
        <p:spPr bwMode="auto">
          <a:xfrm>
            <a:off x="2051558" y="3785276"/>
            <a:ext cx="900112" cy="1231900"/>
          </a:xfrm>
          <a:prstGeom prst="rect">
            <a:avLst/>
          </a:prstGeom>
          <a:solidFill>
            <a:srgbClr val="67C8C7"/>
          </a:solidFill>
          <a:ln>
            <a:solidFill>
              <a:srgbClr val="67C8C7"/>
            </a:solidFill>
          </a:ln>
          <a:effectLst/>
        </p:spPr>
        <p:txBody>
          <a:bodyPr wrap="none" anchor="ct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sp>
        <p:nvSpPr>
          <p:cNvPr id="7" name="Text Box 16">
            <a:extLst>
              <a:ext uri="{FF2B5EF4-FFF2-40B4-BE49-F238E27FC236}">
                <a16:creationId xmlns:a16="http://schemas.microsoft.com/office/drawing/2014/main" id="{49AECA48-E658-72CC-6170-EBBBFE0AAA7C}"/>
              </a:ext>
            </a:extLst>
          </p:cNvPr>
          <p:cNvSpPr txBox="1">
            <a:spLocks noChangeArrowheads="1"/>
          </p:cNvSpPr>
          <p:nvPr/>
        </p:nvSpPr>
        <p:spPr bwMode="auto">
          <a:xfrm>
            <a:off x="817061" y="3605888"/>
            <a:ext cx="320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3</a:t>
            </a:r>
            <a:endParaRPr lang="en-US" altLang="en-US" dirty="0">
              <a:latin typeface="Source Sans Pro" panose="020B0503030403020204" pitchFamily="34" charset="0"/>
              <a:ea typeface="Source Sans Pro" panose="020B0503030403020204" pitchFamily="34" charset="0"/>
            </a:endParaRPr>
          </a:p>
        </p:txBody>
      </p:sp>
      <p:sp>
        <p:nvSpPr>
          <p:cNvPr id="8" name="Text Box 17">
            <a:extLst>
              <a:ext uri="{FF2B5EF4-FFF2-40B4-BE49-F238E27FC236}">
                <a16:creationId xmlns:a16="http://schemas.microsoft.com/office/drawing/2014/main" id="{9505DCDB-9171-0DC3-3BB4-3979AFDF1709}"/>
              </a:ext>
            </a:extLst>
          </p:cNvPr>
          <p:cNvSpPr txBox="1">
            <a:spLocks noChangeArrowheads="1"/>
          </p:cNvSpPr>
          <p:nvPr/>
        </p:nvSpPr>
        <p:spPr bwMode="auto">
          <a:xfrm>
            <a:off x="673174" y="3101063"/>
            <a:ext cx="4619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4</a:t>
            </a:r>
            <a:endParaRPr lang="en-US" altLang="en-US" dirty="0">
              <a:latin typeface="Source Sans Pro" panose="020B0503030403020204" pitchFamily="34" charset="0"/>
              <a:ea typeface="Source Sans Pro" panose="020B0503030403020204" pitchFamily="34" charset="0"/>
            </a:endParaRPr>
          </a:p>
        </p:txBody>
      </p:sp>
      <p:grpSp>
        <p:nvGrpSpPr>
          <p:cNvPr id="13" name="Group 12">
            <a:extLst>
              <a:ext uri="{FF2B5EF4-FFF2-40B4-BE49-F238E27FC236}">
                <a16:creationId xmlns:a16="http://schemas.microsoft.com/office/drawing/2014/main" id="{28918C7B-4971-B5D8-00EC-4045CF1194CB}"/>
              </a:ext>
            </a:extLst>
          </p:cNvPr>
          <p:cNvGrpSpPr/>
          <p:nvPr/>
        </p:nvGrpSpPr>
        <p:grpSpPr>
          <a:xfrm>
            <a:off x="761497" y="1746926"/>
            <a:ext cx="4788912" cy="3667558"/>
            <a:chOff x="316488" y="1746926"/>
            <a:chExt cx="4788912" cy="3667558"/>
          </a:xfrm>
        </p:grpSpPr>
        <p:sp>
          <p:nvSpPr>
            <p:cNvPr id="14" name="Line 5">
              <a:extLst>
                <a:ext uri="{FF2B5EF4-FFF2-40B4-BE49-F238E27FC236}">
                  <a16:creationId xmlns:a16="http://schemas.microsoft.com/office/drawing/2014/main" id="{9974C7FF-F9A6-CD33-2A0A-FA09A7B421BA}"/>
                </a:ext>
              </a:extLst>
            </p:cNvPr>
            <p:cNvSpPr>
              <a:spLocks noChangeShapeType="1"/>
            </p:cNvSpPr>
            <p:nvPr/>
          </p:nvSpPr>
          <p:spPr bwMode="auto">
            <a:xfrm>
              <a:off x="696912" y="2018388"/>
              <a:ext cx="0" cy="30083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15" name="Line 6">
              <a:extLst>
                <a:ext uri="{FF2B5EF4-FFF2-40B4-BE49-F238E27FC236}">
                  <a16:creationId xmlns:a16="http://schemas.microsoft.com/office/drawing/2014/main" id="{A0621E7F-2B7B-F544-2AD2-F62CE9304A74}"/>
                </a:ext>
              </a:extLst>
            </p:cNvPr>
            <p:cNvSpPr>
              <a:spLocks noChangeShapeType="1"/>
            </p:cNvSpPr>
            <p:nvPr/>
          </p:nvSpPr>
          <p:spPr bwMode="auto">
            <a:xfrm>
              <a:off x="703262" y="5023526"/>
              <a:ext cx="405447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16" name="Line 7">
              <a:extLst>
                <a:ext uri="{FF2B5EF4-FFF2-40B4-BE49-F238E27FC236}">
                  <a16:creationId xmlns:a16="http://schemas.microsoft.com/office/drawing/2014/main" id="{6A885F29-BBF2-D77A-2E9F-E8E54D079D0E}"/>
                </a:ext>
              </a:extLst>
            </p:cNvPr>
            <p:cNvSpPr>
              <a:spLocks noChangeShapeType="1"/>
            </p:cNvSpPr>
            <p:nvPr/>
          </p:nvSpPr>
          <p:spPr bwMode="auto">
            <a:xfrm>
              <a:off x="693737" y="2364463"/>
              <a:ext cx="3378200" cy="265906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17" name="Text Box 8">
              <a:extLst>
                <a:ext uri="{FF2B5EF4-FFF2-40B4-BE49-F238E27FC236}">
                  <a16:creationId xmlns:a16="http://schemas.microsoft.com/office/drawing/2014/main" id="{351B1333-3D59-0109-2EEB-973E2CB6FCA2}"/>
                </a:ext>
              </a:extLst>
            </p:cNvPr>
            <p:cNvSpPr txBox="1">
              <a:spLocks noChangeArrowheads="1"/>
            </p:cNvSpPr>
            <p:nvPr/>
          </p:nvSpPr>
          <p:spPr bwMode="auto">
            <a:xfrm>
              <a:off x="4681537" y="5033484"/>
              <a:ext cx="4238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Q</a:t>
              </a:r>
              <a:endParaRPr lang="en-US" altLang="en-US" dirty="0">
                <a:latin typeface="Source Sans Pro" panose="020B0503030403020204" pitchFamily="34" charset="0"/>
                <a:ea typeface="Source Sans Pro" panose="020B0503030403020204" pitchFamily="34" charset="0"/>
              </a:endParaRPr>
            </a:p>
          </p:txBody>
        </p:sp>
        <p:sp>
          <p:nvSpPr>
            <p:cNvPr id="18" name="Text Box 10">
              <a:extLst>
                <a:ext uri="{FF2B5EF4-FFF2-40B4-BE49-F238E27FC236}">
                  <a16:creationId xmlns:a16="http://schemas.microsoft.com/office/drawing/2014/main" id="{F33D779B-6EA7-7E7F-8CAB-1FCD208CFEFC}"/>
                </a:ext>
              </a:extLst>
            </p:cNvPr>
            <p:cNvSpPr txBox="1">
              <a:spLocks noChangeArrowheads="1"/>
            </p:cNvSpPr>
            <p:nvPr/>
          </p:nvSpPr>
          <p:spPr bwMode="auto">
            <a:xfrm>
              <a:off x="316488" y="1746926"/>
              <a:ext cx="3714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P</a:t>
              </a:r>
              <a:endParaRPr lang="en-US" altLang="en-US" dirty="0">
                <a:latin typeface="Source Sans Pro" panose="020B0503030403020204" pitchFamily="34" charset="0"/>
                <a:ea typeface="Source Sans Pro" panose="020B0503030403020204" pitchFamily="34" charset="0"/>
              </a:endParaRPr>
            </a:p>
          </p:txBody>
        </p:sp>
        <p:sp>
          <p:nvSpPr>
            <p:cNvPr id="19" name="Text Box 19">
              <a:extLst>
                <a:ext uri="{FF2B5EF4-FFF2-40B4-BE49-F238E27FC236}">
                  <a16:creationId xmlns:a16="http://schemas.microsoft.com/office/drawing/2014/main" id="{20ECE5E9-2016-9978-8D18-387FF3EEB9B9}"/>
                </a:ext>
              </a:extLst>
            </p:cNvPr>
            <p:cNvSpPr txBox="1">
              <a:spLocks noChangeArrowheads="1"/>
            </p:cNvSpPr>
            <p:nvPr/>
          </p:nvSpPr>
          <p:spPr bwMode="auto">
            <a:xfrm>
              <a:off x="372051" y="2205713"/>
              <a:ext cx="3141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6</a:t>
              </a:r>
              <a:endParaRPr lang="en-US" altLang="en-US" dirty="0">
                <a:latin typeface="Source Sans Pro" panose="020B0503030403020204" pitchFamily="34" charset="0"/>
                <a:ea typeface="Source Sans Pro" panose="020B0503030403020204" pitchFamily="34" charset="0"/>
              </a:endParaRPr>
            </a:p>
          </p:txBody>
        </p:sp>
        <p:sp>
          <p:nvSpPr>
            <p:cNvPr id="20" name="Text Box 23">
              <a:extLst>
                <a:ext uri="{FF2B5EF4-FFF2-40B4-BE49-F238E27FC236}">
                  <a16:creationId xmlns:a16="http://schemas.microsoft.com/office/drawing/2014/main" id="{4E999A2E-E6C9-E4E8-13EA-372982C27A22}"/>
                </a:ext>
              </a:extLst>
            </p:cNvPr>
            <p:cNvSpPr txBox="1">
              <a:spLocks noChangeArrowheads="1"/>
            </p:cNvSpPr>
            <p:nvPr/>
          </p:nvSpPr>
          <p:spPr bwMode="auto">
            <a:xfrm>
              <a:off x="3819525" y="5029299"/>
              <a:ext cx="708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120</a:t>
              </a:r>
              <a:endParaRPr lang="en-US" altLang="en-US" dirty="0">
                <a:latin typeface="Source Sans Pro" panose="020B0503030403020204" pitchFamily="34" charset="0"/>
                <a:ea typeface="Source Sans Pro" panose="020B0503030403020204" pitchFamily="34" charset="0"/>
              </a:endParaRPr>
            </a:p>
          </p:txBody>
        </p:sp>
      </p:grpSp>
      <p:sp>
        <p:nvSpPr>
          <p:cNvPr id="21" name="Line 24">
            <a:extLst>
              <a:ext uri="{FF2B5EF4-FFF2-40B4-BE49-F238E27FC236}">
                <a16:creationId xmlns:a16="http://schemas.microsoft.com/office/drawing/2014/main" id="{C77EA740-02A2-E1DB-1E71-8AA1CCB7DB74}"/>
              </a:ext>
            </a:extLst>
          </p:cNvPr>
          <p:cNvSpPr>
            <a:spLocks noChangeShapeType="1"/>
          </p:cNvSpPr>
          <p:nvPr/>
        </p:nvSpPr>
        <p:spPr bwMode="auto">
          <a:xfrm>
            <a:off x="1145095" y="3270926"/>
            <a:ext cx="903288"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sp>
        <p:nvSpPr>
          <p:cNvPr id="22" name="Line 25">
            <a:extLst>
              <a:ext uri="{FF2B5EF4-FFF2-40B4-BE49-F238E27FC236}">
                <a16:creationId xmlns:a16="http://schemas.microsoft.com/office/drawing/2014/main" id="{BC818FC3-8E8B-2860-8F2B-7FF2A5027443}"/>
              </a:ext>
            </a:extLst>
          </p:cNvPr>
          <p:cNvSpPr>
            <a:spLocks noChangeShapeType="1"/>
          </p:cNvSpPr>
          <p:nvPr/>
        </p:nvSpPr>
        <p:spPr bwMode="auto">
          <a:xfrm>
            <a:off x="1153034" y="3791626"/>
            <a:ext cx="1773237"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sp>
        <p:nvSpPr>
          <p:cNvPr id="23" name="Text Box 28">
            <a:extLst>
              <a:ext uri="{FF2B5EF4-FFF2-40B4-BE49-F238E27FC236}">
                <a16:creationId xmlns:a16="http://schemas.microsoft.com/office/drawing/2014/main" id="{C83575B1-AB9E-23EE-123E-050654A4918B}"/>
              </a:ext>
            </a:extLst>
          </p:cNvPr>
          <p:cNvSpPr txBox="1">
            <a:spLocks noChangeArrowheads="1"/>
          </p:cNvSpPr>
          <p:nvPr/>
        </p:nvSpPr>
        <p:spPr bwMode="auto">
          <a:xfrm>
            <a:off x="1803909" y="5025113"/>
            <a:ext cx="708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30</a:t>
            </a:r>
            <a:endParaRPr lang="en-US" altLang="en-US" dirty="0">
              <a:latin typeface="Source Sans Pro" panose="020B0503030403020204" pitchFamily="34" charset="0"/>
              <a:ea typeface="Source Sans Pro" panose="020B0503030403020204" pitchFamily="34" charset="0"/>
            </a:endParaRPr>
          </a:p>
        </p:txBody>
      </p:sp>
      <p:sp>
        <p:nvSpPr>
          <p:cNvPr id="24" name="Line 29">
            <a:extLst>
              <a:ext uri="{FF2B5EF4-FFF2-40B4-BE49-F238E27FC236}">
                <a16:creationId xmlns:a16="http://schemas.microsoft.com/office/drawing/2014/main" id="{1B348F31-5614-BADF-9D37-AA8D62C5BC96}"/>
              </a:ext>
            </a:extLst>
          </p:cNvPr>
          <p:cNvSpPr>
            <a:spLocks noChangeShapeType="1"/>
          </p:cNvSpPr>
          <p:nvPr/>
        </p:nvSpPr>
        <p:spPr bwMode="auto">
          <a:xfrm>
            <a:off x="2048383" y="3272514"/>
            <a:ext cx="0" cy="1751013"/>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sp>
        <p:nvSpPr>
          <p:cNvPr id="25" name="Line 30">
            <a:extLst>
              <a:ext uri="{FF2B5EF4-FFF2-40B4-BE49-F238E27FC236}">
                <a16:creationId xmlns:a16="http://schemas.microsoft.com/office/drawing/2014/main" id="{8DFEDBD5-1478-6AE0-8AD3-2F84B61ECB5A}"/>
              </a:ext>
            </a:extLst>
          </p:cNvPr>
          <p:cNvSpPr>
            <a:spLocks noChangeShapeType="1"/>
          </p:cNvSpPr>
          <p:nvPr/>
        </p:nvSpPr>
        <p:spPr bwMode="auto">
          <a:xfrm flipH="1">
            <a:off x="2946908" y="3782102"/>
            <a:ext cx="0" cy="1227137"/>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sp>
        <p:nvSpPr>
          <p:cNvPr id="26" name="Text Box 31">
            <a:extLst>
              <a:ext uri="{FF2B5EF4-FFF2-40B4-BE49-F238E27FC236}">
                <a16:creationId xmlns:a16="http://schemas.microsoft.com/office/drawing/2014/main" id="{EC061B9D-E6DA-DC6A-9FFA-293B61B091A5}"/>
              </a:ext>
            </a:extLst>
          </p:cNvPr>
          <p:cNvSpPr txBox="1">
            <a:spLocks noChangeArrowheads="1"/>
          </p:cNvSpPr>
          <p:nvPr/>
        </p:nvSpPr>
        <p:spPr bwMode="auto">
          <a:xfrm>
            <a:off x="2724659" y="5030020"/>
            <a:ext cx="708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60</a:t>
            </a:r>
            <a:endParaRPr lang="en-US" altLang="en-US" dirty="0">
              <a:latin typeface="Source Sans Pro" panose="020B0503030403020204" pitchFamily="34" charset="0"/>
              <a:ea typeface="Source Sans Pro" panose="020B0503030403020204" pitchFamily="34" charset="0"/>
            </a:endParaRPr>
          </a:p>
        </p:txBody>
      </p:sp>
      <p:sp>
        <p:nvSpPr>
          <p:cNvPr id="27" name="Text Box 33">
            <a:extLst>
              <a:ext uri="{FF2B5EF4-FFF2-40B4-BE49-F238E27FC236}">
                <a16:creationId xmlns:a16="http://schemas.microsoft.com/office/drawing/2014/main" id="{9B9D057B-1696-FAF5-EB88-9E25275155AC}"/>
              </a:ext>
            </a:extLst>
          </p:cNvPr>
          <p:cNvSpPr txBox="1">
            <a:spLocks noChangeArrowheads="1"/>
          </p:cNvSpPr>
          <p:nvPr/>
        </p:nvSpPr>
        <p:spPr bwMode="auto">
          <a:xfrm>
            <a:off x="5550409" y="1891441"/>
            <a:ext cx="609318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4950" indent="-23495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buFontTx/>
              <a:buChar char="•"/>
            </a:pPr>
            <a:r>
              <a:rPr lang="en-US" altLang="en-US" dirty="0">
                <a:latin typeface="Source Sans Pro" panose="020B0503030403020204" pitchFamily="34" charset="0"/>
                <a:ea typeface="Source Sans Pro" panose="020B0503030403020204" pitchFamily="34" charset="0"/>
              </a:rPr>
              <a:t>MBAs willing to spend at least 30 minutes on the phone for 4¢/min, so they do</a:t>
            </a:r>
          </a:p>
          <a:p>
            <a:pPr lvl="1" eaLnBrk="1" hangingPunct="1">
              <a:spcBef>
                <a:spcPct val="50000"/>
              </a:spcBef>
              <a:buFontTx/>
              <a:buChar char="•"/>
            </a:pPr>
            <a:r>
              <a:rPr lang="en-US" altLang="en-US" dirty="0">
                <a:latin typeface="Source Sans Pro" panose="020B0503030403020204" pitchFamily="34" charset="0"/>
                <a:ea typeface="Source Sans Pro" panose="020B0503030403020204" pitchFamily="34" charset="0"/>
              </a:rPr>
              <a:t>Revenue contribution = $1.20</a:t>
            </a:r>
          </a:p>
        </p:txBody>
      </p:sp>
      <p:grpSp>
        <p:nvGrpSpPr>
          <p:cNvPr id="28" name="Group 27">
            <a:extLst>
              <a:ext uri="{FF2B5EF4-FFF2-40B4-BE49-F238E27FC236}">
                <a16:creationId xmlns:a16="http://schemas.microsoft.com/office/drawing/2014/main" id="{9106F32B-5061-2762-7A0F-D5A878039F6D}"/>
              </a:ext>
            </a:extLst>
          </p:cNvPr>
          <p:cNvGrpSpPr/>
          <p:nvPr/>
        </p:nvGrpSpPr>
        <p:grpSpPr>
          <a:xfrm>
            <a:off x="1693718" y="5720055"/>
            <a:ext cx="8898036" cy="676451"/>
            <a:chOff x="685800" y="5625180"/>
            <a:chExt cx="7391400" cy="676451"/>
          </a:xfrm>
        </p:grpSpPr>
        <p:grpSp>
          <p:nvGrpSpPr>
            <p:cNvPr id="29" name="Group 28">
              <a:extLst>
                <a:ext uri="{FF2B5EF4-FFF2-40B4-BE49-F238E27FC236}">
                  <a16:creationId xmlns:a16="http://schemas.microsoft.com/office/drawing/2014/main" id="{17DD3307-0A39-9D01-5688-28616B3851A4}"/>
                </a:ext>
              </a:extLst>
            </p:cNvPr>
            <p:cNvGrpSpPr/>
            <p:nvPr/>
          </p:nvGrpSpPr>
          <p:grpSpPr>
            <a:xfrm>
              <a:off x="685800" y="5625180"/>
              <a:ext cx="7391400" cy="676451"/>
              <a:chOff x="685800" y="5625180"/>
              <a:chExt cx="7391400" cy="676451"/>
            </a:xfrm>
            <a:solidFill>
              <a:srgbClr val="C8C8C8"/>
            </a:solidFill>
          </p:grpSpPr>
          <p:sp>
            <p:nvSpPr>
              <p:cNvPr id="35" name="Rounded Rectangle 34">
                <a:extLst>
                  <a:ext uri="{FF2B5EF4-FFF2-40B4-BE49-F238E27FC236}">
                    <a16:creationId xmlns:a16="http://schemas.microsoft.com/office/drawing/2014/main" id="{9540A2FE-8715-D768-A39A-ADC4EC19AC85}"/>
                  </a:ext>
                </a:extLst>
              </p:cNvPr>
              <p:cNvSpPr/>
              <p:nvPr/>
            </p:nvSpPr>
            <p:spPr>
              <a:xfrm>
                <a:off x="685800" y="5759655"/>
                <a:ext cx="7391400" cy="415535"/>
              </a:xfrm>
              <a:prstGeom prst="roundRect">
                <a:avLst/>
              </a:prstGeom>
              <a:grp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C8C8C8"/>
                  </a:solidFill>
                  <a:latin typeface="Source Sans Pro" panose="020B0503030403020204" pitchFamily="34" charset="0"/>
                  <a:ea typeface="Source Sans Pro" panose="020B0503030403020204" pitchFamily="34" charset="0"/>
                </a:endParaRPr>
              </a:p>
            </p:txBody>
          </p:sp>
          <p:sp>
            <p:nvSpPr>
              <p:cNvPr id="39" name="Oval 38">
                <a:extLst>
                  <a:ext uri="{FF2B5EF4-FFF2-40B4-BE49-F238E27FC236}">
                    <a16:creationId xmlns:a16="http://schemas.microsoft.com/office/drawing/2014/main" id="{CB543CFF-5984-E4BD-3D53-06D16A427A9C}"/>
                  </a:ext>
                </a:extLst>
              </p:cNvPr>
              <p:cNvSpPr/>
              <p:nvPr/>
            </p:nvSpPr>
            <p:spPr>
              <a:xfrm>
                <a:off x="685800" y="5625180"/>
                <a:ext cx="7391400" cy="311651"/>
              </a:xfrm>
              <a:prstGeom prst="ellipse">
                <a:avLst/>
              </a:prstGeom>
              <a:grp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C8C8C8"/>
                  </a:solidFill>
                  <a:latin typeface="Source Sans Pro" panose="020B0503030403020204" pitchFamily="34" charset="0"/>
                  <a:ea typeface="Source Sans Pro" panose="020B0503030403020204" pitchFamily="34" charset="0"/>
                </a:endParaRPr>
              </a:p>
            </p:txBody>
          </p:sp>
          <p:sp>
            <p:nvSpPr>
              <p:cNvPr id="40" name="Oval 39">
                <a:extLst>
                  <a:ext uri="{FF2B5EF4-FFF2-40B4-BE49-F238E27FC236}">
                    <a16:creationId xmlns:a16="http://schemas.microsoft.com/office/drawing/2014/main" id="{D4739194-9907-8616-0267-3C2F863D922D}"/>
                  </a:ext>
                </a:extLst>
              </p:cNvPr>
              <p:cNvSpPr/>
              <p:nvPr/>
            </p:nvSpPr>
            <p:spPr>
              <a:xfrm>
                <a:off x="685800" y="5989980"/>
                <a:ext cx="7391400" cy="311651"/>
              </a:xfrm>
              <a:prstGeom prst="ellipse">
                <a:avLst/>
              </a:prstGeom>
              <a:grp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C8C8C8"/>
                  </a:solidFill>
                  <a:latin typeface="Source Sans Pro" panose="020B0503030403020204" pitchFamily="34" charset="0"/>
                  <a:ea typeface="Source Sans Pro" panose="020B0503030403020204" pitchFamily="34" charset="0"/>
                </a:endParaRPr>
              </a:p>
            </p:txBody>
          </p:sp>
        </p:grpSp>
        <p:sp>
          <p:nvSpPr>
            <p:cNvPr id="30" name="Rectangle 29">
              <a:extLst>
                <a:ext uri="{FF2B5EF4-FFF2-40B4-BE49-F238E27FC236}">
                  <a16:creationId xmlns:a16="http://schemas.microsoft.com/office/drawing/2014/main" id="{F3E355A5-6699-4F3E-E8D0-364488505BF1}"/>
                </a:ext>
              </a:extLst>
            </p:cNvPr>
            <p:cNvSpPr/>
            <p:nvPr/>
          </p:nvSpPr>
          <p:spPr>
            <a:xfrm>
              <a:off x="685800" y="5763350"/>
              <a:ext cx="7391400" cy="461665"/>
            </a:xfrm>
            <a:prstGeom prst="rect">
              <a:avLst/>
            </a:prstGeom>
          </p:spPr>
          <p:txBody>
            <a:bodyPr wrap="square">
              <a:spAutoFit/>
            </a:bodyPr>
            <a:lstStyle/>
            <a:p>
              <a:pPr algn="ctr">
                <a:spcBef>
                  <a:spcPct val="50000"/>
                </a:spcBef>
                <a:defRPr/>
              </a:pPr>
              <a:r>
                <a:rPr lang="en-US" sz="2400" dirty="0">
                  <a:latin typeface="Source Sans Pro" panose="020B0503030403020204" pitchFamily="34" charset="0"/>
                  <a:ea typeface="Source Sans Pro" panose="020B0503030403020204" pitchFamily="34" charset="0"/>
                  <a:cs typeface="ＭＳ Ｐゴシック" charset="0"/>
                </a:rPr>
                <a:t>Could you alter this plan and </a:t>
              </a:r>
              <a:r>
                <a:rPr lang="en-US" sz="2400" b="1" dirty="0">
                  <a:latin typeface="Source Sans Pro" panose="020B0503030403020204" pitchFamily="34" charset="0"/>
                  <a:ea typeface="Source Sans Pro" panose="020B0503030403020204" pitchFamily="34" charset="0"/>
                  <a:cs typeface="ＭＳ Ｐゴシック" charset="0"/>
                </a:rPr>
                <a:t>raise more money </a:t>
              </a:r>
              <a:r>
                <a:rPr lang="en-US" sz="2400" dirty="0">
                  <a:latin typeface="Source Sans Pro" panose="020B0503030403020204" pitchFamily="34" charset="0"/>
                  <a:ea typeface="Source Sans Pro" panose="020B0503030403020204" pitchFamily="34" charset="0"/>
                  <a:cs typeface="ＭＳ Ｐゴシック" charset="0"/>
                </a:rPr>
                <a:t>from the MBAs?</a:t>
              </a:r>
            </a:p>
          </p:txBody>
        </p:sp>
      </p:grpSp>
      <p:sp>
        <p:nvSpPr>
          <p:cNvPr id="41" name="Rectangle 3">
            <a:extLst>
              <a:ext uri="{FF2B5EF4-FFF2-40B4-BE49-F238E27FC236}">
                <a16:creationId xmlns:a16="http://schemas.microsoft.com/office/drawing/2014/main" id="{FC4D78D3-DB00-5083-13C0-8BE0CC9E0953}"/>
              </a:ext>
            </a:extLst>
          </p:cNvPr>
          <p:cNvSpPr txBox="1">
            <a:spLocks noChangeArrowheads="1"/>
          </p:cNvSpPr>
          <p:nvPr/>
        </p:nvSpPr>
        <p:spPr bwMode="auto">
          <a:xfrm>
            <a:off x="676656" y="793212"/>
            <a:ext cx="9381744"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For MBAs, the pricing plan has the following effect</a:t>
            </a:r>
          </a:p>
          <a:p>
            <a:pPr lvl="1"/>
            <a:r>
              <a:rPr lang="en-US" altLang="en-US" sz="2400" kern="0" dirty="0">
                <a:latin typeface="Source Sans Pro" panose="020B0503030403020204" pitchFamily="34" charset="0"/>
                <a:ea typeface="Source Sans Pro" panose="020B0503030403020204" pitchFamily="34" charset="0"/>
              </a:rPr>
              <a:t>4¢/min.: &lt; 30 min., 3¢/min.: 30 - 300 min., 2¢/min.: &gt; 300 min.</a:t>
            </a:r>
          </a:p>
        </p:txBody>
      </p:sp>
      <p:sp>
        <p:nvSpPr>
          <p:cNvPr id="42" name="Text Box 33">
            <a:extLst>
              <a:ext uri="{FF2B5EF4-FFF2-40B4-BE49-F238E27FC236}">
                <a16:creationId xmlns:a16="http://schemas.microsoft.com/office/drawing/2014/main" id="{B7A5E73D-A26E-AE72-5C66-BFA26154E6B6}"/>
              </a:ext>
            </a:extLst>
          </p:cNvPr>
          <p:cNvSpPr txBox="1">
            <a:spLocks noChangeArrowheads="1"/>
          </p:cNvSpPr>
          <p:nvPr/>
        </p:nvSpPr>
        <p:spPr bwMode="auto">
          <a:xfrm>
            <a:off x="5579507" y="3226641"/>
            <a:ext cx="605747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4950" indent="-23495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buFontTx/>
              <a:buChar char="•"/>
            </a:pPr>
            <a:r>
              <a:rPr lang="en-US" altLang="en-US" dirty="0">
                <a:latin typeface="Source Sans Pro" panose="020B0503030403020204" pitchFamily="34" charset="0"/>
                <a:ea typeface="Source Sans Pro" panose="020B0503030403020204" pitchFamily="34" charset="0"/>
              </a:rPr>
              <a:t>MBAs will spend additional 30 minutes on the phone for 3¢/min</a:t>
            </a:r>
          </a:p>
          <a:p>
            <a:pPr lvl="1" eaLnBrk="1" hangingPunct="1">
              <a:spcBef>
                <a:spcPct val="50000"/>
              </a:spcBef>
              <a:buFontTx/>
              <a:buChar char="•"/>
            </a:pPr>
            <a:r>
              <a:rPr lang="en-US" altLang="en-US" dirty="0">
                <a:latin typeface="Source Sans Pro" panose="020B0503030403020204" pitchFamily="34" charset="0"/>
                <a:ea typeface="Source Sans Pro" panose="020B0503030403020204" pitchFamily="34" charset="0"/>
              </a:rPr>
              <a:t>Additional revenue contribution = $0.90</a:t>
            </a:r>
          </a:p>
        </p:txBody>
      </p:sp>
      <p:sp>
        <p:nvSpPr>
          <p:cNvPr id="43" name="Text Box 33">
            <a:extLst>
              <a:ext uri="{FF2B5EF4-FFF2-40B4-BE49-F238E27FC236}">
                <a16:creationId xmlns:a16="http://schemas.microsoft.com/office/drawing/2014/main" id="{905D6AC4-6928-2E0B-AD55-048E0D30290F}"/>
              </a:ext>
            </a:extLst>
          </p:cNvPr>
          <p:cNvSpPr txBox="1">
            <a:spLocks noChangeArrowheads="1"/>
          </p:cNvSpPr>
          <p:nvPr/>
        </p:nvSpPr>
        <p:spPr bwMode="auto">
          <a:xfrm>
            <a:off x="5579507" y="4561841"/>
            <a:ext cx="605747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4950" indent="-23495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buFontTx/>
              <a:buChar char="•"/>
            </a:pPr>
            <a:r>
              <a:rPr lang="en-US" altLang="en-US" dirty="0">
                <a:latin typeface="Source Sans Pro" panose="020B0503030403020204" pitchFamily="34" charset="0"/>
                <a:ea typeface="Source Sans Pro" panose="020B0503030403020204" pitchFamily="34" charset="0"/>
              </a:rPr>
              <a:t>Total revenue from MBAs = $2.10</a:t>
            </a:r>
          </a:p>
          <a:p>
            <a:pPr lvl="1" eaLnBrk="1" hangingPunct="1">
              <a:spcBef>
                <a:spcPct val="50000"/>
              </a:spcBef>
              <a:buFontTx/>
              <a:buChar char="•"/>
            </a:pPr>
            <a:r>
              <a:rPr lang="en-US" altLang="en-US" dirty="0">
                <a:latin typeface="Source Sans Pro" panose="020B0503030403020204" pitchFamily="34" charset="0"/>
                <a:ea typeface="Source Sans Pro" panose="020B0503030403020204" pitchFamily="34" charset="0"/>
              </a:rPr>
              <a:t>Up from $1.80</a:t>
            </a:r>
          </a:p>
        </p:txBody>
      </p:sp>
      <p:sp>
        <p:nvSpPr>
          <p:cNvPr id="44" name="Speech Bubble: Rectangle with Corners Rounded 4">
            <a:extLst>
              <a:ext uri="{FF2B5EF4-FFF2-40B4-BE49-F238E27FC236}">
                <a16:creationId xmlns:a16="http://schemas.microsoft.com/office/drawing/2014/main" id="{E65153F1-17D7-A804-B0D1-5BE2B95DE298}"/>
              </a:ext>
            </a:extLst>
          </p:cNvPr>
          <p:cNvSpPr/>
          <p:nvPr/>
        </p:nvSpPr>
        <p:spPr>
          <a:xfrm>
            <a:off x="2046796" y="2473036"/>
            <a:ext cx="789921" cy="468073"/>
          </a:xfrm>
          <a:prstGeom prst="wedgeRoundRectCallout">
            <a:avLst>
              <a:gd name="adj1" fmla="val -44511"/>
              <a:gd name="adj2" fmla="val 75819"/>
              <a:gd name="adj3" fmla="val 16667"/>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kern="0" dirty="0">
                <a:latin typeface="Source Sans Pro" panose="020B0503030403020204" pitchFamily="34" charset="0"/>
                <a:ea typeface="Source Sans Pro" panose="020B0503030403020204" pitchFamily="34" charset="0"/>
              </a:rPr>
              <a:t>4.5¢</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21" grpId="0" animBg="1"/>
      <p:bldP spid="22" grpId="0" animBg="1"/>
      <p:bldP spid="23" grpId="0"/>
      <p:bldP spid="24" grpId="0" animBg="1"/>
      <p:bldP spid="25" grpId="0" animBg="1"/>
      <p:bldP spid="26" grpId="0"/>
      <p:bldP spid="27" grpId="0"/>
      <p:bldP spid="42" grpId="0"/>
      <p:bldP spid="43" grpId="0"/>
      <p:bldP spid="4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p:txBody>
          <a:bodyPr/>
          <a:lstStyle/>
          <a:p>
            <a:r>
              <a:rPr lang="en-US" altLang="en-US" dirty="0"/>
              <a:t>Example: Cell phone</a:t>
            </a:r>
          </a:p>
        </p:txBody>
      </p:sp>
      <p:sp>
        <p:nvSpPr>
          <p:cNvPr id="460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FF25BC5B-F2AE-4872-A5B7-F8733787973E}" type="slidenum">
              <a:rPr lang="en-US" altLang="en-US" sz="1400">
                <a:latin typeface="Source Sans Pro" panose="020B0503030403020204" pitchFamily="34" charset="0"/>
                <a:ea typeface="Source Sans Pro" panose="020B0503030403020204" pitchFamily="34" charset="0"/>
              </a:rPr>
              <a:pPr eaLnBrk="1" hangingPunct="1"/>
              <a:t>51</a:t>
            </a:fld>
            <a:endParaRPr lang="en-US" altLang="en-US" sz="1400" dirty="0">
              <a:latin typeface="Source Sans Pro" panose="020B0503030403020204" pitchFamily="34" charset="0"/>
              <a:ea typeface="Source Sans Pro" panose="020B0503030403020204" pitchFamily="34" charset="0"/>
            </a:endParaRPr>
          </a:p>
        </p:txBody>
      </p:sp>
      <p:grpSp>
        <p:nvGrpSpPr>
          <p:cNvPr id="11" name="Group 10">
            <a:extLst>
              <a:ext uri="{FF2B5EF4-FFF2-40B4-BE49-F238E27FC236}">
                <a16:creationId xmlns:a16="http://schemas.microsoft.com/office/drawing/2014/main" id="{48E78DA9-88BD-8827-D888-B6FC9E82FD87}"/>
              </a:ext>
            </a:extLst>
          </p:cNvPr>
          <p:cNvGrpSpPr/>
          <p:nvPr/>
        </p:nvGrpSpPr>
        <p:grpSpPr>
          <a:xfrm>
            <a:off x="10539947" y="123520"/>
            <a:ext cx="1396536" cy="338554"/>
            <a:chOff x="10539947" y="123520"/>
            <a:chExt cx="1396536" cy="338554"/>
          </a:xfrm>
        </p:grpSpPr>
        <p:sp>
          <p:nvSpPr>
            <p:cNvPr id="12" name="TextBox 11">
              <a:extLst>
                <a:ext uri="{FF2B5EF4-FFF2-40B4-BE49-F238E27FC236}">
                  <a16:creationId xmlns:a16="http://schemas.microsoft.com/office/drawing/2014/main" id="{A5B0C3D9-43E7-3C8C-C255-C90A16A02BAA}"/>
                </a:ext>
              </a:extLst>
            </p:cNvPr>
            <p:cNvSpPr txBox="1"/>
            <p:nvPr/>
          </p:nvSpPr>
          <p:spPr>
            <a:xfrm>
              <a:off x="10539947" y="123520"/>
              <a:ext cx="1396536"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2</a:t>
              </a:r>
              <a:r>
                <a:rPr lang="en-US" sz="1600" baseline="30000" dirty="0">
                  <a:latin typeface="Source Sans Pro" panose="020B0503030403020204" pitchFamily="34" charset="0"/>
                  <a:ea typeface="Source Sans Pro" panose="020B0503030403020204" pitchFamily="34" charset="0"/>
                </a:rPr>
                <a:t>nd</a:t>
              </a:r>
              <a:r>
                <a:rPr lang="en-US" sz="1600" dirty="0">
                  <a:latin typeface="Source Sans Pro" panose="020B0503030403020204" pitchFamily="34" charset="0"/>
                  <a:ea typeface="Source Sans Pro" panose="020B0503030403020204" pitchFamily="34" charset="0"/>
                </a:rPr>
                <a:t> degree PD</a:t>
              </a:r>
            </a:p>
          </p:txBody>
        </p:sp>
        <p:cxnSp>
          <p:nvCxnSpPr>
            <p:cNvPr id="13" name="Straight Connector 12">
              <a:extLst>
                <a:ext uri="{FF2B5EF4-FFF2-40B4-BE49-F238E27FC236}">
                  <a16:creationId xmlns:a16="http://schemas.microsoft.com/office/drawing/2014/main" id="{9979A6B4-6C99-E367-BB3A-DE40DDE8A86E}"/>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14D981E-FAC1-C48B-59EF-CC9EDE813FD7}"/>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7C27ACF4-29B6-36F0-F8E8-E75063458BD7}"/>
              </a:ext>
            </a:extLst>
          </p:cNvPr>
          <p:cNvGrpSpPr/>
          <p:nvPr/>
        </p:nvGrpSpPr>
        <p:grpSpPr>
          <a:xfrm>
            <a:off x="1323703" y="4222750"/>
            <a:ext cx="3506932" cy="1283134"/>
            <a:chOff x="330055" y="4222750"/>
            <a:chExt cx="3506932" cy="1283134"/>
          </a:xfrm>
        </p:grpSpPr>
        <p:sp>
          <p:nvSpPr>
            <p:cNvPr id="8" name="Rectangle 5">
              <a:extLst>
                <a:ext uri="{FF2B5EF4-FFF2-40B4-BE49-F238E27FC236}">
                  <a16:creationId xmlns:a16="http://schemas.microsoft.com/office/drawing/2014/main" id="{48DE92B4-685B-AE10-6A25-AD715C11B45A}"/>
                </a:ext>
              </a:extLst>
            </p:cNvPr>
            <p:cNvSpPr>
              <a:spLocks noChangeArrowheads="1"/>
            </p:cNvSpPr>
            <p:nvPr/>
          </p:nvSpPr>
          <p:spPr bwMode="auto">
            <a:xfrm>
              <a:off x="2640012" y="4362450"/>
              <a:ext cx="792163" cy="742950"/>
            </a:xfrm>
            <a:prstGeom prst="rect">
              <a:avLst/>
            </a:prstGeom>
            <a:solidFill>
              <a:srgbClr val="67C8C7"/>
            </a:solidFill>
            <a:ln>
              <a:solidFill>
                <a:srgbClr val="67C8C7"/>
              </a:solidFill>
            </a:ln>
            <a:effectLst/>
          </p:spPr>
          <p:txBody>
            <a:bodyPr wrap="none" anchor="ct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sp>
          <p:nvSpPr>
            <p:cNvPr id="9" name="Text Box 20">
              <a:extLst>
                <a:ext uri="{FF2B5EF4-FFF2-40B4-BE49-F238E27FC236}">
                  <a16:creationId xmlns:a16="http://schemas.microsoft.com/office/drawing/2014/main" id="{E42E793E-5C30-248D-06C7-359B2799C485}"/>
                </a:ext>
              </a:extLst>
            </p:cNvPr>
            <p:cNvSpPr txBox="1">
              <a:spLocks noChangeArrowheads="1"/>
            </p:cNvSpPr>
            <p:nvPr/>
          </p:nvSpPr>
          <p:spPr bwMode="auto">
            <a:xfrm>
              <a:off x="3128962" y="5124884"/>
              <a:ext cx="708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400</a:t>
              </a:r>
              <a:endParaRPr lang="en-US" altLang="en-US" dirty="0">
                <a:latin typeface="Source Sans Pro" panose="020B0503030403020204" pitchFamily="34" charset="0"/>
                <a:ea typeface="Source Sans Pro" panose="020B0503030403020204" pitchFamily="34" charset="0"/>
              </a:endParaRPr>
            </a:p>
          </p:txBody>
        </p:sp>
        <p:sp>
          <p:nvSpPr>
            <p:cNvPr id="10" name="Text Box 22">
              <a:extLst>
                <a:ext uri="{FF2B5EF4-FFF2-40B4-BE49-F238E27FC236}">
                  <a16:creationId xmlns:a16="http://schemas.microsoft.com/office/drawing/2014/main" id="{E88C7323-66AA-B80A-CDE0-AF82C62F9DC8}"/>
                </a:ext>
              </a:extLst>
            </p:cNvPr>
            <p:cNvSpPr txBox="1">
              <a:spLocks noChangeArrowheads="1"/>
            </p:cNvSpPr>
            <p:nvPr/>
          </p:nvSpPr>
          <p:spPr bwMode="auto">
            <a:xfrm>
              <a:off x="330055" y="4222750"/>
              <a:ext cx="320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2</a:t>
              </a:r>
              <a:endParaRPr lang="en-US" altLang="en-US" dirty="0">
                <a:latin typeface="Source Sans Pro" panose="020B0503030403020204" pitchFamily="34" charset="0"/>
                <a:ea typeface="Source Sans Pro" panose="020B0503030403020204" pitchFamily="34" charset="0"/>
              </a:endParaRPr>
            </a:p>
          </p:txBody>
        </p:sp>
        <p:sp>
          <p:nvSpPr>
            <p:cNvPr id="15" name="Rectangle 25">
              <a:extLst>
                <a:ext uri="{FF2B5EF4-FFF2-40B4-BE49-F238E27FC236}">
                  <a16:creationId xmlns:a16="http://schemas.microsoft.com/office/drawing/2014/main" id="{73D24AD0-1CE0-60FD-7E72-BB345A9E99BE}"/>
                </a:ext>
              </a:extLst>
            </p:cNvPr>
            <p:cNvSpPr>
              <a:spLocks noChangeArrowheads="1"/>
            </p:cNvSpPr>
            <p:nvPr/>
          </p:nvSpPr>
          <p:spPr bwMode="auto">
            <a:xfrm>
              <a:off x="657225" y="4359275"/>
              <a:ext cx="2774950" cy="741363"/>
            </a:xfrm>
            <a:prstGeom prst="rect">
              <a:avLst/>
            </a:prstGeom>
            <a:noFill/>
            <a:ln w="9525">
              <a:solidFill>
                <a:schemeClr val="tx1"/>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grpSp>
      <p:grpSp>
        <p:nvGrpSpPr>
          <p:cNvPr id="16" name="Group 15">
            <a:extLst>
              <a:ext uri="{FF2B5EF4-FFF2-40B4-BE49-F238E27FC236}">
                <a16:creationId xmlns:a16="http://schemas.microsoft.com/office/drawing/2014/main" id="{E7D92FAE-2C15-0EE1-8ED6-4067B350E089}"/>
              </a:ext>
            </a:extLst>
          </p:cNvPr>
          <p:cNvGrpSpPr/>
          <p:nvPr/>
        </p:nvGrpSpPr>
        <p:grpSpPr>
          <a:xfrm>
            <a:off x="1326157" y="3640138"/>
            <a:ext cx="2778991" cy="1868055"/>
            <a:chOff x="332509" y="3640138"/>
            <a:chExt cx="2778991" cy="1868055"/>
          </a:xfrm>
        </p:grpSpPr>
        <p:sp>
          <p:nvSpPr>
            <p:cNvPr id="17" name="Rectangle 26">
              <a:extLst>
                <a:ext uri="{FF2B5EF4-FFF2-40B4-BE49-F238E27FC236}">
                  <a16:creationId xmlns:a16="http://schemas.microsoft.com/office/drawing/2014/main" id="{C22DF1A1-EEAD-2C3B-B26E-EDE76B92643A}"/>
                </a:ext>
              </a:extLst>
            </p:cNvPr>
            <p:cNvSpPr>
              <a:spLocks noChangeArrowheads="1"/>
            </p:cNvSpPr>
            <p:nvPr/>
          </p:nvSpPr>
          <p:spPr bwMode="auto">
            <a:xfrm>
              <a:off x="1060450" y="3824288"/>
              <a:ext cx="1585912" cy="1287462"/>
            </a:xfrm>
            <a:prstGeom prst="rect">
              <a:avLst/>
            </a:prstGeom>
            <a:solidFill>
              <a:srgbClr val="67C8C7"/>
            </a:solidFill>
            <a:ln>
              <a:solidFill>
                <a:srgbClr val="67C8C7"/>
              </a:solidFill>
            </a:ln>
            <a:effectLst/>
          </p:spPr>
          <p:txBody>
            <a:bodyPr wrap="none" anchor="ct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sp>
          <p:nvSpPr>
            <p:cNvPr id="18" name="Text Box 11">
              <a:extLst>
                <a:ext uri="{FF2B5EF4-FFF2-40B4-BE49-F238E27FC236}">
                  <a16:creationId xmlns:a16="http://schemas.microsoft.com/office/drawing/2014/main" id="{F78B1FC4-9F5A-AEF8-E59D-C6390F5EE861}"/>
                </a:ext>
              </a:extLst>
            </p:cNvPr>
            <p:cNvSpPr txBox="1">
              <a:spLocks noChangeArrowheads="1"/>
            </p:cNvSpPr>
            <p:nvPr/>
          </p:nvSpPr>
          <p:spPr bwMode="auto">
            <a:xfrm>
              <a:off x="332509" y="3640138"/>
              <a:ext cx="320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3</a:t>
              </a:r>
              <a:endParaRPr lang="en-US" altLang="en-US" dirty="0">
                <a:latin typeface="Source Sans Pro" panose="020B0503030403020204" pitchFamily="34" charset="0"/>
                <a:ea typeface="Source Sans Pro" panose="020B0503030403020204" pitchFamily="34" charset="0"/>
              </a:endParaRPr>
            </a:p>
          </p:txBody>
        </p:sp>
        <p:sp>
          <p:nvSpPr>
            <p:cNvPr id="19" name="Text Box 21">
              <a:extLst>
                <a:ext uri="{FF2B5EF4-FFF2-40B4-BE49-F238E27FC236}">
                  <a16:creationId xmlns:a16="http://schemas.microsoft.com/office/drawing/2014/main" id="{CDCBE175-36A0-F65F-E10D-CAA68BD154F9}"/>
                </a:ext>
              </a:extLst>
            </p:cNvPr>
            <p:cNvSpPr txBox="1">
              <a:spLocks noChangeArrowheads="1"/>
            </p:cNvSpPr>
            <p:nvPr/>
          </p:nvSpPr>
          <p:spPr bwMode="auto">
            <a:xfrm>
              <a:off x="2403475" y="5127193"/>
              <a:ext cx="708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300</a:t>
              </a:r>
              <a:endParaRPr lang="en-US" altLang="en-US" dirty="0">
                <a:latin typeface="Source Sans Pro" panose="020B0503030403020204" pitchFamily="34" charset="0"/>
                <a:ea typeface="Source Sans Pro" panose="020B0503030403020204" pitchFamily="34" charset="0"/>
              </a:endParaRPr>
            </a:p>
          </p:txBody>
        </p:sp>
        <p:sp>
          <p:nvSpPr>
            <p:cNvPr id="20" name="Rectangle 24">
              <a:extLst>
                <a:ext uri="{FF2B5EF4-FFF2-40B4-BE49-F238E27FC236}">
                  <a16:creationId xmlns:a16="http://schemas.microsoft.com/office/drawing/2014/main" id="{0057A2C1-C7B0-54C3-4CB6-A6A104354985}"/>
                </a:ext>
              </a:extLst>
            </p:cNvPr>
            <p:cNvSpPr>
              <a:spLocks noChangeArrowheads="1"/>
            </p:cNvSpPr>
            <p:nvPr/>
          </p:nvSpPr>
          <p:spPr bwMode="auto">
            <a:xfrm>
              <a:off x="657225" y="3825875"/>
              <a:ext cx="1987550" cy="1274763"/>
            </a:xfrm>
            <a:prstGeom prst="rect">
              <a:avLst/>
            </a:prstGeom>
            <a:noFill/>
            <a:ln w="9525">
              <a:solidFill>
                <a:schemeClr val="tx1"/>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grpSp>
      <p:grpSp>
        <p:nvGrpSpPr>
          <p:cNvPr id="21" name="Group 20">
            <a:extLst>
              <a:ext uri="{FF2B5EF4-FFF2-40B4-BE49-F238E27FC236}">
                <a16:creationId xmlns:a16="http://schemas.microsoft.com/office/drawing/2014/main" id="{D2DF3692-98E4-A7BA-C525-7D93F7CD3BC7}"/>
              </a:ext>
            </a:extLst>
          </p:cNvPr>
          <p:cNvGrpSpPr/>
          <p:nvPr/>
        </p:nvGrpSpPr>
        <p:grpSpPr>
          <a:xfrm>
            <a:off x="1167983" y="1831975"/>
            <a:ext cx="5083465" cy="3673764"/>
            <a:chOff x="174335" y="1831975"/>
            <a:chExt cx="5083465" cy="3673764"/>
          </a:xfrm>
        </p:grpSpPr>
        <p:sp>
          <p:nvSpPr>
            <p:cNvPr id="22" name="Line 6">
              <a:extLst>
                <a:ext uri="{FF2B5EF4-FFF2-40B4-BE49-F238E27FC236}">
                  <a16:creationId xmlns:a16="http://schemas.microsoft.com/office/drawing/2014/main" id="{ECA07C8F-A8A2-2E51-7997-E6B21E443D4E}"/>
                </a:ext>
              </a:extLst>
            </p:cNvPr>
            <p:cNvSpPr>
              <a:spLocks noChangeShapeType="1"/>
            </p:cNvSpPr>
            <p:nvPr/>
          </p:nvSpPr>
          <p:spPr bwMode="auto">
            <a:xfrm>
              <a:off x="655637" y="2103438"/>
              <a:ext cx="0" cy="3008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23" name="Line 7">
              <a:extLst>
                <a:ext uri="{FF2B5EF4-FFF2-40B4-BE49-F238E27FC236}">
                  <a16:creationId xmlns:a16="http://schemas.microsoft.com/office/drawing/2014/main" id="{55EAB558-EE2C-D640-4EA7-A809A167879E}"/>
                </a:ext>
              </a:extLst>
            </p:cNvPr>
            <p:cNvSpPr>
              <a:spLocks noChangeShapeType="1"/>
            </p:cNvSpPr>
            <p:nvPr/>
          </p:nvSpPr>
          <p:spPr bwMode="auto">
            <a:xfrm>
              <a:off x="642937" y="5108575"/>
              <a:ext cx="423227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24" name="Line 8">
              <a:extLst>
                <a:ext uri="{FF2B5EF4-FFF2-40B4-BE49-F238E27FC236}">
                  <a16:creationId xmlns:a16="http://schemas.microsoft.com/office/drawing/2014/main" id="{AD281803-588F-6E33-3F47-0DC4FAFFF19E}"/>
                </a:ext>
              </a:extLst>
            </p:cNvPr>
            <p:cNvSpPr>
              <a:spLocks noChangeShapeType="1"/>
            </p:cNvSpPr>
            <p:nvPr/>
          </p:nvSpPr>
          <p:spPr bwMode="auto">
            <a:xfrm>
              <a:off x="652462" y="2455863"/>
              <a:ext cx="3871913" cy="26416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25" name="Text Box 9">
              <a:extLst>
                <a:ext uri="{FF2B5EF4-FFF2-40B4-BE49-F238E27FC236}">
                  <a16:creationId xmlns:a16="http://schemas.microsoft.com/office/drawing/2014/main" id="{0B609984-2634-4CF6-A4FD-7A47C7D3CC4A}"/>
                </a:ext>
              </a:extLst>
            </p:cNvPr>
            <p:cNvSpPr txBox="1">
              <a:spLocks noChangeArrowheads="1"/>
            </p:cNvSpPr>
            <p:nvPr/>
          </p:nvSpPr>
          <p:spPr bwMode="auto">
            <a:xfrm>
              <a:off x="4833937" y="4922838"/>
              <a:ext cx="4238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Q</a:t>
              </a:r>
              <a:endParaRPr lang="en-US" altLang="en-US" dirty="0">
                <a:latin typeface="Source Sans Pro" panose="020B0503030403020204" pitchFamily="34" charset="0"/>
                <a:ea typeface="Source Sans Pro" panose="020B0503030403020204" pitchFamily="34" charset="0"/>
              </a:endParaRPr>
            </a:p>
          </p:txBody>
        </p:sp>
        <p:sp>
          <p:nvSpPr>
            <p:cNvPr id="26" name="Text Box 10">
              <a:extLst>
                <a:ext uri="{FF2B5EF4-FFF2-40B4-BE49-F238E27FC236}">
                  <a16:creationId xmlns:a16="http://schemas.microsoft.com/office/drawing/2014/main" id="{3289AAAC-E909-962A-A864-AB0BC6048283}"/>
                </a:ext>
              </a:extLst>
            </p:cNvPr>
            <p:cNvSpPr txBox="1">
              <a:spLocks noChangeArrowheads="1"/>
            </p:cNvSpPr>
            <p:nvPr/>
          </p:nvSpPr>
          <p:spPr bwMode="auto">
            <a:xfrm>
              <a:off x="276945" y="1831975"/>
              <a:ext cx="3714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P</a:t>
              </a:r>
              <a:endParaRPr lang="en-US" altLang="en-US" dirty="0">
                <a:latin typeface="Source Sans Pro" panose="020B0503030403020204" pitchFamily="34" charset="0"/>
                <a:ea typeface="Source Sans Pro" panose="020B0503030403020204" pitchFamily="34" charset="0"/>
              </a:endParaRPr>
            </a:p>
          </p:txBody>
        </p:sp>
        <p:sp>
          <p:nvSpPr>
            <p:cNvPr id="27" name="Text Box 13">
              <a:extLst>
                <a:ext uri="{FF2B5EF4-FFF2-40B4-BE49-F238E27FC236}">
                  <a16:creationId xmlns:a16="http://schemas.microsoft.com/office/drawing/2014/main" id="{4FD2DB27-A588-04D7-0D44-49C221229B8A}"/>
                </a:ext>
              </a:extLst>
            </p:cNvPr>
            <p:cNvSpPr txBox="1">
              <a:spLocks noChangeArrowheads="1"/>
            </p:cNvSpPr>
            <p:nvPr/>
          </p:nvSpPr>
          <p:spPr bwMode="auto">
            <a:xfrm>
              <a:off x="174335" y="2290763"/>
              <a:ext cx="4619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6</a:t>
              </a:r>
              <a:endParaRPr lang="en-US" altLang="en-US" dirty="0">
                <a:latin typeface="Source Sans Pro" panose="020B0503030403020204" pitchFamily="34" charset="0"/>
                <a:ea typeface="Source Sans Pro" panose="020B0503030403020204" pitchFamily="34" charset="0"/>
              </a:endParaRPr>
            </a:p>
          </p:txBody>
        </p:sp>
        <p:sp>
          <p:nvSpPr>
            <p:cNvPr id="28" name="Text Box 14">
              <a:extLst>
                <a:ext uri="{FF2B5EF4-FFF2-40B4-BE49-F238E27FC236}">
                  <a16:creationId xmlns:a16="http://schemas.microsoft.com/office/drawing/2014/main" id="{48653183-7F62-5187-9020-CE7022678247}"/>
                </a:ext>
              </a:extLst>
            </p:cNvPr>
            <p:cNvSpPr txBox="1">
              <a:spLocks noChangeArrowheads="1"/>
            </p:cNvSpPr>
            <p:nvPr/>
          </p:nvSpPr>
          <p:spPr bwMode="auto">
            <a:xfrm>
              <a:off x="4281487" y="5124739"/>
              <a:ext cx="708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600</a:t>
              </a:r>
              <a:endParaRPr lang="en-US" altLang="en-US" dirty="0">
                <a:latin typeface="Source Sans Pro" panose="020B0503030403020204" pitchFamily="34" charset="0"/>
                <a:ea typeface="Source Sans Pro" panose="020B0503030403020204" pitchFamily="34" charset="0"/>
              </a:endParaRPr>
            </a:p>
          </p:txBody>
        </p:sp>
      </p:grpSp>
      <p:grpSp>
        <p:nvGrpSpPr>
          <p:cNvPr id="29" name="Group 28">
            <a:extLst>
              <a:ext uri="{FF2B5EF4-FFF2-40B4-BE49-F238E27FC236}">
                <a16:creationId xmlns:a16="http://schemas.microsoft.com/office/drawing/2014/main" id="{36FD7455-9FEA-1FE0-352E-C7B561F0B28C}"/>
              </a:ext>
            </a:extLst>
          </p:cNvPr>
          <p:cNvGrpSpPr/>
          <p:nvPr/>
        </p:nvGrpSpPr>
        <p:grpSpPr>
          <a:xfrm>
            <a:off x="1182271" y="3097214"/>
            <a:ext cx="1360778" cy="2392651"/>
            <a:chOff x="188622" y="3097213"/>
            <a:chExt cx="1360778" cy="2392651"/>
          </a:xfrm>
        </p:grpSpPr>
        <p:sp>
          <p:nvSpPr>
            <p:cNvPr id="30" name="Rectangle 4">
              <a:extLst>
                <a:ext uri="{FF2B5EF4-FFF2-40B4-BE49-F238E27FC236}">
                  <a16:creationId xmlns:a16="http://schemas.microsoft.com/office/drawing/2014/main" id="{1B916423-6153-E732-744D-9032BCC1145C}"/>
                </a:ext>
              </a:extLst>
            </p:cNvPr>
            <p:cNvSpPr>
              <a:spLocks noChangeArrowheads="1"/>
            </p:cNvSpPr>
            <p:nvPr/>
          </p:nvSpPr>
          <p:spPr bwMode="auto">
            <a:xfrm>
              <a:off x="657224" y="3284538"/>
              <a:ext cx="407988" cy="1820862"/>
            </a:xfrm>
            <a:prstGeom prst="rect">
              <a:avLst/>
            </a:prstGeom>
            <a:solidFill>
              <a:srgbClr val="67C8C7"/>
            </a:solidFill>
            <a:ln>
              <a:solidFill>
                <a:srgbClr val="67C8C7"/>
              </a:solidFill>
            </a:ln>
            <a:effectLst/>
          </p:spPr>
          <p:txBody>
            <a:bodyPr wrap="none" anchor="ct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sp>
          <p:nvSpPr>
            <p:cNvPr id="39" name="Text Box 12">
              <a:extLst>
                <a:ext uri="{FF2B5EF4-FFF2-40B4-BE49-F238E27FC236}">
                  <a16:creationId xmlns:a16="http://schemas.microsoft.com/office/drawing/2014/main" id="{AB50037A-7502-0D66-8DF7-E9F192FECAAE}"/>
                </a:ext>
              </a:extLst>
            </p:cNvPr>
            <p:cNvSpPr txBox="1">
              <a:spLocks noChangeArrowheads="1"/>
            </p:cNvSpPr>
            <p:nvPr/>
          </p:nvSpPr>
          <p:spPr bwMode="auto">
            <a:xfrm>
              <a:off x="188622" y="3097213"/>
              <a:ext cx="4619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4</a:t>
              </a:r>
              <a:endParaRPr lang="en-US" altLang="en-US" dirty="0">
                <a:latin typeface="Source Sans Pro" panose="020B0503030403020204" pitchFamily="34" charset="0"/>
                <a:ea typeface="Source Sans Pro" panose="020B0503030403020204" pitchFamily="34" charset="0"/>
              </a:endParaRPr>
            </a:p>
          </p:txBody>
        </p:sp>
        <p:sp>
          <p:nvSpPr>
            <p:cNvPr id="40" name="Text Box 17">
              <a:extLst>
                <a:ext uri="{FF2B5EF4-FFF2-40B4-BE49-F238E27FC236}">
                  <a16:creationId xmlns:a16="http://schemas.microsoft.com/office/drawing/2014/main" id="{86B388E8-9BB7-4D45-325F-82C2FE8A4393}"/>
                </a:ext>
              </a:extLst>
            </p:cNvPr>
            <p:cNvSpPr txBox="1">
              <a:spLocks noChangeArrowheads="1"/>
            </p:cNvSpPr>
            <p:nvPr/>
          </p:nvSpPr>
          <p:spPr bwMode="auto">
            <a:xfrm>
              <a:off x="841375" y="5108864"/>
              <a:ext cx="708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30</a:t>
              </a:r>
              <a:endParaRPr lang="en-US" altLang="en-US" dirty="0">
                <a:latin typeface="Source Sans Pro" panose="020B0503030403020204" pitchFamily="34" charset="0"/>
                <a:ea typeface="Source Sans Pro" panose="020B0503030403020204" pitchFamily="34" charset="0"/>
              </a:endParaRPr>
            </a:p>
          </p:txBody>
        </p:sp>
        <p:sp>
          <p:nvSpPr>
            <p:cNvPr id="41" name="Rectangle 23">
              <a:extLst>
                <a:ext uri="{FF2B5EF4-FFF2-40B4-BE49-F238E27FC236}">
                  <a16:creationId xmlns:a16="http://schemas.microsoft.com/office/drawing/2014/main" id="{13A29456-FCBB-0A72-220E-8E6EDA1DBD70}"/>
                </a:ext>
              </a:extLst>
            </p:cNvPr>
            <p:cNvSpPr>
              <a:spLocks noChangeArrowheads="1"/>
            </p:cNvSpPr>
            <p:nvPr/>
          </p:nvSpPr>
          <p:spPr bwMode="auto">
            <a:xfrm>
              <a:off x="657225" y="3286125"/>
              <a:ext cx="406400" cy="1820863"/>
            </a:xfrm>
            <a:prstGeom prst="rect">
              <a:avLst/>
            </a:prstGeom>
            <a:noFill/>
            <a:ln w="9525">
              <a:solidFill>
                <a:schemeClr val="tx1"/>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grpSp>
      <p:sp>
        <p:nvSpPr>
          <p:cNvPr id="42" name="Text Box 27">
            <a:extLst>
              <a:ext uri="{FF2B5EF4-FFF2-40B4-BE49-F238E27FC236}">
                <a16:creationId xmlns:a16="http://schemas.microsoft.com/office/drawing/2014/main" id="{6FD8538B-3CE4-AC83-FB40-8425E0B92745}"/>
              </a:ext>
            </a:extLst>
          </p:cNvPr>
          <p:cNvSpPr txBox="1">
            <a:spLocks noChangeArrowheads="1"/>
          </p:cNvSpPr>
          <p:nvPr/>
        </p:nvSpPr>
        <p:spPr bwMode="auto">
          <a:xfrm>
            <a:off x="6781800" y="1911212"/>
            <a:ext cx="4666488" cy="907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4950" indent="-23495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ts val="0"/>
              </a:spcBef>
              <a:spcAft>
                <a:spcPts val="600"/>
              </a:spcAft>
              <a:buFontTx/>
              <a:buChar char="•"/>
            </a:pPr>
            <a:r>
              <a:rPr lang="en-US" altLang="en-US" dirty="0">
                <a:latin typeface="Source Sans Pro" panose="020B0503030403020204" pitchFamily="34" charset="0"/>
                <a:ea typeface="Source Sans Pro" panose="020B0503030403020204" pitchFamily="34" charset="0"/>
              </a:rPr>
              <a:t>Pay 4¢/min for first 30 minutes</a:t>
            </a:r>
          </a:p>
          <a:p>
            <a:pPr lvl="1" eaLnBrk="1" hangingPunct="1">
              <a:spcBef>
                <a:spcPts val="0"/>
              </a:spcBef>
              <a:spcAft>
                <a:spcPts val="600"/>
              </a:spcAft>
              <a:buFontTx/>
              <a:buChar char="•"/>
            </a:pPr>
            <a:r>
              <a:rPr lang="en-US" altLang="en-US" dirty="0">
                <a:latin typeface="Source Sans Pro" panose="020B0503030403020204" pitchFamily="34" charset="0"/>
                <a:ea typeface="Source Sans Pro" panose="020B0503030403020204" pitchFamily="34" charset="0"/>
              </a:rPr>
              <a:t>Revenue = $1.20</a:t>
            </a:r>
          </a:p>
        </p:txBody>
      </p:sp>
      <p:grpSp>
        <p:nvGrpSpPr>
          <p:cNvPr id="43" name="Group 42">
            <a:extLst>
              <a:ext uri="{FF2B5EF4-FFF2-40B4-BE49-F238E27FC236}">
                <a16:creationId xmlns:a16="http://schemas.microsoft.com/office/drawing/2014/main" id="{5A3F01FC-0032-ED0C-269A-6214F9636CE9}"/>
              </a:ext>
            </a:extLst>
          </p:cNvPr>
          <p:cNvGrpSpPr/>
          <p:nvPr/>
        </p:nvGrpSpPr>
        <p:grpSpPr>
          <a:xfrm>
            <a:off x="1018309" y="5743365"/>
            <a:ext cx="9975273" cy="984885"/>
            <a:chOff x="685800" y="5808996"/>
            <a:chExt cx="7391400" cy="845459"/>
          </a:xfrm>
        </p:grpSpPr>
        <p:grpSp>
          <p:nvGrpSpPr>
            <p:cNvPr id="44" name="Group 43">
              <a:extLst>
                <a:ext uri="{FF2B5EF4-FFF2-40B4-BE49-F238E27FC236}">
                  <a16:creationId xmlns:a16="http://schemas.microsoft.com/office/drawing/2014/main" id="{EC598EDC-E123-89DC-059E-F3221AC884E0}"/>
                </a:ext>
              </a:extLst>
            </p:cNvPr>
            <p:cNvGrpSpPr/>
            <p:nvPr/>
          </p:nvGrpSpPr>
          <p:grpSpPr>
            <a:xfrm>
              <a:off x="685800" y="5808996"/>
              <a:ext cx="7391400" cy="736810"/>
              <a:chOff x="685800" y="5625180"/>
              <a:chExt cx="7391400" cy="676451"/>
            </a:xfrm>
            <a:solidFill>
              <a:srgbClr val="C8C8C8"/>
            </a:solidFill>
          </p:grpSpPr>
          <p:sp>
            <p:nvSpPr>
              <p:cNvPr id="46" name="Rounded Rectangle 45">
                <a:extLst>
                  <a:ext uri="{FF2B5EF4-FFF2-40B4-BE49-F238E27FC236}">
                    <a16:creationId xmlns:a16="http://schemas.microsoft.com/office/drawing/2014/main" id="{A768BBFC-A536-6989-055E-AD01CEDE6875}"/>
                  </a:ext>
                </a:extLst>
              </p:cNvPr>
              <p:cNvSpPr/>
              <p:nvPr/>
            </p:nvSpPr>
            <p:spPr>
              <a:xfrm>
                <a:off x="685800" y="5759655"/>
                <a:ext cx="7391400" cy="415535"/>
              </a:xfrm>
              <a:prstGeom prst="roundRect">
                <a:avLst/>
              </a:prstGeom>
              <a:grp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rgbClr val="C8C8C8"/>
                  </a:solidFill>
                  <a:latin typeface="Source Sans Pro" panose="020B0503030403020204" pitchFamily="34" charset="0"/>
                  <a:ea typeface="Source Sans Pro" panose="020B0503030403020204" pitchFamily="34" charset="0"/>
                </a:endParaRPr>
              </a:p>
            </p:txBody>
          </p:sp>
          <p:sp>
            <p:nvSpPr>
              <p:cNvPr id="47" name="Oval 46">
                <a:extLst>
                  <a:ext uri="{FF2B5EF4-FFF2-40B4-BE49-F238E27FC236}">
                    <a16:creationId xmlns:a16="http://schemas.microsoft.com/office/drawing/2014/main" id="{E1DD222D-26B1-8FE4-915E-7B5E8B1B6923}"/>
                  </a:ext>
                </a:extLst>
              </p:cNvPr>
              <p:cNvSpPr/>
              <p:nvPr/>
            </p:nvSpPr>
            <p:spPr>
              <a:xfrm>
                <a:off x="685800" y="5625180"/>
                <a:ext cx="7391400" cy="311651"/>
              </a:xfrm>
              <a:prstGeom prst="ellipse">
                <a:avLst/>
              </a:prstGeom>
              <a:grp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rgbClr val="C8C8C8"/>
                  </a:solidFill>
                  <a:latin typeface="Source Sans Pro" panose="020B0503030403020204" pitchFamily="34" charset="0"/>
                  <a:ea typeface="Source Sans Pro" panose="020B0503030403020204" pitchFamily="34" charset="0"/>
                </a:endParaRPr>
              </a:p>
            </p:txBody>
          </p:sp>
          <p:sp>
            <p:nvSpPr>
              <p:cNvPr id="48" name="Oval 47">
                <a:extLst>
                  <a:ext uri="{FF2B5EF4-FFF2-40B4-BE49-F238E27FC236}">
                    <a16:creationId xmlns:a16="http://schemas.microsoft.com/office/drawing/2014/main" id="{48C16629-C2D2-AEEB-3D75-964388B799BC}"/>
                  </a:ext>
                </a:extLst>
              </p:cNvPr>
              <p:cNvSpPr/>
              <p:nvPr/>
            </p:nvSpPr>
            <p:spPr>
              <a:xfrm>
                <a:off x="685800" y="5989980"/>
                <a:ext cx="7391400" cy="311651"/>
              </a:xfrm>
              <a:prstGeom prst="ellipse">
                <a:avLst/>
              </a:prstGeom>
              <a:grp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rgbClr val="C8C8C8"/>
                  </a:solidFill>
                  <a:latin typeface="Source Sans Pro" panose="020B0503030403020204" pitchFamily="34" charset="0"/>
                  <a:ea typeface="Source Sans Pro" panose="020B0503030403020204" pitchFamily="34" charset="0"/>
                </a:endParaRPr>
              </a:p>
            </p:txBody>
          </p:sp>
        </p:grpSp>
        <p:sp>
          <p:nvSpPr>
            <p:cNvPr id="45" name="Rectangle 44">
              <a:extLst>
                <a:ext uri="{FF2B5EF4-FFF2-40B4-BE49-F238E27FC236}">
                  <a16:creationId xmlns:a16="http://schemas.microsoft.com/office/drawing/2014/main" id="{9CADF149-8656-74F2-EF17-67269B627CF0}"/>
                </a:ext>
              </a:extLst>
            </p:cNvPr>
            <p:cNvSpPr/>
            <p:nvPr/>
          </p:nvSpPr>
          <p:spPr>
            <a:xfrm>
              <a:off x="685800" y="5823458"/>
              <a:ext cx="7391400" cy="830997"/>
            </a:xfrm>
            <a:prstGeom prst="rect">
              <a:avLst/>
            </a:prstGeom>
          </p:spPr>
          <p:txBody>
            <a:bodyPr wrap="square">
              <a:spAutoFit/>
            </a:bodyPr>
            <a:lstStyle/>
            <a:p>
              <a:pPr algn="ctr">
                <a:spcBef>
                  <a:spcPct val="50000"/>
                </a:spcBef>
                <a:defRPr/>
              </a:pPr>
              <a:r>
                <a:rPr lang="en-US" sz="2400" dirty="0">
                  <a:latin typeface="Source Sans Pro" panose="020B0503030403020204" pitchFamily="34" charset="0"/>
                  <a:ea typeface="Source Sans Pro" panose="020B0503030403020204" pitchFamily="34" charset="0"/>
                  <a:cs typeface="ＭＳ Ｐゴシック" charset="0"/>
                </a:rPr>
                <a:t>Could you alter this plan and raise more money from Undergraduates </a:t>
              </a:r>
              <a:r>
                <a:rPr lang="en-US" sz="2400" b="1" dirty="0">
                  <a:latin typeface="Source Sans Pro" panose="020B0503030403020204" pitchFamily="34" charset="0"/>
                  <a:ea typeface="Source Sans Pro" panose="020B0503030403020204" pitchFamily="34" charset="0"/>
                  <a:cs typeface="ＭＳ Ｐゴシック" charset="0"/>
                </a:rPr>
                <a:t>without an effect </a:t>
              </a:r>
              <a:r>
                <a:rPr lang="en-US" sz="2400" dirty="0">
                  <a:latin typeface="Source Sans Pro" panose="020B0503030403020204" pitchFamily="34" charset="0"/>
                  <a:ea typeface="Source Sans Pro" panose="020B0503030403020204" pitchFamily="34" charset="0"/>
                  <a:cs typeface="ＭＳ Ｐゴシック" charset="0"/>
                </a:rPr>
                <a:t>on MBAs?</a:t>
              </a:r>
            </a:p>
          </p:txBody>
        </p:sp>
      </p:grpSp>
      <p:sp>
        <p:nvSpPr>
          <p:cNvPr id="49" name="Text Box 27">
            <a:extLst>
              <a:ext uri="{FF2B5EF4-FFF2-40B4-BE49-F238E27FC236}">
                <a16:creationId xmlns:a16="http://schemas.microsoft.com/office/drawing/2014/main" id="{95688CC3-D087-A87C-1D21-70613C9C25FB}"/>
              </a:ext>
            </a:extLst>
          </p:cNvPr>
          <p:cNvSpPr txBox="1">
            <a:spLocks noChangeArrowheads="1"/>
          </p:cNvSpPr>
          <p:nvPr/>
        </p:nvSpPr>
        <p:spPr bwMode="auto">
          <a:xfrm>
            <a:off x="6781800" y="2778276"/>
            <a:ext cx="4666488" cy="907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4950" indent="-23495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ts val="0"/>
              </a:spcBef>
              <a:spcAft>
                <a:spcPts val="600"/>
              </a:spcAft>
              <a:buFontTx/>
              <a:buChar char="•"/>
            </a:pPr>
            <a:r>
              <a:rPr lang="en-US" altLang="en-US" dirty="0">
                <a:latin typeface="Source Sans Pro" panose="020B0503030403020204" pitchFamily="34" charset="0"/>
                <a:ea typeface="Source Sans Pro" panose="020B0503030403020204" pitchFamily="34" charset="0"/>
              </a:rPr>
              <a:t>Pay 3¢/min for next 270 minutes</a:t>
            </a:r>
          </a:p>
          <a:p>
            <a:pPr lvl="1" eaLnBrk="1" hangingPunct="1">
              <a:spcBef>
                <a:spcPts val="0"/>
              </a:spcBef>
              <a:spcAft>
                <a:spcPts val="600"/>
              </a:spcAft>
              <a:buFontTx/>
              <a:buChar char="•"/>
            </a:pPr>
            <a:r>
              <a:rPr lang="en-US" altLang="en-US" dirty="0">
                <a:latin typeface="Source Sans Pro" panose="020B0503030403020204" pitchFamily="34" charset="0"/>
                <a:ea typeface="Source Sans Pro" panose="020B0503030403020204" pitchFamily="34" charset="0"/>
              </a:rPr>
              <a:t>Revenue = $8.10</a:t>
            </a:r>
          </a:p>
        </p:txBody>
      </p:sp>
      <p:sp>
        <p:nvSpPr>
          <p:cNvPr id="50" name="Text Box 27">
            <a:extLst>
              <a:ext uri="{FF2B5EF4-FFF2-40B4-BE49-F238E27FC236}">
                <a16:creationId xmlns:a16="http://schemas.microsoft.com/office/drawing/2014/main" id="{326E121F-55B4-EB91-E502-7C95E0C70098}"/>
              </a:ext>
            </a:extLst>
          </p:cNvPr>
          <p:cNvSpPr txBox="1">
            <a:spLocks noChangeArrowheads="1"/>
          </p:cNvSpPr>
          <p:nvPr/>
        </p:nvSpPr>
        <p:spPr bwMode="auto">
          <a:xfrm>
            <a:off x="6781800" y="3645340"/>
            <a:ext cx="4666488" cy="907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4950" indent="-23495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ts val="0"/>
              </a:spcBef>
              <a:spcAft>
                <a:spcPts val="600"/>
              </a:spcAft>
              <a:buFontTx/>
              <a:buChar char="•"/>
            </a:pPr>
            <a:r>
              <a:rPr lang="en-US" altLang="en-US">
                <a:latin typeface="Source Sans Pro" panose="020B0503030403020204" pitchFamily="34" charset="0"/>
                <a:ea typeface="Source Sans Pro" panose="020B0503030403020204" pitchFamily="34" charset="0"/>
              </a:rPr>
              <a:t>Pay 2¢/</a:t>
            </a:r>
            <a:r>
              <a:rPr lang="en-US" altLang="en-US" dirty="0">
                <a:latin typeface="Source Sans Pro" panose="020B0503030403020204" pitchFamily="34" charset="0"/>
                <a:ea typeface="Source Sans Pro" panose="020B0503030403020204" pitchFamily="34" charset="0"/>
              </a:rPr>
              <a:t>min for next 100 minutes</a:t>
            </a:r>
          </a:p>
          <a:p>
            <a:pPr lvl="1" eaLnBrk="1" hangingPunct="1">
              <a:spcBef>
                <a:spcPts val="0"/>
              </a:spcBef>
              <a:spcAft>
                <a:spcPts val="600"/>
              </a:spcAft>
              <a:buFontTx/>
              <a:buChar char="•"/>
            </a:pPr>
            <a:r>
              <a:rPr lang="en-US" altLang="en-US" dirty="0">
                <a:latin typeface="Source Sans Pro" panose="020B0503030403020204" pitchFamily="34" charset="0"/>
                <a:ea typeface="Source Sans Pro" panose="020B0503030403020204" pitchFamily="34" charset="0"/>
              </a:rPr>
              <a:t>Revenue = $2.00</a:t>
            </a:r>
          </a:p>
        </p:txBody>
      </p:sp>
      <p:sp>
        <p:nvSpPr>
          <p:cNvPr id="51" name="Text Box 27">
            <a:extLst>
              <a:ext uri="{FF2B5EF4-FFF2-40B4-BE49-F238E27FC236}">
                <a16:creationId xmlns:a16="http://schemas.microsoft.com/office/drawing/2014/main" id="{00122403-B661-6449-307D-799C6978A20A}"/>
              </a:ext>
            </a:extLst>
          </p:cNvPr>
          <p:cNvSpPr txBox="1">
            <a:spLocks noChangeArrowheads="1"/>
          </p:cNvSpPr>
          <p:nvPr/>
        </p:nvSpPr>
        <p:spPr bwMode="auto">
          <a:xfrm>
            <a:off x="6781800" y="4512404"/>
            <a:ext cx="4666488" cy="907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34950" indent="-23495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ts val="0"/>
              </a:spcBef>
              <a:spcAft>
                <a:spcPts val="600"/>
              </a:spcAft>
              <a:buFontTx/>
              <a:buChar char="•"/>
            </a:pPr>
            <a:r>
              <a:rPr lang="en-US" altLang="en-US" dirty="0">
                <a:latin typeface="Source Sans Pro" panose="020B0503030403020204" pitchFamily="34" charset="0"/>
                <a:ea typeface="Source Sans Pro" panose="020B0503030403020204" pitchFamily="34" charset="0"/>
              </a:rPr>
              <a:t>Total revenue = $11.30</a:t>
            </a:r>
          </a:p>
          <a:p>
            <a:pPr lvl="1" eaLnBrk="1" hangingPunct="1">
              <a:spcBef>
                <a:spcPts val="0"/>
              </a:spcBef>
              <a:spcAft>
                <a:spcPts val="600"/>
              </a:spcAft>
              <a:buFontTx/>
              <a:buChar char="•"/>
            </a:pPr>
            <a:r>
              <a:rPr lang="en-US" altLang="en-US" dirty="0">
                <a:latin typeface="Source Sans Pro" panose="020B0503030403020204" pitchFamily="34" charset="0"/>
                <a:ea typeface="Source Sans Pro" panose="020B0503030403020204" pitchFamily="34" charset="0"/>
              </a:rPr>
              <a:t>Up from $9</a:t>
            </a:r>
          </a:p>
        </p:txBody>
      </p:sp>
      <p:sp>
        <p:nvSpPr>
          <p:cNvPr id="52" name="Speech Bubble: Rectangle with Corners Rounded 6">
            <a:extLst>
              <a:ext uri="{FF2B5EF4-FFF2-40B4-BE49-F238E27FC236}">
                <a16:creationId xmlns:a16="http://schemas.microsoft.com/office/drawing/2014/main" id="{44C220BB-DF34-927B-0113-552F6DBF986B}"/>
              </a:ext>
            </a:extLst>
          </p:cNvPr>
          <p:cNvSpPr/>
          <p:nvPr/>
        </p:nvSpPr>
        <p:spPr>
          <a:xfrm>
            <a:off x="2057133" y="2108201"/>
            <a:ext cx="789921" cy="468073"/>
          </a:xfrm>
          <a:prstGeom prst="wedgeRoundRectCallout">
            <a:avLst>
              <a:gd name="adj1" fmla="val -44511"/>
              <a:gd name="adj2" fmla="val 75819"/>
              <a:gd name="adj3" fmla="val 16667"/>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kern="0" dirty="0">
                <a:latin typeface="Source Sans Pro" panose="020B0503030403020204" pitchFamily="34" charset="0"/>
                <a:ea typeface="Source Sans Pro" panose="020B0503030403020204" pitchFamily="34" charset="0"/>
              </a:rPr>
              <a:t>5.7¢</a:t>
            </a:r>
            <a:endParaRPr lang="en-US" sz="2400" dirty="0"/>
          </a:p>
        </p:txBody>
      </p:sp>
      <p:sp>
        <p:nvSpPr>
          <p:cNvPr id="53" name="Rectangle 3">
            <a:extLst>
              <a:ext uri="{FF2B5EF4-FFF2-40B4-BE49-F238E27FC236}">
                <a16:creationId xmlns:a16="http://schemas.microsoft.com/office/drawing/2014/main" id="{CAF171A7-15CB-5B1B-33EF-B51333FFB61A}"/>
              </a:ext>
            </a:extLst>
          </p:cNvPr>
          <p:cNvSpPr txBox="1">
            <a:spLocks noChangeArrowheads="1"/>
          </p:cNvSpPr>
          <p:nvPr/>
        </p:nvSpPr>
        <p:spPr bwMode="auto">
          <a:xfrm>
            <a:off x="457200" y="810491"/>
            <a:ext cx="967740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dirty="0"/>
              <a:t>For Undergrads, the pricing plan has the following effect</a:t>
            </a:r>
          </a:p>
          <a:p>
            <a:pPr lvl="1"/>
            <a:r>
              <a:rPr lang="en-US" altLang="en-US" kern="0" dirty="0"/>
              <a:t>4¢/min.: &lt; 30 min., 3¢/min.: 30 - 300 min., 2¢/min.: &gt; 300 min.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9" grpId="0"/>
      <p:bldP spid="50" grpId="0"/>
      <p:bldP spid="51" grpId="0"/>
      <p:bldP spid="52"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en-US" altLang="en-US" dirty="0"/>
              <a:t>Example: Cell phone</a:t>
            </a:r>
          </a:p>
        </p:txBody>
      </p:sp>
      <p:sp>
        <p:nvSpPr>
          <p:cNvPr id="471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F89F62B8-69A0-4274-867D-1986504EE40D}" type="slidenum">
              <a:rPr lang="en-US" altLang="en-US" sz="1400">
                <a:latin typeface="Source Sans Pro" panose="020B0503030403020204" pitchFamily="34" charset="0"/>
                <a:ea typeface="Source Sans Pro" panose="020B0503030403020204" pitchFamily="34" charset="0"/>
              </a:rPr>
              <a:pPr eaLnBrk="1" hangingPunct="1"/>
              <a:t>52</a:t>
            </a:fld>
            <a:endParaRPr lang="en-US" altLang="en-US" sz="1400" dirty="0">
              <a:latin typeface="Source Sans Pro" panose="020B0503030403020204" pitchFamily="34" charset="0"/>
              <a:ea typeface="Source Sans Pro" panose="020B0503030403020204" pitchFamily="34" charset="0"/>
            </a:endParaRPr>
          </a:p>
        </p:txBody>
      </p:sp>
      <p:grpSp>
        <p:nvGrpSpPr>
          <p:cNvPr id="6" name="Group 5">
            <a:extLst>
              <a:ext uri="{FF2B5EF4-FFF2-40B4-BE49-F238E27FC236}">
                <a16:creationId xmlns:a16="http://schemas.microsoft.com/office/drawing/2014/main" id="{099D12FC-EFC7-EE75-A270-AFCACA455B1B}"/>
              </a:ext>
            </a:extLst>
          </p:cNvPr>
          <p:cNvGrpSpPr/>
          <p:nvPr/>
        </p:nvGrpSpPr>
        <p:grpSpPr>
          <a:xfrm>
            <a:off x="10539947" y="123520"/>
            <a:ext cx="1396536" cy="338554"/>
            <a:chOff x="10539947" y="123520"/>
            <a:chExt cx="1396536" cy="338554"/>
          </a:xfrm>
        </p:grpSpPr>
        <p:sp>
          <p:nvSpPr>
            <p:cNvPr id="7" name="TextBox 6">
              <a:extLst>
                <a:ext uri="{FF2B5EF4-FFF2-40B4-BE49-F238E27FC236}">
                  <a16:creationId xmlns:a16="http://schemas.microsoft.com/office/drawing/2014/main" id="{350DE5AC-3078-5378-D87A-F4BAE39D0091}"/>
                </a:ext>
              </a:extLst>
            </p:cNvPr>
            <p:cNvSpPr txBox="1"/>
            <p:nvPr/>
          </p:nvSpPr>
          <p:spPr>
            <a:xfrm>
              <a:off x="10539947" y="123520"/>
              <a:ext cx="1396536"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2</a:t>
              </a:r>
              <a:r>
                <a:rPr lang="en-US" sz="1600" baseline="30000" dirty="0">
                  <a:latin typeface="Source Sans Pro" panose="020B0503030403020204" pitchFamily="34" charset="0"/>
                  <a:ea typeface="Source Sans Pro" panose="020B0503030403020204" pitchFamily="34" charset="0"/>
                </a:rPr>
                <a:t>nd</a:t>
              </a:r>
              <a:r>
                <a:rPr lang="en-US" sz="1600" dirty="0">
                  <a:latin typeface="Source Sans Pro" panose="020B0503030403020204" pitchFamily="34" charset="0"/>
                  <a:ea typeface="Source Sans Pro" panose="020B0503030403020204" pitchFamily="34" charset="0"/>
                </a:rPr>
                <a:t> degree PD</a:t>
              </a:r>
            </a:p>
          </p:txBody>
        </p:sp>
        <p:cxnSp>
          <p:nvCxnSpPr>
            <p:cNvPr id="8" name="Straight Connector 7">
              <a:extLst>
                <a:ext uri="{FF2B5EF4-FFF2-40B4-BE49-F238E27FC236}">
                  <a16:creationId xmlns:a16="http://schemas.microsoft.com/office/drawing/2014/main" id="{B967E4FF-8596-2AD5-1B3D-A4554F3D8F60}"/>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096427E-A2C3-2088-FD03-7EBF5C3D5039}"/>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2" name="Rectangle 3">
            <a:extLst>
              <a:ext uri="{FF2B5EF4-FFF2-40B4-BE49-F238E27FC236}">
                <a16:creationId xmlns:a16="http://schemas.microsoft.com/office/drawing/2014/main" id="{D43E8D7F-72F0-F4F1-FCBE-EED59FF297DD}"/>
              </a:ext>
            </a:extLst>
          </p:cNvPr>
          <p:cNvSpPr txBox="1">
            <a:spLocks noChangeArrowheads="1"/>
          </p:cNvSpPr>
          <p:nvPr/>
        </p:nvSpPr>
        <p:spPr bwMode="auto">
          <a:xfrm>
            <a:off x="1132609" y="1324353"/>
            <a:ext cx="9746674" cy="381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t>What has happened under the new cell phone pricing scheme?</a:t>
            </a:r>
          </a:p>
          <a:p>
            <a:pPr marL="914400" lvl="1" indent="-457200">
              <a:buFont typeface="+mj-lt"/>
              <a:buAutoNum type="arabicPeriod"/>
            </a:pPr>
            <a:r>
              <a:rPr lang="en-US" altLang="en-US" kern="0"/>
              <a:t>Firm successfully </a:t>
            </a:r>
            <a:r>
              <a:rPr lang="en-US" altLang="en-US" b="1" kern="0"/>
              <a:t>separated types </a:t>
            </a:r>
            <a:r>
              <a:rPr lang="en-US" altLang="en-US" kern="0"/>
              <a:t>of consumer</a:t>
            </a:r>
          </a:p>
          <a:p>
            <a:pPr marL="914400" lvl="1" indent="-457200">
              <a:buFont typeface="+mj-lt"/>
              <a:buAutoNum type="arabicPeriod"/>
            </a:pPr>
            <a:r>
              <a:rPr lang="en-US" altLang="en-US" kern="0"/>
              <a:t>Firm took back </a:t>
            </a:r>
            <a:r>
              <a:rPr lang="en-US" altLang="en-US" b="1" kern="0"/>
              <a:t>some consumer surplus </a:t>
            </a:r>
            <a:r>
              <a:rPr lang="en-US" altLang="en-US" kern="0"/>
              <a:t>on the first 30 minutes of calls per month</a:t>
            </a:r>
          </a:p>
          <a:p>
            <a:r>
              <a:rPr lang="en-US" altLang="en-US" kern="0"/>
              <a:t>Outcomes reflect important components of 2</a:t>
            </a:r>
            <a:r>
              <a:rPr lang="en-US" altLang="en-US" kern="0" baseline="30000"/>
              <a:t>nd</a:t>
            </a:r>
            <a:r>
              <a:rPr lang="en-US" altLang="en-US" kern="0"/>
              <a:t> price discrimination</a:t>
            </a:r>
          </a:p>
          <a:p>
            <a:pPr lvl="1"/>
            <a:r>
              <a:rPr lang="en-US" altLang="en-US" b="1" kern="0"/>
              <a:t>Voluntary separation </a:t>
            </a:r>
            <a:r>
              <a:rPr lang="en-US" altLang="en-US" kern="0"/>
              <a:t>of consumers by their own purchasing behavior</a:t>
            </a:r>
          </a:p>
          <a:p>
            <a:pPr lvl="1"/>
            <a:r>
              <a:rPr lang="en-US" altLang="en-US" kern="0"/>
              <a:t>Construction of prices to </a:t>
            </a:r>
            <a:r>
              <a:rPr lang="en-US" altLang="en-US" b="1" kern="0"/>
              <a:t>reduce consumer surplus</a:t>
            </a:r>
            <a:endParaRPr lang="en-US" altLang="en-US" b="1" kern="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en-US" altLang="en-US" dirty="0"/>
              <a:t>Example: Broadway ticket prices</a:t>
            </a:r>
          </a:p>
        </p:txBody>
      </p:sp>
      <p:sp>
        <p:nvSpPr>
          <p:cNvPr id="481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A0262E9-CB11-4073-AFAC-6C7C3A63E075}" type="slidenum">
              <a:rPr lang="en-US" altLang="en-US" sz="1400">
                <a:latin typeface="Source Sans Pro" panose="020B0503030403020204" pitchFamily="34" charset="0"/>
                <a:ea typeface="Source Sans Pro" panose="020B0503030403020204" pitchFamily="34" charset="0"/>
              </a:rPr>
              <a:pPr eaLnBrk="1" hangingPunct="1"/>
              <a:t>53</a:t>
            </a:fld>
            <a:endParaRPr lang="en-US" altLang="en-US" sz="1400" dirty="0">
              <a:latin typeface="Source Sans Pro" panose="020B0503030403020204" pitchFamily="34" charset="0"/>
              <a:ea typeface="Source Sans Pro" panose="020B0503030403020204" pitchFamily="34" charset="0"/>
            </a:endParaRPr>
          </a:p>
        </p:txBody>
      </p:sp>
      <p:sp>
        <p:nvSpPr>
          <p:cNvPr id="6" name="TextBox 5"/>
          <p:cNvSpPr txBox="1"/>
          <p:nvPr/>
        </p:nvSpPr>
        <p:spPr>
          <a:xfrm>
            <a:off x="103633" y="6499213"/>
            <a:ext cx="8229600" cy="276999"/>
          </a:xfrm>
          <a:prstGeom prst="rect">
            <a:avLst/>
          </a:prstGeom>
          <a:noFill/>
        </p:spPr>
        <p:txBody>
          <a:bodyPr wrap="square" rtlCol="0">
            <a:spAutoFit/>
          </a:bodyPr>
          <a:lstStyle/>
          <a:p>
            <a:r>
              <a:rPr lang="en-US" sz="1200" dirty="0">
                <a:latin typeface="Source Sans Pro" panose="020B0503030403020204" pitchFamily="34" charset="0"/>
                <a:ea typeface="Source Sans Pro" panose="020B0503030403020204" pitchFamily="34" charset="0"/>
              </a:rPr>
              <a:t>Source: Hal Varian, “Raising the curtain on the dynamics of pricing tickets for Broadway shows,” NYT, January 13, 2005</a:t>
            </a:r>
          </a:p>
        </p:txBody>
      </p:sp>
      <p:grpSp>
        <p:nvGrpSpPr>
          <p:cNvPr id="12" name="Group 11">
            <a:extLst>
              <a:ext uri="{FF2B5EF4-FFF2-40B4-BE49-F238E27FC236}">
                <a16:creationId xmlns:a16="http://schemas.microsoft.com/office/drawing/2014/main" id="{099D12FC-EFC7-EE75-A270-AFCACA455B1B}"/>
              </a:ext>
            </a:extLst>
          </p:cNvPr>
          <p:cNvGrpSpPr/>
          <p:nvPr/>
        </p:nvGrpSpPr>
        <p:grpSpPr>
          <a:xfrm>
            <a:off x="10539947" y="123520"/>
            <a:ext cx="1396536" cy="338554"/>
            <a:chOff x="10539947" y="123520"/>
            <a:chExt cx="1396536" cy="338554"/>
          </a:xfrm>
        </p:grpSpPr>
        <p:sp>
          <p:nvSpPr>
            <p:cNvPr id="13" name="TextBox 12">
              <a:extLst>
                <a:ext uri="{FF2B5EF4-FFF2-40B4-BE49-F238E27FC236}">
                  <a16:creationId xmlns:a16="http://schemas.microsoft.com/office/drawing/2014/main" id="{350DE5AC-3078-5378-D87A-F4BAE39D0091}"/>
                </a:ext>
              </a:extLst>
            </p:cNvPr>
            <p:cNvSpPr txBox="1"/>
            <p:nvPr/>
          </p:nvSpPr>
          <p:spPr>
            <a:xfrm>
              <a:off x="10539947" y="123520"/>
              <a:ext cx="1396536" cy="338554"/>
            </a:xfrm>
            <a:prstGeom prst="rect">
              <a:avLst/>
            </a:prstGeom>
            <a:noFill/>
          </p:spPr>
          <p:txBody>
            <a:bodyPr wrap="none" rtlCol="0">
              <a:spAutoFit/>
            </a:bodyPr>
            <a:lstStyle/>
            <a:p>
              <a:pPr algn="ctr"/>
              <a:r>
                <a:rPr lang="en-US" sz="1600" dirty="0">
                  <a:latin typeface="Source Sans Pro" panose="020B0503030403020204" pitchFamily="34" charset="0"/>
                  <a:ea typeface="Source Sans Pro" panose="020B0503030403020204" pitchFamily="34" charset="0"/>
                </a:rPr>
                <a:t>2</a:t>
              </a:r>
              <a:r>
                <a:rPr lang="en-US" sz="1600" baseline="30000" dirty="0">
                  <a:latin typeface="Source Sans Pro" panose="020B0503030403020204" pitchFamily="34" charset="0"/>
                  <a:ea typeface="Source Sans Pro" panose="020B0503030403020204" pitchFamily="34" charset="0"/>
                </a:rPr>
                <a:t>nd</a:t>
              </a:r>
              <a:r>
                <a:rPr lang="en-US" sz="1600" dirty="0">
                  <a:latin typeface="Source Sans Pro" panose="020B0503030403020204" pitchFamily="34" charset="0"/>
                  <a:ea typeface="Source Sans Pro" panose="020B0503030403020204" pitchFamily="34" charset="0"/>
                </a:rPr>
                <a:t> degree PD</a:t>
              </a:r>
            </a:p>
          </p:txBody>
        </p:sp>
        <p:cxnSp>
          <p:nvCxnSpPr>
            <p:cNvPr id="14" name="Straight Connector 13">
              <a:extLst>
                <a:ext uri="{FF2B5EF4-FFF2-40B4-BE49-F238E27FC236}">
                  <a16:creationId xmlns:a16="http://schemas.microsoft.com/office/drawing/2014/main" id="{B967E4FF-8596-2AD5-1B3D-A4554F3D8F60}"/>
                </a:ext>
              </a:extLst>
            </p:cNvPr>
            <p:cNvCxnSpPr/>
            <p:nvPr/>
          </p:nvCxnSpPr>
          <p:spPr>
            <a:xfrm>
              <a:off x="10591754" y="458016"/>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096427E-A2C3-2088-FD03-7EBF5C3D5039}"/>
                </a:ext>
              </a:extLst>
            </p:cNvPr>
            <p:cNvCxnSpPr/>
            <p:nvPr/>
          </p:nvCxnSpPr>
          <p:spPr>
            <a:xfrm>
              <a:off x="10591754" y="127578"/>
              <a:ext cx="1248202" cy="0"/>
            </a:xfrm>
            <a:prstGeom prst="line">
              <a:avLst/>
            </a:prstGeom>
            <a:ln w="19050">
              <a:solidFill>
                <a:srgbClr val="67C8C7"/>
              </a:solidFill>
            </a:ln>
          </p:spPr>
          <p:style>
            <a:lnRef idx="1">
              <a:schemeClr val="accent1"/>
            </a:lnRef>
            <a:fillRef idx="0">
              <a:schemeClr val="accent1"/>
            </a:fillRef>
            <a:effectRef idx="0">
              <a:schemeClr val="accent1"/>
            </a:effectRef>
            <a:fontRef idx="minor">
              <a:schemeClr val="tx1"/>
            </a:fontRef>
          </p:style>
        </p:cxnSp>
      </p:grpSp>
      <p:sp>
        <p:nvSpPr>
          <p:cNvPr id="2" name="Rectangle 3">
            <a:extLst>
              <a:ext uri="{FF2B5EF4-FFF2-40B4-BE49-F238E27FC236}">
                <a16:creationId xmlns:a16="http://schemas.microsoft.com/office/drawing/2014/main" id="{4DAB4529-41D7-76BD-C600-3D2867CFA777}"/>
              </a:ext>
            </a:extLst>
          </p:cNvPr>
          <p:cNvSpPr txBox="1">
            <a:spLocks noChangeArrowheads="1"/>
          </p:cNvSpPr>
          <p:nvPr/>
        </p:nvSpPr>
        <p:spPr bwMode="auto">
          <a:xfrm>
            <a:off x="760476" y="1355593"/>
            <a:ext cx="10671048"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spcBef>
                <a:spcPct val="25000"/>
              </a:spcBef>
              <a:spcAft>
                <a:spcPct val="25000"/>
              </a:spcAft>
            </a:pPr>
            <a:r>
              <a:rPr lang="en-US" altLang="en-US" kern="0" dirty="0">
                <a:ea typeface="ＭＳ Ｐゴシック" pitchFamily="34" charset="-128"/>
              </a:rPr>
              <a:t>How Broadway producers use </a:t>
            </a:r>
            <a:r>
              <a:rPr lang="en-US" altLang="en-US" b="1" kern="0" dirty="0">
                <a:ea typeface="ＭＳ Ｐゴシック" pitchFamily="34" charset="-128"/>
              </a:rPr>
              <a:t>variation in ticket quality </a:t>
            </a:r>
            <a:r>
              <a:rPr lang="en-US" altLang="en-US" kern="0" dirty="0">
                <a:ea typeface="ＭＳ Ｐゴシック" pitchFamily="34" charset="-128"/>
              </a:rPr>
              <a:t>(i.e., where the seat is) as a type of second-degree price discrimination?</a:t>
            </a:r>
          </a:p>
          <a:p>
            <a:pPr lvl="1">
              <a:spcBef>
                <a:spcPct val="25000"/>
              </a:spcBef>
              <a:spcAft>
                <a:spcPct val="25000"/>
              </a:spcAft>
            </a:pPr>
            <a:r>
              <a:rPr lang="en-US" altLang="en-US" kern="0" dirty="0">
                <a:ea typeface="ＭＳ Ｐゴシック" pitchFamily="34" charset="-128"/>
              </a:rPr>
              <a:t>Why?</a:t>
            </a:r>
          </a:p>
          <a:p>
            <a:pPr>
              <a:spcBef>
                <a:spcPct val="25000"/>
              </a:spcBef>
              <a:spcAft>
                <a:spcPct val="25000"/>
              </a:spcAft>
            </a:pPr>
            <a:r>
              <a:rPr lang="en-US" altLang="en-US" kern="0" dirty="0">
                <a:ea typeface="ＭＳ Ｐゴシック" pitchFamily="34" charset="-128"/>
              </a:rPr>
              <a:t>How does the </a:t>
            </a:r>
            <a:r>
              <a:rPr lang="en-US" altLang="en-US" b="1" kern="0" dirty="0">
                <a:ea typeface="ＭＳ Ｐゴシック" pitchFamily="34" charset="-128"/>
              </a:rPr>
              <a:t>TKTS booth </a:t>
            </a:r>
            <a:r>
              <a:rPr lang="en-US" altLang="en-US" kern="0" dirty="0">
                <a:ea typeface="ＭＳ Ｐゴシック" pitchFamily="34" charset="-128"/>
              </a:rPr>
              <a:t>(day-of-show discounts) facilitate price discrimination?</a:t>
            </a:r>
          </a:p>
          <a:p>
            <a:pPr lvl="1">
              <a:spcBef>
                <a:spcPct val="25000"/>
              </a:spcBef>
              <a:spcAft>
                <a:spcPct val="25000"/>
              </a:spcAft>
            </a:pPr>
            <a:r>
              <a:rPr lang="en-US" altLang="en-US" kern="0" dirty="0">
                <a:ea typeface="ＭＳ Ｐゴシック" pitchFamily="34" charset="-128"/>
              </a:rPr>
              <a:t>Is a ticket sold at the TKTS booth the </a:t>
            </a:r>
            <a:r>
              <a:rPr lang="en-US" altLang="en-US" b="1" kern="0" dirty="0">
                <a:ea typeface="ＭＳ Ｐゴシック" pitchFamily="34" charset="-128"/>
              </a:rPr>
              <a:t>same product </a:t>
            </a:r>
            <a:r>
              <a:rPr lang="en-US" altLang="en-US" kern="0" dirty="0">
                <a:ea typeface="ＭＳ Ｐゴシック" pitchFamily="34" charset="-128"/>
              </a:rPr>
              <a:t>as a ticket purchased over the phone?</a:t>
            </a:r>
          </a:p>
          <a:p>
            <a:pPr>
              <a:spcBef>
                <a:spcPct val="25000"/>
              </a:spcBef>
              <a:spcAft>
                <a:spcPct val="25000"/>
              </a:spcAft>
            </a:pPr>
            <a:r>
              <a:rPr lang="en-US" altLang="en-US" kern="0" dirty="0">
                <a:ea typeface="ＭＳ Ｐゴシック" pitchFamily="34" charset="-128"/>
              </a:rPr>
              <a:t>What pricing practices rely on knowledge of </a:t>
            </a:r>
            <a:r>
              <a:rPr lang="en-US" altLang="en-US" b="1" kern="0" dirty="0">
                <a:ea typeface="ＭＳ Ｐゴシック" pitchFamily="34" charset="-128"/>
              </a:rPr>
              <a:t>which consumers </a:t>
            </a:r>
            <a:r>
              <a:rPr lang="en-US" altLang="en-US" kern="0" dirty="0">
                <a:ea typeface="ＭＳ Ｐゴシック" pitchFamily="34" charset="-128"/>
              </a:rPr>
              <a:t>will pay more (or less) for ticket?</a:t>
            </a:r>
          </a:p>
        </p:txBody>
      </p:sp>
      <p:sp>
        <p:nvSpPr>
          <p:cNvPr id="3" name="5-Point Star 2">
            <a:extLst>
              <a:ext uri="{FF2B5EF4-FFF2-40B4-BE49-F238E27FC236}">
                <a16:creationId xmlns:a16="http://schemas.microsoft.com/office/drawing/2014/main" id="{2A7190E8-A91A-C800-D5CB-D77DB0E55BFA}"/>
              </a:ext>
            </a:extLst>
          </p:cNvPr>
          <p:cNvSpPr/>
          <p:nvPr/>
        </p:nvSpPr>
        <p:spPr>
          <a:xfrm>
            <a:off x="12550982"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r>
              <a:rPr lang="en-US" sz="3600" dirty="0"/>
              <a:t>Examples of behavioral biases: Pricing</a:t>
            </a:r>
          </a:p>
        </p:txBody>
      </p:sp>
      <p:sp>
        <p:nvSpPr>
          <p:cNvPr id="5" name="Slide Number Placeholder 4"/>
          <p:cNvSpPr>
            <a:spLocks noGrp="1"/>
          </p:cNvSpPr>
          <p:nvPr>
            <p:ph type="sldNum" sz="quarter" idx="12"/>
          </p:nvPr>
        </p:nvSpPr>
        <p:spPr/>
        <p:txBody>
          <a:bodyPr/>
          <a:lstStyle/>
          <a:p>
            <a:fld id="{7E34CCD4-1BBD-410D-B2DF-A7552E316D63}" type="slidenum">
              <a:rPr lang="en-US" altLang="en-US" smtClean="0"/>
              <a:pPr/>
              <a:t>54</a:t>
            </a:fld>
            <a:endParaRPr lang="en-US" altLang="en-US" dirty="0"/>
          </a:p>
        </p:txBody>
      </p:sp>
      <p:sp>
        <p:nvSpPr>
          <p:cNvPr id="3" name="Rounded Rectangle 2">
            <a:extLst>
              <a:ext uri="{FF2B5EF4-FFF2-40B4-BE49-F238E27FC236}">
                <a16:creationId xmlns:a16="http://schemas.microsoft.com/office/drawing/2014/main" id="{B5BD491B-84F4-8D4D-D3B3-824FFF21DE36}"/>
              </a:ext>
            </a:extLst>
          </p:cNvPr>
          <p:cNvSpPr/>
          <p:nvPr/>
        </p:nvSpPr>
        <p:spPr>
          <a:xfrm>
            <a:off x="529936" y="1572768"/>
            <a:ext cx="2191928" cy="905256"/>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800" b="1" dirty="0">
                <a:solidFill>
                  <a:schemeClr val="bg1"/>
                </a:solidFill>
                <a:latin typeface="Source Sans Pro" panose="020B0503030403020204" pitchFamily="34" charset="0"/>
                <a:ea typeface="Source Sans Pro" panose="020B0503030403020204" pitchFamily="34" charset="0"/>
              </a:rPr>
              <a:t>Anchoring</a:t>
            </a:r>
          </a:p>
        </p:txBody>
      </p:sp>
      <p:sp>
        <p:nvSpPr>
          <p:cNvPr id="4" name="TextBox 3">
            <a:extLst>
              <a:ext uri="{FF2B5EF4-FFF2-40B4-BE49-F238E27FC236}">
                <a16:creationId xmlns:a16="http://schemas.microsoft.com/office/drawing/2014/main" id="{CB5A2E0F-3EA5-E0B2-2F4F-73AA030E476A}"/>
              </a:ext>
            </a:extLst>
          </p:cNvPr>
          <p:cNvSpPr txBox="1"/>
          <p:nvPr/>
        </p:nvSpPr>
        <p:spPr>
          <a:xfrm>
            <a:off x="2721864" y="1572768"/>
            <a:ext cx="8424672" cy="3139321"/>
          </a:xfrm>
          <a:prstGeom prst="rect">
            <a:avLst/>
          </a:prstGeom>
          <a:noFill/>
        </p:spPr>
        <p:txBody>
          <a:bodyPr wrap="square" rtlCol="0">
            <a:spAutoFit/>
          </a:bodyPr>
          <a:lstStyle/>
          <a:p>
            <a:pPr marL="228600" indent="-228600">
              <a:spcAft>
                <a:spcPts val="1200"/>
              </a:spcAft>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Tendency to focus on one piece of evidence – usually the first information seen</a:t>
            </a:r>
          </a:p>
          <a:p>
            <a:pPr marL="685800" lvl="1" indent="-228600">
              <a:spcAft>
                <a:spcPts val="1200"/>
              </a:spcAft>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Fail to adjust away from that initial anchor</a:t>
            </a:r>
          </a:p>
          <a:p>
            <a:pPr marL="685800" lvl="1" indent="-228600">
              <a:spcAft>
                <a:spcPts val="1200"/>
              </a:spcAft>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E.g., Attila the Hun and the cell phone</a:t>
            </a:r>
          </a:p>
          <a:p>
            <a:pPr marL="228600" indent="-228600">
              <a:spcAft>
                <a:spcPts val="1200"/>
              </a:spcAft>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Be careful with initial pricing – customers will anchor on it and it can be hard to modify</a:t>
            </a:r>
          </a:p>
        </p:txBody>
      </p:sp>
      <p:sp>
        <p:nvSpPr>
          <p:cNvPr id="6" name="5-Point Star 5">
            <a:extLst>
              <a:ext uri="{FF2B5EF4-FFF2-40B4-BE49-F238E27FC236}">
                <a16:creationId xmlns:a16="http://schemas.microsoft.com/office/drawing/2014/main" id="{DDBE917F-B66A-5D41-183B-7ADC3661C213}"/>
              </a:ext>
            </a:extLst>
          </p:cNvPr>
          <p:cNvSpPr/>
          <p:nvPr/>
        </p:nvSpPr>
        <p:spPr>
          <a:xfrm>
            <a:off x="12512730"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25163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ource Sans Pro" panose="020B0503030403020204" pitchFamily="34" charset="0"/>
                <a:ea typeface="Source Sans Pro" panose="020B0503030403020204" pitchFamily="34" charset="0"/>
              </a:rPr>
              <a:t>Agenda</a:t>
            </a:r>
          </a:p>
        </p:txBody>
      </p:sp>
      <p:sp>
        <p:nvSpPr>
          <p:cNvPr id="5" name="Slide Number Placeholder 4"/>
          <p:cNvSpPr>
            <a:spLocks noGrp="1"/>
          </p:cNvSpPr>
          <p:nvPr>
            <p:ph type="sldNum" sz="quarter" idx="12"/>
          </p:nvPr>
        </p:nvSpPr>
        <p:spPr/>
        <p:txBody>
          <a:bodyPr/>
          <a:lstStyle/>
          <a:p>
            <a:fld id="{601CDD02-EF00-47E2-B6EB-B4DAE4D672DA}" type="slidenum">
              <a:rPr lang="en-US" altLang="en-US" smtClean="0">
                <a:latin typeface="Source Sans Pro" panose="020B0503030403020204" pitchFamily="34" charset="0"/>
                <a:ea typeface="Source Sans Pro" panose="020B0503030403020204" pitchFamily="34" charset="0"/>
              </a:rPr>
              <a:pPr/>
              <a:t>55</a:t>
            </a:fld>
            <a:endParaRPr lang="en-US" altLang="en-US" dirty="0">
              <a:latin typeface="Source Sans Pro" panose="020B0503030403020204" pitchFamily="34" charset="0"/>
              <a:ea typeface="Source Sans Pro" panose="020B0503030403020204" pitchFamily="34" charset="0"/>
            </a:endParaRPr>
          </a:p>
        </p:txBody>
      </p:sp>
      <p:sp>
        <p:nvSpPr>
          <p:cNvPr id="3" name="TextBox 2">
            <a:extLst>
              <a:ext uri="{FF2B5EF4-FFF2-40B4-BE49-F238E27FC236}">
                <a16:creationId xmlns:a16="http://schemas.microsoft.com/office/drawing/2014/main" id="{30CFAD7C-91B2-F6C0-4E7E-C3C456E10733}"/>
              </a:ext>
            </a:extLst>
          </p:cNvPr>
          <p:cNvSpPr txBox="1"/>
          <p:nvPr/>
        </p:nvSpPr>
        <p:spPr>
          <a:xfrm>
            <a:off x="3135630" y="2882540"/>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Price discrimination</a:t>
            </a:r>
          </a:p>
        </p:txBody>
      </p:sp>
      <p:sp>
        <p:nvSpPr>
          <p:cNvPr id="4" name="TextBox 3">
            <a:extLst>
              <a:ext uri="{FF2B5EF4-FFF2-40B4-BE49-F238E27FC236}">
                <a16:creationId xmlns:a16="http://schemas.microsoft.com/office/drawing/2014/main" id="{DAA7255F-AE5B-31DE-7316-0707D476C545}"/>
              </a:ext>
            </a:extLst>
          </p:cNvPr>
          <p:cNvSpPr txBox="1"/>
          <p:nvPr/>
        </p:nvSpPr>
        <p:spPr>
          <a:xfrm>
            <a:off x="3135630" y="1462806"/>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Revenue maximization</a:t>
            </a:r>
          </a:p>
        </p:txBody>
      </p:sp>
      <p:sp>
        <p:nvSpPr>
          <p:cNvPr id="6" name="TextBox 5">
            <a:extLst>
              <a:ext uri="{FF2B5EF4-FFF2-40B4-BE49-F238E27FC236}">
                <a16:creationId xmlns:a16="http://schemas.microsoft.com/office/drawing/2014/main" id="{4DC6F766-A6B3-EDBF-C21C-650E6A9F9F6B}"/>
              </a:ext>
            </a:extLst>
          </p:cNvPr>
          <p:cNvSpPr txBox="1"/>
          <p:nvPr/>
        </p:nvSpPr>
        <p:spPr>
          <a:xfrm>
            <a:off x="3135630" y="2172673"/>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Monopoly pricing</a:t>
            </a:r>
          </a:p>
        </p:txBody>
      </p:sp>
      <p:sp>
        <p:nvSpPr>
          <p:cNvPr id="7" name="TextBox 6">
            <a:extLst>
              <a:ext uri="{FF2B5EF4-FFF2-40B4-BE49-F238E27FC236}">
                <a16:creationId xmlns:a16="http://schemas.microsoft.com/office/drawing/2014/main" id="{892BD1E8-DE9C-5093-5080-D72F98A58FCE}"/>
              </a:ext>
            </a:extLst>
          </p:cNvPr>
          <p:cNvSpPr txBox="1"/>
          <p:nvPr/>
        </p:nvSpPr>
        <p:spPr>
          <a:xfrm>
            <a:off x="3135630" y="5722005"/>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American Airlines case</a:t>
            </a:r>
          </a:p>
        </p:txBody>
      </p:sp>
      <p:sp>
        <p:nvSpPr>
          <p:cNvPr id="14" name="TextBox 13">
            <a:extLst>
              <a:ext uri="{FF2B5EF4-FFF2-40B4-BE49-F238E27FC236}">
                <a16:creationId xmlns:a16="http://schemas.microsoft.com/office/drawing/2014/main" id="{EF2A10C2-27F8-AAF9-D9BD-BAE75CEE9257}"/>
              </a:ext>
            </a:extLst>
          </p:cNvPr>
          <p:cNvSpPr txBox="1"/>
          <p:nvPr/>
        </p:nvSpPr>
        <p:spPr>
          <a:xfrm>
            <a:off x="3135630" y="3592407"/>
            <a:ext cx="4819686" cy="523220"/>
          </a:xfrm>
          <a:prstGeom prst="rect">
            <a:avLst/>
          </a:prstGeom>
          <a:solidFill>
            <a:srgbClr val="67C8C7"/>
          </a:solidFill>
          <a:ln>
            <a:solidFill>
              <a:srgbClr val="67C8C7"/>
            </a:solidFill>
          </a:ln>
        </p:spPr>
        <p:txBody>
          <a:bodyPr wrap="square" rtlCol="0">
            <a:spAutoFit/>
          </a:bodyPr>
          <a:lstStyle/>
          <a:p>
            <a:pPr marL="285750" indent="-285750">
              <a:buFont typeface="Arial" panose="020B0604020202020204" pitchFamily="34" charset="0"/>
              <a:buChar char="•"/>
            </a:pPr>
            <a:r>
              <a:rPr lang="en-US" sz="2800" b="1" dirty="0">
                <a:solidFill>
                  <a:schemeClr val="bg1"/>
                </a:solidFill>
                <a:latin typeface="Source Sans Pro" panose="020B0503030403020204" pitchFamily="34" charset="0"/>
                <a:ea typeface="Source Sans Pro" panose="020B0503030403020204" pitchFamily="34" charset="0"/>
              </a:rPr>
              <a:t>Two-part tariffs</a:t>
            </a:r>
          </a:p>
        </p:txBody>
      </p:sp>
      <p:sp>
        <p:nvSpPr>
          <p:cNvPr id="15" name="TextBox 14">
            <a:extLst>
              <a:ext uri="{FF2B5EF4-FFF2-40B4-BE49-F238E27FC236}">
                <a16:creationId xmlns:a16="http://schemas.microsoft.com/office/drawing/2014/main" id="{7AC43E6C-8A0B-8EE1-63E5-F1A22E4E1958}"/>
              </a:ext>
            </a:extLst>
          </p:cNvPr>
          <p:cNvSpPr txBox="1"/>
          <p:nvPr/>
        </p:nvSpPr>
        <p:spPr>
          <a:xfrm>
            <a:off x="3135630" y="4302274"/>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Bundling</a:t>
            </a:r>
          </a:p>
        </p:txBody>
      </p:sp>
      <p:sp>
        <p:nvSpPr>
          <p:cNvPr id="16" name="TextBox 15">
            <a:extLst>
              <a:ext uri="{FF2B5EF4-FFF2-40B4-BE49-F238E27FC236}">
                <a16:creationId xmlns:a16="http://schemas.microsoft.com/office/drawing/2014/main" id="{8893E879-D329-8DCD-68DA-CB181DD3E707}"/>
              </a:ext>
            </a:extLst>
          </p:cNvPr>
          <p:cNvSpPr txBox="1"/>
          <p:nvPr/>
        </p:nvSpPr>
        <p:spPr>
          <a:xfrm>
            <a:off x="3135630" y="5012141"/>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Adverse selection</a:t>
            </a:r>
          </a:p>
        </p:txBody>
      </p:sp>
    </p:spTree>
    <p:extLst>
      <p:ext uri="{BB962C8B-B14F-4D97-AF65-F5344CB8AC3E}">
        <p14:creationId xmlns:p14="http://schemas.microsoft.com/office/powerpoint/2010/main" val="1394872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r>
              <a:rPr lang="en-US" altLang="en-US" dirty="0"/>
              <a:t>Price discrimination extension: Two-part tariffs</a:t>
            </a:r>
          </a:p>
        </p:txBody>
      </p:sp>
      <p:sp>
        <p:nvSpPr>
          <p:cNvPr id="491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1BC5027D-6E1A-414C-82CE-B27B118086FE}" type="slidenum">
              <a:rPr lang="en-US" altLang="en-US" sz="1400">
                <a:latin typeface="Source Sans Pro" panose="020B0503030403020204" pitchFamily="34" charset="0"/>
                <a:ea typeface="Source Sans Pro" panose="020B0503030403020204" pitchFamily="34" charset="0"/>
              </a:rPr>
              <a:pPr eaLnBrk="1" hangingPunct="1"/>
              <a:t>56</a:t>
            </a:fld>
            <a:endParaRPr lang="en-US" altLang="en-US" sz="1400" dirty="0">
              <a:latin typeface="Source Sans Pro" panose="020B0503030403020204" pitchFamily="34" charset="0"/>
              <a:ea typeface="Source Sans Pro" panose="020B0503030403020204" pitchFamily="34" charset="0"/>
            </a:endParaRPr>
          </a:p>
        </p:txBody>
      </p:sp>
      <p:grpSp>
        <p:nvGrpSpPr>
          <p:cNvPr id="2" name="Group 1">
            <a:extLst>
              <a:ext uri="{FF2B5EF4-FFF2-40B4-BE49-F238E27FC236}">
                <a16:creationId xmlns:a16="http://schemas.microsoft.com/office/drawing/2014/main" id="{304225E5-DA68-32D6-95BF-F5321E3F1B36}"/>
              </a:ext>
            </a:extLst>
          </p:cNvPr>
          <p:cNvGrpSpPr/>
          <p:nvPr/>
        </p:nvGrpSpPr>
        <p:grpSpPr>
          <a:xfrm>
            <a:off x="406401" y="3474369"/>
            <a:ext cx="11359306" cy="1317284"/>
            <a:chOff x="-198121" y="3249038"/>
            <a:chExt cx="11359306" cy="1317284"/>
          </a:xfrm>
        </p:grpSpPr>
        <p:sp>
          <p:nvSpPr>
            <p:cNvPr id="3" name="Rectangle 3">
              <a:extLst>
                <a:ext uri="{FF2B5EF4-FFF2-40B4-BE49-F238E27FC236}">
                  <a16:creationId xmlns:a16="http://schemas.microsoft.com/office/drawing/2014/main" id="{A016EA62-AB2A-D890-504E-DB5E7CB4858D}"/>
                </a:ext>
              </a:extLst>
            </p:cNvPr>
            <p:cNvSpPr txBox="1">
              <a:spLocks noChangeArrowheads="1"/>
            </p:cNvSpPr>
            <p:nvPr/>
          </p:nvSpPr>
          <p:spPr bwMode="auto">
            <a:xfrm>
              <a:off x="1983375" y="3249038"/>
              <a:ext cx="9177810" cy="131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nSpc>
                  <a:spcPct val="90000"/>
                </a:lnSpc>
                <a:buFont typeface="Arial" panose="020B0604020202020204" pitchFamily="34" charset="0"/>
                <a:buChar char="•"/>
              </a:pPr>
              <a:r>
                <a:rPr lang="en-US" altLang="en-US" sz="2400" kern="0" dirty="0">
                  <a:latin typeface="Source Sans Pro" panose="020B0503030403020204" pitchFamily="34" charset="0"/>
                  <a:ea typeface="Source Sans Pro" panose="020B0503030403020204" pitchFamily="34" charset="0"/>
                </a:rPr>
                <a:t>Golf club membership plus greens fees for each round</a:t>
              </a:r>
            </a:p>
            <a:p>
              <a:pPr>
                <a:buFont typeface="Arial" panose="020B0604020202020204" pitchFamily="34" charset="0"/>
                <a:buChar char="•"/>
              </a:pPr>
              <a:r>
                <a:rPr lang="en-US" altLang="en-US" sz="2400" kern="0" dirty="0">
                  <a:latin typeface="Source Sans Pro" panose="020B0503030403020204" pitchFamily="34" charset="0"/>
                  <a:ea typeface="Source Sans Pro" panose="020B0503030403020204" pitchFamily="34" charset="0"/>
                </a:rPr>
                <a:t>Personal Seat Licenses (PSLs) for sports teams: Pay an up-front fee for the “right” to buy season tickets</a:t>
              </a:r>
            </a:p>
          </p:txBody>
        </p:sp>
        <p:sp>
          <p:nvSpPr>
            <p:cNvPr id="5" name="Rounded Rectangle 4">
              <a:extLst>
                <a:ext uri="{FF2B5EF4-FFF2-40B4-BE49-F238E27FC236}">
                  <a16:creationId xmlns:a16="http://schemas.microsoft.com/office/drawing/2014/main" id="{20EADA9E-48A2-E33D-C14C-0655248634BD}"/>
                </a:ext>
              </a:extLst>
            </p:cNvPr>
            <p:cNvSpPr/>
            <p:nvPr/>
          </p:nvSpPr>
          <p:spPr>
            <a:xfrm>
              <a:off x="-198121" y="3249038"/>
              <a:ext cx="2181498" cy="744639"/>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Examples</a:t>
              </a:r>
            </a:p>
          </p:txBody>
        </p:sp>
      </p:grpSp>
      <p:grpSp>
        <p:nvGrpSpPr>
          <p:cNvPr id="6" name="Group 5">
            <a:extLst>
              <a:ext uri="{FF2B5EF4-FFF2-40B4-BE49-F238E27FC236}">
                <a16:creationId xmlns:a16="http://schemas.microsoft.com/office/drawing/2014/main" id="{09493F34-7FF9-0085-E3F6-AA045D409854}"/>
              </a:ext>
            </a:extLst>
          </p:cNvPr>
          <p:cNvGrpSpPr/>
          <p:nvPr/>
        </p:nvGrpSpPr>
        <p:grpSpPr>
          <a:xfrm>
            <a:off x="406401" y="4921966"/>
            <a:ext cx="11359306" cy="1397306"/>
            <a:chOff x="-198121" y="4413929"/>
            <a:chExt cx="11359306" cy="1397306"/>
          </a:xfrm>
        </p:grpSpPr>
        <p:sp>
          <p:nvSpPr>
            <p:cNvPr id="7" name="Rectangle 3">
              <a:extLst>
                <a:ext uri="{FF2B5EF4-FFF2-40B4-BE49-F238E27FC236}">
                  <a16:creationId xmlns:a16="http://schemas.microsoft.com/office/drawing/2014/main" id="{F741E4A2-8F82-B8FC-F1E0-7AE22DB9A34A}"/>
                </a:ext>
              </a:extLst>
            </p:cNvPr>
            <p:cNvSpPr txBox="1">
              <a:spLocks noChangeArrowheads="1"/>
            </p:cNvSpPr>
            <p:nvPr/>
          </p:nvSpPr>
          <p:spPr bwMode="auto">
            <a:xfrm>
              <a:off x="1983375" y="4413929"/>
              <a:ext cx="9177810" cy="139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nSpc>
                  <a:spcPct val="90000"/>
                </a:lnSpc>
              </a:pPr>
              <a:r>
                <a:rPr lang="en-US" altLang="en-US" sz="2400" kern="0" dirty="0">
                  <a:latin typeface="Source Sans Pro" panose="020B0503030403020204" pitchFamily="34" charset="0"/>
                  <a:ea typeface="Source Sans Pro" panose="020B0503030403020204" pitchFamily="34" charset="0"/>
                </a:rPr>
                <a:t>Can be viewed as </a:t>
              </a:r>
              <a:r>
                <a:rPr lang="en-US" altLang="en-US" sz="2400" b="1" kern="0" dirty="0">
                  <a:latin typeface="Source Sans Pro" panose="020B0503030403020204" pitchFamily="34" charset="0"/>
                  <a:ea typeface="Source Sans Pro" panose="020B0503030403020204" pitchFamily="34" charset="0"/>
                </a:rPr>
                <a:t>2nd-degree price discrimination</a:t>
              </a:r>
            </a:p>
            <a:p>
              <a:pPr>
                <a:lnSpc>
                  <a:spcPct val="90000"/>
                </a:lnSpc>
              </a:pPr>
              <a:r>
                <a:rPr lang="en-US" altLang="en-US" sz="2400" kern="0" dirty="0">
                  <a:latin typeface="Source Sans Pro" panose="020B0503030403020204" pitchFamily="34" charset="0"/>
                  <a:ea typeface="Source Sans Pro" panose="020B0503030403020204" pitchFamily="34" charset="0"/>
                </a:rPr>
                <a:t>Two-part tariff has </a:t>
              </a:r>
              <a:r>
                <a:rPr lang="en-US" altLang="en-US" sz="2400" b="1" kern="0" dirty="0">
                  <a:latin typeface="Source Sans Pro" panose="020B0503030403020204" pitchFamily="34" charset="0"/>
                  <a:ea typeface="Source Sans Pro" panose="020B0503030403020204" pitchFamily="34" charset="0"/>
                </a:rPr>
                <a:t>decreasing average price </a:t>
              </a:r>
              <a:r>
                <a:rPr lang="en-US" altLang="en-US" sz="2400" kern="0" dirty="0">
                  <a:latin typeface="Source Sans Pro" panose="020B0503030403020204" pitchFamily="34" charset="0"/>
                  <a:ea typeface="Source Sans Pro" panose="020B0503030403020204" pitchFamily="34" charset="0"/>
                </a:rPr>
                <a:t>per unit</a:t>
              </a:r>
            </a:p>
            <a:p>
              <a:pPr lvl="1">
                <a:lnSpc>
                  <a:spcPct val="90000"/>
                </a:lnSpc>
              </a:pPr>
              <a:r>
                <a:rPr lang="en-US" altLang="en-US" sz="2400" kern="0" dirty="0">
                  <a:latin typeface="Source Sans Pro" panose="020B0503030403020204" pitchFamily="34" charset="0"/>
                  <a:ea typeface="Source Sans Pro" panose="020B0503030403020204" pitchFamily="34" charset="0"/>
                </a:rPr>
                <a:t>Similar to a </a:t>
              </a:r>
              <a:r>
                <a:rPr lang="en-US" altLang="en-US" sz="2400" b="1" kern="0" dirty="0">
                  <a:latin typeface="Source Sans Pro" panose="020B0503030403020204" pitchFamily="34" charset="0"/>
                  <a:ea typeface="Source Sans Pro" panose="020B0503030403020204" pitchFamily="34" charset="0"/>
                </a:rPr>
                <a:t>quantity discounting</a:t>
              </a:r>
            </a:p>
          </p:txBody>
        </p:sp>
        <p:sp>
          <p:nvSpPr>
            <p:cNvPr id="11" name="Rounded Rectangle 10">
              <a:extLst>
                <a:ext uri="{FF2B5EF4-FFF2-40B4-BE49-F238E27FC236}">
                  <a16:creationId xmlns:a16="http://schemas.microsoft.com/office/drawing/2014/main" id="{431BC185-6765-9008-2B1C-2A97C7F7CF2F}"/>
                </a:ext>
              </a:extLst>
            </p:cNvPr>
            <p:cNvSpPr/>
            <p:nvPr/>
          </p:nvSpPr>
          <p:spPr>
            <a:xfrm>
              <a:off x="-198121" y="4456282"/>
              <a:ext cx="2181498" cy="1110195"/>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2</a:t>
              </a:r>
              <a:r>
                <a:rPr lang="en-US" sz="2400" b="1" baseline="30000" dirty="0">
                  <a:solidFill>
                    <a:schemeClr val="bg1"/>
                  </a:solidFill>
                  <a:latin typeface="Source Sans Pro" panose="020B0503030403020204" pitchFamily="34" charset="0"/>
                  <a:ea typeface="Source Sans Pro" panose="020B0503030403020204" pitchFamily="34" charset="0"/>
                </a:rPr>
                <a:t>nd</a:t>
              </a:r>
              <a:r>
                <a:rPr lang="en-US" sz="2400" b="1" dirty="0">
                  <a:solidFill>
                    <a:schemeClr val="bg1"/>
                  </a:solidFill>
                  <a:latin typeface="Source Sans Pro" panose="020B0503030403020204" pitchFamily="34" charset="0"/>
                  <a:ea typeface="Source Sans Pro" panose="020B0503030403020204" pitchFamily="34" charset="0"/>
                </a:rPr>
                <a:t> degree price discrimination</a:t>
              </a:r>
            </a:p>
          </p:txBody>
        </p:sp>
      </p:grpSp>
      <p:grpSp>
        <p:nvGrpSpPr>
          <p:cNvPr id="12" name="Group 11">
            <a:extLst>
              <a:ext uri="{FF2B5EF4-FFF2-40B4-BE49-F238E27FC236}">
                <a16:creationId xmlns:a16="http://schemas.microsoft.com/office/drawing/2014/main" id="{A637527F-F384-7998-DD48-78C43930E321}"/>
              </a:ext>
            </a:extLst>
          </p:cNvPr>
          <p:cNvGrpSpPr/>
          <p:nvPr/>
        </p:nvGrpSpPr>
        <p:grpSpPr>
          <a:xfrm>
            <a:off x="406400" y="1128065"/>
            <a:ext cx="11359307" cy="2215991"/>
            <a:chOff x="406400" y="1128065"/>
            <a:chExt cx="11359307" cy="2215991"/>
          </a:xfrm>
        </p:grpSpPr>
        <p:sp>
          <p:nvSpPr>
            <p:cNvPr id="14" name="Rectangle 3">
              <a:extLst>
                <a:ext uri="{FF2B5EF4-FFF2-40B4-BE49-F238E27FC236}">
                  <a16:creationId xmlns:a16="http://schemas.microsoft.com/office/drawing/2014/main" id="{018E138D-1BF7-DA38-A418-29C9598D6F2D}"/>
                </a:ext>
              </a:extLst>
            </p:cNvPr>
            <p:cNvSpPr txBox="1">
              <a:spLocks noChangeArrowheads="1"/>
            </p:cNvSpPr>
            <p:nvPr/>
          </p:nvSpPr>
          <p:spPr bwMode="auto">
            <a:xfrm>
              <a:off x="2587898" y="1128065"/>
              <a:ext cx="9177809"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nSpc>
                  <a:spcPct val="90000"/>
                </a:lnSpc>
              </a:pPr>
              <a:r>
                <a:rPr lang="en-US" altLang="en-US" sz="2400" kern="0" dirty="0">
                  <a:latin typeface="Source Sans Pro" panose="020B0503030403020204" pitchFamily="34" charset="0"/>
                  <a:ea typeface="Source Sans Pro" panose="020B0503030403020204" pitchFamily="34" charset="0"/>
                </a:rPr>
                <a:t>Firm charges </a:t>
              </a:r>
              <a:r>
                <a:rPr lang="en-US" altLang="en-US" sz="2400" b="1" kern="0" dirty="0">
                  <a:latin typeface="Source Sans Pro" panose="020B0503030403020204" pitchFamily="34" charset="0"/>
                  <a:ea typeface="Source Sans Pro" panose="020B0503030403020204" pitchFamily="34" charset="0"/>
                </a:rPr>
                <a:t>fixed fee (F)</a:t>
              </a:r>
              <a:r>
                <a:rPr lang="en-US" altLang="en-US" sz="2400" kern="0" dirty="0">
                  <a:latin typeface="Source Sans Pro" panose="020B0503030403020204" pitchFamily="34" charset="0"/>
                  <a:ea typeface="Source Sans Pro" panose="020B0503030403020204" pitchFamily="34" charset="0"/>
                </a:rPr>
                <a:t> for </a:t>
              </a:r>
              <a:r>
                <a:rPr lang="en-US" altLang="ja-JP" sz="2400" kern="0" dirty="0">
                  <a:latin typeface="Source Sans Pro" panose="020B0503030403020204" pitchFamily="34" charset="0"/>
                  <a:ea typeface="Source Sans Pro" panose="020B0503030403020204" pitchFamily="34" charset="0"/>
                </a:rPr>
                <a:t>“right” to purchase a product, and </a:t>
              </a:r>
              <a:r>
                <a:rPr lang="en-US" altLang="ja-JP" sz="2400" b="1" kern="0" dirty="0">
                  <a:latin typeface="Source Sans Pro" panose="020B0503030403020204" pitchFamily="34" charset="0"/>
                  <a:ea typeface="Source Sans Pro" panose="020B0503030403020204" pitchFamily="34" charset="0"/>
                </a:rPr>
                <a:t>p per unit </a:t>
              </a:r>
              <a:r>
                <a:rPr lang="en-US" altLang="ja-JP" sz="2400" kern="0" dirty="0">
                  <a:latin typeface="Source Sans Pro" panose="020B0503030403020204" pitchFamily="34" charset="0"/>
                  <a:ea typeface="Source Sans Pro" panose="020B0503030403020204" pitchFamily="34" charset="0"/>
                </a:rPr>
                <a:t>purchased</a:t>
              </a:r>
            </a:p>
            <a:p>
              <a:pPr lvl="1">
                <a:lnSpc>
                  <a:spcPct val="90000"/>
                </a:lnSpc>
              </a:pPr>
              <a:r>
                <a:rPr lang="en-US" altLang="ja-JP" sz="2400" kern="0" dirty="0">
                  <a:latin typeface="Source Sans Pro" panose="020B0503030403020204" pitchFamily="34" charset="0"/>
                  <a:ea typeface="Source Sans Pro" panose="020B0503030403020204" pitchFamily="34" charset="0"/>
                </a:rPr>
                <a:t>Sometimes called two-part price</a:t>
              </a:r>
            </a:p>
            <a:p>
              <a:pPr>
                <a:lnSpc>
                  <a:spcPct val="90000"/>
                </a:lnSpc>
              </a:pPr>
              <a:r>
                <a:rPr lang="en-US" altLang="en-US" sz="2400" kern="0" dirty="0">
                  <a:latin typeface="Source Sans Pro" panose="020B0503030403020204" pitchFamily="34" charset="0"/>
                  <a:ea typeface="Source Sans Pro" panose="020B0503030403020204" pitchFamily="34" charset="0"/>
                </a:rPr>
                <a:t>If you buy Q units</a:t>
              </a:r>
              <a:r>
                <a:rPr lang="en-US" altLang="ja-JP" sz="2400" kern="0" dirty="0">
                  <a:latin typeface="Source Sans Pro" panose="020B0503030403020204" pitchFamily="34" charset="0"/>
                  <a:ea typeface="Source Sans Pro" panose="020B0503030403020204" pitchFamily="34" charset="0"/>
                </a:rPr>
                <a:t>, total payments to the firm are</a:t>
              </a:r>
            </a:p>
            <a:p>
              <a:pPr marL="0" indent="0" algn="ctr">
                <a:lnSpc>
                  <a:spcPct val="90000"/>
                </a:lnSpc>
                <a:buNone/>
              </a:pPr>
              <a:r>
                <a:rPr lang="en-US" altLang="en-US" sz="2400" kern="0" dirty="0">
                  <a:latin typeface="Source Sans Pro" panose="020B0503030403020204" pitchFamily="34" charset="0"/>
                  <a:ea typeface="Source Sans Pro" panose="020B0503030403020204" pitchFamily="34" charset="0"/>
                </a:rPr>
                <a:t>T(Q) = F + </a:t>
              </a:r>
              <a:r>
                <a:rPr lang="en-US" altLang="en-US" sz="2400" kern="0" dirty="0" err="1">
                  <a:latin typeface="Source Sans Pro" panose="020B0503030403020204" pitchFamily="34" charset="0"/>
                  <a:ea typeface="Source Sans Pro" panose="020B0503030403020204" pitchFamily="34" charset="0"/>
                </a:rPr>
                <a:t>pQ</a:t>
              </a:r>
              <a:endParaRPr lang="en-US" altLang="en-US" sz="2400" kern="0" dirty="0">
                <a:latin typeface="Source Sans Pro" panose="020B0503030403020204" pitchFamily="34" charset="0"/>
                <a:ea typeface="Source Sans Pro" panose="020B0503030403020204" pitchFamily="34" charset="0"/>
              </a:endParaRPr>
            </a:p>
          </p:txBody>
        </p:sp>
        <p:sp>
          <p:nvSpPr>
            <p:cNvPr id="16" name="Rounded Rectangle 15">
              <a:extLst>
                <a:ext uri="{FF2B5EF4-FFF2-40B4-BE49-F238E27FC236}">
                  <a16:creationId xmlns:a16="http://schemas.microsoft.com/office/drawing/2014/main" id="{76390543-AAAD-E3D6-DE75-08522EEFFEFD}"/>
                </a:ext>
              </a:extLst>
            </p:cNvPr>
            <p:cNvSpPr/>
            <p:nvPr/>
          </p:nvSpPr>
          <p:spPr>
            <a:xfrm>
              <a:off x="406400" y="1128065"/>
              <a:ext cx="2181498" cy="744639"/>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Two-part tariff</a:t>
              </a:r>
            </a:p>
          </p:txBody>
        </p:sp>
      </p:grpSp>
    </p:spTree>
    <p:extLst>
      <p:ext uri="{BB962C8B-B14F-4D97-AF65-F5344CB8AC3E}">
        <p14:creationId xmlns:p14="http://schemas.microsoft.com/office/powerpoint/2010/main" val="147175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r>
              <a:rPr lang="en-US" altLang="en-US" dirty="0"/>
              <a:t>How should the fee and price be set?</a:t>
            </a:r>
          </a:p>
        </p:txBody>
      </p:sp>
      <p:sp>
        <p:nvSpPr>
          <p:cNvPr id="5018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4D297F9-0CA0-4530-B66E-B427E2640FCD}" type="slidenum">
              <a:rPr lang="en-US" altLang="en-US" sz="1400">
                <a:latin typeface="Source Sans Pro" panose="020B0503030403020204" pitchFamily="34" charset="0"/>
                <a:ea typeface="Source Sans Pro" panose="020B0503030403020204" pitchFamily="34" charset="0"/>
              </a:rPr>
              <a:pPr eaLnBrk="1" hangingPunct="1"/>
              <a:t>57</a:t>
            </a:fld>
            <a:endParaRPr lang="en-US" altLang="en-US" sz="1400" dirty="0">
              <a:latin typeface="Source Sans Pro" panose="020B0503030403020204" pitchFamily="34" charset="0"/>
              <a:ea typeface="Source Sans Pro" panose="020B0503030403020204" pitchFamily="34" charset="0"/>
            </a:endParaRPr>
          </a:p>
        </p:txBody>
      </p:sp>
      <p:sp>
        <p:nvSpPr>
          <p:cNvPr id="2" name="Triangle 1">
            <a:extLst>
              <a:ext uri="{FF2B5EF4-FFF2-40B4-BE49-F238E27FC236}">
                <a16:creationId xmlns:a16="http://schemas.microsoft.com/office/drawing/2014/main" id="{9C4EA951-C2FE-9242-CA27-BDB5F886532A}"/>
              </a:ext>
            </a:extLst>
          </p:cNvPr>
          <p:cNvSpPr/>
          <p:nvPr/>
        </p:nvSpPr>
        <p:spPr>
          <a:xfrm>
            <a:off x="2756357" y="3308833"/>
            <a:ext cx="2432050" cy="1931195"/>
          </a:xfrm>
          <a:prstGeom prst="triangle">
            <a:avLst>
              <a:gd name="adj" fmla="val 0"/>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Line 6">
            <a:extLst>
              <a:ext uri="{FF2B5EF4-FFF2-40B4-BE49-F238E27FC236}">
                <a16:creationId xmlns:a16="http://schemas.microsoft.com/office/drawing/2014/main" id="{ABBB54A2-EFA8-EE27-733F-0C56818715EB}"/>
              </a:ext>
            </a:extLst>
          </p:cNvPr>
          <p:cNvSpPr>
            <a:spLocks noChangeShapeType="1"/>
          </p:cNvSpPr>
          <p:nvPr/>
        </p:nvSpPr>
        <p:spPr bwMode="auto">
          <a:xfrm>
            <a:off x="2750007" y="2962758"/>
            <a:ext cx="12700" cy="3008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7" name="Line 7">
            <a:extLst>
              <a:ext uri="{FF2B5EF4-FFF2-40B4-BE49-F238E27FC236}">
                <a16:creationId xmlns:a16="http://schemas.microsoft.com/office/drawing/2014/main" id="{163B1142-309D-C91C-F929-AD9814D4FE24}"/>
              </a:ext>
            </a:extLst>
          </p:cNvPr>
          <p:cNvSpPr>
            <a:spLocks noChangeShapeType="1"/>
          </p:cNvSpPr>
          <p:nvPr/>
        </p:nvSpPr>
        <p:spPr bwMode="auto">
          <a:xfrm>
            <a:off x="2756358" y="5967895"/>
            <a:ext cx="396557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11" name="Line 8">
            <a:extLst>
              <a:ext uri="{FF2B5EF4-FFF2-40B4-BE49-F238E27FC236}">
                <a16:creationId xmlns:a16="http://schemas.microsoft.com/office/drawing/2014/main" id="{2A4C58DA-D0FC-539F-9DC7-10ED474C5DBB}"/>
              </a:ext>
            </a:extLst>
          </p:cNvPr>
          <p:cNvSpPr>
            <a:spLocks noChangeShapeType="1"/>
          </p:cNvSpPr>
          <p:nvPr/>
        </p:nvSpPr>
        <p:spPr bwMode="auto">
          <a:xfrm>
            <a:off x="2746833" y="3308833"/>
            <a:ext cx="3355975" cy="26479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12" name="Text Box 9">
            <a:extLst>
              <a:ext uri="{FF2B5EF4-FFF2-40B4-BE49-F238E27FC236}">
                <a16:creationId xmlns:a16="http://schemas.microsoft.com/office/drawing/2014/main" id="{476BF8CB-E577-375F-A33B-6A70D1C36938}"/>
              </a:ext>
            </a:extLst>
          </p:cNvPr>
          <p:cNvSpPr txBox="1">
            <a:spLocks noChangeArrowheads="1"/>
          </p:cNvSpPr>
          <p:nvPr/>
        </p:nvSpPr>
        <p:spPr bwMode="auto">
          <a:xfrm>
            <a:off x="6388557" y="5926620"/>
            <a:ext cx="4238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Q</a:t>
            </a:r>
            <a:endParaRPr lang="en-US" altLang="en-US" dirty="0">
              <a:latin typeface="Source Sans Pro" panose="020B0503030403020204" pitchFamily="34" charset="0"/>
              <a:ea typeface="Source Sans Pro" panose="020B0503030403020204" pitchFamily="34" charset="0"/>
            </a:endParaRPr>
          </a:p>
        </p:txBody>
      </p:sp>
      <p:sp>
        <p:nvSpPr>
          <p:cNvPr id="15" name="Text Box 10">
            <a:extLst>
              <a:ext uri="{FF2B5EF4-FFF2-40B4-BE49-F238E27FC236}">
                <a16:creationId xmlns:a16="http://schemas.microsoft.com/office/drawing/2014/main" id="{5C37CCE4-E408-1D92-F251-0478FD99BBDE}"/>
              </a:ext>
            </a:extLst>
          </p:cNvPr>
          <p:cNvSpPr txBox="1">
            <a:spLocks noChangeArrowheads="1"/>
          </p:cNvSpPr>
          <p:nvPr/>
        </p:nvSpPr>
        <p:spPr bwMode="auto">
          <a:xfrm>
            <a:off x="6014702" y="5532469"/>
            <a:ext cx="6953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D</a:t>
            </a:r>
            <a:endParaRPr lang="en-US" altLang="en-US" dirty="0">
              <a:latin typeface="Source Sans Pro" panose="020B0503030403020204" pitchFamily="34" charset="0"/>
              <a:ea typeface="Source Sans Pro" panose="020B0503030403020204" pitchFamily="34" charset="0"/>
            </a:endParaRPr>
          </a:p>
        </p:txBody>
      </p:sp>
      <p:sp>
        <p:nvSpPr>
          <p:cNvPr id="18" name="Text Box 11">
            <a:extLst>
              <a:ext uri="{FF2B5EF4-FFF2-40B4-BE49-F238E27FC236}">
                <a16:creationId xmlns:a16="http://schemas.microsoft.com/office/drawing/2014/main" id="{C4F9CAEF-110F-A14A-2BB3-A79D60B1C27D}"/>
              </a:ext>
            </a:extLst>
          </p:cNvPr>
          <p:cNvSpPr txBox="1">
            <a:spLocks noChangeArrowheads="1"/>
          </p:cNvSpPr>
          <p:nvPr/>
        </p:nvSpPr>
        <p:spPr bwMode="auto">
          <a:xfrm>
            <a:off x="2373002" y="2880208"/>
            <a:ext cx="3714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P</a:t>
            </a:r>
            <a:endParaRPr lang="en-US" altLang="en-US" dirty="0">
              <a:latin typeface="Source Sans Pro" panose="020B0503030403020204" pitchFamily="34" charset="0"/>
              <a:ea typeface="Source Sans Pro" panose="020B0503030403020204" pitchFamily="34" charset="0"/>
            </a:endParaRPr>
          </a:p>
        </p:txBody>
      </p:sp>
      <p:sp>
        <p:nvSpPr>
          <p:cNvPr id="22" name="Line 15">
            <a:extLst>
              <a:ext uri="{FF2B5EF4-FFF2-40B4-BE49-F238E27FC236}">
                <a16:creationId xmlns:a16="http://schemas.microsoft.com/office/drawing/2014/main" id="{785E11CD-B38C-D0D8-CAF5-15773969C5E9}"/>
              </a:ext>
            </a:extLst>
          </p:cNvPr>
          <p:cNvSpPr>
            <a:spLocks noChangeShapeType="1"/>
          </p:cNvSpPr>
          <p:nvPr/>
        </p:nvSpPr>
        <p:spPr bwMode="auto">
          <a:xfrm>
            <a:off x="2759533" y="5245023"/>
            <a:ext cx="30765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400">
              <a:latin typeface="Source Sans Pro" panose="020B0503030403020204" pitchFamily="34" charset="0"/>
              <a:ea typeface="Source Sans Pro" panose="020B0503030403020204" pitchFamily="34" charset="0"/>
              <a:cs typeface="ＭＳ Ｐゴシック" charset="0"/>
            </a:endParaRPr>
          </a:p>
        </p:txBody>
      </p:sp>
      <p:sp>
        <p:nvSpPr>
          <p:cNvPr id="23" name="Text Box 16">
            <a:extLst>
              <a:ext uri="{FF2B5EF4-FFF2-40B4-BE49-F238E27FC236}">
                <a16:creationId xmlns:a16="http://schemas.microsoft.com/office/drawing/2014/main" id="{6775D0E8-80E3-6177-9BA6-C4C99715DA90}"/>
              </a:ext>
            </a:extLst>
          </p:cNvPr>
          <p:cNvSpPr txBox="1">
            <a:spLocks noChangeArrowheads="1"/>
          </p:cNvSpPr>
          <p:nvPr/>
        </p:nvSpPr>
        <p:spPr bwMode="auto">
          <a:xfrm>
            <a:off x="5390020" y="4831298"/>
            <a:ext cx="22240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Cost to produce</a:t>
            </a:r>
            <a:endParaRPr lang="en-US" altLang="en-US" dirty="0">
              <a:latin typeface="Source Sans Pro" panose="020B0503030403020204" pitchFamily="34" charset="0"/>
              <a:ea typeface="Source Sans Pro" panose="020B0503030403020204" pitchFamily="34" charset="0"/>
            </a:endParaRPr>
          </a:p>
        </p:txBody>
      </p:sp>
      <p:sp>
        <p:nvSpPr>
          <p:cNvPr id="24" name="Text Box 22">
            <a:extLst>
              <a:ext uri="{FF2B5EF4-FFF2-40B4-BE49-F238E27FC236}">
                <a16:creationId xmlns:a16="http://schemas.microsoft.com/office/drawing/2014/main" id="{E1FAFCAA-0935-BBF0-A4B3-C8E9820E3BF2}"/>
              </a:ext>
            </a:extLst>
          </p:cNvPr>
          <p:cNvSpPr txBox="1">
            <a:spLocks noChangeArrowheads="1"/>
          </p:cNvSpPr>
          <p:nvPr/>
        </p:nvSpPr>
        <p:spPr bwMode="auto">
          <a:xfrm>
            <a:off x="4928850" y="5932970"/>
            <a:ext cx="5619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CN" dirty="0">
                <a:latin typeface="Source Sans Pro" panose="020B0503030403020204" pitchFamily="34" charset="0"/>
                <a:ea typeface="Source Sans Pro" panose="020B0503030403020204" pitchFamily="34" charset="0"/>
              </a:rPr>
              <a:t>Q*</a:t>
            </a:r>
            <a:endParaRPr lang="en-US" altLang="en-US" dirty="0">
              <a:latin typeface="Source Sans Pro" panose="020B0503030403020204" pitchFamily="34" charset="0"/>
              <a:ea typeface="Source Sans Pro" panose="020B0503030403020204" pitchFamily="34" charset="0"/>
            </a:endParaRPr>
          </a:p>
        </p:txBody>
      </p:sp>
      <p:sp>
        <p:nvSpPr>
          <p:cNvPr id="25" name="Text Box 23">
            <a:extLst>
              <a:ext uri="{FF2B5EF4-FFF2-40B4-BE49-F238E27FC236}">
                <a16:creationId xmlns:a16="http://schemas.microsoft.com/office/drawing/2014/main" id="{81916568-269C-92BA-0FFA-47B3CB5491EF}"/>
              </a:ext>
            </a:extLst>
          </p:cNvPr>
          <p:cNvSpPr txBox="1">
            <a:spLocks noChangeArrowheads="1"/>
          </p:cNvSpPr>
          <p:nvPr/>
        </p:nvSpPr>
        <p:spPr bwMode="auto">
          <a:xfrm>
            <a:off x="2182502" y="5049528"/>
            <a:ext cx="5619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P*</a:t>
            </a:r>
            <a:endParaRPr lang="en-US" altLang="en-US" dirty="0">
              <a:latin typeface="Source Sans Pro" panose="020B0503030403020204" pitchFamily="34" charset="0"/>
              <a:ea typeface="Source Sans Pro" panose="020B0503030403020204" pitchFamily="34" charset="0"/>
            </a:endParaRPr>
          </a:p>
        </p:txBody>
      </p:sp>
      <p:cxnSp>
        <p:nvCxnSpPr>
          <p:cNvPr id="26" name="Straight Connector 25">
            <a:extLst>
              <a:ext uri="{FF2B5EF4-FFF2-40B4-BE49-F238E27FC236}">
                <a16:creationId xmlns:a16="http://schemas.microsoft.com/office/drawing/2014/main" id="{DF0DFB31-6835-BB2F-91BF-847D845D6436}"/>
              </a:ext>
            </a:extLst>
          </p:cNvPr>
          <p:cNvCxnSpPr>
            <a:endCxn id="24" idx="0"/>
          </p:cNvCxnSpPr>
          <p:nvPr/>
        </p:nvCxnSpPr>
        <p:spPr>
          <a:xfrm>
            <a:off x="5188407" y="5232884"/>
            <a:ext cx="0" cy="700086"/>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7" name="Rounded Rectangular Callout 26">
            <a:extLst>
              <a:ext uri="{FF2B5EF4-FFF2-40B4-BE49-F238E27FC236}">
                <a16:creationId xmlns:a16="http://schemas.microsoft.com/office/drawing/2014/main" id="{FA5F6861-0F2B-D036-593C-D1CD37E3C27C}"/>
              </a:ext>
            </a:extLst>
          </p:cNvPr>
          <p:cNvSpPr/>
          <p:nvPr/>
        </p:nvSpPr>
        <p:spPr>
          <a:xfrm>
            <a:off x="4297820" y="3429000"/>
            <a:ext cx="1305538" cy="398721"/>
          </a:xfrm>
          <a:prstGeom prst="wedgeRoundRectCallout">
            <a:avLst>
              <a:gd name="adj1" fmla="val -97388"/>
              <a:gd name="adj2" fmla="val 190500"/>
              <a:gd name="adj3" fmla="val 16667"/>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Source Sans Pro" panose="020B0503030403020204" pitchFamily="34" charset="0"/>
                <a:ea typeface="Source Sans Pro" panose="020B0503030403020204" pitchFamily="34" charset="0"/>
              </a:rPr>
              <a:t>Fee</a:t>
            </a:r>
          </a:p>
        </p:txBody>
      </p:sp>
      <p:sp>
        <p:nvSpPr>
          <p:cNvPr id="28" name="Content Placeholder 2">
            <a:extLst>
              <a:ext uri="{FF2B5EF4-FFF2-40B4-BE49-F238E27FC236}">
                <a16:creationId xmlns:a16="http://schemas.microsoft.com/office/drawing/2014/main" id="{C13F6CD5-8498-95F3-94F9-ADEEA0E3DF70}"/>
              </a:ext>
            </a:extLst>
          </p:cNvPr>
          <p:cNvSpPr txBox="1">
            <a:spLocks/>
          </p:cNvSpPr>
          <p:nvPr/>
        </p:nvSpPr>
        <p:spPr>
          <a:xfrm>
            <a:off x="694944" y="1246185"/>
            <a:ext cx="10887456" cy="1508105"/>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t>Suppose that there is </a:t>
            </a:r>
            <a:r>
              <a:rPr lang="en-US" altLang="en-US" b="1" kern="0"/>
              <a:t>one type of buyer</a:t>
            </a:r>
            <a:r>
              <a:rPr lang="en-US" altLang="en-US" kern="0"/>
              <a:t>:</a:t>
            </a:r>
          </a:p>
          <a:p>
            <a:pPr lvl="1"/>
            <a:r>
              <a:rPr lang="en-US" altLang="en-US" kern="0"/>
              <a:t>Fee (F) = Consumer surplus</a:t>
            </a:r>
          </a:p>
          <a:p>
            <a:pPr lvl="1"/>
            <a:r>
              <a:rPr lang="en-US" altLang="en-US" kern="0"/>
              <a:t>Price (p) = Cost to produce (just cover costs)</a:t>
            </a:r>
            <a:endParaRPr lang="en-US" altLang="en-US" kern="0" dirty="0"/>
          </a:p>
        </p:txBody>
      </p:sp>
    </p:spTree>
    <p:extLst>
      <p:ext uri="{BB962C8B-B14F-4D97-AF65-F5344CB8AC3E}">
        <p14:creationId xmlns:p14="http://schemas.microsoft.com/office/powerpoint/2010/main" val="231795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xEl>
                                              <p:pRg st="1" end="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11" grpId="0" animBg="1"/>
      <p:bldP spid="12" grpId="0"/>
      <p:bldP spid="15" grpId="0"/>
      <p:bldP spid="18" grpId="0"/>
      <p:bldP spid="22" grpId="0" animBg="1"/>
      <p:bldP spid="23" grpId="0"/>
      <p:bldP spid="24" grpId="0"/>
      <p:bldP spid="25" grpId="0"/>
      <p:bldP spid="27" grpId="0" animBg="1"/>
      <p:bldP spid="28" grpId="0" build="p"/>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en-US" altLang="en-US" dirty="0">
                <a:ea typeface="ＭＳ Ｐゴシック" pitchFamily="34" charset="-128"/>
              </a:rPr>
              <a:t>Consumer surplus</a:t>
            </a:r>
          </a:p>
        </p:txBody>
      </p:sp>
      <p:sp>
        <p:nvSpPr>
          <p:cNvPr id="552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C0B0052F-74D5-4111-B99E-1231AE5D6BD1}" type="slidenum">
              <a:rPr lang="en-US" altLang="en-US" sz="1400">
                <a:latin typeface="Source Sans Pro" panose="020B0503030403020204" pitchFamily="34" charset="0"/>
              </a:rPr>
              <a:pPr eaLnBrk="1" hangingPunct="1"/>
              <a:t>58</a:t>
            </a:fld>
            <a:endParaRPr lang="en-US" altLang="en-US" sz="1400" dirty="0">
              <a:latin typeface="Source Sans Pro" panose="020B0503030403020204" pitchFamily="34" charset="0"/>
            </a:endParaRPr>
          </a:p>
        </p:txBody>
      </p:sp>
      <p:sp>
        <p:nvSpPr>
          <p:cNvPr id="20" name="AutoShape 21">
            <a:extLst>
              <a:ext uri="{FF2B5EF4-FFF2-40B4-BE49-F238E27FC236}">
                <a16:creationId xmlns:a16="http://schemas.microsoft.com/office/drawing/2014/main" id="{2F314E14-1ECE-5D22-CF46-B3CB687698DD}"/>
              </a:ext>
            </a:extLst>
          </p:cNvPr>
          <p:cNvSpPr>
            <a:spLocks noChangeArrowheads="1"/>
          </p:cNvSpPr>
          <p:nvPr/>
        </p:nvSpPr>
        <p:spPr bwMode="auto">
          <a:xfrm>
            <a:off x="2191985" y="3563754"/>
            <a:ext cx="1903413" cy="1755775"/>
          </a:xfrm>
          <a:prstGeom prst="rtTriangle">
            <a:avLst/>
          </a:prstGeom>
          <a:solidFill>
            <a:srgbClr val="67C8C7"/>
          </a:solidFill>
          <a:ln w="9525">
            <a:solidFill>
              <a:srgbClr val="67C8C7"/>
            </a:solidFill>
            <a:miter lim="800000"/>
            <a:headEnd/>
            <a:tailEnd/>
          </a:ln>
        </p:spPr>
        <p:txBody>
          <a:bodyPr wrap="none"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endParaRPr lang="en-US" altLang="en-US" sz="1800" dirty="0">
              <a:latin typeface="Source Sans Pro" panose="020B0503030403020204" pitchFamily="34" charset="0"/>
            </a:endParaRPr>
          </a:p>
        </p:txBody>
      </p:sp>
      <p:grpSp>
        <p:nvGrpSpPr>
          <p:cNvPr id="21" name="Group 20">
            <a:extLst>
              <a:ext uri="{FF2B5EF4-FFF2-40B4-BE49-F238E27FC236}">
                <a16:creationId xmlns:a16="http://schemas.microsoft.com/office/drawing/2014/main" id="{369415A2-EFB1-986D-D2F5-A9095D62F91C}"/>
              </a:ext>
            </a:extLst>
          </p:cNvPr>
          <p:cNvGrpSpPr/>
          <p:nvPr/>
        </p:nvGrpSpPr>
        <p:grpSpPr>
          <a:xfrm>
            <a:off x="1550895" y="2641415"/>
            <a:ext cx="4667216" cy="3835400"/>
            <a:chOff x="557247" y="2587625"/>
            <a:chExt cx="4667216" cy="3835400"/>
          </a:xfrm>
        </p:grpSpPr>
        <p:grpSp>
          <p:nvGrpSpPr>
            <p:cNvPr id="22" name="Group 21">
              <a:extLst>
                <a:ext uri="{FF2B5EF4-FFF2-40B4-BE49-F238E27FC236}">
                  <a16:creationId xmlns:a16="http://schemas.microsoft.com/office/drawing/2014/main" id="{46541238-0345-2CD0-4211-18CDC7127F1D}"/>
                </a:ext>
              </a:extLst>
            </p:cNvPr>
            <p:cNvGrpSpPr/>
            <p:nvPr/>
          </p:nvGrpSpPr>
          <p:grpSpPr>
            <a:xfrm>
              <a:off x="557247" y="2587625"/>
              <a:ext cx="4667216" cy="3835400"/>
              <a:chOff x="557247" y="2587625"/>
              <a:chExt cx="4667216" cy="3835400"/>
            </a:xfrm>
          </p:grpSpPr>
          <p:sp>
            <p:nvSpPr>
              <p:cNvPr id="25" name="Line 12">
                <a:extLst>
                  <a:ext uri="{FF2B5EF4-FFF2-40B4-BE49-F238E27FC236}">
                    <a16:creationId xmlns:a16="http://schemas.microsoft.com/office/drawing/2014/main" id="{7F7FB602-99C7-73E0-6C6A-83D74AF893C5}"/>
                  </a:ext>
                </a:extLst>
              </p:cNvPr>
              <p:cNvSpPr>
                <a:spLocks noChangeShapeType="1"/>
              </p:cNvSpPr>
              <p:nvPr/>
            </p:nvSpPr>
            <p:spPr bwMode="auto">
              <a:xfrm>
                <a:off x="1185863" y="2735263"/>
                <a:ext cx="0" cy="3276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latin typeface="Source Sans Pro" panose="020B0503030403020204" pitchFamily="34" charset="0"/>
                </a:endParaRPr>
              </a:p>
            </p:txBody>
          </p:sp>
          <p:sp>
            <p:nvSpPr>
              <p:cNvPr id="26" name="Line 13">
                <a:extLst>
                  <a:ext uri="{FF2B5EF4-FFF2-40B4-BE49-F238E27FC236}">
                    <a16:creationId xmlns:a16="http://schemas.microsoft.com/office/drawing/2014/main" id="{628673BA-0CB2-FB2F-08B6-EDB872D84103}"/>
                  </a:ext>
                </a:extLst>
              </p:cNvPr>
              <p:cNvSpPr>
                <a:spLocks noChangeShapeType="1"/>
              </p:cNvSpPr>
              <p:nvPr/>
            </p:nvSpPr>
            <p:spPr bwMode="auto">
              <a:xfrm>
                <a:off x="1185863" y="6011863"/>
                <a:ext cx="3810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latin typeface="Source Sans Pro" panose="020B0503030403020204" pitchFamily="34" charset="0"/>
                </a:endParaRPr>
              </a:p>
            </p:txBody>
          </p:sp>
          <p:sp>
            <p:nvSpPr>
              <p:cNvPr id="27" name="Text Box 14">
                <a:extLst>
                  <a:ext uri="{FF2B5EF4-FFF2-40B4-BE49-F238E27FC236}">
                    <a16:creationId xmlns:a16="http://schemas.microsoft.com/office/drawing/2014/main" id="{91057B47-87C4-343B-5D61-A5977817CCB8}"/>
                  </a:ext>
                </a:extLst>
              </p:cNvPr>
              <p:cNvSpPr txBox="1">
                <a:spLocks noChangeArrowheads="1"/>
              </p:cNvSpPr>
              <p:nvPr/>
            </p:nvSpPr>
            <p:spPr bwMode="auto">
              <a:xfrm>
                <a:off x="790575" y="25876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P</a:t>
                </a:r>
              </a:p>
            </p:txBody>
          </p:sp>
          <p:sp>
            <p:nvSpPr>
              <p:cNvPr id="28" name="Text Box 15">
                <a:extLst>
                  <a:ext uri="{FF2B5EF4-FFF2-40B4-BE49-F238E27FC236}">
                    <a16:creationId xmlns:a16="http://schemas.microsoft.com/office/drawing/2014/main" id="{0FC1F1D5-54D1-A3EA-1A2C-C45433F536B0}"/>
                  </a:ext>
                </a:extLst>
              </p:cNvPr>
              <p:cNvSpPr txBox="1">
                <a:spLocks noChangeArrowheads="1"/>
              </p:cNvSpPr>
              <p:nvPr/>
            </p:nvSpPr>
            <p:spPr bwMode="auto">
              <a:xfrm>
                <a:off x="4691063" y="594995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Q</a:t>
                </a:r>
              </a:p>
            </p:txBody>
          </p:sp>
          <p:sp>
            <p:nvSpPr>
              <p:cNvPr id="29" name="Line 16">
                <a:extLst>
                  <a:ext uri="{FF2B5EF4-FFF2-40B4-BE49-F238E27FC236}">
                    <a16:creationId xmlns:a16="http://schemas.microsoft.com/office/drawing/2014/main" id="{3353BC51-56E7-20B2-4D56-AAB389492A7A}"/>
                  </a:ext>
                </a:extLst>
              </p:cNvPr>
              <p:cNvSpPr>
                <a:spLocks noChangeShapeType="1"/>
              </p:cNvSpPr>
              <p:nvPr/>
            </p:nvSpPr>
            <p:spPr bwMode="auto">
              <a:xfrm>
                <a:off x="1185863" y="3497263"/>
                <a:ext cx="2743200" cy="2514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latin typeface="Source Sans Pro" panose="020B0503030403020204" pitchFamily="34" charset="0"/>
                </a:endParaRPr>
              </a:p>
            </p:txBody>
          </p:sp>
          <p:sp>
            <p:nvSpPr>
              <p:cNvPr id="30" name="Text Box 17">
                <a:extLst>
                  <a:ext uri="{FF2B5EF4-FFF2-40B4-BE49-F238E27FC236}">
                    <a16:creationId xmlns:a16="http://schemas.microsoft.com/office/drawing/2014/main" id="{8CBCFEE7-E87E-1F3A-717C-B0F59A1370B7}"/>
                  </a:ext>
                </a:extLst>
              </p:cNvPr>
              <p:cNvSpPr txBox="1">
                <a:spLocks noChangeArrowheads="1"/>
              </p:cNvSpPr>
              <p:nvPr/>
            </p:nvSpPr>
            <p:spPr bwMode="auto">
              <a:xfrm>
                <a:off x="621925" y="327818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spcBef>
                    <a:spcPct val="50000"/>
                  </a:spcBef>
                </a:pPr>
                <a:r>
                  <a:rPr lang="en-US" altLang="en-US" dirty="0">
                    <a:latin typeface="Source Sans Pro" panose="020B0503030403020204" pitchFamily="34" charset="0"/>
                  </a:rPr>
                  <a:t>2</a:t>
                </a:r>
              </a:p>
            </p:txBody>
          </p:sp>
          <p:sp>
            <p:nvSpPr>
              <p:cNvPr id="31" name="Text Box 18">
                <a:extLst>
                  <a:ext uri="{FF2B5EF4-FFF2-40B4-BE49-F238E27FC236}">
                    <a16:creationId xmlns:a16="http://schemas.microsoft.com/office/drawing/2014/main" id="{E939B5E7-6508-CCF0-AD73-DD28242C2EBA}"/>
                  </a:ext>
                </a:extLst>
              </p:cNvPr>
              <p:cNvSpPr txBox="1">
                <a:spLocks noChangeArrowheads="1"/>
              </p:cNvSpPr>
              <p:nvPr/>
            </p:nvSpPr>
            <p:spPr bwMode="auto">
              <a:xfrm>
                <a:off x="3700463" y="59658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4</a:t>
                </a:r>
              </a:p>
            </p:txBody>
          </p:sp>
          <p:sp>
            <p:nvSpPr>
              <p:cNvPr id="32" name="Text Box 20">
                <a:extLst>
                  <a:ext uri="{FF2B5EF4-FFF2-40B4-BE49-F238E27FC236}">
                    <a16:creationId xmlns:a16="http://schemas.microsoft.com/office/drawing/2014/main" id="{0979D8CA-543B-B162-5BBC-B608486F0DD9}"/>
                  </a:ext>
                </a:extLst>
              </p:cNvPr>
              <p:cNvSpPr txBox="1">
                <a:spLocks noChangeArrowheads="1"/>
              </p:cNvSpPr>
              <p:nvPr/>
            </p:nvSpPr>
            <p:spPr bwMode="auto">
              <a:xfrm>
                <a:off x="557247" y="4989513"/>
                <a:ext cx="5980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spcBef>
                    <a:spcPct val="50000"/>
                  </a:spcBef>
                </a:pPr>
                <a:r>
                  <a:rPr lang="en-US" altLang="en-US" dirty="0">
                    <a:latin typeface="Source Sans Pro" panose="020B0503030403020204" pitchFamily="34" charset="0"/>
                  </a:rPr>
                  <a:t>0.5</a:t>
                </a:r>
              </a:p>
            </p:txBody>
          </p:sp>
          <p:sp>
            <p:nvSpPr>
              <p:cNvPr id="33" name="Text Box 22">
                <a:extLst>
                  <a:ext uri="{FF2B5EF4-FFF2-40B4-BE49-F238E27FC236}">
                    <a16:creationId xmlns:a16="http://schemas.microsoft.com/office/drawing/2014/main" id="{1F048F96-CB4E-3B7A-5E73-77EC1EECB704}"/>
                  </a:ext>
                </a:extLst>
              </p:cNvPr>
              <p:cNvSpPr txBox="1">
                <a:spLocks noChangeArrowheads="1"/>
              </p:cNvSpPr>
              <p:nvPr/>
            </p:nvSpPr>
            <p:spPr bwMode="auto">
              <a:xfrm>
                <a:off x="2895600" y="595471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altLang="en-US" dirty="0">
                    <a:latin typeface="Source Sans Pro" panose="020B0503030403020204" pitchFamily="34" charset="0"/>
                  </a:rPr>
                  <a:t>3</a:t>
                </a:r>
              </a:p>
            </p:txBody>
          </p:sp>
          <p:sp>
            <p:nvSpPr>
              <p:cNvPr id="34" name="Line 23">
                <a:extLst>
                  <a:ext uri="{FF2B5EF4-FFF2-40B4-BE49-F238E27FC236}">
                    <a16:creationId xmlns:a16="http://schemas.microsoft.com/office/drawing/2014/main" id="{4AF44584-7779-7BFA-C1F0-3F62DCCEB215}"/>
                  </a:ext>
                </a:extLst>
              </p:cNvPr>
              <p:cNvSpPr>
                <a:spLocks noChangeShapeType="1"/>
              </p:cNvSpPr>
              <p:nvPr/>
            </p:nvSpPr>
            <p:spPr bwMode="auto">
              <a:xfrm>
                <a:off x="3105150" y="5265738"/>
                <a:ext cx="0" cy="75088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dirty="0">
                  <a:latin typeface="Source Sans Pro" panose="020B0503030403020204" pitchFamily="34" charset="0"/>
                </a:endParaRPr>
              </a:p>
            </p:txBody>
          </p:sp>
        </p:grpSp>
        <p:sp>
          <p:nvSpPr>
            <p:cNvPr id="23" name="Line 23">
              <a:extLst>
                <a:ext uri="{FF2B5EF4-FFF2-40B4-BE49-F238E27FC236}">
                  <a16:creationId xmlns:a16="http://schemas.microsoft.com/office/drawing/2014/main" id="{6F9D6496-B989-1534-BE11-3574549D9370}"/>
                </a:ext>
              </a:extLst>
            </p:cNvPr>
            <p:cNvSpPr>
              <a:spLocks noChangeShapeType="1"/>
            </p:cNvSpPr>
            <p:nvPr/>
          </p:nvSpPr>
          <p:spPr bwMode="auto">
            <a:xfrm flipH="1">
              <a:off x="1185864" y="5265739"/>
              <a:ext cx="1905000"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dirty="0">
                <a:latin typeface="Source Sans Pro" panose="020B0503030403020204" pitchFamily="34" charset="0"/>
              </a:endParaRPr>
            </a:p>
          </p:txBody>
        </p:sp>
      </p:grpSp>
      <p:sp>
        <p:nvSpPr>
          <p:cNvPr id="35" name="Rounded Rectangle 34">
            <a:extLst>
              <a:ext uri="{FF2B5EF4-FFF2-40B4-BE49-F238E27FC236}">
                <a16:creationId xmlns:a16="http://schemas.microsoft.com/office/drawing/2014/main" id="{9E8B761D-694F-F016-B2FC-BCCA51B9A288}"/>
              </a:ext>
            </a:extLst>
          </p:cNvPr>
          <p:cNvSpPr/>
          <p:nvPr/>
        </p:nvSpPr>
        <p:spPr>
          <a:xfrm>
            <a:off x="6673481" y="3551053"/>
            <a:ext cx="2945649" cy="1430142"/>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en-US" sz="2400" b="1" dirty="0">
                <a:solidFill>
                  <a:schemeClr val="bg1"/>
                </a:solidFill>
                <a:latin typeface="Source Sans Pro" panose="020B0503030403020204" pitchFamily="34" charset="0"/>
              </a:rPr>
              <a:t>Take-it-or-leave-it</a:t>
            </a:r>
            <a:r>
              <a:rPr lang="en-US" altLang="en-US" sz="2400" dirty="0">
                <a:solidFill>
                  <a:schemeClr val="bg1"/>
                </a:solidFill>
                <a:latin typeface="Source Sans Pro" panose="020B0503030403020204" pitchFamily="34" charset="0"/>
              </a:rPr>
              <a:t> offer of $3.75</a:t>
            </a:r>
          </a:p>
        </p:txBody>
      </p:sp>
      <p:sp>
        <p:nvSpPr>
          <p:cNvPr id="36" name="Rectangle 3">
            <a:extLst>
              <a:ext uri="{FF2B5EF4-FFF2-40B4-BE49-F238E27FC236}">
                <a16:creationId xmlns:a16="http://schemas.microsoft.com/office/drawing/2014/main" id="{FFC7A7DB-ED21-A8BD-BBC5-107777C1CCFA}"/>
              </a:ext>
            </a:extLst>
          </p:cNvPr>
          <p:cNvSpPr txBox="1">
            <a:spLocks noChangeArrowheads="1"/>
          </p:cNvSpPr>
          <p:nvPr/>
        </p:nvSpPr>
        <p:spPr bwMode="auto">
          <a:xfrm>
            <a:off x="832284" y="1036456"/>
            <a:ext cx="10212234"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kern="0" dirty="0">
                <a:ea typeface="ＭＳ Ｐゴシック" pitchFamily="34" charset="-128"/>
              </a:rPr>
              <a:t>Remember Jose’</a:t>
            </a:r>
            <a:r>
              <a:rPr lang="en-US" altLang="ja-JP" kern="0" dirty="0">
                <a:ea typeface="ＭＳ Ｐゴシック" pitchFamily="34" charset="-128"/>
              </a:rPr>
              <a:t>s take-it-or-leave it offer?</a:t>
            </a:r>
          </a:p>
          <a:p>
            <a:pPr lvl="1" eaLnBrk="1" hangingPunct="1"/>
            <a:r>
              <a:rPr lang="en-US" altLang="ja-JP" kern="0" dirty="0">
                <a:ea typeface="ＭＳ Ｐゴシック" pitchFamily="34" charset="-128"/>
              </a:rPr>
              <a:t>Consumer surplus + (price/can)*(# of cans)</a:t>
            </a:r>
            <a:endParaRPr lang="en-US" altLang="ja-JP" b="1" kern="0" dirty="0">
              <a:ea typeface="ＭＳ Ｐゴシック" pitchFamily="34" charset="-128"/>
            </a:endParaRPr>
          </a:p>
          <a:p>
            <a:pPr lvl="1" eaLnBrk="1" hangingPunct="1"/>
            <a:r>
              <a:rPr lang="en-US" altLang="ja-JP" kern="0" dirty="0">
                <a:ea typeface="ＭＳ Ｐゴシック" pitchFamily="34" charset="-128"/>
              </a:rPr>
              <a:t>Like assuming costs Coca-Cola $0.50 to produce each can of Coke</a:t>
            </a:r>
          </a:p>
        </p:txBody>
      </p:sp>
    </p:spTree>
    <p:extLst>
      <p:ext uri="{BB962C8B-B14F-4D97-AF65-F5344CB8AC3E}">
        <p14:creationId xmlns:p14="http://schemas.microsoft.com/office/powerpoint/2010/main" val="35973823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r>
              <a:rPr lang="en-US" altLang="en-US" dirty="0"/>
              <a:t>How should the fee and price be set more generally?</a:t>
            </a:r>
          </a:p>
        </p:txBody>
      </p:sp>
      <p:sp>
        <p:nvSpPr>
          <p:cNvPr id="5018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4D297F9-0CA0-4530-B66E-B427E2640FCD}" type="slidenum">
              <a:rPr lang="en-US" altLang="en-US" sz="1400">
                <a:latin typeface="Source Sans Pro" panose="020B0503030403020204" pitchFamily="34" charset="0"/>
                <a:ea typeface="Source Sans Pro" panose="020B0503030403020204" pitchFamily="34" charset="0"/>
              </a:rPr>
              <a:pPr eaLnBrk="1" hangingPunct="1"/>
              <a:t>59</a:t>
            </a:fld>
            <a:endParaRPr lang="en-US" altLang="en-US" sz="1400" dirty="0">
              <a:latin typeface="Source Sans Pro" panose="020B0503030403020204" pitchFamily="34" charset="0"/>
              <a:ea typeface="Source Sans Pro" panose="020B0503030403020204" pitchFamily="34" charset="0"/>
            </a:endParaRPr>
          </a:p>
        </p:txBody>
      </p:sp>
      <p:sp>
        <p:nvSpPr>
          <p:cNvPr id="2" name="Content Placeholder 2">
            <a:extLst>
              <a:ext uri="{FF2B5EF4-FFF2-40B4-BE49-F238E27FC236}">
                <a16:creationId xmlns:a16="http://schemas.microsoft.com/office/drawing/2014/main" id="{A961168A-50F9-7160-8519-143B09ADE1AF}"/>
              </a:ext>
            </a:extLst>
          </p:cNvPr>
          <p:cNvSpPr txBox="1">
            <a:spLocks/>
          </p:cNvSpPr>
          <p:nvPr/>
        </p:nvSpPr>
        <p:spPr bwMode="auto">
          <a:xfrm>
            <a:off x="801269" y="1138067"/>
            <a:ext cx="10887456"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With more than one consumer type, high entry fees </a:t>
            </a:r>
            <a:r>
              <a:rPr lang="en-US" altLang="en-US" sz="2400" b="1" kern="0" dirty="0">
                <a:latin typeface="Source Sans Pro" panose="020B0503030403020204" pitchFamily="34" charset="0"/>
                <a:ea typeface="Source Sans Pro" panose="020B0503030403020204" pitchFamily="34" charset="0"/>
              </a:rPr>
              <a:t>deter some consumers </a:t>
            </a:r>
            <a:r>
              <a:rPr lang="en-US" altLang="en-US" sz="2400" kern="0" dirty="0">
                <a:latin typeface="Source Sans Pro" panose="020B0503030403020204" pitchFamily="34" charset="0"/>
                <a:ea typeface="Source Sans Pro" panose="020B0503030403020204" pitchFamily="34" charset="0"/>
              </a:rPr>
              <a:t>altogether</a:t>
            </a:r>
          </a:p>
          <a:p>
            <a:pPr lvl="1"/>
            <a:r>
              <a:rPr lang="en-US" altLang="en-US" sz="2400" kern="0" dirty="0">
                <a:latin typeface="Source Sans Pro" panose="020B0503030403020204" pitchFamily="34" charset="0"/>
                <a:ea typeface="Source Sans Pro" panose="020B0503030403020204" pitchFamily="34" charset="0"/>
              </a:rPr>
              <a:t>Very hard to find optimal strategy in practice!</a:t>
            </a:r>
          </a:p>
          <a:p>
            <a:pPr lvl="1"/>
            <a:r>
              <a:rPr lang="en-US" altLang="en-US" sz="2400" kern="0" dirty="0">
                <a:latin typeface="Source Sans Pro" panose="020B0503030403020204" pitchFamily="34" charset="0"/>
                <a:ea typeface="Source Sans Pro" panose="020B0503030403020204" pitchFamily="34" charset="0"/>
              </a:rPr>
              <a:t>Do the math!!</a:t>
            </a:r>
          </a:p>
          <a:p>
            <a:pPr lvl="2"/>
            <a:r>
              <a:rPr lang="en-US" altLang="en-US" kern="0" dirty="0">
                <a:latin typeface="Source Sans Pro" panose="020B0503030403020204" pitchFamily="34" charset="0"/>
                <a:ea typeface="Source Sans Pro" panose="020B0503030403020204" pitchFamily="34" charset="0"/>
              </a:rPr>
              <a:t>1,000 high preference types and 25 low preference types: likely charge the high preference consumer surplus as fee</a:t>
            </a:r>
          </a:p>
          <a:p>
            <a:pPr lvl="2"/>
            <a:r>
              <a:rPr lang="en-US" altLang="en-US" kern="0" dirty="0">
                <a:latin typeface="Source Sans Pro" panose="020B0503030403020204" pitchFamily="34" charset="0"/>
                <a:ea typeface="Source Sans Pro" panose="020B0503030403020204" pitchFamily="34" charset="0"/>
              </a:rPr>
              <a:t>2,000 low preference types and 10 high preference types: likely charge the low preference consumer surplus as fee</a:t>
            </a:r>
          </a:p>
        </p:txBody>
      </p:sp>
      <p:sp>
        <p:nvSpPr>
          <p:cNvPr id="3" name="Content Placeholder 2">
            <a:extLst>
              <a:ext uri="{FF2B5EF4-FFF2-40B4-BE49-F238E27FC236}">
                <a16:creationId xmlns:a16="http://schemas.microsoft.com/office/drawing/2014/main" id="{8FA339CE-92C8-04C4-D268-FC6A51CBB2EA}"/>
              </a:ext>
            </a:extLst>
          </p:cNvPr>
          <p:cNvSpPr txBox="1">
            <a:spLocks/>
          </p:cNvSpPr>
          <p:nvPr/>
        </p:nvSpPr>
        <p:spPr bwMode="auto">
          <a:xfrm>
            <a:off x="801269" y="4800608"/>
            <a:ext cx="10887456"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Basic rule: entry fee should equal the </a:t>
            </a:r>
            <a:r>
              <a:rPr lang="en-US" altLang="en-US" sz="2400" b="1" kern="0" dirty="0">
                <a:latin typeface="Source Sans Pro" panose="020B0503030403020204" pitchFamily="34" charset="0"/>
                <a:ea typeface="Source Sans Pro" panose="020B0503030403020204" pitchFamily="34" charset="0"/>
              </a:rPr>
              <a:t>consumer surplus </a:t>
            </a:r>
            <a:r>
              <a:rPr lang="en-US" altLang="en-US" sz="2400" kern="0" dirty="0">
                <a:latin typeface="Source Sans Pro" panose="020B0503030403020204" pitchFamily="34" charset="0"/>
                <a:ea typeface="Source Sans Pro" panose="020B0503030403020204" pitchFamily="34" charset="0"/>
              </a:rPr>
              <a:t>of the </a:t>
            </a:r>
            <a:r>
              <a:rPr lang="en-US" altLang="en-US" sz="2400" b="1" kern="0" dirty="0">
                <a:latin typeface="Source Sans Pro" panose="020B0503030403020204" pitchFamily="34" charset="0"/>
                <a:ea typeface="Source Sans Pro" panose="020B0503030403020204" pitchFamily="34" charset="0"/>
              </a:rPr>
              <a:t>marginal buyer</a:t>
            </a:r>
          </a:p>
          <a:p>
            <a:pPr lvl="1"/>
            <a:r>
              <a:rPr lang="en-US" altLang="en-US" sz="2400" kern="0" dirty="0">
                <a:latin typeface="Source Sans Pro" panose="020B0503030403020204" pitchFamily="34" charset="0"/>
                <a:ea typeface="Source Sans Pro" panose="020B0503030403020204" pitchFamily="34" charset="0"/>
              </a:rPr>
              <a:t>As per-consumer entry fee rises, </a:t>
            </a:r>
            <a:r>
              <a:rPr lang="en-US" altLang="en-US" sz="2400" b="1" kern="0" dirty="0">
                <a:latin typeface="Source Sans Pro" panose="020B0503030403020204" pitchFamily="34" charset="0"/>
                <a:ea typeface="Source Sans Pro" panose="020B0503030403020204" pitchFamily="34" charset="0"/>
              </a:rPr>
              <a:t>revenues initially increase</a:t>
            </a:r>
            <a:r>
              <a:rPr lang="en-US" altLang="en-US" sz="2400" kern="0" dirty="0">
                <a:latin typeface="Source Sans Pro" panose="020B0503030403020204" pitchFamily="34" charset="0"/>
                <a:ea typeface="Source Sans Pro" panose="020B0503030403020204" pitchFamily="34" charset="0"/>
              </a:rPr>
              <a:t>, then start to fall as more customers are excluded</a:t>
            </a:r>
          </a:p>
        </p:txBody>
      </p:sp>
    </p:spTree>
    <p:extLst>
      <p:ext uri="{BB962C8B-B14F-4D97-AF65-F5344CB8AC3E}">
        <p14:creationId xmlns:p14="http://schemas.microsoft.com/office/powerpoint/2010/main" val="118296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p:txBody>
          <a:bodyPr/>
          <a:lstStyle/>
          <a:p>
            <a:r>
              <a:rPr lang="en-US" altLang="en-US" dirty="0"/>
              <a:t>Extended example: Buying the TCSB</a:t>
            </a:r>
          </a:p>
        </p:txBody>
      </p:sp>
      <p:sp>
        <p:nvSpPr>
          <p:cNvPr id="5120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AB70C16-C465-4563-A5BA-1A34B8987406}" type="slidenum">
              <a:rPr lang="en-US" altLang="en-US" sz="1400">
                <a:latin typeface="Source Sans Pro" panose="020B0503030403020204" pitchFamily="34" charset="0"/>
                <a:ea typeface="Source Sans Pro" panose="020B0503030403020204" pitchFamily="34" charset="0"/>
              </a:rPr>
              <a:pPr eaLnBrk="1" hangingPunct="1"/>
              <a:t>60</a:t>
            </a:fld>
            <a:endParaRPr lang="en-US" altLang="en-US" sz="1400" dirty="0">
              <a:latin typeface="Source Sans Pro" panose="020B0503030403020204" pitchFamily="34" charset="0"/>
              <a:ea typeface="Source Sans Pro" panose="020B0503030403020204" pitchFamily="34" charset="0"/>
            </a:endParaRPr>
          </a:p>
        </p:txBody>
      </p:sp>
      <p:sp>
        <p:nvSpPr>
          <p:cNvPr id="2" name="Content Placeholder 2">
            <a:extLst>
              <a:ext uri="{FF2B5EF4-FFF2-40B4-BE49-F238E27FC236}">
                <a16:creationId xmlns:a16="http://schemas.microsoft.com/office/drawing/2014/main" id="{25EFBDD8-6F7E-2555-5310-0D47F537C949}"/>
              </a:ext>
            </a:extLst>
          </p:cNvPr>
          <p:cNvSpPr txBox="1">
            <a:spLocks/>
          </p:cNvSpPr>
          <p:nvPr/>
        </p:nvSpPr>
        <p:spPr bwMode="auto">
          <a:xfrm>
            <a:off x="1051560" y="2249838"/>
            <a:ext cx="101772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A key part of the decision was thinking about alternative methods to </a:t>
            </a:r>
            <a:r>
              <a:rPr lang="en-US" altLang="en-US" sz="2400" b="1" kern="0" dirty="0">
                <a:latin typeface="Source Sans Pro" panose="020B0503030403020204" pitchFamily="34" charset="0"/>
                <a:ea typeface="ＭＳ Ｐゴシック" pitchFamily="34" charset="-128"/>
              </a:rPr>
              <a:t>increase revenue </a:t>
            </a:r>
            <a:r>
              <a:rPr lang="en-US" altLang="en-US" sz="2400" kern="0" dirty="0">
                <a:latin typeface="Source Sans Pro" panose="020B0503030403020204" pitchFamily="34" charset="0"/>
                <a:ea typeface="ＭＳ Ｐゴシック" pitchFamily="34" charset="-128"/>
              </a:rPr>
              <a:t>at the club</a:t>
            </a:r>
          </a:p>
        </p:txBody>
      </p:sp>
      <p:sp>
        <p:nvSpPr>
          <p:cNvPr id="3" name="Content Placeholder 2">
            <a:extLst>
              <a:ext uri="{FF2B5EF4-FFF2-40B4-BE49-F238E27FC236}">
                <a16:creationId xmlns:a16="http://schemas.microsoft.com/office/drawing/2014/main" id="{345266B6-B0A7-7330-5387-4046D6744299}"/>
              </a:ext>
            </a:extLst>
          </p:cNvPr>
          <p:cNvSpPr txBox="1">
            <a:spLocks/>
          </p:cNvSpPr>
          <p:nvPr/>
        </p:nvSpPr>
        <p:spPr bwMode="auto">
          <a:xfrm>
            <a:off x="1051560" y="3120695"/>
            <a:ext cx="101772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The club had </a:t>
            </a:r>
            <a:r>
              <a:rPr lang="en-US" altLang="en-US" sz="2400" b="1" kern="0" dirty="0">
                <a:latin typeface="Source Sans Pro" panose="020B0503030403020204" pitchFamily="34" charset="0"/>
                <a:ea typeface="ＭＳ Ｐゴシック" pitchFamily="34" charset="-128"/>
              </a:rPr>
              <a:t>low prices </a:t>
            </a:r>
            <a:r>
              <a:rPr lang="en-US" altLang="en-US" sz="2400" kern="0" dirty="0">
                <a:latin typeface="Source Sans Pro" panose="020B0503030403020204" pitchFamily="34" charset="0"/>
                <a:ea typeface="ＭＳ Ｐゴシック" pitchFamily="34" charset="-128"/>
              </a:rPr>
              <a:t>and was making a </a:t>
            </a:r>
            <a:r>
              <a:rPr lang="en-US" altLang="en-US" sz="2400" b="1" kern="0" dirty="0">
                <a:latin typeface="Source Sans Pro" panose="020B0503030403020204" pitchFamily="34" charset="0"/>
                <a:ea typeface="ＭＳ Ｐゴシック" pitchFamily="34" charset="-128"/>
              </a:rPr>
              <a:t>small profit </a:t>
            </a:r>
            <a:r>
              <a:rPr lang="en-US" altLang="en-US" sz="2400" kern="0" dirty="0">
                <a:latin typeface="Source Sans Pro" panose="020B0503030403020204" pitchFamily="34" charset="0"/>
                <a:ea typeface="ＭＳ Ｐゴシック" pitchFamily="34" charset="-128"/>
              </a:rPr>
              <a:t>(sat on spectacular real estate…we will ignore that part!)</a:t>
            </a:r>
          </a:p>
        </p:txBody>
      </p:sp>
      <p:sp>
        <p:nvSpPr>
          <p:cNvPr id="4" name="Content Placeholder 2">
            <a:extLst>
              <a:ext uri="{FF2B5EF4-FFF2-40B4-BE49-F238E27FC236}">
                <a16:creationId xmlns:a16="http://schemas.microsoft.com/office/drawing/2014/main" id="{35D60821-910C-9DE5-43FF-FE06D84A7B7C}"/>
              </a:ext>
            </a:extLst>
          </p:cNvPr>
          <p:cNvSpPr txBox="1">
            <a:spLocks/>
          </p:cNvSpPr>
          <p:nvPr/>
        </p:nvSpPr>
        <p:spPr bwMode="auto">
          <a:xfrm>
            <a:off x="1051560" y="3991553"/>
            <a:ext cx="10177272"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The TCSB had plenty of courts (36) so assume no constraints on court time</a:t>
            </a:r>
          </a:p>
          <a:p>
            <a:r>
              <a:rPr lang="en-US" altLang="en-US" sz="2400" kern="0" dirty="0">
                <a:latin typeface="Source Sans Pro" panose="020B0503030403020204" pitchFamily="34" charset="0"/>
                <a:ea typeface="ＭＳ Ｐゴシック" pitchFamily="34" charset="-128"/>
              </a:rPr>
              <a:t>What else should we learn about?</a:t>
            </a:r>
          </a:p>
        </p:txBody>
      </p:sp>
      <p:sp>
        <p:nvSpPr>
          <p:cNvPr id="5" name="Content Placeholder 2">
            <a:extLst>
              <a:ext uri="{FF2B5EF4-FFF2-40B4-BE49-F238E27FC236}">
                <a16:creationId xmlns:a16="http://schemas.microsoft.com/office/drawing/2014/main" id="{3B5B3B38-0CBD-1765-DA5A-EE04FFB1BF66}"/>
              </a:ext>
            </a:extLst>
          </p:cNvPr>
          <p:cNvSpPr txBox="1">
            <a:spLocks/>
          </p:cNvSpPr>
          <p:nvPr/>
        </p:nvSpPr>
        <p:spPr>
          <a:xfrm>
            <a:off x="1051560" y="1378981"/>
            <a:ext cx="10177272" cy="830997"/>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ea typeface="ＭＳ Ｐゴシック" pitchFamily="34" charset="-128"/>
              </a:rPr>
              <a:t>Three tennis enthusiasts were thinking about buying the Tennis Club of Santa Barbara (TCSB)</a:t>
            </a:r>
            <a:endParaRPr lang="en-US" altLang="en-US" kern="0" dirty="0">
              <a:ea typeface="ＭＳ Ｐゴシック" pitchFamily="34" charset="-128"/>
            </a:endParaRPr>
          </a:p>
        </p:txBody>
      </p:sp>
    </p:spTree>
    <p:extLst>
      <p:ext uri="{BB962C8B-B14F-4D97-AF65-F5344CB8AC3E}">
        <p14:creationId xmlns:p14="http://schemas.microsoft.com/office/powerpoint/2010/main" val="103885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r>
              <a:rPr lang="en-US" altLang="en-US" dirty="0"/>
              <a:t>Buying the TCSB: Customers</a:t>
            </a:r>
          </a:p>
        </p:txBody>
      </p:sp>
      <p:sp>
        <p:nvSpPr>
          <p:cNvPr id="52228"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411DF23-C00A-4DAC-9345-539CCE6782C6}" type="slidenum">
              <a:rPr lang="en-US" altLang="en-US" sz="1400">
                <a:latin typeface="Source Sans Pro" panose="020B0503030403020204" pitchFamily="34" charset="0"/>
                <a:ea typeface="Source Sans Pro" panose="020B0503030403020204" pitchFamily="34" charset="0"/>
              </a:rPr>
              <a:pPr eaLnBrk="1" hangingPunct="1"/>
              <a:t>61</a:t>
            </a:fld>
            <a:endParaRPr lang="en-US" altLang="en-US" sz="1400" dirty="0">
              <a:latin typeface="Source Sans Pro" panose="020B0503030403020204" pitchFamily="34" charset="0"/>
              <a:ea typeface="Source Sans Pro" panose="020B0503030403020204" pitchFamily="34" charset="0"/>
            </a:endParaRPr>
          </a:p>
        </p:txBody>
      </p:sp>
      <p:sp>
        <p:nvSpPr>
          <p:cNvPr id="4" name="Content Placeholder 2">
            <a:extLst>
              <a:ext uri="{FF2B5EF4-FFF2-40B4-BE49-F238E27FC236}">
                <a16:creationId xmlns:a16="http://schemas.microsoft.com/office/drawing/2014/main" id="{80094114-CECD-8281-4E88-AB6EACABEC18}"/>
              </a:ext>
            </a:extLst>
          </p:cNvPr>
          <p:cNvSpPr txBox="1">
            <a:spLocks/>
          </p:cNvSpPr>
          <p:nvPr/>
        </p:nvSpPr>
        <p:spPr bwMode="auto">
          <a:xfrm>
            <a:off x="694944" y="1495242"/>
            <a:ext cx="10744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Looking at the TCS’s current membership, there were basically </a:t>
            </a:r>
            <a:r>
              <a:rPr lang="en-US" altLang="en-US" sz="2400" b="1" kern="0" dirty="0">
                <a:latin typeface="Source Sans Pro" panose="020B0503030403020204" pitchFamily="34" charset="0"/>
                <a:ea typeface="Source Sans Pro" panose="020B0503030403020204" pitchFamily="34" charset="0"/>
              </a:rPr>
              <a:t>2 segments </a:t>
            </a:r>
            <a:r>
              <a:rPr lang="en-US" altLang="en-US" sz="2400" kern="0" dirty="0">
                <a:latin typeface="Source Sans Pro" panose="020B0503030403020204" pitchFamily="34" charset="0"/>
                <a:ea typeface="Source Sans Pro" panose="020B0503030403020204" pitchFamily="34" charset="0"/>
              </a:rPr>
              <a:t>of players of roughly equal size</a:t>
            </a:r>
          </a:p>
        </p:txBody>
      </p:sp>
      <p:grpSp>
        <p:nvGrpSpPr>
          <p:cNvPr id="5" name="Group 4">
            <a:extLst>
              <a:ext uri="{FF2B5EF4-FFF2-40B4-BE49-F238E27FC236}">
                <a16:creationId xmlns:a16="http://schemas.microsoft.com/office/drawing/2014/main" id="{CE23D3AE-5CB8-0E9A-3229-5F6BAFB11DC8}"/>
              </a:ext>
            </a:extLst>
          </p:cNvPr>
          <p:cNvGrpSpPr/>
          <p:nvPr/>
        </p:nvGrpSpPr>
        <p:grpSpPr>
          <a:xfrm>
            <a:off x="997130" y="2490281"/>
            <a:ext cx="10382070" cy="1508105"/>
            <a:chOff x="707570" y="2633885"/>
            <a:chExt cx="10382070" cy="1508105"/>
          </a:xfrm>
        </p:grpSpPr>
        <p:sp>
          <p:nvSpPr>
            <p:cNvPr id="9" name="Content Placeholder 2">
              <a:extLst>
                <a:ext uri="{FF2B5EF4-FFF2-40B4-BE49-F238E27FC236}">
                  <a16:creationId xmlns:a16="http://schemas.microsoft.com/office/drawing/2014/main" id="{8BE88EF0-704A-565D-3350-027F474D4D3D}"/>
                </a:ext>
              </a:extLst>
            </p:cNvPr>
            <p:cNvSpPr txBox="1">
              <a:spLocks/>
            </p:cNvSpPr>
            <p:nvPr/>
          </p:nvSpPr>
          <p:spPr bwMode="auto">
            <a:xfrm>
              <a:off x="2956058" y="2633885"/>
              <a:ext cx="8133582"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Type 1: </a:t>
              </a:r>
              <a:r>
                <a:rPr lang="en-US" altLang="en-US" sz="2400" i="1" kern="0" dirty="0">
                  <a:latin typeface="Source Sans Pro" panose="020B0503030403020204" pitchFamily="34" charset="0"/>
                  <a:ea typeface="Source Sans Pro" panose="020B0503030403020204" pitchFamily="34" charset="0"/>
                </a:rPr>
                <a:t>Q</a:t>
              </a:r>
              <a:r>
                <a:rPr lang="en-US" altLang="en-US" sz="2400" i="1" kern="0" baseline="-25000" dirty="0">
                  <a:latin typeface="Source Sans Pro" panose="020B0503030403020204" pitchFamily="34" charset="0"/>
                  <a:ea typeface="Source Sans Pro" panose="020B0503030403020204" pitchFamily="34" charset="0"/>
                </a:rPr>
                <a:t>1</a:t>
              </a:r>
              <a:r>
                <a:rPr lang="en-US" altLang="en-US" sz="2400" kern="0" dirty="0">
                  <a:latin typeface="Source Sans Pro" panose="020B0503030403020204" pitchFamily="34" charset="0"/>
                  <a:ea typeface="Source Sans Pro" panose="020B0503030403020204" pitchFamily="34" charset="0"/>
                </a:rPr>
                <a:t> = 6 – </a:t>
              </a:r>
              <a:r>
                <a:rPr lang="en-US" altLang="en-US" sz="2400" i="1" kern="0" dirty="0">
                  <a:latin typeface="Source Sans Pro" panose="020B0503030403020204" pitchFamily="34" charset="0"/>
                  <a:ea typeface="Source Sans Pro" panose="020B0503030403020204" pitchFamily="34" charset="0"/>
                </a:rPr>
                <a:t>p</a:t>
              </a:r>
              <a:endParaRPr lang="en-US" altLang="en-US" sz="2400" kern="0" dirty="0">
                <a:latin typeface="Source Sans Pro" panose="020B0503030403020204" pitchFamily="34" charset="0"/>
                <a:ea typeface="Source Sans Pro" panose="020B0503030403020204" pitchFamily="34" charset="0"/>
              </a:endParaRPr>
            </a:p>
            <a:p>
              <a:pPr lvl="1"/>
              <a:r>
                <a:rPr lang="en-US" altLang="en-US" sz="2400" kern="0" dirty="0">
                  <a:latin typeface="Source Sans Pro" panose="020B0503030403020204" pitchFamily="34" charset="0"/>
                  <a:ea typeface="Source Sans Pro" panose="020B0503030403020204" pitchFamily="34" charset="0"/>
                </a:rPr>
                <a:t>Q</a:t>
              </a:r>
              <a:r>
                <a:rPr lang="en-US" altLang="en-US" sz="2400" kern="0" baseline="-25000" dirty="0">
                  <a:latin typeface="Source Sans Pro" panose="020B0503030403020204" pitchFamily="34" charset="0"/>
                  <a:ea typeface="Source Sans Pro" panose="020B0503030403020204" pitchFamily="34" charset="0"/>
                </a:rPr>
                <a:t>1</a:t>
              </a:r>
              <a:r>
                <a:rPr lang="en-US" altLang="en-US" sz="2400" kern="0" dirty="0">
                  <a:latin typeface="Source Sans Pro" panose="020B0503030403020204" pitchFamily="34" charset="0"/>
                  <a:ea typeface="Source Sans Pro" panose="020B0503030403020204" pitchFamily="34" charset="0"/>
                </a:rPr>
                <a:t>: court hours per week</a:t>
              </a:r>
            </a:p>
            <a:p>
              <a:pPr lvl="1"/>
              <a:r>
                <a:rPr lang="en-US" altLang="en-US" sz="2400" kern="0" dirty="0">
                  <a:latin typeface="Source Sans Pro" panose="020B0503030403020204" pitchFamily="34" charset="0"/>
                  <a:ea typeface="Source Sans Pro" panose="020B0503030403020204" pitchFamily="34" charset="0"/>
                </a:rPr>
                <a:t>P: court price/hour for an individual player</a:t>
              </a:r>
            </a:p>
          </p:txBody>
        </p:sp>
        <p:sp>
          <p:nvSpPr>
            <p:cNvPr id="11" name="Rounded Rectangle 10">
              <a:extLst>
                <a:ext uri="{FF2B5EF4-FFF2-40B4-BE49-F238E27FC236}">
                  <a16:creationId xmlns:a16="http://schemas.microsoft.com/office/drawing/2014/main" id="{30C7BCF5-FBF7-CD78-AAAA-F56652059538}"/>
                </a:ext>
              </a:extLst>
            </p:cNvPr>
            <p:cNvSpPr/>
            <p:nvPr/>
          </p:nvSpPr>
          <p:spPr>
            <a:xfrm>
              <a:off x="707570" y="2646286"/>
              <a:ext cx="2248485" cy="744639"/>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Serious players</a:t>
              </a:r>
            </a:p>
          </p:txBody>
        </p:sp>
      </p:grpSp>
      <p:grpSp>
        <p:nvGrpSpPr>
          <p:cNvPr id="12" name="Group 11">
            <a:extLst>
              <a:ext uri="{FF2B5EF4-FFF2-40B4-BE49-F238E27FC236}">
                <a16:creationId xmlns:a16="http://schemas.microsoft.com/office/drawing/2014/main" id="{DDE74BCB-079E-21BF-584A-5D68E2EC3BEF}"/>
              </a:ext>
            </a:extLst>
          </p:cNvPr>
          <p:cNvGrpSpPr/>
          <p:nvPr/>
        </p:nvGrpSpPr>
        <p:grpSpPr>
          <a:xfrm>
            <a:off x="997131" y="4092575"/>
            <a:ext cx="10382068" cy="757040"/>
            <a:chOff x="707571" y="4092575"/>
            <a:chExt cx="10382068" cy="757040"/>
          </a:xfrm>
        </p:grpSpPr>
        <p:sp>
          <p:nvSpPr>
            <p:cNvPr id="14" name="Content Placeholder 2">
              <a:extLst>
                <a:ext uri="{FF2B5EF4-FFF2-40B4-BE49-F238E27FC236}">
                  <a16:creationId xmlns:a16="http://schemas.microsoft.com/office/drawing/2014/main" id="{AF9930E9-D85D-2AAE-5D26-9255EF34F88D}"/>
                </a:ext>
              </a:extLst>
            </p:cNvPr>
            <p:cNvSpPr txBox="1">
              <a:spLocks/>
            </p:cNvSpPr>
            <p:nvPr/>
          </p:nvSpPr>
          <p:spPr bwMode="auto">
            <a:xfrm>
              <a:off x="2956056" y="4092575"/>
              <a:ext cx="81335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Type 2: </a:t>
              </a:r>
              <a:r>
                <a:rPr lang="en-US" altLang="en-US" sz="2400" i="1" kern="0" dirty="0">
                  <a:latin typeface="Source Sans Pro" panose="020B0503030403020204" pitchFamily="34" charset="0"/>
                  <a:ea typeface="Source Sans Pro" panose="020B0503030403020204" pitchFamily="34" charset="0"/>
                </a:rPr>
                <a:t>Q</a:t>
              </a:r>
              <a:r>
                <a:rPr lang="en-US" altLang="en-US" sz="2400" i="1" kern="0" baseline="-25000" dirty="0">
                  <a:latin typeface="Source Sans Pro" panose="020B0503030403020204" pitchFamily="34" charset="0"/>
                  <a:ea typeface="Source Sans Pro" panose="020B0503030403020204" pitchFamily="34" charset="0"/>
                </a:rPr>
                <a:t>2</a:t>
              </a:r>
              <a:r>
                <a:rPr lang="en-US" altLang="en-US" sz="2400" kern="0" dirty="0">
                  <a:latin typeface="Source Sans Pro" panose="020B0503030403020204" pitchFamily="34" charset="0"/>
                  <a:ea typeface="Source Sans Pro" panose="020B0503030403020204" pitchFamily="34" charset="0"/>
                </a:rPr>
                <a:t> = 2 – 0.5</a:t>
              </a:r>
              <a:r>
                <a:rPr lang="en-US" altLang="en-US" sz="2400" i="1" kern="0" dirty="0">
                  <a:latin typeface="Source Sans Pro" panose="020B0503030403020204" pitchFamily="34" charset="0"/>
                  <a:ea typeface="Source Sans Pro" panose="020B0503030403020204" pitchFamily="34" charset="0"/>
                </a:rPr>
                <a:t>p</a:t>
              </a:r>
            </a:p>
          </p:txBody>
        </p:sp>
        <p:sp>
          <p:nvSpPr>
            <p:cNvPr id="17" name="Rounded Rectangle 16">
              <a:extLst>
                <a:ext uri="{FF2B5EF4-FFF2-40B4-BE49-F238E27FC236}">
                  <a16:creationId xmlns:a16="http://schemas.microsoft.com/office/drawing/2014/main" id="{35143CA4-C251-CAA7-F4C5-3E44215DF90D}"/>
                </a:ext>
              </a:extLst>
            </p:cNvPr>
            <p:cNvSpPr/>
            <p:nvPr/>
          </p:nvSpPr>
          <p:spPr>
            <a:xfrm>
              <a:off x="707571" y="4104976"/>
              <a:ext cx="2248484" cy="744639"/>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Recreational players</a:t>
              </a:r>
            </a:p>
          </p:txBody>
        </p:sp>
      </p:grpSp>
      <p:grpSp>
        <p:nvGrpSpPr>
          <p:cNvPr id="22" name="Group 21">
            <a:extLst>
              <a:ext uri="{FF2B5EF4-FFF2-40B4-BE49-F238E27FC236}">
                <a16:creationId xmlns:a16="http://schemas.microsoft.com/office/drawing/2014/main" id="{BD3F2886-E5EB-0D4F-BA9A-15FE40D93B33}"/>
              </a:ext>
            </a:extLst>
          </p:cNvPr>
          <p:cNvGrpSpPr/>
          <p:nvPr/>
        </p:nvGrpSpPr>
        <p:grpSpPr>
          <a:xfrm>
            <a:off x="1645920" y="5051133"/>
            <a:ext cx="9022080" cy="1680808"/>
            <a:chOff x="838199" y="5051133"/>
            <a:chExt cx="7481456" cy="1680808"/>
          </a:xfrm>
        </p:grpSpPr>
        <p:grpSp>
          <p:nvGrpSpPr>
            <p:cNvPr id="24" name="Group 23">
              <a:extLst>
                <a:ext uri="{FF2B5EF4-FFF2-40B4-BE49-F238E27FC236}">
                  <a16:creationId xmlns:a16="http://schemas.microsoft.com/office/drawing/2014/main" id="{69DBFB86-DA6D-247F-70EA-3A8892A5ACCF}"/>
                </a:ext>
              </a:extLst>
            </p:cNvPr>
            <p:cNvGrpSpPr/>
            <p:nvPr/>
          </p:nvGrpSpPr>
          <p:grpSpPr>
            <a:xfrm>
              <a:off x="838199" y="5051133"/>
              <a:ext cx="7481456" cy="1578270"/>
              <a:chOff x="838199" y="4911438"/>
              <a:chExt cx="7380514" cy="1717965"/>
            </a:xfrm>
          </p:grpSpPr>
          <p:sp>
            <p:nvSpPr>
              <p:cNvPr id="26" name="Rounded Rectangle 25">
                <a:extLst>
                  <a:ext uri="{FF2B5EF4-FFF2-40B4-BE49-F238E27FC236}">
                    <a16:creationId xmlns:a16="http://schemas.microsoft.com/office/drawing/2014/main" id="{99E3EF5C-68A1-0893-6AEB-821C4954B6DC}"/>
                  </a:ext>
                </a:extLst>
              </p:cNvPr>
              <p:cNvSpPr/>
              <p:nvPr/>
            </p:nvSpPr>
            <p:spPr>
              <a:xfrm>
                <a:off x="838199" y="5227320"/>
                <a:ext cx="7380514" cy="1097280"/>
              </a:xfrm>
              <a:prstGeom prst="roundRect">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Source Sans Pro" panose="020B0503030403020204" pitchFamily="34" charset="0"/>
                  <a:ea typeface="Source Sans Pro" panose="020B0503030403020204" pitchFamily="34" charset="0"/>
                </a:endParaRPr>
              </a:p>
            </p:txBody>
          </p:sp>
          <p:sp>
            <p:nvSpPr>
              <p:cNvPr id="27" name="Oval 26">
                <a:extLst>
                  <a:ext uri="{FF2B5EF4-FFF2-40B4-BE49-F238E27FC236}">
                    <a16:creationId xmlns:a16="http://schemas.microsoft.com/office/drawing/2014/main" id="{8ED85BB9-309E-C037-B560-9041002B6526}"/>
                  </a:ext>
                </a:extLst>
              </p:cNvPr>
              <p:cNvSpPr/>
              <p:nvPr/>
            </p:nvSpPr>
            <p:spPr>
              <a:xfrm>
                <a:off x="838199" y="4911438"/>
                <a:ext cx="7380514" cy="822960"/>
              </a:xfrm>
              <a:prstGeom prst="ellipse">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Source Sans Pro" panose="020B0503030403020204" pitchFamily="34" charset="0"/>
                  <a:ea typeface="Source Sans Pro" panose="020B0503030403020204" pitchFamily="34" charset="0"/>
                </a:endParaRPr>
              </a:p>
            </p:txBody>
          </p:sp>
          <p:sp>
            <p:nvSpPr>
              <p:cNvPr id="28" name="Oval 27">
                <a:extLst>
                  <a:ext uri="{FF2B5EF4-FFF2-40B4-BE49-F238E27FC236}">
                    <a16:creationId xmlns:a16="http://schemas.microsoft.com/office/drawing/2014/main" id="{2AA72F83-D776-C9A0-570D-9D4D702B274B}"/>
                  </a:ext>
                </a:extLst>
              </p:cNvPr>
              <p:cNvSpPr/>
              <p:nvPr/>
            </p:nvSpPr>
            <p:spPr>
              <a:xfrm>
                <a:off x="838199" y="5806443"/>
                <a:ext cx="7380514" cy="822960"/>
              </a:xfrm>
              <a:prstGeom prst="ellipse">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Source Sans Pro" panose="020B0503030403020204" pitchFamily="34" charset="0"/>
                  <a:ea typeface="Source Sans Pro" panose="020B0503030403020204" pitchFamily="34" charset="0"/>
                </a:endParaRPr>
              </a:p>
            </p:txBody>
          </p:sp>
        </p:grpSp>
        <p:sp>
          <p:nvSpPr>
            <p:cNvPr id="25" name="Rectangle 24">
              <a:extLst>
                <a:ext uri="{FF2B5EF4-FFF2-40B4-BE49-F238E27FC236}">
                  <a16:creationId xmlns:a16="http://schemas.microsoft.com/office/drawing/2014/main" id="{FC34E305-F1D5-A9FB-1216-6EB096B2A37C}"/>
                </a:ext>
              </a:extLst>
            </p:cNvPr>
            <p:cNvSpPr/>
            <p:nvPr/>
          </p:nvSpPr>
          <p:spPr>
            <a:xfrm>
              <a:off x="963376" y="5377724"/>
              <a:ext cx="7193425" cy="1354217"/>
            </a:xfrm>
            <a:prstGeom prst="rect">
              <a:avLst/>
            </a:prstGeom>
          </p:spPr>
          <p:txBody>
            <a:bodyPr wrap="square" lIns="0" rIns="0">
              <a:spAutoFit/>
            </a:bodyPr>
            <a:lstStyle/>
            <a:p>
              <a:pPr marL="228600" indent="-228600" eaLnBrk="0" hangingPunct="0">
                <a:spcBef>
                  <a:spcPts val="0"/>
                </a:spcBef>
                <a:spcAft>
                  <a:spcPts val="1200"/>
                </a:spcAft>
                <a:buFontTx/>
                <a:buChar char="•"/>
              </a:pPr>
              <a:r>
                <a:rPr lang="en-US" altLang="en-US" sz="2400" kern="0" dirty="0">
                  <a:solidFill>
                    <a:srgbClr val="000000"/>
                  </a:solidFill>
                  <a:latin typeface="Source Sans Pro" panose="020B0503030403020204" pitchFamily="34" charset="0"/>
                  <a:ea typeface="Source Sans Pro" panose="020B0503030403020204" pitchFamily="34" charset="0"/>
                </a:rPr>
                <a:t>Should we continue to charge $2/hour for all players?</a:t>
              </a:r>
            </a:p>
            <a:p>
              <a:pPr marL="228600" indent="-228600" eaLnBrk="0" hangingPunct="0">
                <a:spcBef>
                  <a:spcPts val="0"/>
                </a:spcBef>
                <a:spcAft>
                  <a:spcPts val="1200"/>
                </a:spcAft>
                <a:buFontTx/>
                <a:buChar char="•"/>
              </a:pPr>
              <a:r>
                <a:rPr lang="en-US" altLang="en-US" sz="2400" kern="0" dirty="0">
                  <a:solidFill>
                    <a:srgbClr val="000000"/>
                  </a:solidFill>
                  <a:latin typeface="Source Sans Pro" panose="020B0503030403020204" pitchFamily="34" charset="0"/>
                  <a:ea typeface="Source Sans Pro" panose="020B0503030403020204" pitchFamily="34" charset="0"/>
                </a:rPr>
                <a:t>Is there a price that we can charge that will </a:t>
              </a:r>
              <a:r>
                <a:rPr lang="en-US" altLang="en-US" sz="2400" b="1" kern="0" dirty="0">
                  <a:solidFill>
                    <a:srgbClr val="000000"/>
                  </a:solidFill>
                  <a:latin typeface="Source Sans Pro" panose="020B0503030403020204" pitchFamily="34" charset="0"/>
                  <a:ea typeface="Source Sans Pro" panose="020B0503030403020204" pitchFamily="34" charset="0"/>
                </a:rPr>
                <a:t>increase revenue</a:t>
              </a:r>
              <a:r>
                <a:rPr lang="en-US" altLang="en-US" sz="2400" kern="0" dirty="0">
                  <a:solidFill>
                    <a:srgbClr val="000000"/>
                  </a:solidFill>
                  <a:latin typeface="Source Sans Pro" panose="020B0503030403020204" pitchFamily="34" charset="0"/>
                  <a:ea typeface="Source Sans Pro" panose="020B0503030403020204" pitchFamily="34" charset="0"/>
                </a:rPr>
                <a:t>?</a:t>
              </a:r>
            </a:p>
          </p:txBody>
        </p:sp>
      </p:grpSp>
      <p:sp>
        <p:nvSpPr>
          <p:cNvPr id="29" name="Content Placeholder 2">
            <a:extLst>
              <a:ext uri="{FF2B5EF4-FFF2-40B4-BE49-F238E27FC236}">
                <a16:creationId xmlns:a16="http://schemas.microsoft.com/office/drawing/2014/main" id="{1674A9BF-973D-DE40-965E-6EC346753F85}"/>
              </a:ext>
            </a:extLst>
          </p:cNvPr>
          <p:cNvSpPr txBox="1">
            <a:spLocks/>
          </p:cNvSpPr>
          <p:nvPr/>
        </p:nvSpPr>
        <p:spPr>
          <a:xfrm>
            <a:off x="694944" y="1021176"/>
            <a:ext cx="10744200" cy="461665"/>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t>Currently, there are </a:t>
            </a:r>
            <a:r>
              <a:rPr lang="en-US" altLang="en-US" b="1" kern="0"/>
              <a:t>2,000 members </a:t>
            </a:r>
            <a:r>
              <a:rPr lang="en-US" altLang="en-US" kern="0"/>
              <a:t>of the TCS who pay </a:t>
            </a:r>
            <a:r>
              <a:rPr lang="en-US" altLang="en-US" b="1" kern="0"/>
              <a:t>$2/hour </a:t>
            </a:r>
            <a:r>
              <a:rPr lang="en-US" altLang="en-US" kern="0"/>
              <a:t>for court time</a:t>
            </a:r>
            <a:endParaRPr lang="en-US" altLang="en-US" kern="0" dirty="0"/>
          </a:p>
        </p:txBody>
      </p:sp>
    </p:spTree>
    <p:extLst>
      <p:ext uri="{BB962C8B-B14F-4D97-AF65-F5344CB8AC3E}">
        <p14:creationId xmlns:p14="http://schemas.microsoft.com/office/powerpoint/2010/main" val="213754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r>
              <a:rPr lang="en-US" altLang="en-US" dirty="0"/>
              <a:t>Buying the TCSB: Demand curves</a:t>
            </a:r>
          </a:p>
        </p:txBody>
      </p:sp>
      <p:sp>
        <p:nvSpPr>
          <p:cNvPr id="52228"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411DF23-C00A-4DAC-9345-539CCE6782C6}" type="slidenum">
              <a:rPr lang="en-US" altLang="en-US" sz="1400">
                <a:latin typeface="Source Sans Pro" panose="020B0503030403020204" pitchFamily="34" charset="0"/>
                <a:ea typeface="Source Sans Pro" panose="020B0503030403020204" pitchFamily="34" charset="0"/>
              </a:rPr>
              <a:pPr eaLnBrk="1" hangingPunct="1"/>
              <a:t>62</a:t>
            </a:fld>
            <a:endParaRPr lang="en-US" altLang="en-US" sz="1400" dirty="0">
              <a:latin typeface="Source Sans Pro" panose="020B0503030403020204" pitchFamily="34" charset="0"/>
              <a:ea typeface="Source Sans Pro" panose="020B0503030403020204" pitchFamily="34" charset="0"/>
            </a:endParaRPr>
          </a:p>
        </p:txBody>
      </p:sp>
      <p:sp>
        <p:nvSpPr>
          <p:cNvPr id="3" name="Line 6">
            <a:extLst>
              <a:ext uri="{FF2B5EF4-FFF2-40B4-BE49-F238E27FC236}">
                <a16:creationId xmlns:a16="http://schemas.microsoft.com/office/drawing/2014/main" id="{DE403BEF-C758-754C-DC6F-6E2665BBD0A6}"/>
              </a:ext>
            </a:extLst>
          </p:cNvPr>
          <p:cNvSpPr>
            <a:spLocks noChangeShapeType="1"/>
          </p:cNvSpPr>
          <p:nvPr/>
        </p:nvSpPr>
        <p:spPr bwMode="auto">
          <a:xfrm>
            <a:off x="3746309" y="1576705"/>
            <a:ext cx="0" cy="38925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4" name="Line 7">
            <a:extLst>
              <a:ext uri="{FF2B5EF4-FFF2-40B4-BE49-F238E27FC236}">
                <a16:creationId xmlns:a16="http://schemas.microsoft.com/office/drawing/2014/main" id="{F5EBF99E-E63C-C980-31A3-688A737B8235}"/>
              </a:ext>
            </a:extLst>
          </p:cNvPr>
          <p:cNvSpPr>
            <a:spLocks noChangeShapeType="1"/>
          </p:cNvSpPr>
          <p:nvPr/>
        </p:nvSpPr>
        <p:spPr bwMode="auto">
          <a:xfrm>
            <a:off x="3733610" y="5466080"/>
            <a:ext cx="423227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5" name="Line 8">
            <a:extLst>
              <a:ext uri="{FF2B5EF4-FFF2-40B4-BE49-F238E27FC236}">
                <a16:creationId xmlns:a16="http://schemas.microsoft.com/office/drawing/2014/main" id="{D7E454DC-32AF-C211-52E7-E2D24296C7CD}"/>
              </a:ext>
            </a:extLst>
          </p:cNvPr>
          <p:cNvSpPr>
            <a:spLocks noChangeShapeType="1"/>
          </p:cNvSpPr>
          <p:nvPr/>
        </p:nvSpPr>
        <p:spPr bwMode="auto">
          <a:xfrm>
            <a:off x="3733610" y="2011680"/>
            <a:ext cx="3881439" cy="34432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6" name="Text Box 9">
            <a:extLst>
              <a:ext uri="{FF2B5EF4-FFF2-40B4-BE49-F238E27FC236}">
                <a16:creationId xmlns:a16="http://schemas.microsoft.com/office/drawing/2014/main" id="{C3D388A8-F7F0-F055-4C79-1919ABD18D44}"/>
              </a:ext>
            </a:extLst>
          </p:cNvPr>
          <p:cNvSpPr txBox="1">
            <a:spLocks noChangeArrowheads="1"/>
          </p:cNvSpPr>
          <p:nvPr/>
        </p:nvSpPr>
        <p:spPr bwMode="auto">
          <a:xfrm>
            <a:off x="7924610" y="5280343"/>
            <a:ext cx="4238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Q</a:t>
            </a:r>
            <a:endParaRPr lang="en-US" altLang="en-US" dirty="0">
              <a:latin typeface="Source Sans Pro" panose="020B0503030403020204" pitchFamily="34" charset="0"/>
              <a:ea typeface="Source Sans Pro" panose="020B0503030403020204" pitchFamily="34" charset="0"/>
            </a:endParaRPr>
          </a:p>
        </p:txBody>
      </p:sp>
      <p:sp>
        <p:nvSpPr>
          <p:cNvPr id="7" name="Text Box 10">
            <a:extLst>
              <a:ext uri="{FF2B5EF4-FFF2-40B4-BE49-F238E27FC236}">
                <a16:creationId xmlns:a16="http://schemas.microsoft.com/office/drawing/2014/main" id="{D4BE598F-C10A-50E5-0FDE-83EDD7BC74FC}"/>
              </a:ext>
            </a:extLst>
          </p:cNvPr>
          <p:cNvSpPr txBox="1">
            <a:spLocks noChangeArrowheads="1"/>
          </p:cNvSpPr>
          <p:nvPr/>
        </p:nvSpPr>
        <p:spPr bwMode="auto">
          <a:xfrm>
            <a:off x="3228784" y="1325880"/>
            <a:ext cx="3714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P</a:t>
            </a:r>
            <a:endParaRPr lang="en-US" altLang="en-US" dirty="0">
              <a:latin typeface="Source Sans Pro" panose="020B0503030403020204" pitchFamily="34" charset="0"/>
              <a:ea typeface="Source Sans Pro" panose="020B0503030403020204" pitchFamily="34" charset="0"/>
            </a:endParaRPr>
          </a:p>
        </p:txBody>
      </p:sp>
      <p:sp>
        <p:nvSpPr>
          <p:cNvPr id="8" name="Text Box 13">
            <a:extLst>
              <a:ext uri="{FF2B5EF4-FFF2-40B4-BE49-F238E27FC236}">
                <a16:creationId xmlns:a16="http://schemas.microsoft.com/office/drawing/2014/main" id="{D5C0A3F3-FECC-EBD9-694B-8182FCD435A1}"/>
              </a:ext>
            </a:extLst>
          </p:cNvPr>
          <p:cNvSpPr txBox="1">
            <a:spLocks noChangeArrowheads="1"/>
          </p:cNvSpPr>
          <p:nvPr/>
        </p:nvSpPr>
        <p:spPr bwMode="auto">
          <a:xfrm>
            <a:off x="3258947" y="1821180"/>
            <a:ext cx="3413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CN" dirty="0">
                <a:latin typeface="Source Sans Pro" panose="020B0503030403020204" pitchFamily="34" charset="0"/>
                <a:ea typeface="Source Sans Pro" panose="020B0503030403020204" pitchFamily="34" charset="0"/>
              </a:rPr>
              <a:t>6</a:t>
            </a:r>
            <a:endParaRPr lang="en-US" altLang="en-US" dirty="0">
              <a:latin typeface="Source Sans Pro" panose="020B0503030403020204" pitchFamily="34" charset="0"/>
              <a:ea typeface="Source Sans Pro" panose="020B0503030403020204" pitchFamily="34" charset="0"/>
            </a:endParaRPr>
          </a:p>
        </p:txBody>
      </p:sp>
      <p:sp>
        <p:nvSpPr>
          <p:cNvPr id="9" name="Text Box 14">
            <a:extLst>
              <a:ext uri="{FF2B5EF4-FFF2-40B4-BE49-F238E27FC236}">
                <a16:creationId xmlns:a16="http://schemas.microsoft.com/office/drawing/2014/main" id="{1F7370C3-E8D6-40E8-04F9-AC721447D0A5}"/>
              </a:ext>
            </a:extLst>
          </p:cNvPr>
          <p:cNvSpPr txBox="1">
            <a:spLocks noChangeArrowheads="1"/>
          </p:cNvSpPr>
          <p:nvPr/>
        </p:nvSpPr>
        <p:spPr bwMode="auto">
          <a:xfrm>
            <a:off x="7461060" y="5593080"/>
            <a:ext cx="3540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6</a:t>
            </a:r>
            <a:endParaRPr lang="en-US" altLang="en-US" dirty="0">
              <a:latin typeface="Source Sans Pro" panose="020B0503030403020204" pitchFamily="34" charset="0"/>
              <a:ea typeface="Source Sans Pro" panose="020B0503030403020204" pitchFamily="34" charset="0"/>
            </a:endParaRPr>
          </a:p>
        </p:txBody>
      </p:sp>
      <p:sp>
        <p:nvSpPr>
          <p:cNvPr id="15" name="Text Box 22">
            <a:extLst>
              <a:ext uri="{FF2B5EF4-FFF2-40B4-BE49-F238E27FC236}">
                <a16:creationId xmlns:a16="http://schemas.microsoft.com/office/drawing/2014/main" id="{74D32A8C-EADD-C0EE-AB21-FD240EC9815A}"/>
              </a:ext>
            </a:extLst>
          </p:cNvPr>
          <p:cNvSpPr txBox="1">
            <a:spLocks noChangeArrowheads="1"/>
          </p:cNvSpPr>
          <p:nvPr/>
        </p:nvSpPr>
        <p:spPr bwMode="auto">
          <a:xfrm>
            <a:off x="7138230" y="4273098"/>
            <a:ext cx="14551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Serious players</a:t>
            </a:r>
            <a:endParaRPr lang="en-US" altLang="en-US" dirty="0">
              <a:latin typeface="Source Sans Pro" panose="020B0503030403020204" pitchFamily="34" charset="0"/>
              <a:ea typeface="Source Sans Pro" panose="020B0503030403020204" pitchFamily="34" charset="0"/>
            </a:endParaRPr>
          </a:p>
        </p:txBody>
      </p:sp>
      <p:sp>
        <p:nvSpPr>
          <p:cNvPr id="20" name="Line 8">
            <a:extLst>
              <a:ext uri="{FF2B5EF4-FFF2-40B4-BE49-F238E27FC236}">
                <a16:creationId xmlns:a16="http://schemas.microsoft.com/office/drawing/2014/main" id="{CF74EE0D-9C0D-6F00-9B63-F29635DABADD}"/>
              </a:ext>
            </a:extLst>
          </p:cNvPr>
          <p:cNvSpPr>
            <a:spLocks noChangeShapeType="1"/>
          </p:cNvSpPr>
          <p:nvPr/>
        </p:nvSpPr>
        <p:spPr bwMode="auto">
          <a:xfrm>
            <a:off x="3746310" y="3045823"/>
            <a:ext cx="1271134" cy="242025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400" dirty="0">
              <a:latin typeface="Source Sans Pro" panose="020B0503030403020204" pitchFamily="34" charset="0"/>
              <a:ea typeface="Source Sans Pro" panose="020B0503030403020204" pitchFamily="34" charset="0"/>
            </a:endParaRPr>
          </a:p>
        </p:txBody>
      </p:sp>
      <p:sp>
        <p:nvSpPr>
          <p:cNvPr id="21" name="Text Box 22">
            <a:extLst>
              <a:ext uri="{FF2B5EF4-FFF2-40B4-BE49-F238E27FC236}">
                <a16:creationId xmlns:a16="http://schemas.microsoft.com/office/drawing/2014/main" id="{42BFFFE7-C913-AE15-53BE-440EEE73EC73}"/>
              </a:ext>
            </a:extLst>
          </p:cNvPr>
          <p:cNvSpPr txBox="1">
            <a:spLocks noChangeArrowheads="1"/>
          </p:cNvSpPr>
          <p:nvPr/>
        </p:nvSpPr>
        <p:spPr bwMode="auto">
          <a:xfrm>
            <a:off x="4859145" y="4521363"/>
            <a:ext cx="136467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Rec players</a:t>
            </a:r>
            <a:endParaRPr lang="en-US" altLang="en-US" dirty="0">
              <a:latin typeface="Source Sans Pro" panose="020B0503030403020204" pitchFamily="34" charset="0"/>
              <a:ea typeface="Source Sans Pro" panose="020B0503030403020204" pitchFamily="34" charset="0"/>
            </a:endParaRPr>
          </a:p>
        </p:txBody>
      </p:sp>
      <p:sp>
        <p:nvSpPr>
          <p:cNvPr id="23" name="Text Box 13">
            <a:extLst>
              <a:ext uri="{FF2B5EF4-FFF2-40B4-BE49-F238E27FC236}">
                <a16:creationId xmlns:a16="http://schemas.microsoft.com/office/drawing/2014/main" id="{592B3773-83D3-40FD-1481-452F9E84A9A9}"/>
              </a:ext>
            </a:extLst>
          </p:cNvPr>
          <p:cNvSpPr txBox="1">
            <a:spLocks noChangeArrowheads="1"/>
          </p:cNvSpPr>
          <p:nvPr/>
        </p:nvSpPr>
        <p:spPr bwMode="auto">
          <a:xfrm>
            <a:off x="3258947" y="2855323"/>
            <a:ext cx="3413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en-US" dirty="0">
                <a:latin typeface="Source Sans Pro" panose="020B0503030403020204" pitchFamily="34" charset="0"/>
                <a:ea typeface="Source Sans Pro" panose="020B0503030403020204" pitchFamily="34" charset="0"/>
              </a:rPr>
              <a:t>4</a:t>
            </a:r>
          </a:p>
        </p:txBody>
      </p:sp>
      <p:sp>
        <p:nvSpPr>
          <p:cNvPr id="24" name="Text Box 11">
            <a:extLst>
              <a:ext uri="{FF2B5EF4-FFF2-40B4-BE49-F238E27FC236}">
                <a16:creationId xmlns:a16="http://schemas.microsoft.com/office/drawing/2014/main" id="{00A8D306-0D4C-9A7D-23DE-2E2567E6FAA5}"/>
              </a:ext>
            </a:extLst>
          </p:cNvPr>
          <p:cNvSpPr txBox="1">
            <a:spLocks noChangeArrowheads="1"/>
          </p:cNvSpPr>
          <p:nvPr/>
        </p:nvSpPr>
        <p:spPr bwMode="auto">
          <a:xfrm>
            <a:off x="4857107" y="5593080"/>
            <a:ext cx="3206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dirty="0">
                <a:latin typeface="Source Sans Pro" panose="020B0503030403020204" pitchFamily="34" charset="0"/>
                <a:ea typeface="Source Sans Pro" panose="020B0503030403020204" pitchFamily="34" charset="0"/>
              </a:rPr>
              <a:t>2</a:t>
            </a:r>
            <a:endParaRPr lang="en-US" altLang="en-US"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8550360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p:txBody>
          <a:bodyPr/>
          <a:lstStyle/>
          <a:p>
            <a:r>
              <a:rPr lang="en-US" altLang="en-US" sz="3600" dirty="0">
                <a:ea typeface="ＭＳ Ｐゴシック" pitchFamily="34" charset="-128"/>
              </a:rPr>
              <a:t>Buying the TCSB: Price discrimination</a:t>
            </a:r>
          </a:p>
        </p:txBody>
      </p:sp>
      <p:sp>
        <p:nvSpPr>
          <p:cNvPr id="5325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D542F8A3-62C4-4FA3-98E9-00214854018E}" type="slidenum">
              <a:rPr lang="en-US" altLang="en-US" sz="1400">
                <a:latin typeface="Source Sans Pro" panose="020B0503030403020204" pitchFamily="34" charset="0"/>
              </a:rPr>
              <a:pPr eaLnBrk="1" hangingPunct="1"/>
              <a:t>63</a:t>
            </a:fld>
            <a:endParaRPr lang="en-US" altLang="en-US" sz="1400" dirty="0">
              <a:latin typeface="Source Sans Pro" panose="020B0503030403020204" pitchFamily="34" charset="0"/>
            </a:endParaRPr>
          </a:p>
        </p:txBody>
      </p:sp>
      <p:sp>
        <p:nvSpPr>
          <p:cNvPr id="2" name="Content Placeholder 2">
            <a:extLst>
              <a:ext uri="{FF2B5EF4-FFF2-40B4-BE49-F238E27FC236}">
                <a16:creationId xmlns:a16="http://schemas.microsoft.com/office/drawing/2014/main" id="{88217BF0-9383-8461-3C10-87BE9FD4119C}"/>
              </a:ext>
            </a:extLst>
          </p:cNvPr>
          <p:cNvSpPr txBox="1">
            <a:spLocks/>
          </p:cNvSpPr>
          <p:nvPr/>
        </p:nvSpPr>
        <p:spPr bwMode="auto">
          <a:xfrm>
            <a:off x="561813" y="1489982"/>
            <a:ext cx="109910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400" kern="0" dirty="0">
                <a:latin typeface="Source Sans Pro" panose="020B0503030403020204" pitchFamily="34" charset="0"/>
                <a:ea typeface="ＭＳ Ｐゴシック" pitchFamily="34" charset="-128"/>
              </a:rPr>
              <a:t>Weekly revenue from a Serious Player = </a:t>
            </a:r>
            <a:r>
              <a:rPr lang="en-US" altLang="en-US" sz="2400" i="1" kern="0" dirty="0">
                <a:latin typeface="Source Sans Pro" panose="020B0503030403020204" pitchFamily="34" charset="0"/>
                <a:ea typeface="ＭＳ Ｐゴシック" pitchFamily="34" charset="-128"/>
              </a:rPr>
              <a:t>p</a:t>
            </a:r>
            <a:r>
              <a:rPr lang="en-US" altLang="en-US" sz="2400" i="1"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r>
              <a:rPr lang="en-US" altLang="en-US" sz="2400" kern="0" baseline="-2500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rPr>
              <a:t>= (6 - </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endParaRPr lang="en-US" altLang="en-US" sz="2400" i="1" kern="0" dirty="0">
              <a:latin typeface="Source Sans Pro" panose="020B0503030403020204" pitchFamily="34" charset="0"/>
              <a:ea typeface="ＭＳ Ｐゴシック" pitchFamily="34" charset="-128"/>
            </a:endParaRPr>
          </a:p>
        </p:txBody>
      </p:sp>
      <p:sp>
        <p:nvSpPr>
          <p:cNvPr id="4" name="Content Placeholder 2">
            <a:extLst>
              <a:ext uri="{FF2B5EF4-FFF2-40B4-BE49-F238E27FC236}">
                <a16:creationId xmlns:a16="http://schemas.microsoft.com/office/drawing/2014/main" id="{22BC1440-2A37-BA6A-2181-8B14A0664326}"/>
              </a:ext>
            </a:extLst>
          </p:cNvPr>
          <p:cNvSpPr txBox="1">
            <a:spLocks/>
          </p:cNvSpPr>
          <p:nvPr/>
        </p:nvSpPr>
        <p:spPr bwMode="auto">
          <a:xfrm>
            <a:off x="561814" y="1926746"/>
            <a:ext cx="10991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400" kern="0" dirty="0">
                <a:latin typeface="Source Sans Pro" panose="020B0503030403020204" pitchFamily="34" charset="0"/>
                <a:ea typeface="ＭＳ Ｐゴシック" pitchFamily="34" charset="-128"/>
              </a:rPr>
              <a:t>1,000 Serious Players, so weekly revenue is 1,000*(6 - </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r>
              <a:rPr lang="en-US" altLang="en-US" sz="2400" i="1" kern="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rPr>
              <a:t>= 6000</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 </a:t>
            </a:r>
            <a:r>
              <a:rPr lang="en-US" altLang="en-US" sz="2400" kern="0" dirty="0">
                <a:latin typeface="Source Sans Pro" panose="020B0503030403020204" pitchFamily="34" charset="0"/>
                <a:ea typeface="ＭＳ Ｐゴシック" pitchFamily="34" charset="-128"/>
              </a:rPr>
              <a:t>- 1000</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r>
              <a:rPr lang="en-US" altLang="en-US" sz="2400" i="1" kern="0" baseline="30000" dirty="0">
                <a:latin typeface="Source Sans Pro" panose="020B0503030403020204" pitchFamily="34" charset="0"/>
                <a:ea typeface="ＭＳ Ｐゴシック" pitchFamily="34" charset="-128"/>
              </a:rPr>
              <a:t>2</a:t>
            </a:r>
            <a:endParaRPr lang="en-US" altLang="en-US" sz="2400" i="1" kern="0" dirty="0">
              <a:latin typeface="Source Sans Pro" panose="020B0503030403020204" pitchFamily="34" charset="0"/>
              <a:ea typeface="ＭＳ Ｐゴシック" pitchFamily="34" charset="-128"/>
            </a:endParaRPr>
          </a:p>
        </p:txBody>
      </p:sp>
      <p:sp>
        <p:nvSpPr>
          <p:cNvPr id="13" name="Content Placeholder 2">
            <a:extLst>
              <a:ext uri="{FF2B5EF4-FFF2-40B4-BE49-F238E27FC236}">
                <a16:creationId xmlns:a16="http://schemas.microsoft.com/office/drawing/2014/main" id="{622978CF-6099-5F84-B3CD-389EECE83920}"/>
              </a:ext>
            </a:extLst>
          </p:cNvPr>
          <p:cNvSpPr txBox="1">
            <a:spLocks/>
          </p:cNvSpPr>
          <p:nvPr/>
        </p:nvSpPr>
        <p:spPr bwMode="auto">
          <a:xfrm>
            <a:off x="561813" y="2363510"/>
            <a:ext cx="109910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400" kern="0" dirty="0">
                <a:latin typeface="Source Sans Pro" panose="020B0503030403020204" pitchFamily="34" charset="0"/>
                <a:ea typeface="ＭＳ Ｐゴシック" pitchFamily="34" charset="-128"/>
              </a:rPr>
              <a:t>MR</a:t>
            </a:r>
            <a:r>
              <a:rPr lang="en-US" altLang="en-US" sz="2400"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 = 6000 – 2000</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endParaRPr lang="en-US" altLang="en-US" sz="2400" i="1" kern="0" dirty="0">
              <a:latin typeface="Source Sans Pro" panose="020B0503030403020204" pitchFamily="34" charset="0"/>
              <a:ea typeface="ＭＳ Ｐゴシック" pitchFamily="34" charset="-128"/>
            </a:endParaRPr>
          </a:p>
        </p:txBody>
      </p:sp>
      <p:sp>
        <p:nvSpPr>
          <p:cNvPr id="14" name="Content Placeholder 2">
            <a:extLst>
              <a:ext uri="{FF2B5EF4-FFF2-40B4-BE49-F238E27FC236}">
                <a16:creationId xmlns:a16="http://schemas.microsoft.com/office/drawing/2014/main" id="{45FEF592-01D1-9FC4-C36C-14E2E2C36433}"/>
              </a:ext>
            </a:extLst>
          </p:cNvPr>
          <p:cNvSpPr txBox="1">
            <a:spLocks/>
          </p:cNvSpPr>
          <p:nvPr/>
        </p:nvSpPr>
        <p:spPr bwMode="auto">
          <a:xfrm>
            <a:off x="561813" y="2800274"/>
            <a:ext cx="109910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400" kern="0" dirty="0">
                <a:latin typeface="Source Sans Pro" panose="020B0503030403020204" pitchFamily="34" charset="0"/>
                <a:ea typeface="ＭＳ Ｐゴシック" pitchFamily="34" charset="-128"/>
              </a:rPr>
              <a:t>Setting MR</a:t>
            </a:r>
            <a:r>
              <a:rPr lang="en-US" altLang="en-US" sz="2400" kern="0" baseline="-25000" dirty="0">
                <a:latin typeface="Source Sans Pro" panose="020B0503030403020204" pitchFamily="34" charset="0"/>
                <a:ea typeface="ＭＳ Ｐゴシック" pitchFamily="34" charset="-128"/>
              </a:rPr>
              <a:t>1 </a:t>
            </a:r>
            <a:r>
              <a:rPr lang="en-US" altLang="en-US" sz="2400" kern="0" dirty="0">
                <a:latin typeface="Source Sans Pro" panose="020B0503030403020204" pitchFamily="34" charset="0"/>
                <a:ea typeface="ＭＳ Ｐゴシック" pitchFamily="34" charset="-128"/>
              </a:rPr>
              <a:t>= 0, we get 6000 – 2000</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r>
              <a:rPr lang="en-US" altLang="en-US" sz="2400" kern="0" baseline="-2500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rPr>
              <a:t>= 0</a:t>
            </a:r>
          </a:p>
        </p:txBody>
      </p:sp>
      <p:sp>
        <p:nvSpPr>
          <p:cNvPr id="15" name="Content Placeholder 2">
            <a:extLst>
              <a:ext uri="{FF2B5EF4-FFF2-40B4-BE49-F238E27FC236}">
                <a16:creationId xmlns:a16="http://schemas.microsoft.com/office/drawing/2014/main" id="{CD96141C-4EE0-5224-6AD3-238BFBCFEA76}"/>
              </a:ext>
            </a:extLst>
          </p:cNvPr>
          <p:cNvSpPr txBox="1">
            <a:spLocks/>
          </p:cNvSpPr>
          <p:nvPr/>
        </p:nvSpPr>
        <p:spPr bwMode="auto">
          <a:xfrm>
            <a:off x="561813" y="3237038"/>
            <a:ext cx="109910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400" kern="0" dirty="0">
                <a:latin typeface="Source Sans Pro" panose="020B0503030403020204" pitchFamily="34" charset="0"/>
                <a:ea typeface="ＭＳ Ｐゴシック" pitchFamily="34" charset="-128"/>
              </a:rPr>
              <a:t>Optimal </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1</a:t>
            </a:r>
            <a:r>
              <a:rPr lang="en-US" altLang="en-US" sz="2400" kern="0" dirty="0">
                <a:latin typeface="Source Sans Pro" panose="020B0503030403020204" pitchFamily="34" charset="0"/>
                <a:ea typeface="ＭＳ Ｐゴシック" pitchFamily="34" charset="-128"/>
              </a:rPr>
              <a:t> = 3 and </a:t>
            </a:r>
            <a:r>
              <a:rPr lang="en-US" altLang="en-US" sz="2400" i="1" kern="0" dirty="0">
                <a:latin typeface="Source Sans Pro" panose="020B0503030403020204" pitchFamily="34" charset="0"/>
                <a:ea typeface="ＭＳ Ｐゴシック" pitchFamily="34" charset="-128"/>
              </a:rPr>
              <a:t>p</a:t>
            </a:r>
            <a:r>
              <a:rPr lang="en-US" altLang="en-US" sz="2400" i="1" kern="0" baseline="-25000" dirty="0">
                <a:latin typeface="Source Sans Pro" panose="020B0503030403020204" pitchFamily="34" charset="0"/>
                <a:ea typeface="ＭＳ Ｐゴシック" pitchFamily="34" charset="-128"/>
              </a:rPr>
              <a:t>1</a:t>
            </a:r>
            <a:r>
              <a:rPr lang="en-US" altLang="en-US" sz="2400" kern="0" baseline="-2500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rPr>
              <a:t>= 3</a:t>
            </a:r>
          </a:p>
        </p:txBody>
      </p:sp>
      <p:sp>
        <p:nvSpPr>
          <p:cNvPr id="16" name="Content Placeholder 2">
            <a:extLst>
              <a:ext uri="{FF2B5EF4-FFF2-40B4-BE49-F238E27FC236}">
                <a16:creationId xmlns:a16="http://schemas.microsoft.com/office/drawing/2014/main" id="{F1E6A099-17F8-0309-D828-57AED50D4CB4}"/>
              </a:ext>
            </a:extLst>
          </p:cNvPr>
          <p:cNvSpPr txBox="1">
            <a:spLocks/>
          </p:cNvSpPr>
          <p:nvPr/>
        </p:nvSpPr>
        <p:spPr bwMode="auto">
          <a:xfrm>
            <a:off x="561813" y="3673802"/>
            <a:ext cx="109910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400" kern="0" dirty="0">
                <a:latin typeface="Source Sans Pro" panose="020B0503030403020204" pitchFamily="34" charset="0"/>
                <a:ea typeface="ＭＳ Ｐゴシック" pitchFamily="34" charset="-128"/>
              </a:rPr>
              <a:t>If charge $3/hour court fee, each Serious Player will play 3 </a:t>
            </a:r>
            <a:r>
              <a:rPr lang="en-US" altLang="en-US" sz="2400" kern="0" dirty="0" err="1">
                <a:latin typeface="Source Sans Pro" panose="020B0503030403020204" pitchFamily="34" charset="0"/>
                <a:ea typeface="ＭＳ Ｐゴシック" pitchFamily="34" charset="-128"/>
              </a:rPr>
              <a:t>hrs</a:t>
            </a:r>
            <a:r>
              <a:rPr lang="en-US" altLang="en-US" sz="2400" kern="0" dirty="0">
                <a:latin typeface="Source Sans Pro" panose="020B0503030403020204" pitchFamily="34" charset="0"/>
                <a:ea typeface="ＭＳ Ｐゴシック" pitchFamily="34" charset="-128"/>
              </a:rPr>
              <a:t>/week (3,000 hours in total)</a:t>
            </a:r>
          </a:p>
        </p:txBody>
      </p:sp>
      <p:sp>
        <p:nvSpPr>
          <p:cNvPr id="17" name="Content Placeholder 2">
            <a:extLst>
              <a:ext uri="{FF2B5EF4-FFF2-40B4-BE49-F238E27FC236}">
                <a16:creationId xmlns:a16="http://schemas.microsoft.com/office/drawing/2014/main" id="{F3DFC57C-6FC4-7D48-1BD6-6BF976E4C79F}"/>
              </a:ext>
            </a:extLst>
          </p:cNvPr>
          <p:cNvSpPr txBox="1">
            <a:spLocks/>
          </p:cNvSpPr>
          <p:nvPr/>
        </p:nvSpPr>
        <p:spPr bwMode="auto">
          <a:xfrm>
            <a:off x="561813" y="4479898"/>
            <a:ext cx="10991087"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What about the 1,000 Rec Players?</a:t>
            </a:r>
          </a:p>
          <a:p>
            <a:pPr lvl="1"/>
            <a:r>
              <a:rPr lang="en-US" altLang="en-US" sz="2400" kern="0" dirty="0">
                <a:latin typeface="Source Sans Pro" panose="020B0503030403020204" pitchFamily="34" charset="0"/>
                <a:ea typeface="ＭＳ Ｐゴシック" pitchFamily="34" charset="-128"/>
              </a:rPr>
              <a:t>Can show optimal </a:t>
            </a:r>
            <a:r>
              <a:rPr lang="en-US" altLang="en-US" sz="2400" i="1" kern="0" dirty="0">
                <a:latin typeface="Source Sans Pro" panose="020B0503030403020204" pitchFamily="34" charset="0"/>
                <a:ea typeface="ＭＳ Ｐゴシック" pitchFamily="34" charset="-128"/>
              </a:rPr>
              <a:t>p</a:t>
            </a:r>
            <a:r>
              <a:rPr lang="en-US" altLang="en-US" sz="2400" i="1" kern="0" baseline="-25000" dirty="0">
                <a:latin typeface="Source Sans Pro" panose="020B0503030403020204" pitchFamily="34" charset="0"/>
                <a:ea typeface="ＭＳ Ｐゴシック" pitchFamily="34" charset="-128"/>
              </a:rPr>
              <a:t>2</a:t>
            </a:r>
            <a:r>
              <a:rPr lang="en-US" altLang="en-US" sz="2400" kern="0" baseline="-25000" dirty="0">
                <a:latin typeface="Source Sans Pro" panose="020B0503030403020204" pitchFamily="34" charset="0"/>
                <a:ea typeface="ＭＳ Ｐゴシック" pitchFamily="34" charset="-128"/>
              </a:rPr>
              <a:t> </a:t>
            </a:r>
            <a:r>
              <a:rPr lang="en-US" altLang="en-US" sz="2400" kern="0" dirty="0">
                <a:latin typeface="Source Sans Pro" panose="020B0503030403020204" pitchFamily="34" charset="0"/>
                <a:ea typeface="ＭＳ Ｐゴシック" pitchFamily="34" charset="-128"/>
              </a:rPr>
              <a:t>= 2 and </a:t>
            </a:r>
            <a:r>
              <a:rPr lang="en-US" altLang="en-US" sz="2400" i="1" kern="0" dirty="0">
                <a:latin typeface="Source Sans Pro" panose="020B0503030403020204" pitchFamily="34" charset="0"/>
                <a:ea typeface="ＭＳ Ｐゴシック" pitchFamily="34" charset="-128"/>
              </a:rPr>
              <a:t>Q</a:t>
            </a:r>
            <a:r>
              <a:rPr lang="en-US" altLang="en-US" sz="2400" i="1" kern="0" baseline="-25000" dirty="0">
                <a:latin typeface="Source Sans Pro" panose="020B0503030403020204" pitchFamily="34" charset="0"/>
                <a:ea typeface="ＭＳ Ｐゴシック" pitchFamily="34" charset="-128"/>
              </a:rPr>
              <a:t>2</a:t>
            </a:r>
            <a:r>
              <a:rPr lang="en-US" altLang="en-US" sz="2400" kern="0" dirty="0">
                <a:latin typeface="Source Sans Pro" panose="020B0503030403020204" pitchFamily="34" charset="0"/>
                <a:ea typeface="ＭＳ Ｐゴシック" pitchFamily="34" charset="-128"/>
              </a:rPr>
              <a:t> = 1 (1,000 hours total)</a:t>
            </a:r>
          </a:p>
        </p:txBody>
      </p:sp>
      <p:sp>
        <p:nvSpPr>
          <p:cNvPr id="18" name="Content Placeholder 2">
            <a:extLst>
              <a:ext uri="{FF2B5EF4-FFF2-40B4-BE49-F238E27FC236}">
                <a16:creationId xmlns:a16="http://schemas.microsoft.com/office/drawing/2014/main" id="{03840B81-9200-F58F-DB9A-88722457C46F}"/>
              </a:ext>
            </a:extLst>
          </p:cNvPr>
          <p:cNvSpPr txBox="1">
            <a:spLocks/>
          </p:cNvSpPr>
          <p:nvPr/>
        </p:nvSpPr>
        <p:spPr bwMode="auto">
          <a:xfrm>
            <a:off x="561813" y="5439884"/>
            <a:ext cx="10991087"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Weekly revenue = $3*3,000 + $2*1,000 = $11,000/week</a:t>
            </a:r>
          </a:p>
          <a:p>
            <a:pPr lvl="1"/>
            <a:r>
              <a:rPr lang="en-US" altLang="en-US" sz="2400" kern="0" dirty="0">
                <a:latin typeface="Source Sans Pro" panose="020B0503030403020204" pitchFamily="34" charset="0"/>
                <a:ea typeface="ＭＳ Ｐゴシック" pitchFamily="34" charset="-128"/>
              </a:rPr>
              <a:t>Was $10,000 ($2*5,000 hours)</a:t>
            </a:r>
          </a:p>
        </p:txBody>
      </p:sp>
      <p:sp>
        <p:nvSpPr>
          <p:cNvPr id="19" name="Content Placeholder 2">
            <a:extLst>
              <a:ext uri="{FF2B5EF4-FFF2-40B4-BE49-F238E27FC236}">
                <a16:creationId xmlns:a16="http://schemas.microsoft.com/office/drawing/2014/main" id="{4B954D06-359C-4C87-94D2-551B57711D4D}"/>
              </a:ext>
            </a:extLst>
          </p:cNvPr>
          <p:cNvSpPr txBox="1">
            <a:spLocks/>
          </p:cNvSpPr>
          <p:nvPr/>
        </p:nvSpPr>
        <p:spPr>
          <a:xfrm>
            <a:off x="561813" y="1053218"/>
            <a:ext cx="10991087" cy="461665"/>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ea typeface="ＭＳ Ｐゴシック" pitchFamily="34" charset="-128"/>
              </a:rPr>
              <a:t>Think about Serious Players first</a:t>
            </a:r>
            <a:endParaRPr lang="en-US" altLang="en-US" kern="0" dirty="0">
              <a:ea typeface="ＭＳ Ｐゴシック" pitchFamily="34" charset="-128"/>
            </a:endParaRPr>
          </a:p>
        </p:txBody>
      </p:sp>
    </p:spTree>
    <p:extLst>
      <p:ext uri="{BB962C8B-B14F-4D97-AF65-F5344CB8AC3E}">
        <p14:creationId xmlns:p14="http://schemas.microsoft.com/office/powerpoint/2010/main" val="227643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3" grpId="0"/>
      <p:bldP spid="14" grpId="0"/>
      <p:bldP spid="15" grpId="0"/>
      <p:bldP spid="16" grpId="0"/>
      <p:bldP spid="17" grpId="0"/>
      <p:bldP spid="1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r>
              <a:rPr lang="en-US" altLang="en-US" dirty="0"/>
              <a:t>Buying the TCSB: Membership fee</a:t>
            </a:r>
          </a:p>
        </p:txBody>
      </p:sp>
      <p:sp>
        <p:nvSpPr>
          <p:cNvPr id="5427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73F78AA-4D1E-4B51-8EFD-65D61AFE7589}" type="slidenum">
              <a:rPr lang="en-US" altLang="en-US" sz="1400">
                <a:latin typeface="Source Sans Pro" panose="020B0503030403020204" pitchFamily="34" charset="0"/>
                <a:ea typeface="Source Sans Pro" panose="020B0503030403020204" pitchFamily="34" charset="0"/>
              </a:rPr>
              <a:pPr eaLnBrk="1" hangingPunct="1"/>
              <a:t>64</a:t>
            </a:fld>
            <a:endParaRPr lang="en-US" altLang="en-US" sz="1400" dirty="0">
              <a:latin typeface="Source Sans Pro" panose="020B0503030403020204" pitchFamily="34" charset="0"/>
              <a:ea typeface="Source Sans Pro" panose="020B0503030403020204" pitchFamily="34" charset="0"/>
            </a:endParaRPr>
          </a:p>
        </p:txBody>
      </p:sp>
      <p:sp>
        <p:nvSpPr>
          <p:cNvPr id="2" name="Content Placeholder 2">
            <a:extLst>
              <a:ext uri="{FF2B5EF4-FFF2-40B4-BE49-F238E27FC236}">
                <a16:creationId xmlns:a16="http://schemas.microsoft.com/office/drawing/2014/main" id="{1DF3B6F2-8082-EC1A-CB83-B137BBEF99BC}"/>
              </a:ext>
            </a:extLst>
          </p:cNvPr>
          <p:cNvSpPr txBox="1">
            <a:spLocks/>
          </p:cNvSpPr>
          <p:nvPr/>
        </p:nvSpPr>
        <p:spPr bwMode="auto">
          <a:xfrm>
            <a:off x="859536" y="3731971"/>
            <a:ext cx="10140696"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One partner argued the club should cater only to Serious Players</a:t>
            </a:r>
          </a:p>
          <a:p>
            <a:r>
              <a:rPr lang="en-US" altLang="en-US" sz="2400" kern="0" dirty="0">
                <a:latin typeface="Source Sans Pro" panose="020B0503030403020204" pitchFamily="34" charset="0"/>
                <a:ea typeface="ＭＳ Ｐゴシック" pitchFamily="34" charset="-128"/>
              </a:rPr>
              <a:t>How would you set up two-part tariff to cater only to Serious Players?</a:t>
            </a:r>
          </a:p>
        </p:txBody>
      </p:sp>
      <p:sp>
        <p:nvSpPr>
          <p:cNvPr id="3" name="Content Placeholder 2">
            <a:extLst>
              <a:ext uri="{FF2B5EF4-FFF2-40B4-BE49-F238E27FC236}">
                <a16:creationId xmlns:a16="http://schemas.microsoft.com/office/drawing/2014/main" id="{78578969-87A4-A2BF-7637-9CE921CB2408}"/>
              </a:ext>
            </a:extLst>
          </p:cNvPr>
          <p:cNvSpPr txBox="1">
            <a:spLocks/>
          </p:cNvSpPr>
          <p:nvPr/>
        </p:nvSpPr>
        <p:spPr>
          <a:xfrm>
            <a:off x="859536" y="1776106"/>
            <a:ext cx="10140696" cy="1877437"/>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ea typeface="ＭＳ Ｐゴシック" pitchFamily="34" charset="-128"/>
              </a:rPr>
              <a:t>Assumed we </a:t>
            </a:r>
            <a:r>
              <a:rPr lang="en-US" altLang="en-US" b="1" kern="0">
                <a:ea typeface="ＭＳ Ｐゴシック" pitchFamily="34" charset="-128"/>
              </a:rPr>
              <a:t>could identify </a:t>
            </a:r>
            <a:r>
              <a:rPr lang="en-US" altLang="en-US" kern="0">
                <a:ea typeface="ＭＳ Ｐゴシック" pitchFamily="34" charset="-128"/>
              </a:rPr>
              <a:t>Serious Player from Rec Player and charge them different prices</a:t>
            </a:r>
          </a:p>
          <a:p>
            <a:r>
              <a:rPr lang="en-US" altLang="en-US" kern="0">
                <a:ea typeface="ＭＳ Ｐゴシック" pitchFamily="34" charset="-128"/>
              </a:rPr>
              <a:t>In addition, seems like we are leaving some consumer surplus on the table</a:t>
            </a:r>
          </a:p>
          <a:p>
            <a:r>
              <a:rPr lang="en-US" altLang="en-US" kern="0">
                <a:ea typeface="ＭＳ Ｐゴシック" pitchFamily="34" charset="-128"/>
              </a:rPr>
              <a:t>What if you adopt a two-part tariff and charge a membership fee?</a:t>
            </a:r>
            <a:endParaRPr lang="en-US" altLang="en-US" kern="0" dirty="0">
              <a:ea typeface="ＭＳ Ｐゴシック" pitchFamily="34" charset="-128"/>
            </a:endParaRPr>
          </a:p>
        </p:txBody>
      </p:sp>
    </p:spTree>
    <p:extLst>
      <p:ext uri="{BB962C8B-B14F-4D97-AF65-F5344CB8AC3E}">
        <p14:creationId xmlns:p14="http://schemas.microsoft.com/office/powerpoint/2010/main" val="17940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r>
              <a:rPr lang="en-US" altLang="en-US" sz="3600" dirty="0">
                <a:ea typeface="ＭＳ Ｐゴシック" pitchFamily="34" charset="-128"/>
              </a:rPr>
              <a:t>Buying the TCSB: Capture CS</a:t>
            </a:r>
          </a:p>
        </p:txBody>
      </p:sp>
      <p:sp>
        <p:nvSpPr>
          <p:cNvPr id="5530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4045958-E239-472E-BF17-E903E7AD7A76}" type="slidenum">
              <a:rPr lang="en-US" altLang="en-US" sz="1400">
                <a:latin typeface="Source Sans Pro" panose="020B0503030403020204" pitchFamily="34" charset="0"/>
              </a:rPr>
              <a:pPr eaLnBrk="1" hangingPunct="1"/>
              <a:t>65</a:t>
            </a:fld>
            <a:endParaRPr lang="en-US" altLang="en-US" sz="1400" dirty="0">
              <a:latin typeface="Source Sans Pro" panose="020B0503030403020204" pitchFamily="34" charset="0"/>
            </a:endParaRPr>
          </a:p>
        </p:txBody>
      </p:sp>
      <p:grpSp>
        <p:nvGrpSpPr>
          <p:cNvPr id="4" name="Group 3"/>
          <p:cNvGrpSpPr/>
          <p:nvPr/>
        </p:nvGrpSpPr>
        <p:grpSpPr>
          <a:xfrm>
            <a:off x="8873791" y="3301524"/>
            <a:ext cx="2572418" cy="2753112"/>
            <a:chOff x="6430568" y="1143000"/>
            <a:chExt cx="2572418" cy="2753112"/>
          </a:xfrm>
        </p:grpSpPr>
        <p:sp>
          <p:nvSpPr>
            <p:cNvPr id="13" name="Line 6"/>
            <p:cNvSpPr>
              <a:spLocks noChangeShapeType="1"/>
            </p:cNvSpPr>
            <p:nvPr/>
          </p:nvSpPr>
          <p:spPr bwMode="auto">
            <a:xfrm>
              <a:off x="6794510" y="1281309"/>
              <a:ext cx="0" cy="214641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en-US" sz="2000" dirty="0">
                <a:latin typeface="Source Sans Pro" panose="020B0503030403020204" pitchFamily="34" charset="0"/>
              </a:endParaRPr>
            </a:p>
          </p:txBody>
        </p:sp>
        <p:sp>
          <p:nvSpPr>
            <p:cNvPr id="14" name="Line 7"/>
            <p:cNvSpPr>
              <a:spLocks noChangeShapeType="1"/>
            </p:cNvSpPr>
            <p:nvPr/>
          </p:nvSpPr>
          <p:spPr bwMode="auto">
            <a:xfrm>
              <a:off x="6788485" y="3425972"/>
              <a:ext cx="200776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en-US" sz="2000" dirty="0">
                <a:latin typeface="Source Sans Pro" panose="020B0503030403020204" pitchFamily="34" charset="0"/>
              </a:endParaRPr>
            </a:p>
          </p:txBody>
        </p:sp>
        <p:sp>
          <p:nvSpPr>
            <p:cNvPr id="15" name="Line 8"/>
            <p:cNvSpPr>
              <a:spLocks noChangeShapeType="1"/>
            </p:cNvSpPr>
            <p:nvPr/>
          </p:nvSpPr>
          <p:spPr bwMode="auto">
            <a:xfrm>
              <a:off x="6788485" y="1521161"/>
              <a:ext cx="1841333" cy="189868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en-US" sz="2000" dirty="0">
                <a:latin typeface="Source Sans Pro" panose="020B0503030403020204" pitchFamily="34" charset="0"/>
              </a:endParaRPr>
            </a:p>
          </p:txBody>
        </p:sp>
        <p:sp>
          <p:nvSpPr>
            <p:cNvPr id="16" name="Text Box 9"/>
            <p:cNvSpPr txBox="1">
              <a:spLocks noChangeArrowheads="1"/>
            </p:cNvSpPr>
            <p:nvPr/>
          </p:nvSpPr>
          <p:spPr bwMode="auto">
            <a:xfrm>
              <a:off x="8776672" y="3323553"/>
              <a:ext cx="2010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2000" dirty="0">
                  <a:latin typeface="Source Sans Pro" panose="020B0503030403020204" pitchFamily="34" charset="0"/>
                  <a:ea typeface="SimSun" pitchFamily="2" charset="-122"/>
                </a:rPr>
                <a:t>Q</a:t>
              </a:r>
              <a:endParaRPr lang="en-US" altLang="en-US" sz="2000" dirty="0">
                <a:latin typeface="Source Sans Pro" panose="020B0503030403020204" pitchFamily="34" charset="0"/>
              </a:endParaRPr>
            </a:p>
          </p:txBody>
        </p:sp>
        <p:sp>
          <p:nvSpPr>
            <p:cNvPr id="17" name="Text Box 10"/>
            <p:cNvSpPr txBox="1">
              <a:spLocks noChangeArrowheads="1"/>
            </p:cNvSpPr>
            <p:nvPr/>
          </p:nvSpPr>
          <p:spPr bwMode="auto">
            <a:xfrm>
              <a:off x="6463145" y="1143000"/>
              <a:ext cx="298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2000" dirty="0">
                  <a:latin typeface="Source Sans Pro" panose="020B0503030403020204" pitchFamily="34" charset="0"/>
                  <a:ea typeface="SimSun" pitchFamily="2" charset="-122"/>
                </a:rPr>
                <a:t>P</a:t>
              </a:r>
              <a:endParaRPr lang="en-US" altLang="en-US" sz="2000" dirty="0">
                <a:latin typeface="Source Sans Pro" panose="020B0503030403020204" pitchFamily="34" charset="0"/>
              </a:endParaRPr>
            </a:p>
          </p:txBody>
        </p:sp>
        <p:sp>
          <p:nvSpPr>
            <p:cNvPr id="18" name="Text Box 13"/>
            <p:cNvSpPr txBox="1">
              <a:spLocks noChangeArrowheads="1"/>
            </p:cNvSpPr>
            <p:nvPr/>
          </p:nvSpPr>
          <p:spPr bwMode="auto">
            <a:xfrm>
              <a:off x="6430568" y="1416116"/>
              <a:ext cx="2946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2000" dirty="0">
                  <a:latin typeface="Source Sans Pro" panose="020B0503030403020204" pitchFamily="34" charset="0"/>
                  <a:ea typeface="SimSun" pitchFamily="2" charset="-122"/>
                </a:rPr>
                <a:t>6</a:t>
              </a:r>
              <a:endParaRPr lang="en-US" altLang="en-US" sz="2000" dirty="0">
                <a:latin typeface="Source Sans Pro" panose="020B0503030403020204" pitchFamily="34" charset="0"/>
              </a:endParaRPr>
            </a:p>
          </p:txBody>
        </p:sp>
        <p:sp>
          <p:nvSpPr>
            <p:cNvPr id="19" name="Text Box 14"/>
            <p:cNvSpPr txBox="1">
              <a:spLocks noChangeArrowheads="1"/>
            </p:cNvSpPr>
            <p:nvPr/>
          </p:nvSpPr>
          <p:spPr bwMode="auto">
            <a:xfrm>
              <a:off x="8556767" y="3496002"/>
              <a:ext cx="1679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2000" dirty="0">
                  <a:latin typeface="Source Sans Pro" panose="020B0503030403020204" pitchFamily="34" charset="0"/>
                  <a:ea typeface="SimSun" pitchFamily="2" charset="-122"/>
                </a:rPr>
                <a:t>6</a:t>
              </a:r>
              <a:endParaRPr lang="en-US" altLang="en-US" sz="2000" dirty="0">
                <a:latin typeface="Source Sans Pro" panose="020B0503030403020204" pitchFamily="34" charset="0"/>
              </a:endParaRPr>
            </a:p>
          </p:txBody>
        </p:sp>
        <p:sp>
          <p:nvSpPr>
            <p:cNvPr id="20" name="Text Box 22"/>
            <p:cNvSpPr txBox="1">
              <a:spLocks noChangeArrowheads="1"/>
            </p:cNvSpPr>
            <p:nvPr/>
          </p:nvSpPr>
          <p:spPr bwMode="auto">
            <a:xfrm>
              <a:off x="7969541" y="2515672"/>
              <a:ext cx="10334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2000" dirty="0">
                  <a:latin typeface="Source Sans Pro" panose="020B0503030403020204" pitchFamily="34" charset="0"/>
                  <a:ea typeface="SimSun" pitchFamily="2" charset="-122"/>
                </a:rPr>
                <a:t>Serious</a:t>
              </a:r>
              <a:endParaRPr lang="en-US" altLang="en-US" sz="2000" dirty="0">
                <a:latin typeface="Source Sans Pro" panose="020B0503030403020204" pitchFamily="34" charset="0"/>
              </a:endParaRPr>
            </a:p>
          </p:txBody>
        </p:sp>
        <p:sp>
          <p:nvSpPr>
            <p:cNvPr id="21" name="Line 8"/>
            <p:cNvSpPr>
              <a:spLocks noChangeShapeType="1"/>
            </p:cNvSpPr>
            <p:nvPr/>
          </p:nvSpPr>
          <p:spPr bwMode="auto">
            <a:xfrm>
              <a:off x="6794510" y="2091403"/>
              <a:ext cx="603019" cy="133456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en-US" sz="2000" dirty="0">
                <a:latin typeface="Source Sans Pro" panose="020B0503030403020204" pitchFamily="34" charset="0"/>
              </a:endParaRPr>
            </a:p>
          </p:txBody>
        </p:sp>
        <p:sp>
          <p:nvSpPr>
            <p:cNvPr id="22" name="Text Box 22"/>
            <p:cNvSpPr txBox="1">
              <a:spLocks noChangeArrowheads="1"/>
            </p:cNvSpPr>
            <p:nvPr/>
          </p:nvSpPr>
          <p:spPr bwMode="auto">
            <a:xfrm>
              <a:off x="7322433" y="2991787"/>
              <a:ext cx="7332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2000" dirty="0">
                  <a:latin typeface="Source Sans Pro" panose="020B0503030403020204" pitchFamily="34" charset="0"/>
                  <a:ea typeface="SimSun" pitchFamily="2" charset="-122"/>
                </a:rPr>
                <a:t>Rec</a:t>
              </a:r>
              <a:endParaRPr lang="en-US" altLang="en-US" sz="2000" dirty="0">
                <a:latin typeface="Source Sans Pro" panose="020B0503030403020204" pitchFamily="34" charset="0"/>
              </a:endParaRPr>
            </a:p>
          </p:txBody>
        </p:sp>
        <p:sp>
          <p:nvSpPr>
            <p:cNvPr id="23" name="Text Box 13"/>
            <p:cNvSpPr txBox="1">
              <a:spLocks noChangeArrowheads="1"/>
            </p:cNvSpPr>
            <p:nvPr/>
          </p:nvSpPr>
          <p:spPr bwMode="auto">
            <a:xfrm>
              <a:off x="6430568" y="1986359"/>
              <a:ext cx="2946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2000" dirty="0">
                  <a:latin typeface="Source Sans Pro" panose="020B0503030403020204" pitchFamily="34" charset="0"/>
                  <a:ea typeface="SimSun" pitchFamily="2" charset="-122"/>
                </a:rPr>
                <a:t>4</a:t>
              </a:r>
              <a:endParaRPr lang="en-US" altLang="en-US" sz="2000" dirty="0">
                <a:latin typeface="Source Sans Pro" panose="020B0503030403020204" pitchFamily="34" charset="0"/>
              </a:endParaRPr>
            </a:p>
          </p:txBody>
        </p:sp>
        <p:sp>
          <p:nvSpPr>
            <p:cNvPr id="24" name="Text Box 11"/>
            <p:cNvSpPr txBox="1">
              <a:spLocks noChangeArrowheads="1"/>
            </p:cNvSpPr>
            <p:nvPr/>
          </p:nvSpPr>
          <p:spPr bwMode="auto">
            <a:xfrm>
              <a:off x="7321465" y="3496002"/>
              <a:ext cx="1521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2000" dirty="0">
                  <a:latin typeface="Source Sans Pro" panose="020B0503030403020204" pitchFamily="34" charset="0"/>
                  <a:ea typeface="SimSun" pitchFamily="2" charset="-122"/>
                </a:rPr>
                <a:t>2</a:t>
              </a:r>
              <a:endParaRPr lang="en-US" altLang="en-US" sz="2000" dirty="0">
                <a:latin typeface="Source Sans Pro" panose="020B0503030403020204" pitchFamily="34" charset="0"/>
              </a:endParaRPr>
            </a:p>
          </p:txBody>
        </p:sp>
      </p:grpSp>
      <p:sp>
        <p:nvSpPr>
          <p:cNvPr id="2" name="Content Placeholder 2">
            <a:extLst>
              <a:ext uri="{FF2B5EF4-FFF2-40B4-BE49-F238E27FC236}">
                <a16:creationId xmlns:a16="http://schemas.microsoft.com/office/drawing/2014/main" id="{685034B0-B7B6-7109-FD7B-38A591BC4CCF}"/>
              </a:ext>
            </a:extLst>
          </p:cNvPr>
          <p:cNvSpPr txBox="1">
            <a:spLocks/>
          </p:cNvSpPr>
          <p:nvPr/>
        </p:nvSpPr>
        <p:spPr bwMode="auto">
          <a:xfrm>
            <a:off x="518083" y="2619109"/>
            <a:ext cx="95847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000" i="1" kern="0" dirty="0">
                <a:latin typeface="Source Sans Pro" panose="020B0503030403020204" pitchFamily="34" charset="0"/>
                <a:ea typeface="ＭＳ Ｐゴシック" pitchFamily="34" charset="-128"/>
              </a:rPr>
              <a:t>p</a:t>
            </a:r>
            <a:r>
              <a:rPr lang="en-US" altLang="en-US" sz="2000" kern="0" dirty="0">
                <a:latin typeface="Source Sans Pro" panose="020B0503030403020204" pitchFamily="34" charset="0"/>
                <a:ea typeface="ＭＳ Ｐゴシック" pitchFamily="34" charset="-128"/>
              </a:rPr>
              <a:t> = cost implies </a:t>
            </a:r>
            <a:r>
              <a:rPr lang="en-US" altLang="en-US" sz="2000" i="1" kern="0" dirty="0">
                <a:latin typeface="Source Sans Pro" panose="020B0503030403020204" pitchFamily="34" charset="0"/>
                <a:ea typeface="ＭＳ Ｐゴシック" pitchFamily="34" charset="-128"/>
              </a:rPr>
              <a:t>p</a:t>
            </a:r>
            <a:r>
              <a:rPr lang="en-US" altLang="en-US" sz="2000" kern="0" dirty="0">
                <a:latin typeface="Source Sans Pro" panose="020B0503030403020204" pitchFamily="34" charset="0"/>
                <a:ea typeface="ＭＳ Ｐゴシック" pitchFamily="34" charset="-128"/>
              </a:rPr>
              <a:t> = 0 [no constraints on providing court time]</a:t>
            </a:r>
          </a:p>
        </p:txBody>
      </p:sp>
      <p:sp>
        <p:nvSpPr>
          <p:cNvPr id="3" name="Content Placeholder 2">
            <a:extLst>
              <a:ext uri="{FF2B5EF4-FFF2-40B4-BE49-F238E27FC236}">
                <a16:creationId xmlns:a16="http://schemas.microsoft.com/office/drawing/2014/main" id="{CDB70EDF-5EAE-850C-3FE6-DFC958C8A617}"/>
              </a:ext>
            </a:extLst>
          </p:cNvPr>
          <p:cNvSpPr txBox="1">
            <a:spLocks/>
          </p:cNvSpPr>
          <p:nvPr/>
        </p:nvSpPr>
        <p:spPr bwMode="auto">
          <a:xfrm>
            <a:off x="518083" y="3121610"/>
            <a:ext cx="95847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000" kern="0" dirty="0">
                <a:latin typeface="Source Sans Pro" panose="020B0503030403020204" pitchFamily="34" charset="0"/>
                <a:ea typeface="ＭＳ Ｐゴシック" pitchFamily="34" charset="-128"/>
              </a:rPr>
              <a:t>Serious Player consumer surplus?</a:t>
            </a:r>
          </a:p>
        </p:txBody>
      </p:sp>
      <p:sp>
        <p:nvSpPr>
          <p:cNvPr id="11" name="Content Placeholder 2">
            <a:extLst>
              <a:ext uri="{FF2B5EF4-FFF2-40B4-BE49-F238E27FC236}">
                <a16:creationId xmlns:a16="http://schemas.microsoft.com/office/drawing/2014/main" id="{6F284B70-54C1-DD61-7605-E6F5ED8C8A98}"/>
              </a:ext>
            </a:extLst>
          </p:cNvPr>
          <p:cNvSpPr txBox="1">
            <a:spLocks/>
          </p:cNvSpPr>
          <p:nvPr/>
        </p:nvSpPr>
        <p:spPr bwMode="auto">
          <a:xfrm>
            <a:off x="518083" y="3624111"/>
            <a:ext cx="95847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000" kern="0" dirty="0">
                <a:latin typeface="Source Sans Pro" panose="020B0503030403020204" pitchFamily="34" charset="0"/>
                <a:ea typeface="Source Sans Pro" panose="020B0503030403020204" pitchFamily="34" charset="0"/>
              </a:rPr>
              <a:t>Calculate area under the Serious Player’s demand curve [</a:t>
            </a:r>
            <a:r>
              <a:rPr lang="en-US" altLang="en-US" sz="2000" i="1" kern="0" dirty="0">
                <a:latin typeface="Source Sans Pro" panose="020B0503030403020204" pitchFamily="34" charset="0"/>
                <a:ea typeface="Source Sans Pro" panose="020B0503030403020204" pitchFamily="34" charset="0"/>
              </a:rPr>
              <a:t>Q</a:t>
            </a:r>
            <a:r>
              <a:rPr lang="en-US" altLang="en-US" sz="2000" i="1" kern="0" baseline="-25000" dirty="0">
                <a:latin typeface="Source Sans Pro" panose="020B0503030403020204" pitchFamily="34" charset="0"/>
                <a:ea typeface="Source Sans Pro" panose="020B0503030403020204" pitchFamily="34" charset="0"/>
              </a:rPr>
              <a:t>1</a:t>
            </a:r>
            <a:r>
              <a:rPr lang="en-US" altLang="en-US" sz="2000" kern="0" dirty="0">
                <a:latin typeface="Source Sans Pro" panose="020B0503030403020204" pitchFamily="34" charset="0"/>
                <a:ea typeface="Source Sans Pro" panose="020B0503030403020204" pitchFamily="34" charset="0"/>
              </a:rPr>
              <a:t> = 6 – </a:t>
            </a:r>
            <a:r>
              <a:rPr lang="en-US" altLang="en-US" sz="2000" i="1" kern="0" dirty="0">
                <a:latin typeface="Source Sans Pro" panose="020B0503030403020204" pitchFamily="34" charset="0"/>
                <a:ea typeface="Source Sans Pro" panose="020B0503030403020204" pitchFamily="34" charset="0"/>
              </a:rPr>
              <a:t>p</a:t>
            </a:r>
            <a:r>
              <a:rPr lang="en-US" altLang="en-US" sz="2000" kern="0" dirty="0">
                <a:latin typeface="Source Sans Pro" panose="020B0503030403020204" pitchFamily="34" charset="0"/>
                <a:ea typeface="Source Sans Pro" panose="020B0503030403020204" pitchFamily="34" charset="0"/>
              </a:rPr>
              <a:t>]</a:t>
            </a:r>
          </a:p>
        </p:txBody>
      </p:sp>
      <p:sp>
        <p:nvSpPr>
          <p:cNvPr id="25" name="Content Placeholder 2">
            <a:extLst>
              <a:ext uri="{FF2B5EF4-FFF2-40B4-BE49-F238E27FC236}">
                <a16:creationId xmlns:a16="http://schemas.microsoft.com/office/drawing/2014/main" id="{3359EC1B-C123-D7AA-B240-4DD69B7627C1}"/>
              </a:ext>
            </a:extLst>
          </p:cNvPr>
          <p:cNvSpPr txBox="1">
            <a:spLocks/>
          </p:cNvSpPr>
          <p:nvPr/>
        </p:nvSpPr>
        <p:spPr bwMode="auto">
          <a:xfrm>
            <a:off x="518083" y="4126612"/>
            <a:ext cx="95847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000" kern="0" dirty="0">
                <a:latin typeface="Source Sans Pro" panose="020B0503030403020204" pitchFamily="34" charset="0"/>
                <a:ea typeface="Source Sans Pro" panose="020B0503030403020204" pitchFamily="34" charset="0"/>
              </a:rPr>
              <a:t>Area = 0.5*6*6 = 18</a:t>
            </a:r>
          </a:p>
        </p:txBody>
      </p:sp>
      <p:sp>
        <p:nvSpPr>
          <p:cNvPr id="26" name="Content Placeholder 2">
            <a:extLst>
              <a:ext uri="{FF2B5EF4-FFF2-40B4-BE49-F238E27FC236}">
                <a16:creationId xmlns:a16="http://schemas.microsoft.com/office/drawing/2014/main" id="{3F6616DA-D1EC-5F06-A2C7-641337BD2DBD}"/>
              </a:ext>
            </a:extLst>
          </p:cNvPr>
          <p:cNvSpPr txBox="1">
            <a:spLocks/>
          </p:cNvSpPr>
          <p:nvPr/>
        </p:nvSpPr>
        <p:spPr bwMode="auto">
          <a:xfrm>
            <a:off x="518083" y="4629113"/>
            <a:ext cx="95847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lvl="1"/>
            <a:r>
              <a:rPr lang="en-US" altLang="en-US" sz="2000" kern="0" dirty="0">
                <a:latin typeface="Source Sans Pro" panose="020B0503030403020204" pitchFamily="34" charset="0"/>
                <a:ea typeface="Source Sans Pro" panose="020B0503030403020204" pitchFamily="34" charset="0"/>
              </a:rPr>
              <a:t>Charge Serious Player annual membership fee = 52*$18 = $936</a:t>
            </a:r>
          </a:p>
        </p:txBody>
      </p:sp>
      <p:sp>
        <p:nvSpPr>
          <p:cNvPr id="27" name="Content Placeholder 2">
            <a:extLst>
              <a:ext uri="{FF2B5EF4-FFF2-40B4-BE49-F238E27FC236}">
                <a16:creationId xmlns:a16="http://schemas.microsoft.com/office/drawing/2014/main" id="{05EDEAAC-6D20-2C05-CA93-B9634E4E5234}"/>
              </a:ext>
            </a:extLst>
          </p:cNvPr>
          <p:cNvSpPr txBox="1">
            <a:spLocks/>
          </p:cNvSpPr>
          <p:nvPr/>
        </p:nvSpPr>
        <p:spPr bwMode="auto">
          <a:xfrm>
            <a:off x="518083" y="5131614"/>
            <a:ext cx="9584747"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000" kern="0" dirty="0">
                <a:latin typeface="Source Sans Pro" panose="020B0503030403020204" pitchFamily="34" charset="0"/>
                <a:ea typeface="ＭＳ Ｐゴシック" pitchFamily="34" charset="-128"/>
              </a:rPr>
              <a:t>Weekly revenue = 1,000*$18 = $18,000 per week</a:t>
            </a:r>
          </a:p>
          <a:p>
            <a:r>
              <a:rPr lang="en-US" altLang="en-US" sz="2000" kern="0" dirty="0">
                <a:latin typeface="Source Sans Pro" panose="020B0503030403020204" pitchFamily="34" charset="0"/>
                <a:ea typeface="ＭＳ Ｐゴシック" pitchFamily="34" charset="-128"/>
              </a:rPr>
              <a:t>Higher revenue by charging membership fee screening out Rec Players!</a:t>
            </a:r>
          </a:p>
        </p:txBody>
      </p:sp>
      <p:sp>
        <p:nvSpPr>
          <p:cNvPr id="28" name="Content Placeholder 2">
            <a:extLst>
              <a:ext uri="{FF2B5EF4-FFF2-40B4-BE49-F238E27FC236}">
                <a16:creationId xmlns:a16="http://schemas.microsoft.com/office/drawing/2014/main" id="{D2A97995-D5A7-C015-24EA-5FFF414D417A}"/>
              </a:ext>
            </a:extLst>
          </p:cNvPr>
          <p:cNvSpPr txBox="1">
            <a:spLocks/>
          </p:cNvSpPr>
          <p:nvPr/>
        </p:nvSpPr>
        <p:spPr>
          <a:xfrm>
            <a:off x="519954" y="1193279"/>
            <a:ext cx="11062446" cy="1323439"/>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000" kern="0">
                <a:ea typeface="ＭＳ Ｐゴシック" pitchFamily="34" charset="-128"/>
              </a:rPr>
              <a:t>Set </a:t>
            </a:r>
            <a:r>
              <a:rPr lang="en-US" altLang="en-US" sz="2000" i="1" kern="0">
                <a:ea typeface="ＭＳ Ｐゴシック" pitchFamily="34" charset="-128"/>
              </a:rPr>
              <a:t>p</a:t>
            </a:r>
            <a:r>
              <a:rPr lang="en-US" altLang="en-US" sz="2000" kern="0">
                <a:ea typeface="ＭＳ Ｐゴシック" pitchFamily="34" charset="-128"/>
              </a:rPr>
              <a:t> = cost to provide, and then pick the fee </a:t>
            </a:r>
            <a:r>
              <a:rPr lang="en-US" altLang="en-US" sz="2000" i="1" kern="0">
                <a:ea typeface="ＭＳ Ｐゴシック" pitchFamily="34" charset="-128"/>
              </a:rPr>
              <a:t>F</a:t>
            </a:r>
            <a:r>
              <a:rPr lang="en-US" altLang="en-US" sz="2000" kern="0">
                <a:ea typeface="ＭＳ Ｐゴシック" pitchFamily="34" charset="-128"/>
              </a:rPr>
              <a:t> to capture consumer surplus of Serious Players</a:t>
            </a:r>
          </a:p>
          <a:p>
            <a:pPr lvl="1"/>
            <a:r>
              <a:rPr lang="en-US" altLang="en-US" sz="2000" kern="0">
                <a:ea typeface="ＭＳ Ｐゴシック" pitchFamily="34" charset="-128"/>
              </a:rPr>
              <a:t>Serious Players’ demand curve lies outside Rec Players’ demand curve</a:t>
            </a:r>
          </a:p>
          <a:p>
            <a:pPr lvl="1"/>
            <a:r>
              <a:rPr lang="en-US" altLang="en-US" sz="2000" kern="0">
                <a:ea typeface="ＭＳ Ｐゴシック" pitchFamily="34" charset="-128"/>
              </a:rPr>
              <a:t>Capturing Serious Players’ consumer surplus implies Rec Players will not want to join</a:t>
            </a:r>
            <a:endParaRPr lang="en-US" altLang="en-US" sz="2000" kern="0" dirty="0">
              <a:ea typeface="ＭＳ Ｐゴシック" pitchFamily="34" charset="-128"/>
            </a:endParaRPr>
          </a:p>
        </p:txBody>
      </p:sp>
    </p:spTree>
    <p:extLst>
      <p:ext uri="{BB962C8B-B14F-4D97-AF65-F5344CB8AC3E}">
        <p14:creationId xmlns:p14="http://schemas.microsoft.com/office/powerpoint/2010/main" val="125324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p:bldP spid="25" grpId="0"/>
      <p:bldP spid="26" grpId="0"/>
      <p:bldP spid="2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ource Sans Pro" panose="020B0503030403020204" pitchFamily="34" charset="0"/>
                <a:ea typeface="Source Sans Pro" panose="020B0503030403020204" pitchFamily="34" charset="0"/>
              </a:rPr>
              <a:t>Agenda</a:t>
            </a:r>
          </a:p>
        </p:txBody>
      </p:sp>
      <p:sp>
        <p:nvSpPr>
          <p:cNvPr id="5" name="Slide Number Placeholder 4"/>
          <p:cNvSpPr>
            <a:spLocks noGrp="1"/>
          </p:cNvSpPr>
          <p:nvPr>
            <p:ph type="sldNum" sz="quarter" idx="12"/>
          </p:nvPr>
        </p:nvSpPr>
        <p:spPr/>
        <p:txBody>
          <a:bodyPr/>
          <a:lstStyle/>
          <a:p>
            <a:fld id="{601CDD02-EF00-47E2-B6EB-B4DAE4D672DA}" type="slidenum">
              <a:rPr lang="en-US" altLang="en-US" smtClean="0">
                <a:latin typeface="Source Sans Pro" panose="020B0503030403020204" pitchFamily="34" charset="0"/>
                <a:ea typeface="Source Sans Pro" panose="020B0503030403020204" pitchFamily="34" charset="0"/>
              </a:rPr>
              <a:pPr/>
              <a:t>66</a:t>
            </a:fld>
            <a:endParaRPr lang="en-US" altLang="en-US" dirty="0">
              <a:latin typeface="Source Sans Pro" panose="020B0503030403020204" pitchFamily="34" charset="0"/>
              <a:ea typeface="Source Sans Pro" panose="020B0503030403020204" pitchFamily="34" charset="0"/>
            </a:endParaRPr>
          </a:p>
        </p:txBody>
      </p:sp>
      <p:sp>
        <p:nvSpPr>
          <p:cNvPr id="3" name="TextBox 2">
            <a:extLst>
              <a:ext uri="{FF2B5EF4-FFF2-40B4-BE49-F238E27FC236}">
                <a16:creationId xmlns:a16="http://schemas.microsoft.com/office/drawing/2014/main" id="{31CF4D6E-7738-6C74-0ACC-DA782408AFBF}"/>
              </a:ext>
            </a:extLst>
          </p:cNvPr>
          <p:cNvSpPr txBox="1"/>
          <p:nvPr/>
        </p:nvSpPr>
        <p:spPr>
          <a:xfrm>
            <a:off x="3135630" y="2882540"/>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Price discrimination</a:t>
            </a:r>
          </a:p>
        </p:txBody>
      </p:sp>
      <p:sp>
        <p:nvSpPr>
          <p:cNvPr id="4" name="TextBox 3">
            <a:extLst>
              <a:ext uri="{FF2B5EF4-FFF2-40B4-BE49-F238E27FC236}">
                <a16:creationId xmlns:a16="http://schemas.microsoft.com/office/drawing/2014/main" id="{6C2E14E9-BBA9-76B3-521A-2501C751CFF8}"/>
              </a:ext>
            </a:extLst>
          </p:cNvPr>
          <p:cNvSpPr txBox="1"/>
          <p:nvPr/>
        </p:nvSpPr>
        <p:spPr>
          <a:xfrm>
            <a:off x="3135630" y="1462806"/>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Revenue maximization</a:t>
            </a:r>
          </a:p>
        </p:txBody>
      </p:sp>
      <p:sp>
        <p:nvSpPr>
          <p:cNvPr id="6" name="TextBox 5">
            <a:extLst>
              <a:ext uri="{FF2B5EF4-FFF2-40B4-BE49-F238E27FC236}">
                <a16:creationId xmlns:a16="http://schemas.microsoft.com/office/drawing/2014/main" id="{959660C0-0D40-2627-CDE6-2DFD7219EA6F}"/>
              </a:ext>
            </a:extLst>
          </p:cNvPr>
          <p:cNvSpPr txBox="1"/>
          <p:nvPr/>
        </p:nvSpPr>
        <p:spPr>
          <a:xfrm>
            <a:off x="3135630" y="2172673"/>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Monopoly pricing</a:t>
            </a:r>
          </a:p>
        </p:txBody>
      </p:sp>
      <p:sp>
        <p:nvSpPr>
          <p:cNvPr id="7" name="TextBox 6">
            <a:extLst>
              <a:ext uri="{FF2B5EF4-FFF2-40B4-BE49-F238E27FC236}">
                <a16:creationId xmlns:a16="http://schemas.microsoft.com/office/drawing/2014/main" id="{038B1868-A4C3-7D79-7148-CA106563A702}"/>
              </a:ext>
            </a:extLst>
          </p:cNvPr>
          <p:cNvSpPr txBox="1"/>
          <p:nvPr/>
        </p:nvSpPr>
        <p:spPr>
          <a:xfrm>
            <a:off x="3135630" y="5722005"/>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American Airlines case</a:t>
            </a:r>
          </a:p>
        </p:txBody>
      </p:sp>
      <p:sp>
        <p:nvSpPr>
          <p:cNvPr id="14" name="TextBox 13">
            <a:extLst>
              <a:ext uri="{FF2B5EF4-FFF2-40B4-BE49-F238E27FC236}">
                <a16:creationId xmlns:a16="http://schemas.microsoft.com/office/drawing/2014/main" id="{87262433-E350-53BC-C4DC-19AE6C28678F}"/>
              </a:ext>
            </a:extLst>
          </p:cNvPr>
          <p:cNvSpPr txBox="1"/>
          <p:nvPr/>
        </p:nvSpPr>
        <p:spPr>
          <a:xfrm>
            <a:off x="3135630" y="3592407"/>
            <a:ext cx="4819686" cy="523220"/>
          </a:xfrm>
          <a:prstGeom prst="rect">
            <a:avLst/>
          </a:prstGeom>
          <a:solidFill>
            <a:schemeClr val="bg1"/>
          </a:solidFill>
          <a:ln>
            <a:solidFill>
              <a:schemeClr val="bg1"/>
            </a:solid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Two-part tariffs</a:t>
            </a:r>
          </a:p>
        </p:txBody>
      </p:sp>
      <p:sp>
        <p:nvSpPr>
          <p:cNvPr id="15" name="TextBox 14">
            <a:extLst>
              <a:ext uri="{FF2B5EF4-FFF2-40B4-BE49-F238E27FC236}">
                <a16:creationId xmlns:a16="http://schemas.microsoft.com/office/drawing/2014/main" id="{792C3877-D228-6C92-08A5-67E342D70178}"/>
              </a:ext>
            </a:extLst>
          </p:cNvPr>
          <p:cNvSpPr txBox="1"/>
          <p:nvPr/>
        </p:nvSpPr>
        <p:spPr>
          <a:xfrm>
            <a:off x="3135630" y="4302274"/>
            <a:ext cx="4819686" cy="523220"/>
          </a:xfrm>
          <a:prstGeom prst="rect">
            <a:avLst/>
          </a:prstGeom>
          <a:solidFill>
            <a:srgbClr val="67C8C7"/>
          </a:solidFill>
          <a:ln>
            <a:solidFill>
              <a:srgbClr val="67C8C7"/>
            </a:solidFill>
          </a:ln>
        </p:spPr>
        <p:txBody>
          <a:bodyPr wrap="square" rtlCol="0">
            <a:spAutoFit/>
          </a:bodyPr>
          <a:lstStyle/>
          <a:p>
            <a:pPr marL="285750" indent="-285750">
              <a:buFont typeface="Arial" panose="020B0604020202020204" pitchFamily="34" charset="0"/>
              <a:buChar char="•"/>
            </a:pPr>
            <a:r>
              <a:rPr lang="en-US" sz="2800" b="1" dirty="0">
                <a:solidFill>
                  <a:schemeClr val="bg1"/>
                </a:solidFill>
                <a:latin typeface="Source Sans Pro" panose="020B0503030403020204" pitchFamily="34" charset="0"/>
                <a:ea typeface="Source Sans Pro" panose="020B0503030403020204" pitchFamily="34" charset="0"/>
              </a:rPr>
              <a:t>Bundling</a:t>
            </a:r>
          </a:p>
        </p:txBody>
      </p:sp>
      <p:sp>
        <p:nvSpPr>
          <p:cNvPr id="16" name="TextBox 15">
            <a:extLst>
              <a:ext uri="{FF2B5EF4-FFF2-40B4-BE49-F238E27FC236}">
                <a16:creationId xmlns:a16="http://schemas.microsoft.com/office/drawing/2014/main" id="{8D82BA55-14FA-DA26-1153-69DDFE651EF1}"/>
              </a:ext>
            </a:extLst>
          </p:cNvPr>
          <p:cNvSpPr txBox="1"/>
          <p:nvPr/>
        </p:nvSpPr>
        <p:spPr>
          <a:xfrm>
            <a:off x="3135630" y="5012141"/>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Adverse selection</a:t>
            </a:r>
          </a:p>
        </p:txBody>
      </p:sp>
    </p:spTree>
    <p:extLst>
      <p:ext uri="{BB962C8B-B14F-4D97-AF65-F5344CB8AC3E}">
        <p14:creationId xmlns:p14="http://schemas.microsoft.com/office/powerpoint/2010/main" val="36174866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r>
              <a:rPr lang="en-US" altLang="en-US" dirty="0"/>
              <a:t>Bundling</a:t>
            </a:r>
          </a:p>
        </p:txBody>
      </p:sp>
      <p:sp>
        <p:nvSpPr>
          <p:cNvPr id="563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4680EA8A-20EC-4BBD-ABEB-C6DDC27DF103}" type="slidenum">
              <a:rPr lang="en-US" altLang="en-US" sz="1400">
                <a:latin typeface="Source Sans Pro" panose="020B0503030403020204" pitchFamily="34" charset="0"/>
                <a:ea typeface="Source Sans Pro" panose="020B0503030403020204" pitchFamily="34" charset="0"/>
              </a:rPr>
              <a:pPr eaLnBrk="1" hangingPunct="1"/>
              <a:t>67</a:t>
            </a:fld>
            <a:endParaRPr lang="en-US" altLang="en-US" sz="1400" dirty="0">
              <a:latin typeface="Source Sans Pro" panose="020B0503030403020204" pitchFamily="34" charset="0"/>
              <a:ea typeface="Source Sans Pro" panose="020B0503030403020204" pitchFamily="34" charset="0"/>
            </a:endParaRPr>
          </a:p>
        </p:txBody>
      </p:sp>
      <p:grpSp>
        <p:nvGrpSpPr>
          <p:cNvPr id="2" name="Group 1">
            <a:extLst>
              <a:ext uri="{FF2B5EF4-FFF2-40B4-BE49-F238E27FC236}">
                <a16:creationId xmlns:a16="http://schemas.microsoft.com/office/drawing/2014/main" id="{47E490AE-7D3B-6CF8-42A9-1F803A47142F}"/>
              </a:ext>
            </a:extLst>
          </p:cNvPr>
          <p:cNvGrpSpPr/>
          <p:nvPr/>
        </p:nvGrpSpPr>
        <p:grpSpPr>
          <a:xfrm>
            <a:off x="1018190" y="2458213"/>
            <a:ext cx="10242138" cy="2031325"/>
            <a:chOff x="527462" y="2519144"/>
            <a:chExt cx="10242138" cy="2031325"/>
          </a:xfrm>
        </p:grpSpPr>
        <p:sp>
          <p:nvSpPr>
            <p:cNvPr id="3" name="Rounded Rectangle 2">
              <a:extLst>
                <a:ext uri="{FF2B5EF4-FFF2-40B4-BE49-F238E27FC236}">
                  <a16:creationId xmlns:a16="http://schemas.microsoft.com/office/drawing/2014/main" id="{70AF92DE-4CA9-DC04-DB74-DAB95D56E0AA}"/>
                </a:ext>
              </a:extLst>
            </p:cNvPr>
            <p:cNvSpPr/>
            <p:nvPr/>
          </p:nvSpPr>
          <p:spPr>
            <a:xfrm>
              <a:off x="527462" y="2519144"/>
              <a:ext cx="1796142" cy="868213"/>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Necessary conditions</a:t>
              </a:r>
            </a:p>
          </p:txBody>
        </p:sp>
        <p:sp>
          <p:nvSpPr>
            <p:cNvPr id="4" name="Rectangle 3">
              <a:extLst>
                <a:ext uri="{FF2B5EF4-FFF2-40B4-BE49-F238E27FC236}">
                  <a16:creationId xmlns:a16="http://schemas.microsoft.com/office/drawing/2014/main" id="{07E2B5D0-778C-89DB-C4E7-7D5F94F790C2}"/>
                </a:ext>
              </a:extLst>
            </p:cNvPr>
            <p:cNvSpPr txBox="1">
              <a:spLocks noChangeArrowheads="1"/>
            </p:cNvSpPr>
            <p:nvPr/>
          </p:nvSpPr>
          <p:spPr bwMode="auto">
            <a:xfrm>
              <a:off x="2323604" y="2519144"/>
              <a:ext cx="8445996"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Same as for price discrimination …</a:t>
              </a:r>
            </a:p>
            <a:p>
              <a:pPr lvl="1"/>
              <a:r>
                <a:rPr lang="en-US" altLang="en-US" sz="2400" b="1" kern="0" dirty="0">
                  <a:latin typeface="Source Sans Pro" panose="020B0503030403020204" pitchFamily="34" charset="0"/>
                  <a:ea typeface="Source Sans Pro" panose="020B0503030403020204" pitchFamily="34" charset="0"/>
                </a:rPr>
                <a:t>Market power</a:t>
              </a:r>
            </a:p>
            <a:p>
              <a:pPr lvl="1"/>
              <a:r>
                <a:rPr lang="en-US" altLang="en-US" sz="2400" kern="0" dirty="0">
                  <a:latin typeface="Source Sans Pro" panose="020B0503030403020204" pitchFamily="34" charset="0"/>
                  <a:ea typeface="Source Sans Pro" panose="020B0503030403020204" pitchFamily="34" charset="0"/>
                </a:rPr>
                <a:t>Information about </a:t>
              </a:r>
              <a:r>
                <a:rPr lang="en-US" altLang="en-US" sz="2400" b="1" kern="0" dirty="0">
                  <a:latin typeface="Source Sans Pro" panose="020B0503030403020204" pitchFamily="34" charset="0"/>
                  <a:ea typeface="Source Sans Pro" panose="020B0503030403020204" pitchFamily="34" charset="0"/>
                </a:rPr>
                <a:t>variation </a:t>
              </a:r>
              <a:r>
                <a:rPr lang="en-US" altLang="en-US" sz="2400" kern="0" dirty="0">
                  <a:latin typeface="Source Sans Pro" panose="020B0503030403020204" pitchFamily="34" charset="0"/>
                  <a:ea typeface="Source Sans Pro" panose="020B0503030403020204" pitchFamily="34" charset="0"/>
                </a:rPr>
                <a:t>in consumers preferences</a:t>
              </a:r>
            </a:p>
            <a:p>
              <a:pPr lvl="1"/>
              <a:r>
                <a:rPr lang="en-US" altLang="en-US" sz="2400" b="1" kern="0" dirty="0">
                  <a:latin typeface="Source Sans Pro" panose="020B0503030403020204" pitchFamily="34" charset="0"/>
                  <a:ea typeface="Source Sans Pro" panose="020B0503030403020204" pitchFamily="34" charset="0"/>
                </a:rPr>
                <a:t>No resale </a:t>
              </a:r>
              <a:r>
                <a:rPr lang="en-US" altLang="en-US" sz="2400" kern="0" dirty="0">
                  <a:latin typeface="Source Sans Pro" panose="020B0503030403020204" pitchFamily="34" charset="0"/>
                  <a:ea typeface="Source Sans Pro" panose="020B0503030403020204" pitchFamily="34" charset="0"/>
                </a:rPr>
                <a:t>of products</a:t>
              </a:r>
            </a:p>
          </p:txBody>
        </p:sp>
      </p:grpSp>
      <p:grpSp>
        <p:nvGrpSpPr>
          <p:cNvPr id="5" name="Group 4">
            <a:extLst>
              <a:ext uri="{FF2B5EF4-FFF2-40B4-BE49-F238E27FC236}">
                <a16:creationId xmlns:a16="http://schemas.microsoft.com/office/drawing/2014/main" id="{501BF151-A76D-2A6B-C92B-95B1D9D9B614}"/>
              </a:ext>
            </a:extLst>
          </p:cNvPr>
          <p:cNvGrpSpPr/>
          <p:nvPr/>
        </p:nvGrpSpPr>
        <p:grpSpPr>
          <a:xfrm>
            <a:off x="1018190" y="4670518"/>
            <a:ext cx="10242138" cy="1354217"/>
            <a:chOff x="527462" y="4893424"/>
            <a:chExt cx="10242138" cy="1354217"/>
          </a:xfrm>
        </p:grpSpPr>
        <p:sp>
          <p:nvSpPr>
            <p:cNvPr id="7" name="Rounded Rectangle 6">
              <a:extLst>
                <a:ext uri="{FF2B5EF4-FFF2-40B4-BE49-F238E27FC236}">
                  <a16:creationId xmlns:a16="http://schemas.microsoft.com/office/drawing/2014/main" id="{94881FA8-323E-420D-F71B-11978E529712}"/>
                </a:ext>
              </a:extLst>
            </p:cNvPr>
            <p:cNvSpPr/>
            <p:nvPr/>
          </p:nvSpPr>
          <p:spPr>
            <a:xfrm>
              <a:off x="527462" y="4893424"/>
              <a:ext cx="1796142" cy="868213"/>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Examples</a:t>
              </a:r>
            </a:p>
          </p:txBody>
        </p:sp>
        <p:sp>
          <p:nvSpPr>
            <p:cNvPr id="8" name="Rectangle 3">
              <a:extLst>
                <a:ext uri="{FF2B5EF4-FFF2-40B4-BE49-F238E27FC236}">
                  <a16:creationId xmlns:a16="http://schemas.microsoft.com/office/drawing/2014/main" id="{1FC52BA2-E369-4EC8-B804-E9808D2B26A9}"/>
                </a:ext>
              </a:extLst>
            </p:cNvPr>
            <p:cNvSpPr txBox="1">
              <a:spLocks noChangeArrowheads="1"/>
            </p:cNvSpPr>
            <p:nvPr/>
          </p:nvSpPr>
          <p:spPr bwMode="auto">
            <a:xfrm>
              <a:off x="2323604" y="4893424"/>
              <a:ext cx="8445996"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Source Sans Pro" panose="020B0503030403020204" pitchFamily="34" charset="0"/>
                </a:rPr>
                <a:t>A news site is a bundle of different sections</a:t>
              </a:r>
            </a:p>
            <a:p>
              <a:r>
                <a:rPr lang="en-US" altLang="en-US" sz="2400" kern="0" dirty="0">
                  <a:latin typeface="Source Sans Pro" panose="020B0503030403020204" pitchFamily="34" charset="0"/>
                  <a:ea typeface="Source Sans Pro" panose="020B0503030403020204" pitchFamily="34" charset="0"/>
                </a:rPr>
                <a:t>Car</a:t>
              </a:r>
              <a:r>
                <a:rPr lang="ja-JP" altLang="en-US" sz="2400" kern="0" dirty="0">
                  <a:latin typeface="Source Sans Pro" panose="020B0503030403020204" pitchFamily="34" charset="0"/>
                  <a:ea typeface="Arial" pitchFamily="34" charset="0"/>
                </a:rPr>
                <a:t>’</a:t>
              </a:r>
              <a:r>
                <a:rPr lang="en-US" altLang="ja-JP" sz="2400" kern="0" dirty="0">
                  <a:latin typeface="Source Sans Pro" panose="020B0503030403020204" pitchFamily="34" charset="0"/>
                  <a:ea typeface="Source Sans Pro" panose="020B0503030403020204" pitchFamily="34" charset="0"/>
                </a:rPr>
                <a:t>s manufacturer might offer premium radio and sunroof together in an unbreakable </a:t>
              </a:r>
              <a:r>
                <a:rPr lang="ja-JP" altLang="en-US" sz="2400" kern="0" dirty="0">
                  <a:latin typeface="Source Sans Pro" panose="020B0503030403020204" pitchFamily="34" charset="0"/>
                  <a:ea typeface="Arial" pitchFamily="34" charset="0"/>
                </a:rPr>
                <a:t>“</a:t>
              </a:r>
              <a:r>
                <a:rPr lang="en-US" altLang="ja-JP" sz="2400" kern="0" dirty="0">
                  <a:latin typeface="Source Sans Pro" panose="020B0503030403020204" pitchFamily="34" charset="0"/>
                  <a:ea typeface="Source Sans Pro" panose="020B0503030403020204" pitchFamily="34" charset="0"/>
                </a:rPr>
                <a:t>luxury package</a:t>
              </a:r>
              <a:r>
                <a:rPr lang="ja-JP" altLang="en-US" sz="2400" kern="0" dirty="0">
                  <a:latin typeface="Source Sans Pro" panose="020B0503030403020204" pitchFamily="34" charset="0"/>
                  <a:ea typeface="Arial" pitchFamily="34" charset="0"/>
                </a:rPr>
                <a:t>”</a:t>
              </a:r>
              <a:endParaRPr lang="en-US" altLang="en-US" sz="2400" kern="0" dirty="0">
                <a:latin typeface="Source Sans Pro" panose="020B0503030403020204" pitchFamily="34" charset="0"/>
                <a:ea typeface="Source Sans Pro" panose="020B0503030403020204" pitchFamily="34" charset="0"/>
              </a:endParaRPr>
            </a:p>
          </p:txBody>
        </p:sp>
      </p:grpSp>
      <p:sp>
        <p:nvSpPr>
          <p:cNvPr id="9" name="Rectangle 3">
            <a:extLst>
              <a:ext uri="{FF2B5EF4-FFF2-40B4-BE49-F238E27FC236}">
                <a16:creationId xmlns:a16="http://schemas.microsoft.com/office/drawing/2014/main" id="{398EFE08-D461-AF67-6709-47C74EFEEC08}"/>
              </a:ext>
            </a:extLst>
          </p:cNvPr>
          <p:cNvSpPr txBox="1">
            <a:spLocks noChangeArrowheads="1"/>
          </p:cNvSpPr>
          <p:nvPr/>
        </p:nvSpPr>
        <p:spPr bwMode="auto">
          <a:xfrm>
            <a:off x="612648" y="1133493"/>
            <a:ext cx="10766552"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t>How might a firm sell </a:t>
            </a:r>
            <a:r>
              <a:rPr lang="en-US" altLang="en-US" b="1" kern="0"/>
              <a:t>two products together </a:t>
            </a:r>
            <a:r>
              <a:rPr lang="en-US" altLang="en-US" kern="0"/>
              <a:t>in order to increase revenue?</a:t>
            </a:r>
          </a:p>
          <a:p>
            <a:r>
              <a:rPr lang="en-US" altLang="en-US" kern="0"/>
              <a:t>Bundled pair of products cannot be purchased separately</a:t>
            </a:r>
            <a:endParaRPr lang="en-US" altLang="en-US" kern="0" dirty="0"/>
          </a:p>
        </p:txBody>
      </p:sp>
    </p:spTree>
    <p:extLst>
      <p:ext uri="{BB962C8B-B14F-4D97-AF65-F5344CB8AC3E}">
        <p14:creationId xmlns:p14="http://schemas.microsoft.com/office/powerpoint/2010/main" val="740106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en-US" altLang="en-US" dirty="0"/>
              <a:t>Bundling</a:t>
            </a:r>
          </a:p>
        </p:txBody>
      </p:sp>
      <p:sp>
        <p:nvSpPr>
          <p:cNvPr id="5734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3847A2E0-0784-402D-A580-0578F1D5674C}" type="slidenum">
              <a:rPr lang="en-US" altLang="en-US" sz="1400">
                <a:latin typeface="Source Sans Pro" panose="020B0503030403020204" pitchFamily="34" charset="0"/>
                <a:ea typeface="Source Sans Pro" panose="020B0503030403020204" pitchFamily="34" charset="0"/>
              </a:rPr>
              <a:pPr eaLnBrk="1" hangingPunct="1"/>
              <a:t>68</a:t>
            </a:fld>
            <a:endParaRPr lang="en-US" altLang="en-US" sz="1400" dirty="0">
              <a:latin typeface="Source Sans Pro" panose="020B0503030403020204" pitchFamily="34" charset="0"/>
              <a:ea typeface="Source Sans Pro" panose="020B0503030403020204" pitchFamily="34" charset="0"/>
            </a:endParaRPr>
          </a:p>
        </p:txBody>
      </p:sp>
      <p:graphicFrame>
        <p:nvGraphicFramePr>
          <p:cNvPr id="2" name="Group 30">
            <a:extLst>
              <a:ext uri="{FF2B5EF4-FFF2-40B4-BE49-F238E27FC236}">
                <a16:creationId xmlns:a16="http://schemas.microsoft.com/office/drawing/2014/main" id="{D4D5F9F0-66FF-2B6D-21F1-869E140325BB}"/>
              </a:ext>
            </a:extLst>
          </p:cNvPr>
          <p:cNvGraphicFramePr>
            <a:graphicFrameLocks/>
          </p:cNvGraphicFramePr>
          <p:nvPr>
            <p:extLst>
              <p:ext uri="{D42A27DB-BD31-4B8C-83A1-F6EECF244321}">
                <p14:modId xmlns:p14="http://schemas.microsoft.com/office/powerpoint/2010/main" val="3177467500"/>
              </p:ext>
            </p:extLst>
          </p:nvPr>
        </p:nvGraphicFramePr>
        <p:xfrm>
          <a:off x="2363787" y="4934960"/>
          <a:ext cx="7058025" cy="1371672"/>
        </p:xfrm>
        <a:graphic>
          <a:graphicData uri="http://schemas.openxmlformats.org/drawingml/2006/table">
            <a:tbl>
              <a:tblPr/>
              <a:tblGrid>
                <a:gridCol w="2352675">
                  <a:extLst>
                    <a:ext uri="{9D8B030D-6E8A-4147-A177-3AD203B41FA5}">
                      <a16:colId xmlns:a16="http://schemas.microsoft.com/office/drawing/2014/main" val="20000"/>
                    </a:ext>
                  </a:extLst>
                </a:gridCol>
                <a:gridCol w="2352675">
                  <a:extLst>
                    <a:ext uri="{9D8B030D-6E8A-4147-A177-3AD203B41FA5}">
                      <a16:colId xmlns:a16="http://schemas.microsoft.com/office/drawing/2014/main" val="20001"/>
                    </a:ext>
                  </a:extLst>
                </a:gridCol>
                <a:gridCol w="2352675">
                  <a:extLst>
                    <a:ext uri="{9D8B030D-6E8A-4147-A177-3AD203B41FA5}">
                      <a16:colId xmlns:a16="http://schemas.microsoft.com/office/drawing/2014/main" val="20002"/>
                    </a:ext>
                  </a:extLst>
                </a:gridCol>
              </a:tblGrid>
              <a:tr h="39634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iPhone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Apple Music</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Consumer A</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770</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300</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Consumer B</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850</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250</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 name="Rectangle 3">
            <a:extLst>
              <a:ext uri="{FF2B5EF4-FFF2-40B4-BE49-F238E27FC236}">
                <a16:creationId xmlns:a16="http://schemas.microsoft.com/office/drawing/2014/main" id="{A89AD394-B698-34F4-EDC3-CB8A922D3CDC}"/>
              </a:ext>
            </a:extLst>
          </p:cNvPr>
          <p:cNvSpPr txBox="1">
            <a:spLocks noChangeArrowheads="1"/>
          </p:cNvSpPr>
          <p:nvPr/>
        </p:nvSpPr>
        <p:spPr bwMode="auto">
          <a:xfrm>
            <a:off x="2374404" y="1764861"/>
            <a:ext cx="9080178"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spcAft>
                <a:spcPts val="600"/>
              </a:spcAft>
            </a:pPr>
            <a:r>
              <a:rPr lang="en-US" altLang="en-US" sz="2400" kern="0" dirty="0">
                <a:latin typeface="Source Sans Pro" panose="020B0503030403020204" pitchFamily="34" charset="0"/>
                <a:ea typeface="ＭＳ Ｐゴシック" pitchFamily="34" charset="-128"/>
              </a:rPr>
              <a:t>Suppose Apple has two products to sell: iPhone (</a:t>
            </a:r>
            <a:r>
              <a:rPr lang="en-US" altLang="en-US" sz="2400" kern="0" dirty="0" err="1">
                <a:latin typeface="Source Sans Pro" panose="020B0503030403020204" pitchFamily="34" charset="0"/>
                <a:ea typeface="ＭＳ Ｐゴシック" pitchFamily="34" charset="-128"/>
              </a:rPr>
              <a:t>iP</a:t>
            </a:r>
            <a:r>
              <a:rPr lang="en-US" altLang="en-US" sz="2400" kern="0" dirty="0">
                <a:latin typeface="Source Sans Pro" panose="020B0503030403020204" pitchFamily="34" charset="0"/>
                <a:ea typeface="ＭＳ Ｐゴシック" pitchFamily="34" charset="-128"/>
              </a:rPr>
              <a:t>) and Apple Music (AM)</a:t>
            </a:r>
          </a:p>
          <a:p>
            <a:pPr>
              <a:spcAft>
                <a:spcPts val="600"/>
              </a:spcAft>
            </a:pPr>
            <a:r>
              <a:rPr lang="en-US" altLang="en-US" sz="2400" kern="0" dirty="0">
                <a:latin typeface="Source Sans Pro" panose="020B0503030403020204" pitchFamily="34" charset="0"/>
                <a:ea typeface="ＭＳ Ｐゴシック" pitchFamily="34" charset="-128"/>
              </a:rPr>
              <a:t>Consumers have a maximum price, </a:t>
            </a:r>
            <a:r>
              <a:rPr lang="en-US" altLang="en-US" sz="2400" i="1" kern="0" dirty="0">
                <a:latin typeface="Source Sans Pro" panose="020B0503030403020204" pitchFamily="34" charset="0"/>
                <a:ea typeface="ＭＳ Ｐゴシック" pitchFamily="34" charset="-128"/>
              </a:rPr>
              <a:t>r</a:t>
            </a:r>
            <a:r>
              <a:rPr lang="en-US" altLang="en-US" sz="2400" kern="0" dirty="0">
                <a:latin typeface="Source Sans Pro" panose="020B0503030403020204" pitchFamily="34" charset="0"/>
                <a:ea typeface="ＭＳ Ｐゴシック" pitchFamily="34" charset="-128"/>
              </a:rPr>
              <a:t>, they are willing to pay for each product</a:t>
            </a:r>
          </a:p>
          <a:p>
            <a:pPr lvl="1">
              <a:spcAft>
                <a:spcPts val="600"/>
              </a:spcAft>
            </a:pPr>
            <a:r>
              <a:rPr lang="en-US" altLang="en-US" sz="2400" kern="0" dirty="0">
                <a:latin typeface="Source Sans Pro" panose="020B0503030403020204" pitchFamily="34" charset="0"/>
                <a:ea typeface="ＭＳ Ｐゴシック" pitchFamily="34" charset="-128"/>
              </a:rPr>
              <a:t>If P ≤ </a:t>
            </a:r>
            <a:r>
              <a:rPr lang="en-US" altLang="en-US" sz="2400" i="1" kern="0" dirty="0">
                <a:latin typeface="Source Sans Pro" panose="020B0503030403020204" pitchFamily="34" charset="0"/>
                <a:ea typeface="ＭＳ Ｐゴシック" pitchFamily="34" charset="-128"/>
              </a:rPr>
              <a:t>r</a:t>
            </a:r>
            <a:r>
              <a:rPr lang="en-US" altLang="en-US" sz="2400" kern="0" dirty="0">
                <a:latin typeface="Source Sans Pro" panose="020B0503030403020204" pitchFamily="34" charset="0"/>
                <a:ea typeface="ＭＳ Ｐゴシック" pitchFamily="34" charset="-128"/>
              </a:rPr>
              <a:t>, the consumer will purchase</a:t>
            </a:r>
          </a:p>
          <a:p>
            <a:pPr>
              <a:spcAft>
                <a:spcPts val="600"/>
              </a:spcAft>
            </a:pPr>
            <a:r>
              <a:rPr lang="en-US" altLang="en-US" sz="2400" kern="0" dirty="0">
                <a:latin typeface="Source Sans Pro" panose="020B0503030403020204" pitchFamily="34" charset="0"/>
                <a:ea typeface="ＭＳ Ｐゴシック" pitchFamily="34" charset="-128"/>
              </a:rPr>
              <a:t>Value of both together is </a:t>
            </a:r>
            <a:r>
              <a:rPr lang="en-US" altLang="en-US" sz="2400" i="1" kern="0" dirty="0" err="1">
                <a:latin typeface="Source Sans Pro" panose="020B0503030403020204" pitchFamily="34" charset="0"/>
                <a:ea typeface="ＭＳ Ｐゴシック" pitchFamily="34" charset="-128"/>
              </a:rPr>
              <a:t>r</a:t>
            </a:r>
            <a:r>
              <a:rPr lang="en-US" altLang="en-US" sz="2400" kern="0" baseline="-25000" dirty="0" err="1">
                <a:latin typeface="Source Sans Pro" panose="020B0503030403020204" pitchFamily="34" charset="0"/>
                <a:ea typeface="ＭＳ Ｐゴシック" pitchFamily="34" charset="-128"/>
              </a:rPr>
              <a:t>iP</a:t>
            </a:r>
            <a:r>
              <a:rPr lang="en-US" altLang="en-US" sz="2400" kern="0" dirty="0">
                <a:latin typeface="Source Sans Pro" panose="020B0503030403020204" pitchFamily="34" charset="0"/>
                <a:ea typeface="ＭＳ Ｐゴシック" pitchFamily="34" charset="-128"/>
              </a:rPr>
              <a:t> + </a:t>
            </a:r>
            <a:r>
              <a:rPr lang="en-US" altLang="en-US" sz="2400" i="1" kern="0" dirty="0" err="1">
                <a:latin typeface="Source Sans Pro" panose="020B0503030403020204" pitchFamily="34" charset="0"/>
                <a:ea typeface="ＭＳ Ｐゴシック" pitchFamily="34" charset="-128"/>
              </a:rPr>
              <a:t>r</a:t>
            </a:r>
            <a:r>
              <a:rPr lang="en-US" altLang="en-US" sz="2400" kern="0" baseline="-25000" dirty="0" err="1">
                <a:latin typeface="Source Sans Pro" panose="020B0503030403020204" pitchFamily="34" charset="0"/>
                <a:ea typeface="ＭＳ Ｐゴシック" pitchFamily="34" charset="-128"/>
              </a:rPr>
              <a:t>AM</a:t>
            </a:r>
            <a:endParaRPr lang="en-US" altLang="en-US" sz="2400" kern="0" dirty="0">
              <a:latin typeface="Source Sans Pro" panose="020B0503030403020204" pitchFamily="34" charset="0"/>
              <a:ea typeface="ＭＳ Ｐゴシック" pitchFamily="34" charset="-128"/>
            </a:endParaRPr>
          </a:p>
          <a:p>
            <a:pPr>
              <a:spcAft>
                <a:spcPts val="600"/>
              </a:spcAft>
            </a:pPr>
            <a:r>
              <a:rPr lang="en-US" altLang="en-US" sz="2400" kern="0" dirty="0">
                <a:latin typeface="Source Sans Pro" panose="020B0503030403020204" pitchFamily="34" charset="0"/>
                <a:ea typeface="ＭＳ Ｐゴシック" pitchFamily="34" charset="-128"/>
              </a:rPr>
              <a:t>Suppose there are two consumers (A and B) with </a:t>
            </a:r>
            <a:r>
              <a:rPr lang="en-US" altLang="en-US" sz="2400" i="1" kern="0" dirty="0">
                <a:latin typeface="Source Sans Pro" panose="020B0503030403020204" pitchFamily="34" charset="0"/>
                <a:ea typeface="ＭＳ Ｐゴシック" pitchFamily="34" charset="-128"/>
              </a:rPr>
              <a:t>r</a:t>
            </a:r>
            <a:r>
              <a:rPr lang="en-US" altLang="en-US" sz="2400" kern="0" dirty="0">
                <a:latin typeface="Source Sans Pro" panose="020B0503030403020204" pitchFamily="34" charset="0"/>
                <a:ea typeface="ＭＳ Ｐゴシック" pitchFamily="34" charset="-128"/>
              </a:rPr>
              <a:t> values of:</a:t>
            </a:r>
          </a:p>
        </p:txBody>
      </p:sp>
      <p:sp>
        <p:nvSpPr>
          <p:cNvPr id="4" name="Rounded Rectangle 3">
            <a:extLst>
              <a:ext uri="{FF2B5EF4-FFF2-40B4-BE49-F238E27FC236}">
                <a16:creationId xmlns:a16="http://schemas.microsoft.com/office/drawing/2014/main" id="{92896731-D3BE-48C1-B3CA-23EA57DBA676}"/>
              </a:ext>
            </a:extLst>
          </p:cNvPr>
          <p:cNvSpPr/>
          <p:nvPr/>
        </p:nvSpPr>
        <p:spPr>
          <a:xfrm>
            <a:off x="578262" y="1764862"/>
            <a:ext cx="1796142" cy="868213"/>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Example</a:t>
            </a:r>
          </a:p>
        </p:txBody>
      </p:sp>
      <p:sp>
        <p:nvSpPr>
          <p:cNvPr id="5" name="Rectangle 3">
            <a:extLst>
              <a:ext uri="{FF2B5EF4-FFF2-40B4-BE49-F238E27FC236}">
                <a16:creationId xmlns:a16="http://schemas.microsoft.com/office/drawing/2014/main" id="{EF4E64DA-8B8A-265C-F453-91F21586395A}"/>
              </a:ext>
            </a:extLst>
          </p:cNvPr>
          <p:cNvSpPr txBox="1">
            <a:spLocks noChangeArrowheads="1"/>
          </p:cNvSpPr>
          <p:nvPr/>
        </p:nvSpPr>
        <p:spPr>
          <a:xfrm>
            <a:off x="578262" y="1118530"/>
            <a:ext cx="11367931" cy="461665"/>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spcAft>
                <a:spcPts val="600"/>
              </a:spcAft>
              <a:buFontTx/>
              <a:buNone/>
            </a:pPr>
            <a:r>
              <a:rPr lang="en-US" altLang="en-US" kern="0">
                <a:ea typeface="ＭＳ Ｐゴシック" pitchFamily="34" charset="-128"/>
              </a:rPr>
              <a:t>Ability of bundling to improve revenue depends on </a:t>
            </a:r>
            <a:r>
              <a:rPr lang="en-US" altLang="en-US" b="1" kern="0">
                <a:ea typeface="ＭＳ Ｐゴシック" pitchFamily="34" charset="-128"/>
              </a:rPr>
              <a:t>correlation </a:t>
            </a:r>
            <a:r>
              <a:rPr lang="en-US" altLang="en-US" kern="0">
                <a:ea typeface="ＭＳ Ｐゴシック" pitchFamily="34" charset="-128"/>
              </a:rPr>
              <a:t>in consumer’s demand</a:t>
            </a:r>
            <a:endParaRPr lang="en-US" altLang="en-US" kern="0" dirty="0">
              <a:ea typeface="ＭＳ Ｐゴシック" pitchFamily="34" charset="-128"/>
            </a:endParaRPr>
          </a:p>
        </p:txBody>
      </p:sp>
    </p:spTree>
    <p:extLst>
      <p:ext uri="{BB962C8B-B14F-4D97-AF65-F5344CB8AC3E}">
        <p14:creationId xmlns:p14="http://schemas.microsoft.com/office/powerpoint/2010/main" val="22650126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2"/>
          <p:cNvSpPr>
            <a:spLocks noGrp="1" noChangeArrowheads="1"/>
          </p:cNvSpPr>
          <p:nvPr>
            <p:ph type="title"/>
          </p:nvPr>
        </p:nvSpPr>
        <p:spPr/>
        <p:txBody>
          <a:bodyPr/>
          <a:lstStyle/>
          <a:p>
            <a:r>
              <a:rPr lang="en-US" altLang="en-US" dirty="0"/>
              <a:t>Bundling: Negative correlation</a:t>
            </a:r>
          </a:p>
        </p:txBody>
      </p:sp>
      <p:sp>
        <p:nvSpPr>
          <p:cNvPr id="583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A957B894-5AE1-469C-B6B5-3253F86DAC1F}" type="slidenum">
              <a:rPr lang="en-US" altLang="en-US" sz="1400">
                <a:latin typeface="Source Sans Pro" panose="020B0503030403020204" pitchFamily="34" charset="0"/>
                <a:ea typeface="Source Sans Pro" panose="020B0503030403020204" pitchFamily="34" charset="0"/>
              </a:rPr>
              <a:pPr eaLnBrk="1" hangingPunct="1"/>
              <a:t>69</a:t>
            </a:fld>
            <a:endParaRPr lang="en-US" altLang="en-US" sz="1400" dirty="0">
              <a:latin typeface="Source Sans Pro" panose="020B0503030403020204" pitchFamily="34" charset="0"/>
              <a:ea typeface="Source Sans Pro" panose="020B0503030403020204" pitchFamily="34" charset="0"/>
            </a:endParaRPr>
          </a:p>
        </p:txBody>
      </p:sp>
      <p:graphicFrame>
        <p:nvGraphicFramePr>
          <p:cNvPr id="2" name="Group 25">
            <a:extLst>
              <a:ext uri="{FF2B5EF4-FFF2-40B4-BE49-F238E27FC236}">
                <a16:creationId xmlns:a16="http://schemas.microsoft.com/office/drawing/2014/main" id="{88D8202A-634B-8B94-0F29-BD9A9FD7FB76}"/>
              </a:ext>
            </a:extLst>
          </p:cNvPr>
          <p:cNvGraphicFramePr>
            <a:graphicFrameLocks/>
          </p:cNvGraphicFramePr>
          <p:nvPr>
            <p:extLst>
              <p:ext uri="{D42A27DB-BD31-4B8C-83A1-F6EECF244321}">
                <p14:modId xmlns:p14="http://schemas.microsoft.com/office/powerpoint/2010/main" val="3053904018"/>
              </p:ext>
            </p:extLst>
          </p:nvPr>
        </p:nvGraphicFramePr>
        <p:xfrm>
          <a:off x="2216468" y="5262078"/>
          <a:ext cx="6934200" cy="1371672"/>
        </p:xfrm>
        <a:graphic>
          <a:graphicData uri="http://schemas.openxmlformats.org/drawingml/2006/table">
            <a:tbl>
              <a:tblPr/>
              <a:tblGrid>
                <a:gridCol w="23114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gridCol w="2311400">
                  <a:extLst>
                    <a:ext uri="{9D8B030D-6E8A-4147-A177-3AD203B41FA5}">
                      <a16:colId xmlns:a16="http://schemas.microsoft.com/office/drawing/2014/main" val="20002"/>
                    </a:ext>
                  </a:extLst>
                </a:gridCol>
              </a:tblGrid>
              <a:tr h="450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cs typeface="Arial" charset="0"/>
                        </a:rPr>
                        <a:t>iPhone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cs typeface="Arial" charset="0"/>
                        </a:rPr>
                        <a:t>Apple Music</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cs typeface="Arial" charset="0"/>
                        </a:rPr>
                        <a:t>Consumer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cs typeface="Arial" charset="0"/>
                        </a:rPr>
                        <a:t>770</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cs typeface="Arial" charset="0"/>
                        </a:rPr>
                        <a:t>300</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cs typeface="Arial" charset="0"/>
                        </a:rPr>
                        <a:t>Consumer 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cs typeface="Arial" charset="0"/>
                        </a:rPr>
                        <a:t>850</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cs typeface="Arial" charset="0"/>
                        </a:rPr>
                        <a:t>250</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3" name="Group 2">
            <a:extLst>
              <a:ext uri="{FF2B5EF4-FFF2-40B4-BE49-F238E27FC236}">
                <a16:creationId xmlns:a16="http://schemas.microsoft.com/office/drawing/2014/main" id="{D66D852A-A64A-7CCB-62AA-47CF5732E079}"/>
              </a:ext>
            </a:extLst>
          </p:cNvPr>
          <p:cNvGrpSpPr/>
          <p:nvPr/>
        </p:nvGrpSpPr>
        <p:grpSpPr>
          <a:xfrm>
            <a:off x="714776" y="1107325"/>
            <a:ext cx="8591148" cy="1015663"/>
            <a:chOff x="589808" y="1442706"/>
            <a:chExt cx="8591148" cy="1015663"/>
          </a:xfrm>
        </p:grpSpPr>
        <p:sp>
          <p:nvSpPr>
            <p:cNvPr id="4" name="Rectangle 24">
              <a:extLst>
                <a:ext uri="{FF2B5EF4-FFF2-40B4-BE49-F238E27FC236}">
                  <a16:creationId xmlns:a16="http://schemas.microsoft.com/office/drawing/2014/main" id="{89D9F7B1-7E31-0FD8-B0D0-2D4EE20AEAB9}"/>
                </a:ext>
              </a:extLst>
            </p:cNvPr>
            <p:cNvSpPr>
              <a:spLocks noChangeArrowheads="1"/>
            </p:cNvSpPr>
            <p:nvPr/>
          </p:nvSpPr>
          <p:spPr bwMode="auto">
            <a:xfrm>
              <a:off x="2385949" y="1442706"/>
              <a:ext cx="679500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5000"/>
                </a:spcBef>
                <a:spcAft>
                  <a:spcPct val="25000"/>
                </a:spcAft>
                <a:buFont typeface="Arial" panose="020B0604020202020204" pitchFamily="34" charset="0"/>
                <a:buChar char="•"/>
              </a:pPr>
              <a:r>
                <a:rPr lang="en-US" altLang="en-US" dirty="0">
                  <a:latin typeface="Source Sans Pro" panose="020B0503030403020204" pitchFamily="34" charset="0"/>
                  <a:ea typeface="Source Sans Pro" panose="020B0503030403020204" pitchFamily="34" charset="0"/>
                </a:rPr>
                <a:t>Charge $770 for iPhone and $250 for Apple Music</a:t>
              </a:r>
            </a:p>
            <a:p>
              <a:pPr eaLnBrk="1" hangingPunct="1">
                <a:spcBef>
                  <a:spcPct val="25000"/>
                </a:spcBef>
                <a:spcAft>
                  <a:spcPct val="25000"/>
                </a:spcAft>
                <a:buFont typeface="Arial" panose="020B0604020202020204" pitchFamily="34" charset="0"/>
                <a:buChar char="•"/>
              </a:pPr>
              <a:r>
                <a:rPr lang="en-US" altLang="en-US" dirty="0">
                  <a:latin typeface="Source Sans Pro" panose="020B0503030403020204" pitchFamily="34" charset="0"/>
                  <a:ea typeface="Source Sans Pro" panose="020B0503030403020204" pitchFamily="34" charset="0"/>
                </a:rPr>
                <a:t>Revenue is $1,540 + $500 = $2,040</a:t>
              </a:r>
            </a:p>
          </p:txBody>
        </p:sp>
        <p:sp>
          <p:nvSpPr>
            <p:cNvPr id="5" name="Rounded Rectangle 4">
              <a:extLst>
                <a:ext uri="{FF2B5EF4-FFF2-40B4-BE49-F238E27FC236}">
                  <a16:creationId xmlns:a16="http://schemas.microsoft.com/office/drawing/2014/main" id="{72D50680-8A62-3F85-0658-C1D3BFCD3C0D}"/>
                </a:ext>
              </a:extLst>
            </p:cNvPr>
            <p:cNvSpPr/>
            <p:nvPr/>
          </p:nvSpPr>
          <p:spPr>
            <a:xfrm>
              <a:off x="589808" y="1442706"/>
              <a:ext cx="1796142" cy="810054"/>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Separate sales</a:t>
              </a:r>
            </a:p>
          </p:txBody>
        </p:sp>
      </p:grpSp>
      <p:sp>
        <p:nvSpPr>
          <p:cNvPr id="7" name="Rectangle 24">
            <a:extLst>
              <a:ext uri="{FF2B5EF4-FFF2-40B4-BE49-F238E27FC236}">
                <a16:creationId xmlns:a16="http://schemas.microsoft.com/office/drawing/2014/main" id="{AF576674-20FF-413A-52A0-B2526D6DA572}"/>
              </a:ext>
            </a:extLst>
          </p:cNvPr>
          <p:cNvSpPr>
            <a:spLocks noChangeArrowheads="1"/>
          </p:cNvSpPr>
          <p:nvPr/>
        </p:nvSpPr>
        <p:spPr bwMode="auto">
          <a:xfrm>
            <a:off x="582168" y="3266624"/>
            <a:ext cx="1113788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5000"/>
              </a:spcBef>
              <a:spcAft>
                <a:spcPct val="25000"/>
              </a:spcAft>
              <a:buFont typeface="Arial" panose="020B0604020202020204" pitchFamily="34" charset="0"/>
              <a:buChar char="•"/>
            </a:pPr>
            <a:r>
              <a:rPr lang="en-US" altLang="en-US" dirty="0">
                <a:latin typeface="Source Sans Pro" panose="020B0503030403020204" pitchFamily="34" charset="0"/>
                <a:ea typeface="Source Sans Pro" panose="020B0503030403020204" pitchFamily="34" charset="0"/>
              </a:rPr>
              <a:t>Why did bundling raise more revenue than individual sales?</a:t>
            </a:r>
          </a:p>
          <a:p>
            <a:pPr eaLnBrk="1" hangingPunct="1">
              <a:spcBef>
                <a:spcPct val="25000"/>
              </a:spcBef>
              <a:spcAft>
                <a:spcPct val="25000"/>
              </a:spcAft>
              <a:buFont typeface="Arial" panose="020B0604020202020204" pitchFamily="34" charset="0"/>
              <a:buChar char="•"/>
            </a:pPr>
            <a:r>
              <a:rPr lang="en-US" altLang="en-US" dirty="0">
                <a:latin typeface="Source Sans Pro" panose="020B0503030403020204" pitchFamily="34" charset="0"/>
                <a:ea typeface="Source Sans Pro" panose="020B0503030403020204" pitchFamily="34" charset="0"/>
              </a:rPr>
              <a:t>Consumers</a:t>
            </a:r>
            <a:r>
              <a:rPr lang="en-US" altLang="ja-JP" dirty="0">
                <a:latin typeface="Source Sans Pro" panose="020B0503030403020204" pitchFamily="34" charset="0"/>
                <a:ea typeface="Source Sans Pro" panose="020B0503030403020204" pitchFamily="34" charset="0"/>
              </a:rPr>
              <a:t>’ demand is </a:t>
            </a:r>
            <a:r>
              <a:rPr lang="en-US" altLang="ja-JP" b="1" i="1" dirty="0">
                <a:latin typeface="Source Sans Pro" panose="020B0503030403020204" pitchFamily="34" charset="0"/>
                <a:ea typeface="Source Sans Pro" panose="020B0503030403020204" pitchFamily="34" charset="0"/>
              </a:rPr>
              <a:t>negatively correlated</a:t>
            </a:r>
            <a:endParaRPr lang="en-US" altLang="ja-JP" dirty="0">
              <a:latin typeface="Source Sans Pro" panose="020B0503030403020204" pitchFamily="34" charset="0"/>
              <a:ea typeface="Source Sans Pro" panose="020B0503030403020204" pitchFamily="34" charset="0"/>
            </a:endParaRPr>
          </a:p>
          <a:p>
            <a:pPr eaLnBrk="1" hangingPunct="1">
              <a:spcBef>
                <a:spcPct val="25000"/>
              </a:spcBef>
              <a:spcAft>
                <a:spcPct val="25000"/>
              </a:spcAft>
              <a:buFont typeface="Arial" panose="020B0604020202020204" pitchFamily="34" charset="0"/>
              <a:buChar char="•"/>
            </a:pPr>
            <a:r>
              <a:rPr lang="en-US" altLang="ja-JP" dirty="0">
                <a:latin typeface="Source Sans Pro" panose="020B0503030403020204" pitchFamily="34" charset="0"/>
                <a:ea typeface="Source Sans Pro" panose="020B0503030403020204" pitchFamily="34" charset="0"/>
              </a:rPr>
              <a:t>Consumers use high surplus from more-favored product to effectively </a:t>
            </a:r>
            <a:r>
              <a:rPr lang="en-US" altLang="ja-JP" b="1" dirty="0">
                <a:latin typeface="Source Sans Pro" panose="020B0503030403020204" pitchFamily="34" charset="0"/>
                <a:ea typeface="Source Sans Pro" panose="020B0503030403020204" pitchFamily="34" charset="0"/>
              </a:rPr>
              <a:t>cross-subsidize </a:t>
            </a:r>
            <a:r>
              <a:rPr lang="en-US" altLang="ja-JP" dirty="0">
                <a:latin typeface="Source Sans Pro" panose="020B0503030403020204" pitchFamily="34" charset="0"/>
                <a:ea typeface="Source Sans Pro" panose="020B0503030403020204" pitchFamily="34" charset="0"/>
              </a:rPr>
              <a:t>the purchase of the less-favored product</a:t>
            </a:r>
            <a:endParaRPr lang="en-US" altLang="en-US" dirty="0">
              <a:latin typeface="Source Sans Pro" panose="020B0503030403020204" pitchFamily="34" charset="0"/>
              <a:ea typeface="Source Sans Pro" panose="020B0503030403020204" pitchFamily="34" charset="0"/>
            </a:endParaRPr>
          </a:p>
        </p:txBody>
      </p:sp>
      <p:grpSp>
        <p:nvGrpSpPr>
          <p:cNvPr id="9" name="Group 8">
            <a:extLst>
              <a:ext uri="{FF2B5EF4-FFF2-40B4-BE49-F238E27FC236}">
                <a16:creationId xmlns:a16="http://schemas.microsoft.com/office/drawing/2014/main" id="{B21DD445-7AC6-9F96-D9DF-F251D444455B}"/>
              </a:ext>
            </a:extLst>
          </p:cNvPr>
          <p:cNvGrpSpPr/>
          <p:nvPr/>
        </p:nvGrpSpPr>
        <p:grpSpPr>
          <a:xfrm>
            <a:off x="714776" y="2224177"/>
            <a:ext cx="8141442" cy="1015663"/>
            <a:chOff x="589808" y="2420642"/>
            <a:chExt cx="8141442" cy="1015663"/>
          </a:xfrm>
        </p:grpSpPr>
        <p:sp>
          <p:nvSpPr>
            <p:cNvPr id="13" name="Rounded Rectangle 12">
              <a:extLst>
                <a:ext uri="{FF2B5EF4-FFF2-40B4-BE49-F238E27FC236}">
                  <a16:creationId xmlns:a16="http://schemas.microsoft.com/office/drawing/2014/main" id="{C3E3B4FF-22B2-D484-30F9-D5525C9DA00D}"/>
                </a:ext>
              </a:extLst>
            </p:cNvPr>
            <p:cNvSpPr/>
            <p:nvPr/>
          </p:nvSpPr>
          <p:spPr>
            <a:xfrm>
              <a:off x="589808" y="2420642"/>
              <a:ext cx="1796142" cy="810054"/>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ea typeface="Source Sans Pro" panose="020B0503030403020204" pitchFamily="34" charset="0"/>
                </a:rPr>
                <a:t>Bundled  sale</a:t>
              </a:r>
            </a:p>
          </p:txBody>
        </p:sp>
        <p:sp>
          <p:nvSpPr>
            <p:cNvPr id="15" name="Rectangle 24">
              <a:extLst>
                <a:ext uri="{FF2B5EF4-FFF2-40B4-BE49-F238E27FC236}">
                  <a16:creationId xmlns:a16="http://schemas.microsoft.com/office/drawing/2014/main" id="{DEFD9B4C-2055-8679-5F06-89DCFAB1280E}"/>
                </a:ext>
              </a:extLst>
            </p:cNvPr>
            <p:cNvSpPr>
              <a:spLocks noChangeArrowheads="1"/>
            </p:cNvSpPr>
            <p:nvPr/>
          </p:nvSpPr>
          <p:spPr bwMode="auto">
            <a:xfrm>
              <a:off x="2385950" y="2420642"/>
              <a:ext cx="63453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5000"/>
                </a:spcBef>
                <a:spcAft>
                  <a:spcPct val="25000"/>
                </a:spcAft>
                <a:buFont typeface="Arial" panose="020B0604020202020204" pitchFamily="34" charset="0"/>
                <a:buChar char="•"/>
              </a:pPr>
              <a:r>
                <a:rPr lang="en-US" altLang="en-US" dirty="0">
                  <a:latin typeface="Source Sans Pro" panose="020B0503030403020204" pitchFamily="34" charset="0"/>
                  <a:ea typeface="Source Sans Pro" panose="020B0503030403020204" pitchFamily="34" charset="0"/>
                </a:rPr>
                <a:t>Charge $1,070 for the bundle</a:t>
              </a:r>
            </a:p>
            <a:p>
              <a:pPr eaLnBrk="1" hangingPunct="1">
                <a:spcBef>
                  <a:spcPct val="25000"/>
                </a:spcBef>
                <a:spcAft>
                  <a:spcPct val="25000"/>
                </a:spcAft>
                <a:buFont typeface="Arial" panose="020B0604020202020204" pitchFamily="34" charset="0"/>
                <a:buChar char="•"/>
              </a:pPr>
              <a:r>
                <a:rPr lang="en-US" altLang="en-US" dirty="0">
                  <a:latin typeface="Source Sans Pro" panose="020B0503030403020204" pitchFamily="34" charset="0"/>
                  <a:ea typeface="Source Sans Pro" panose="020B0503030403020204" pitchFamily="34" charset="0"/>
                </a:rPr>
                <a:t>Revenue is $1,070 + $1,070 = $2,140</a:t>
              </a:r>
            </a:p>
          </p:txBody>
        </p:sp>
      </p:grpSp>
    </p:spTree>
    <p:extLst>
      <p:ext uri="{BB962C8B-B14F-4D97-AF65-F5344CB8AC3E}">
        <p14:creationId xmlns:p14="http://schemas.microsoft.com/office/powerpoint/2010/main" val="3275308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r>
              <a:rPr lang="en-US" altLang="en-US" sz="3600" dirty="0">
                <a:ea typeface="ＭＳ Ｐゴシック" pitchFamily="34" charset="-128"/>
              </a:rPr>
              <a:t>Bundling: Positive correlation</a:t>
            </a:r>
          </a:p>
        </p:txBody>
      </p:sp>
      <p:sp>
        <p:nvSpPr>
          <p:cNvPr id="5939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CE95EA43-0542-47C4-8C2D-8DA22844AA12}" type="slidenum">
              <a:rPr lang="en-US" altLang="en-US" sz="1400">
                <a:latin typeface="Source Sans Pro" panose="020B0503030403020204" pitchFamily="34" charset="0"/>
              </a:rPr>
              <a:pPr eaLnBrk="1" hangingPunct="1"/>
              <a:t>70</a:t>
            </a:fld>
            <a:endParaRPr lang="en-US" altLang="en-US" sz="1400" dirty="0">
              <a:latin typeface="Source Sans Pro" panose="020B0503030403020204" pitchFamily="34" charset="0"/>
            </a:endParaRPr>
          </a:p>
        </p:txBody>
      </p:sp>
      <p:graphicFrame>
        <p:nvGraphicFramePr>
          <p:cNvPr id="5" name="Group 24">
            <a:extLst>
              <a:ext uri="{FF2B5EF4-FFF2-40B4-BE49-F238E27FC236}">
                <a16:creationId xmlns:a16="http://schemas.microsoft.com/office/drawing/2014/main" id="{B89AA33E-4CEE-68B9-23C6-6BEB0765D625}"/>
              </a:ext>
            </a:extLst>
          </p:cNvPr>
          <p:cNvGraphicFramePr>
            <a:graphicFrameLocks/>
          </p:cNvGraphicFramePr>
          <p:nvPr>
            <p:extLst>
              <p:ext uri="{D42A27DB-BD31-4B8C-83A1-F6EECF244321}">
                <p14:modId xmlns:p14="http://schemas.microsoft.com/office/powerpoint/2010/main" val="3298373158"/>
              </p:ext>
            </p:extLst>
          </p:nvPr>
        </p:nvGraphicFramePr>
        <p:xfrm>
          <a:off x="2518569" y="2328483"/>
          <a:ext cx="6748462" cy="1371648"/>
        </p:xfrm>
        <a:graphic>
          <a:graphicData uri="http://schemas.openxmlformats.org/drawingml/2006/table">
            <a:tbl>
              <a:tblPr/>
              <a:tblGrid>
                <a:gridCol w="2249487">
                  <a:extLst>
                    <a:ext uri="{9D8B030D-6E8A-4147-A177-3AD203B41FA5}">
                      <a16:colId xmlns:a16="http://schemas.microsoft.com/office/drawing/2014/main" val="20000"/>
                    </a:ext>
                  </a:extLst>
                </a:gridCol>
                <a:gridCol w="2249488">
                  <a:extLst>
                    <a:ext uri="{9D8B030D-6E8A-4147-A177-3AD203B41FA5}">
                      <a16:colId xmlns:a16="http://schemas.microsoft.com/office/drawing/2014/main" val="20001"/>
                    </a:ext>
                  </a:extLst>
                </a:gridCol>
                <a:gridCol w="2249487">
                  <a:extLst>
                    <a:ext uri="{9D8B030D-6E8A-4147-A177-3AD203B41FA5}">
                      <a16:colId xmlns:a16="http://schemas.microsoft.com/office/drawing/2014/main" val="20002"/>
                    </a:ext>
                  </a:extLst>
                </a:gridCol>
              </a:tblGrid>
              <a:tr h="4286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iPhone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Apple Music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Consumer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850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300</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86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Consumer 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770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Source Sans Pro" panose="020B0503030403020204" pitchFamily="34" charset="0"/>
                          <a:ea typeface="ＭＳ Ｐゴシック" charset="0"/>
                          <a:cs typeface="Arial" charset="0"/>
                        </a:rPr>
                        <a:t>250</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Rectangle 26">
            <a:extLst>
              <a:ext uri="{FF2B5EF4-FFF2-40B4-BE49-F238E27FC236}">
                <a16:creationId xmlns:a16="http://schemas.microsoft.com/office/drawing/2014/main" id="{087E6971-B6A1-81A4-50EE-A7574B894FB4}"/>
              </a:ext>
            </a:extLst>
          </p:cNvPr>
          <p:cNvSpPr>
            <a:spLocks noChangeArrowheads="1"/>
          </p:cNvSpPr>
          <p:nvPr/>
        </p:nvSpPr>
        <p:spPr bwMode="auto">
          <a:xfrm>
            <a:off x="1080643" y="3893627"/>
            <a:ext cx="81422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342900" indent="-342900">
              <a:spcBef>
                <a:spcPts val="0"/>
              </a:spcBef>
              <a:spcAft>
                <a:spcPts val="1200"/>
              </a:spcAft>
              <a:buFont typeface="Arial" panose="020B0604020202020204" pitchFamily="34" charset="0"/>
              <a:buChar char="•"/>
              <a:defRPr/>
            </a:pPr>
            <a:r>
              <a:rPr lang="en-US" sz="2400" dirty="0">
                <a:latin typeface="Source Sans Pro" panose="020B0503030403020204" pitchFamily="34" charset="0"/>
                <a:ea typeface="ＭＳ Ｐゴシック" charset="0"/>
                <a:cs typeface="ＭＳ Ｐゴシック" charset="0"/>
              </a:rPr>
              <a:t>Two pricing strategies:</a:t>
            </a:r>
          </a:p>
        </p:txBody>
      </p:sp>
      <p:sp>
        <p:nvSpPr>
          <p:cNvPr id="7" name="Rounded Rectangular Callout 6">
            <a:extLst>
              <a:ext uri="{FF2B5EF4-FFF2-40B4-BE49-F238E27FC236}">
                <a16:creationId xmlns:a16="http://schemas.microsoft.com/office/drawing/2014/main" id="{850B721E-21DC-A331-6092-84A090B816D2}"/>
              </a:ext>
            </a:extLst>
          </p:cNvPr>
          <p:cNvSpPr/>
          <p:nvPr/>
        </p:nvSpPr>
        <p:spPr>
          <a:xfrm>
            <a:off x="7642010" y="4169755"/>
            <a:ext cx="2965196" cy="1263903"/>
          </a:xfrm>
          <a:prstGeom prst="wedgeRoundRectCallout">
            <a:avLst>
              <a:gd name="adj1" fmla="val -83753"/>
              <a:gd name="adj2" fmla="val -15027"/>
              <a:gd name="adj3" fmla="val 16667"/>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Source Sans Pro" panose="020B0503030403020204" pitchFamily="34" charset="0"/>
              </a:rPr>
              <a:t>Lower-r consumer “sets” price in both cases</a:t>
            </a:r>
          </a:p>
        </p:txBody>
      </p:sp>
      <p:sp>
        <p:nvSpPr>
          <p:cNvPr id="9" name="Rectangle 3">
            <a:extLst>
              <a:ext uri="{FF2B5EF4-FFF2-40B4-BE49-F238E27FC236}">
                <a16:creationId xmlns:a16="http://schemas.microsoft.com/office/drawing/2014/main" id="{1D849CAF-9189-B046-7FEA-C97511E53565}"/>
              </a:ext>
            </a:extLst>
          </p:cNvPr>
          <p:cNvSpPr txBox="1">
            <a:spLocks noChangeArrowheads="1"/>
          </p:cNvSpPr>
          <p:nvPr/>
        </p:nvSpPr>
        <p:spPr bwMode="auto">
          <a:xfrm>
            <a:off x="1050482" y="1673322"/>
            <a:ext cx="106105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3200">
                <a:solidFill>
                  <a:schemeClr val="tx1"/>
                </a:solidFill>
                <a:latin typeface="Calibri" panose="020F0502020204030204" pitchFamily="34" charset="0"/>
                <a:ea typeface="ＭＳ Ｐゴシック" charset="0"/>
                <a:cs typeface="+mn-cs"/>
              </a:defRPr>
            </a:lvl1pPr>
            <a:lvl2pPr marL="742950" indent="-285750" algn="l" rtl="0" eaLnBrk="0" fontAlgn="base" hangingPunct="0">
              <a:spcBef>
                <a:spcPts val="0"/>
              </a:spcBef>
              <a:spcAft>
                <a:spcPts val="1200"/>
              </a:spcAft>
              <a:buChar char="–"/>
              <a:defRPr sz="2800">
                <a:solidFill>
                  <a:schemeClr val="tx1"/>
                </a:solidFill>
                <a:latin typeface="Calibri" panose="020F0502020204030204" pitchFamily="34" charset="0"/>
                <a:ea typeface="Arial" charset="0"/>
                <a:cs typeface="+mn-cs"/>
              </a:defRPr>
            </a:lvl2pPr>
            <a:lvl3pPr marL="1143000" indent="-228600" algn="l" rtl="0" eaLnBrk="0" fontAlgn="base" hangingPunct="0">
              <a:spcBef>
                <a:spcPts val="0"/>
              </a:spcBef>
              <a:spcAft>
                <a:spcPts val="1200"/>
              </a:spcAft>
              <a:buChar char="•"/>
              <a:defRPr sz="2400">
                <a:solidFill>
                  <a:schemeClr val="tx1"/>
                </a:solidFill>
                <a:latin typeface="Calibri" panose="020F0502020204030204" pitchFamily="34" charset="0"/>
                <a:ea typeface="Arial" charset="0"/>
                <a:cs typeface="+mn-cs"/>
              </a:defRPr>
            </a:lvl3pPr>
            <a:lvl4pPr marL="16002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4pPr>
            <a:lvl5pPr marL="2057400" indent="-228600" algn="l" rtl="0" eaLnBrk="0" fontAlgn="base" hangingPunct="0">
              <a:spcBef>
                <a:spcPts val="0"/>
              </a:spcBef>
              <a:spcAft>
                <a:spcPts val="1200"/>
              </a:spcAft>
              <a:buChar char="»"/>
              <a:defRPr sz="2000">
                <a:solidFill>
                  <a:schemeClr val="tx1"/>
                </a:solidFill>
                <a:latin typeface="Calibri" panose="020F0502020204030204" pitchFamily="34" charset="0"/>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kern="0" dirty="0">
                <a:latin typeface="Source Sans Pro" panose="020B0503030403020204" pitchFamily="34" charset="0"/>
                <a:ea typeface="ＭＳ Ｐゴシック" pitchFamily="34" charset="-128"/>
              </a:rPr>
              <a:t>Suppose demand for iPhone and Apple Music has the following properties:</a:t>
            </a:r>
          </a:p>
        </p:txBody>
      </p:sp>
      <p:grpSp>
        <p:nvGrpSpPr>
          <p:cNvPr id="11" name="Group 10">
            <a:extLst>
              <a:ext uri="{FF2B5EF4-FFF2-40B4-BE49-F238E27FC236}">
                <a16:creationId xmlns:a16="http://schemas.microsoft.com/office/drawing/2014/main" id="{AD38CE10-7190-BF7D-1F29-9EE746FD7A67}"/>
              </a:ext>
            </a:extLst>
          </p:cNvPr>
          <p:cNvGrpSpPr/>
          <p:nvPr/>
        </p:nvGrpSpPr>
        <p:grpSpPr>
          <a:xfrm>
            <a:off x="1303595" y="4417995"/>
            <a:ext cx="5304801" cy="1015663"/>
            <a:chOff x="721426" y="4483788"/>
            <a:chExt cx="5304801" cy="1015663"/>
          </a:xfrm>
        </p:grpSpPr>
        <p:sp>
          <p:nvSpPr>
            <p:cNvPr id="13" name="Rectangle 24">
              <a:extLst>
                <a:ext uri="{FF2B5EF4-FFF2-40B4-BE49-F238E27FC236}">
                  <a16:creationId xmlns:a16="http://schemas.microsoft.com/office/drawing/2014/main" id="{0EBFB8EA-E3B9-C4CF-3177-3CEAE75F0CA0}"/>
                </a:ext>
              </a:extLst>
            </p:cNvPr>
            <p:cNvSpPr>
              <a:spLocks noChangeArrowheads="1"/>
            </p:cNvSpPr>
            <p:nvPr/>
          </p:nvSpPr>
          <p:spPr bwMode="auto">
            <a:xfrm>
              <a:off x="2656112" y="4483788"/>
              <a:ext cx="337011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5000"/>
                </a:spcBef>
                <a:spcAft>
                  <a:spcPct val="25000"/>
                </a:spcAft>
                <a:buFont typeface="Arial" panose="020B0604020202020204" pitchFamily="34" charset="0"/>
                <a:buChar char="•"/>
              </a:pPr>
              <a:r>
                <a:rPr lang="en-US" dirty="0" err="1">
                  <a:latin typeface="Source Sans Pro" panose="020B0503030403020204" pitchFamily="34" charset="0"/>
                  <a:ea typeface="Source Sans Pro" panose="020B0503030403020204" pitchFamily="34" charset="0"/>
                  <a:cs typeface="ＭＳ Ｐゴシック" charset="0"/>
                </a:rPr>
                <a:t>P</a:t>
              </a:r>
              <a:r>
                <a:rPr lang="en-US" baseline="-25000" dirty="0" err="1">
                  <a:latin typeface="Source Sans Pro" panose="020B0503030403020204" pitchFamily="34" charset="0"/>
                  <a:ea typeface="Source Sans Pro" panose="020B0503030403020204" pitchFamily="34" charset="0"/>
                  <a:cs typeface="ＭＳ Ｐゴシック" charset="0"/>
                </a:rPr>
                <a:t>iP</a:t>
              </a:r>
              <a:r>
                <a:rPr lang="en-US" dirty="0">
                  <a:latin typeface="Source Sans Pro" panose="020B0503030403020204" pitchFamily="34" charset="0"/>
                  <a:ea typeface="Source Sans Pro" panose="020B0503030403020204" pitchFamily="34" charset="0"/>
                  <a:cs typeface="ＭＳ Ｐゴシック" charset="0"/>
                </a:rPr>
                <a:t> = 770 and P</a:t>
              </a:r>
              <a:r>
                <a:rPr lang="en-US" baseline="-25000" dirty="0">
                  <a:latin typeface="Source Sans Pro" panose="020B0503030403020204" pitchFamily="34" charset="0"/>
                  <a:ea typeface="Source Sans Pro" panose="020B0503030403020204" pitchFamily="34" charset="0"/>
                  <a:cs typeface="ＭＳ Ｐゴシック" charset="0"/>
                </a:rPr>
                <a:t>AM</a:t>
              </a:r>
              <a:r>
                <a:rPr lang="en-US" dirty="0">
                  <a:latin typeface="Source Sans Pro" panose="020B0503030403020204" pitchFamily="34" charset="0"/>
                  <a:ea typeface="Source Sans Pro" panose="020B0503030403020204" pitchFamily="34" charset="0"/>
                  <a:cs typeface="ＭＳ Ｐゴシック" charset="0"/>
                </a:rPr>
                <a:t> = 250</a:t>
              </a:r>
              <a:endParaRPr lang="en-US" altLang="en-US" dirty="0">
                <a:latin typeface="Source Sans Pro" panose="020B0503030403020204" pitchFamily="34" charset="0"/>
              </a:endParaRPr>
            </a:p>
            <a:p>
              <a:pPr eaLnBrk="1" hangingPunct="1">
                <a:spcBef>
                  <a:spcPct val="25000"/>
                </a:spcBef>
                <a:spcAft>
                  <a:spcPct val="25000"/>
                </a:spcAft>
                <a:buFont typeface="Arial" panose="020B0604020202020204" pitchFamily="34" charset="0"/>
                <a:buChar char="•"/>
              </a:pPr>
              <a:r>
                <a:rPr lang="en-US" altLang="en-US" dirty="0">
                  <a:latin typeface="Source Sans Pro" panose="020B0503030403020204" pitchFamily="34" charset="0"/>
                </a:rPr>
                <a:t>Revenue is $2,040</a:t>
              </a:r>
            </a:p>
          </p:txBody>
        </p:sp>
        <p:sp>
          <p:nvSpPr>
            <p:cNvPr id="14" name="Rounded Rectangle 13">
              <a:extLst>
                <a:ext uri="{FF2B5EF4-FFF2-40B4-BE49-F238E27FC236}">
                  <a16:creationId xmlns:a16="http://schemas.microsoft.com/office/drawing/2014/main" id="{DD996C05-D293-63CF-9E4B-7B6BDD4C0CBD}"/>
                </a:ext>
              </a:extLst>
            </p:cNvPr>
            <p:cNvSpPr/>
            <p:nvPr/>
          </p:nvSpPr>
          <p:spPr>
            <a:xfrm>
              <a:off x="721426" y="4483788"/>
              <a:ext cx="1903361" cy="796134"/>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400" b="1" dirty="0">
                  <a:solidFill>
                    <a:schemeClr val="bg1"/>
                  </a:solidFill>
                  <a:latin typeface="Source Sans Pro" panose="020B0503030403020204" pitchFamily="34" charset="0"/>
                </a:rPr>
                <a:t>Separate sales</a:t>
              </a:r>
            </a:p>
          </p:txBody>
        </p:sp>
      </p:grpSp>
      <p:grpSp>
        <p:nvGrpSpPr>
          <p:cNvPr id="15" name="Group 14">
            <a:extLst>
              <a:ext uri="{FF2B5EF4-FFF2-40B4-BE49-F238E27FC236}">
                <a16:creationId xmlns:a16="http://schemas.microsoft.com/office/drawing/2014/main" id="{39B1E1E4-AEA0-D45B-A56F-D552FB46FBFC}"/>
              </a:ext>
            </a:extLst>
          </p:cNvPr>
          <p:cNvGrpSpPr/>
          <p:nvPr/>
        </p:nvGrpSpPr>
        <p:grpSpPr>
          <a:xfrm>
            <a:off x="1303595" y="5496361"/>
            <a:ext cx="4875809" cy="1015663"/>
            <a:chOff x="721426" y="5496360"/>
            <a:chExt cx="4875809" cy="1015663"/>
          </a:xfrm>
        </p:grpSpPr>
        <p:sp>
          <p:nvSpPr>
            <p:cNvPr id="18" name="Rounded Rectangle 17">
              <a:extLst>
                <a:ext uri="{FF2B5EF4-FFF2-40B4-BE49-F238E27FC236}">
                  <a16:creationId xmlns:a16="http://schemas.microsoft.com/office/drawing/2014/main" id="{4E6BCE4D-060C-126D-E81C-D842C617F79C}"/>
                </a:ext>
              </a:extLst>
            </p:cNvPr>
            <p:cNvSpPr/>
            <p:nvPr/>
          </p:nvSpPr>
          <p:spPr>
            <a:xfrm>
              <a:off x="721426" y="5496360"/>
              <a:ext cx="1903361" cy="796134"/>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Bundled  sale</a:t>
              </a:r>
            </a:p>
          </p:txBody>
        </p:sp>
        <p:sp>
          <p:nvSpPr>
            <p:cNvPr id="19" name="Rectangle 24">
              <a:extLst>
                <a:ext uri="{FF2B5EF4-FFF2-40B4-BE49-F238E27FC236}">
                  <a16:creationId xmlns:a16="http://schemas.microsoft.com/office/drawing/2014/main" id="{521CE01A-5D24-469F-94BD-9A7EABCB6F12}"/>
                </a:ext>
              </a:extLst>
            </p:cNvPr>
            <p:cNvSpPr>
              <a:spLocks noChangeArrowheads="1"/>
            </p:cNvSpPr>
            <p:nvPr/>
          </p:nvSpPr>
          <p:spPr bwMode="auto">
            <a:xfrm>
              <a:off x="2656112" y="5496360"/>
              <a:ext cx="294112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5000"/>
                </a:spcBef>
                <a:spcAft>
                  <a:spcPct val="25000"/>
                </a:spcAft>
                <a:buFont typeface="Arial" panose="020B0604020202020204" pitchFamily="34" charset="0"/>
                <a:buChar char="•"/>
              </a:pPr>
              <a:r>
                <a:rPr lang="en-US" altLang="en-US" dirty="0">
                  <a:latin typeface="Source Sans Pro" panose="020B0503030403020204" pitchFamily="34" charset="0"/>
                </a:rPr>
                <a:t>Price is $1,020</a:t>
              </a:r>
            </a:p>
            <a:p>
              <a:pPr eaLnBrk="1" hangingPunct="1">
                <a:spcBef>
                  <a:spcPct val="25000"/>
                </a:spcBef>
                <a:spcAft>
                  <a:spcPct val="25000"/>
                </a:spcAft>
                <a:buFont typeface="Arial" panose="020B0604020202020204" pitchFamily="34" charset="0"/>
                <a:buChar char="•"/>
              </a:pPr>
              <a:r>
                <a:rPr lang="en-US" altLang="en-US" dirty="0">
                  <a:latin typeface="Source Sans Pro" panose="020B0503030403020204" pitchFamily="34" charset="0"/>
                </a:rPr>
                <a:t>Revenue is $2,040</a:t>
              </a:r>
            </a:p>
          </p:txBody>
        </p:sp>
      </p:grpSp>
      <p:sp>
        <p:nvSpPr>
          <p:cNvPr id="20" name="Rectangle 3">
            <a:extLst>
              <a:ext uri="{FF2B5EF4-FFF2-40B4-BE49-F238E27FC236}">
                <a16:creationId xmlns:a16="http://schemas.microsoft.com/office/drawing/2014/main" id="{D2AA4675-2F6B-B4BD-F506-B70FEED6408B}"/>
              </a:ext>
            </a:extLst>
          </p:cNvPr>
          <p:cNvSpPr txBox="1">
            <a:spLocks noChangeArrowheads="1"/>
          </p:cNvSpPr>
          <p:nvPr/>
        </p:nvSpPr>
        <p:spPr>
          <a:xfrm>
            <a:off x="1050482" y="1187037"/>
            <a:ext cx="10610576" cy="461665"/>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ea typeface="ＭＳ Ｐゴシック" pitchFamily="34" charset="-128"/>
              </a:rPr>
              <a:t>Bundling is not beneficial when demand is </a:t>
            </a:r>
            <a:r>
              <a:rPr lang="en-US" altLang="en-US" b="1" kern="0">
                <a:ea typeface="ＭＳ Ｐゴシック" pitchFamily="34" charset="-128"/>
              </a:rPr>
              <a:t>positively correlated</a:t>
            </a:r>
            <a:endParaRPr lang="en-US" altLang="en-US" b="1" kern="0" dirty="0">
              <a:ea typeface="ＭＳ Ｐゴシック" pitchFamily="34" charset="-128"/>
            </a:endParaRPr>
          </a:p>
        </p:txBody>
      </p:sp>
    </p:spTree>
    <p:extLst>
      <p:ext uri="{BB962C8B-B14F-4D97-AF65-F5344CB8AC3E}">
        <p14:creationId xmlns:p14="http://schemas.microsoft.com/office/powerpoint/2010/main" val="205946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p:txBody>
          <a:bodyPr/>
          <a:lstStyle/>
          <a:p>
            <a:r>
              <a:rPr lang="en-US" altLang="en-US" dirty="0"/>
              <a:t>Other reasons for bundling</a:t>
            </a:r>
          </a:p>
        </p:txBody>
      </p:sp>
      <p:sp>
        <p:nvSpPr>
          <p:cNvPr id="675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53F54977-0586-4993-AD5B-2F124F06F747}" type="slidenum">
              <a:rPr lang="en-US" altLang="en-US" sz="1400">
                <a:latin typeface="Source Sans Pro" panose="020B0503030403020204" pitchFamily="34" charset="0"/>
                <a:ea typeface="Source Sans Pro" panose="020B0503030403020204" pitchFamily="34" charset="0"/>
              </a:rPr>
              <a:pPr eaLnBrk="1" hangingPunct="1"/>
              <a:t>71</a:t>
            </a:fld>
            <a:endParaRPr lang="en-US" altLang="en-US" sz="1400" dirty="0">
              <a:latin typeface="Source Sans Pro" panose="020B0503030403020204" pitchFamily="34" charset="0"/>
              <a:ea typeface="Source Sans Pro" panose="020B0503030403020204" pitchFamily="34" charset="0"/>
            </a:endParaRPr>
          </a:p>
        </p:txBody>
      </p:sp>
      <p:sp>
        <p:nvSpPr>
          <p:cNvPr id="2" name="Rectangle 3">
            <a:extLst>
              <a:ext uri="{FF2B5EF4-FFF2-40B4-BE49-F238E27FC236}">
                <a16:creationId xmlns:a16="http://schemas.microsoft.com/office/drawing/2014/main" id="{3FD7B2BE-1C26-A4F5-E4B0-E99C20253934}"/>
              </a:ext>
            </a:extLst>
          </p:cNvPr>
          <p:cNvSpPr txBox="1">
            <a:spLocks noChangeArrowheads="1"/>
          </p:cNvSpPr>
          <p:nvPr/>
        </p:nvSpPr>
        <p:spPr bwMode="auto">
          <a:xfrm>
            <a:off x="640080" y="1282724"/>
            <a:ext cx="10942320" cy="449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a:t>Why else would a firm bundle products, if not to increase profit?</a:t>
            </a:r>
          </a:p>
          <a:p>
            <a:pPr lvl="1"/>
            <a:r>
              <a:rPr lang="en-US" altLang="en-US" b="1" kern="0"/>
              <a:t>Efficiency </a:t>
            </a:r>
            <a:r>
              <a:rPr lang="en-US" altLang="en-US" kern="0"/>
              <a:t>in production and distribution</a:t>
            </a:r>
          </a:p>
          <a:p>
            <a:pPr lvl="2"/>
            <a:r>
              <a:rPr lang="en-US" altLang="en-US" kern="0"/>
              <a:t>Auto parts v. whole car</a:t>
            </a:r>
          </a:p>
          <a:p>
            <a:pPr lvl="2"/>
            <a:r>
              <a:rPr lang="en-US" altLang="en-US" kern="0"/>
              <a:t>News sites</a:t>
            </a:r>
          </a:p>
          <a:p>
            <a:pPr lvl="1"/>
            <a:r>
              <a:rPr lang="en-US" altLang="en-US" kern="0"/>
              <a:t>Assure </a:t>
            </a:r>
            <a:r>
              <a:rPr lang="en-US" altLang="en-US" b="1" kern="0"/>
              <a:t>quality</a:t>
            </a:r>
          </a:p>
          <a:p>
            <a:pPr lvl="2"/>
            <a:r>
              <a:rPr lang="en-US" altLang="en-US" kern="0"/>
              <a:t>Microsoft’s claims about complementarity between Windows and IE</a:t>
            </a:r>
          </a:p>
          <a:p>
            <a:pPr lvl="2"/>
            <a:r>
              <a:rPr lang="en-US" altLang="en-US" kern="0"/>
              <a:t>Kodak used to require its own paper in its film development</a:t>
            </a:r>
          </a:p>
          <a:p>
            <a:r>
              <a:rPr lang="en-US" altLang="en-US" kern="0"/>
              <a:t>Bundling simply to </a:t>
            </a:r>
            <a:r>
              <a:rPr lang="en-US" altLang="en-US" b="1" kern="0"/>
              <a:t>increase profit </a:t>
            </a:r>
            <a:r>
              <a:rPr lang="en-US" altLang="en-US" kern="0"/>
              <a:t>is </a:t>
            </a:r>
            <a:r>
              <a:rPr lang="en-US" altLang="en-US" b="1" kern="0"/>
              <a:t>illegal</a:t>
            </a:r>
            <a:r>
              <a:rPr lang="en-US" altLang="en-US" kern="0"/>
              <a:t>, so firms and regulators may argue about whether there is an efficiency/cost or quality reason for a bundle</a:t>
            </a:r>
            <a:endParaRPr lang="en-US" altLang="en-US" kern="0" dirty="0"/>
          </a:p>
        </p:txBody>
      </p:sp>
    </p:spTree>
    <p:extLst>
      <p:ext uri="{BB962C8B-B14F-4D97-AF65-F5344CB8AC3E}">
        <p14:creationId xmlns:p14="http://schemas.microsoft.com/office/powerpoint/2010/main" val="35672244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r>
              <a:rPr lang="en-US" altLang="en-US" dirty="0"/>
              <a:t>Practices related to bundling</a:t>
            </a:r>
          </a:p>
        </p:txBody>
      </p:sp>
      <p:sp>
        <p:nvSpPr>
          <p:cNvPr id="686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689A883-2263-45FC-BE2A-C2123AA5998F}" type="slidenum">
              <a:rPr lang="en-US" altLang="en-US" sz="1400">
                <a:latin typeface="Source Sans Pro" panose="020B0503030403020204" pitchFamily="34" charset="0"/>
                <a:ea typeface="Source Sans Pro" panose="020B0503030403020204" pitchFamily="34" charset="0"/>
              </a:rPr>
              <a:pPr eaLnBrk="1" hangingPunct="1"/>
              <a:t>72</a:t>
            </a:fld>
            <a:endParaRPr lang="en-US" altLang="en-US" sz="1400" dirty="0">
              <a:latin typeface="Source Sans Pro" panose="020B0503030403020204" pitchFamily="34" charset="0"/>
              <a:ea typeface="Source Sans Pro" panose="020B0503030403020204" pitchFamily="34" charset="0"/>
            </a:endParaRPr>
          </a:p>
        </p:txBody>
      </p:sp>
      <p:sp>
        <p:nvSpPr>
          <p:cNvPr id="2" name="Rectangle 3">
            <a:extLst>
              <a:ext uri="{FF2B5EF4-FFF2-40B4-BE49-F238E27FC236}">
                <a16:creationId xmlns:a16="http://schemas.microsoft.com/office/drawing/2014/main" id="{B0E1D9B4-DCEA-E270-D2FD-AEF283A4F248}"/>
              </a:ext>
            </a:extLst>
          </p:cNvPr>
          <p:cNvSpPr txBox="1">
            <a:spLocks noChangeArrowheads="1"/>
          </p:cNvSpPr>
          <p:nvPr/>
        </p:nvSpPr>
        <p:spPr bwMode="auto">
          <a:xfrm>
            <a:off x="2343573" y="1179188"/>
            <a:ext cx="9199498"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kern="0" dirty="0">
                <a:ea typeface="ＭＳ Ｐゴシック" pitchFamily="34" charset="-128"/>
              </a:rPr>
              <a:t>Offer </a:t>
            </a:r>
            <a:r>
              <a:rPr lang="en-US" altLang="en-US" b="1" kern="0" dirty="0">
                <a:ea typeface="ＭＳ Ｐゴシック" pitchFamily="34" charset="-128"/>
              </a:rPr>
              <a:t>bundle </a:t>
            </a:r>
            <a:r>
              <a:rPr lang="en-US" altLang="en-US" kern="0" dirty="0">
                <a:ea typeface="ＭＳ Ｐゴシック" pitchFamily="34" charset="-128"/>
              </a:rPr>
              <a:t>plus the possibility of buying the products </a:t>
            </a:r>
            <a:r>
              <a:rPr lang="en-US" altLang="en-US" b="1" kern="0" dirty="0">
                <a:ea typeface="ＭＳ Ｐゴシック" pitchFamily="34" charset="-128"/>
              </a:rPr>
              <a:t>separately</a:t>
            </a:r>
          </a:p>
          <a:p>
            <a:r>
              <a:rPr lang="en-US" altLang="en-US" kern="0" dirty="0">
                <a:ea typeface="ＭＳ Ｐゴシック" pitchFamily="34" charset="-128"/>
              </a:rPr>
              <a:t>Why do this?</a:t>
            </a:r>
          </a:p>
          <a:p>
            <a:pPr lvl="1"/>
            <a:r>
              <a:rPr lang="en-US" altLang="en-US" kern="0" dirty="0">
                <a:ea typeface="ＭＳ Ｐゴシック" pitchFamily="34" charset="-128"/>
              </a:rPr>
              <a:t>If cost to produce &gt; 0, firm doesn</a:t>
            </a:r>
            <a:r>
              <a:rPr lang="en-US" altLang="ja-JP" kern="0" dirty="0">
                <a:ea typeface="ＭＳ Ｐゴシック" pitchFamily="34" charset="-128"/>
              </a:rPr>
              <a:t>’t want to </a:t>
            </a:r>
            <a:r>
              <a:rPr lang="en-US" altLang="ja-JP" b="1" kern="0" dirty="0">
                <a:ea typeface="ＭＳ Ｐゴシック" pitchFamily="34" charset="-128"/>
              </a:rPr>
              <a:t>“force” </a:t>
            </a:r>
            <a:r>
              <a:rPr lang="en-US" altLang="ja-JP" kern="0" dirty="0">
                <a:ea typeface="ＭＳ Ｐゴシック" pitchFamily="34" charset="-128"/>
              </a:rPr>
              <a:t>a consumer with </a:t>
            </a:r>
            <a:r>
              <a:rPr lang="en-US" altLang="ja-JP" i="1" kern="0" dirty="0">
                <a:ea typeface="ＭＳ Ｐゴシック" pitchFamily="34" charset="-128"/>
              </a:rPr>
              <a:t>r</a:t>
            </a:r>
            <a:r>
              <a:rPr lang="en-US" altLang="ja-JP" kern="0" dirty="0">
                <a:ea typeface="ＭＳ Ｐゴシック" pitchFamily="34" charset="-128"/>
              </a:rPr>
              <a:t> &lt; cost</a:t>
            </a:r>
            <a:r>
              <a:rPr lang="en-US" altLang="ja-JP" i="1" kern="0" dirty="0">
                <a:ea typeface="ＭＳ Ｐゴシック" pitchFamily="34" charset="-128"/>
              </a:rPr>
              <a:t> </a:t>
            </a:r>
            <a:r>
              <a:rPr lang="en-US" altLang="ja-JP" kern="0" dirty="0">
                <a:ea typeface="ＭＳ Ｐゴシック" pitchFamily="34" charset="-128"/>
              </a:rPr>
              <a:t>to purchase a good with little value to him</a:t>
            </a:r>
          </a:p>
          <a:p>
            <a:r>
              <a:rPr lang="en-US" altLang="en-US" kern="0" dirty="0">
                <a:ea typeface="ＭＳ Ｐゴシック" pitchFamily="34" charset="-128"/>
              </a:rPr>
              <a:t>Example: Combo meals at fast food restaurants</a:t>
            </a:r>
          </a:p>
        </p:txBody>
      </p:sp>
      <p:sp>
        <p:nvSpPr>
          <p:cNvPr id="3" name="Rounded Rectangle 2">
            <a:extLst>
              <a:ext uri="{FF2B5EF4-FFF2-40B4-BE49-F238E27FC236}">
                <a16:creationId xmlns:a16="http://schemas.microsoft.com/office/drawing/2014/main" id="{CFD53527-8494-3E33-A2B6-652F30A5570E}"/>
              </a:ext>
            </a:extLst>
          </p:cNvPr>
          <p:cNvSpPr/>
          <p:nvPr/>
        </p:nvSpPr>
        <p:spPr>
          <a:xfrm>
            <a:off x="567026" y="1179189"/>
            <a:ext cx="1776548" cy="1024083"/>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Source Sans Pro" panose="020B0503030403020204" pitchFamily="34" charset="0"/>
              </a:rPr>
              <a:t> </a:t>
            </a:r>
            <a:r>
              <a:rPr lang="en-US" sz="2400" b="1" dirty="0">
                <a:solidFill>
                  <a:schemeClr val="bg1"/>
                </a:solidFill>
                <a:latin typeface="Source Sans Pro" panose="020B0503030403020204" pitchFamily="34" charset="0"/>
              </a:rPr>
              <a:t>Mixed bundling</a:t>
            </a:r>
          </a:p>
        </p:txBody>
      </p:sp>
      <p:grpSp>
        <p:nvGrpSpPr>
          <p:cNvPr id="4" name="Group 3">
            <a:extLst>
              <a:ext uri="{FF2B5EF4-FFF2-40B4-BE49-F238E27FC236}">
                <a16:creationId xmlns:a16="http://schemas.microsoft.com/office/drawing/2014/main" id="{C65D1F01-0BE1-0976-615D-E0A13FA6C14B}"/>
              </a:ext>
            </a:extLst>
          </p:cNvPr>
          <p:cNvGrpSpPr/>
          <p:nvPr/>
        </p:nvGrpSpPr>
        <p:grpSpPr>
          <a:xfrm>
            <a:off x="567026" y="3730144"/>
            <a:ext cx="10812174" cy="2899255"/>
            <a:chOff x="457200" y="3945606"/>
            <a:chExt cx="10812174" cy="2899255"/>
          </a:xfrm>
        </p:grpSpPr>
        <p:sp>
          <p:nvSpPr>
            <p:cNvPr id="5" name="Rectangle 3">
              <a:extLst>
                <a:ext uri="{FF2B5EF4-FFF2-40B4-BE49-F238E27FC236}">
                  <a16:creationId xmlns:a16="http://schemas.microsoft.com/office/drawing/2014/main" id="{12FB2854-D64A-83FA-E225-8B08328E4E11}"/>
                </a:ext>
              </a:extLst>
            </p:cNvPr>
            <p:cNvSpPr txBox="1">
              <a:spLocks noChangeArrowheads="1"/>
            </p:cNvSpPr>
            <p:nvPr/>
          </p:nvSpPr>
          <p:spPr bwMode="auto">
            <a:xfrm>
              <a:off x="2233748" y="3945606"/>
              <a:ext cx="9035626" cy="2899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n-US" altLang="en-US" sz="2400" b="1" kern="0" dirty="0">
                  <a:latin typeface="Source Sans Pro" panose="020B0503030403020204" pitchFamily="34" charset="0"/>
                  <a:ea typeface="ＭＳ Ｐゴシック" pitchFamily="34" charset="-128"/>
                </a:rPr>
                <a:t>Require </a:t>
              </a:r>
              <a:r>
                <a:rPr lang="en-US" altLang="en-US" sz="2400" kern="0" dirty="0">
                  <a:latin typeface="Source Sans Pro" panose="020B0503030403020204" pitchFamily="34" charset="0"/>
                  <a:ea typeface="ＭＳ Ｐゴシック" pitchFamily="34" charset="-128"/>
                </a:rPr>
                <a:t>consumer to buy one product as a condition for buying a separate product</a:t>
              </a:r>
            </a:p>
            <a:p>
              <a:pPr lvl="1"/>
              <a:r>
                <a:rPr lang="en-US" altLang="en-US" sz="2400" kern="0" dirty="0">
                  <a:latin typeface="Source Sans Pro" panose="020B0503030403020204" pitchFamily="34" charset="0"/>
                  <a:ea typeface="ＭＳ Ｐゴシック" pitchFamily="34" charset="-128"/>
                </a:rPr>
                <a:t>This is </a:t>
              </a:r>
              <a:r>
                <a:rPr lang="en-US" altLang="en-US" sz="2400" b="1" kern="0" dirty="0">
                  <a:latin typeface="Source Sans Pro" panose="020B0503030403020204" pitchFamily="34" charset="0"/>
                  <a:ea typeface="ＭＳ Ｐゴシック" pitchFamily="34" charset="-128"/>
                </a:rPr>
                <a:t>illegal</a:t>
              </a:r>
            </a:p>
            <a:p>
              <a:r>
                <a:rPr lang="en-US" altLang="en-US" sz="2400" kern="0" dirty="0">
                  <a:latin typeface="Source Sans Pro" panose="020B0503030403020204" pitchFamily="34" charset="0"/>
                  <a:ea typeface="ＭＳ Ｐゴシック" pitchFamily="34" charset="-128"/>
                </a:rPr>
                <a:t>Generally, the firm ties the purchase of a product for which it has </a:t>
              </a:r>
              <a:r>
                <a:rPr lang="en-US" altLang="en-US" sz="2400" b="1" kern="0" dirty="0">
                  <a:latin typeface="Source Sans Pro" panose="020B0503030403020204" pitchFamily="34" charset="0"/>
                  <a:ea typeface="ＭＳ Ｐゴシック" pitchFamily="34" charset="-128"/>
                </a:rPr>
                <a:t>competition </a:t>
              </a:r>
              <a:r>
                <a:rPr lang="en-US" altLang="en-US" sz="2400" kern="0" dirty="0">
                  <a:latin typeface="Source Sans Pro" panose="020B0503030403020204" pitchFamily="34" charset="0"/>
                  <a:ea typeface="ＭＳ Ｐゴシック" pitchFamily="34" charset="-128"/>
                </a:rPr>
                <a:t>with a product over which it has </a:t>
              </a:r>
              <a:r>
                <a:rPr lang="en-US" altLang="en-US" sz="2400" b="1" kern="0" dirty="0">
                  <a:latin typeface="Source Sans Pro" panose="020B0503030403020204" pitchFamily="34" charset="0"/>
                  <a:ea typeface="ＭＳ Ｐゴシック" pitchFamily="34" charset="-128"/>
                </a:rPr>
                <a:t>market power</a:t>
              </a:r>
            </a:p>
            <a:p>
              <a:r>
                <a:rPr lang="en-US" altLang="en-US" sz="2400" kern="0" dirty="0">
                  <a:latin typeface="Source Sans Pro" panose="020B0503030403020204" pitchFamily="34" charset="0"/>
                  <a:ea typeface="ＭＳ Ｐゴシック" pitchFamily="34" charset="-128"/>
                </a:rPr>
                <a:t>Examples: IBM punch cards and computers, Microsoft Windows and IE</a:t>
              </a:r>
            </a:p>
          </p:txBody>
        </p:sp>
        <p:sp>
          <p:nvSpPr>
            <p:cNvPr id="6" name="Rounded Rectangle 5">
              <a:extLst>
                <a:ext uri="{FF2B5EF4-FFF2-40B4-BE49-F238E27FC236}">
                  <a16:creationId xmlns:a16="http://schemas.microsoft.com/office/drawing/2014/main" id="{F2482643-113A-7AE5-A90B-FBCD609DB3BB}"/>
                </a:ext>
              </a:extLst>
            </p:cNvPr>
            <p:cNvSpPr/>
            <p:nvPr/>
          </p:nvSpPr>
          <p:spPr>
            <a:xfrm>
              <a:off x="457200" y="3945606"/>
              <a:ext cx="1776548" cy="1024083"/>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Source Sans Pro" panose="020B0503030403020204" pitchFamily="34" charset="0"/>
                </a:rPr>
                <a:t> </a:t>
              </a:r>
              <a:r>
                <a:rPr lang="en-US" sz="2400" b="1" dirty="0">
                  <a:solidFill>
                    <a:schemeClr val="bg1"/>
                  </a:solidFill>
                  <a:latin typeface="Source Sans Pro" panose="020B0503030403020204" pitchFamily="34" charset="0"/>
                </a:rPr>
                <a:t>Tying</a:t>
              </a:r>
            </a:p>
          </p:txBody>
        </p:sp>
      </p:grpSp>
    </p:spTree>
    <p:extLst>
      <p:ext uri="{BB962C8B-B14F-4D97-AF65-F5344CB8AC3E}">
        <p14:creationId xmlns:p14="http://schemas.microsoft.com/office/powerpoint/2010/main" val="143152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defRPr/>
            </a:pPr>
            <a:r>
              <a:rPr lang="en-US" sz="3600" dirty="0"/>
              <a:t>Pricing strategy summary</a:t>
            </a:r>
          </a:p>
        </p:txBody>
      </p:sp>
      <p:sp>
        <p:nvSpPr>
          <p:cNvPr id="6" name="Slide Number Placeholder 5"/>
          <p:cNvSpPr>
            <a:spLocks noGrp="1"/>
          </p:cNvSpPr>
          <p:nvPr>
            <p:ph type="sldNum" sz="quarter" idx="12"/>
          </p:nvPr>
        </p:nvSpPr>
        <p:spPr>
          <a:extLs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E344115-43DD-49C9-A74C-83E143919591}" type="slidenum">
              <a:rPr lang="en-US" altLang="en-US" sz="1400">
                <a:latin typeface="Source Sans Pro" panose="020B0503030403020204" pitchFamily="34" charset="0"/>
              </a:rPr>
              <a:pPr eaLnBrk="1" hangingPunct="1"/>
              <a:t>73</a:t>
            </a:fld>
            <a:endParaRPr lang="en-US" altLang="en-US" sz="1400" dirty="0">
              <a:latin typeface="Source Sans Pro" panose="020B0503030403020204" pitchFamily="34" charset="0"/>
            </a:endParaRPr>
          </a:p>
        </p:txBody>
      </p:sp>
      <p:sp>
        <p:nvSpPr>
          <p:cNvPr id="2" name="Rectangle 3">
            <a:extLst>
              <a:ext uri="{FF2B5EF4-FFF2-40B4-BE49-F238E27FC236}">
                <a16:creationId xmlns:a16="http://schemas.microsoft.com/office/drawing/2014/main" id="{CAF8EA98-1874-C021-1B2A-66DC4C92ED9F}"/>
              </a:ext>
            </a:extLst>
          </p:cNvPr>
          <p:cNvSpPr txBox="1">
            <a:spLocks noChangeArrowheads="1"/>
          </p:cNvSpPr>
          <p:nvPr/>
        </p:nvSpPr>
        <p:spPr bwMode="auto">
          <a:xfrm>
            <a:off x="978408" y="1528679"/>
            <a:ext cx="10168128" cy="270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800" kern="0"/>
              <a:t>Two-part tariffs allow firms to directly capture consumer surplus through the </a:t>
            </a:r>
            <a:r>
              <a:rPr lang="en-US" altLang="en-US" sz="2800" b="1" kern="0"/>
              <a:t>fixed fee</a:t>
            </a:r>
          </a:p>
          <a:p>
            <a:pPr eaLnBrk="1" hangingPunct="1"/>
            <a:r>
              <a:rPr lang="en-US" altLang="en-US" sz="2800" kern="0"/>
              <a:t>Bundling is a form of price discrimination</a:t>
            </a:r>
          </a:p>
          <a:p>
            <a:pPr lvl="1" eaLnBrk="1" hangingPunct="1"/>
            <a:r>
              <a:rPr lang="en-US" altLang="en-US" sz="2800" b="1" kern="0"/>
              <a:t>Negative correlation </a:t>
            </a:r>
            <a:r>
              <a:rPr lang="en-US" altLang="en-US" sz="2800" kern="0"/>
              <a:t>of the preferences is necessary</a:t>
            </a:r>
          </a:p>
          <a:p>
            <a:pPr lvl="1" eaLnBrk="1" hangingPunct="1"/>
            <a:r>
              <a:rPr lang="en-US" altLang="en-US" sz="2800" b="1" kern="0"/>
              <a:t>Coupons </a:t>
            </a:r>
            <a:r>
              <a:rPr lang="en-US" altLang="en-US" sz="2800" kern="0"/>
              <a:t>allow greater revenue even without correlation</a:t>
            </a:r>
            <a:endParaRPr lang="en-US" altLang="en-US" sz="2800" kern="0" dirty="0"/>
          </a:p>
        </p:txBody>
      </p:sp>
      <p:sp>
        <p:nvSpPr>
          <p:cNvPr id="3" name="5-Point Star 2">
            <a:extLst>
              <a:ext uri="{FF2B5EF4-FFF2-40B4-BE49-F238E27FC236}">
                <a16:creationId xmlns:a16="http://schemas.microsoft.com/office/drawing/2014/main" id="{643DE99A-AAFB-26B0-FF0B-64EE7118C747}"/>
              </a:ext>
            </a:extLst>
          </p:cNvPr>
          <p:cNvSpPr/>
          <p:nvPr/>
        </p:nvSpPr>
        <p:spPr>
          <a:xfrm>
            <a:off x="12462491"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614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ource Sans Pro" panose="020B0503030403020204" pitchFamily="34" charset="0"/>
                <a:ea typeface="Source Sans Pro" panose="020B0503030403020204" pitchFamily="34" charset="0"/>
              </a:rPr>
              <a:t>Agenda</a:t>
            </a:r>
          </a:p>
        </p:txBody>
      </p:sp>
      <p:sp>
        <p:nvSpPr>
          <p:cNvPr id="5" name="Slide Number Placeholder 4"/>
          <p:cNvSpPr>
            <a:spLocks noGrp="1"/>
          </p:cNvSpPr>
          <p:nvPr>
            <p:ph type="sldNum" sz="quarter" idx="12"/>
          </p:nvPr>
        </p:nvSpPr>
        <p:spPr/>
        <p:txBody>
          <a:bodyPr/>
          <a:lstStyle/>
          <a:p>
            <a:fld id="{601CDD02-EF00-47E2-B6EB-B4DAE4D672DA}" type="slidenum">
              <a:rPr lang="en-US" altLang="en-US" smtClean="0">
                <a:latin typeface="Source Sans Pro" panose="020B0503030403020204" pitchFamily="34" charset="0"/>
                <a:ea typeface="Source Sans Pro" panose="020B0503030403020204" pitchFamily="34" charset="0"/>
              </a:rPr>
              <a:pPr/>
              <a:t>74</a:t>
            </a:fld>
            <a:endParaRPr lang="en-US" altLang="en-US" dirty="0">
              <a:latin typeface="Source Sans Pro" panose="020B0503030403020204" pitchFamily="34" charset="0"/>
              <a:ea typeface="Source Sans Pro" panose="020B0503030403020204" pitchFamily="34" charset="0"/>
            </a:endParaRPr>
          </a:p>
        </p:txBody>
      </p:sp>
      <p:sp>
        <p:nvSpPr>
          <p:cNvPr id="3" name="TextBox 2">
            <a:extLst>
              <a:ext uri="{FF2B5EF4-FFF2-40B4-BE49-F238E27FC236}">
                <a16:creationId xmlns:a16="http://schemas.microsoft.com/office/drawing/2014/main" id="{4AACEB42-1E92-C6E5-F218-EFDCFF2B09BC}"/>
              </a:ext>
            </a:extLst>
          </p:cNvPr>
          <p:cNvSpPr txBox="1"/>
          <p:nvPr/>
        </p:nvSpPr>
        <p:spPr>
          <a:xfrm>
            <a:off x="3135630" y="2882540"/>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Price discrimination</a:t>
            </a:r>
          </a:p>
        </p:txBody>
      </p:sp>
      <p:sp>
        <p:nvSpPr>
          <p:cNvPr id="4" name="TextBox 3">
            <a:extLst>
              <a:ext uri="{FF2B5EF4-FFF2-40B4-BE49-F238E27FC236}">
                <a16:creationId xmlns:a16="http://schemas.microsoft.com/office/drawing/2014/main" id="{2AC80C26-B96D-CF0F-234E-1F1E85EC6644}"/>
              </a:ext>
            </a:extLst>
          </p:cNvPr>
          <p:cNvSpPr txBox="1"/>
          <p:nvPr/>
        </p:nvSpPr>
        <p:spPr>
          <a:xfrm>
            <a:off x="3135630" y="1472233"/>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Revenue maximization</a:t>
            </a:r>
          </a:p>
        </p:txBody>
      </p:sp>
      <p:sp>
        <p:nvSpPr>
          <p:cNvPr id="6" name="TextBox 5">
            <a:extLst>
              <a:ext uri="{FF2B5EF4-FFF2-40B4-BE49-F238E27FC236}">
                <a16:creationId xmlns:a16="http://schemas.microsoft.com/office/drawing/2014/main" id="{26437112-ECCB-310C-41AA-69473E92253B}"/>
              </a:ext>
            </a:extLst>
          </p:cNvPr>
          <p:cNvSpPr txBox="1"/>
          <p:nvPr/>
        </p:nvSpPr>
        <p:spPr>
          <a:xfrm>
            <a:off x="3135630" y="2172673"/>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Monopoly pricing</a:t>
            </a:r>
          </a:p>
        </p:txBody>
      </p:sp>
      <p:sp>
        <p:nvSpPr>
          <p:cNvPr id="7" name="TextBox 6">
            <a:extLst>
              <a:ext uri="{FF2B5EF4-FFF2-40B4-BE49-F238E27FC236}">
                <a16:creationId xmlns:a16="http://schemas.microsoft.com/office/drawing/2014/main" id="{0959720D-2366-0CEB-292A-2B7CEEAEE2C1}"/>
              </a:ext>
            </a:extLst>
          </p:cNvPr>
          <p:cNvSpPr txBox="1"/>
          <p:nvPr/>
        </p:nvSpPr>
        <p:spPr>
          <a:xfrm>
            <a:off x="3135630" y="5722005"/>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American Airlines case</a:t>
            </a:r>
          </a:p>
        </p:txBody>
      </p:sp>
      <p:sp>
        <p:nvSpPr>
          <p:cNvPr id="14" name="TextBox 13">
            <a:extLst>
              <a:ext uri="{FF2B5EF4-FFF2-40B4-BE49-F238E27FC236}">
                <a16:creationId xmlns:a16="http://schemas.microsoft.com/office/drawing/2014/main" id="{7DB46F81-D5E6-5C36-7A2E-72F496392A9D}"/>
              </a:ext>
            </a:extLst>
          </p:cNvPr>
          <p:cNvSpPr txBox="1"/>
          <p:nvPr/>
        </p:nvSpPr>
        <p:spPr>
          <a:xfrm>
            <a:off x="3135630" y="3592407"/>
            <a:ext cx="4819686" cy="523220"/>
          </a:xfrm>
          <a:prstGeom prst="rect">
            <a:avLst/>
          </a:prstGeom>
          <a:solidFill>
            <a:schemeClr val="bg1"/>
          </a:solidFill>
          <a:ln>
            <a:solidFill>
              <a:schemeClr val="bg1"/>
            </a:solid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Two-part tariffs</a:t>
            </a:r>
          </a:p>
        </p:txBody>
      </p:sp>
      <p:sp>
        <p:nvSpPr>
          <p:cNvPr id="15" name="TextBox 14">
            <a:extLst>
              <a:ext uri="{FF2B5EF4-FFF2-40B4-BE49-F238E27FC236}">
                <a16:creationId xmlns:a16="http://schemas.microsoft.com/office/drawing/2014/main" id="{C4DE856A-555F-0D90-7F0C-42C64C29DA95}"/>
              </a:ext>
            </a:extLst>
          </p:cNvPr>
          <p:cNvSpPr txBox="1"/>
          <p:nvPr/>
        </p:nvSpPr>
        <p:spPr>
          <a:xfrm>
            <a:off x="3135630" y="4302274"/>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Bundling</a:t>
            </a:r>
          </a:p>
        </p:txBody>
      </p:sp>
      <p:sp>
        <p:nvSpPr>
          <p:cNvPr id="16" name="TextBox 15">
            <a:extLst>
              <a:ext uri="{FF2B5EF4-FFF2-40B4-BE49-F238E27FC236}">
                <a16:creationId xmlns:a16="http://schemas.microsoft.com/office/drawing/2014/main" id="{544C06B9-E73A-818D-71F7-BE874EDC5A04}"/>
              </a:ext>
            </a:extLst>
          </p:cNvPr>
          <p:cNvSpPr txBox="1"/>
          <p:nvPr/>
        </p:nvSpPr>
        <p:spPr>
          <a:xfrm>
            <a:off x="3135630" y="5012141"/>
            <a:ext cx="4819686" cy="523220"/>
          </a:xfrm>
          <a:prstGeom prst="rect">
            <a:avLst/>
          </a:prstGeom>
          <a:solidFill>
            <a:srgbClr val="67C8C7"/>
          </a:solidFill>
          <a:ln>
            <a:solidFill>
              <a:srgbClr val="67C8C7"/>
            </a:solidFill>
          </a:ln>
        </p:spPr>
        <p:txBody>
          <a:bodyPr wrap="square" rtlCol="0">
            <a:spAutoFit/>
          </a:bodyPr>
          <a:lstStyle/>
          <a:p>
            <a:pPr marL="285750" indent="-285750">
              <a:buFont typeface="Arial" panose="020B0604020202020204" pitchFamily="34" charset="0"/>
              <a:buChar char="•"/>
            </a:pPr>
            <a:r>
              <a:rPr lang="en-US" sz="2800" b="1" dirty="0">
                <a:solidFill>
                  <a:schemeClr val="bg1"/>
                </a:solidFill>
                <a:latin typeface="Source Sans Pro" panose="020B0503030403020204" pitchFamily="34" charset="0"/>
                <a:ea typeface="Source Sans Pro" panose="020B0503030403020204" pitchFamily="34" charset="0"/>
              </a:rPr>
              <a:t>Adverse selection</a:t>
            </a:r>
          </a:p>
        </p:txBody>
      </p:sp>
    </p:spTree>
    <p:extLst>
      <p:ext uri="{BB962C8B-B14F-4D97-AF65-F5344CB8AC3E}">
        <p14:creationId xmlns:p14="http://schemas.microsoft.com/office/powerpoint/2010/main" val="37775448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3"/>
          <p:cNvSpPr>
            <a:spLocks noGrp="1"/>
          </p:cNvSpPr>
          <p:nvPr>
            <p:ph type="title"/>
          </p:nvPr>
        </p:nvSpPr>
        <p:spPr/>
        <p:txBody>
          <a:bodyPr/>
          <a:lstStyle/>
          <a:p>
            <a:r>
              <a:rPr lang="en-US" altLang="en-US" dirty="0"/>
              <a:t>Asymmetric information</a:t>
            </a:r>
          </a:p>
        </p:txBody>
      </p:sp>
      <p:sp>
        <p:nvSpPr>
          <p:cNvPr id="2" name="Slide Number Placeholder 1"/>
          <p:cNvSpPr>
            <a:spLocks noGrp="1"/>
          </p:cNvSpPr>
          <p:nvPr>
            <p:ph type="sldNum" sz="quarter" idx="12"/>
          </p:nvPr>
        </p:nvSpPr>
        <p:spPr/>
        <p:txBody>
          <a:bodyPr/>
          <a:lstStyle/>
          <a:p>
            <a:fld id="{FCB221D3-71BE-444A-A876-BB3F1A6317AC}" type="slidenum">
              <a:rPr lang="en-US" altLang="en-US" smtClean="0"/>
              <a:pPr/>
              <a:t>75</a:t>
            </a:fld>
            <a:endParaRPr lang="en-US" altLang="en-US"/>
          </a:p>
        </p:txBody>
      </p:sp>
      <p:grpSp>
        <p:nvGrpSpPr>
          <p:cNvPr id="5" name="Group 4">
            <a:extLst>
              <a:ext uri="{FF2B5EF4-FFF2-40B4-BE49-F238E27FC236}">
                <a16:creationId xmlns:a16="http://schemas.microsoft.com/office/drawing/2014/main" id="{054C154D-9633-36CA-9DC2-A28C044A72DF}"/>
              </a:ext>
            </a:extLst>
          </p:cNvPr>
          <p:cNvGrpSpPr/>
          <p:nvPr/>
        </p:nvGrpSpPr>
        <p:grpSpPr>
          <a:xfrm>
            <a:off x="600456" y="2755054"/>
            <a:ext cx="10774680" cy="1243584"/>
            <a:chOff x="365760" y="2715490"/>
            <a:chExt cx="10774680" cy="1243584"/>
          </a:xfrm>
        </p:grpSpPr>
        <p:grpSp>
          <p:nvGrpSpPr>
            <p:cNvPr id="6" name="Group 5">
              <a:extLst>
                <a:ext uri="{FF2B5EF4-FFF2-40B4-BE49-F238E27FC236}">
                  <a16:creationId xmlns:a16="http://schemas.microsoft.com/office/drawing/2014/main" id="{5501CD5E-C765-264B-0BEC-35A5F3E276D9}"/>
                </a:ext>
              </a:extLst>
            </p:cNvPr>
            <p:cNvGrpSpPr/>
            <p:nvPr/>
          </p:nvGrpSpPr>
          <p:grpSpPr>
            <a:xfrm>
              <a:off x="365760" y="2715490"/>
              <a:ext cx="10774680" cy="1243584"/>
              <a:chOff x="365760" y="2923309"/>
              <a:chExt cx="10774680" cy="1243584"/>
            </a:xfrm>
          </p:grpSpPr>
          <p:sp>
            <p:nvSpPr>
              <p:cNvPr id="8" name="Rounded Rectangle 7">
                <a:extLst>
                  <a:ext uri="{FF2B5EF4-FFF2-40B4-BE49-F238E27FC236}">
                    <a16:creationId xmlns:a16="http://schemas.microsoft.com/office/drawing/2014/main" id="{30BEE2EC-C4C1-63A4-E4E7-55FD9C7D0B17}"/>
                  </a:ext>
                </a:extLst>
              </p:cNvPr>
              <p:cNvSpPr/>
              <p:nvPr/>
            </p:nvSpPr>
            <p:spPr>
              <a:xfrm>
                <a:off x="1752600" y="3016123"/>
                <a:ext cx="9387840" cy="1057957"/>
              </a:xfrm>
              <a:prstGeom prst="roundRect">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ource Sans Pro" panose="020B0503030403020204" pitchFamily="34" charset="0"/>
                </a:endParaRPr>
              </a:p>
            </p:txBody>
          </p:sp>
          <p:sp>
            <p:nvSpPr>
              <p:cNvPr id="9" name="Rounded Rectangle 8">
                <a:extLst>
                  <a:ext uri="{FF2B5EF4-FFF2-40B4-BE49-F238E27FC236}">
                    <a16:creationId xmlns:a16="http://schemas.microsoft.com/office/drawing/2014/main" id="{93984C23-8D8D-8CA1-BE2D-897949E9D178}"/>
                  </a:ext>
                </a:extLst>
              </p:cNvPr>
              <p:cNvSpPr/>
              <p:nvPr/>
            </p:nvSpPr>
            <p:spPr>
              <a:xfrm>
                <a:off x="365760" y="2923309"/>
                <a:ext cx="1828800" cy="1243584"/>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ource Sans Pro" panose="020B0503030403020204" pitchFamily="34" charset="0"/>
                </a:endParaRPr>
              </a:p>
            </p:txBody>
          </p:sp>
          <p:sp>
            <p:nvSpPr>
              <p:cNvPr id="10" name="Rounded Rectangle 9">
                <a:extLst>
                  <a:ext uri="{FF2B5EF4-FFF2-40B4-BE49-F238E27FC236}">
                    <a16:creationId xmlns:a16="http://schemas.microsoft.com/office/drawing/2014/main" id="{7D924296-4197-0ABF-587E-4FEA514E63CE}"/>
                  </a:ext>
                </a:extLst>
              </p:cNvPr>
              <p:cNvSpPr/>
              <p:nvPr/>
            </p:nvSpPr>
            <p:spPr>
              <a:xfrm>
                <a:off x="457200" y="3016123"/>
                <a:ext cx="1645920" cy="1057957"/>
              </a:xfrm>
              <a:prstGeom prst="roundRect">
                <a:avLst/>
              </a:prstGeom>
              <a:solidFill>
                <a:srgbClr val="A51714"/>
              </a:solidFill>
              <a:ln>
                <a:solidFill>
                  <a:srgbClr val="A517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8C8C8"/>
                    </a:solidFill>
                    <a:latin typeface="Source Sans Pro" panose="020B0503030403020204" pitchFamily="34" charset="0"/>
                  </a:rPr>
                  <a:t>Adverse selection</a:t>
                </a:r>
              </a:p>
            </p:txBody>
          </p:sp>
        </p:grpSp>
        <p:sp>
          <p:nvSpPr>
            <p:cNvPr id="7" name="Rectangle 3">
              <a:extLst>
                <a:ext uri="{FF2B5EF4-FFF2-40B4-BE49-F238E27FC236}">
                  <a16:creationId xmlns:a16="http://schemas.microsoft.com/office/drawing/2014/main" id="{2963D7F4-972E-C4BE-A6F8-DE6BF1EE1DB9}"/>
                </a:ext>
              </a:extLst>
            </p:cNvPr>
            <p:cNvSpPr txBox="1">
              <a:spLocks noChangeArrowheads="1"/>
            </p:cNvSpPr>
            <p:nvPr/>
          </p:nvSpPr>
          <p:spPr bwMode="auto">
            <a:xfrm>
              <a:off x="2286000" y="2921784"/>
              <a:ext cx="86166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hangingPunct="1">
                <a:buNone/>
              </a:pPr>
              <a:r>
                <a:rPr lang="en-US" altLang="en-US" sz="2400" dirty="0">
                  <a:latin typeface="Source Sans Pro" panose="020B0503030403020204" pitchFamily="34" charset="0"/>
                  <a:ea typeface="ＭＳ Ｐゴシック" pitchFamily="34" charset="-128"/>
                </a:rPr>
                <a:t>The </a:t>
              </a:r>
              <a:r>
                <a:rPr lang="en-US" altLang="en-US" sz="2400" b="1" dirty="0">
                  <a:latin typeface="Source Sans Pro" panose="020B0503030403020204" pitchFamily="34" charset="0"/>
                  <a:ea typeface="ＭＳ Ｐゴシック" pitchFamily="34" charset="-128"/>
                </a:rPr>
                <a:t>“lemons” </a:t>
              </a:r>
              <a:r>
                <a:rPr lang="en-US" altLang="en-US" sz="2400" dirty="0">
                  <a:latin typeface="Source Sans Pro" panose="020B0503030403020204" pitchFamily="34" charset="0"/>
                  <a:ea typeface="ＭＳ Ｐゴシック" pitchFamily="34" charset="-128"/>
                </a:rPr>
                <a:t>problem that occurs </a:t>
              </a:r>
              <a:r>
                <a:rPr lang="en-US" altLang="en-US" sz="2400" b="1" dirty="0">
                  <a:latin typeface="Source Sans Pro" panose="020B0503030403020204" pitchFamily="34" charset="0"/>
                  <a:ea typeface="ＭＳ Ｐゴシック" pitchFamily="34" charset="-128"/>
                </a:rPr>
                <a:t>prior </a:t>
              </a:r>
              <a:r>
                <a:rPr lang="en-US" altLang="en-US" sz="2400" dirty="0">
                  <a:latin typeface="Source Sans Pro" panose="020B0503030403020204" pitchFamily="34" charset="0"/>
                  <a:ea typeface="ＭＳ Ｐゴシック" pitchFamily="34" charset="-128"/>
                </a:rPr>
                <a:t>to the signing of a contract (or forming a relationship)</a:t>
              </a:r>
            </a:p>
          </p:txBody>
        </p:sp>
      </p:grpSp>
      <p:grpSp>
        <p:nvGrpSpPr>
          <p:cNvPr id="11" name="Group 10">
            <a:extLst>
              <a:ext uri="{FF2B5EF4-FFF2-40B4-BE49-F238E27FC236}">
                <a16:creationId xmlns:a16="http://schemas.microsoft.com/office/drawing/2014/main" id="{A9EAE59D-C00C-82AB-578A-D2D4745289B9}"/>
              </a:ext>
            </a:extLst>
          </p:cNvPr>
          <p:cNvGrpSpPr/>
          <p:nvPr/>
        </p:nvGrpSpPr>
        <p:grpSpPr>
          <a:xfrm>
            <a:off x="600456" y="4033540"/>
            <a:ext cx="10774680" cy="1243584"/>
            <a:chOff x="365760" y="3979123"/>
            <a:chExt cx="10774680" cy="1243584"/>
          </a:xfrm>
        </p:grpSpPr>
        <p:grpSp>
          <p:nvGrpSpPr>
            <p:cNvPr id="12" name="Group 11">
              <a:extLst>
                <a:ext uri="{FF2B5EF4-FFF2-40B4-BE49-F238E27FC236}">
                  <a16:creationId xmlns:a16="http://schemas.microsoft.com/office/drawing/2014/main" id="{254454A4-64C8-612D-5D0C-AAE95AF6053C}"/>
                </a:ext>
              </a:extLst>
            </p:cNvPr>
            <p:cNvGrpSpPr/>
            <p:nvPr/>
          </p:nvGrpSpPr>
          <p:grpSpPr>
            <a:xfrm>
              <a:off x="365760" y="3979123"/>
              <a:ext cx="10774680" cy="1243584"/>
              <a:chOff x="365760" y="4478386"/>
              <a:chExt cx="10774680" cy="1243584"/>
            </a:xfrm>
          </p:grpSpPr>
          <p:sp>
            <p:nvSpPr>
              <p:cNvPr id="14" name="Rounded Rectangle 13">
                <a:extLst>
                  <a:ext uri="{FF2B5EF4-FFF2-40B4-BE49-F238E27FC236}">
                    <a16:creationId xmlns:a16="http://schemas.microsoft.com/office/drawing/2014/main" id="{8F1B153D-6BA9-5A8D-D1F3-89C847D51E2E}"/>
                  </a:ext>
                </a:extLst>
              </p:cNvPr>
              <p:cNvSpPr/>
              <p:nvPr/>
            </p:nvSpPr>
            <p:spPr>
              <a:xfrm>
                <a:off x="1752600" y="4571200"/>
                <a:ext cx="9387840" cy="1057957"/>
              </a:xfrm>
              <a:prstGeom prst="roundRect">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ource Sans Pro" panose="020B0503030403020204" pitchFamily="34" charset="0"/>
                </a:endParaRPr>
              </a:p>
            </p:txBody>
          </p:sp>
          <p:sp>
            <p:nvSpPr>
              <p:cNvPr id="15" name="Rounded Rectangle 14">
                <a:extLst>
                  <a:ext uri="{FF2B5EF4-FFF2-40B4-BE49-F238E27FC236}">
                    <a16:creationId xmlns:a16="http://schemas.microsoft.com/office/drawing/2014/main" id="{85A8FB32-AAD0-260F-79CE-FB3CB5C0A3BD}"/>
                  </a:ext>
                </a:extLst>
              </p:cNvPr>
              <p:cNvSpPr/>
              <p:nvPr/>
            </p:nvSpPr>
            <p:spPr>
              <a:xfrm>
                <a:off x="365760" y="4478386"/>
                <a:ext cx="1828800" cy="1243584"/>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ource Sans Pro" panose="020B0503030403020204" pitchFamily="34" charset="0"/>
                </a:endParaRPr>
              </a:p>
            </p:txBody>
          </p:sp>
          <p:sp>
            <p:nvSpPr>
              <p:cNvPr id="16" name="Rounded Rectangle 15">
                <a:extLst>
                  <a:ext uri="{FF2B5EF4-FFF2-40B4-BE49-F238E27FC236}">
                    <a16:creationId xmlns:a16="http://schemas.microsoft.com/office/drawing/2014/main" id="{1F005076-34EA-BE89-938C-E90E2ED9A309}"/>
                  </a:ext>
                </a:extLst>
              </p:cNvPr>
              <p:cNvSpPr/>
              <p:nvPr/>
            </p:nvSpPr>
            <p:spPr>
              <a:xfrm>
                <a:off x="457200" y="4571200"/>
                <a:ext cx="1645920" cy="1057957"/>
              </a:xfrm>
              <a:prstGeom prst="roundRect">
                <a:avLst/>
              </a:prstGeom>
              <a:solidFill>
                <a:srgbClr val="A51714"/>
              </a:solidFill>
              <a:ln>
                <a:solidFill>
                  <a:srgbClr val="A517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8C8C8"/>
                    </a:solidFill>
                    <a:latin typeface="Source Sans Pro" panose="020B0503030403020204" pitchFamily="34" charset="0"/>
                  </a:rPr>
                  <a:t>Moral hazard</a:t>
                </a:r>
              </a:p>
            </p:txBody>
          </p:sp>
        </p:grpSp>
        <p:sp>
          <p:nvSpPr>
            <p:cNvPr id="13" name="Rectangle 3">
              <a:extLst>
                <a:ext uri="{FF2B5EF4-FFF2-40B4-BE49-F238E27FC236}">
                  <a16:creationId xmlns:a16="http://schemas.microsoft.com/office/drawing/2014/main" id="{1A7255D5-D4C1-C477-C03E-FE5109AE42AE}"/>
                </a:ext>
              </a:extLst>
            </p:cNvPr>
            <p:cNvSpPr txBox="1">
              <a:spLocks noChangeArrowheads="1"/>
            </p:cNvSpPr>
            <p:nvPr/>
          </p:nvSpPr>
          <p:spPr bwMode="auto">
            <a:xfrm>
              <a:off x="2286000" y="4185417"/>
              <a:ext cx="86166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hangingPunct="1">
                <a:buNone/>
              </a:pPr>
              <a:r>
                <a:rPr lang="en-US" altLang="en-US" sz="2400" dirty="0">
                  <a:latin typeface="Source Sans Pro" panose="020B0503030403020204" pitchFamily="34" charset="0"/>
                  <a:ea typeface="ＭＳ Ｐゴシック" pitchFamily="34" charset="-128"/>
                </a:rPr>
                <a:t>Potentially </a:t>
              </a:r>
              <a:r>
                <a:rPr lang="en-US" altLang="en-US" sz="2400" b="1" dirty="0">
                  <a:latin typeface="Source Sans Pro" panose="020B0503030403020204" pitchFamily="34" charset="0"/>
                  <a:ea typeface="ＭＳ Ｐゴシック" pitchFamily="34" charset="-128"/>
                </a:rPr>
                <a:t>perverse incentives </a:t>
              </a:r>
              <a:r>
                <a:rPr lang="en-US" altLang="en-US" sz="2400" dirty="0">
                  <a:latin typeface="Source Sans Pro" panose="020B0503030403020204" pitchFamily="34" charset="0"/>
                  <a:ea typeface="ＭＳ Ｐゴシック" pitchFamily="34" charset="-128"/>
                </a:rPr>
                <a:t>that occur </a:t>
              </a:r>
              <a:r>
                <a:rPr lang="en-US" altLang="en-US" sz="2400" b="1" dirty="0">
                  <a:latin typeface="Source Sans Pro" panose="020B0503030403020204" pitchFamily="34" charset="0"/>
                  <a:ea typeface="ＭＳ Ｐゴシック" pitchFamily="34" charset="-128"/>
                </a:rPr>
                <a:t>after </a:t>
              </a:r>
              <a:r>
                <a:rPr lang="en-US" altLang="en-US" sz="2400" dirty="0">
                  <a:latin typeface="Source Sans Pro" panose="020B0503030403020204" pitchFamily="34" charset="0"/>
                  <a:ea typeface="ＭＳ Ｐゴシック" pitchFamily="34" charset="-128"/>
                </a:rPr>
                <a:t>signing the contract (or forming the relationship)</a:t>
              </a:r>
            </a:p>
          </p:txBody>
        </p:sp>
      </p:grpSp>
      <p:grpSp>
        <p:nvGrpSpPr>
          <p:cNvPr id="17" name="Group 16">
            <a:extLst>
              <a:ext uri="{FF2B5EF4-FFF2-40B4-BE49-F238E27FC236}">
                <a16:creationId xmlns:a16="http://schemas.microsoft.com/office/drawing/2014/main" id="{AD305C33-0978-BCDC-9BBB-FAE1322F301F}"/>
              </a:ext>
            </a:extLst>
          </p:cNvPr>
          <p:cNvGrpSpPr/>
          <p:nvPr/>
        </p:nvGrpSpPr>
        <p:grpSpPr>
          <a:xfrm>
            <a:off x="600456" y="5312028"/>
            <a:ext cx="10774680" cy="1243584"/>
            <a:chOff x="365760" y="5242755"/>
            <a:chExt cx="10774680" cy="1243584"/>
          </a:xfrm>
        </p:grpSpPr>
        <p:grpSp>
          <p:nvGrpSpPr>
            <p:cNvPr id="18" name="Group 17">
              <a:extLst>
                <a:ext uri="{FF2B5EF4-FFF2-40B4-BE49-F238E27FC236}">
                  <a16:creationId xmlns:a16="http://schemas.microsoft.com/office/drawing/2014/main" id="{52E365FB-2730-FE6B-262B-0C3ED2D10EA0}"/>
                </a:ext>
              </a:extLst>
            </p:cNvPr>
            <p:cNvGrpSpPr/>
            <p:nvPr/>
          </p:nvGrpSpPr>
          <p:grpSpPr>
            <a:xfrm>
              <a:off x="365760" y="5242755"/>
              <a:ext cx="10774680" cy="1243584"/>
              <a:chOff x="365760" y="5734592"/>
              <a:chExt cx="10774680" cy="1243584"/>
            </a:xfrm>
          </p:grpSpPr>
          <p:sp>
            <p:nvSpPr>
              <p:cNvPr id="20" name="Rounded Rectangle 19">
                <a:extLst>
                  <a:ext uri="{FF2B5EF4-FFF2-40B4-BE49-F238E27FC236}">
                    <a16:creationId xmlns:a16="http://schemas.microsoft.com/office/drawing/2014/main" id="{D52A3F9A-99FE-E8C9-2780-5D2ED3518009}"/>
                  </a:ext>
                </a:extLst>
              </p:cNvPr>
              <p:cNvSpPr/>
              <p:nvPr/>
            </p:nvSpPr>
            <p:spPr>
              <a:xfrm>
                <a:off x="1752600" y="5827406"/>
                <a:ext cx="9387840" cy="1057957"/>
              </a:xfrm>
              <a:prstGeom prst="roundRect">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ource Sans Pro" panose="020B0503030403020204" pitchFamily="34" charset="0"/>
                </a:endParaRPr>
              </a:p>
            </p:txBody>
          </p:sp>
          <p:sp>
            <p:nvSpPr>
              <p:cNvPr id="21" name="Rounded Rectangle 20">
                <a:extLst>
                  <a:ext uri="{FF2B5EF4-FFF2-40B4-BE49-F238E27FC236}">
                    <a16:creationId xmlns:a16="http://schemas.microsoft.com/office/drawing/2014/main" id="{3DCBE6B8-B538-A9AF-7F62-10E8010F28A6}"/>
                  </a:ext>
                </a:extLst>
              </p:cNvPr>
              <p:cNvSpPr/>
              <p:nvPr/>
            </p:nvSpPr>
            <p:spPr>
              <a:xfrm>
                <a:off x="365760" y="5734592"/>
                <a:ext cx="1828800" cy="1243584"/>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ource Sans Pro" panose="020B0503030403020204" pitchFamily="34" charset="0"/>
                </a:endParaRPr>
              </a:p>
            </p:txBody>
          </p:sp>
          <p:sp>
            <p:nvSpPr>
              <p:cNvPr id="25" name="Rounded Rectangle 24">
                <a:extLst>
                  <a:ext uri="{FF2B5EF4-FFF2-40B4-BE49-F238E27FC236}">
                    <a16:creationId xmlns:a16="http://schemas.microsoft.com/office/drawing/2014/main" id="{7387F6A0-A4D7-0992-F585-81578E71B76B}"/>
                  </a:ext>
                </a:extLst>
              </p:cNvPr>
              <p:cNvSpPr/>
              <p:nvPr/>
            </p:nvSpPr>
            <p:spPr>
              <a:xfrm>
                <a:off x="457200" y="5827406"/>
                <a:ext cx="1645920" cy="1057957"/>
              </a:xfrm>
              <a:prstGeom prst="roundRect">
                <a:avLst/>
              </a:prstGeom>
              <a:solidFill>
                <a:srgbClr val="A51714"/>
              </a:solidFill>
              <a:ln>
                <a:solidFill>
                  <a:srgbClr val="A517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8C8C8"/>
                    </a:solidFill>
                    <a:latin typeface="Source Sans Pro" panose="020B0503030403020204" pitchFamily="34" charset="0"/>
                  </a:rPr>
                  <a:t>Principal-agent</a:t>
                </a:r>
                <a:endParaRPr lang="en-US" b="1" dirty="0">
                  <a:solidFill>
                    <a:srgbClr val="C8C8C8"/>
                  </a:solidFill>
                  <a:latin typeface="Source Sans Pro" panose="020B0503030403020204" pitchFamily="34" charset="0"/>
                </a:endParaRPr>
              </a:p>
            </p:txBody>
          </p:sp>
        </p:grpSp>
        <p:sp>
          <p:nvSpPr>
            <p:cNvPr id="19" name="Rectangle 3">
              <a:extLst>
                <a:ext uri="{FF2B5EF4-FFF2-40B4-BE49-F238E27FC236}">
                  <a16:creationId xmlns:a16="http://schemas.microsoft.com/office/drawing/2014/main" id="{32CC3D72-849C-3568-5426-C50261F887E0}"/>
                </a:ext>
              </a:extLst>
            </p:cNvPr>
            <p:cNvSpPr txBox="1">
              <a:spLocks noChangeArrowheads="1"/>
            </p:cNvSpPr>
            <p:nvPr/>
          </p:nvSpPr>
          <p:spPr bwMode="auto">
            <a:xfrm>
              <a:off x="2286000" y="5635432"/>
              <a:ext cx="86989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hangingPunct="1">
                <a:buNone/>
              </a:pPr>
              <a:r>
                <a:rPr lang="en-US" altLang="en-US" sz="2400" b="1" dirty="0">
                  <a:latin typeface="Source Sans Pro" panose="020B0503030403020204" pitchFamily="34" charset="0"/>
                  <a:ea typeface="ＭＳ Ｐゴシック" pitchFamily="34" charset="-128"/>
                </a:rPr>
                <a:t>Conflicting </a:t>
              </a:r>
              <a:r>
                <a:rPr lang="en-US" altLang="en-US" sz="2400" dirty="0">
                  <a:latin typeface="Source Sans Pro" panose="020B0503030403020204" pitchFamily="34" charset="0"/>
                  <a:ea typeface="ＭＳ Ｐゴシック" pitchFamily="34" charset="-128"/>
                </a:rPr>
                <a:t>interests of the parties to the contract (or relationship)</a:t>
              </a:r>
            </a:p>
          </p:txBody>
        </p:sp>
      </p:grpSp>
      <p:grpSp>
        <p:nvGrpSpPr>
          <p:cNvPr id="26" name="Group 25">
            <a:extLst>
              <a:ext uri="{FF2B5EF4-FFF2-40B4-BE49-F238E27FC236}">
                <a16:creationId xmlns:a16="http://schemas.microsoft.com/office/drawing/2014/main" id="{6D30AE1F-1241-4619-D165-616096EAEA3D}"/>
              </a:ext>
            </a:extLst>
          </p:cNvPr>
          <p:cNvGrpSpPr/>
          <p:nvPr/>
        </p:nvGrpSpPr>
        <p:grpSpPr>
          <a:xfrm>
            <a:off x="684970" y="995195"/>
            <a:ext cx="10534718" cy="1228390"/>
            <a:chOff x="450273" y="995195"/>
            <a:chExt cx="10534718" cy="1228390"/>
          </a:xfrm>
        </p:grpSpPr>
        <p:sp>
          <p:nvSpPr>
            <p:cNvPr id="27" name="Rectangle 3">
              <a:extLst>
                <a:ext uri="{FF2B5EF4-FFF2-40B4-BE49-F238E27FC236}">
                  <a16:creationId xmlns:a16="http://schemas.microsoft.com/office/drawing/2014/main" id="{486FB84C-E22F-2EF5-2A50-E30B3DE13967}"/>
                </a:ext>
              </a:extLst>
            </p:cNvPr>
            <p:cNvSpPr txBox="1">
              <a:spLocks noChangeArrowheads="1"/>
            </p:cNvSpPr>
            <p:nvPr/>
          </p:nvSpPr>
          <p:spPr bwMode="auto">
            <a:xfrm>
              <a:off x="2285999" y="1023256"/>
              <a:ext cx="869899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hangingPunct="1">
                <a:buNone/>
              </a:pPr>
              <a:r>
                <a:rPr lang="en-US" altLang="en-US" sz="2400" dirty="0">
                  <a:latin typeface="Source Sans Pro" panose="020B0503030403020204" pitchFamily="34" charset="0"/>
                  <a:ea typeface="ＭＳ Ｐゴシック" pitchFamily="34" charset="-128"/>
                </a:rPr>
                <a:t>A market, or situation, where the sellers have </a:t>
              </a:r>
              <a:r>
                <a:rPr lang="en-US" altLang="en-US" sz="2400" b="1" dirty="0">
                  <a:latin typeface="Source Sans Pro" panose="020B0503030403020204" pitchFamily="34" charset="0"/>
                  <a:ea typeface="ＭＳ Ｐゴシック" pitchFamily="34" charset="-128"/>
                </a:rPr>
                <a:t>more information </a:t>
              </a:r>
              <a:r>
                <a:rPr lang="en-US" altLang="en-US" sz="2400" dirty="0">
                  <a:latin typeface="Source Sans Pro" panose="020B0503030403020204" pitchFamily="34" charset="0"/>
                  <a:ea typeface="ＭＳ Ｐゴシック" pitchFamily="34" charset="-128"/>
                </a:rPr>
                <a:t>about the quality of a product than buyers (or vice versa)</a:t>
              </a:r>
            </a:p>
          </p:txBody>
        </p:sp>
        <p:sp>
          <p:nvSpPr>
            <p:cNvPr id="31" name="Rounded Rectangle 30">
              <a:extLst>
                <a:ext uri="{FF2B5EF4-FFF2-40B4-BE49-F238E27FC236}">
                  <a16:creationId xmlns:a16="http://schemas.microsoft.com/office/drawing/2014/main" id="{75F9C840-F651-B9E5-7EA4-EF926E1A5D30}"/>
                </a:ext>
              </a:extLst>
            </p:cNvPr>
            <p:cNvSpPr/>
            <p:nvPr/>
          </p:nvSpPr>
          <p:spPr>
            <a:xfrm>
              <a:off x="450273" y="995195"/>
              <a:ext cx="1645920" cy="1228390"/>
            </a:xfrm>
            <a:prstGeom prst="roundRect">
              <a:avLst/>
            </a:prstGeom>
            <a:solidFill>
              <a:srgbClr val="A51714"/>
            </a:solidFill>
            <a:ln>
              <a:solidFill>
                <a:srgbClr val="A517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8C8C8"/>
                  </a:solidFill>
                  <a:latin typeface="Source Sans Pro" panose="020B0503030403020204" pitchFamily="34" charset="0"/>
                </a:rPr>
                <a:t>Definition</a:t>
              </a:r>
            </a:p>
          </p:txBody>
        </p:sp>
      </p:grpSp>
      <p:sp>
        <p:nvSpPr>
          <p:cNvPr id="32" name="Rectangle 3">
            <a:extLst>
              <a:ext uri="{FF2B5EF4-FFF2-40B4-BE49-F238E27FC236}">
                <a16:creationId xmlns:a16="http://schemas.microsoft.com/office/drawing/2014/main" id="{73F3884E-BB7A-3A6B-2FF7-1BF734E84066}"/>
              </a:ext>
            </a:extLst>
          </p:cNvPr>
          <p:cNvSpPr txBox="1">
            <a:spLocks noChangeArrowheads="1"/>
          </p:cNvSpPr>
          <p:nvPr/>
        </p:nvSpPr>
        <p:spPr bwMode="auto">
          <a:xfrm>
            <a:off x="691897" y="2258488"/>
            <a:ext cx="63938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hangingPunct="1">
              <a:buNone/>
            </a:pPr>
            <a:r>
              <a:rPr lang="en-US" altLang="en-US" sz="2400" dirty="0">
                <a:latin typeface="Source Sans Pro" panose="020B0503030403020204" pitchFamily="34" charset="0"/>
                <a:ea typeface="ＭＳ Ｐゴシック" pitchFamily="34" charset="-128"/>
              </a:rPr>
              <a:t>Three primary areas where it comes into play…</a:t>
            </a:r>
          </a:p>
        </p:txBody>
      </p:sp>
    </p:spTree>
    <p:extLst>
      <p:ext uri="{BB962C8B-B14F-4D97-AF65-F5344CB8AC3E}">
        <p14:creationId xmlns:p14="http://schemas.microsoft.com/office/powerpoint/2010/main" val="186595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US" altLang="en-US" dirty="0"/>
              <a:t>Quality uncertainty and the market for lemons</a:t>
            </a:r>
          </a:p>
        </p:txBody>
      </p:sp>
      <p:sp>
        <p:nvSpPr>
          <p:cNvPr id="2" name="Slide Number Placeholder 1"/>
          <p:cNvSpPr>
            <a:spLocks noGrp="1"/>
          </p:cNvSpPr>
          <p:nvPr>
            <p:ph type="sldNum" sz="quarter" idx="12"/>
          </p:nvPr>
        </p:nvSpPr>
        <p:spPr/>
        <p:txBody>
          <a:bodyPr/>
          <a:lstStyle/>
          <a:p>
            <a:fld id="{FCB221D3-71BE-444A-A876-BB3F1A6317AC}" type="slidenum">
              <a:rPr lang="en-US" altLang="en-US" smtClean="0"/>
              <a:pPr/>
              <a:t>76</a:t>
            </a:fld>
            <a:endParaRPr lang="en-US" altLang="en-US"/>
          </a:p>
        </p:txBody>
      </p:sp>
      <p:sp>
        <p:nvSpPr>
          <p:cNvPr id="3" name="Content Placeholder 2">
            <a:extLst>
              <a:ext uri="{FF2B5EF4-FFF2-40B4-BE49-F238E27FC236}">
                <a16:creationId xmlns:a16="http://schemas.microsoft.com/office/drawing/2014/main" id="{0C582095-69DF-DABE-BB44-EA4FD88DA57B}"/>
              </a:ext>
            </a:extLst>
          </p:cNvPr>
          <p:cNvSpPr txBox="1">
            <a:spLocks/>
          </p:cNvSpPr>
          <p:nvPr/>
        </p:nvSpPr>
        <p:spPr>
          <a:xfrm>
            <a:off x="1981200" y="1676400"/>
            <a:ext cx="8229600" cy="1969770"/>
          </a:xfrm>
          <a:prstGeom prst="rect">
            <a:avLst/>
          </a:prstGeom>
        </p:spPr>
        <p:txBody>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800" kern="0">
                <a:ea typeface="ＭＳ Ｐゴシック" pitchFamily="34" charset="-128"/>
              </a:rPr>
              <a:t>Commonly said that the moment you drive your </a:t>
            </a:r>
            <a:r>
              <a:rPr lang="en-US" altLang="en-US" sz="2800" b="1" kern="0">
                <a:ea typeface="ＭＳ Ｐゴシック" pitchFamily="34" charset="-128"/>
              </a:rPr>
              <a:t>new car </a:t>
            </a:r>
            <a:r>
              <a:rPr lang="en-US" altLang="en-US" sz="2800" kern="0">
                <a:ea typeface="ＭＳ Ｐゴシック" pitchFamily="34" charset="-128"/>
              </a:rPr>
              <a:t>off the dealer’s lot, the value of the car drops 20%</a:t>
            </a:r>
          </a:p>
          <a:p>
            <a:pPr eaLnBrk="1" hangingPunct="1"/>
            <a:r>
              <a:rPr lang="en-US" altLang="en-US" sz="2800" kern="0">
                <a:ea typeface="ＭＳ Ｐゴシック" pitchFamily="34" charset="-128"/>
              </a:rPr>
              <a:t>Why is this?</a:t>
            </a:r>
            <a:endParaRPr lang="en-US" altLang="en-US" sz="2800" kern="0" dirty="0">
              <a:ea typeface="ＭＳ Ｐゴシック" pitchFamily="34" charset="-128"/>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market for lemons</a:t>
            </a:r>
          </a:p>
        </p:txBody>
      </p:sp>
      <p:sp>
        <p:nvSpPr>
          <p:cNvPr id="4" name="Slide Number Placeholder 3"/>
          <p:cNvSpPr>
            <a:spLocks noGrp="1"/>
          </p:cNvSpPr>
          <p:nvPr>
            <p:ph type="sldNum" sz="quarter" idx="12"/>
          </p:nvPr>
        </p:nvSpPr>
        <p:spPr/>
        <p:txBody>
          <a:bodyPr/>
          <a:lstStyle/>
          <a:p>
            <a:fld id="{FCB221D3-71BE-444A-A876-BB3F1A6317AC}" type="slidenum">
              <a:rPr lang="en-US" altLang="en-US" smtClean="0"/>
              <a:pPr/>
              <a:t>77</a:t>
            </a:fld>
            <a:endParaRPr lang="en-US" altLang="en-US"/>
          </a:p>
        </p:txBody>
      </p:sp>
      <p:sp>
        <p:nvSpPr>
          <p:cNvPr id="3" name="Content Placeholder 2">
            <a:extLst>
              <a:ext uri="{FF2B5EF4-FFF2-40B4-BE49-F238E27FC236}">
                <a16:creationId xmlns:a16="http://schemas.microsoft.com/office/drawing/2014/main" id="{554A7670-2FA2-EB31-9905-2FB7AA7030A0}"/>
              </a:ext>
            </a:extLst>
          </p:cNvPr>
          <p:cNvSpPr txBox="1">
            <a:spLocks/>
          </p:cNvSpPr>
          <p:nvPr/>
        </p:nvSpPr>
        <p:spPr bwMode="auto">
          <a:xfrm>
            <a:off x="1524794" y="914401"/>
            <a:ext cx="89212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fontAlgn="auto" hangingPunct="1">
              <a:buNone/>
              <a:defRPr/>
            </a:pPr>
            <a:r>
              <a:rPr lang="en-US" sz="2400" dirty="0">
                <a:latin typeface="Source Sans Pro" panose="020B0503030403020204" pitchFamily="34" charset="0"/>
              </a:rPr>
              <a:t>Think about the market for </a:t>
            </a:r>
            <a:r>
              <a:rPr lang="en-US" sz="2400" b="1" dirty="0">
                <a:latin typeface="Source Sans Pro" panose="020B0503030403020204" pitchFamily="34" charset="0"/>
              </a:rPr>
              <a:t>used cars </a:t>
            </a:r>
            <a:r>
              <a:rPr lang="en-US" sz="2400" dirty="0">
                <a:latin typeface="Source Sans Pro" panose="020B0503030403020204" pitchFamily="34" charset="0"/>
              </a:rPr>
              <a:t>in which the following is true</a:t>
            </a:r>
          </a:p>
        </p:txBody>
      </p:sp>
      <p:grpSp>
        <p:nvGrpSpPr>
          <p:cNvPr id="5" name="Group 4">
            <a:extLst>
              <a:ext uri="{FF2B5EF4-FFF2-40B4-BE49-F238E27FC236}">
                <a16:creationId xmlns:a16="http://schemas.microsoft.com/office/drawing/2014/main" id="{6ED3F502-256F-850F-5A91-1062537A5866}"/>
              </a:ext>
            </a:extLst>
          </p:cNvPr>
          <p:cNvGrpSpPr/>
          <p:nvPr/>
        </p:nvGrpSpPr>
        <p:grpSpPr>
          <a:xfrm>
            <a:off x="1524795" y="1468998"/>
            <a:ext cx="9259162" cy="984885"/>
            <a:chOff x="457200" y="1468998"/>
            <a:chExt cx="9259162" cy="984885"/>
          </a:xfrm>
        </p:grpSpPr>
        <p:sp>
          <p:nvSpPr>
            <p:cNvPr id="9" name="Rounded Rectangle 8">
              <a:extLst>
                <a:ext uri="{FF2B5EF4-FFF2-40B4-BE49-F238E27FC236}">
                  <a16:creationId xmlns:a16="http://schemas.microsoft.com/office/drawing/2014/main" id="{8A587148-EC2A-D111-6F0E-F9314684192E}"/>
                </a:ext>
              </a:extLst>
            </p:cNvPr>
            <p:cNvSpPr/>
            <p:nvPr/>
          </p:nvSpPr>
          <p:spPr>
            <a:xfrm>
              <a:off x="457200" y="1468998"/>
              <a:ext cx="1645920" cy="769441"/>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2 types of cars</a:t>
              </a:r>
            </a:p>
          </p:txBody>
        </p:sp>
        <p:sp>
          <p:nvSpPr>
            <p:cNvPr id="10" name="Content Placeholder 2">
              <a:extLst>
                <a:ext uri="{FF2B5EF4-FFF2-40B4-BE49-F238E27FC236}">
                  <a16:creationId xmlns:a16="http://schemas.microsoft.com/office/drawing/2014/main" id="{6336C0EE-0360-DEDE-8DB5-2DB58D6AD855}"/>
                </a:ext>
              </a:extLst>
            </p:cNvPr>
            <p:cNvSpPr txBox="1">
              <a:spLocks/>
            </p:cNvSpPr>
            <p:nvPr/>
          </p:nvSpPr>
          <p:spPr bwMode="auto">
            <a:xfrm>
              <a:off x="2103119" y="1468998"/>
              <a:ext cx="7613243"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fontAlgn="auto" hangingPunct="1">
                <a:buFont typeface="Arial" charset="0"/>
                <a:buChar char="•"/>
                <a:defRPr/>
              </a:pPr>
              <a:r>
                <a:rPr lang="en-US" sz="2400" dirty="0">
                  <a:latin typeface="Source Sans Pro" panose="020B0503030403020204" pitchFamily="34" charset="0"/>
                </a:rPr>
                <a:t>High Quality (Peaches)</a:t>
              </a:r>
            </a:p>
            <a:p>
              <a:pPr eaLnBrk="1" fontAlgn="auto" hangingPunct="1">
                <a:buFont typeface="Arial" charset="0"/>
                <a:buChar char="•"/>
                <a:defRPr/>
              </a:pPr>
              <a:r>
                <a:rPr lang="en-US" sz="2400" dirty="0">
                  <a:latin typeface="Source Sans Pro" panose="020B0503030403020204" pitchFamily="34" charset="0"/>
                </a:rPr>
                <a:t>Low Quality (Lemons)</a:t>
              </a:r>
            </a:p>
          </p:txBody>
        </p:sp>
      </p:grpSp>
      <p:grpSp>
        <p:nvGrpSpPr>
          <p:cNvPr id="12" name="Group 11">
            <a:extLst>
              <a:ext uri="{FF2B5EF4-FFF2-40B4-BE49-F238E27FC236}">
                <a16:creationId xmlns:a16="http://schemas.microsoft.com/office/drawing/2014/main" id="{FC176B70-9CA3-BA1C-5B13-405734A46C2A}"/>
              </a:ext>
            </a:extLst>
          </p:cNvPr>
          <p:cNvGrpSpPr/>
          <p:nvPr/>
        </p:nvGrpSpPr>
        <p:grpSpPr>
          <a:xfrm>
            <a:off x="1524795" y="2516039"/>
            <a:ext cx="9259162" cy="984885"/>
            <a:chOff x="457200" y="2516039"/>
            <a:chExt cx="9259162" cy="984885"/>
          </a:xfrm>
        </p:grpSpPr>
        <p:sp>
          <p:nvSpPr>
            <p:cNvPr id="14" name="Rounded Rectangle 13">
              <a:extLst>
                <a:ext uri="{FF2B5EF4-FFF2-40B4-BE49-F238E27FC236}">
                  <a16:creationId xmlns:a16="http://schemas.microsoft.com/office/drawing/2014/main" id="{5EE4FB11-D718-B2AF-7052-67E04A2173A9}"/>
                </a:ext>
              </a:extLst>
            </p:cNvPr>
            <p:cNvSpPr/>
            <p:nvPr/>
          </p:nvSpPr>
          <p:spPr>
            <a:xfrm>
              <a:off x="457200" y="2516039"/>
              <a:ext cx="1645920" cy="769441"/>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Buyers agree</a:t>
              </a:r>
            </a:p>
          </p:txBody>
        </p:sp>
        <p:sp>
          <p:nvSpPr>
            <p:cNvPr id="16" name="Content Placeholder 2">
              <a:extLst>
                <a:ext uri="{FF2B5EF4-FFF2-40B4-BE49-F238E27FC236}">
                  <a16:creationId xmlns:a16="http://schemas.microsoft.com/office/drawing/2014/main" id="{1CA4C860-3495-0ECC-EA59-B8A98C6536CF}"/>
                </a:ext>
              </a:extLst>
            </p:cNvPr>
            <p:cNvSpPr txBox="1">
              <a:spLocks/>
            </p:cNvSpPr>
            <p:nvPr/>
          </p:nvSpPr>
          <p:spPr bwMode="auto">
            <a:xfrm>
              <a:off x="2103119" y="2516039"/>
              <a:ext cx="7613243"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fontAlgn="auto" hangingPunct="1">
                <a:buFont typeface="Arial" charset="0"/>
                <a:buChar char="•"/>
                <a:defRPr/>
              </a:pPr>
              <a:r>
                <a:rPr lang="en-US" sz="2400" b="1" dirty="0">
                  <a:latin typeface="Source Sans Pro" panose="020B0503030403020204" pitchFamily="34" charset="0"/>
                </a:rPr>
                <a:t>Peach </a:t>
              </a:r>
              <a:r>
                <a:rPr lang="en-US" sz="2400" dirty="0">
                  <a:latin typeface="Source Sans Pro" panose="020B0503030403020204" pitchFamily="34" charset="0"/>
                </a:rPr>
                <a:t>is worth $10,000</a:t>
              </a:r>
            </a:p>
            <a:p>
              <a:pPr eaLnBrk="1" fontAlgn="auto" hangingPunct="1">
                <a:buFont typeface="Arial" charset="0"/>
                <a:buChar char="•"/>
                <a:defRPr/>
              </a:pPr>
              <a:r>
                <a:rPr lang="en-US" sz="2400" b="1" dirty="0">
                  <a:latin typeface="Source Sans Pro" panose="020B0503030403020204" pitchFamily="34" charset="0"/>
                </a:rPr>
                <a:t>Lemon </a:t>
              </a:r>
              <a:r>
                <a:rPr lang="en-US" sz="2400" dirty="0">
                  <a:latin typeface="Source Sans Pro" panose="020B0503030403020204" pitchFamily="34" charset="0"/>
                </a:rPr>
                <a:t>is worth $5,000</a:t>
              </a:r>
            </a:p>
          </p:txBody>
        </p:sp>
      </p:grpSp>
      <p:grpSp>
        <p:nvGrpSpPr>
          <p:cNvPr id="20" name="Group 19">
            <a:extLst>
              <a:ext uri="{FF2B5EF4-FFF2-40B4-BE49-F238E27FC236}">
                <a16:creationId xmlns:a16="http://schemas.microsoft.com/office/drawing/2014/main" id="{920F73A4-0C6A-CF6E-2CBD-029450D8B989}"/>
              </a:ext>
            </a:extLst>
          </p:cNvPr>
          <p:cNvGrpSpPr/>
          <p:nvPr/>
        </p:nvGrpSpPr>
        <p:grpSpPr>
          <a:xfrm>
            <a:off x="1524795" y="3563080"/>
            <a:ext cx="9259162" cy="2031325"/>
            <a:chOff x="457200" y="3563079"/>
            <a:chExt cx="9259162" cy="2031325"/>
          </a:xfrm>
        </p:grpSpPr>
        <p:sp>
          <p:nvSpPr>
            <p:cNvPr id="21" name="Rounded Rectangle 20">
              <a:extLst>
                <a:ext uri="{FF2B5EF4-FFF2-40B4-BE49-F238E27FC236}">
                  <a16:creationId xmlns:a16="http://schemas.microsoft.com/office/drawing/2014/main" id="{98CECBA4-0728-0623-4B51-0292B5E51114}"/>
                </a:ext>
              </a:extLst>
            </p:cNvPr>
            <p:cNvSpPr/>
            <p:nvPr/>
          </p:nvSpPr>
          <p:spPr>
            <a:xfrm>
              <a:off x="457200" y="3563079"/>
              <a:ext cx="1645920" cy="769441"/>
            </a:xfrm>
            <a:prstGeom prst="roundRect">
              <a:avLst/>
            </a:prstGeom>
            <a:solidFill>
              <a:srgbClr val="67C8C7"/>
            </a:solidFill>
            <a:ln>
              <a:solidFill>
                <a:srgbClr val="67C8C7"/>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400" b="1" dirty="0">
                  <a:solidFill>
                    <a:schemeClr val="bg1"/>
                  </a:solidFill>
                  <a:latin typeface="Source Sans Pro" panose="020B0503030403020204" pitchFamily="34" charset="0"/>
                </a:rPr>
                <a:t>Knowledge</a:t>
              </a:r>
            </a:p>
          </p:txBody>
        </p:sp>
        <p:sp>
          <p:nvSpPr>
            <p:cNvPr id="23" name="Content Placeholder 2">
              <a:extLst>
                <a:ext uri="{FF2B5EF4-FFF2-40B4-BE49-F238E27FC236}">
                  <a16:creationId xmlns:a16="http://schemas.microsoft.com/office/drawing/2014/main" id="{AF525AFA-43B1-8F4C-9DC0-AE75EA616B77}"/>
                </a:ext>
              </a:extLst>
            </p:cNvPr>
            <p:cNvSpPr txBox="1">
              <a:spLocks/>
            </p:cNvSpPr>
            <p:nvPr/>
          </p:nvSpPr>
          <p:spPr bwMode="auto">
            <a:xfrm>
              <a:off x="2103119" y="3563079"/>
              <a:ext cx="7613243"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fontAlgn="auto" hangingPunct="1">
                <a:buFont typeface="Arial" charset="0"/>
                <a:buChar char="•"/>
                <a:defRPr/>
              </a:pPr>
              <a:r>
                <a:rPr lang="en-US" sz="2400" b="1" dirty="0">
                  <a:latin typeface="Source Sans Pro" panose="020B0503030403020204" pitchFamily="34" charset="0"/>
                </a:rPr>
                <a:t>Sellers know </a:t>
              </a:r>
              <a:r>
                <a:rPr lang="en-US" sz="2400" dirty="0">
                  <a:latin typeface="Source Sans Pro" panose="020B0503030403020204" pitchFamily="34" charset="0"/>
                </a:rPr>
                <a:t>if their car is a Peach or Lemon</a:t>
              </a:r>
            </a:p>
            <a:p>
              <a:pPr eaLnBrk="1" fontAlgn="auto" hangingPunct="1">
                <a:buFont typeface="Arial" charset="0"/>
                <a:buChar char="•"/>
                <a:defRPr/>
              </a:pPr>
              <a:r>
                <a:rPr lang="en-US" sz="2400" b="1" dirty="0">
                  <a:latin typeface="Source Sans Pro" panose="020B0503030403020204" pitchFamily="34" charset="0"/>
                </a:rPr>
                <a:t>Buyers don’t know </a:t>
              </a:r>
              <a:r>
                <a:rPr lang="en-US" sz="2400" dirty="0">
                  <a:latin typeface="Source Sans Pro" panose="020B0503030403020204" pitchFamily="34" charset="0"/>
                </a:rPr>
                <a:t>if a car is a Peach or Lemon</a:t>
              </a:r>
            </a:p>
            <a:p>
              <a:pPr eaLnBrk="1" fontAlgn="auto" hangingPunct="1">
                <a:buFont typeface="Arial" charset="0"/>
                <a:buChar char="•"/>
                <a:defRPr/>
              </a:pPr>
              <a:r>
                <a:rPr lang="en-US" sz="2400" dirty="0">
                  <a:latin typeface="Source Sans Pro" panose="020B0503030403020204" pitchFamily="34" charset="0"/>
                </a:rPr>
                <a:t>Asymmetric Information</a:t>
              </a:r>
            </a:p>
            <a:p>
              <a:pPr eaLnBrk="1" fontAlgn="auto" hangingPunct="1">
                <a:buFont typeface="Arial" charset="0"/>
                <a:buChar char="•"/>
                <a:defRPr/>
              </a:pPr>
              <a:r>
                <a:rPr lang="en-US" sz="2400" dirty="0">
                  <a:latin typeface="Source Sans Pro" panose="020B0503030403020204" pitchFamily="34" charset="0"/>
                </a:rPr>
                <a:t>Assume Buyers believe </a:t>
              </a:r>
              <a:r>
                <a:rPr lang="en-US" sz="2400" b="1" dirty="0">
                  <a:latin typeface="Source Sans Pro" panose="020B0503030403020204" pitchFamily="34" charset="0"/>
                </a:rPr>
                <a:t>50% </a:t>
              </a:r>
              <a:r>
                <a:rPr lang="en-US" sz="2400" dirty="0">
                  <a:latin typeface="Source Sans Pro" panose="020B0503030403020204" pitchFamily="34" charset="0"/>
                </a:rPr>
                <a:t>of used cars are Lemons</a:t>
              </a:r>
            </a:p>
          </p:txBody>
        </p:sp>
      </p:grpSp>
      <p:grpSp>
        <p:nvGrpSpPr>
          <p:cNvPr id="25" name="Group 24">
            <a:extLst>
              <a:ext uri="{FF2B5EF4-FFF2-40B4-BE49-F238E27FC236}">
                <a16:creationId xmlns:a16="http://schemas.microsoft.com/office/drawing/2014/main" id="{75F1E635-1D73-8BF2-0E89-CE34125A611D}"/>
              </a:ext>
            </a:extLst>
          </p:cNvPr>
          <p:cNvGrpSpPr/>
          <p:nvPr/>
        </p:nvGrpSpPr>
        <p:grpSpPr>
          <a:xfrm>
            <a:off x="1981201" y="5673276"/>
            <a:ext cx="8042565" cy="935342"/>
            <a:chOff x="457200" y="5673276"/>
            <a:chExt cx="8042565" cy="935342"/>
          </a:xfrm>
        </p:grpSpPr>
        <p:grpSp>
          <p:nvGrpSpPr>
            <p:cNvPr id="26" name="Group 25">
              <a:extLst>
                <a:ext uri="{FF2B5EF4-FFF2-40B4-BE49-F238E27FC236}">
                  <a16:creationId xmlns:a16="http://schemas.microsoft.com/office/drawing/2014/main" id="{F6C1F51B-3A22-D9C0-DEC9-00FD40B66C3F}"/>
                </a:ext>
              </a:extLst>
            </p:cNvPr>
            <p:cNvGrpSpPr/>
            <p:nvPr/>
          </p:nvGrpSpPr>
          <p:grpSpPr>
            <a:xfrm>
              <a:off x="457200" y="5673276"/>
              <a:ext cx="8042564" cy="935342"/>
              <a:chOff x="457200" y="5673276"/>
              <a:chExt cx="8042564" cy="935342"/>
            </a:xfrm>
          </p:grpSpPr>
          <p:sp>
            <p:nvSpPr>
              <p:cNvPr id="31" name="Rounded Rectangle 30">
                <a:extLst>
                  <a:ext uri="{FF2B5EF4-FFF2-40B4-BE49-F238E27FC236}">
                    <a16:creationId xmlns:a16="http://schemas.microsoft.com/office/drawing/2014/main" id="{66DFB80C-A27D-1795-A427-1240E1AAB3EB}"/>
                  </a:ext>
                </a:extLst>
              </p:cNvPr>
              <p:cNvSpPr/>
              <p:nvPr/>
            </p:nvSpPr>
            <p:spPr>
              <a:xfrm>
                <a:off x="457200" y="5855723"/>
                <a:ext cx="8042564" cy="563523"/>
              </a:xfrm>
              <a:prstGeom prst="roundRect">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Source Sans Pro" panose="020B0503030403020204" pitchFamily="34" charset="0"/>
                </a:endParaRPr>
              </a:p>
            </p:txBody>
          </p:sp>
          <p:sp>
            <p:nvSpPr>
              <p:cNvPr id="34" name="Oval 33">
                <a:extLst>
                  <a:ext uri="{FF2B5EF4-FFF2-40B4-BE49-F238E27FC236}">
                    <a16:creationId xmlns:a16="http://schemas.microsoft.com/office/drawing/2014/main" id="{5E9C289C-D267-95E4-C4D3-3E940EB8741E}"/>
                  </a:ext>
                </a:extLst>
              </p:cNvPr>
              <p:cNvSpPr/>
              <p:nvPr/>
            </p:nvSpPr>
            <p:spPr>
              <a:xfrm>
                <a:off x="457200" y="5673276"/>
                <a:ext cx="8042564" cy="422643"/>
              </a:xfrm>
              <a:prstGeom prst="ellipse">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Source Sans Pro" panose="020B0503030403020204" pitchFamily="34" charset="0"/>
                </a:endParaRPr>
              </a:p>
            </p:txBody>
          </p:sp>
          <p:sp>
            <p:nvSpPr>
              <p:cNvPr id="35" name="Oval 34">
                <a:extLst>
                  <a:ext uri="{FF2B5EF4-FFF2-40B4-BE49-F238E27FC236}">
                    <a16:creationId xmlns:a16="http://schemas.microsoft.com/office/drawing/2014/main" id="{EE3C955C-3029-81AC-6563-7B6D9DD6291B}"/>
                  </a:ext>
                </a:extLst>
              </p:cNvPr>
              <p:cNvSpPr/>
              <p:nvPr/>
            </p:nvSpPr>
            <p:spPr>
              <a:xfrm>
                <a:off x="457200" y="6185975"/>
                <a:ext cx="8042564" cy="422643"/>
              </a:xfrm>
              <a:prstGeom prst="ellipse">
                <a:avLst/>
              </a:prstGeom>
              <a:solidFill>
                <a:srgbClr val="C8C8C8"/>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Source Sans Pro" panose="020B0503030403020204" pitchFamily="34" charset="0"/>
                </a:endParaRPr>
              </a:p>
            </p:txBody>
          </p:sp>
        </p:grpSp>
        <p:sp>
          <p:nvSpPr>
            <p:cNvPr id="30" name="Content Placeholder 2">
              <a:extLst>
                <a:ext uri="{FF2B5EF4-FFF2-40B4-BE49-F238E27FC236}">
                  <a16:creationId xmlns:a16="http://schemas.microsoft.com/office/drawing/2014/main" id="{687613CF-E1C3-D1ED-75CE-CC48FD4B8C96}"/>
                </a:ext>
              </a:extLst>
            </p:cNvPr>
            <p:cNvSpPr txBox="1">
              <a:spLocks/>
            </p:cNvSpPr>
            <p:nvPr/>
          </p:nvSpPr>
          <p:spPr bwMode="auto">
            <a:xfrm>
              <a:off x="457201" y="5925504"/>
              <a:ext cx="8042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eaLnBrk="1" fontAlgn="auto" hangingPunct="1">
                <a:buNone/>
                <a:defRPr/>
              </a:pPr>
              <a:r>
                <a:rPr lang="en-US" sz="2400" dirty="0">
                  <a:latin typeface="Source Sans Pro" panose="020B0503030403020204" pitchFamily="34" charset="0"/>
                </a:rPr>
                <a:t>What is the </a:t>
              </a:r>
              <a:r>
                <a:rPr lang="en-US" sz="2400" b="1" dirty="0">
                  <a:latin typeface="Source Sans Pro" panose="020B0503030403020204" pitchFamily="34" charset="0"/>
                </a:rPr>
                <a:t>equilibrium price </a:t>
              </a:r>
              <a:r>
                <a:rPr lang="en-US" sz="2400" dirty="0">
                  <a:latin typeface="Source Sans Pro" panose="020B0503030403020204" pitchFamily="34" charset="0"/>
                </a:rPr>
                <a:t>of used cars in this market?</a:t>
              </a:r>
            </a:p>
          </p:txBody>
        </p:sp>
      </p:grpSp>
    </p:spTree>
    <p:extLst>
      <p:ext uri="{BB962C8B-B14F-4D97-AF65-F5344CB8AC3E}">
        <p14:creationId xmlns:p14="http://schemas.microsoft.com/office/powerpoint/2010/main" val="152426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r>
              <a:rPr lang="en-US" altLang="en-US" dirty="0"/>
              <a:t>Example: Health insurance</a:t>
            </a:r>
          </a:p>
        </p:txBody>
      </p:sp>
      <p:sp>
        <p:nvSpPr>
          <p:cNvPr id="2" name="Slide Number Placeholder 3">
            <a:extLst>
              <a:ext uri="{FF2B5EF4-FFF2-40B4-BE49-F238E27FC236}">
                <a16:creationId xmlns:a16="http://schemas.microsoft.com/office/drawing/2014/main" id="{DBB695D6-153E-2DE0-EB77-57846C107099}"/>
              </a:ext>
            </a:extLst>
          </p:cNvPr>
          <p:cNvSpPr>
            <a:spLocks noGrp="1"/>
          </p:cNvSpPr>
          <p:nvPr>
            <p:ph type="sldNum" sz="quarter" idx="12"/>
          </p:nvPr>
        </p:nvSpPr>
        <p:spPr/>
        <p:txBody>
          <a:bodyPr/>
          <a:lstStyle/>
          <a:p>
            <a:fld id="{FCB221D3-71BE-444A-A876-BB3F1A6317AC}" type="slidenum">
              <a:rPr lang="en-US" altLang="en-US" smtClean="0"/>
              <a:pPr/>
              <a:t>78</a:t>
            </a:fld>
            <a:endParaRPr lang="en-US" altLang="en-US"/>
          </a:p>
        </p:txBody>
      </p:sp>
      <p:sp>
        <p:nvSpPr>
          <p:cNvPr id="3" name="Content Placeholder 2">
            <a:extLst>
              <a:ext uri="{FF2B5EF4-FFF2-40B4-BE49-F238E27FC236}">
                <a16:creationId xmlns:a16="http://schemas.microsoft.com/office/drawing/2014/main" id="{F421AEBA-DBBB-2EF8-1EBC-65ED3220770D}"/>
              </a:ext>
            </a:extLst>
          </p:cNvPr>
          <p:cNvSpPr txBox="1">
            <a:spLocks/>
          </p:cNvSpPr>
          <p:nvPr/>
        </p:nvSpPr>
        <p:spPr bwMode="auto">
          <a:xfrm>
            <a:off x="978408" y="1618489"/>
            <a:ext cx="1004925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US" altLang="en-US" sz="2400" dirty="0">
                <a:latin typeface="Source Sans Pro" panose="020B0503030403020204" pitchFamily="34" charset="0"/>
                <a:ea typeface="ＭＳ Ｐゴシック" pitchFamily="34" charset="-128"/>
              </a:rPr>
              <a:t>Suppose you are a manager for an HMO (Health Maintenance Organization) that provides health insurance</a:t>
            </a:r>
          </a:p>
          <a:p>
            <a:pPr eaLnBrk="1" hangingPunct="1"/>
            <a:r>
              <a:rPr lang="en-US" altLang="en-US" sz="2400" dirty="0">
                <a:latin typeface="Source Sans Pro" panose="020B0503030403020204" pitchFamily="34" charset="0"/>
                <a:ea typeface="ＭＳ Ｐゴシック" pitchFamily="34" charset="-128"/>
              </a:rPr>
              <a:t>You are deciding whether to </a:t>
            </a:r>
            <a:r>
              <a:rPr lang="en-US" altLang="en-US" sz="2400" b="1" dirty="0">
                <a:latin typeface="Source Sans Pro" panose="020B0503030403020204" pitchFamily="34" charset="0"/>
                <a:ea typeface="ＭＳ Ｐゴシック" pitchFamily="34" charset="-128"/>
              </a:rPr>
              <a:t>raise</a:t>
            </a:r>
            <a:r>
              <a:rPr lang="en-US" altLang="en-US" sz="2400" dirty="0">
                <a:latin typeface="Source Sans Pro" panose="020B0503030403020204" pitchFamily="34" charset="0"/>
                <a:ea typeface="ＭＳ Ｐゴシック" pitchFamily="34" charset="-128"/>
              </a:rPr>
              <a:t> health insurance premiums for new patients</a:t>
            </a:r>
          </a:p>
          <a:p>
            <a:pPr lvl="1" eaLnBrk="1" hangingPunct="1"/>
            <a:r>
              <a:rPr lang="en-US" altLang="en-US" sz="2400" dirty="0">
                <a:latin typeface="Source Sans Pro" panose="020B0503030403020204" pitchFamily="34" charset="0"/>
                <a:ea typeface="ＭＳ Ｐゴシック" pitchFamily="34" charset="-128"/>
              </a:rPr>
              <a:t>Should you do it?</a:t>
            </a:r>
          </a:p>
        </p:txBody>
      </p:sp>
      <p:sp>
        <p:nvSpPr>
          <p:cNvPr id="4" name="Content Placeholder 2">
            <a:extLst>
              <a:ext uri="{FF2B5EF4-FFF2-40B4-BE49-F238E27FC236}">
                <a16:creationId xmlns:a16="http://schemas.microsoft.com/office/drawing/2014/main" id="{E1A26B45-15DC-0CF4-0E14-32B9B564CAA6}"/>
              </a:ext>
            </a:extLst>
          </p:cNvPr>
          <p:cNvSpPr txBox="1">
            <a:spLocks/>
          </p:cNvSpPr>
          <p:nvPr/>
        </p:nvSpPr>
        <p:spPr bwMode="auto">
          <a:xfrm>
            <a:off x="978408" y="3904490"/>
            <a:ext cx="10049256"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US" altLang="en-US" sz="2400" dirty="0">
                <a:latin typeface="Source Sans Pro" panose="020B0503030403020204" pitchFamily="34" charset="0"/>
                <a:ea typeface="ＭＳ Ｐゴシック" pitchFamily="34" charset="-128"/>
              </a:rPr>
              <a:t>Suppose you raise your premiums and your </a:t>
            </a:r>
            <a:r>
              <a:rPr lang="en-US" altLang="en-US" sz="2400" b="1" dirty="0">
                <a:latin typeface="Source Sans Pro" panose="020B0503030403020204" pitchFamily="34" charset="0"/>
                <a:ea typeface="ＭＳ Ｐゴシック" pitchFamily="34" charset="-128"/>
              </a:rPr>
              <a:t>competitors </a:t>
            </a:r>
            <a:r>
              <a:rPr lang="en-US" altLang="en-US" sz="2400" dirty="0">
                <a:latin typeface="Source Sans Pro" panose="020B0503030403020204" pitchFamily="34" charset="0"/>
                <a:ea typeface="ＭＳ Ｐゴシック" pitchFamily="34" charset="-128"/>
              </a:rPr>
              <a:t>do not</a:t>
            </a:r>
          </a:p>
          <a:p>
            <a:pPr eaLnBrk="1" hangingPunct="1"/>
            <a:r>
              <a:rPr lang="en-US" altLang="en-US" sz="2400" dirty="0">
                <a:latin typeface="Source Sans Pro" panose="020B0503030403020204" pitchFamily="34" charset="0"/>
                <a:ea typeface="ＭＳ Ｐゴシック" pitchFamily="34" charset="-128"/>
              </a:rPr>
              <a:t>Who will you attract to your HMO?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altLang="en-US" dirty="0"/>
              <a:t>Example: Health insurance</a:t>
            </a:r>
          </a:p>
        </p:txBody>
      </p:sp>
      <p:sp>
        <p:nvSpPr>
          <p:cNvPr id="2" name="Slide Number Placeholder 3">
            <a:extLst>
              <a:ext uri="{FF2B5EF4-FFF2-40B4-BE49-F238E27FC236}">
                <a16:creationId xmlns:a16="http://schemas.microsoft.com/office/drawing/2014/main" id="{56710BA9-BFD2-6DE2-9C74-871BA08D7B27}"/>
              </a:ext>
            </a:extLst>
          </p:cNvPr>
          <p:cNvSpPr>
            <a:spLocks noGrp="1"/>
          </p:cNvSpPr>
          <p:nvPr>
            <p:ph type="sldNum" sz="quarter" idx="12"/>
          </p:nvPr>
        </p:nvSpPr>
        <p:spPr/>
        <p:txBody>
          <a:bodyPr/>
          <a:lstStyle/>
          <a:p>
            <a:fld id="{FCB221D3-71BE-444A-A876-BB3F1A6317AC}" type="slidenum">
              <a:rPr lang="en-US" altLang="en-US" smtClean="0"/>
              <a:pPr/>
              <a:t>79</a:t>
            </a:fld>
            <a:endParaRPr lang="en-US" altLang="en-US"/>
          </a:p>
        </p:txBody>
      </p:sp>
      <p:sp>
        <p:nvSpPr>
          <p:cNvPr id="3" name="Content Placeholder 2">
            <a:extLst>
              <a:ext uri="{FF2B5EF4-FFF2-40B4-BE49-F238E27FC236}">
                <a16:creationId xmlns:a16="http://schemas.microsoft.com/office/drawing/2014/main" id="{3FA49D33-0D82-7755-B183-77B367DB50B7}"/>
              </a:ext>
            </a:extLst>
          </p:cNvPr>
          <p:cNvSpPr txBox="1">
            <a:spLocks/>
          </p:cNvSpPr>
          <p:nvPr/>
        </p:nvSpPr>
        <p:spPr>
          <a:xfrm>
            <a:off x="640080" y="1277642"/>
            <a:ext cx="10942320" cy="4302716"/>
          </a:xfrm>
          <a:prstGeom prst="rect">
            <a:avLst/>
          </a:prstGeom>
        </p:spPr>
        <p:txBody>
          <a:bodyPr wrap="square" rtlCol="0">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fontAlgn="auto" hangingPunct="1">
              <a:buFont typeface="Arial"/>
              <a:buChar char="•"/>
              <a:defRPr/>
            </a:pPr>
            <a:r>
              <a:rPr lang="en-US" kern="0"/>
              <a:t>There is </a:t>
            </a:r>
            <a:r>
              <a:rPr lang="en-US" b="1" kern="0"/>
              <a:t>asymmetric information </a:t>
            </a:r>
            <a:r>
              <a:rPr lang="en-US" kern="0"/>
              <a:t>in the market</a:t>
            </a:r>
          </a:p>
          <a:p>
            <a:pPr lvl="1" eaLnBrk="1" fontAlgn="auto" hangingPunct="1">
              <a:buFont typeface="Arial"/>
              <a:buChar char="•"/>
              <a:defRPr/>
            </a:pPr>
            <a:r>
              <a:rPr lang="en-US" kern="0"/>
              <a:t>Consumer has more knowledge of her </a:t>
            </a:r>
            <a:r>
              <a:rPr lang="en-US" b="1" kern="0"/>
              <a:t>underlying health</a:t>
            </a:r>
            <a:r>
              <a:rPr lang="en-US" kern="0"/>
              <a:t> and demand</a:t>
            </a:r>
          </a:p>
          <a:p>
            <a:pPr eaLnBrk="1" fontAlgn="auto" hangingPunct="1">
              <a:buFont typeface="Arial"/>
              <a:buChar char="•"/>
              <a:defRPr/>
            </a:pPr>
            <a:r>
              <a:rPr lang="en-US" kern="0"/>
              <a:t>If you raise the premium from $500 to $1,000</a:t>
            </a:r>
          </a:p>
          <a:p>
            <a:pPr lvl="1" eaLnBrk="1" fontAlgn="auto" hangingPunct="1">
              <a:buFont typeface="Arial"/>
              <a:buChar char="•"/>
              <a:defRPr/>
            </a:pPr>
            <a:r>
              <a:rPr lang="en-US" kern="0"/>
              <a:t>Attract/keep patients whose </a:t>
            </a:r>
            <a:r>
              <a:rPr lang="en-US" b="1" kern="0"/>
              <a:t>expected value </a:t>
            </a:r>
            <a:r>
              <a:rPr lang="en-US" kern="0"/>
              <a:t>of health insurance ≥ $1,000</a:t>
            </a:r>
          </a:p>
          <a:p>
            <a:pPr eaLnBrk="1" fontAlgn="auto" hangingPunct="1">
              <a:buFont typeface="Arial"/>
              <a:buChar char="•"/>
              <a:defRPr/>
            </a:pPr>
            <a:r>
              <a:rPr lang="en-US" kern="0"/>
              <a:t>You would likely attract many more </a:t>
            </a:r>
            <a:r>
              <a:rPr lang="en-US" b="1" kern="0"/>
              <a:t>bad risks</a:t>
            </a:r>
            <a:r>
              <a:rPr lang="en-US" kern="0"/>
              <a:t> (go to the doctor often, in generally poorer health)</a:t>
            </a:r>
          </a:p>
          <a:p>
            <a:pPr eaLnBrk="1" fontAlgn="auto" hangingPunct="1">
              <a:buFont typeface="Arial"/>
              <a:buChar char="•"/>
              <a:defRPr/>
            </a:pPr>
            <a:r>
              <a:rPr lang="en-US" kern="0"/>
              <a:t>In the </a:t>
            </a:r>
            <a:r>
              <a:rPr lang="en-US" b="1" kern="0"/>
              <a:t>short run </a:t>
            </a:r>
            <a:r>
              <a:rPr lang="en-US" kern="0"/>
              <a:t>you might earn </a:t>
            </a:r>
            <a:r>
              <a:rPr lang="en-US" b="1" kern="0"/>
              <a:t>higher profits</a:t>
            </a:r>
            <a:r>
              <a:rPr lang="en-US" kern="0"/>
              <a:t>, but in the </a:t>
            </a:r>
            <a:r>
              <a:rPr lang="en-US" b="1" kern="0"/>
              <a:t>long run </a:t>
            </a:r>
            <a:r>
              <a:rPr lang="en-US" kern="0"/>
              <a:t>your profits could be </a:t>
            </a:r>
            <a:r>
              <a:rPr lang="en-US" b="1" kern="0"/>
              <a:t>lower</a:t>
            </a:r>
            <a:r>
              <a:rPr lang="en-US" kern="0"/>
              <a:t> (higher payouts)</a:t>
            </a:r>
          </a:p>
          <a:p>
            <a:pPr eaLnBrk="1" fontAlgn="auto" hangingPunct="1">
              <a:buFont typeface="Arial"/>
              <a:buChar char="•"/>
              <a:defRPr/>
            </a:pPr>
            <a:r>
              <a:rPr lang="en-US" kern="0"/>
              <a:t>By raising premiums, you may </a:t>
            </a:r>
            <a:r>
              <a:rPr lang="en-US" b="1" kern="0"/>
              <a:t>eliminate </a:t>
            </a:r>
            <a:r>
              <a:rPr lang="en-US" kern="0"/>
              <a:t>the good risks that pay for the bad risks</a:t>
            </a:r>
            <a:endParaRPr lang="en-US" kern="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r>
              <a:rPr lang="en-US" altLang="en-US" dirty="0"/>
              <a:t>Signaling</a:t>
            </a:r>
          </a:p>
        </p:txBody>
      </p:sp>
      <p:sp>
        <p:nvSpPr>
          <p:cNvPr id="2" name="Slide Number Placeholder 3">
            <a:extLst>
              <a:ext uri="{FF2B5EF4-FFF2-40B4-BE49-F238E27FC236}">
                <a16:creationId xmlns:a16="http://schemas.microsoft.com/office/drawing/2014/main" id="{5BA234B2-8AA6-5EE6-776B-0098F81C1C27}"/>
              </a:ext>
            </a:extLst>
          </p:cNvPr>
          <p:cNvSpPr>
            <a:spLocks noGrp="1"/>
          </p:cNvSpPr>
          <p:nvPr>
            <p:ph type="sldNum" sz="quarter" idx="12"/>
          </p:nvPr>
        </p:nvSpPr>
        <p:spPr/>
        <p:txBody>
          <a:bodyPr/>
          <a:lstStyle/>
          <a:p>
            <a:fld id="{FCB221D3-71BE-444A-A876-BB3F1A6317AC}" type="slidenum">
              <a:rPr lang="en-US" altLang="en-US" smtClean="0"/>
              <a:pPr/>
              <a:t>80</a:t>
            </a:fld>
            <a:endParaRPr lang="en-US" altLang="en-US"/>
          </a:p>
        </p:txBody>
      </p:sp>
      <p:sp>
        <p:nvSpPr>
          <p:cNvPr id="3" name="Content Placeholder 2">
            <a:extLst>
              <a:ext uri="{FF2B5EF4-FFF2-40B4-BE49-F238E27FC236}">
                <a16:creationId xmlns:a16="http://schemas.microsoft.com/office/drawing/2014/main" id="{7160C864-8B33-4887-8B6E-7815192A5694}"/>
              </a:ext>
            </a:extLst>
          </p:cNvPr>
          <p:cNvSpPr txBox="1">
            <a:spLocks/>
          </p:cNvSpPr>
          <p:nvPr/>
        </p:nvSpPr>
        <p:spPr>
          <a:xfrm>
            <a:off x="704088" y="1143000"/>
            <a:ext cx="10878312" cy="4813625"/>
          </a:xfrm>
          <a:prstGeom prst="rect">
            <a:avLst/>
          </a:prstGeom>
        </p:spPr>
        <p:txBody>
          <a:bodyPr wrap="square">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600" kern="0">
                <a:ea typeface="ＭＳ Ｐゴシック" pitchFamily="34" charset="-128"/>
              </a:rPr>
              <a:t>Adverse selection suggests that </a:t>
            </a:r>
            <a:r>
              <a:rPr lang="en-US" altLang="en-US" sz="2600" b="1" kern="0">
                <a:ea typeface="ＭＳ Ｐゴシック" pitchFamily="34" charset="-128"/>
              </a:rPr>
              <a:t>extra information </a:t>
            </a:r>
            <a:r>
              <a:rPr lang="en-US" altLang="en-US" sz="2600" kern="0">
                <a:ea typeface="ＭＳ Ｐゴシック" pitchFamily="34" charset="-128"/>
              </a:rPr>
              <a:t>will solve the problem</a:t>
            </a:r>
          </a:p>
          <a:p>
            <a:pPr lvl="1" eaLnBrk="1" hangingPunct="1"/>
            <a:r>
              <a:rPr lang="en-US" altLang="en-US" sz="2600" kern="0">
                <a:ea typeface="ＭＳ Ｐゴシック" pitchFamily="34" charset="-128"/>
              </a:rPr>
              <a:t>Good car owners want to show that their car is good</a:t>
            </a:r>
          </a:p>
          <a:p>
            <a:pPr lvl="1" eaLnBrk="1" hangingPunct="1"/>
            <a:r>
              <a:rPr lang="en-US" altLang="en-US" sz="2600" kern="0">
                <a:ea typeface="ＭＳ Ｐゴシック" pitchFamily="34" charset="-128"/>
              </a:rPr>
              <a:t>Low risk types want cheap insurance</a:t>
            </a:r>
          </a:p>
          <a:p>
            <a:pPr lvl="1" eaLnBrk="1" hangingPunct="1"/>
            <a:r>
              <a:rPr lang="en-US" altLang="en-US" sz="2600" kern="0">
                <a:ea typeface="ＭＳ Ｐゴシック" pitchFamily="34" charset="-128"/>
              </a:rPr>
              <a:t>Banks and lenders want to lend to reliable borrowers </a:t>
            </a:r>
          </a:p>
          <a:p>
            <a:pPr eaLnBrk="1" hangingPunct="1"/>
            <a:r>
              <a:rPr lang="en-US" altLang="en-US" sz="2600" kern="0">
                <a:ea typeface="ＭＳ Ｐゴシック" pitchFamily="34" charset="-128"/>
              </a:rPr>
              <a:t>Some individuals want to </a:t>
            </a:r>
            <a:r>
              <a:rPr lang="en-US" altLang="en-US" sz="2600" b="1" kern="0">
                <a:ea typeface="ＭＳ Ｐゴシック" pitchFamily="34" charset="-128"/>
              </a:rPr>
              <a:t>signal </a:t>
            </a:r>
            <a:r>
              <a:rPr lang="en-US" altLang="en-US" sz="2600" kern="0">
                <a:ea typeface="ＭＳ Ｐゴシック" pitchFamily="34" charset="-128"/>
              </a:rPr>
              <a:t>their information</a:t>
            </a:r>
          </a:p>
          <a:p>
            <a:pPr eaLnBrk="1" hangingPunct="1"/>
            <a:r>
              <a:rPr lang="en-US" altLang="en-US" sz="2600" kern="0">
                <a:ea typeface="ＭＳ Ｐゴシック" pitchFamily="34" charset="-128"/>
              </a:rPr>
              <a:t>It is important these signals are </a:t>
            </a:r>
            <a:r>
              <a:rPr lang="en-US" altLang="en-US" sz="2600" b="1" kern="0">
                <a:ea typeface="ＭＳ Ｐゴシック" pitchFamily="34" charset="-128"/>
              </a:rPr>
              <a:t>believed</a:t>
            </a:r>
          </a:p>
          <a:p>
            <a:pPr lvl="1" eaLnBrk="1" hangingPunct="1"/>
            <a:r>
              <a:rPr lang="en-US" altLang="en-US" sz="2600" kern="0">
                <a:ea typeface="ＭＳ Ｐゴシック" pitchFamily="34" charset="-128"/>
              </a:rPr>
              <a:t>Owners of a </a:t>
            </a:r>
            <a:r>
              <a:rPr lang="en-US" altLang="en-US" sz="2600" b="1" kern="0">
                <a:ea typeface="ＭＳ Ｐゴシック" pitchFamily="34" charset="-128"/>
              </a:rPr>
              <a:t>bad </a:t>
            </a:r>
            <a:r>
              <a:rPr lang="en-US" altLang="en-US" sz="2600" kern="0">
                <a:ea typeface="ＭＳ Ｐゴシック" pitchFamily="34" charset="-128"/>
              </a:rPr>
              <a:t>car also want buyers to believe it is good</a:t>
            </a:r>
          </a:p>
          <a:p>
            <a:pPr eaLnBrk="1" hangingPunct="1"/>
            <a:r>
              <a:rPr lang="en-US" altLang="en-US" sz="2600" kern="0">
                <a:ea typeface="ＭＳ Ｐゴシック" pitchFamily="34" charset="-128"/>
              </a:rPr>
              <a:t>To avoid adverse selection, it is necessary for signals to be sent and for the signals to be </a:t>
            </a:r>
            <a:r>
              <a:rPr lang="en-US" altLang="en-US" sz="2600" b="1" kern="0">
                <a:ea typeface="ＭＳ Ｐゴシック" pitchFamily="34" charset="-128"/>
              </a:rPr>
              <a:t>credible</a:t>
            </a:r>
            <a:endParaRPr lang="en-US" altLang="en-US" sz="2600" b="1" kern="0" dirty="0">
              <a:ea typeface="ＭＳ Ｐゴシック" pitchFamily="34" charset="-128"/>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r>
              <a:rPr lang="en-US" altLang="en-US" dirty="0"/>
              <a:t>Methods to signal quality</a:t>
            </a:r>
          </a:p>
        </p:txBody>
      </p:sp>
      <p:sp>
        <p:nvSpPr>
          <p:cNvPr id="5" name="Slide Number Placeholder 3">
            <a:extLst>
              <a:ext uri="{FF2B5EF4-FFF2-40B4-BE49-F238E27FC236}">
                <a16:creationId xmlns:a16="http://schemas.microsoft.com/office/drawing/2014/main" id="{0157EC63-BBC2-5B7A-6D90-00DF98BEEFEE}"/>
              </a:ext>
            </a:extLst>
          </p:cNvPr>
          <p:cNvSpPr>
            <a:spLocks noGrp="1"/>
          </p:cNvSpPr>
          <p:nvPr>
            <p:ph type="sldNum" sz="quarter" idx="12"/>
          </p:nvPr>
        </p:nvSpPr>
        <p:spPr/>
        <p:txBody>
          <a:bodyPr/>
          <a:lstStyle/>
          <a:p>
            <a:fld id="{FCB221D3-71BE-444A-A876-BB3F1A6317AC}" type="slidenum">
              <a:rPr lang="en-US" altLang="en-US" smtClean="0"/>
              <a:pPr/>
              <a:t>81</a:t>
            </a:fld>
            <a:endParaRPr lang="en-US" altLang="en-US"/>
          </a:p>
        </p:txBody>
      </p:sp>
      <p:sp>
        <p:nvSpPr>
          <p:cNvPr id="3" name="Rounded Rectangle 2">
            <a:extLst>
              <a:ext uri="{FF2B5EF4-FFF2-40B4-BE49-F238E27FC236}">
                <a16:creationId xmlns:a16="http://schemas.microsoft.com/office/drawing/2014/main" id="{0F96F8FE-1403-C089-8339-7B5F1A099851}"/>
              </a:ext>
            </a:extLst>
          </p:cNvPr>
          <p:cNvSpPr/>
          <p:nvPr/>
        </p:nvSpPr>
        <p:spPr>
          <a:xfrm>
            <a:off x="801625" y="1530096"/>
            <a:ext cx="2329543" cy="979714"/>
          </a:xfrm>
          <a:prstGeom prst="roundRect">
            <a:avLst/>
          </a:prstGeom>
          <a:solidFill>
            <a:srgbClr val="67C8C7"/>
          </a:solidFill>
          <a:ln>
            <a:solidFill>
              <a:srgbClr val="67C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Reputation</a:t>
            </a:r>
          </a:p>
        </p:txBody>
      </p:sp>
      <p:sp>
        <p:nvSpPr>
          <p:cNvPr id="4" name="Content Placeholder 2">
            <a:extLst>
              <a:ext uri="{FF2B5EF4-FFF2-40B4-BE49-F238E27FC236}">
                <a16:creationId xmlns:a16="http://schemas.microsoft.com/office/drawing/2014/main" id="{081768B2-77E7-5BD3-BED3-A318AE9F2F8E}"/>
              </a:ext>
            </a:extLst>
          </p:cNvPr>
          <p:cNvSpPr txBox="1">
            <a:spLocks/>
          </p:cNvSpPr>
          <p:nvPr/>
        </p:nvSpPr>
        <p:spPr bwMode="auto">
          <a:xfrm>
            <a:off x="3131168" y="3282697"/>
            <a:ext cx="7914784"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eaLnBrk="1" hangingPunct="1"/>
            <a:r>
              <a:rPr lang="en-US" altLang="en-US" sz="2400" dirty="0">
                <a:latin typeface="Source Sans Pro" panose="020B0503030403020204" pitchFamily="34" charset="0"/>
                <a:ea typeface="ＭＳ Ｐゴシック" pitchFamily="34" charset="-128"/>
              </a:rPr>
              <a:t>When will a signal be </a:t>
            </a:r>
            <a:r>
              <a:rPr lang="en-US" altLang="en-US" sz="2400" b="1" dirty="0">
                <a:latin typeface="Source Sans Pro" panose="020B0503030403020204" pitchFamily="34" charset="0"/>
                <a:ea typeface="ＭＳ Ｐゴシック" pitchFamily="34" charset="-128"/>
              </a:rPr>
              <a:t>credible</a:t>
            </a:r>
            <a:r>
              <a:rPr lang="en-US" altLang="en-US" sz="2400" dirty="0">
                <a:latin typeface="Source Sans Pro" panose="020B0503030403020204" pitchFamily="34" charset="0"/>
                <a:ea typeface="ＭＳ Ｐゴシック" pitchFamily="34" charset="-128"/>
              </a:rPr>
              <a:t>?</a:t>
            </a:r>
          </a:p>
          <a:p>
            <a:pPr marL="628650" lvl="1" indent="-228600" eaLnBrk="1" hangingPunct="1"/>
            <a:r>
              <a:rPr lang="en-US" altLang="en-US" sz="2400" dirty="0">
                <a:latin typeface="Source Sans Pro" panose="020B0503030403020204" pitchFamily="34" charset="0"/>
                <a:ea typeface="ＭＳ Ｐゴシック" pitchFamily="34" charset="-128"/>
              </a:rPr>
              <a:t>Why don’t </a:t>
            </a:r>
            <a:r>
              <a:rPr lang="en-US" altLang="en-US" sz="2400" b="1" dirty="0">
                <a:latin typeface="Source Sans Pro" panose="020B0503030403020204" pitchFamily="34" charset="0"/>
                <a:ea typeface="ＭＳ Ｐゴシック" pitchFamily="34" charset="-128"/>
              </a:rPr>
              <a:t>low-quality </a:t>
            </a:r>
            <a:r>
              <a:rPr lang="en-US" altLang="en-US" sz="2400" dirty="0">
                <a:latin typeface="Source Sans Pro" panose="020B0503030403020204" pitchFamily="34" charset="0"/>
                <a:ea typeface="ＭＳ Ｐゴシック" pitchFamily="34" charset="-128"/>
              </a:rPr>
              <a:t>sellers just lie?  </a:t>
            </a:r>
          </a:p>
          <a:p>
            <a:pPr marL="228600" indent="-228600" eaLnBrk="1" hangingPunct="1"/>
            <a:r>
              <a:rPr lang="en-US" altLang="en-US" sz="2400" dirty="0">
                <a:latin typeface="Source Sans Pro" panose="020B0503030403020204" pitchFamily="34" charset="0"/>
                <a:ea typeface="ＭＳ Ｐゴシック" pitchFamily="34" charset="-128"/>
              </a:rPr>
              <a:t>The </a:t>
            </a:r>
            <a:r>
              <a:rPr lang="en-US" altLang="en-US" sz="2400" b="1" dirty="0">
                <a:latin typeface="Source Sans Pro" panose="020B0503030403020204" pitchFamily="34" charset="0"/>
                <a:ea typeface="ＭＳ Ｐゴシック" pitchFamily="34" charset="-128"/>
              </a:rPr>
              <a:t>cost </a:t>
            </a:r>
            <a:r>
              <a:rPr lang="en-US" altLang="en-US" sz="2400" dirty="0">
                <a:latin typeface="Source Sans Pro" panose="020B0503030403020204" pitchFamily="34" charset="0"/>
                <a:ea typeface="ＭＳ Ｐゴシック" pitchFamily="34" charset="-128"/>
              </a:rPr>
              <a:t>of the signal must be </a:t>
            </a:r>
            <a:r>
              <a:rPr lang="en-US" altLang="en-US" sz="2400" b="1" dirty="0">
                <a:latin typeface="Source Sans Pro" panose="020B0503030403020204" pitchFamily="34" charset="0"/>
                <a:ea typeface="ＭＳ Ｐゴシック" pitchFamily="34" charset="-128"/>
              </a:rPr>
              <a:t>inversely related </a:t>
            </a:r>
            <a:r>
              <a:rPr lang="en-US" altLang="en-US" sz="2400" dirty="0">
                <a:latin typeface="Source Sans Pro" panose="020B0503030403020204" pitchFamily="34" charset="0"/>
                <a:ea typeface="ＭＳ Ｐゴシック" pitchFamily="34" charset="-128"/>
              </a:rPr>
              <a:t>to the </a:t>
            </a:r>
            <a:r>
              <a:rPr lang="en-US" altLang="en-US" sz="2400" b="1" dirty="0">
                <a:latin typeface="Source Sans Pro" panose="020B0503030403020204" pitchFamily="34" charset="0"/>
                <a:ea typeface="ＭＳ Ｐゴシック" pitchFamily="34" charset="-128"/>
              </a:rPr>
              <a:t>quality </a:t>
            </a:r>
            <a:r>
              <a:rPr lang="en-US" altLang="en-US" sz="2400" dirty="0">
                <a:latin typeface="Source Sans Pro" panose="020B0503030403020204" pitchFamily="34" charset="0"/>
                <a:ea typeface="ＭＳ Ｐゴシック" pitchFamily="34" charset="-128"/>
              </a:rPr>
              <a:t>of the product</a:t>
            </a:r>
          </a:p>
        </p:txBody>
      </p:sp>
      <p:sp>
        <p:nvSpPr>
          <p:cNvPr id="8" name="Rounded Rectangle 7">
            <a:extLst>
              <a:ext uri="{FF2B5EF4-FFF2-40B4-BE49-F238E27FC236}">
                <a16:creationId xmlns:a16="http://schemas.microsoft.com/office/drawing/2014/main" id="{9D6E4442-7A79-658B-3AE7-7EC89411CB5B}"/>
              </a:ext>
            </a:extLst>
          </p:cNvPr>
          <p:cNvSpPr/>
          <p:nvPr/>
        </p:nvSpPr>
        <p:spPr>
          <a:xfrm>
            <a:off x="801625" y="3282696"/>
            <a:ext cx="2329543" cy="979714"/>
          </a:xfrm>
          <a:prstGeom prst="roundRect">
            <a:avLst/>
          </a:prstGeom>
          <a:solidFill>
            <a:srgbClr val="67C8C7"/>
          </a:solidFill>
          <a:ln>
            <a:solidFill>
              <a:srgbClr val="67C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solidFill>
                  <a:schemeClr val="bg1"/>
                </a:solidFill>
                <a:latin typeface="Source Sans Pro" panose="020B0503030403020204" pitchFamily="34" charset="0"/>
              </a:rPr>
              <a:t>Guarantees and warranties</a:t>
            </a:r>
          </a:p>
        </p:txBody>
      </p:sp>
      <p:sp>
        <p:nvSpPr>
          <p:cNvPr id="9" name="Content Placeholder 2">
            <a:extLst>
              <a:ext uri="{FF2B5EF4-FFF2-40B4-BE49-F238E27FC236}">
                <a16:creationId xmlns:a16="http://schemas.microsoft.com/office/drawing/2014/main" id="{803F3DCE-8196-72B7-534D-7487C4BEB53F}"/>
              </a:ext>
            </a:extLst>
          </p:cNvPr>
          <p:cNvSpPr txBox="1">
            <a:spLocks/>
          </p:cNvSpPr>
          <p:nvPr/>
        </p:nvSpPr>
        <p:spPr>
          <a:xfrm>
            <a:off x="3131168" y="1530096"/>
            <a:ext cx="7914784" cy="1200329"/>
          </a:xfrm>
          <a:prstGeom prst="rect">
            <a:avLst/>
          </a:prstGeom>
        </p:spPr>
        <p:txBody>
          <a:bodyPr wrap="square">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228600" indent="-228600" eaLnBrk="1" hangingPunct="1"/>
            <a:r>
              <a:rPr lang="en-US" altLang="en-US" kern="0">
                <a:ea typeface="ＭＳ Ｐゴシック" pitchFamily="34" charset="-128"/>
              </a:rPr>
              <a:t>In the used car market, why is quality often signaled by the fact that the car is sold by a </a:t>
            </a:r>
            <a:r>
              <a:rPr lang="en-US" altLang="en-US" b="1" kern="0">
                <a:ea typeface="ＭＳ Ｐゴシック" pitchFamily="34" charset="-128"/>
              </a:rPr>
              <a:t>new car dealer</a:t>
            </a:r>
            <a:r>
              <a:rPr lang="en-US" altLang="en-US" kern="0">
                <a:ea typeface="ＭＳ Ｐゴシック" pitchFamily="34" charset="-128"/>
              </a:rPr>
              <a:t>, rather than a used car dealer or private individual?</a:t>
            </a:r>
            <a:endParaRPr lang="en-US" altLang="en-US" kern="0" dirty="0">
              <a:ea typeface="ＭＳ Ｐゴシック"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8" grpId="0" animBg="1"/>
      <p:bldP spid="9" grpId="0" build="p"/>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altLang="en-US" dirty="0"/>
              <a:t>Warranties in the lemons market</a:t>
            </a:r>
          </a:p>
        </p:txBody>
      </p:sp>
      <p:sp>
        <p:nvSpPr>
          <p:cNvPr id="2" name="Slide Number Placeholder 3">
            <a:extLst>
              <a:ext uri="{FF2B5EF4-FFF2-40B4-BE49-F238E27FC236}">
                <a16:creationId xmlns:a16="http://schemas.microsoft.com/office/drawing/2014/main" id="{90E57AE3-766B-6496-F4BC-732EACC8EBB1}"/>
              </a:ext>
            </a:extLst>
          </p:cNvPr>
          <p:cNvSpPr>
            <a:spLocks noGrp="1"/>
          </p:cNvSpPr>
          <p:nvPr>
            <p:ph type="sldNum" sz="quarter" idx="12"/>
          </p:nvPr>
        </p:nvSpPr>
        <p:spPr/>
        <p:txBody>
          <a:bodyPr/>
          <a:lstStyle/>
          <a:p>
            <a:fld id="{FCB221D3-71BE-444A-A876-BB3F1A6317AC}" type="slidenum">
              <a:rPr lang="en-US" altLang="en-US" smtClean="0"/>
              <a:pPr/>
              <a:t>82</a:t>
            </a:fld>
            <a:endParaRPr lang="en-US" altLang="en-US"/>
          </a:p>
        </p:txBody>
      </p:sp>
      <p:sp>
        <p:nvSpPr>
          <p:cNvPr id="3" name="Content Placeholder 2">
            <a:extLst>
              <a:ext uri="{FF2B5EF4-FFF2-40B4-BE49-F238E27FC236}">
                <a16:creationId xmlns:a16="http://schemas.microsoft.com/office/drawing/2014/main" id="{4904F2EA-5BA1-CA29-B93B-AD89F0447E34}"/>
              </a:ext>
            </a:extLst>
          </p:cNvPr>
          <p:cNvSpPr txBox="1">
            <a:spLocks/>
          </p:cNvSpPr>
          <p:nvPr/>
        </p:nvSpPr>
        <p:spPr>
          <a:xfrm>
            <a:off x="896112" y="1581912"/>
            <a:ext cx="10588752" cy="3354765"/>
          </a:xfrm>
          <a:prstGeom prst="rect">
            <a:avLst/>
          </a:prstGeom>
        </p:spPr>
        <p:txBody>
          <a:bodyPr wrap="square">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600" kern="0">
                <a:ea typeface="ＭＳ Ｐゴシック" pitchFamily="34" charset="-128"/>
              </a:rPr>
              <a:t>What kind of </a:t>
            </a:r>
            <a:r>
              <a:rPr lang="en-US" altLang="en-US" sz="2600" b="1" kern="0">
                <a:ea typeface="ＭＳ Ｐゴシック" pitchFamily="34" charset="-128"/>
              </a:rPr>
              <a:t>warranty </a:t>
            </a:r>
            <a:r>
              <a:rPr lang="en-US" altLang="en-US" sz="2600" kern="0">
                <a:ea typeface="ＭＳ Ｐゴシック" pitchFamily="34" charset="-128"/>
              </a:rPr>
              <a:t>would have to be offered in the </a:t>
            </a:r>
            <a:r>
              <a:rPr lang="en-US" altLang="en-US" sz="2600" b="1" kern="0">
                <a:ea typeface="ＭＳ Ｐゴシック" pitchFamily="34" charset="-128"/>
              </a:rPr>
              <a:t>car </a:t>
            </a:r>
            <a:r>
              <a:rPr lang="en-US" altLang="en-US" sz="2600" kern="0">
                <a:ea typeface="ＭＳ Ｐゴシック" pitchFamily="34" charset="-128"/>
              </a:rPr>
              <a:t>example?</a:t>
            </a:r>
          </a:p>
          <a:p>
            <a:pPr eaLnBrk="1" hangingPunct="1"/>
            <a:r>
              <a:rPr lang="en-US" altLang="en-US" sz="2600" kern="0">
                <a:ea typeface="ＭＳ Ｐゴシック" pitchFamily="34" charset="-128"/>
              </a:rPr>
              <a:t>Suppose </a:t>
            </a:r>
            <a:r>
              <a:rPr lang="en-US" altLang="en-US" sz="2600" b="1" kern="0">
                <a:ea typeface="ＭＳ Ｐゴシック" pitchFamily="34" charset="-128"/>
              </a:rPr>
              <a:t>high quality </a:t>
            </a:r>
            <a:r>
              <a:rPr lang="en-US" altLang="en-US" sz="2600" kern="0">
                <a:ea typeface="ＭＳ Ｐゴシック" pitchFamily="34" charset="-128"/>
              </a:rPr>
              <a:t>car sellers can offer a warranty on their cars in which they offer to </a:t>
            </a:r>
            <a:r>
              <a:rPr lang="en-US" altLang="en-US" sz="2600" b="1" kern="0">
                <a:ea typeface="ＭＳ Ｐゴシック" pitchFamily="34" charset="-128"/>
              </a:rPr>
              <a:t>fix </a:t>
            </a:r>
            <a:r>
              <a:rPr lang="en-US" altLang="en-US" sz="2600" kern="0">
                <a:ea typeface="ＭＳ Ｐゴシック" pitchFamily="34" charset="-128"/>
              </a:rPr>
              <a:t>the car if it breaks in a specified period of time (say 2 years)</a:t>
            </a:r>
          </a:p>
          <a:p>
            <a:pPr eaLnBrk="1" hangingPunct="1"/>
            <a:r>
              <a:rPr lang="en-US" altLang="en-US" sz="2600" kern="0">
                <a:ea typeface="ＭＳ Ｐゴシック" pitchFamily="34" charset="-128"/>
              </a:rPr>
              <a:t>The </a:t>
            </a:r>
            <a:r>
              <a:rPr lang="en-US" altLang="en-US" sz="2600" b="1" kern="0">
                <a:ea typeface="ＭＳ Ｐゴシック" pitchFamily="34" charset="-128"/>
              </a:rPr>
              <a:t>cost </a:t>
            </a:r>
            <a:r>
              <a:rPr lang="en-US" altLang="en-US" sz="2600" kern="0">
                <a:ea typeface="ＭＳ Ｐゴシック" pitchFamily="34" charset="-128"/>
              </a:rPr>
              <a:t>of offering the warranty to the high-quality sellers is $500</a:t>
            </a:r>
          </a:p>
          <a:p>
            <a:pPr eaLnBrk="1" hangingPunct="1"/>
            <a:r>
              <a:rPr lang="en-US" altLang="en-US" sz="2600" kern="0">
                <a:ea typeface="ＭＳ Ｐゴシック" pitchFamily="34" charset="-128"/>
              </a:rPr>
              <a:t>Will this warranty be a </a:t>
            </a:r>
            <a:r>
              <a:rPr lang="en-US" altLang="en-US" sz="2600" b="1" kern="0">
                <a:ea typeface="ＭＳ Ｐゴシック" pitchFamily="34" charset="-128"/>
              </a:rPr>
              <a:t>credible </a:t>
            </a:r>
            <a:r>
              <a:rPr lang="en-US" altLang="en-US" sz="2600" kern="0">
                <a:ea typeface="ＭＳ Ｐゴシック" pitchFamily="34" charset="-128"/>
              </a:rPr>
              <a:t>signal to consumers that the car is high quality?</a:t>
            </a:r>
            <a:endParaRPr lang="en-US" altLang="en-US" sz="2600" kern="0" dirty="0">
              <a:ea typeface="ＭＳ Ｐゴシック" pitchFamily="34" charset="-128"/>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r>
              <a:rPr lang="en-US" altLang="en-US" dirty="0"/>
              <a:t>Warranties in the lemons market</a:t>
            </a:r>
          </a:p>
        </p:txBody>
      </p:sp>
      <p:sp>
        <p:nvSpPr>
          <p:cNvPr id="2" name="Slide Number Placeholder 3">
            <a:extLst>
              <a:ext uri="{FF2B5EF4-FFF2-40B4-BE49-F238E27FC236}">
                <a16:creationId xmlns:a16="http://schemas.microsoft.com/office/drawing/2014/main" id="{E266E3E7-B4D6-748D-F43A-86B035F954DA}"/>
              </a:ext>
            </a:extLst>
          </p:cNvPr>
          <p:cNvSpPr>
            <a:spLocks noGrp="1"/>
          </p:cNvSpPr>
          <p:nvPr>
            <p:ph type="sldNum" sz="quarter" idx="12"/>
          </p:nvPr>
        </p:nvSpPr>
        <p:spPr/>
        <p:txBody>
          <a:bodyPr/>
          <a:lstStyle/>
          <a:p>
            <a:fld id="{FCB221D3-71BE-444A-A876-BB3F1A6317AC}" type="slidenum">
              <a:rPr lang="en-US" altLang="en-US" smtClean="0"/>
              <a:pPr/>
              <a:t>83</a:t>
            </a:fld>
            <a:endParaRPr lang="en-US" altLang="en-US"/>
          </a:p>
        </p:txBody>
      </p:sp>
      <p:sp>
        <p:nvSpPr>
          <p:cNvPr id="3" name="Content Placeholder 2">
            <a:extLst>
              <a:ext uri="{FF2B5EF4-FFF2-40B4-BE49-F238E27FC236}">
                <a16:creationId xmlns:a16="http://schemas.microsoft.com/office/drawing/2014/main" id="{1E0BA943-1629-6F61-B082-F7CB77684774}"/>
              </a:ext>
            </a:extLst>
          </p:cNvPr>
          <p:cNvSpPr txBox="1">
            <a:spLocks/>
          </p:cNvSpPr>
          <p:nvPr/>
        </p:nvSpPr>
        <p:spPr bwMode="auto">
          <a:xfrm>
            <a:off x="630936" y="1314189"/>
            <a:ext cx="10863072"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US" altLang="en-US" sz="2400" dirty="0">
                <a:latin typeface="Source Sans Pro" panose="020B0503030403020204" pitchFamily="34" charset="0"/>
                <a:ea typeface="ＭＳ Ｐゴシック" pitchFamily="34" charset="-128"/>
              </a:rPr>
              <a:t>Depends on how much it </a:t>
            </a:r>
            <a:r>
              <a:rPr lang="en-US" altLang="en-US" sz="2400" b="1" dirty="0">
                <a:latin typeface="Source Sans Pro" panose="020B0503030403020204" pitchFamily="34" charset="0"/>
                <a:ea typeface="ＭＳ Ｐゴシック" pitchFamily="34" charset="-128"/>
              </a:rPr>
              <a:t>costs low-quality sellers </a:t>
            </a:r>
            <a:r>
              <a:rPr lang="en-US" altLang="en-US" sz="2400" dirty="0">
                <a:latin typeface="Source Sans Pro" panose="020B0503030403020204" pitchFamily="34" charset="0"/>
                <a:ea typeface="ＭＳ Ｐゴシック" pitchFamily="34" charset="-128"/>
              </a:rPr>
              <a:t>to offer the same warranty</a:t>
            </a:r>
          </a:p>
          <a:p>
            <a:pPr lvl="1" eaLnBrk="1" hangingPunct="1"/>
            <a:r>
              <a:rPr lang="en-US" altLang="en-US" sz="2400" dirty="0">
                <a:latin typeface="Source Sans Pro" panose="020B0503030403020204" pitchFamily="34" charset="0"/>
                <a:ea typeface="ＭＳ Ｐゴシック" pitchFamily="34" charset="-128"/>
              </a:rPr>
              <a:t>Suppose warranty </a:t>
            </a:r>
            <a:r>
              <a:rPr lang="en-US" altLang="en-US" sz="2400" b="1" dirty="0">
                <a:latin typeface="Source Sans Pro" panose="020B0503030403020204" pitchFamily="34" charset="0"/>
                <a:ea typeface="ＭＳ Ｐゴシック" pitchFamily="34" charset="-128"/>
              </a:rPr>
              <a:t>also costs </a:t>
            </a:r>
            <a:r>
              <a:rPr lang="en-US" altLang="en-US" sz="2400" dirty="0">
                <a:latin typeface="Source Sans Pro" panose="020B0503030403020204" pitchFamily="34" charset="0"/>
                <a:ea typeface="ＭＳ Ｐゴシック" pitchFamily="34" charset="-128"/>
              </a:rPr>
              <a:t>low-quality sellers $500</a:t>
            </a:r>
          </a:p>
          <a:p>
            <a:pPr lvl="1" eaLnBrk="1" hangingPunct="1"/>
            <a:r>
              <a:rPr lang="en-US" altLang="en-US" sz="2400" dirty="0">
                <a:latin typeface="Source Sans Pro" panose="020B0503030403020204" pitchFamily="34" charset="0"/>
                <a:ea typeface="ＭＳ Ｐゴシック" pitchFamily="34" charset="-128"/>
              </a:rPr>
              <a:t>Sellers of </a:t>
            </a:r>
            <a:r>
              <a:rPr lang="en-US" altLang="en-US" sz="2400" b="1" dirty="0">
                <a:latin typeface="Source Sans Pro" panose="020B0503030403020204" pitchFamily="34" charset="0"/>
                <a:ea typeface="ＭＳ Ｐゴシック" pitchFamily="34" charset="-128"/>
              </a:rPr>
              <a:t>Lemons </a:t>
            </a:r>
            <a:r>
              <a:rPr lang="en-US" altLang="en-US" sz="2400" dirty="0">
                <a:latin typeface="Source Sans Pro" panose="020B0503030403020204" pitchFamily="34" charset="0"/>
                <a:ea typeface="ＭＳ Ｐゴシック" pitchFamily="34" charset="-128"/>
              </a:rPr>
              <a:t>will also offer the warranty</a:t>
            </a:r>
          </a:p>
        </p:txBody>
      </p:sp>
      <p:sp>
        <p:nvSpPr>
          <p:cNvPr id="4" name="Content Placeholder 2">
            <a:extLst>
              <a:ext uri="{FF2B5EF4-FFF2-40B4-BE49-F238E27FC236}">
                <a16:creationId xmlns:a16="http://schemas.microsoft.com/office/drawing/2014/main" id="{BDB07C63-3C03-E80C-89E1-E764C4C98A5C}"/>
              </a:ext>
            </a:extLst>
          </p:cNvPr>
          <p:cNvSpPr txBox="1">
            <a:spLocks/>
          </p:cNvSpPr>
          <p:nvPr/>
        </p:nvSpPr>
        <p:spPr bwMode="auto">
          <a:xfrm>
            <a:off x="630936" y="2822294"/>
            <a:ext cx="10863072"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US" altLang="en-US" sz="2400" dirty="0">
                <a:latin typeface="Source Sans Pro" panose="020B0503030403020204" pitchFamily="34" charset="0"/>
                <a:ea typeface="ＭＳ Ｐゴシック" pitchFamily="34" charset="-128"/>
              </a:rPr>
              <a:t>If both high- and low-quality sellers offer the </a:t>
            </a:r>
            <a:r>
              <a:rPr lang="en-US" altLang="en-US" sz="2400" b="1" dirty="0">
                <a:latin typeface="Source Sans Pro" panose="020B0503030403020204" pitchFamily="34" charset="0"/>
                <a:ea typeface="ＭＳ Ｐゴシック" pitchFamily="34" charset="-128"/>
              </a:rPr>
              <a:t>same warranty</a:t>
            </a:r>
            <a:r>
              <a:rPr lang="en-US" altLang="en-US" sz="2400" dirty="0">
                <a:latin typeface="Source Sans Pro" panose="020B0503030403020204" pitchFamily="34" charset="0"/>
                <a:ea typeface="ＭＳ Ｐゴシック" pitchFamily="34" charset="-128"/>
              </a:rPr>
              <a:t>, buyers can’t use the warranty to distinguish Peaches from Lemons</a:t>
            </a:r>
          </a:p>
          <a:p>
            <a:pPr eaLnBrk="1" hangingPunct="1"/>
            <a:r>
              <a:rPr lang="en-US" altLang="en-US" sz="2400" dirty="0">
                <a:latin typeface="Source Sans Pro" panose="020B0503030403020204" pitchFamily="34" charset="0"/>
                <a:ea typeface="ＭＳ Ｐゴシック" pitchFamily="34" charset="-128"/>
              </a:rPr>
              <a:t>Lemon seller did not offer warranty, would only get $5,000</a:t>
            </a:r>
          </a:p>
          <a:p>
            <a:pPr lvl="1" eaLnBrk="1" hangingPunct="1"/>
            <a:r>
              <a:rPr lang="en-US" altLang="en-US" sz="2400" dirty="0">
                <a:latin typeface="Source Sans Pro" panose="020B0503030403020204" pitchFamily="34" charset="0"/>
                <a:ea typeface="ＭＳ Ｐゴシック" pitchFamily="34" charset="-128"/>
              </a:rPr>
              <a:t>If </a:t>
            </a:r>
            <a:r>
              <a:rPr lang="en-US" altLang="en-US" sz="2400" b="1" dirty="0">
                <a:latin typeface="Source Sans Pro" panose="020B0503030403020204" pitchFamily="34" charset="0"/>
                <a:ea typeface="ＭＳ Ｐゴシック" pitchFamily="34" charset="-128"/>
              </a:rPr>
              <a:t>does offer </a:t>
            </a:r>
            <a:r>
              <a:rPr lang="en-US" altLang="en-US" sz="2400" dirty="0">
                <a:latin typeface="Source Sans Pro" panose="020B0503030403020204" pitchFamily="34" charset="0"/>
                <a:ea typeface="ＭＳ Ｐゴシック" pitchFamily="34" charset="-128"/>
              </a:rPr>
              <a:t>the warranty, might convince buyer to pay expected value of car ($7,500), so Lemon owner’s profit is $7,000</a:t>
            </a:r>
          </a:p>
          <a:p>
            <a:pPr eaLnBrk="1" hangingPunct="1"/>
            <a:r>
              <a:rPr lang="en-US" altLang="en-US" sz="2400" dirty="0">
                <a:latin typeface="Source Sans Pro" panose="020B0503030403020204" pitchFamily="34" charset="0"/>
                <a:ea typeface="ＭＳ Ｐゴシック" pitchFamily="34" charset="-128"/>
              </a:rPr>
              <a:t>Warranty is </a:t>
            </a:r>
            <a:r>
              <a:rPr lang="en-US" altLang="en-US" sz="2400" b="1" dirty="0">
                <a:latin typeface="Source Sans Pro" panose="020B0503030403020204" pitchFamily="34" charset="0"/>
                <a:ea typeface="ＭＳ Ｐゴシック" pitchFamily="34" charset="-128"/>
              </a:rPr>
              <a:t>not a credible </a:t>
            </a:r>
            <a:r>
              <a:rPr lang="en-US" altLang="en-US" sz="2400" dirty="0">
                <a:latin typeface="Source Sans Pro" panose="020B0503030403020204" pitchFamily="34" charset="0"/>
                <a:ea typeface="ＭＳ Ｐゴシック" pitchFamily="34" charset="-128"/>
              </a:rPr>
              <a:t>quality signal because all sellers will offer 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altLang="en-US" dirty="0"/>
              <a:t>Warranties in the lemons market</a:t>
            </a:r>
          </a:p>
        </p:txBody>
      </p:sp>
      <p:sp>
        <p:nvSpPr>
          <p:cNvPr id="2" name="Slide Number Placeholder 3">
            <a:extLst>
              <a:ext uri="{FF2B5EF4-FFF2-40B4-BE49-F238E27FC236}">
                <a16:creationId xmlns:a16="http://schemas.microsoft.com/office/drawing/2014/main" id="{374637B6-236B-2A44-80BA-C87A3CF907EB}"/>
              </a:ext>
            </a:extLst>
          </p:cNvPr>
          <p:cNvSpPr>
            <a:spLocks noGrp="1"/>
          </p:cNvSpPr>
          <p:nvPr>
            <p:ph type="sldNum" sz="quarter" idx="12"/>
          </p:nvPr>
        </p:nvSpPr>
        <p:spPr/>
        <p:txBody>
          <a:bodyPr/>
          <a:lstStyle/>
          <a:p>
            <a:fld id="{FCB221D3-71BE-444A-A876-BB3F1A6317AC}" type="slidenum">
              <a:rPr lang="en-US" altLang="en-US" smtClean="0"/>
              <a:pPr/>
              <a:t>84</a:t>
            </a:fld>
            <a:endParaRPr lang="en-US" altLang="en-US"/>
          </a:p>
        </p:txBody>
      </p:sp>
      <p:sp>
        <p:nvSpPr>
          <p:cNvPr id="3" name="Content Placeholder 2">
            <a:extLst>
              <a:ext uri="{FF2B5EF4-FFF2-40B4-BE49-F238E27FC236}">
                <a16:creationId xmlns:a16="http://schemas.microsoft.com/office/drawing/2014/main" id="{23A2B988-0B86-4932-0BE2-D13EEDBA4E7C}"/>
              </a:ext>
            </a:extLst>
          </p:cNvPr>
          <p:cNvSpPr txBox="1">
            <a:spLocks/>
          </p:cNvSpPr>
          <p:nvPr/>
        </p:nvSpPr>
        <p:spPr bwMode="auto">
          <a:xfrm>
            <a:off x="868680" y="1423986"/>
            <a:ext cx="10579608"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31775" indent="-231775" eaLnBrk="1" hangingPunct="1"/>
            <a:r>
              <a:rPr lang="en-US" altLang="en-US" sz="2400" dirty="0">
                <a:latin typeface="Source Sans Pro" panose="020B0503030403020204" pitchFamily="34" charset="0"/>
                <a:ea typeface="ＭＳ Ｐゴシック" pitchFamily="34" charset="-128"/>
              </a:rPr>
              <a:t>Warranty cost to Lemon seller is probably </a:t>
            </a:r>
            <a:r>
              <a:rPr lang="en-US" altLang="en-US" sz="2400" b="1" dirty="0">
                <a:latin typeface="Source Sans Pro" panose="020B0503030403020204" pitchFamily="34" charset="0"/>
                <a:ea typeface="ＭＳ Ｐゴシック" pitchFamily="34" charset="-128"/>
              </a:rPr>
              <a:t>higher </a:t>
            </a:r>
            <a:r>
              <a:rPr lang="en-US" altLang="en-US" sz="2400" dirty="0">
                <a:latin typeface="Source Sans Pro" panose="020B0503030403020204" pitchFamily="34" charset="0"/>
                <a:ea typeface="ＭＳ Ｐゴシック" pitchFamily="34" charset="-128"/>
              </a:rPr>
              <a:t>than cost for Peach seller</a:t>
            </a:r>
          </a:p>
          <a:p>
            <a:pPr marL="461963" lvl="1" indent="-225425" eaLnBrk="1" hangingPunct="1"/>
            <a:r>
              <a:rPr lang="en-US" altLang="en-US" sz="2400" dirty="0">
                <a:latin typeface="Source Sans Pro" panose="020B0503030403020204" pitchFamily="34" charset="0"/>
                <a:ea typeface="ＭＳ Ｐゴシック" pitchFamily="34" charset="-128"/>
              </a:rPr>
              <a:t>Low quality cars </a:t>
            </a:r>
            <a:r>
              <a:rPr lang="en-US" altLang="en-US" sz="2400" b="1" dirty="0">
                <a:latin typeface="Source Sans Pro" panose="020B0503030403020204" pitchFamily="34" charset="0"/>
                <a:ea typeface="ＭＳ Ｐゴシック" pitchFamily="34" charset="-128"/>
              </a:rPr>
              <a:t>more likely </a:t>
            </a:r>
            <a:r>
              <a:rPr lang="en-US" altLang="en-US" sz="2400" dirty="0">
                <a:latin typeface="Source Sans Pro" panose="020B0503030403020204" pitchFamily="34" charset="0"/>
                <a:ea typeface="ＭＳ Ｐゴシック" pitchFamily="34" charset="-128"/>
              </a:rPr>
              <a:t>to break down, will </a:t>
            </a:r>
            <a:r>
              <a:rPr lang="en-US" altLang="en-US" sz="2400" b="1" dirty="0">
                <a:latin typeface="Source Sans Pro" panose="020B0503030403020204" pitchFamily="34" charset="0"/>
                <a:ea typeface="ＭＳ Ｐゴシック" pitchFamily="34" charset="-128"/>
              </a:rPr>
              <a:t>cost more </a:t>
            </a:r>
            <a:r>
              <a:rPr lang="en-US" altLang="en-US" sz="2400" dirty="0">
                <a:latin typeface="Source Sans Pro" panose="020B0503030403020204" pitchFamily="34" charset="0"/>
                <a:ea typeface="ＭＳ Ｐゴシック" pitchFamily="34" charset="-128"/>
              </a:rPr>
              <a:t>to fix</a:t>
            </a:r>
          </a:p>
        </p:txBody>
      </p:sp>
      <p:sp>
        <p:nvSpPr>
          <p:cNvPr id="4" name="Content Placeholder 2">
            <a:extLst>
              <a:ext uri="{FF2B5EF4-FFF2-40B4-BE49-F238E27FC236}">
                <a16:creationId xmlns:a16="http://schemas.microsoft.com/office/drawing/2014/main" id="{B398ACE6-0314-0FB2-E279-D42355B68966}"/>
              </a:ext>
            </a:extLst>
          </p:cNvPr>
          <p:cNvSpPr txBox="1">
            <a:spLocks/>
          </p:cNvSpPr>
          <p:nvPr/>
        </p:nvSpPr>
        <p:spPr bwMode="auto">
          <a:xfrm>
            <a:off x="868679" y="2462732"/>
            <a:ext cx="10992883"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31775" indent="-231775" eaLnBrk="1" hangingPunct="1"/>
            <a:r>
              <a:rPr lang="en-US" altLang="en-US" sz="2400" dirty="0">
                <a:latin typeface="Source Sans Pro" panose="020B0503030403020204" pitchFamily="34" charset="0"/>
                <a:ea typeface="ＭＳ Ｐゴシック" pitchFamily="34" charset="-128"/>
              </a:rPr>
              <a:t>Suppose warranty costs $500 for Peach seller, and $3,000 for Lemon seller</a:t>
            </a:r>
          </a:p>
          <a:p>
            <a:pPr marL="231775" indent="-231775" eaLnBrk="1" hangingPunct="1"/>
            <a:r>
              <a:rPr lang="en-US" altLang="en-US" sz="2400" dirty="0">
                <a:latin typeface="Source Sans Pro" panose="020B0503030403020204" pitchFamily="34" charset="0"/>
                <a:ea typeface="ＭＳ Ｐゴシック" pitchFamily="34" charset="-128"/>
              </a:rPr>
              <a:t>Is the warranty a </a:t>
            </a:r>
            <a:r>
              <a:rPr lang="en-US" altLang="en-US" sz="2400" b="1" dirty="0">
                <a:latin typeface="Source Sans Pro" panose="020B0503030403020204" pitchFamily="34" charset="0"/>
                <a:ea typeface="ＭＳ Ｐゴシック" pitchFamily="34" charset="-128"/>
              </a:rPr>
              <a:t>credible </a:t>
            </a:r>
            <a:r>
              <a:rPr lang="en-US" altLang="en-US" sz="2400" dirty="0">
                <a:latin typeface="Source Sans Pro" panose="020B0503030403020204" pitchFamily="34" charset="0"/>
                <a:ea typeface="ＭＳ Ｐゴシック" pitchFamily="34" charset="-128"/>
              </a:rPr>
              <a:t>quality signal?</a:t>
            </a:r>
          </a:p>
          <a:p>
            <a:pPr marL="631825" lvl="1" indent="-231775" eaLnBrk="1" hangingPunct="1"/>
            <a:r>
              <a:rPr lang="en-US" altLang="en-US" sz="2400" dirty="0">
                <a:latin typeface="Source Sans Pro" panose="020B0503030403020204" pitchFamily="34" charset="0"/>
                <a:ea typeface="ＭＳ Ｐゴシック" pitchFamily="34" charset="-128"/>
              </a:rPr>
              <a:t>Offer warranty: $4,500; don’t offer: $5,000</a:t>
            </a:r>
          </a:p>
        </p:txBody>
      </p:sp>
      <p:sp>
        <p:nvSpPr>
          <p:cNvPr id="5" name="Content Placeholder 2">
            <a:extLst>
              <a:ext uri="{FF2B5EF4-FFF2-40B4-BE49-F238E27FC236}">
                <a16:creationId xmlns:a16="http://schemas.microsoft.com/office/drawing/2014/main" id="{4F5AA9BA-ADD5-7228-B53E-BB1813E9111F}"/>
              </a:ext>
            </a:extLst>
          </p:cNvPr>
          <p:cNvSpPr txBox="1">
            <a:spLocks/>
          </p:cNvSpPr>
          <p:nvPr/>
        </p:nvSpPr>
        <p:spPr bwMode="auto">
          <a:xfrm>
            <a:off x="868680" y="4024698"/>
            <a:ext cx="10579608"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5425" indent="-225425" eaLnBrk="1" hangingPunct="1"/>
            <a:r>
              <a:rPr lang="en-US" altLang="en-US" sz="2400" dirty="0">
                <a:latin typeface="Source Sans Pro" panose="020B0503030403020204" pitchFamily="34" charset="0"/>
                <a:ea typeface="ＭＳ Ｐゴシック" pitchFamily="34" charset="-128"/>
              </a:rPr>
              <a:t>In adverse selection markets, individuals will truthfully reveal their information if it is in their </a:t>
            </a:r>
            <a:r>
              <a:rPr lang="en-US" altLang="en-US" sz="2400" b="1" dirty="0">
                <a:latin typeface="Source Sans Pro" panose="020B0503030403020204" pitchFamily="34" charset="0"/>
                <a:ea typeface="ＭＳ Ｐゴシック" pitchFamily="34" charset="-128"/>
              </a:rPr>
              <a:t>economic self-interest </a:t>
            </a:r>
            <a:r>
              <a:rPr lang="en-US" altLang="en-US" sz="2400" dirty="0">
                <a:latin typeface="Source Sans Pro" panose="020B0503030403020204" pitchFamily="34" charset="0"/>
                <a:ea typeface="ＭＳ Ｐゴシック" pitchFamily="34" charset="-128"/>
              </a:rPr>
              <a:t>to do so</a:t>
            </a:r>
          </a:p>
          <a:p>
            <a:pPr marL="461963" lvl="1" indent="-225425" eaLnBrk="1" hangingPunct="1"/>
            <a:r>
              <a:rPr lang="en-US" altLang="en-US" sz="2400" dirty="0">
                <a:latin typeface="Source Sans Pro" panose="020B0503030403020204" pitchFamily="34" charset="0"/>
                <a:ea typeface="ＭＳ Ｐゴシック" pitchFamily="34" charset="-128"/>
              </a:rPr>
              <a:t>When the </a:t>
            </a:r>
            <a:r>
              <a:rPr lang="en-US" altLang="en-US" sz="2400" b="1" dirty="0">
                <a:latin typeface="Source Sans Pro" panose="020B0503030403020204" pitchFamily="34" charset="0"/>
                <a:ea typeface="ＭＳ Ｐゴシック" pitchFamily="34" charset="-128"/>
              </a:rPr>
              <a:t>cost </a:t>
            </a:r>
            <a:r>
              <a:rPr lang="en-US" altLang="en-US" sz="2400" dirty="0">
                <a:latin typeface="Source Sans Pro" panose="020B0503030403020204" pitchFamily="34" charset="0"/>
                <a:ea typeface="ＭＳ Ｐゴシック" pitchFamily="34" charset="-128"/>
              </a:rPr>
              <a:t>of the signal is </a:t>
            </a:r>
            <a:r>
              <a:rPr lang="en-US" altLang="en-US" sz="2400" b="1" dirty="0">
                <a:latin typeface="Source Sans Pro" panose="020B0503030403020204" pitchFamily="34" charset="0"/>
                <a:ea typeface="ＭＳ Ｐゴシック" pitchFamily="34" charset="-128"/>
              </a:rPr>
              <a:t>negatively related </a:t>
            </a:r>
            <a:r>
              <a:rPr lang="en-US" altLang="en-US" sz="2400" dirty="0">
                <a:latin typeface="Source Sans Pro" panose="020B0503030403020204" pitchFamily="34" charset="0"/>
                <a:ea typeface="ＭＳ Ｐゴシック" pitchFamily="34" charset="-128"/>
              </a:rPr>
              <a:t>to </a:t>
            </a:r>
            <a:r>
              <a:rPr lang="en-US" altLang="en-US" sz="2400" b="1" dirty="0">
                <a:latin typeface="Source Sans Pro" panose="020B0503030403020204" pitchFamily="34" charset="0"/>
                <a:ea typeface="ＭＳ Ｐゴシック" pitchFamily="34" charset="-128"/>
              </a:rPr>
              <a:t>quality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r>
              <a:rPr lang="en-US" altLang="en-US" dirty="0"/>
              <a:t>A worker signaling model</a:t>
            </a:r>
          </a:p>
        </p:txBody>
      </p:sp>
      <p:sp>
        <p:nvSpPr>
          <p:cNvPr id="2" name="Slide Number Placeholder 3">
            <a:extLst>
              <a:ext uri="{FF2B5EF4-FFF2-40B4-BE49-F238E27FC236}">
                <a16:creationId xmlns:a16="http://schemas.microsoft.com/office/drawing/2014/main" id="{117FB1EA-356F-B407-C81F-CAAAC0653243}"/>
              </a:ext>
            </a:extLst>
          </p:cNvPr>
          <p:cNvSpPr>
            <a:spLocks noGrp="1"/>
          </p:cNvSpPr>
          <p:nvPr>
            <p:ph type="sldNum" sz="quarter" idx="12"/>
          </p:nvPr>
        </p:nvSpPr>
        <p:spPr/>
        <p:txBody>
          <a:bodyPr/>
          <a:lstStyle/>
          <a:p>
            <a:fld id="{FCB221D3-71BE-444A-A876-BB3F1A6317AC}" type="slidenum">
              <a:rPr lang="en-US" altLang="en-US" smtClean="0"/>
              <a:pPr/>
              <a:t>85</a:t>
            </a:fld>
            <a:endParaRPr lang="en-US" altLang="en-US"/>
          </a:p>
        </p:txBody>
      </p:sp>
      <p:sp>
        <p:nvSpPr>
          <p:cNvPr id="3" name="Content Placeholder 2">
            <a:extLst>
              <a:ext uri="{FF2B5EF4-FFF2-40B4-BE49-F238E27FC236}">
                <a16:creationId xmlns:a16="http://schemas.microsoft.com/office/drawing/2014/main" id="{A6CECEF4-1E29-3DC0-3ED0-99630A0A3AB4}"/>
              </a:ext>
            </a:extLst>
          </p:cNvPr>
          <p:cNvSpPr txBox="1">
            <a:spLocks/>
          </p:cNvSpPr>
          <p:nvPr/>
        </p:nvSpPr>
        <p:spPr bwMode="auto">
          <a:xfrm>
            <a:off x="1399032" y="1325881"/>
            <a:ext cx="8695944" cy="443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defTabSz="457200" rtl="0" eaLnBrk="0" fontAlgn="base" hangingPunct="0">
              <a:spcBef>
                <a:spcPts val="0"/>
              </a:spcBef>
              <a:spcAft>
                <a:spcPts val="1200"/>
              </a:spcAft>
              <a:buFont typeface="Arial" pitchFamily="34" charset="0"/>
              <a:buChar char="•"/>
              <a:defRPr sz="3200" kern="1200">
                <a:solidFill>
                  <a:schemeClr val="tx1"/>
                </a:solidFill>
                <a:latin typeface="Calibri" panose="020F0502020204030204" pitchFamily="34" charset="0"/>
                <a:ea typeface="ＭＳ Ｐゴシック" charset="0"/>
                <a:cs typeface="Calibri" panose="020F0502020204030204" pitchFamily="34" charset="0"/>
              </a:defRPr>
            </a:lvl1pPr>
            <a:lvl2pPr marL="742950" indent="-285750" algn="l" defTabSz="457200" rtl="0" eaLnBrk="0" fontAlgn="base" hangingPunct="0">
              <a:spcBef>
                <a:spcPts val="0"/>
              </a:spcBef>
              <a:spcAft>
                <a:spcPts val="1200"/>
              </a:spcAft>
              <a:buFont typeface="Arial" pitchFamily="34" charset="0"/>
              <a:buChar char="–"/>
              <a:defRPr sz="2800" kern="1200">
                <a:solidFill>
                  <a:schemeClr val="tx1"/>
                </a:solidFill>
                <a:latin typeface="Calibri" panose="020F0502020204030204" pitchFamily="34" charset="0"/>
                <a:ea typeface="ＭＳ Ｐゴシック" charset="0"/>
                <a:cs typeface="+mn-cs"/>
              </a:defRPr>
            </a:lvl2pPr>
            <a:lvl3pPr marL="1143000" indent="-228600" algn="l" defTabSz="457200" rtl="0" eaLnBrk="0" fontAlgn="base" hangingPunct="0">
              <a:spcBef>
                <a:spcPts val="0"/>
              </a:spcBef>
              <a:spcAft>
                <a:spcPts val="1200"/>
              </a:spcAft>
              <a:buFont typeface="Arial" pitchFamily="34" charset="0"/>
              <a:buChar char="•"/>
              <a:defRPr sz="2400" kern="1200">
                <a:solidFill>
                  <a:schemeClr val="tx1"/>
                </a:solidFill>
                <a:latin typeface="Calibri" panose="020F0502020204030204" pitchFamily="34" charset="0"/>
                <a:ea typeface="ＭＳ Ｐゴシック" charset="0"/>
                <a:cs typeface="+mn-cs"/>
              </a:defRPr>
            </a:lvl3pPr>
            <a:lvl4pPr marL="16002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4pPr>
            <a:lvl5pPr marL="2057400" indent="-228600" algn="l" defTabSz="457200" rtl="0" eaLnBrk="0" fontAlgn="base" hangingPunct="0">
              <a:spcBef>
                <a:spcPts val="0"/>
              </a:spcBef>
              <a:spcAft>
                <a:spcPts val="1200"/>
              </a:spcAft>
              <a:buFont typeface="Arial" pitchFamily="34" charset="0"/>
              <a:buChar char="»"/>
              <a:defRPr sz="2000" kern="1200">
                <a:solidFill>
                  <a:schemeClr val="tx1"/>
                </a:solidFill>
                <a:latin typeface="Calibri" panose="020F0502020204030204" pitchFamily="34" charset="0"/>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lnSpc>
                <a:spcPct val="80000"/>
              </a:lnSpc>
            </a:pPr>
            <a:r>
              <a:rPr lang="en-US" altLang="en-US" sz="2400" dirty="0">
                <a:latin typeface="Source Sans Pro" panose="020B0503030403020204" pitchFamily="34" charset="0"/>
                <a:ea typeface="ＭＳ Ｐゴシック" pitchFamily="34" charset="-128"/>
              </a:rPr>
              <a:t>Why do MBAs get </a:t>
            </a:r>
            <a:r>
              <a:rPr lang="en-US" altLang="en-US" sz="2400" b="1" dirty="0">
                <a:latin typeface="Source Sans Pro" panose="020B0503030403020204" pitchFamily="34" charset="0"/>
                <a:ea typeface="ＭＳ Ｐゴシック" pitchFamily="34" charset="-128"/>
              </a:rPr>
              <a:t>paid more </a:t>
            </a:r>
            <a:r>
              <a:rPr lang="en-US" altLang="en-US" sz="2400" dirty="0">
                <a:latin typeface="Source Sans Pro" panose="020B0503030403020204" pitchFamily="34" charset="0"/>
                <a:ea typeface="ＭＳ Ｐゴシック" pitchFamily="34" charset="-128"/>
              </a:rPr>
              <a:t>than non-MBAs?</a:t>
            </a:r>
          </a:p>
          <a:p>
            <a:pPr eaLnBrk="1" hangingPunct="1">
              <a:lnSpc>
                <a:spcPct val="80000"/>
              </a:lnSpc>
            </a:pPr>
            <a:r>
              <a:rPr lang="en-US" altLang="en-US" sz="2400" dirty="0">
                <a:latin typeface="Source Sans Pro" panose="020B0503030403020204" pitchFamily="34" charset="0"/>
                <a:ea typeface="ＭＳ Ｐゴシック" pitchFamily="34" charset="-128"/>
              </a:rPr>
              <a:t>Consider the following model</a:t>
            </a:r>
          </a:p>
          <a:p>
            <a:pPr lvl="1" eaLnBrk="1" hangingPunct="1">
              <a:lnSpc>
                <a:spcPct val="80000"/>
              </a:lnSpc>
            </a:pPr>
            <a:r>
              <a:rPr lang="en-US" altLang="en-US" sz="2400" b="1" dirty="0">
                <a:latin typeface="Source Sans Pro" panose="020B0503030403020204" pitchFamily="34" charset="0"/>
                <a:ea typeface="ＭＳ Ｐゴシック" pitchFamily="34" charset="-128"/>
              </a:rPr>
              <a:t>Two </a:t>
            </a:r>
            <a:r>
              <a:rPr lang="en-US" altLang="en-US" sz="2400" dirty="0">
                <a:latin typeface="Source Sans Pro" panose="020B0503030403020204" pitchFamily="34" charset="0"/>
                <a:ea typeface="ＭＳ Ｐゴシック" pitchFamily="34" charset="-128"/>
              </a:rPr>
              <a:t>types of workers</a:t>
            </a:r>
          </a:p>
          <a:p>
            <a:pPr lvl="1" eaLnBrk="1" hangingPunct="1">
              <a:lnSpc>
                <a:spcPct val="80000"/>
              </a:lnSpc>
            </a:pPr>
            <a:r>
              <a:rPr lang="en-US" altLang="en-US" sz="2400" dirty="0">
                <a:latin typeface="Source Sans Pro" panose="020B0503030403020204" pitchFamily="34" charset="0"/>
                <a:ea typeface="ＭＳ Ｐゴシック" pitchFamily="34" charset="-128"/>
              </a:rPr>
              <a:t>50% are </a:t>
            </a:r>
            <a:r>
              <a:rPr lang="en-US" altLang="en-US" sz="2400" b="1" dirty="0">
                <a:latin typeface="Source Sans Pro" panose="020B0503030403020204" pitchFamily="34" charset="0"/>
                <a:ea typeface="ＭＳ Ｐゴシック" pitchFamily="34" charset="-128"/>
              </a:rPr>
              <a:t>low productivity </a:t>
            </a:r>
            <a:r>
              <a:rPr lang="en-US" altLang="en-US" sz="2400" dirty="0">
                <a:latin typeface="Source Sans Pro" panose="020B0503030403020204" pitchFamily="34" charset="0"/>
                <a:ea typeface="ＭＳ Ｐゴシック" pitchFamily="34" charset="-128"/>
              </a:rPr>
              <a:t>and produce 1 unit of output</a:t>
            </a:r>
          </a:p>
          <a:p>
            <a:pPr lvl="1" eaLnBrk="1" hangingPunct="1">
              <a:lnSpc>
                <a:spcPct val="80000"/>
              </a:lnSpc>
            </a:pPr>
            <a:r>
              <a:rPr lang="en-US" altLang="en-US" sz="2400" dirty="0">
                <a:latin typeface="Source Sans Pro" panose="020B0503030403020204" pitchFamily="34" charset="0"/>
                <a:ea typeface="ＭＳ Ｐゴシック" pitchFamily="34" charset="-128"/>
              </a:rPr>
              <a:t>50% are </a:t>
            </a:r>
            <a:r>
              <a:rPr lang="en-US" altLang="en-US" sz="2400" b="1" dirty="0">
                <a:latin typeface="Source Sans Pro" panose="020B0503030403020204" pitchFamily="34" charset="0"/>
                <a:ea typeface="ＭＳ Ｐゴシック" pitchFamily="34" charset="-128"/>
              </a:rPr>
              <a:t>high productivity </a:t>
            </a:r>
            <a:r>
              <a:rPr lang="en-US" altLang="en-US" sz="2400" dirty="0">
                <a:latin typeface="Source Sans Pro" panose="020B0503030403020204" pitchFamily="34" charset="0"/>
                <a:ea typeface="ＭＳ Ｐゴシック" pitchFamily="34" charset="-128"/>
              </a:rPr>
              <a:t>and produce 2 units of output</a:t>
            </a:r>
          </a:p>
          <a:p>
            <a:pPr lvl="1" eaLnBrk="1" hangingPunct="1">
              <a:lnSpc>
                <a:spcPct val="80000"/>
              </a:lnSpc>
            </a:pPr>
            <a:r>
              <a:rPr lang="en-US" altLang="en-US" sz="2400" dirty="0">
                <a:latin typeface="Source Sans Pro" panose="020B0503030403020204" pitchFamily="34" charset="0"/>
                <a:ea typeface="ＭＳ Ｐゴシック" pitchFamily="34" charset="-128"/>
              </a:rPr>
              <a:t>Each worker lasts </a:t>
            </a:r>
            <a:r>
              <a:rPr lang="en-US" altLang="en-US" sz="2400" b="1" dirty="0">
                <a:latin typeface="Source Sans Pro" panose="020B0503030403020204" pitchFamily="34" charset="0"/>
                <a:ea typeface="ＭＳ Ｐゴシック" pitchFamily="34" charset="-128"/>
              </a:rPr>
              <a:t>10 years </a:t>
            </a:r>
            <a:r>
              <a:rPr lang="en-US" altLang="en-US" sz="2400" dirty="0">
                <a:latin typeface="Source Sans Pro" panose="020B0503030403020204" pitchFamily="34" charset="0"/>
                <a:ea typeface="ＭＳ Ｐゴシック" pitchFamily="34" charset="-128"/>
              </a:rPr>
              <a:t>with a firm</a:t>
            </a:r>
          </a:p>
          <a:p>
            <a:pPr lvl="1" eaLnBrk="1" hangingPunct="1">
              <a:lnSpc>
                <a:spcPct val="80000"/>
              </a:lnSpc>
            </a:pPr>
            <a:r>
              <a:rPr lang="en-US" altLang="en-US" sz="2400" dirty="0">
                <a:latin typeface="Source Sans Pro" panose="020B0503030403020204" pitchFamily="34" charset="0"/>
                <a:ea typeface="ＭＳ Ｐゴシック" pitchFamily="34" charset="-128"/>
              </a:rPr>
              <a:t>Output sells for $10,000</a:t>
            </a:r>
          </a:p>
          <a:p>
            <a:pPr lvl="2" eaLnBrk="1" hangingPunct="1">
              <a:lnSpc>
                <a:spcPct val="80000"/>
              </a:lnSpc>
            </a:pPr>
            <a:r>
              <a:rPr lang="en-US" altLang="en-US" dirty="0">
                <a:latin typeface="Source Sans Pro" panose="020B0503030403020204" pitchFamily="34" charset="0"/>
                <a:ea typeface="ＭＳ Ｐゴシック" pitchFamily="34" charset="-128"/>
              </a:rPr>
              <a:t>Each </a:t>
            </a:r>
            <a:r>
              <a:rPr lang="en-US" altLang="en-US" b="1" dirty="0">
                <a:latin typeface="Source Sans Pro" panose="020B0503030403020204" pitchFamily="34" charset="0"/>
                <a:ea typeface="ＭＳ Ｐゴシック" pitchFamily="34" charset="-128"/>
              </a:rPr>
              <a:t>low type </a:t>
            </a:r>
            <a:r>
              <a:rPr lang="en-US" altLang="en-US" dirty="0">
                <a:latin typeface="Source Sans Pro" panose="020B0503030403020204" pitchFamily="34" charset="0"/>
                <a:ea typeface="ＭＳ Ｐゴシック" pitchFamily="34" charset="-128"/>
              </a:rPr>
              <a:t>is worth $10,000/year</a:t>
            </a:r>
          </a:p>
          <a:p>
            <a:pPr lvl="2" eaLnBrk="1" hangingPunct="1">
              <a:lnSpc>
                <a:spcPct val="80000"/>
              </a:lnSpc>
            </a:pPr>
            <a:r>
              <a:rPr lang="en-US" altLang="en-US" dirty="0">
                <a:latin typeface="Source Sans Pro" panose="020B0503030403020204" pitchFamily="34" charset="0"/>
                <a:ea typeface="ＭＳ Ｐゴシック" pitchFamily="34" charset="-128"/>
              </a:rPr>
              <a:t>Each </a:t>
            </a:r>
            <a:r>
              <a:rPr lang="en-US" altLang="en-US" b="1" dirty="0">
                <a:latin typeface="Source Sans Pro" panose="020B0503030403020204" pitchFamily="34" charset="0"/>
                <a:ea typeface="ＭＳ Ｐゴシック" pitchFamily="34" charset="-128"/>
              </a:rPr>
              <a:t>high type </a:t>
            </a:r>
            <a:r>
              <a:rPr lang="en-US" altLang="en-US" dirty="0">
                <a:latin typeface="Source Sans Pro" panose="020B0503030403020204" pitchFamily="34" charset="0"/>
                <a:ea typeface="ＭＳ Ｐゴシック" pitchFamily="34" charset="-128"/>
              </a:rPr>
              <a:t>is worth $20,000/year</a:t>
            </a:r>
          </a:p>
          <a:p>
            <a:pPr marL="403225" indent="-403225" eaLnBrk="1" hangingPunct="1">
              <a:lnSpc>
                <a:spcPct val="80000"/>
              </a:lnSpc>
            </a:pPr>
            <a:r>
              <a:rPr lang="en-US" altLang="en-US" sz="2400" dirty="0">
                <a:latin typeface="Source Sans Pro" panose="020B0503030403020204" pitchFamily="34" charset="0"/>
                <a:ea typeface="ＭＳ Ｐゴシック" pitchFamily="34" charset="-128"/>
              </a:rPr>
              <a:t>What is the firm willing to </a:t>
            </a:r>
            <a:r>
              <a:rPr lang="en-US" altLang="en-US" sz="2400" b="1" dirty="0">
                <a:latin typeface="Source Sans Pro" panose="020B0503030403020204" pitchFamily="34" charset="0"/>
                <a:ea typeface="ＭＳ Ｐゴシック" pitchFamily="34" charset="-128"/>
              </a:rPr>
              <a:t>pay </a:t>
            </a:r>
            <a:r>
              <a:rPr lang="en-US" altLang="en-US" sz="2400" dirty="0">
                <a:latin typeface="Source Sans Pro" panose="020B0503030403020204" pitchFamily="34" charset="0"/>
                <a:ea typeface="ＭＳ Ｐゴシック" pitchFamily="34" charset="-128"/>
              </a:rPr>
              <a:t>high and low type workers?</a:t>
            </a:r>
          </a:p>
        </p:txBody>
      </p:sp>
      <p:sp>
        <p:nvSpPr>
          <p:cNvPr id="4" name="5-Point Star 3">
            <a:extLst>
              <a:ext uri="{FF2B5EF4-FFF2-40B4-BE49-F238E27FC236}">
                <a16:creationId xmlns:a16="http://schemas.microsoft.com/office/drawing/2014/main" id="{C90679E2-6B92-9502-BDBC-930E4A9DAD21}"/>
              </a:ext>
            </a:extLst>
          </p:cNvPr>
          <p:cNvSpPr/>
          <p:nvPr/>
        </p:nvSpPr>
        <p:spPr>
          <a:xfrm>
            <a:off x="12383833"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p:txBody>
          <a:bodyPr/>
          <a:lstStyle/>
          <a:p>
            <a:r>
              <a:rPr lang="en-US" altLang="en-US" dirty="0"/>
              <a:t>A worker signaling model</a:t>
            </a:r>
          </a:p>
        </p:txBody>
      </p:sp>
      <p:sp>
        <p:nvSpPr>
          <p:cNvPr id="2" name="Slide Number Placeholder 3">
            <a:extLst>
              <a:ext uri="{FF2B5EF4-FFF2-40B4-BE49-F238E27FC236}">
                <a16:creationId xmlns:a16="http://schemas.microsoft.com/office/drawing/2014/main" id="{4446CC9D-1992-EBA7-8C59-5BF1CF987D24}"/>
              </a:ext>
            </a:extLst>
          </p:cNvPr>
          <p:cNvSpPr>
            <a:spLocks noGrp="1"/>
          </p:cNvSpPr>
          <p:nvPr>
            <p:ph type="sldNum" sz="quarter" idx="12"/>
          </p:nvPr>
        </p:nvSpPr>
        <p:spPr/>
        <p:txBody>
          <a:bodyPr/>
          <a:lstStyle/>
          <a:p>
            <a:fld id="{FCB221D3-71BE-444A-A876-BB3F1A6317AC}" type="slidenum">
              <a:rPr lang="en-US" altLang="en-US" smtClean="0"/>
              <a:pPr/>
              <a:t>86</a:t>
            </a:fld>
            <a:endParaRPr lang="en-US" altLang="en-US"/>
          </a:p>
        </p:txBody>
      </p:sp>
      <p:sp>
        <p:nvSpPr>
          <p:cNvPr id="3" name="Content Placeholder 2">
            <a:extLst>
              <a:ext uri="{FF2B5EF4-FFF2-40B4-BE49-F238E27FC236}">
                <a16:creationId xmlns:a16="http://schemas.microsoft.com/office/drawing/2014/main" id="{A7221E1C-88F5-3EF0-C858-CDC96AE0D3B5}"/>
              </a:ext>
            </a:extLst>
          </p:cNvPr>
          <p:cNvSpPr txBox="1">
            <a:spLocks/>
          </p:cNvSpPr>
          <p:nvPr/>
        </p:nvSpPr>
        <p:spPr>
          <a:xfrm>
            <a:off x="1152144" y="1143000"/>
            <a:ext cx="10085832" cy="5213735"/>
          </a:xfrm>
          <a:prstGeom prst="rect">
            <a:avLst/>
          </a:prstGeom>
        </p:spPr>
        <p:txBody>
          <a:bodyPr wrap="square">
            <a:spAutoFit/>
          </a:bodyPr>
          <a:lstStyle>
            <a:lvl1pPr marL="342900" indent="-3429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1pPr>
            <a:lvl2pPr marL="742950" indent="-28575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ts val="0"/>
              </a:spcBef>
              <a:spcAft>
                <a:spcPts val="12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eaLnBrk="1" hangingPunct="1"/>
            <a:r>
              <a:rPr lang="en-US" altLang="en-US" sz="2600" kern="0">
                <a:ea typeface="ＭＳ Ｐゴシック" pitchFamily="34" charset="-128"/>
              </a:rPr>
              <a:t>High types have an incentive to </a:t>
            </a:r>
            <a:r>
              <a:rPr lang="en-US" altLang="en-US" sz="2600" b="1" kern="0">
                <a:ea typeface="ＭＳ Ｐゴシック" pitchFamily="34" charset="-128"/>
              </a:rPr>
              <a:t>distinguish </a:t>
            </a:r>
            <a:r>
              <a:rPr lang="en-US" altLang="en-US" sz="2600" kern="0">
                <a:ea typeface="ＭＳ Ｐゴシック" pitchFamily="34" charset="-128"/>
              </a:rPr>
              <a:t>themselves from low types</a:t>
            </a:r>
          </a:p>
          <a:p>
            <a:pPr eaLnBrk="1" hangingPunct="1"/>
            <a:r>
              <a:rPr lang="en-US" altLang="en-US" sz="2600" kern="0">
                <a:ea typeface="ＭＳ Ｐゴシック" pitchFamily="34" charset="-128"/>
              </a:rPr>
              <a:t>Is </a:t>
            </a:r>
            <a:r>
              <a:rPr lang="en-US" altLang="en-US" sz="2600" b="1" kern="0">
                <a:ea typeface="ＭＳ Ｐゴシック" pitchFamily="34" charset="-128"/>
              </a:rPr>
              <a:t>schooling </a:t>
            </a:r>
            <a:r>
              <a:rPr lang="en-US" altLang="en-US" sz="2600" kern="0">
                <a:ea typeface="ＭＳ Ｐゴシック" pitchFamily="34" charset="-128"/>
              </a:rPr>
              <a:t>a signal of worker type?</a:t>
            </a:r>
          </a:p>
          <a:p>
            <a:pPr eaLnBrk="1" hangingPunct="1"/>
            <a:r>
              <a:rPr lang="en-US" altLang="en-US" sz="2600" i="1" kern="0">
                <a:ea typeface="ＭＳ Ｐゴシック" pitchFamily="34" charset="-128"/>
              </a:rPr>
              <a:t>y</a:t>
            </a:r>
            <a:r>
              <a:rPr lang="en-US" altLang="en-US" sz="2600" kern="0">
                <a:ea typeface="ＭＳ Ｐゴシック" pitchFamily="34" charset="-128"/>
              </a:rPr>
              <a:t> is the </a:t>
            </a:r>
            <a:r>
              <a:rPr lang="en-US" altLang="en-US" sz="2600" b="1" kern="0">
                <a:ea typeface="ＭＳ Ｐゴシック" pitchFamily="34" charset="-128"/>
              </a:rPr>
              <a:t>years </a:t>
            </a:r>
            <a:r>
              <a:rPr lang="en-US" altLang="en-US" sz="2600" kern="0">
                <a:ea typeface="ＭＳ Ｐゴシック" pitchFamily="34" charset="-128"/>
              </a:rPr>
              <a:t>of college a worker gets</a:t>
            </a:r>
          </a:p>
          <a:p>
            <a:pPr lvl="1" eaLnBrk="1" hangingPunct="1"/>
            <a:r>
              <a:rPr lang="en-US" altLang="en-US" sz="2600" kern="0">
                <a:ea typeface="ＭＳ Ｐゴシック" pitchFamily="34" charset="-128"/>
              </a:rPr>
              <a:t>It costs $40,000y for a </a:t>
            </a:r>
            <a:r>
              <a:rPr lang="en-US" altLang="en-US" sz="2600" b="1" kern="0">
                <a:ea typeface="ＭＳ Ｐゴシック" pitchFamily="34" charset="-128"/>
              </a:rPr>
              <a:t>low type </a:t>
            </a:r>
            <a:r>
              <a:rPr lang="en-US" altLang="en-US" sz="2600" kern="0">
                <a:ea typeface="ＭＳ Ｐゴシック" pitchFamily="34" charset="-128"/>
              </a:rPr>
              <a:t>to get </a:t>
            </a:r>
            <a:r>
              <a:rPr lang="en-US" altLang="en-US" sz="2600" i="1" kern="0">
                <a:ea typeface="ＭＳ Ｐゴシック" pitchFamily="34" charset="-128"/>
              </a:rPr>
              <a:t>y</a:t>
            </a:r>
            <a:r>
              <a:rPr lang="en-US" altLang="en-US" sz="2600" kern="0">
                <a:ea typeface="ＭＳ Ｐゴシック" pitchFamily="34" charset="-128"/>
              </a:rPr>
              <a:t> years</a:t>
            </a:r>
          </a:p>
          <a:p>
            <a:pPr lvl="1" eaLnBrk="1" hangingPunct="1"/>
            <a:r>
              <a:rPr lang="en-US" altLang="en-US" sz="2600" kern="0">
                <a:ea typeface="ＭＳ Ｐゴシック" pitchFamily="34" charset="-128"/>
              </a:rPr>
              <a:t>It costs $20,000y for a </a:t>
            </a:r>
            <a:r>
              <a:rPr lang="en-US" altLang="en-US" sz="2600" b="1" kern="0">
                <a:ea typeface="ＭＳ Ｐゴシック" pitchFamily="34" charset="-128"/>
              </a:rPr>
              <a:t>high type </a:t>
            </a:r>
            <a:r>
              <a:rPr lang="en-US" altLang="en-US" sz="2600" kern="0">
                <a:ea typeface="ＭＳ Ｐゴシック" pitchFamily="34" charset="-128"/>
              </a:rPr>
              <a:t>to get </a:t>
            </a:r>
            <a:r>
              <a:rPr lang="en-US" altLang="en-US" sz="2600" i="1" kern="0">
                <a:ea typeface="ＭＳ Ｐゴシック" pitchFamily="34" charset="-128"/>
              </a:rPr>
              <a:t>y</a:t>
            </a:r>
            <a:r>
              <a:rPr lang="en-US" altLang="en-US" sz="2600" kern="0">
                <a:ea typeface="ＭＳ Ｐゴシック" pitchFamily="34" charset="-128"/>
              </a:rPr>
              <a:t> years</a:t>
            </a:r>
          </a:p>
          <a:p>
            <a:pPr eaLnBrk="1" hangingPunct="1"/>
            <a:r>
              <a:rPr lang="en-US" altLang="en-US" sz="2600" kern="0">
                <a:ea typeface="ＭＳ Ｐゴシック" pitchFamily="34" charset="-128"/>
              </a:rPr>
              <a:t>Education has </a:t>
            </a:r>
            <a:r>
              <a:rPr lang="en-US" altLang="en-US" sz="2600" b="1" kern="0">
                <a:ea typeface="ＭＳ Ｐゴシック" pitchFamily="34" charset="-128"/>
              </a:rPr>
              <a:t>no effect </a:t>
            </a:r>
            <a:r>
              <a:rPr lang="en-US" altLang="en-US" sz="2600" kern="0">
                <a:ea typeface="ＭＳ Ｐゴシック" pitchFamily="34" charset="-128"/>
              </a:rPr>
              <a:t>on productivity!</a:t>
            </a:r>
          </a:p>
          <a:p>
            <a:pPr eaLnBrk="1" hangingPunct="1"/>
            <a:r>
              <a:rPr lang="en-US" altLang="en-US" sz="2600" kern="0">
                <a:ea typeface="ＭＳ Ｐゴシック" pitchFamily="34" charset="-128"/>
              </a:rPr>
              <a:t>Let firms offer wages of </a:t>
            </a:r>
            <a:r>
              <a:rPr lang="en-US" altLang="en-US" sz="2600" b="1" kern="0">
                <a:ea typeface="ＭＳ Ｐゴシック" pitchFamily="34" charset="-128"/>
              </a:rPr>
              <a:t>$20k </a:t>
            </a:r>
            <a:r>
              <a:rPr lang="en-US" altLang="en-US" sz="2600" kern="0">
                <a:ea typeface="ＭＳ Ｐゴシック" pitchFamily="34" charset="-128"/>
              </a:rPr>
              <a:t>to anyone with at least </a:t>
            </a:r>
            <a:r>
              <a:rPr lang="en-US" altLang="en-US" sz="2600" b="1" kern="0">
                <a:ea typeface="ＭＳ Ｐゴシック" pitchFamily="34" charset="-128"/>
              </a:rPr>
              <a:t>4 years </a:t>
            </a:r>
            <a:r>
              <a:rPr lang="en-US" altLang="en-US" sz="2600" kern="0">
                <a:ea typeface="ＭＳ Ｐゴシック" pitchFamily="34" charset="-128"/>
              </a:rPr>
              <a:t>of college and </a:t>
            </a:r>
            <a:r>
              <a:rPr lang="en-US" altLang="en-US" sz="2600" b="1" kern="0">
                <a:ea typeface="ＭＳ Ｐゴシック" pitchFamily="34" charset="-128"/>
              </a:rPr>
              <a:t>$10k </a:t>
            </a:r>
            <a:r>
              <a:rPr lang="en-US" altLang="en-US" sz="2600" kern="0">
                <a:ea typeface="ＭＳ Ｐゴシック" pitchFamily="34" charset="-128"/>
              </a:rPr>
              <a:t>to anyone with less</a:t>
            </a:r>
          </a:p>
          <a:p>
            <a:pPr eaLnBrk="1" hangingPunct="1"/>
            <a:r>
              <a:rPr lang="en-US" altLang="en-US" sz="2600" kern="0">
                <a:ea typeface="ＭＳ Ｐゴシック" pitchFamily="34" charset="-128"/>
              </a:rPr>
              <a:t>Who should go to college? </a:t>
            </a:r>
            <a:endParaRPr lang="en-US" altLang="en-US" sz="2600" kern="0" dirty="0">
              <a:ea typeface="ＭＳ Ｐゴシック" pitchFamily="34" charset="-128"/>
            </a:endParaRPr>
          </a:p>
        </p:txBody>
      </p:sp>
      <p:sp>
        <p:nvSpPr>
          <p:cNvPr id="4" name="5-Point Star 3">
            <a:extLst>
              <a:ext uri="{FF2B5EF4-FFF2-40B4-BE49-F238E27FC236}">
                <a16:creationId xmlns:a16="http://schemas.microsoft.com/office/drawing/2014/main" id="{CD661980-2F58-9DF2-CA13-386ECF7BCADE}"/>
              </a:ext>
            </a:extLst>
          </p:cNvPr>
          <p:cNvSpPr/>
          <p:nvPr/>
        </p:nvSpPr>
        <p:spPr>
          <a:xfrm>
            <a:off x="12649304"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r>
              <a:rPr lang="en-US" altLang="en-US" dirty="0"/>
              <a:t>A worker signaling model</a:t>
            </a:r>
          </a:p>
        </p:txBody>
      </p:sp>
      <p:sp>
        <p:nvSpPr>
          <p:cNvPr id="5" name="Slide Number Placeholder 3">
            <a:extLst>
              <a:ext uri="{FF2B5EF4-FFF2-40B4-BE49-F238E27FC236}">
                <a16:creationId xmlns:a16="http://schemas.microsoft.com/office/drawing/2014/main" id="{A02A13EF-1257-26AE-1478-2FCCD6B028CD}"/>
              </a:ext>
            </a:extLst>
          </p:cNvPr>
          <p:cNvSpPr>
            <a:spLocks noGrp="1"/>
          </p:cNvSpPr>
          <p:nvPr>
            <p:ph type="sldNum" sz="quarter" idx="12"/>
          </p:nvPr>
        </p:nvSpPr>
        <p:spPr/>
        <p:txBody>
          <a:bodyPr/>
          <a:lstStyle/>
          <a:p>
            <a:fld id="{FCB221D3-71BE-444A-A876-BB3F1A6317AC}" type="slidenum">
              <a:rPr lang="en-US" altLang="en-US" smtClean="0"/>
              <a:pPr/>
              <a:t>87</a:t>
            </a:fld>
            <a:endParaRPr lang="en-US" altLang="en-US"/>
          </a:p>
        </p:txBody>
      </p:sp>
      <p:grpSp>
        <p:nvGrpSpPr>
          <p:cNvPr id="4" name="Group 3">
            <a:extLst>
              <a:ext uri="{FF2B5EF4-FFF2-40B4-BE49-F238E27FC236}">
                <a16:creationId xmlns:a16="http://schemas.microsoft.com/office/drawing/2014/main" id="{B35CBA3C-847A-001A-568F-04515759257A}"/>
              </a:ext>
            </a:extLst>
          </p:cNvPr>
          <p:cNvGrpSpPr/>
          <p:nvPr/>
        </p:nvGrpSpPr>
        <p:grpSpPr>
          <a:xfrm>
            <a:off x="1597152" y="1208807"/>
            <a:ext cx="3335482" cy="2209800"/>
            <a:chOff x="457200" y="1208807"/>
            <a:chExt cx="3335482" cy="2209800"/>
          </a:xfrm>
        </p:grpSpPr>
        <p:cxnSp>
          <p:nvCxnSpPr>
            <p:cNvPr id="7" name="Straight Connector 6">
              <a:extLst>
                <a:ext uri="{FF2B5EF4-FFF2-40B4-BE49-F238E27FC236}">
                  <a16:creationId xmlns:a16="http://schemas.microsoft.com/office/drawing/2014/main" id="{1FE3BEA3-46C7-2FBB-4B97-8756BDB54273}"/>
                </a:ext>
              </a:extLst>
            </p:cNvPr>
            <p:cNvCxnSpPr/>
            <p:nvPr/>
          </p:nvCxnSpPr>
          <p:spPr>
            <a:xfrm>
              <a:off x="467591" y="1208807"/>
              <a:ext cx="0" cy="22098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B88ECAA-8F56-B0C3-8A7E-45B28F66635C}"/>
                </a:ext>
              </a:extLst>
            </p:cNvPr>
            <p:cNvCxnSpPr/>
            <p:nvPr/>
          </p:nvCxnSpPr>
          <p:spPr>
            <a:xfrm flipH="1">
              <a:off x="457200" y="3418607"/>
              <a:ext cx="333548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10" name="Straight Connector 9">
            <a:extLst>
              <a:ext uri="{FF2B5EF4-FFF2-40B4-BE49-F238E27FC236}">
                <a16:creationId xmlns:a16="http://schemas.microsoft.com/office/drawing/2014/main" id="{E097B7DC-351A-C0C5-1442-F85B8845B80B}"/>
              </a:ext>
            </a:extLst>
          </p:cNvPr>
          <p:cNvCxnSpPr/>
          <p:nvPr/>
        </p:nvCxnSpPr>
        <p:spPr>
          <a:xfrm flipV="1">
            <a:off x="1597153" y="1208807"/>
            <a:ext cx="2597727" cy="2209800"/>
          </a:xfrm>
          <a:prstGeom prst="line">
            <a:avLst/>
          </a:prstGeom>
          <a:ln>
            <a:solidFill>
              <a:srgbClr val="67C8C7"/>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DF3BF9BB-8995-C269-439A-79EF9D0AE872}"/>
              </a:ext>
            </a:extLst>
          </p:cNvPr>
          <p:cNvSpPr txBox="1"/>
          <p:nvPr/>
        </p:nvSpPr>
        <p:spPr>
          <a:xfrm>
            <a:off x="3363607" y="3431368"/>
            <a:ext cx="336952" cy="461665"/>
          </a:xfrm>
          <a:prstGeom prst="rect">
            <a:avLst/>
          </a:prstGeom>
          <a:noFill/>
        </p:spPr>
        <p:txBody>
          <a:bodyPr wrap="none" rtlCol="0">
            <a:spAutoFit/>
          </a:bodyPr>
          <a:lstStyle/>
          <a:p>
            <a:r>
              <a:rPr lang="en-US" sz="2400" dirty="0">
                <a:latin typeface="Source Sans Pro" panose="020B0503030403020204" pitchFamily="34" charset="0"/>
              </a:rPr>
              <a:t>4</a:t>
            </a:r>
          </a:p>
        </p:txBody>
      </p:sp>
      <p:sp>
        <p:nvSpPr>
          <p:cNvPr id="12" name="TextBox 11">
            <a:extLst>
              <a:ext uri="{FF2B5EF4-FFF2-40B4-BE49-F238E27FC236}">
                <a16:creationId xmlns:a16="http://schemas.microsoft.com/office/drawing/2014/main" id="{1C9BFDCE-B305-6354-3DE3-69F9BB82DD57}"/>
              </a:ext>
            </a:extLst>
          </p:cNvPr>
          <p:cNvSpPr txBox="1"/>
          <p:nvPr/>
        </p:nvSpPr>
        <p:spPr>
          <a:xfrm>
            <a:off x="4932634" y="3431368"/>
            <a:ext cx="328936" cy="461665"/>
          </a:xfrm>
          <a:prstGeom prst="rect">
            <a:avLst/>
          </a:prstGeom>
          <a:noFill/>
        </p:spPr>
        <p:txBody>
          <a:bodyPr wrap="none" rtlCol="0">
            <a:spAutoFit/>
          </a:bodyPr>
          <a:lstStyle/>
          <a:p>
            <a:r>
              <a:rPr lang="en-US" sz="2400" dirty="0">
                <a:latin typeface="Source Sans Pro" panose="020B0503030403020204" pitchFamily="34" charset="0"/>
              </a:rPr>
              <a:t>y</a:t>
            </a:r>
          </a:p>
        </p:txBody>
      </p:sp>
      <p:cxnSp>
        <p:nvCxnSpPr>
          <p:cNvPr id="16" name="Straight Connector 15">
            <a:extLst>
              <a:ext uri="{FF2B5EF4-FFF2-40B4-BE49-F238E27FC236}">
                <a16:creationId xmlns:a16="http://schemas.microsoft.com/office/drawing/2014/main" id="{B9589732-8E15-649C-2BD8-26482991AA22}"/>
              </a:ext>
            </a:extLst>
          </p:cNvPr>
          <p:cNvCxnSpPr/>
          <p:nvPr/>
        </p:nvCxnSpPr>
        <p:spPr>
          <a:xfrm flipV="1">
            <a:off x="3514450" y="2493817"/>
            <a:ext cx="0" cy="924790"/>
          </a:xfrm>
          <a:prstGeom prst="line">
            <a:avLst/>
          </a:prstGeom>
          <a:ln w="28575">
            <a:solidFill>
              <a:srgbClr val="67C8C7"/>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EBD3835-E14D-517D-5A40-8C74EE9CCCD2}"/>
              </a:ext>
            </a:extLst>
          </p:cNvPr>
          <p:cNvCxnSpPr/>
          <p:nvPr/>
        </p:nvCxnSpPr>
        <p:spPr>
          <a:xfrm>
            <a:off x="3514450" y="2493817"/>
            <a:ext cx="1418184" cy="0"/>
          </a:xfrm>
          <a:prstGeom prst="line">
            <a:avLst/>
          </a:prstGeom>
          <a:ln w="28575">
            <a:solidFill>
              <a:srgbClr val="67C8C7"/>
            </a:solidFill>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1BBDDA0-E714-CA35-46AD-F6BFB1019426}"/>
              </a:ext>
            </a:extLst>
          </p:cNvPr>
          <p:cNvCxnSpPr/>
          <p:nvPr/>
        </p:nvCxnSpPr>
        <p:spPr>
          <a:xfrm>
            <a:off x="1607544" y="3408217"/>
            <a:ext cx="1906907" cy="0"/>
          </a:xfrm>
          <a:prstGeom prst="line">
            <a:avLst/>
          </a:prstGeom>
          <a:ln w="28575">
            <a:solidFill>
              <a:srgbClr val="007360"/>
            </a:solidFill>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E38846A7-A0CA-4A58-0B16-1114D02F0D25}"/>
              </a:ext>
            </a:extLst>
          </p:cNvPr>
          <p:cNvSpPr txBox="1"/>
          <p:nvPr/>
        </p:nvSpPr>
        <p:spPr>
          <a:xfrm>
            <a:off x="3739391" y="1480248"/>
            <a:ext cx="1879297" cy="461665"/>
          </a:xfrm>
          <a:prstGeom prst="rect">
            <a:avLst/>
          </a:prstGeom>
          <a:noFill/>
        </p:spPr>
        <p:txBody>
          <a:bodyPr wrap="none" rtlCol="0">
            <a:spAutoFit/>
          </a:bodyPr>
          <a:lstStyle/>
          <a:p>
            <a:r>
              <a:rPr lang="en-US" sz="2400" dirty="0">
                <a:latin typeface="Source Sans Pro" panose="020B0503030403020204" pitchFamily="34" charset="0"/>
              </a:rPr>
              <a:t>Cost = 40k * y</a:t>
            </a:r>
          </a:p>
        </p:txBody>
      </p:sp>
      <p:grpSp>
        <p:nvGrpSpPr>
          <p:cNvPr id="29" name="Group 28">
            <a:extLst>
              <a:ext uri="{FF2B5EF4-FFF2-40B4-BE49-F238E27FC236}">
                <a16:creationId xmlns:a16="http://schemas.microsoft.com/office/drawing/2014/main" id="{DD3C081F-447C-51EB-670C-9A307D0C593A}"/>
              </a:ext>
            </a:extLst>
          </p:cNvPr>
          <p:cNvGrpSpPr/>
          <p:nvPr/>
        </p:nvGrpSpPr>
        <p:grpSpPr>
          <a:xfrm>
            <a:off x="1597152" y="4038751"/>
            <a:ext cx="3335482" cy="2209800"/>
            <a:chOff x="457200" y="4118263"/>
            <a:chExt cx="3335482" cy="2209800"/>
          </a:xfrm>
        </p:grpSpPr>
        <p:cxnSp>
          <p:nvCxnSpPr>
            <p:cNvPr id="30" name="Straight Connector 29">
              <a:extLst>
                <a:ext uri="{FF2B5EF4-FFF2-40B4-BE49-F238E27FC236}">
                  <a16:creationId xmlns:a16="http://schemas.microsoft.com/office/drawing/2014/main" id="{1965E79F-A8C5-A5D9-583B-6ACD07A8FF6C}"/>
                </a:ext>
              </a:extLst>
            </p:cNvPr>
            <p:cNvCxnSpPr/>
            <p:nvPr/>
          </p:nvCxnSpPr>
          <p:spPr>
            <a:xfrm>
              <a:off x="467591" y="4118263"/>
              <a:ext cx="0" cy="22098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E9B6734-4578-80F8-D16E-21FD22A6C19B}"/>
                </a:ext>
              </a:extLst>
            </p:cNvPr>
            <p:cNvCxnSpPr/>
            <p:nvPr/>
          </p:nvCxnSpPr>
          <p:spPr>
            <a:xfrm flipH="1">
              <a:off x="457200" y="6328063"/>
              <a:ext cx="333548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37" name="Straight Connector 36">
            <a:extLst>
              <a:ext uri="{FF2B5EF4-FFF2-40B4-BE49-F238E27FC236}">
                <a16:creationId xmlns:a16="http://schemas.microsoft.com/office/drawing/2014/main" id="{B349CFBA-26D0-1ED8-C391-4E3F2E5FF67E}"/>
              </a:ext>
            </a:extLst>
          </p:cNvPr>
          <p:cNvCxnSpPr/>
          <p:nvPr/>
        </p:nvCxnSpPr>
        <p:spPr>
          <a:xfrm flipV="1">
            <a:off x="1597152" y="5063988"/>
            <a:ext cx="3044536" cy="1184565"/>
          </a:xfrm>
          <a:prstGeom prst="line">
            <a:avLst/>
          </a:prstGeom>
          <a:ln>
            <a:solidFill>
              <a:srgbClr val="67C8C7"/>
            </a:solidFill>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AC6CA6F7-9B82-61B2-A640-38E7486A0091}"/>
              </a:ext>
            </a:extLst>
          </p:cNvPr>
          <p:cNvSpPr txBox="1"/>
          <p:nvPr/>
        </p:nvSpPr>
        <p:spPr>
          <a:xfrm>
            <a:off x="3363607" y="6248551"/>
            <a:ext cx="336952" cy="461665"/>
          </a:xfrm>
          <a:prstGeom prst="rect">
            <a:avLst/>
          </a:prstGeom>
          <a:noFill/>
        </p:spPr>
        <p:txBody>
          <a:bodyPr wrap="none" rtlCol="0">
            <a:spAutoFit/>
          </a:bodyPr>
          <a:lstStyle/>
          <a:p>
            <a:r>
              <a:rPr lang="en-US" sz="2400" dirty="0">
                <a:latin typeface="Source Sans Pro" panose="020B0503030403020204" pitchFamily="34" charset="0"/>
              </a:rPr>
              <a:t>4</a:t>
            </a:r>
          </a:p>
        </p:txBody>
      </p:sp>
      <p:sp>
        <p:nvSpPr>
          <p:cNvPr id="43" name="TextBox 42">
            <a:extLst>
              <a:ext uri="{FF2B5EF4-FFF2-40B4-BE49-F238E27FC236}">
                <a16:creationId xmlns:a16="http://schemas.microsoft.com/office/drawing/2014/main" id="{9DB9B61C-A862-6CD8-E0FE-E59177F87E5C}"/>
              </a:ext>
            </a:extLst>
          </p:cNvPr>
          <p:cNvSpPr txBox="1"/>
          <p:nvPr/>
        </p:nvSpPr>
        <p:spPr>
          <a:xfrm>
            <a:off x="4932634" y="6248551"/>
            <a:ext cx="328936" cy="461665"/>
          </a:xfrm>
          <a:prstGeom prst="rect">
            <a:avLst/>
          </a:prstGeom>
          <a:noFill/>
        </p:spPr>
        <p:txBody>
          <a:bodyPr wrap="none" rtlCol="0">
            <a:spAutoFit/>
          </a:bodyPr>
          <a:lstStyle/>
          <a:p>
            <a:r>
              <a:rPr lang="en-US" sz="2400" dirty="0">
                <a:latin typeface="Source Sans Pro" panose="020B0503030403020204" pitchFamily="34" charset="0"/>
              </a:rPr>
              <a:t>y</a:t>
            </a:r>
          </a:p>
        </p:txBody>
      </p:sp>
      <p:cxnSp>
        <p:nvCxnSpPr>
          <p:cNvPr id="44" name="Straight Connector 43">
            <a:extLst>
              <a:ext uri="{FF2B5EF4-FFF2-40B4-BE49-F238E27FC236}">
                <a16:creationId xmlns:a16="http://schemas.microsoft.com/office/drawing/2014/main" id="{17D29562-FE64-BE1D-5174-18F7219F2E54}"/>
              </a:ext>
            </a:extLst>
          </p:cNvPr>
          <p:cNvCxnSpPr>
            <a:stCxn id="38" idx="0"/>
          </p:cNvCxnSpPr>
          <p:nvPr/>
        </p:nvCxnSpPr>
        <p:spPr>
          <a:xfrm flipH="1" flipV="1">
            <a:off x="3514450" y="5323761"/>
            <a:ext cx="17633" cy="924790"/>
          </a:xfrm>
          <a:prstGeom prst="line">
            <a:avLst/>
          </a:prstGeom>
          <a:ln w="28575">
            <a:solidFill>
              <a:srgbClr val="67C8C7"/>
            </a:solidFill>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BD39A0AB-8526-7904-51BB-06993E871A4D}"/>
              </a:ext>
            </a:extLst>
          </p:cNvPr>
          <p:cNvCxnSpPr/>
          <p:nvPr/>
        </p:nvCxnSpPr>
        <p:spPr>
          <a:xfrm>
            <a:off x="3514450" y="5323761"/>
            <a:ext cx="1418184" cy="0"/>
          </a:xfrm>
          <a:prstGeom prst="line">
            <a:avLst/>
          </a:prstGeom>
          <a:ln w="28575">
            <a:solidFill>
              <a:srgbClr val="67C8C7"/>
            </a:solidFill>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5AFDB9BF-338A-78DB-84DB-011DC7FF7475}"/>
              </a:ext>
            </a:extLst>
          </p:cNvPr>
          <p:cNvCxnSpPr/>
          <p:nvPr/>
        </p:nvCxnSpPr>
        <p:spPr>
          <a:xfrm>
            <a:off x="1607544" y="6238159"/>
            <a:ext cx="1906907" cy="0"/>
          </a:xfrm>
          <a:prstGeom prst="line">
            <a:avLst/>
          </a:prstGeom>
          <a:ln w="28575">
            <a:solidFill>
              <a:srgbClr val="67C8C7"/>
            </a:solidFill>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AB0537D6-F4A1-4728-6704-903581B534A2}"/>
              </a:ext>
            </a:extLst>
          </p:cNvPr>
          <p:cNvSpPr txBox="1"/>
          <p:nvPr/>
        </p:nvSpPr>
        <p:spPr>
          <a:xfrm>
            <a:off x="3779244" y="4557203"/>
            <a:ext cx="1879297" cy="461665"/>
          </a:xfrm>
          <a:prstGeom prst="rect">
            <a:avLst/>
          </a:prstGeom>
          <a:noFill/>
        </p:spPr>
        <p:txBody>
          <a:bodyPr wrap="none" rtlCol="0">
            <a:spAutoFit/>
          </a:bodyPr>
          <a:lstStyle/>
          <a:p>
            <a:r>
              <a:rPr lang="en-US" sz="2400" dirty="0">
                <a:latin typeface="Source Sans Pro" panose="020B0503030403020204" pitchFamily="34" charset="0"/>
              </a:rPr>
              <a:t>Cost = 20k * y</a:t>
            </a:r>
          </a:p>
        </p:txBody>
      </p:sp>
      <p:sp>
        <p:nvSpPr>
          <p:cNvPr id="50" name="TextBox 49">
            <a:extLst>
              <a:ext uri="{FF2B5EF4-FFF2-40B4-BE49-F238E27FC236}">
                <a16:creationId xmlns:a16="http://schemas.microsoft.com/office/drawing/2014/main" id="{C9CA95A7-BD75-FC54-C692-3B3C08108D6C}"/>
              </a:ext>
            </a:extLst>
          </p:cNvPr>
          <p:cNvSpPr txBox="1"/>
          <p:nvPr/>
        </p:nvSpPr>
        <p:spPr>
          <a:xfrm>
            <a:off x="568578" y="4375957"/>
            <a:ext cx="919454" cy="830997"/>
          </a:xfrm>
          <a:prstGeom prst="rect">
            <a:avLst/>
          </a:prstGeom>
          <a:noFill/>
        </p:spPr>
        <p:txBody>
          <a:bodyPr wrap="square" rtlCol="0">
            <a:spAutoFit/>
          </a:bodyPr>
          <a:lstStyle/>
          <a:p>
            <a:r>
              <a:rPr lang="en-US" sz="2400" dirty="0">
                <a:latin typeface="Source Sans Pro" panose="020B0503030403020204" pitchFamily="34" charset="0"/>
              </a:rPr>
              <a:t>High types</a:t>
            </a:r>
          </a:p>
        </p:txBody>
      </p:sp>
      <p:sp>
        <p:nvSpPr>
          <p:cNvPr id="51" name="TextBox 50">
            <a:extLst>
              <a:ext uri="{FF2B5EF4-FFF2-40B4-BE49-F238E27FC236}">
                <a16:creationId xmlns:a16="http://schemas.microsoft.com/office/drawing/2014/main" id="{5816120C-1545-0095-5F50-766EB640D55C}"/>
              </a:ext>
            </a:extLst>
          </p:cNvPr>
          <p:cNvSpPr txBox="1"/>
          <p:nvPr/>
        </p:nvSpPr>
        <p:spPr>
          <a:xfrm>
            <a:off x="568578" y="1738835"/>
            <a:ext cx="919454" cy="830997"/>
          </a:xfrm>
          <a:prstGeom prst="rect">
            <a:avLst/>
          </a:prstGeom>
          <a:noFill/>
        </p:spPr>
        <p:txBody>
          <a:bodyPr wrap="square" rtlCol="0">
            <a:spAutoFit/>
          </a:bodyPr>
          <a:lstStyle/>
          <a:p>
            <a:r>
              <a:rPr lang="en-US" sz="2400" dirty="0">
                <a:latin typeface="Source Sans Pro" panose="020B0503030403020204" pitchFamily="34" charset="0"/>
              </a:rPr>
              <a:t>Low types</a:t>
            </a:r>
          </a:p>
        </p:txBody>
      </p:sp>
      <p:sp>
        <p:nvSpPr>
          <p:cNvPr id="52" name="TextBox 51">
            <a:extLst>
              <a:ext uri="{FF2B5EF4-FFF2-40B4-BE49-F238E27FC236}">
                <a16:creationId xmlns:a16="http://schemas.microsoft.com/office/drawing/2014/main" id="{F742D4EA-B650-512C-1B09-F056B5C95448}"/>
              </a:ext>
            </a:extLst>
          </p:cNvPr>
          <p:cNvSpPr txBox="1"/>
          <p:nvPr/>
        </p:nvSpPr>
        <p:spPr>
          <a:xfrm>
            <a:off x="3585233" y="2586880"/>
            <a:ext cx="2372444" cy="461665"/>
          </a:xfrm>
          <a:prstGeom prst="rect">
            <a:avLst/>
          </a:prstGeom>
          <a:noFill/>
        </p:spPr>
        <p:txBody>
          <a:bodyPr wrap="none" rtlCol="0">
            <a:spAutoFit/>
          </a:bodyPr>
          <a:lstStyle/>
          <a:p>
            <a:r>
              <a:rPr lang="en-US" sz="2400" dirty="0">
                <a:latin typeface="Source Sans Pro" panose="020B0503030403020204" pitchFamily="34" charset="0"/>
              </a:rPr>
              <a:t>Benefit of y years</a:t>
            </a:r>
          </a:p>
        </p:txBody>
      </p:sp>
      <p:cxnSp>
        <p:nvCxnSpPr>
          <p:cNvPr id="53" name="Straight Arrow Connector 52">
            <a:extLst>
              <a:ext uri="{FF2B5EF4-FFF2-40B4-BE49-F238E27FC236}">
                <a16:creationId xmlns:a16="http://schemas.microsoft.com/office/drawing/2014/main" id="{D93A7A4F-31A5-4674-4FF1-5D13B0F8A74F}"/>
              </a:ext>
            </a:extLst>
          </p:cNvPr>
          <p:cNvCxnSpPr/>
          <p:nvPr/>
        </p:nvCxnSpPr>
        <p:spPr>
          <a:xfrm flipH="1">
            <a:off x="3514450" y="2956213"/>
            <a:ext cx="347920" cy="181843"/>
          </a:xfrm>
          <a:prstGeom prst="straightConnector1">
            <a:avLst/>
          </a:prstGeom>
          <a:ln>
            <a:solidFill>
              <a:srgbClr val="67C8C7"/>
            </a:solidFill>
            <a:tailEnd type="arrow"/>
          </a:ln>
          <a:effectLst/>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FD9BC30D-9177-FE62-68CC-E92606CF7F36}"/>
              </a:ext>
            </a:extLst>
          </p:cNvPr>
          <p:cNvSpPr txBox="1"/>
          <p:nvPr/>
        </p:nvSpPr>
        <p:spPr>
          <a:xfrm>
            <a:off x="3585233" y="5601490"/>
            <a:ext cx="2372444" cy="461665"/>
          </a:xfrm>
          <a:prstGeom prst="rect">
            <a:avLst/>
          </a:prstGeom>
          <a:noFill/>
        </p:spPr>
        <p:txBody>
          <a:bodyPr wrap="none" rtlCol="0">
            <a:spAutoFit/>
          </a:bodyPr>
          <a:lstStyle/>
          <a:p>
            <a:r>
              <a:rPr lang="en-US" sz="2400" dirty="0">
                <a:latin typeface="Source Sans Pro" panose="020B0503030403020204" pitchFamily="34" charset="0"/>
              </a:rPr>
              <a:t>Benefit of y years</a:t>
            </a:r>
          </a:p>
        </p:txBody>
      </p:sp>
      <p:cxnSp>
        <p:nvCxnSpPr>
          <p:cNvPr id="55" name="Straight Arrow Connector 54">
            <a:extLst>
              <a:ext uri="{FF2B5EF4-FFF2-40B4-BE49-F238E27FC236}">
                <a16:creationId xmlns:a16="http://schemas.microsoft.com/office/drawing/2014/main" id="{807F4E08-EE3B-BB34-BCCE-39A3716230F9}"/>
              </a:ext>
            </a:extLst>
          </p:cNvPr>
          <p:cNvCxnSpPr/>
          <p:nvPr/>
        </p:nvCxnSpPr>
        <p:spPr>
          <a:xfrm flipH="1">
            <a:off x="3514450" y="5970823"/>
            <a:ext cx="347920" cy="181843"/>
          </a:xfrm>
          <a:prstGeom prst="straightConnector1">
            <a:avLst/>
          </a:prstGeom>
          <a:ln>
            <a:solidFill>
              <a:srgbClr val="007360"/>
            </a:solidFill>
            <a:tailEnd type="arrow"/>
          </a:ln>
          <a:effectLst/>
        </p:spPr>
        <p:style>
          <a:lnRef idx="2">
            <a:schemeClr val="accent1"/>
          </a:lnRef>
          <a:fillRef idx="0">
            <a:schemeClr val="accent1"/>
          </a:fillRef>
          <a:effectRef idx="1">
            <a:schemeClr val="accent1"/>
          </a:effectRef>
          <a:fontRef idx="minor">
            <a:schemeClr val="tx1"/>
          </a:fontRef>
        </p:style>
      </p:cxnSp>
      <p:sp>
        <p:nvSpPr>
          <p:cNvPr id="56" name="Content Placeholder 4">
            <a:extLst>
              <a:ext uri="{FF2B5EF4-FFF2-40B4-BE49-F238E27FC236}">
                <a16:creationId xmlns:a16="http://schemas.microsoft.com/office/drawing/2014/main" id="{0DB43278-9B7D-CE82-0916-19BD57B4046B}"/>
              </a:ext>
            </a:extLst>
          </p:cNvPr>
          <p:cNvSpPr txBox="1">
            <a:spLocks/>
          </p:cNvSpPr>
          <p:nvPr/>
        </p:nvSpPr>
        <p:spPr>
          <a:xfrm>
            <a:off x="6197600" y="1295400"/>
            <a:ext cx="5384800" cy="3859518"/>
          </a:xfrm>
          <a:prstGeom prst="rect">
            <a:avLst/>
          </a:prstGeom>
        </p:spPr>
        <p:txBody>
          <a:bodyPr>
            <a:spAutoFit/>
          </a:bodyPr>
          <a:lstStyle>
            <a:lvl1pPr marL="342900" indent="-342900" algn="l" rtl="0" eaLnBrk="0" fontAlgn="base" hangingPunct="0">
              <a:spcBef>
                <a:spcPct val="20000"/>
              </a:spcBef>
              <a:spcAft>
                <a:spcPct val="20000"/>
              </a:spcAft>
              <a:buChar char="•"/>
              <a:defRPr sz="2400">
                <a:solidFill>
                  <a:schemeClr val="tx1"/>
                </a:solidFill>
                <a:latin typeface="Source Sans Pro" panose="020B0503030403020204" pitchFamily="34" charset="0"/>
                <a:ea typeface="ＭＳ Ｐゴシック" charset="0"/>
                <a:cs typeface="+mn-cs"/>
              </a:defRPr>
            </a:lvl1pPr>
            <a:lvl2pPr marL="742950" indent="-285750" algn="l" rtl="0" eaLnBrk="0" fontAlgn="base" hangingPunct="0">
              <a:spcBef>
                <a:spcPct val="20000"/>
              </a:spcBef>
              <a:spcAft>
                <a:spcPct val="20000"/>
              </a:spcAft>
              <a:buChar char="–"/>
              <a:defRPr sz="2400">
                <a:solidFill>
                  <a:schemeClr val="tx1"/>
                </a:solidFill>
                <a:latin typeface="Source Sans Pro" panose="020B0503030403020204" pitchFamily="34" charset="0"/>
                <a:ea typeface="Source Sans Pro" panose="020B0503030403020204" pitchFamily="34" charset="0"/>
                <a:cs typeface="+mn-cs"/>
              </a:defRPr>
            </a:lvl2pPr>
            <a:lvl3pPr marL="1143000" indent="-228600" algn="l" rtl="0" eaLnBrk="0" fontAlgn="base" hangingPunct="0">
              <a:spcBef>
                <a:spcPct val="20000"/>
              </a:spcBef>
              <a:spcAft>
                <a:spcPct val="20000"/>
              </a:spcAft>
              <a:buChar char="•"/>
              <a:defRPr sz="2400">
                <a:solidFill>
                  <a:schemeClr val="tx1"/>
                </a:solidFill>
                <a:latin typeface="Source Sans Pro" panose="020B0503030403020204" pitchFamily="34" charset="0"/>
                <a:ea typeface="Source Sans Pro" panose="020B0503030403020204" pitchFamily="34" charset="0"/>
                <a:cs typeface="+mn-cs"/>
              </a:defRPr>
            </a:lvl3pPr>
            <a:lvl4pPr marL="1600200" indent="-228600" algn="l" rtl="0" eaLnBrk="0" fontAlgn="base" hangingPunct="0">
              <a:spcBef>
                <a:spcPct val="20000"/>
              </a:spcBef>
              <a:spcAft>
                <a:spcPct val="20000"/>
              </a:spcAft>
              <a:buChar char="–"/>
              <a:defRPr sz="2400">
                <a:solidFill>
                  <a:schemeClr val="tx1"/>
                </a:solidFill>
                <a:latin typeface="Source Sans Pro" panose="020B0503030403020204" pitchFamily="34" charset="0"/>
                <a:ea typeface="Source Sans Pro" panose="020B0503030403020204" pitchFamily="34" charset="0"/>
                <a:cs typeface="+mn-cs"/>
              </a:defRPr>
            </a:lvl4pPr>
            <a:lvl5pPr marL="2057400" indent="-228600" algn="l" rtl="0" eaLnBrk="0" fontAlgn="base" hangingPunct="0">
              <a:spcBef>
                <a:spcPct val="20000"/>
              </a:spcBef>
              <a:spcAft>
                <a:spcPct val="20000"/>
              </a:spcAft>
              <a:buChar char="»"/>
              <a:defRPr sz="2400">
                <a:solidFill>
                  <a:schemeClr val="tx1"/>
                </a:solidFill>
                <a:latin typeface="Source Sans Pro" panose="020B0503030403020204" pitchFamily="34" charset="0"/>
                <a:ea typeface="Source Sans Pro" panose="020B0503030403020204" pitchFamily="34" charset="0"/>
                <a:cs typeface="+mn-cs"/>
              </a:defRPr>
            </a:lvl5pPr>
            <a:lvl6pPr marL="2514600" indent="-228600" algn="l" rtl="0" fontAlgn="base">
              <a:spcBef>
                <a:spcPct val="20000"/>
              </a:spcBef>
              <a:spcAft>
                <a:spcPct val="20000"/>
              </a:spcAft>
              <a:buChar char="»"/>
              <a:defRPr sz="2000">
                <a:solidFill>
                  <a:schemeClr val="tx1"/>
                </a:solidFill>
                <a:latin typeface="+mn-lt"/>
                <a:cs typeface="+mn-cs"/>
              </a:defRPr>
            </a:lvl6pPr>
            <a:lvl7pPr marL="2971800" indent="-228600" algn="l" rtl="0" fontAlgn="base">
              <a:spcBef>
                <a:spcPct val="20000"/>
              </a:spcBef>
              <a:spcAft>
                <a:spcPct val="20000"/>
              </a:spcAft>
              <a:buChar char="»"/>
              <a:defRPr sz="2000">
                <a:solidFill>
                  <a:schemeClr val="tx1"/>
                </a:solidFill>
                <a:latin typeface="+mn-lt"/>
                <a:cs typeface="+mn-cs"/>
              </a:defRPr>
            </a:lvl7pPr>
            <a:lvl8pPr marL="3429000" indent="-228600" algn="l" rtl="0" fontAlgn="base">
              <a:spcBef>
                <a:spcPct val="20000"/>
              </a:spcBef>
              <a:spcAft>
                <a:spcPct val="20000"/>
              </a:spcAft>
              <a:buChar char="»"/>
              <a:defRPr sz="2000">
                <a:solidFill>
                  <a:schemeClr val="tx1"/>
                </a:solidFill>
                <a:latin typeface="+mn-lt"/>
                <a:cs typeface="+mn-cs"/>
              </a:defRPr>
            </a:lvl8pPr>
            <a:lvl9pPr marL="3886200" indent="-228600" algn="l" rtl="0" fontAlgn="base">
              <a:spcBef>
                <a:spcPct val="20000"/>
              </a:spcBef>
              <a:spcAft>
                <a:spcPct val="20000"/>
              </a:spcAft>
              <a:buChar char="»"/>
              <a:defRPr sz="2000">
                <a:solidFill>
                  <a:schemeClr val="tx1"/>
                </a:solidFill>
                <a:latin typeface="+mn-lt"/>
                <a:cs typeface="+mn-cs"/>
              </a:defRPr>
            </a:lvl9pPr>
          </a:lstStyle>
          <a:p>
            <a:r>
              <a:rPr lang="en-US" kern="0" dirty="0"/>
              <a:t>4 years of college earns $200k = $20k*10, otherwise earn $100k</a:t>
            </a:r>
          </a:p>
          <a:p>
            <a:r>
              <a:rPr lang="en-US" kern="0" dirty="0"/>
              <a:t>High types will go to school, and low types will not</a:t>
            </a:r>
          </a:p>
          <a:p>
            <a:r>
              <a:rPr lang="en-US" altLang="en-US" kern="0" dirty="0"/>
              <a:t>Education is a signal that people with degree have other abilities too</a:t>
            </a:r>
          </a:p>
          <a:p>
            <a:r>
              <a:rPr lang="en-US" altLang="en-US" kern="0" dirty="0"/>
              <a:t>Important the signal is more costly for the bad types to acquire than the good types</a:t>
            </a:r>
          </a:p>
        </p:txBody>
      </p:sp>
      <p:sp>
        <p:nvSpPr>
          <p:cNvPr id="2" name="5-Point Star 1">
            <a:extLst>
              <a:ext uri="{FF2B5EF4-FFF2-40B4-BE49-F238E27FC236}">
                <a16:creationId xmlns:a16="http://schemas.microsoft.com/office/drawing/2014/main" id="{12B26DD5-F5C9-9BD2-9005-82F9A219CC4B}"/>
              </a:ext>
            </a:extLst>
          </p:cNvPr>
          <p:cNvSpPr/>
          <p:nvPr/>
        </p:nvSpPr>
        <p:spPr>
          <a:xfrm>
            <a:off x="12355651" y="340468"/>
            <a:ext cx="2052537" cy="2023353"/>
          </a:xfrm>
          <a:prstGeom prst="star5">
            <a:avLst/>
          </a:prstGeom>
          <a:solidFill>
            <a:srgbClr val="FFFF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ource Sans Pro" panose="020B0503030403020204" pitchFamily="34" charset="0"/>
                <a:ea typeface="Source Sans Pro" panose="020B0503030403020204" pitchFamily="34" charset="0"/>
              </a:rPr>
              <a:t>Agenda</a:t>
            </a:r>
          </a:p>
        </p:txBody>
      </p:sp>
      <p:sp>
        <p:nvSpPr>
          <p:cNvPr id="5" name="Slide Number Placeholder 4"/>
          <p:cNvSpPr>
            <a:spLocks noGrp="1"/>
          </p:cNvSpPr>
          <p:nvPr>
            <p:ph type="sldNum" sz="quarter" idx="12"/>
          </p:nvPr>
        </p:nvSpPr>
        <p:spPr/>
        <p:txBody>
          <a:bodyPr/>
          <a:lstStyle/>
          <a:p>
            <a:fld id="{601CDD02-EF00-47E2-B6EB-B4DAE4D672DA}" type="slidenum">
              <a:rPr lang="en-US" altLang="en-US" smtClean="0">
                <a:latin typeface="Source Sans Pro" panose="020B0503030403020204" pitchFamily="34" charset="0"/>
                <a:ea typeface="Source Sans Pro" panose="020B0503030403020204" pitchFamily="34" charset="0"/>
              </a:rPr>
              <a:pPr/>
              <a:t>88</a:t>
            </a:fld>
            <a:endParaRPr lang="en-US" altLang="en-US" dirty="0">
              <a:latin typeface="Source Sans Pro" panose="020B0503030403020204" pitchFamily="34" charset="0"/>
              <a:ea typeface="Source Sans Pro" panose="020B0503030403020204" pitchFamily="34" charset="0"/>
            </a:endParaRPr>
          </a:p>
        </p:txBody>
      </p:sp>
      <p:sp>
        <p:nvSpPr>
          <p:cNvPr id="3" name="TextBox 2">
            <a:extLst>
              <a:ext uri="{FF2B5EF4-FFF2-40B4-BE49-F238E27FC236}">
                <a16:creationId xmlns:a16="http://schemas.microsoft.com/office/drawing/2014/main" id="{4AACEB42-1E92-C6E5-F218-EFDCFF2B09BC}"/>
              </a:ext>
            </a:extLst>
          </p:cNvPr>
          <p:cNvSpPr txBox="1"/>
          <p:nvPr/>
        </p:nvSpPr>
        <p:spPr>
          <a:xfrm>
            <a:off x="3135630" y="2882540"/>
            <a:ext cx="4819686"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Price discrimination</a:t>
            </a:r>
          </a:p>
        </p:txBody>
      </p:sp>
      <p:sp>
        <p:nvSpPr>
          <p:cNvPr id="4" name="TextBox 3">
            <a:extLst>
              <a:ext uri="{FF2B5EF4-FFF2-40B4-BE49-F238E27FC236}">
                <a16:creationId xmlns:a16="http://schemas.microsoft.com/office/drawing/2014/main" id="{2AC80C26-B96D-CF0F-234E-1F1E85EC6644}"/>
              </a:ext>
            </a:extLst>
          </p:cNvPr>
          <p:cNvSpPr txBox="1"/>
          <p:nvPr/>
        </p:nvSpPr>
        <p:spPr>
          <a:xfrm>
            <a:off x="3135630" y="1462806"/>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Revenue maximization</a:t>
            </a:r>
          </a:p>
        </p:txBody>
      </p:sp>
      <p:sp>
        <p:nvSpPr>
          <p:cNvPr id="6" name="TextBox 5">
            <a:extLst>
              <a:ext uri="{FF2B5EF4-FFF2-40B4-BE49-F238E27FC236}">
                <a16:creationId xmlns:a16="http://schemas.microsoft.com/office/drawing/2014/main" id="{26437112-ECCB-310C-41AA-69473E92253B}"/>
              </a:ext>
            </a:extLst>
          </p:cNvPr>
          <p:cNvSpPr txBox="1"/>
          <p:nvPr/>
        </p:nvSpPr>
        <p:spPr>
          <a:xfrm>
            <a:off x="3135630" y="2172673"/>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Monopoly pricing</a:t>
            </a:r>
          </a:p>
        </p:txBody>
      </p:sp>
      <p:sp>
        <p:nvSpPr>
          <p:cNvPr id="7" name="TextBox 6">
            <a:extLst>
              <a:ext uri="{FF2B5EF4-FFF2-40B4-BE49-F238E27FC236}">
                <a16:creationId xmlns:a16="http://schemas.microsoft.com/office/drawing/2014/main" id="{0959720D-2366-0CEB-292A-2B7CEEAEE2C1}"/>
              </a:ext>
            </a:extLst>
          </p:cNvPr>
          <p:cNvSpPr txBox="1"/>
          <p:nvPr/>
        </p:nvSpPr>
        <p:spPr>
          <a:xfrm>
            <a:off x="3135630" y="5722005"/>
            <a:ext cx="4819686" cy="523220"/>
          </a:xfrm>
          <a:prstGeom prst="rect">
            <a:avLst/>
          </a:prstGeom>
          <a:solidFill>
            <a:srgbClr val="67C8C7"/>
          </a:solidFill>
          <a:ln>
            <a:solidFill>
              <a:srgbClr val="67C8C7"/>
            </a:solidFill>
          </a:ln>
        </p:spPr>
        <p:txBody>
          <a:bodyPr wrap="square" rtlCol="0">
            <a:spAutoFit/>
          </a:bodyPr>
          <a:lstStyle/>
          <a:p>
            <a:pPr marL="285750" indent="-285750">
              <a:buFont typeface="Arial" panose="020B0604020202020204" pitchFamily="34" charset="0"/>
              <a:buChar char="•"/>
            </a:pPr>
            <a:r>
              <a:rPr lang="en-US" sz="2800" b="1" dirty="0">
                <a:solidFill>
                  <a:schemeClr val="bg1"/>
                </a:solidFill>
                <a:latin typeface="Source Sans Pro" panose="020B0503030403020204" pitchFamily="34" charset="0"/>
                <a:ea typeface="Source Sans Pro" panose="020B0503030403020204" pitchFamily="34" charset="0"/>
              </a:rPr>
              <a:t>American Airlines case</a:t>
            </a:r>
          </a:p>
        </p:txBody>
      </p:sp>
      <p:sp>
        <p:nvSpPr>
          <p:cNvPr id="14" name="TextBox 13">
            <a:extLst>
              <a:ext uri="{FF2B5EF4-FFF2-40B4-BE49-F238E27FC236}">
                <a16:creationId xmlns:a16="http://schemas.microsoft.com/office/drawing/2014/main" id="{7DB46F81-D5E6-5C36-7A2E-72F496392A9D}"/>
              </a:ext>
            </a:extLst>
          </p:cNvPr>
          <p:cNvSpPr txBox="1"/>
          <p:nvPr/>
        </p:nvSpPr>
        <p:spPr>
          <a:xfrm>
            <a:off x="3135630" y="3592407"/>
            <a:ext cx="4819686" cy="523220"/>
          </a:xfrm>
          <a:prstGeom prst="rect">
            <a:avLst/>
          </a:prstGeom>
          <a:solidFill>
            <a:schemeClr val="bg1"/>
          </a:solidFill>
          <a:ln>
            <a:solidFill>
              <a:schemeClr val="bg1"/>
            </a:solid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Two-part tariffs</a:t>
            </a:r>
          </a:p>
        </p:txBody>
      </p:sp>
      <p:sp>
        <p:nvSpPr>
          <p:cNvPr id="15" name="TextBox 14">
            <a:extLst>
              <a:ext uri="{FF2B5EF4-FFF2-40B4-BE49-F238E27FC236}">
                <a16:creationId xmlns:a16="http://schemas.microsoft.com/office/drawing/2014/main" id="{C4DE856A-555F-0D90-7F0C-42C64C29DA95}"/>
              </a:ext>
            </a:extLst>
          </p:cNvPr>
          <p:cNvSpPr txBox="1"/>
          <p:nvPr/>
        </p:nvSpPr>
        <p:spPr>
          <a:xfrm>
            <a:off x="3135630" y="4302274"/>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Bundling</a:t>
            </a:r>
          </a:p>
        </p:txBody>
      </p:sp>
      <p:sp>
        <p:nvSpPr>
          <p:cNvPr id="16" name="TextBox 15">
            <a:extLst>
              <a:ext uri="{FF2B5EF4-FFF2-40B4-BE49-F238E27FC236}">
                <a16:creationId xmlns:a16="http://schemas.microsoft.com/office/drawing/2014/main" id="{544C06B9-E73A-818D-71F7-BE874EDC5A04}"/>
              </a:ext>
            </a:extLst>
          </p:cNvPr>
          <p:cNvSpPr txBox="1"/>
          <p:nvPr/>
        </p:nvSpPr>
        <p:spPr>
          <a:xfrm>
            <a:off x="3135630" y="5012141"/>
            <a:ext cx="4819686" cy="523220"/>
          </a:xfrm>
          <a:prstGeom prst="rect">
            <a:avLst/>
          </a:prstGeom>
          <a:noFill/>
          <a:ln>
            <a:noFill/>
          </a:ln>
        </p:spPr>
        <p:txBody>
          <a:bodyPr wrap="square" rtlCol="0">
            <a:spAutoFit/>
          </a:bodyPr>
          <a:lstStyle/>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Adverse selection</a:t>
            </a:r>
          </a:p>
        </p:txBody>
      </p:sp>
    </p:spTree>
    <p:extLst>
      <p:ext uri="{BB962C8B-B14F-4D97-AF65-F5344CB8AC3E}">
        <p14:creationId xmlns:p14="http://schemas.microsoft.com/office/powerpoint/2010/main" val="21191353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Price discrimination</a:t>
            </a:r>
          </a:p>
        </p:txBody>
      </p:sp>
      <p:sp>
        <p:nvSpPr>
          <p:cNvPr id="4" name="Slide Number Placeholder 3"/>
          <p:cNvSpPr>
            <a:spLocks noGrp="1"/>
          </p:cNvSpPr>
          <p:nvPr>
            <p:ph type="sldNum" sz="quarter" idx="12"/>
          </p:nvPr>
        </p:nvSpPr>
        <p:spPr/>
        <p:txBody>
          <a:bodyPr/>
          <a:lstStyle/>
          <a:p>
            <a:fld id="{3F53B34B-B4A8-48C6-AF30-3F676D82174D}" type="slidenum">
              <a:rPr lang="en-US" altLang="en-US" smtClean="0"/>
              <a:pPr/>
              <a:t>89</a:t>
            </a:fld>
            <a:endParaRPr lang="en-US" altLang="en-US" dirty="0"/>
          </a:p>
        </p:txBody>
      </p:sp>
      <p:sp>
        <p:nvSpPr>
          <p:cNvPr id="5" name="AutoShape 3"/>
          <p:cNvSpPr>
            <a:spLocks noChangeArrowheads="1"/>
          </p:cNvSpPr>
          <p:nvPr/>
        </p:nvSpPr>
        <p:spPr bwMode="auto">
          <a:xfrm>
            <a:off x="2209193" y="1503125"/>
            <a:ext cx="7712061" cy="3808021"/>
          </a:xfrm>
          <a:prstGeom prst="plaque">
            <a:avLst>
              <a:gd name="adj"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286" tIns="46643" rIns="93286" bIns="46643" anchor="ctr"/>
          <a:lstStyle/>
          <a:p>
            <a:pPr algn="ctr"/>
            <a:r>
              <a:rPr lang="en-US" sz="3200" dirty="0">
                <a:latin typeface="Source Sans Pro" panose="020B0503030403020204" pitchFamily="34" charset="0"/>
                <a:ea typeface="Source Sans Pro" panose="020B0503030403020204" pitchFamily="34" charset="0"/>
              </a:rPr>
              <a:t>What kind of price discrimination is this case about?</a:t>
            </a:r>
            <a:endParaRPr lang="en-US" sz="29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3612614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spAutoFit/>
          </a:bodyPr>
          <a:lstStyle/>
          <a:p>
            <a:pPr algn="l"/>
            <a:r>
              <a:rPr lang="en-US" dirty="0"/>
              <a:t>Discussion question </a:t>
            </a:r>
          </a:p>
        </p:txBody>
      </p:sp>
      <p:sp>
        <p:nvSpPr>
          <p:cNvPr id="3" name="Slide Number Placeholder 2"/>
          <p:cNvSpPr>
            <a:spLocks noGrp="1"/>
          </p:cNvSpPr>
          <p:nvPr>
            <p:ph type="sldNum" sz="quarter" idx="12"/>
          </p:nvPr>
        </p:nvSpPr>
        <p:spPr/>
        <p:txBody>
          <a:bodyPr/>
          <a:lstStyle/>
          <a:p>
            <a:fld id="{1476CBCF-9ECF-4742-B740-633AE91593AD}" type="slidenum">
              <a:rPr lang="en-US" smtClean="0"/>
              <a:t>90</a:t>
            </a:fld>
            <a:endParaRPr lang="en-US" dirty="0"/>
          </a:p>
        </p:txBody>
      </p:sp>
      <p:sp>
        <p:nvSpPr>
          <p:cNvPr id="169987" name="AutoShape 3"/>
          <p:cNvSpPr>
            <a:spLocks noChangeArrowheads="1"/>
          </p:cNvSpPr>
          <p:nvPr/>
        </p:nvSpPr>
        <p:spPr bwMode="auto">
          <a:xfrm>
            <a:off x="2209193" y="1503125"/>
            <a:ext cx="7712061" cy="3808021"/>
          </a:xfrm>
          <a:prstGeom prst="plaque">
            <a:avLst>
              <a:gd name="adj"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286" tIns="46643" rIns="93286" bIns="46643" anchor="ctr"/>
          <a:lstStyle/>
          <a:p>
            <a:pPr algn="ctr"/>
            <a:r>
              <a:rPr lang="en-US" sz="3200" dirty="0">
                <a:latin typeface="Source Sans Pro" panose="020B0503030403020204" pitchFamily="34" charset="0"/>
                <a:ea typeface="Source Sans Pro" panose="020B0503030403020204" pitchFamily="34" charset="0"/>
              </a:rPr>
              <a:t>How are pricing, customer relationships, and route structure both strategic (big-picture) and tactical (detailed) decisions for American?</a:t>
            </a:r>
            <a:endParaRPr lang="en-US" sz="29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993898098"/>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spAutoFit/>
          </a:bodyPr>
          <a:lstStyle/>
          <a:p>
            <a:pPr algn="l"/>
            <a:r>
              <a:rPr lang="en-US" sz="3600" dirty="0"/>
              <a:t>Discussion question </a:t>
            </a:r>
          </a:p>
        </p:txBody>
      </p:sp>
      <p:sp>
        <p:nvSpPr>
          <p:cNvPr id="3" name="Slide Number Placeholder 2"/>
          <p:cNvSpPr>
            <a:spLocks noGrp="1"/>
          </p:cNvSpPr>
          <p:nvPr>
            <p:ph type="sldNum" sz="quarter" idx="12"/>
          </p:nvPr>
        </p:nvSpPr>
        <p:spPr/>
        <p:txBody>
          <a:bodyPr/>
          <a:lstStyle/>
          <a:p>
            <a:fld id="{1476CBCF-9ECF-4742-B740-633AE91593AD}" type="slidenum">
              <a:rPr lang="en-US" smtClean="0"/>
              <a:t>91</a:t>
            </a:fld>
            <a:endParaRPr lang="en-US" dirty="0"/>
          </a:p>
        </p:txBody>
      </p:sp>
      <p:sp>
        <p:nvSpPr>
          <p:cNvPr id="169987" name="AutoShape 3"/>
          <p:cNvSpPr>
            <a:spLocks noChangeArrowheads="1"/>
          </p:cNvSpPr>
          <p:nvPr/>
        </p:nvSpPr>
        <p:spPr bwMode="auto">
          <a:xfrm>
            <a:off x="2209193" y="1503125"/>
            <a:ext cx="7712061" cy="3808021"/>
          </a:xfrm>
          <a:prstGeom prst="plaque">
            <a:avLst>
              <a:gd name="adj"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286" tIns="46643" rIns="93286" bIns="46643" anchor="ctr"/>
          <a:lstStyle/>
          <a:p>
            <a:pPr algn="ctr"/>
            <a:r>
              <a:rPr lang="en-US" sz="3200" dirty="0">
                <a:latin typeface="Source Sans Pro" panose="020B0503030403020204" pitchFamily="34" charset="0"/>
              </a:rPr>
              <a:t>Refer to the discussion of the Chicago-West Coast pricing decision in the case: Should American counter Continental's $159 fare with a relatively unrestricted discount fare on the nonstop Chicago-West Coast flights?</a:t>
            </a:r>
            <a:endParaRPr lang="en-US" sz="2900" dirty="0">
              <a:latin typeface="Source Sans Pro" panose="020B0503030403020204" pitchFamily="34" charset="0"/>
            </a:endParaRPr>
          </a:p>
        </p:txBody>
      </p:sp>
    </p:spTree>
    <p:extLst>
      <p:ext uri="{BB962C8B-B14F-4D97-AF65-F5344CB8AC3E}">
        <p14:creationId xmlns:p14="http://schemas.microsoft.com/office/powerpoint/2010/main" val="201084614"/>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spAutoFit/>
          </a:bodyPr>
          <a:lstStyle/>
          <a:p>
            <a:pPr algn="l"/>
            <a:r>
              <a:rPr lang="en-US" sz="3600" dirty="0"/>
              <a:t>Discussion question </a:t>
            </a:r>
          </a:p>
        </p:txBody>
      </p:sp>
      <p:sp>
        <p:nvSpPr>
          <p:cNvPr id="3" name="Slide Number Placeholder 2"/>
          <p:cNvSpPr>
            <a:spLocks noGrp="1"/>
          </p:cNvSpPr>
          <p:nvPr>
            <p:ph type="sldNum" sz="quarter" idx="12"/>
          </p:nvPr>
        </p:nvSpPr>
        <p:spPr/>
        <p:txBody>
          <a:bodyPr/>
          <a:lstStyle/>
          <a:p>
            <a:fld id="{1476CBCF-9ECF-4742-B740-633AE91593AD}" type="slidenum">
              <a:rPr lang="en-US" smtClean="0"/>
              <a:t>92</a:t>
            </a:fld>
            <a:endParaRPr lang="en-US" dirty="0"/>
          </a:p>
        </p:txBody>
      </p:sp>
      <p:sp>
        <p:nvSpPr>
          <p:cNvPr id="169987" name="AutoShape 3"/>
          <p:cNvSpPr>
            <a:spLocks noChangeArrowheads="1"/>
          </p:cNvSpPr>
          <p:nvPr/>
        </p:nvSpPr>
        <p:spPr bwMode="auto">
          <a:xfrm>
            <a:off x="2209193" y="1503125"/>
            <a:ext cx="7712061" cy="3808021"/>
          </a:xfrm>
          <a:prstGeom prst="plaque">
            <a:avLst>
              <a:gd name="adj"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286" tIns="46643" rIns="93286" bIns="46643" anchor="ctr"/>
          <a:lstStyle/>
          <a:p>
            <a:pPr algn="ctr"/>
            <a:r>
              <a:rPr lang="en-US" sz="3200" dirty="0">
                <a:latin typeface="Source Sans Pro" panose="020B0503030403020204" pitchFamily="34" charset="0"/>
              </a:rPr>
              <a:t>Refer to the discussion of the New York-San Juan pricing decision in the case. What additional information should Doug </a:t>
            </a:r>
            <a:r>
              <a:rPr lang="en-US" sz="3200" dirty="0" err="1">
                <a:latin typeface="Source Sans Pro" panose="020B0503030403020204" pitchFamily="34" charset="0"/>
              </a:rPr>
              <a:t>Santoni</a:t>
            </a:r>
            <a:r>
              <a:rPr lang="en-US" sz="3200" dirty="0">
                <a:latin typeface="Source Sans Pro" panose="020B0503030403020204" pitchFamily="34" charset="0"/>
              </a:rPr>
              <a:t> collect to decide on a response to </a:t>
            </a:r>
            <a:r>
              <a:rPr lang="en-US" sz="3200" dirty="0" err="1">
                <a:latin typeface="Source Sans Pro" panose="020B0503030403020204" pitchFamily="34" charset="0"/>
              </a:rPr>
              <a:t>Eastern's</a:t>
            </a:r>
            <a:r>
              <a:rPr lang="en-US" sz="3200" dirty="0">
                <a:latin typeface="Source Sans Pro" panose="020B0503030403020204" pitchFamily="34" charset="0"/>
              </a:rPr>
              <a:t> pricing initiative?</a:t>
            </a:r>
            <a:endParaRPr lang="en-US" sz="2900" dirty="0">
              <a:latin typeface="Source Sans Pro" panose="020B0503030403020204" pitchFamily="34" charset="0"/>
            </a:endParaRPr>
          </a:p>
        </p:txBody>
      </p:sp>
    </p:spTree>
    <p:extLst>
      <p:ext uri="{BB962C8B-B14F-4D97-AF65-F5344CB8AC3E}">
        <p14:creationId xmlns:p14="http://schemas.microsoft.com/office/powerpoint/2010/main" val="1648079591"/>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spAutoFit/>
          </a:bodyPr>
          <a:lstStyle/>
          <a:p>
            <a:pPr algn="l"/>
            <a:r>
              <a:rPr lang="en-US" sz="3600" dirty="0"/>
              <a:t>Discussion question </a:t>
            </a:r>
          </a:p>
        </p:txBody>
      </p:sp>
      <p:sp>
        <p:nvSpPr>
          <p:cNvPr id="3" name="Slide Number Placeholder 2"/>
          <p:cNvSpPr>
            <a:spLocks noGrp="1"/>
          </p:cNvSpPr>
          <p:nvPr>
            <p:ph type="sldNum" sz="quarter" idx="12"/>
          </p:nvPr>
        </p:nvSpPr>
        <p:spPr/>
        <p:txBody>
          <a:bodyPr/>
          <a:lstStyle/>
          <a:p>
            <a:fld id="{1476CBCF-9ECF-4742-B740-633AE91593AD}" type="slidenum">
              <a:rPr lang="en-US" smtClean="0"/>
              <a:t>93</a:t>
            </a:fld>
            <a:endParaRPr lang="en-US" dirty="0"/>
          </a:p>
        </p:txBody>
      </p:sp>
      <p:sp>
        <p:nvSpPr>
          <p:cNvPr id="169987" name="AutoShape 3"/>
          <p:cNvSpPr>
            <a:spLocks noChangeArrowheads="1"/>
          </p:cNvSpPr>
          <p:nvPr/>
        </p:nvSpPr>
        <p:spPr bwMode="auto">
          <a:xfrm>
            <a:off x="2209193" y="1503125"/>
            <a:ext cx="7712061" cy="3808021"/>
          </a:xfrm>
          <a:prstGeom prst="plaque">
            <a:avLst>
              <a:gd name="adj"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286" tIns="46643" rIns="93286" bIns="46643" anchor="ctr"/>
          <a:lstStyle/>
          <a:p>
            <a:pPr algn="ctr"/>
            <a:r>
              <a:rPr lang="en-US" sz="2400" dirty="0">
                <a:latin typeface="Source Sans Pro" panose="020B0503030403020204" pitchFamily="34" charset="0"/>
              </a:rPr>
              <a:t>Consider the example on p. 6 of the case. An aircraft has 100 seats, and there are two types of fares: full ($499) and discount ($99). While there is unlimited demand for discount fares, demand for full fares is estimated to be anywhere between 10 and 30. How many seats should be protected for full-fare passengers? (In particular, how would you go about determining the answer?)</a:t>
            </a:r>
          </a:p>
        </p:txBody>
      </p:sp>
    </p:spTree>
    <p:extLst>
      <p:ext uri="{BB962C8B-B14F-4D97-AF65-F5344CB8AC3E}">
        <p14:creationId xmlns:p14="http://schemas.microsoft.com/office/powerpoint/2010/main" val="373162362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RESIZE" val="Yes"/>
</p:tagLst>
</file>

<file path=ppt/tags/tag2.xml><?xml version="1.0" encoding="utf-8"?>
<p:tagLst xmlns:a="http://schemas.openxmlformats.org/drawingml/2006/main" xmlns:r="http://schemas.openxmlformats.org/officeDocument/2006/relationships" xmlns:p="http://schemas.openxmlformats.org/presentationml/2006/main">
  <p:tag name="RESIZE" val="Yes"/>
</p:tagLst>
</file>

<file path=ppt/tags/tag3.xml><?xml version="1.0" encoding="utf-8"?>
<p:tagLst xmlns:a="http://schemas.openxmlformats.org/drawingml/2006/main" xmlns:r="http://schemas.openxmlformats.org/officeDocument/2006/relationships" xmlns:p="http://schemas.openxmlformats.org/presentationml/2006/main">
  <p:tag name="RESIZE" val="Yes"/>
</p:tagLst>
</file>

<file path=ppt/tags/tag4.xml><?xml version="1.0" encoding="utf-8"?>
<p:tagLst xmlns:a="http://schemas.openxmlformats.org/drawingml/2006/main" xmlns:r="http://schemas.openxmlformats.org/officeDocument/2006/relationships" xmlns:p="http://schemas.openxmlformats.org/presentationml/2006/main">
  <p:tag name="RESIZE" val="Yes"/>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4890</TotalTime>
  <Words>7013</Words>
  <Application>Microsoft Office PowerPoint</Application>
  <PresentationFormat>Widescreen</PresentationFormat>
  <Paragraphs>1039</Paragraphs>
  <Slides>93</Slides>
  <Notes>13</Notes>
  <HiddenSlides>12</HiddenSlides>
  <MMClips>0</MMClip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Default Design</vt:lpstr>
      <vt:lpstr>Revenue maximization, monopoly pricing, price discrimination, bundling, two-part tariffs &amp; adverse selection</vt:lpstr>
      <vt:lpstr>Practical application</vt:lpstr>
      <vt:lpstr>Agenda</vt:lpstr>
      <vt:lpstr>Revenue and marginal revenue</vt:lpstr>
      <vt:lpstr>Revenue and demand</vt:lpstr>
      <vt:lpstr>Revenue and demand</vt:lpstr>
      <vt:lpstr>Change in revenue</vt:lpstr>
      <vt:lpstr>Marginal revenue</vt:lpstr>
      <vt:lpstr>Understanding marginal revenue</vt:lpstr>
      <vt:lpstr>Marginal revenue: Example</vt:lpstr>
      <vt:lpstr>MR and revenue maximization</vt:lpstr>
      <vt:lpstr>MR and revenue: Example</vt:lpstr>
      <vt:lpstr>MR and revenue: Example</vt:lpstr>
      <vt:lpstr>MR and revenue: Example</vt:lpstr>
      <vt:lpstr>Elasticity and revenue</vt:lpstr>
      <vt:lpstr>Elasticity and revenue</vt:lpstr>
      <vt:lpstr>Elasticity and revenue: Example</vt:lpstr>
      <vt:lpstr>The algebra ...</vt:lpstr>
      <vt:lpstr>Example: The eclipse</vt:lpstr>
      <vt:lpstr>Agenda</vt:lpstr>
      <vt:lpstr>Focus on monopolies</vt:lpstr>
      <vt:lpstr>Monopoly pricing</vt:lpstr>
      <vt:lpstr>Monopoly revenue maximization example</vt:lpstr>
      <vt:lpstr>Review of monopoly pricing</vt:lpstr>
      <vt:lpstr>Charging different prices</vt:lpstr>
      <vt:lpstr>Agenda</vt:lpstr>
      <vt:lpstr>Price discrimination</vt:lpstr>
      <vt:lpstr>Price discrimination</vt:lpstr>
      <vt:lpstr>Price discrimination</vt:lpstr>
      <vt:lpstr>Price discrimination?</vt:lpstr>
      <vt:lpstr>Three requirements for price discrimination</vt:lpstr>
      <vt:lpstr>Differences in pricing strategies</vt:lpstr>
      <vt:lpstr>Legal issues with discrimination</vt:lpstr>
      <vt:lpstr>Three types of price discrimination</vt:lpstr>
      <vt:lpstr>Types of price discrimination</vt:lpstr>
      <vt:lpstr> 1st degree price discrimination is perfect insight</vt:lpstr>
      <vt:lpstr>Two key properties of 1st degree price discrimination</vt:lpstr>
      <vt:lpstr>Example: Colleges and financial aid </vt:lpstr>
      <vt:lpstr>Example: Online targeting</vt:lpstr>
      <vt:lpstr>Third-degree price discrimination</vt:lpstr>
      <vt:lpstr>3rd degree price discrimination examples</vt:lpstr>
      <vt:lpstr>Example: Pricing Greek yogurt!</vt:lpstr>
      <vt:lpstr>Example: Movie prices at Tivoli</vt:lpstr>
      <vt:lpstr>Example: Tivoli</vt:lpstr>
      <vt:lpstr>Second-degree price discrimination</vt:lpstr>
      <vt:lpstr>Second-degree price discrimination</vt:lpstr>
      <vt:lpstr>Implementing 2nd degree price discrimination</vt:lpstr>
      <vt:lpstr>Example: Cell phone</vt:lpstr>
      <vt:lpstr>Example: Cell phone</vt:lpstr>
      <vt:lpstr>Example: Cell phone</vt:lpstr>
      <vt:lpstr>Example: Cell phone</vt:lpstr>
      <vt:lpstr>Example: Cell phone</vt:lpstr>
      <vt:lpstr>Example: Broadway ticket prices</vt:lpstr>
      <vt:lpstr>Examples of behavioral biases: Pricing</vt:lpstr>
      <vt:lpstr>Agenda</vt:lpstr>
      <vt:lpstr>Price discrimination extension: Two-part tariffs</vt:lpstr>
      <vt:lpstr>How should the fee and price be set?</vt:lpstr>
      <vt:lpstr>Consumer surplus</vt:lpstr>
      <vt:lpstr>How should the fee and price be set more generally?</vt:lpstr>
      <vt:lpstr>Extended example: Buying the TCSB</vt:lpstr>
      <vt:lpstr>Buying the TCSB: Customers</vt:lpstr>
      <vt:lpstr>Buying the TCSB: Demand curves</vt:lpstr>
      <vt:lpstr>Buying the TCSB: Price discrimination</vt:lpstr>
      <vt:lpstr>Buying the TCSB: Membership fee</vt:lpstr>
      <vt:lpstr>Buying the TCSB: Capture CS</vt:lpstr>
      <vt:lpstr>Agenda</vt:lpstr>
      <vt:lpstr>Bundling</vt:lpstr>
      <vt:lpstr>Bundling</vt:lpstr>
      <vt:lpstr>Bundling: Negative correlation</vt:lpstr>
      <vt:lpstr>Bundling: Positive correlation</vt:lpstr>
      <vt:lpstr>Other reasons for bundling</vt:lpstr>
      <vt:lpstr>Practices related to bundling</vt:lpstr>
      <vt:lpstr>Pricing strategy summary</vt:lpstr>
      <vt:lpstr>Agenda</vt:lpstr>
      <vt:lpstr>Asymmetric information</vt:lpstr>
      <vt:lpstr>Quality uncertainty and the market for lemons</vt:lpstr>
      <vt:lpstr>The market for lemons</vt:lpstr>
      <vt:lpstr>Example: Health insurance</vt:lpstr>
      <vt:lpstr>Example: Health insurance</vt:lpstr>
      <vt:lpstr>Signaling</vt:lpstr>
      <vt:lpstr>Methods to signal quality</vt:lpstr>
      <vt:lpstr>Warranties in the lemons market</vt:lpstr>
      <vt:lpstr>Warranties in the lemons market</vt:lpstr>
      <vt:lpstr>Warranties in the lemons market</vt:lpstr>
      <vt:lpstr>A worker signaling model</vt:lpstr>
      <vt:lpstr>A worker signaling model</vt:lpstr>
      <vt:lpstr>A worker signaling model</vt:lpstr>
      <vt:lpstr>Agenda</vt:lpstr>
      <vt:lpstr>Price discrimination</vt:lpstr>
      <vt:lpstr>Discussion question </vt:lpstr>
      <vt:lpstr>Discussion question </vt:lpstr>
      <vt:lpstr>Discussion question </vt:lpstr>
      <vt:lpstr>Discussion question </vt:lpstr>
    </vt:vector>
  </TitlesOfParts>
  <Company>Washington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 5404: Managerial Economics I</dc:title>
  <dc:creator>mcmanus</dc:creator>
  <cp:lastModifiedBy>Mobile User</cp:lastModifiedBy>
  <cp:revision>608</cp:revision>
  <dcterms:created xsi:type="dcterms:W3CDTF">2005-05-16T01:18:25Z</dcterms:created>
  <dcterms:modified xsi:type="dcterms:W3CDTF">2025-02-15T00:08:22Z</dcterms:modified>
</cp:coreProperties>
</file>