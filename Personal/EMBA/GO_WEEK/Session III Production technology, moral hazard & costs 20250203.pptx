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handoutMasterIdLst>
    <p:handoutMasterId r:id="rId89"/>
  </p:handoutMasterIdLst>
  <p:sldIdLst>
    <p:sldId id="288" r:id="rId2"/>
    <p:sldId id="304" r:id="rId3"/>
    <p:sldId id="289" r:id="rId4"/>
    <p:sldId id="257" r:id="rId5"/>
    <p:sldId id="265" r:id="rId6"/>
    <p:sldId id="266" r:id="rId7"/>
    <p:sldId id="267" r:id="rId8"/>
    <p:sldId id="294" r:id="rId9"/>
    <p:sldId id="268" r:id="rId10"/>
    <p:sldId id="269" r:id="rId11"/>
    <p:sldId id="270" r:id="rId12"/>
    <p:sldId id="271" r:id="rId13"/>
    <p:sldId id="272" r:id="rId14"/>
    <p:sldId id="292" r:id="rId15"/>
    <p:sldId id="290" r:id="rId16"/>
    <p:sldId id="273" r:id="rId17"/>
    <p:sldId id="438" r:id="rId18"/>
    <p:sldId id="274" r:id="rId19"/>
    <p:sldId id="276" r:id="rId20"/>
    <p:sldId id="275" r:id="rId21"/>
    <p:sldId id="277" r:id="rId22"/>
    <p:sldId id="301" r:id="rId23"/>
    <p:sldId id="278" r:id="rId24"/>
    <p:sldId id="279" r:id="rId25"/>
    <p:sldId id="280" r:id="rId26"/>
    <p:sldId id="295" r:id="rId27"/>
    <p:sldId id="296" r:id="rId28"/>
    <p:sldId id="297" r:id="rId29"/>
    <p:sldId id="298" r:id="rId30"/>
    <p:sldId id="299" r:id="rId31"/>
    <p:sldId id="302" r:id="rId32"/>
    <p:sldId id="281" r:id="rId33"/>
    <p:sldId id="303" r:id="rId34"/>
    <p:sldId id="350" r:id="rId35"/>
    <p:sldId id="388" r:id="rId36"/>
    <p:sldId id="410" r:id="rId37"/>
    <p:sldId id="434" r:id="rId38"/>
    <p:sldId id="435" r:id="rId39"/>
    <p:sldId id="282" r:id="rId40"/>
    <p:sldId id="432" r:id="rId41"/>
    <p:sldId id="305" r:id="rId42"/>
    <p:sldId id="306" r:id="rId43"/>
    <p:sldId id="43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437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9" r:id="rId87"/>
  </p:sldIdLst>
  <p:sldSz cx="12192000" cy="6858000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5F27"/>
    <a:srgbClr val="789B4A"/>
    <a:srgbClr val="C8C8C8"/>
    <a:srgbClr val="007360"/>
    <a:srgbClr val="A51417"/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51" autoAdjust="0"/>
    <p:restoredTop sz="96283"/>
  </p:normalViewPr>
  <p:slideViewPr>
    <p:cSldViewPr snapToGrid="0">
      <p:cViewPr varScale="1">
        <p:scale>
          <a:sx n="132" d="100"/>
          <a:sy n="132" d="100"/>
        </p:scale>
        <p:origin x="1648" y="1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80"/>
    </p:cViewPr>
  </p:sorterViewPr>
  <p:notesViewPr>
    <p:cSldViewPr snapToGrid="0">
      <p:cViewPr varScale="1">
        <p:scale>
          <a:sx n="79" d="100"/>
          <a:sy n="79" d="100"/>
        </p:scale>
        <p:origin x="-1380" y="-102"/>
      </p:cViewPr>
      <p:guideLst>
        <p:guide orient="horz" pos="2928"/>
        <p:guide pos="2160"/>
      </p:guideLst>
    </p:cSldViewPr>
  </p:notesViewPr>
  <p:gridSpacing cx="75895" cy="7589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rn, John" userId="231099543_tp_box_2" providerId="OAuth2" clId="{EADD768D-782C-B942-9B14-75002C3725DC}"/>
    <pc:docChg chg="custSel modSld">
      <pc:chgData name="Horn, John" userId="231099543_tp_box_2" providerId="OAuth2" clId="{EADD768D-782C-B942-9B14-75002C3725DC}" dt="2023-02-26T00:51:33.377" v="2"/>
      <pc:docMkLst>
        <pc:docMk/>
      </pc:docMkLst>
      <pc:sldChg chg="addSp delSp modSp mod modAnim">
        <pc:chgData name="Horn, John" userId="231099543_tp_box_2" providerId="OAuth2" clId="{EADD768D-782C-B942-9B14-75002C3725DC}" dt="2023-02-26T00:51:33.377" v="2"/>
        <pc:sldMkLst>
          <pc:docMk/>
          <pc:sldMk cId="0" sldId="266"/>
        </pc:sldMkLst>
        <pc:spChg chg="add del mod">
          <ac:chgData name="Horn, John" userId="231099543_tp_box_2" providerId="OAuth2" clId="{EADD768D-782C-B942-9B14-75002C3725DC}" dt="2023-02-26T00:51:26.893" v="1" actId="478"/>
          <ac:spMkLst>
            <pc:docMk/>
            <pc:sldMk cId="0" sldId="266"/>
            <ac:spMk id="2" creationId="{FEE47BB7-5A27-7137-4965-ABEE7090BC4D}"/>
          </ac:spMkLst>
        </pc:spChg>
      </pc:sldChg>
    </pc:docChg>
  </pc:docChgLst>
  <pc:docChgLst>
    <pc:chgData name="Horn, John" userId="231099543_tp_box_2" providerId="OAuth2" clId="{DF8DEACB-C8AD-4D40-9B25-5815E0100E2B}"/>
    <pc:docChg chg="addSld modSld">
      <pc:chgData name="Horn, John" userId="231099543_tp_box_2" providerId="OAuth2" clId="{DF8DEACB-C8AD-4D40-9B25-5815E0100E2B}" dt="2023-01-14T03:17:21.963" v="0"/>
      <pc:docMkLst>
        <pc:docMk/>
      </pc:docMkLst>
      <pc:sldChg chg="add">
        <pc:chgData name="Horn, John" userId="231099543_tp_box_2" providerId="OAuth2" clId="{DF8DEACB-C8AD-4D40-9B25-5815E0100E2B}" dt="2023-01-14T03:17:21.963" v="0"/>
        <pc:sldMkLst>
          <pc:docMk/>
          <pc:sldMk cId="449379686" sldId="301"/>
        </pc:sldMkLst>
      </pc:sldChg>
    </pc:docChg>
  </pc:docChgLst>
  <pc:docChgLst>
    <pc:chgData name="Horn, John" userId="231099543_tp_box_2" providerId="OAuth2" clId="{840A5592-B9F3-3045-A142-9E49FC16F4A8}"/>
    <pc:docChg chg="modSld">
      <pc:chgData name="Horn, John" userId="231099543_tp_box_2" providerId="OAuth2" clId="{840A5592-B9F3-3045-A142-9E49FC16F4A8}" dt="2023-02-26T01:56:55.467" v="4" actId="255"/>
      <pc:docMkLst>
        <pc:docMk/>
      </pc:docMkLst>
      <pc:sldChg chg="modSp mod">
        <pc:chgData name="Horn, John" userId="231099543_tp_box_2" providerId="OAuth2" clId="{840A5592-B9F3-3045-A142-9E49FC16F4A8}" dt="2023-02-26T01:56:35.599" v="0" actId="255"/>
        <pc:sldMkLst>
          <pc:docMk/>
          <pc:sldMk cId="207010718" sldId="346"/>
        </pc:sldMkLst>
        <pc:spChg chg="mod">
          <ac:chgData name="Horn, John" userId="231099543_tp_box_2" providerId="OAuth2" clId="{840A5592-B9F3-3045-A142-9E49FC16F4A8}" dt="2023-02-26T01:56:35.599" v="0" actId="255"/>
          <ac:spMkLst>
            <pc:docMk/>
            <pc:sldMk cId="207010718" sldId="346"/>
            <ac:spMk id="268291" creationId="{00000000-0000-0000-0000-000000000000}"/>
          </ac:spMkLst>
        </pc:spChg>
      </pc:sldChg>
      <pc:sldChg chg="modSp mod">
        <pc:chgData name="Horn, John" userId="231099543_tp_box_2" providerId="OAuth2" clId="{840A5592-B9F3-3045-A142-9E49FC16F4A8}" dt="2023-02-26T01:56:55.467" v="4" actId="255"/>
        <pc:sldMkLst>
          <pc:docMk/>
          <pc:sldMk cId="2412698164" sldId="347"/>
        </pc:sldMkLst>
        <pc:spChg chg="mod">
          <ac:chgData name="Horn, John" userId="231099543_tp_box_2" providerId="OAuth2" clId="{840A5592-B9F3-3045-A142-9E49FC16F4A8}" dt="2023-02-26T01:56:55.467" v="4" actId="255"/>
          <ac:spMkLst>
            <pc:docMk/>
            <pc:sldMk cId="2412698164" sldId="347"/>
            <ac:spMk id="6" creationId="{00000000-0000-0000-0000-000000000000}"/>
          </ac:spMkLst>
        </pc:spChg>
        <pc:spChg chg="mod">
          <ac:chgData name="Horn, John" userId="231099543_tp_box_2" providerId="OAuth2" clId="{840A5592-B9F3-3045-A142-9E49FC16F4A8}" dt="2023-02-26T01:56:55.467" v="4" actId="255"/>
          <ac:spMkLst>
            <pc:docMk/>
            <pc:sldMk cId="2412698164" sldId="347"/>
            <ac:spMk id="7" creationId="{00000000-0000-0000-0000-000000000000}"/>
          </ac:spMkLst>
        </pc:spChg>
        <pc:spChg chg="mod">
          <ac:chgData name="Horn, John" userId="231099543_tp_box_2" providerId="OAuth2" clId="{840A5592-B9F3-3045-A142-9E49FC16F4A8}" dt="2023-02-26T01:56:55.467" v="4" actId="255"/>
          <ac:spMkLst>
            <pc:docMk/>
            <pc:sldMk cId="2412698164" sldId="347"/>
            <ac:spMk id="8" creationId="{00000000-0000-0000-0000-000000000000}"/>
          </ac:spMkLst>
        </pc:spChg>
        <pc:spChg chg="mod">
          <ac:chgData name="Horn, John" userId="231099543_tp_box_2" providerId="OAuth2" clId="{840A5592-B9F3-3045-A142-9E49FC16F4A8}" dt="2023-02-26T01:56:55.467" v="4" actId="255"/>
          <ac:spMkLst>
            <pc:docMk/>
            <pc:sldMk cId="2412698164" sldId="347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r>
              <a:rPr lang="en-US" sz="2400" dirty="0"/>
              <a:t>Number of Manufacturing Establishments, 2020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establishments</c:v>
                </c:pt>
              </c:strCache>
            </c:strRef>
          </c:tx>
          <c:spPr>
            <a:solidFill>
              <a:srgbClr val="D15F27"/>
            </a:solidFill>
            <a:ln>
              <a:solidFill>
                <a:srgbClr val="D15F2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0–4</c:v>
                </c:pt>
                <c:pt idx="1">
                  <c:v>5–9</c:v>
                </c:pt>
                <c:pt idx="2">
                  <c:v>10–19</c:v>
                </c:pt>
                <c:pt idx="3">
                  <c:v>20–99</c:v>
                </c:pt>
                <c:pt idx="4">
                  <c:v>100–499</c:v>
                </c:pt>
                <c:pt idx="5">
                  <c:v>500+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98382</c:v>
                </c:pt>
                <c:pt idx="1">
                  <c:v>43777</c:v>
                </c:pt>
                <c:pt idx="2">
                  <c:v>36631</c:v>
                </c:pt>
                <c:pt idx="3">
                  <c:v>48863</c:v>
                </c:pt>
                <c:pt idx="4">
                  <c:v>21089</c:v>
                </c:pt>
                <c:pt idx="5">
                  <c:v>34782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AA-4B44-885C-4D964C53C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8"/>
        <c:axId val="1219487632"/>
        <c:axId val="1219488464"/>
      </c:barChart>
      <c:catAx>
        <c:axId val="12194876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r>
                  <a:rPr lang="en-US" dirty="0"/>
                  <a:t>Number of Employees per Establishment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219488464"/>
        <c:crosses val="autoZero"/>
        <c:auto val="1"/>
        <c:lblAlgn val="ctr"/>
        <c:lblOffset val="100"/>
        <c:noMultiLvlLbl val="0"/>
      </c:catAx>
      <c:valAx>
        <c:axId val="121948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219487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2400" dirty="0">
                <a:latin typeface="Source Sans Pro" panose="020B0503030403020204" pitchFamily="34" charset="0"/>
              </a:rPr>
              <a:t>Sales per square foot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5F85"/>
            </a:solidFill>
            <a:ln>
              <a:solidFill>
                <a:srgbClr val="005F85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Apple</c:v>
                </c:pt>
                <c:pt idx="1">
                  <c:v>Generation Next</c:v>
                </c:pt>
                <c:pt idx="2">
                  <c:v>Murphy USA</c:v>
                </c:pt>
                <c:pt idx="3">
                  <c:v>Tiffany &amp; Co.</c:v>
                </c:pt>
                <c:pt idx="4">
                  <c:v>Lululemon</c:v>
                </c:pt>
              </c:strCache>
            </c:strRef>
          </c:cat>
          <c:val>
            <c:numRef>
              <c:f>Sheet1!$B$2:$B$6</c:f>
              <c:numCache>
                <c:formatCode>"$"#,##0</c:formatCode>
                <c:ptCount val="5"/>
                <c:pt idx="0">
                  <c:v>5546</c:v>
                </c:pt>
                <c:pt idx="1">
                  <c:v>3970</c:v>
                </c:pt>
                <c:pt idx="2">
                  <c:v>3721</c:v>
                </c:pt>
                <c:pt idx="3">
                  <c:v>2951</c:v>
                </c:pt>
                <c:pt idx="4">
                  <c:v>1560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33-C240-96D0-BA643B6629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7577928"/>
        <c:axId val="307575968"/>
      </c:barChart>
      <c:catAx>
        <c:axId val="3075779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307575968"/>
        <c:crosses val="autoZero"/>
        <c:auto val="1"/>
        <c:lblAlgn val="ctr"/>
        <c:lblOffset val="100"/>
        <c:noMultiLvlLbl val="0"/>
      </c:catAx>
      <c:valAx>
        <c:axId val="307575968"/>
        <c:scaling>
          <c:orientation val="minMax"/>
        </c:scaling>
        <c:delete val="0"/>
        <c:axPos val="l"/>
        <c:majorGridlines/>
        <c:numFmt formatCode="&quot;$&quot;#,##0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3075779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>
          <a:latin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2400" dirty="0">
                <a:latin typeface="Source Sans Pro" panose="020B0503030403020204" pitchFamily="34" charset="0"/>
              </a:rPr>
              <a:t>Apple revenue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7360"/>
            </a:solidFill>
          </c:spPr>
          <c:dPt>
            <c:idx val="0"/>
            <c:bubble3D val="0"/>
            <c:spPr>
              <a:solidFill>
                <a:srgbClr val="C8C8C8"/>
              </a:solidFill>
            </c:spPr>
            <c:extLst>
              <c:ext xmlns:c16="http://schemas.microsoft.com/office/drawing/2014/chart" uri="{C3380CC4-5D6E-409C-BE32-E72D297353CC}">
                <c16:uniqueId val="{00000001-1ECF-AC4C-9919-96CCC9A29A11}"/>
              </c:ext>
            </c:extLst>
          </c:dPt>
          <c:dPt>
            <c:idx val="1"/>
            <c:bubble3D val="0"/>
            <c:spPr>
              <a:solidFill>
                <a:srgbClr val="005F85"/>
              </a:solidFill>
              <a:ln>
                <a:solidFill>
                  <a:srgbClr val="005F8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1ECF-AC4C-9919-96CCC9A29A11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  <a:latin typeface="Source Sans Pro" panose="020B0503030403020204" pitchFamily="34" charset="0"/>
                      </a:rPr>
                      <a:t>88%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ECF-AC4C-9919-96CCC9A29A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Retail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0.1174102136272874</c:v>
                </c:pt>
                <c:pt idx="1">
                  <c:v>0.88164531039728511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CF-AC4C-9919-96CCC9A29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cs typeface="Arial" pitchFamily="34" charset="0"/>
              </a:defRPr>
            </a:lvl1pPr>
          </a:lstStyle>
          <a:p>
            <a:fld id="{BE8F2FEF-0813-4E63-98C1-F86A9B09F153}" type="slidenum">
              <a:rPr lang="en-US" altLang="en-US">
                <a:latin typeface="Source Sans Pro" panose="020B0503030403020204" pitchFamily="34" charset="0"/>
              </a:rPr>
              <a:pPr/>
              <a:t>‹#›</a:t>
            </a:fld>
            <a:endParaRPr lang="en-US" altLang="en-US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47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1788" y="69850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Source Sans Pro" panose="020B0503030403020204" pitchFamily="34" charset="0"/>
                <a:cs typeface="Arial" pitchFamily="34" charset="0"/>
              </a:defRPr>
            </a:lvl1pPr>
          </a:lstStyle>
          <a:p>
            <a:fld id="{D3802745-ADB7-4EEC-9AD8-5B5D605DEBA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83342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www.coca-cola.com</a:t>
            </a:r>
            <a:r>
              <a:rPr lang="en-US" dirty="0"/>
              <a:t>/global/, Public domain,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File:Coca_Cola_Logo.jpg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Haier, Public domain,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File:Haier_logo.svg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sz="1200" b="0" i="0" dirty="0">
                <a:solidFill>
                  <a:srgbClr val="000000"/>
                </a:solidFill>
                <a:effectLst/>
                <a:latin typeface="PlusJakartaSans"/>
              </a:rPr>
              <a:t>Photo by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PlusJakartaSans"/>
              </a:rPr>
              <a:t>Annushka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PlusJakartaSans"/>
              </a:rPr>
              <a:t> Ahuja: https://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PlusJakartaSans"/>
              </a:rPr>
              <a:t>/photo/a-person-cooking-scrambled-eggs-8055161/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02745-ADB7-4EEC-9AD8-5B5D605DEBA2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3019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Mictlancihuatl</a:t>
            </a:r>
            <a:r>
              <a:rPr lang="en-US" dirty="0"/>
              <a:t>, CC BY-SA 4.0 &lt;https://</a:t>
            </a:r>
            <a:r>
              <a:rPr lang="en-US" dirty="0" err="1"/>
              <a:t>creativecommons.org</a:t>
            </a:r>
            <a:r>
              <a:rPr lang="en-US" dirty="0"/>
              <a:t>/licenses/by-</a:t>
            </a:r>
            <a:r>
              <a:rPr lang="en-US" dirty="0" err="1"/>
              <a:t>sa</a:t>
            </a:r>
            <a:r>
              <a:rPr lang="en-US" dirty="0"/>
              <a:t>/4.0&gt;,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File:International_Workcamp_in_Schenkenzell.jpg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PlusJakartaSans"/>
              </a:rPr>
              <a:t>Photo by Anastasia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PlusJakartaSans"/>
              </a:rPr>
              <a:t>Shuraeva</a:t>
            </a:r>
            <a:r>
              <a:rPr lang="en-US" b="0" i="0" dirty="0">
                <a:solidFill>
                  <a:srgbClr val="000000"/>
                </a:solidFill>
                <a:effectLst/>
                <a:latin typeface="PlusJakartaSans"/>
              </a:rPr>
              <a:t>: 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US" b="0" i="0" dirty="0">
                <a:solidFill>
                  <a:srgbClr val="000000"/>
                </a:solidFill>
                <a:effectLst/>
                <a:latin typeface="PlusJakartaSans"/>
              </a:rPr>
              <a:t>/photo/a-man-digging-in-the-forest-8926955/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PlusJakartaSans"/>
            </a:endParaRPr>
          </a:p>
          <a:p>
            <a:r>
              <a:rPr lang="en-US" dirty="0" err="1"/>
              <a:t>Alupus</a:t>
            </a:r>
            <a:r>
              <a:rPr lang="en-US" dirty="0"/>
              <a:t>, CC BY-SA 3.0 &lt;https://</a:t>
            </a:r>
            <a:r>
              <a:rPr lang="en-US" dirty="0" err="1"/>
              <a:t>creativecommons.org</a:t>
            </a:r>
            <a:r>
              <a:rPr lang="en-US" dirty="0"/>
              <a:t>/licenses/by-</a:t>
            </a:r>
            <a:r>
              <a:rPr lang="en-US" dirty="0" err="1"/>
              <a:t>sa</a:t>
            </a:r>
            <a:r>
              <a:rPr lang="en-US" dirty="0"/>
              <a:t>/3.0&gt;,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File:Three_shovels.JPG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PlusJakartaSans"/>
              </a:rPr>
              <a:t>Photo by Roger Brown: 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PlusJakartaSans"/>
              </a:rPr>
              <a:t>www.pexels.com</a:t>
            </a:r>
            <a:r>
              <a:rPr lang="en-US" b="0" i="0" dirty="0">
                <a:solidFill>
                  <a:srgbClr val="000000"/>
                </a:solidFill>
                <a:effectLst/>
                <a:latin typeface="PlusJakartaSans"/>
              </a:rPr>
              <a:t>/photo/yellow-front-loader-at-construction-site-5125783/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PlusJakartaSans"/>
            </a:endParaRPr>
          </a:p>
          <a:p>
            <a:r>
              <a:rPr lang="en-US" dirty="0"/>
              <a:t>Gary J. Wood from Toronto, ON, Canada, CC BY-SA 2.0 &lt;https://</a:t>
            </a:r>
            <a:r>
              <a:rPr lang="en-US" dirty="0" err="1"/>
              <a:t>creativecommons.org</a:t>
            </a:r>
            <a:r>
              <a:rPr lang="en-US" dirty="0"/>
              <a:t>/licenses/by-</a:t>
            </a:r>
            <a:r>
              <a:rPr lang="en-US" dirty="0" err="1"/>
              <a:t>sa</a:t>
            </a:r>
            <a:r>
              <a:rPr lang="en-US" dirty="0"/>
              <a:t>/2.0&gt;,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File:Water_Main_and_Faucet</a:t>
            </a:r>
            <a:r>
              <a:rPr lang="en-US" dirty="0"/>
              <a:t>_(3681464688).jpg)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02745-ADB7-4EEC-9AD8-5B5D605DEBA2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6614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F501841-6397-4E53-903B-01833D68C9C4}" type="slidenum">
              <a:rPr lang="en-US" altLang="en-US" sz="1200">
                <a:latin typeface="Source Sans Pro" panose="020B0503030403020204" pitchFamily="34" charset="0"/>
              </a:rPr>
              <a:pPr eaLnBrk="1" hangingPunct="1"/>
              <a:t>20</a:t>
            </a:fld>
            <a:endParaRPr lang="en-US" altLang="en-US" sz="1200" dirty="0">
              <a:latin typeface="Source Sans Pro" panose="020B0503030403020204" pitchFamily="34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98500"/>
            <a:ext cx="6196012" cy="348615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0911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Arusanov</a:t>
            </a:r>
            <a:r>
              <a:rPr lang="en-US" dirty="0"/>
              <a:t>, Public domain,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File:Tsmc_factory_hsinchu.JPG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200" dirty="0">
              <a:latin typeface="Source Sans Pro" panose="020B050303040302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Uploaded by </a:t>
            </a:r>
            <a:r>
              <a:rPr lang="en-US" dirty="0" err="1"/>
              <a:t>Duk</a:t>
            </a:r>
            <a:r>
              <a:rPr lang="en-US" dirty="0"/>
              <a:t> 08:45, 16 Feb 2005 (UTC), Public domain,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File:Clean_room.jpg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02745-ADB7-4EEC-9AD8-5B5D605DEBA2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4494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da-DK" dirty="0"/>
              <a:t>MEC 5400 Fall 2011 - 6</a:t>
            </a:r>
            <a:endParaRPr lang="en-US" dirty="0"/>
          </a:p>
        </p:txBody>
      </p:sp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22338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22338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22338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22338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F6CAABB1-71C5-4C8B-B51A-6CEDF8E3E7B6}" type="slidenum">
              <a:rPr lang="en-US" altLang="en-US" sz="1200">
                <a:latin typeface="Source Sans Pro" panose="020B0503030403020204" pitchFamily="34" charset="0"/>
              </a:rPr>
              <a:pPr eaLnBrk="1" hangingPunct="1"/>
              <a:t>82</a:t>
            </a:fld>
            <a:endParaRPr lang="en-US" altLang="en-US" sz="1200" dirty="0">
              <a:latin typeface="Source Sans Pro" panose="020B0503030403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98500"/>
            <a:ext cx="6196012" cy="348615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477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42273"/>
            <a:ext cx="103632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4308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A7C296-432F-476B-A87D-F568E221A7C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004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E22945-7D6B-4955-8DF2-0FB2D699320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937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0509F2-8BC7-45CE-A470-BA05B18E4B2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466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9539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9539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CE042D-7E6B-45FA-9E35-3C97272CF2E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4951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2973"/>
            <a:ext cx="109728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1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1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8BCEA-01FF-4CB0-8D67-E26BAA1C8D3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990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75B3E-D7CC-4C25-914F-E4999BEE868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02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25E69E-0134-4600-9189-22D145BCCDF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239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2837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CF6C3F-FD5C-41F6-84AF-C0F0F00566A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121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51E4C2-E4AB-4D87-85A4-6B8CAD9A772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936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98566" y="1379539"/>
            <a:ext cx="8383834" cy="179741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EFF38-1863-47A8-8E95-8474988D66D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86540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4470" y="274639"/>
            <a:ext cx="1292662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46252" y="274639"/>
            <a:ext cx="1889748" cy="585152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6D3E43-61CD-4FE6-B08F-8491E52C392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1953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28517"/>
            <a:ext cx="109728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9539"/>
            <a:ext cx="5384800" cy="1797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9539"/>
            <a:ext cx="5384800" cy="1797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F7177B-6CD5-4EF7-B7E2-EA3D300B64E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712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13357"/>
            <a:ext cx="1097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9539"/>
            <a:ext cx="10972800" cy="2234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1" y="6406596"/>
            <a:ext cx="457623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 dirty="0"/>
              <a:t>Production Technology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88517" y="6406596"/>
            <a:ext cx="253788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14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406596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400">
                <a:latin typeface="Source Sans Pro" panose="020B0503030403020204" pitchFamily="34" charset="0"/>
              </a:defRPr>
            </a:lvl1pPr>
          </a:lstStyle>
          <a:p>
            <a:fld id="{6D176CF1-B997-4B53-94DA-A79CE901A8D6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0">
          <a:solidFill>
            <a:schemeClr val="tx2"/>
          </a:solidFill>
          <a:latin typeface="Source Sans Pro" panose="020B0503030403020204" pitchFamily="34" charset="0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Source Sans Pro" panose="020B0503030403020204" pitchFamily="34" charset="0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c.com/2017/07/29/here-are-the-retailers-that-make-the-most-money-per-square-foot-on-their-real-estate.html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hyperlink" Target="http://files.shareholder.com/downloads/AAPL/5038990083x0x789040/ED3853DA-2E3F-448D-ADB4-34816C375F5D/2014_Form_10_K_As_Filed.PDF" TargetMode="Externa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9085" y="2130426"/>
            <a:ext cx="5188945" cy="1470025"/>
          </a:xfrm>
        </p:spPr>
        <p:txBody>
          <a:bodyPr>
            <a:normAutofit fontScale="90000"/>
          </a:bodyPr>
          <a:lstStyle/>
          <a:p>
            <a:r>
              <a:rPr lang="en-US" sz="4400" b="0" dirty="0"/>
              <a:t>Production technology, </a:t>
            </a:r>
            <a:r>
              <a:rPr lang="en-US" sz="4400" b="0"/>
              <a:t>moral hazard &amp; costs</a:t>
            </a:r>
            <a:endParaRPr lang="en-US" sz="4400" b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9084" y="3886201"/>
            <a:ext cx="4273249" cy="584775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John Horn</a:t>
            </a:r>
          </a:p>
        </p:txBody>
      </p:sp>
      <p:pic>
        <p:nvPicPr>
          <p:cNvPr id="37892" name="Picture 4" descr="M:\Admin\Logos\150206_jwb_race_ethnicity_0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3237542" cy="466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DBCC1DAD-EA25-6D9C-A874-0F908BE87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" y="4908560"/>
            <a:ext cx="3133501" cy="128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3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AD45-ADC6-A540-72FA-12111E8A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Practical application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AB8D8-85C0-2BA4-636F-BF3DD2CA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7E403B-5F0D-1880-4344-B1402710158A}"/>
              </a:ext>
            </a:extLst>
          </p:cNvPr>
          <p:cNvSpPr/>
          <p:nvPr/>
        </p:nvSpPr>
        <p:spPr>
          <a:xfrm>
            <a:off x="701039" y="1034807"/>
            <a:ext cx="4819543" cy="731520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Economic concept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146565-2E4B-0C53-8988-1C1BB2B23B59}"/>
              </a:ext>
            </a:extLst>
          </p:cNvPr>
          <p:cNvSpPr/>
          <p:nvPr/>
        </p:nvSpPr>
        <p:spPr>
          <a:xfrm>
            <a:off x="6033615" y="1034807"/>
            <a:ext cx="4819543" cy="731520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Practical business application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3DC929-2B63-9420-CF29-0E98F4BCEEFE}"/>
              </a:ext>
            </a:extLst>
          </p:cNvPr>
          <p:cNvGrpSpPr/>
          <p:nvPr/>
        </p:nvGrpSpPr>
        <p:grpSpPr>
          <a:xfrm>
            <a:off x="701039" y="5684497"/>
            <a:ext cx="10152119" cy="909352"/>
            <a:chOff x="701039" y="5684497"/>
            <a:chExt cx="10152119" cy="90935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DAB935F-921D-C1D9-468F-9BF2D4E7F2C2}"/>
                </a:ext>
              </a:extLst>
            </p:cNvPr>
            <p:cNvSpPr txBox="1"/>
            <p:nvPr/>
          </p:nvSpPr>
          <p:spPr>
            <a:xfrm>
              <a:off x="701039" y="5684497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Moral hazard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D1D574-6D7C-B33C-3268-258DC5FD8FD0}"/>
                </a:ext>
              </a:extLst>
            </p:cNvPr>
            <p:cNvSpPr txBox="1"/>
            <p:nvPr/>
          </p:nvSpPr>
          <p:spPr>
            <a:xfrm>
              <a:off x="6033615" y="5684497"/>
              <a:ext cx="4819543" cy="909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Are we incentivizing “bad” behavior?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DDFA13A-7C81-3383-887F-49B34C176BC8}"/>
              </a:ext>
            </a:extLst>
          </p:cNvPr>
          <p:cNvGrpSpPr/>
          <p:nvPr/>
        </p:nvGrpSpPr>
        <p:grpSpPr>
          <a:xfrm>
            <a:off x="701039" y="1925796"/>
            <a:ext cx="10152119" cy="1200329"/>
            <a:chOff x="701039" y="2076628"/>
            <a:chExt cx="10152119" cy="120032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6B2E5F1-B70C-EA2A-3A4F-8A2E38A9C0EE}"/>
                </a:ext>
              </a:extLst>
            </p:cNvPr>
            <p:cNvSpPr txBox="1"/>
            <p:nvPr/>
          </p:nvSpPr>
          <p:spPr>
            <a:xfrm>
              <a:off x="701039" y="2076628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Production technology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E7FF77-12C4-34D4-960D-2AB9339B4BD4}"/>
                </a:ext>
              </a:extLst>
            </p:cNvPr>
            <p:cNvSpPr txBox="1"/>
            <p:nvPr/>
          </p:nvSpPr>
          <p:spPr>
            <a:xfrm>
              <a:off x="6033615" y="2076628"/>
              <a:ext cx="48195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Operations research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Standard operating procedures (SOP)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736D90-0093-DADA-92C4-5AED94990C7F}"/>
              </a:ext>
            </a:extLst>
          </p:cNvPr>
          <p:cNvGrpSpPr/>
          <p:nvPr/>
        </p:nvGrpSpPr>
        <p:grpSpPr>
          <a:xfrm>
            <a:off x="701039" y="4371647"/>
            <a:ext cx="10152119" cy="488339"/>
            <a:chOff x="701039" y="4560477"/>
            <a:chExt cx="10152119" cy="48833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FF03D0-6A40-4A86-6FA8-D357CED58924}"/>
                </a:ext>
              </a:extLst>
            </p:cNvPr>
            <p:cNvSpPr txBox="1"/>
            <p:nvPr/>
          </p:nvSpPr>
          <p:spPr>
            <a:xfrm>
              <a:off x="701039" y="4560477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Marginal product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A7A7C4B-676B-069F-0BDF-E05CFD84F70C}"/>
                </a:ext>
              </a:extLst>
            </p:cNvPr>
            <p:cNvSpPr txBox="1"/>
            <p:nvPr/>
          </p:nvSpPr>
          <p:spPr>
            <a:xfrm>
              <a:off x="6033615" y="4560477"/>
              <a:ext cx="4819543" cy="488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Optimizing production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EF311DD-07C2-6273-B030-5B55FF2002EB}"/>
              </a:ext>
            </a:extLst>
          </p:cNvPr>
          <p:cNvGrpSpPr/>
          <p:nvPr/>
        </p:nvGrpSpPr>
        <p:grpSpPr>
          <a:xfrm>
            <a:off x="701039" y="5028071"/>
            <a:ext cx="10152119" cy="488339"/>
            <a:chOff x="701039" y="5363162"/>
            <a:chExt cx="10152119" cy="48833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AB37F8-E48C-006F-5CCB-EFB1EC7D965F}"/>
                </a:ext>
              </a:extLst>
            </p:cNvPr>
            <p:cNvSpPr txBox="1"/>
            <p:nvPr/>
          </p:nvSpPr>
          <p:spPr>
            <a:xfrm>
              <a:off x="701039" y="5363162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Scale economics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2D8626-D004-6C7D-427E-2F3C5D9ADADE}"/>
                </a:ext>
              </a:extLst>
            </p:cNvPr>
            <p:cNvSpPr txBox="1"/>
            <p:nvPr/>
          </p:nvSpPr>
          <p:spPr>
            <a:xfrm>
              <a:off x="6033615" y="5363162"/>
              <a:ext cx="4819543" cy="488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Expansion plans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22B5C0-BEFA-28CF-8353-54A84EE7039E}"/>
              </a:ext>
            </a:extLst>
          </p:cNvPr>
          <p:cNvGrpSpPr/>
          <p:nvPr/>
        </p:nvGrpSpPr>
        <p:grpSpPr>
          <a:xfrm>
            <a:off x="701039" y="3294210"/>
            <a:ext cx="10152119" cy="909352"/>
            <a:chOff x="701039" y="3336779"/>
            <a:chExt cx="10152119" cy="90935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FDDE988-A86B-4EE7-E38C-79D5651E48AB}"/>
                </a:ext>
              </a:extLst>
            </p:cNvPr>
            <p:cNvSpPr txBox="1"/>
            <p:nvPr/>
          </p:nvSpPr>
          <p:spPr>
            <a:xfrm>
              <a:off x="701039" y="3340574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Isoquant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A021E4-53F7-0D36-F326-8213AAAD5B58}"/>
                </a:ext>
              </a:extLst>
            </p:cNvPr>
            <p:cNvSpPr txBox="1"/>
            <p:nvPr/>
          </p:nvSpPr>
          <p:spPr>
            <a:xfrm>
              <a:off x="6033615" y="3336779"/>
              <a:ext cx="4819543" cy="909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are the different ways we can hit our production goals?</a:t>
              </a:r>
            </a:p>
          </p:txBody>
        </p:sp>
      </p:grp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B2D10B-0579-F3DA-23B8-2B680C552271}"/>
              </a:ext>
            </a:extLst>
          </p:cNvPr>
          <p:cNvSpPr/>
          <p:nvPr/>
        </p:nvSpPr>
        <p:spPr>
          <a:xfrm>
            <a:off x="1277241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Production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Marginal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Scale economies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1C016-B60D-E808-77A1-EFDC5FCBE4BC}"/>
              </a:ext>
            </a:extLst>
          </p:cNvPr>
          <p:cNvSpPr txBox="1"/>
          <p:nvPr/>
        </p:nvSpPr>
        <p:spPr>
          <a:xfrm>
            <a:off x="3135630" y="3881415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Moral hazard</a:t>
            </a:r>
          </a:p>
        </p:txBody>
      </p:sp>
    </p:spTree>
    <p:extLst>
      <p:ext uri="{BB962C8B-B14F-4D97-AF65-F5344CB8AC3E}">
        <p14:creationId xmlns:p14="http://schemas.microsoft.com/office/powerpoint/2010/main" val="3088304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Firms’</a:t>
            </a:r>
            <a:r>
              <a:rPr lang="en-US" altLang="ja-JP" b="0" dirty="0">
                <a:ea typeface="ＭＳ Ｐゴシック" pitchFamily="34" charset="-128"/>
              </a:rPr>
              <a:t> choices</a:t>
            </a:r>
            <a:endParaRPr lang="en-US" altLang="en-US" b="0" dirty="0">
              <a:ea typeface="ＭＳ Ｐゴシック" pitchFamily="34" charset="-128"/>
            </a:endParaRPr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9003B4D-1131-4D6C-9BA9-D21A5170E04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FB11838-483B-ADF0-D023-162CE8D5F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" y="1015366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ct val="20000"/>
              </a:spcAft>
            </a:pPr>
            <a:r>
              <a:rPr lang="en-US" altLang="en-US" sz="2400" kern="0" dirty="0">
                <a:ea typeface="ＭＳ Ｐゴシック" pitchFamily="34" charset="-128"/>
              </a:rPr>
              <a:t>To achieve its </a:t>
            </a:r>
            <a:r>
              <a:rPr lang="en-US" altLang="en-US" sz="2400" b="1" kern="0" dirty="0">
                <a:ea typeface="ＭＳ Ｐゴシック" pitchFamily="34" charset="-128"/>
              </a:rPr>
              <a:t>objectives</a:t>
            </a:r>
            <a:r>
              <a:rPr lang="en-US" altLang="en-US" sz="2400" kern="0" dirty="0">
                <a:ea typeface="ＭＳ Ｐゴシック" pitchFamily="34" charset="-128"/>
              </a:rPr>
              <a:t>, a firm chooses: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FB164D65-88DB-39B6-53BD-000F8D2E25D1}"/>
              </a:ext>
            </a:extLst>
          </p:cNvPr>
          <p:cNvSpPr/>
          <p:nvPr/>
        </p:nvSpPr>
        <p:spPr>
          <a:xfrm>
            <a:off x="6302834" y="1420372"/>
            <a:ext cx="3570515" cy="3526971"/>
          </a:xfrm>
          <a:prstGeom prst="rightArrow">
            <a:avLst>
              <a:gd name="adj1" fmla="val 86054"/>
              <a:gd name="adj2" fmla="val 22109"/>
            </a:avLst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lvl="1">
              <a:spcAft>
                <a:spcPts val="60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Outputs</a:t>
            </a:r>
          </a:p>
          <a:p>
            <a:pPr marL="5715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goods and services to produce</a:t>
            </a:r>
          </a:p>
          <a:p>
            <a:pPr marL="571500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Quantities 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of each output 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B31B03DE-91F5-20F2-861A-5C8414EE077B}"/>
              </a:ext>
            </a:extLst>
          </p:cNvPr>
          <p:cNvSpPr/>
          <p:nvPr/>
        </p:nvSpPr>
        <p:spPr>
          <a:xfrm>
            <a:off x="2100948" y="1420372"/>
            <a:ext cx="4430486" cy="3526971"/>
          </a:xfrm>
          <a:prstGeom prst="rightArrow">
            <a:avLst>
              <a:gd name="adj1" fmla="val 86054"/>
              <a:gd name="adj2" fmla="val 22109"/>
            </a:avLst>
          </a:prstGeom>
          <a:solidFill>
            <a:srgbClr val="D15F27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9063" lvl="1">
              <a:spcAft>
                <a:spcPts val="60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Inputs</a:t>
            </a:r>
          </a:p>
          <a:p>
            <a:pPr marL="461963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Labor 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(High-skill, low-skill)</a:t>
            </a:r>
          </a:p>
          <a:p>
            <a:pPr marL="461963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Capital 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(Machines, computers, buildings…)</a:t>
            </a:r>
          </a:p>
          <a:p>
            <a:pPr marL="461963" lvl="2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 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(Raw materials, land…)</a:t>
            </a:r>
            <a:endParaRPr lang="en-US" altLang="en-US" sz="2400" u="sng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B355C4-CF0A-50D5-6508-A4DF8CA247B8}"/>
              </a:ext>
            </a:extLst>
          </p:cNvPr>
          <p:cNvGrpSpPr/>
          <p:nvPr/>
        </p:nvGrpSpPr>
        <p:grpSpPr>
          <a:xfrm>
            <a:off x="1243584" y="5087848"/>
            <a:ext cx="9912096" cy="1502544"/>
            <a:chOff x="892634" y="5087848"/>
            <a:chExt cx="7772400" cy="150254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24927C-FA45-4AA0-AEED-7FF234AC34AF}"/>
                </a:ext>
              </a:extLst>
            </p:cNvPr>
            <p:cNvGrpSpPr/>
            <p:nvPr/>
          </p:nvGrpSpPr>
          <p:grpSpPr>
            <a:xfrm>
              <a:off x="892634" y="5087848"/>
              <a:ext cx="7772400" cy="1502544"/>
              <a:chOff x="892634" y="5087848"/>
              <a:chExt cx="7772400" cy="1502544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425DCF8-1E90-BA90-5651-E7014AB25F66}"/>
                  </a:ext>
                </a:extLst>
              </p:cNvPr>
              <p:cNvSpPr/>
              <p:nvPr/>
            </p:nvSpPr>
            <p:spPr>
              <a:xfrm>
                <a:off x="892634" y="5354626"/>
                <a:ext cx="7772400" cy="968042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F666F78-A7C4-3CD7-4931-9BD2615AD447}"/>
                  </a:ext>
                </a:extLst>
              </p:cNvPr>
              <p:cNvSpPr/>
              <p:nvPr/>
            </p:nvSpPr>
            <p:spPr>
              <a:xfrm>
                <a:off x="892634" y="5087848"/>
                <a:ext cx="7772400" cy="726032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09D9104-7E1C-B6FB-6959-D4B9D20A9EE9}"/>
                  </a:ext>
                </a:extLst>
              </p:cNvPr>
              <p:cNvSpPr/>
              <p:nvPr/>
            </p:nvSpPr>
            <p:spPr>
              <a:xfrm>
                <a:off x="892634" y="5864360"/>
                <a:ext cx="7772400" cy="726032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BF152D7B-A65B-7D8E-A9A2-95D66A2F9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5162012"/>
              <a:ext cx="7750634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Constraints</a:t>
              </a: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Technology</a:t>
              </a: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Economic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constraints from input and output markets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Production technology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BBC35AF-A742-404B-A969-F00808D85C9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A41645-D1DC-3104-8758-3B02D3377327}"/>
              </a:ext>
            </a:extLst>
          </p:cNvPr>
          <p:cNvGrpSpPr/>
          <p:nvPr/>
        </p:nvGrpSpPr>
        <p:grpSpPr>
          <a:xfrm>
            <a:off x="618744" y="1009348"/>
            <a:ext cx="10853928" cy="1506439"/>
            <a:chOff x="301752" y="861366"/>
            <a:chExt cx="10853928" cy="150643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73B4D3A-F02B-FD6C-F5B4-56A643E2B516}"/>
                </a:ext>
              </a:extLst>
            </p:cNvPr>
            <p:cNvSpPr/>
            <p:nvPr/>
          </p:nvSpPr>
          <p:spPr>
            <a:xfrm>
              <a:off x="1752600" y="953991"/>
              <a:ext cx="9403080" cy="1365797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DB7A816-6AD5-5C7C-8ED1-7727A1F0C396}"/>
                </a:ext>
              </a:extLst>
            </p:cNvPr>
            <p:cNvSpPr/>
            <p:nvPr/>
          </p:nvSpPr>
          <p:spPr>
            <a:xfrm>
              <a:off x="365760" y="861366"/>
              <a:ext cx="1828800" cy="150643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426D325-3C96-33F5-399C-5D178A56D666}"/>
                </a:ext>
              </a:extLst>
            </p:cNvPr>
            <p:cNvSpPr/>
            <p:nvPr/>
          </p:nvSpPr>
          <p:spPr>
            <a:xfrm>
              <a:off x="301752" y="953991"/>
              <a:ext cx="1801368" cy="1365797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Definition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FA06A999-08D2-43DF-35B1-8EF9A0148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945549"/>
              <a:ext cx="8735568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A firm</a:t>
              </a: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’s </a:t>
              </a:r>
              <a:r>
                <a:rPr lang="en-US" altLang="ja-JP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technology </a:t>
              </a: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specifies a quantitative relationship between combinations of </a:t>
              </a:r>
              <a:r>
                <a:rPr lang="en-US" altLang="ja-JP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inputs </a:t>
              </a: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and the level of </a:t>
              </a:r>
              <a:r>
                <a:rPr lang="en-US" altLang="ja-JP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output</a:t>
              </a:r>
              <a:endPara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B4006A-7B36-22D6-A9D5-8BE36D49B280}"/>
              </a:ext>
            </a:extLst>
          </p:cNvPr>
          <p:cNvGrpSpPr/>
          <p:nvPr/>
        </p:nvGrpSpPr>
        <p:grpSpPr>
          <a:xfrm>
            <a:off x="618744" y="2540687"/>
            <a:ext cx="10853928" cy="2212848"/>
            <a:chOff x="301752" y="2825536"/>
            <a:chExt cx="10853928" cy="2212848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80710A8-78B2-4606-FA5F-551E79381B11}"/>
                </a:ext>
              </a:extLst>
            </p:cNvPr>
            <p:cNvSpPr/>
            <p:nvPr/>
          </p:nvSpPr>
          <p:spPr>
            <a:xfrm>
              <a:off x="1752600" y="2917425"/>
              <a:ext cx="9403080" cy="2029071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824DD08B-19B8-CAC2-512B-C323A1400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2908603"/>
              <a:ext cx="8641080" cy="204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Marginal product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Factor substitution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Economies of scale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Short and long run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F7D7347D-5D65-48A3-B3C5-9658A33EAA42}"/>
                </a:ext>
              </a:extLst>
            </p:cNvPr>
            <p:cNvSpPr/>
            <p:nvPr/>
          </p:nvSpPr>
          <p:spPr>
            <a:xfrm>
              <a:off x="365760" y="2825536"/>
              <a:ext cx="1828800" cy="221284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588E1F42-4327-BD94-22FF-5447E06D8728}"/>
                </a:ext>
              </a:extLst>
            </p:cNvPr>
            <p:cNvSpPr/>
            <p:nvPr/>
          </p:nvSpPr>
          <p:spPr>
            <a:xfrm>
              <a:off x="301752" y="2917425"/>
              <a:ext cx="1801368" cy="2029071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Important aspects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AD7C0F-1660-F616-5B93-137C9F9AB7EB}"/>
              </a:ext>
            </a:extLst>
          </p:cNvPr>
          <p:cNvGrpSpPr/>
          <p:nvPr/>
        </p:nvGrpSpPr>
        <p:grpSpPr>
          <a:xfrm>
            <a:off x="618744" y="4778436"/>
            <a:ext cx="10853928" cy="1667732"/>
            <a:chOff x="301752" y="5018306"/>
            <a:chExt cx="10853928" cy="1667732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79319F4-0053-61EB-3A13-46715DA2BFD0}"/>
                </a:ext>
              </a:extLst>
            </p:cNvPr>
            <p:cNvSpPr/>
            <p:nvPr/>
          </p:nvSpPr>
          <p:spPr>
            <a:xfrm>
              <a:off x="1752600" y="5096156"/>
              <a:ext cx="9403080" cy="151203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2225C180-E0B9-033F-86A2-C7EA28EE0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5082731"/>
              <a:ext cx="8641080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Function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Graph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Table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28CE2BDC-686F-8570-B581-B3D160DE41EA}"/>
                </a:ext>
              </a:extLst>
            </p:cNvPr>
            <p:cNvSpPr/>
            <p:nvPr/>
          </p:nvSpPr>
          <p:spPr>
            <a:xfrm>
              <a:off x="365760" y="5018306"/>
              <a:ext cx="1828800" cy="16677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7F5BA33E-4B85-82DD-26B0-A4EF9FEFAD28}"/>
                </a:ext>
              </a:extLst>
            </p:cNvPr>
            <p:cNvSpPr/>
            <p:nvPr/>
          </p:nvSpPr>
          <p:spPr>
            <a:xfrm>
              <a:off x="301752" y="5096156"/>
              <a:ext cx="1801368" cy="1512032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Ways to describe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Production technology: Examples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2C7A99D-6C38-452C-B50B-67BFCFE4DF3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32EE87-B167-0093-4A93-2844E09D908D}"/>
              </a:ext>
            </a:extLst>
          </p:cNvPr>
          <p:cNvSpPr/>
          <p:nvPr/>
        </p:nvSpPr>
        <p:spPr>
          <a:xfrm>
            <a:off x="1173480" y="5316773"/>
            <a:ext cx="9845040" cy="787718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6D6168-A1AD-7958-B37E-89BC0000784D}"/>
              </a:ext>
            </a:extLst>
          </p:cNvPr>
          <p:cNvSpPr/>
          <p:nvPr/>
        </p:nvSpPr>
        <p:spPr>
          <a:xfrm>
            <a:off x="1179576" y="5078896"/>
            <a:ext cx="9838944" cy="590788"/>
          </a:xfrm>
          <a:prstGeom prst="ellipse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ED37BC-4175-5D65-AEF7-D06898037C5E}"/>
              </a:ext>
            </a:extLst>
          </p:cNvPr>
          <p:cNvSpPr/>
          <p:nvPr/>
        </p:nvSpPr>
        <p:spPr>
          <a:xfrm>
            <a:off x="1179576" y="5755827"/>
            <a:ext cx="9838944" cy="590788"/>
          </a:xfrm>
          <a:prstGeom prst="ellipse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B88C27B-4D50-023D-9096-784AB200B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83" y="5295133"/>
            <a:ext cx="8572129" cy="830997"/>
          </a:xfrm>
          <a:prstGeom prst="rect">
            <a:avLst/>
          </a:prstGeom>
          <a:solidFill>
            <a:srgbClr val="D15F27"/>
          </a:solidFill>
          <a:ln w="9525">
            <a:solidFill>
              <a:srgbClr val="D15F27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The last example should make clear it is hard to describe production fully without having to include a </a:t>
            </a:r>
            <a:r>
              <a:rPr lang="en-US" altLang="en-US" sz="2400" b="1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ton of detail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2AD3F7-723F-58F2-DC50-4237221CC94A}"/>
              </a:ext>
            </a:extLst>
          </p:cNvPr>
          <p:cNvGrpSpPr/>
          <p:nvPr/>
        </p:nvGrpSpPr>
        <p:grpSpPr>
          <a:xfrm>
            <a:off x="609600" y="3452631"/>
            <a:ext cx="10756392" cy="1569660"/>
            <a:chOff x="609600" y="3292936"/>
            <a:chExt cx="10756392" cy="156966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8F7E79A-6D0F-BBFC-563C-CBA99EEC2197}"/>
                </a:ext>
              </a:extLst>
            </p:cNvPr>
            <p:cNvGrpSpPr/>
            <p:nvPr/>
          </p:nvGrpSpPr>
          <p:grpSpPr>
            <a:xfrm>
              <a:off x="609600" y="3292936"/>
              <a:ext cx="10756392" cy="1569660"/>
              <a:chOff x="609600" y="3292936"/>
              <a:chExt cx="10756392" cy="1569660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B7B27A97-58C4-F227-E255-F0ED9C7189E1}"/>
                  </a:ext>
                </a:extLst>
              </p:cNvPr>
              <p:cNvSpPr/>
              <p:nvPr/>
            </p:nvSpPr>
            <p:spPr>
              <a:xfrm>
                <a:off x="609600" y="3304502"/>
                <a:ext cx="2057400" cy="1558094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 dirty="0">
                  <a:solidFill>
                    <a:srgbClr val="A51417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27E6E2F9-1196-51D3-6454-10F4B50938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7000" y="3292936"/>
                <a:ext cx="8698992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2 eggs, ¼ cup of milk, ¼ tsp each of salt and pepper, a whisk, a pan, a heat source, and 10 minutes of labor to make </a:t>
                </a:r>
                <a:r>
                  <a:rPr lang="en-US" altLang="en-US" sz="2400" b="1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1</a:t>
                </a: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 serving of scrambled eggs</a:t>
                </a: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5506318-8580-4CA4-731C-EDA4780B80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97712" y="3434893"/>
              <a:ext cx="1881176" cy="124303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4487C2D-6A43-8D99-6DE2-07E1425D3986}"/>
              </a:ext>
            </a:extLst>
          </p:cNvPr>
          <p:cNvGrpSpPr/>
          <p:nvPr/>
        </p:nvGrpSpPr>
        <p:grpSpPr>
          <a:xfrm>
            <a:off x="609600" y="2132698"/>
            <a:ext cx="10756392" cy="1200330"/>
            <a:chOff x="609600" y="1949818"/>
            <a:chExt cx="10756392" cy="1200330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68082F76-BE9D-7069-9D4F-8EEACB1D980A}"/>
                </a:ext>
              </a:extLst>
            </p:cNvPr>
            <p:cNvSpPr/>
            <p:nvPr/>
          </p:nvSpPr>
          <p:spPr>
            <a:xfrm>
              <a:off x="609600" y="1949818"/>
              <a:ext cx="2057400" cy="120033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AAF3DCBE-9CB3-0423-D8F7-FFAA9C93D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1949819"/>
              <a:ext cx="8698992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Given 10 hours of labor, a factory, a specific collection of machinery and parts, how many washing machines are generated?</a:t>
              </a:r>
            </a:p>
          </p:txBody>
        </p: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67833C02-A307-E8DA-1F71-DC2AE6B5FC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423" y="2288230"/>
              <a:ext cx="1685755" cy="523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C21525-F760-3624-B749-12B9A2FEAA2E}"/>
              </a:ext>
            </a:extLst>
          </p:cNvPr>
          <p:cNvGrpSpPr/>
          <p:nvPr/>
        </p:nvGrpSpPr>
        <p:grpSpPr>
          <a:xfrm>
            <a:off x="609600" y="1043665"/>
            <a:ext cx="10756392" cy="969429"/>
            <a:chOff x="609600" y="1043665"/>
            <a:chExt cx="10756392" cy="969429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2B311E01-3D85-C8BD-C783-520D6921258E}"/>
                </a:ext>
              </a:extLst>
            </p:cNvPr>
            <p:cNvSpPr/>
            <p:nvPr/>
          </p:nvSpPr>
          <p:spPr>
            <a:xfrm>
              <a:off x="609600" y="1043665"/>
              <a:ext cx="2057400" cy="969429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5D72944F-1207-1DF7-0930-C993AC778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1043666"/>
              <a:ext cx="86989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...</a:t>
              </a:r>
            </a:p>
          </p:txBody>
        </p:sp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810BB82C-36EE-231B-31CF-547E7CA7D8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97712" y="1180030"/>
              <a:ext cx="1881176" cy="696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5-Point Star 2">
            <a:extLst>
              <a:ext uri="{FF2B5EF4-FFF2-40B4-BE49-F238E27FC236}">
                <a16:creationId xmlns:a16="http://schemas.microsoft.com/office/drawing/2014/main" id="{F60DA9B9-3B1B-5214-6129-5B0F404137A8}"/>
              </a:ext>
            </a:extLst>
          </p:cNvPr>
          <p:cNvSpPr/>
          <p:nvPr/>
        </p:nvSpPr>
        <p:spPr>
          <a:xfrm>
            <a:off x="12613531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Production technology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A4A92FD-E190-435F-A345-67D634AD615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BD4CD5-532B-DCF4-F3A0-3FA1EBFDDD61}"/>
              </a:ext>
            </a:extLst>
          </p:cNvPr>
          <p:cNvGrpSpPr/>
          <p:nvPr/>
        </p:nvGrpSpPr>
        <p:grpSpPr>
          <a:xfrm>
            <a:off x="1611079" y="1774371"/>
            <a:ext cx="3712029" cy="3094809"/>
            <a:chOff x="1066800" y="3886200"/>
            <a:chExt cx="1371600" cy="2667000"/>
          </a:xfrm>
          <a:solidFill>
            <a:srgbClr val="D15F27"/>
          </a:solidFill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D0AD193-5356-FC93-CAA3-4EAB147BC999}"/>
                </a:ext>
              </a:extLst>
            </p:cNvPr>
            <p:cNvSpPr/>
            <p:nvPr/>
          </p:nvSpPr>
          <p:spPr>
            <a:xfrm>
              <a:off x="1066800" y="4343400"/>
              <a:ext cx="1371600" cy="1828800"/>
            </a:xfrm>
            <a:prstGeom prst="roundRect">
              <a:avLst/>
            </a:prstGeom>
            <a:grpFill/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FC34F9B-1E75-22FE-8A21-2CC21DCAED93}"/>
                </a:ext>
              </a:extLst>
            </p:cNvPr>
            <p:cNvSpPr/>
            <p:nvPr/>
          </p:nvSpPr>
          <p:spPr>
            <a:xfrm>
              <a:off x="1066800" y="3886200"/>
              <a:ext cx="1371600" cy="1371600"/>
            </a:xfrm>
            <a:prstGeom prst="ellipse">
              <a:avLst/>
            </a:prstGeom>
            <a:grpFill/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A1439A2-2FFC-D8A0-F7CF-E77E96EBC7C2}"/>
                </a:ext>
              </a:extLst>
            </p:cNvPr>
            <p:cNvSpPr/>
            <p:nvPr/>
          </p:nvSpPr>
          <p:spPr>
            <a:xfrm>
              <a:off x="1066800" y="5181600"/>
              <a:ext cx="1371600" cy="1371600"/>
            </a:xfrm>
            <a:prstGeom prst="ellipse">
              <a:avLst/>
            </a:prstGeom>
            <a:grpFill/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ECD9A5-1A91-7B48-FE98-75195D98B8CD}"/>
              </a:ext>
            </a:extLst>
          </p:cNvPr>
          <p:cNvGrpSpPr/>
          <p:nvPr/>
        </p:nvGrpSpPr>
        <p:grpSpPr>
          <a:xfrm>
            <a:off x="6279315" y="1774371"/>
            <a:ext cx="3712029" cy="3094809"/>
            <a:chOff x="3124200" y="3886200"/>
            <a:chExt cx="1371600" cy="2667000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AA66D7BA-2984-DF41-A0D3-5BA41D9D441C}"/>
                </a:ext>
              </a:extLst>
            </p:cNvPr>
            <p:cNvSpPr/>
            <p:nvPr/>
          </p:nvSpPr>
          <p:spPr>
            <a:xfrm>
              <a:off x="3124200" y="4343400"/>
              <a:ext cx="1371600" cy="182880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F82AE3A-84A7-606F-E766-88DB35A10BE6}"/>
                </a:ext>
              </a:extLst>
            </p:cNvPr>
            <p:cNvSpPr/>
            <p:nvPr/>
          </p:nvSpPr>
          <p:spPr>
            <a:xfrm>
              <a:off x="3124200" y="3886200"/>
              <a:ext cx="1371600" cy="1371600"/>
            </a:xfrm>
            <a:prstGeom prst="ellipse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5F44F7-7B45-0005-FB1F-A3AEB2E89AAB}"/>
                </a:ext>
              </a:extLst>
            </p:cNvPr>
            <p:cNvSpPr/>
            <p:nvPr/>
          </p:nvSpPr>
          <p:spPr>
            <a:xfrm>
              <a:off x="3124200" y="5181600"/>
              <a:ext cx="1371600" cy="1371600"/>
            </a:xfrm>
            <a:prstGeom prst="ellipse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6AB24FB3-5D69-11ED-081D-322B51960FB2}"/>
              </a:ext>
            </a:extLst>
          </p:cNvPr>
          <p:cNvSpPr/>
          <p:nvPr/>
        </p:nvSpPr>
        <p:spPr>
          <a:xfrm>
            <a:off x="6279315" y="1930365"/>
            <a:ext cx="3712028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400" b="1" dirty="0">
                <a:latin typeface="Source Sans Pro" panose="020B0503030403020204" pitchFamily="34" charset="0"/>
              </a:rPr>
              <a:t>Capital (K)</a:t>
            </a:r>
            <a:endParaRPr lang="en-US" altLang="en-US" sz="2400" dirty="0">
              <a:latin typeface="Source Sans Pro" panose="020B0503030403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i="1" dirty="0">
                <a:latin typeface="Source Sans Pro" panose="020B0503030403020204" pitchFamily="34" charset="0"/>
              </a:rPr>
              <a:t>Can’t</a:t>
            </a:r>
            <a:r>
              <a:rPr lang="en-US" altLang="en-US" sz="2400" dirty="0">
                <a:latin typeface="Source Sans Pro" panose="020B0503030403020204" pitchFamily="34" charset="0"/>
              </a:rPr>
              <a:t> change immediately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Don’t need more to produce one more unit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400" b="1" dirty="0">
                <a:latin typeface="Source Sans Pro" panose="020B0503030403020204" pitchFamily="34" charset="0"/>
              </a:rPr>
              <a:t>“</a:t>
            </a:r>
            <a:r>
              <a:rPr lang="en-US" altLang="ja-JP" sz="2400" b="1" dirty="0">
                <a:latin typeface="Source Sans Pro" panose="020B0503030403020204" pitchFamily="34" charset="0"/>
              </a:rPr>
              <a:t>Fixed inputs</a:t>
            </a:r>
            <a:r>
              <a:rPr lang="ja-JP" altLang="en-US" sz="2400" b="1" dirty="0">
                <a:latin typeface="Source Sans Pro" panose="020B0503030403020204" pitchFamily="34" charset="0"/>
              </a:rPr>
              <a:t>”</a:t>
            </a:r>
            <a:endParaRPr lang="en-US" altLang="en-US" sz="2400" b="1" dirty="0">
              <a:latin typeface="Source Sans Pro" panose="020B0503030403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572DB7-7F4A-D313-22D7-0546998C72EB}"/>
              </a:ext>
            </a:extLst>
          </p:cNvPr>
          <p:cNvSpPr/>
          <p:nvPr/>
        </p:nvSpPr>
        <p:spPr>
          <a:xfrm>
            <a:off x="1611079" y="1930365"/>
            <a:ext cx="3712029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Labor (L)</a:t>
            </a:r>
            <a:endParaRPr lang="en-US" altLang="en-US" sz="2400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Can be </a:t>
            </a: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varied immediately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Need more to produce one more unit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“</a:t>
            </a:r>
            <a:r>
              <a:rPr lang="en-US" altLang="ja-JP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Variable inputs</a:t>
            </a:r>
            <a:r>
              <a:rPr lang="ja-JP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”</a:t>
            </a:r>
            <a:endParaRPr lang="en-US" altLang="en-US" sz="24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66368A-866A-77E0-D482-63525B03F8AE}"/>
              </a:ext>
            </a:extLst>
          </p:cNvPr>
          <p:cNvGrpSpPr/>
          <p:nvPr/>
        </p:nvGrpSpPr>
        <p:grpSpPr>
          <a:xfrm>
            <a:off x="2021696" y="5005386"/>
            <a:ext cx="7609113" cy="1243015"/>
            <a:chOff x="653143" y="5005385"/>
            <a:chExt cx="7609113" cy="124301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35FE679-3C27-45DC-9901-2AFF595A2AB7}"/>
                </a:ext>
              </a:extLst>
            </p:cNvPr>
            <p:cNvGrpSpPr/>
            <p:nvPr/>
          </p:nvGrpSpPr>
          <p:grpSpPr>
            <a:xfrm>
              <a:off x="653143" y="5005385"/>
              <a:ext cx="7609113" cy="1243015"/>
              <a:chOff x="653143" y="5005385"/>
              <a:chExt cx="7609113" cy="1243015"/>
            </a:xfrm>
            <a:solidFill>
              <a:srgbClr val="007360"/>
            </a:solidFill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4FD0CDE8-6C84-27B3-C409-6CB08B4082E0}"/>
                  </a:ext>
                </a:extLst>
              </p:cNvPr>
              <p:cNvSpPr/>
              <p:nvPr/>
            </p:nvSpPr>
            <p:spPr>
              <a:xfrm>
                <a:off x="653143" y="5227650"/>
                <a:ext cx="7609113" cy="796019"/>
              </a:xfrm>
              <a:prstGeom prst="roundRect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14D7EBB-4374-8488-4D6A-87EC533148F5}"/>
                  </a:ext>
                </a:extLst>
              </p:cNvPr>
              <p:cNvSpPr/>
              <p:nvPr/>
            </p:nvSpPr>
            <p:spPr>
              <a:xfrm>
                <a:off x="653143" y="5005385"/>
                <a:ext cx="7609113" cy="597015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8A61753-1880-709A-BF8A-9F26EF861244}"/>
                  </a:ext>
                </a:extLst>
              </p:cNvPr>
              <p:cNvSpPr/>
              <p:nvPr/>
            </p:nvSpPr>
            <p:spPr>
              <a:xfrm>
                <a:off x="653143" y="5651385"/>
                <a:ext cx="7609113" cy="597015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ABEAE5F3-D30C-2141-BA91-7FEDE1439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999" y="5394826"/>
              <a:ext cx="6629400" cy="461665"/>
            </a:xfrm>
            <a:prstGeom prst="rect">
              <a:avLst/>
            </a:prstGeom>
            <a:solidFill>
              <a:srgbClr val="D15F2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2400" kern="0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What is variable and fixed </a:t>
              </a:r>
              <a:r>
                <a:rPr lang="en-US" altLang="en-US" sz="2400" b="1" kern="0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changes over time</a:t>
              </a:r>
            </a:p>
          </p:txBody>
        </p:sp>
      </p:grpSp>
      <p:sp>
        <p:nvSpPr>
          <p:cNvPr id="34" name="Rectangle 3">
            <a:extLst>
              <a:ext uri="{FF2B5EF4-FFF2-40B4-BE49-F238E27FC236}">
                <a16:creationId xmlns:a16="http://schemas.microsoft.com/office/drawing/2014/main" id="{CC5E7E24-1F82-F208-8939-F90B1E1F0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173799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Economists simplify to a </a:t>
            </a:r>
            <a:r>
              <a:rPr lang="en-US" altLang="en-US" b="1" kern="0" dirty="0">
                <a:ea typeface="ＭＳ Ｐゴシック" pitchFamily="34" charset="-128"/>
              </a:rPr>
              <a:t>single output </a:t>
            </a:r>
            <a:r>
              <a:rPr lang="en-US" altLang="en-US" kern="0" dirty="0">
                <a:ea typeface="ＭＳ Ｐゴシック" pitchFamily="34" charset="-128"/>
              </a:rPr>
              <a:t>and </a:t>
            </a:r>
            <a:r>
              <a:rPr lang="en-US" altLang="en-US" b="1" kern="0" dirty="0">
                <a:ea typeface="ＭＳ Ｐゴシック" pitchFamily="34" charset="-128"/>
              </a:rPr>
              <a:t>two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“Simple”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2945-7D6B-4955-8DF2-0FB2D6993206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D1E88-FE89-90C8-2ED5-6A01E24F3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39628" y="930487"/>
            <a:ext cx="5712743" cy="337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D43A1E0-6651-7941-1874-90BE7667C062}"/>
              </a:ext>
            </a:extLst>
          </p:cNvPr>
          <p:cNvGrpSpPr/>
          <p:nvPr/>
        </p:nvGrpSpPr>
        <p:grpSpPr>
          <a:xfrm>
            <a:off x="679261" y="4083061"/>
            <a:ext cx="2134176" cy="707573"/>
            <a:chOff x="805255" y="4318933"/>
            <a:chExt cx="2134176" cy="707573"/>
          </a:xfrm>
          <a:solidFill>
            <a:srgbClr val="D15F27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FA30E51-F4A5-448C-1DEB-71651C89A548}"/>
                </a:ext>
              </a:extLst>
            </p:cNvPr>
            <p:cNvGrpSpPr/>
            <p:nvPr/>
          </p:nvGrpSpPr>
          <p:grpSpPr>
            <a:xfrm>
              <a:off x="805255" y="4318933"/>
              <a:ext cx="2134176" cy="707573"/>
              <a:chOff x="729343" y="4445726"/>
              <a:chExt cx="2134176" cy="707573"/>
            </a:xfrm>
            <a:grpFill/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66281B47-250E-CC36-35F5-B0838A7017EB}"/>
                  </a:ext>
                </a:extLst>
              </p:cNvPr>
              <p:cNvSpPr/>
              <p:nvPr/>
            </p:nvSpPr>
            <p:spPr>
              <a:xfrm>
                <a:off x="729343" y="4563292"/>
                <a:ext cx="2134176" cy="470263"/>
              </a:xfrm>
              <a:prstGeom prst="roundRect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E58AB79-91C3-19DD-E4B0-12E4AD6E2086}"/>
                  </a:ext>
                </a:extLst>
              </p:cNvPr>
              <p:cNvSpPr/>
              <p:nvPr/>
            </p:nvSpPr>
            <p:spPr>
              <a:xfrm>
                <a:off x="729343" y="4445726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C44BB01-A58C-9597-19F6-AA210FBD608F}"/>
                  </a:ext>
                </a:extLst>
              </p:cNvPr>
              <p:cNvSpPr/>
              <p:nvPr/>
            </p:nvSpPr>
            <p:spPr>
              <a:xfrm>
                <a:off x="729343" y="4800602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EB9B7B-F82F-ECF0-BA28-8F65181B9860}"/>
                </a:ext>
              </a:extLst>
            </p:cNvPr>
            <p:cNvSpPr txBox="1"/>
            <p:nvPr/>
          </p:nvSpPr>
          <p:spPr>
            <a:xfrm>
              <a:off x="1384869" y="4441887"/>
              <a:ext cx="974947" cy="461665"/>
            </a:xfrm>
            <a:prstGeom prst="rect">
              <a:avLst/>
            </a:prstGeom>
            <a:grpFill/>
            <a:ln>
              <a:solidFill>
                <a:srgbClr val="D15F27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Labor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8A1392-62A5-F652-1E90-005F87B43B0A}"/>
              </a:ext>
            </a:extLst>
          </p:cNvPr>
          <p:cNvGrpSpPr/>
          <p:nvPr/>
        </p:nvGrpSpPr>
        <p:grpSpPr>
          <a:xfrm>
            <a:off x="3655453" y="4083061"/>
            <a:ext cx="2134176" cy="707573"/>
            <a:chOff x="4593923" y="4083060"/>
            <a:chExt cx="2134176" cy="707573"/>
          </a:xfrm>
          <a:solidFill>
            <a:srgbClr val="D15F27"/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DAAA6DD-E390-36C4-FE3F-0AE3297EAC6D}"/>
                </a:ext>
              </a:extLst>
            </p:cNvPr>
            <p:cNvGrpSpPr/>
            <p:nvPr/>
          </p:nvGrpSpPr>
          <p:grpSpPr>
            <a:xfrm>
              <a:off x="4593923" y="4083060"/>
              <a:ext cx="2134176" cy="707573"/>
              <a:chOff x="729343" y="4445726"/>
              <a:chExt cx="2134176" cy="707573"/>
            </a:xfrm>
            <a:grpFill/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94241CC-0E62-6E48-C966-D76186FC8D20}"/>
                  </a:ext>
                </a:extLst>
              </p:cNvPr>
              <p:cNvSpPr/>
              <p:nvPr/>
            </p:nvSpPr>
            <p:spPr>
              <a:xfrm>
                <a:off x="729343" y="4563292"/>
                <a:ext cx="2134176" cy="470263"/>
              </a:xfrm>
              <a:prstGeom prst="roundRect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FD7E153-BBD8-C669-10CD-7A90D7EC98F0}"/>
                  </a:ext>
                </a:extLst>
              </p:cNvPr>
              <p:cNvSpPr/>
              <p:nvPr/>
            </p:nvSpPr>
            <p:spPr>
              <a:xfrm>
                <a:off x="729343" y="4445726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98F0F62-3C4F-080D-4D31-BC5319ED2EFC}"/>
                  </a:ext>
                </a:extLst>
              </p:cNvPr>
              <p:cNvSpPr/>
              <p:nvPr/>
            </p:nvSpPr>
            <p:spPr>
              <a:xfrm>
                <a:off x="729343" y="4800602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56B222-5A48-737A-3997-9EBCD4BBF2E6}"/>
                </a:ext>
              </a:extLst>
            </p:cNvPr>
            <p:cNvSpPr txBox="1"/>
            <p:nvPr/>
          </p:nvSpPr>
          <p:spPr>
            <a:xfrm>
              <a:off x="5086046" y="4206014"/>
              <a:ext cx="1149930" cy="461665"/>
            </a:xfrm>
            <a:prstGeom prst="rect">
              <a:avLst/>
            </a:prstGeom>
            <a:grpFill/>
            <a:ln>
              <a:solidFill>
                <a:srgbClr val="D15F27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Capital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AD3B0E-788D-425F-C076-448F3F52BEB5}"/>
              </a:ext>
            </a:extLst>
          </p:cNvPr>
          <p:cNvGrpSpPr/>
          <p:nvPr/>
        </p:nvGrpSpPr>
        <p:grpSpPr>
          <a:xfrm>
            <a:off x="6631645" y="4083061"/>
            <a:ext cx="2134176" cy="707573"/>
            <a:chOff x="3469947" y="4083060"/>
            <a:chExt cx="2134176" cy="707573"/>
          </a:xfrm>
          <a:solidFill>
            <a:srgbClr val="D15F27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B8B6C70-1E70-072E-DE7F-1FD78FF8BD1C}"/>
                </a:ext>
              </a:extLst>
            </p:cNvPr>
            <p:cNvGrpSpPr/>
            <p:nvPr/>
          </p:nvGrpSpPr>
          <p:grpSpPr>
            <a:xfrm>
              <a:off x="3469947" y="4083060"/>
              <a:ext cx="2134176" cy="707573"/>
              <a:chOff x="729343" y="4445726"/>
              <a:chExt cx="2134176" cy="707573"/>
            </a:xfrm>
            <a:grpFill/>
          </p:grpSpPr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E4B744D9-9F7C-8BC1-3CDF-338C20BDF1F2}"/>
                  </a:ext>
                </a:extLst>
              </p:cNvPr>
              <p:cNvSpPr/>
              <p:nvPr/>
            </p:nvSpPr>
            <p:spPr>
              <a:xfrm>
                <a:off x="729343" y="4563292"/>
                <a:ext cx="2134176" cy="470263"/>
              </a:xfrm>
              <a:prstGeom prst="roundRect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6E8C27F-6263-A24A-3A65-65F595D11189}"/>
                  </a:ext>
                </a:extLst>
              </p:cNvPr>
              <p:cNvSpPr/>
              <p:nvPr/>
            </p:nvSpPr>
            <p:spPr>
              <a:xfrm>
                <a:off x="729343" y="4445726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85565E6-47B1-37FB-83C3-0AF51E006086}"/>
                  </a:ext>
                </a:extLst>
              </p:cNvPr>
              <p:cNvSpPr/>
              <p:nvPr/>
            </p:nvSpPr>
            <p:spPr>
              <a:xfrm>
                <a:off x="729343" y="4800602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D57003-20F0-575A-EC2A-1B9F45C79DB0}"/>
                </a:ext>
              </a:extLst>
            </p:cNvPr>
            <p:cNvSpPr txBox="1"/>
            <p:nvPr/>
          </p:nvSpPr>
          <p:spPr>
            <a:xfrm>
              <a:off x="3962070" y="4206014"/>
              <a:ext cx="1149930" cy="461665"/>
            </a:xfrm>
            <a:prstGeom prst="rect">
              <a:avLst/>
            </a:prstGeom>
            <a:grpFill/>
            <a:ln>
              <a:solidFill>
                <a:srgbClr val="D15F27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Capital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82B413-DAB4-A584-FC66-F2A094B0DDEE}"/>
              </a:ext>
            </a:extLst>
          </p:cNvPr>
          <p:cNvGrpSpPr/>
          <p:nvPr/>
        </p:nvGrpSpPr>
        <p:grpSpPr>
          <a:xfrm>
            <a:off x="9607837" y="4083061"/>
            <a:ext cx="2134176" cy="707573"/>
            <a:chOff x="805255" y="4318933"/>
            <a:chExt cx="2134176" cy="707573"/>
          </a:xfrm>
          <a:solidFill>
            <a:srgbClr val="D15F27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DE4CBF6-9C59-E111-D268-1D6268D6FE81}"/>
                </a:ext>
              </a:extLst>
            </p:cNvPr>
            <p:cNvGrpSpPr/>
            <p:nvPr/>
          </p:nvGrpSpPr>
          <p:grpSpPr>
            <a:xfrm>
              <a:off x="805255" y="4318933"/>
              <a:ext cx="2134176" cy="707573"/>
              <a:chOff x="729343" y="4445726"/>
              <a:chExt cx="2134176" cy="707573"/>
            </a:xfrm>
            <a:grpFill/>
          </p:grpSpPr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1C2ACC19-534E-1DAA-6F24-953EA4B3194F}"/>
                  </a:ext>
                </a:extLst>
              </p:cNvPr>
              <p:cNvSpPr/>
              <p:nvPr/>
            </p:nvSpPr>
            <p:spPr>
              <a:xfrm>
                <a:off x="729343" y="4563292"/>
                <a:ext cx="2134176" cy="470263"/>
              </a:xfrm>
              <a:prstGeom prst="roundRect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620F86-3681-BCF9-C7ED-D3F241808DC8}"/>
                  </a:ext>
                </a:extLst>
              </p:cNvPr>
              <p:cNvSpPr/>
              <p:nvPr/>
            </p:nvSpPr>
            <p:spPr>
              <a:xfrm>
                <a:off x="729343" y="4445726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20F3D0A-7914-06AF-A4EE-A44B51629B18}"/>
                  </a:ext>
                </a:extLst>
              </p:cNvPr>
              <p:cNvSpPr/>
              <p:nvPr/>
            </p:nvSpPr>
            <p:spPr>
              <a:xfrm>
                <a:off x="729343" y="4800602"/>
                <a:ext cx="2134176" cy="352697"/>
              </a:xfrm>
              <a:prstGeom prst="ellipse">
                <a:avLst/>
              </a:prstGeom>
              <a:grpFill/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851CE9-16A9-61D4-7CE0-B98D9051C2FF}"/>
                </a:ext>
              </a:extLst>
            </p:cNvPr>
            <p:cNvSpPr txBox="1"/>
            <p:nvPr/>
          </p:nvSpPr>
          <p:spPr>
            <a:xfrm>
              <a:off x="1384869" y="4441887"/>
              <a:ext cx="974947" cy="461665"/>
            </a:xfrm>
            <a:prstGeom prst="rect">
              <a:avLst/>
            </a:prstGeom>
            <a:grpFill/>
            <a:ln>
              <a:solidFill>
                <a:srgbClr val="D15F27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Labor</a:t>
              </a:r>
            </a:p>
          </p:txBody>
        </p:sp>
      </p:grpSp>
      <p:pic>
        <p:nvPicPr>
          <p:cNvPr id="29" name="Picture 2" descr="File:Water Main and Faucet (3681464688).jpg">
            <a:extLst>
              <a:ext uri="{FF2B5EF4-FFF2-40B4-BE49-F238E27FC236}">
                <a16:creationId xmlns:a16="http://schemas.microsoft.com/office/drawing/2014/main" id="{40E6ABEB-50FE-E2C4-040F-133BDDB1C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954705" y="4905862"/>
            <a:ext cx="1430890" cy="146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A8861C9-FE12-3F66-C37E-706227922C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9260" y="4900448"/>
            <a:ext cx="2134175" cy="1422784"/>
          </a:xfrm>
          <a:prstGeom prst="rect">
            <a:avLst/>
          </a:prstGeom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AA9502B6-5FE2-36B8-1ED5-932B2FA26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73025" y="4861433"/>
            <a:ext cx="1099032" cy="151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09A6ED8-517B-40DE-7283-01C194A7CA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285" y="4857301"/>
            <a:ext cx="2198896" cy="146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5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Production functions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7134567-AA68-4461-81FE-4E34CAA44F9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117EC-FAAA-2340-829E-8D5E02DCA60C}"/>
              </a:ext>
            </a:extLst>
          </p:cNvPr>
          <p:cNvGrpSpPr/>
          <p:nvPr/>
        </p:nvGrpSpPr>
        <p:grpSpPr>
          <a:xfrm>
            <a:off x="673609" y="2759199"/>
            <a:ext cx="10844782" cy="827515"/>
            <a:chOff x="256032" y="2430014"/>
            <a:chExt cx="10844782" cy="8275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81DC916-A67C-DBDB-42CF-2D447A072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2430014"/>
              <a:ext cx="85461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Amount of Q that comes out when L and K go in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AD1B210-A8D3-4757-4134-5F3ADDEDFC74}"/>
                </a:ext>
              </a:extLst>
            </p:cNvPr>
            <p:cNvSpPr/>
            <p:nvPr/>
          </p:nvSpPr>
          <p:spPr>
            <a:xfrm>
              <a:off x="256032" y="2430014"/>
              <a:ext cx="2127939" cy="827515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f(L,K)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E532B41-A04F-D83B-693D-FD0ABCDD6184}"/>
              </a:ext>
            </a:extLst>
          </p:cNvPr>
          <p:cNvGrpSpPr/>
          <p:nvPr/>
        </p:nvGrpSpPr>
        <p:grpSpPr>
          <a:xfrm>
            <a:off x="673609" y="3881103"/>
            <a:ext cx="10844782" cy="827716"/>
            <a:chOff x="256032" y="3615215"/>
            <a:chExt cx="10844782" cy="827716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FD1D9A7-69EE-4470-D796-0DF77CEE2A9A}"/>
                </a:ext>
              </a:extLst>
            </p:cNvPr>
            <p:cNvSpPr/>
            <p:nvPr/>
          </p:nvSpPr>
          <p:spPr>
            <a:xfrm>
              <a:off x="256032" y="3615416"/>
              <a:ext cx="2127939" cy="827515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Assumption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2AD7C797-D14E-8C31-C6DA-A3AF7386C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3615215"/>
              <a:ext cx="85461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f(L,K) tells us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maximum quantity</a:t>
              </a:r>
              <a:endPara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850A64-40DE-28C4-6053-66C77CF7AE0A}"/>
              </a:ext>
            </a:extLst>
          </p:cNvPr>
          <p:cNvGrpSpPr/>
          <p:nvPr/>
        </p:nvGrpSpPr>
        <p:grpSpPr>
          <a:xfrm>
            <a:off x="673609" y="5129600"/>
            <a:ext cx="10844782" cy="954107"/>
            <a:chOff x="256032" y="4800415"/>
            <a:chExt cx="10844782" cy="954107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8896C522-3CFD-616F-6EFB-1811E75D80A7}"/>
                </a:ext>
              </a:extLst>
            </p:cNvPr>
            <p:cNvSpPr/>
            <p:nvPr/>
          </p:nvSpPr>
          <p:spPr>
            <a:xfrm>
              <a:off x="256032" y="4800415"/>
              <a:ext cx="2127939" cy="827515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Flexible</a:t>
              </a:r>
            </a:p>
          </p:txBody>
        </p:sp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38EF4B60-9669-C222-862E-B4B06D34C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658" y="4800415"/>
              <a:ext cx="8546156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Easily tailored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to include other types of inputs or a greater number of them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400E2BA-458D-20B2-3463-52E03E860FCE}"/>
              </a:ext>
            </a:extLst>
          </p:cNvPr>
          <p:cNvGrpSpPr/>
          <p:nvPr/>
        </p:nvGrpSpPr>
        <p:grpSpPr>
          <a:xfrm>
            <a:off x="3374571" y="1374016"/>
            <a:ext cx="4811486" cy="1154088"/>
            <a:chOff x="1850571" y="925086"/>
            <a:chExt cx="4811486" cy="115408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9CF79ED-D785-9116-8109-9FDA641E6281}"/>
                </a:ext>
              </a:extLst>
            </p:cNvPr>
            <p:cNvGrpSpPr/>
            <p:nvPr/>
          </p:nvGrpSpPr>
          <p:grpSpPr>
            <a:xfrm>
              <a:off x="1850571" y="925086"/>
              <a:ext cx="4811486" cy="1154088"/>
              <a:chOff x="1850571" y="925086"/>
              <a:chExt cx="4811486" cy="1154088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8C24793A-EF2E-69E8-0084-946AB1CD7362}"/>
                  </a:ext>
                </a:extLst>
              </p:cNvPr>
              <p:cNvSpPr/>
              <p:nvPr/>
            </p:nvSpPr>
            <p:spPr>
              <a:xfrm>
                <a:off x="1850571" y="1129772"/>
                <a:ext cx="4811486" cy="73165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8EFE89C-AF5B-65AA-98B7-E9ED440D9483}"/>
                  </a:ext>
                </a:extLst>
              </p:cNvPr>
              <p:cNvSpPr/>
              <p:nvPr/>
            </p:nvSpPr>
            <p:spPr>
              <a:xfrm>
                <a:off x="1850571" y="925086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4CA0926-C28E-473B-B299-F46232EE593B}"/>
                  </a:ext>
                </a:extLst>
              </p:cNvPr>
              <p:cNvSpPr/>
              <p:nvPr/>
            </p:nvSpPr>
            <p:spPr>
              <a:xfrm>
                <a:off x="1850571" y="1530431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9418B3E8-8E92-DF27-3806-8FDED3A2E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7332" y="1240520"/>
              <a:ext cx="459796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General form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: Q = f(L,K,…)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Production functions: Examples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4F82493B-75AD-46DE-BFDA-18B77DDEAED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FFC62D-64BA-A503-B278-54621BB96AD8}"/>
              </a:ext>
            </a:extLst>
          </p:cNvPr>
          <p:cNvGrpSpPr/>
          <p:nvPr/>
        </p:nvGrpSpPr>
        <p:grpSpPr>
          <a:xfrm>
            <a:off x="637031" y="1101656"/>
            <a:ext cx="10643617" cy="2457235"/>
            <a:chOff x="637031" y="930635"/>
            <a:chExt cx="10643617" cy="245723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A93A75AB-0771-3AF1-F03C-5B78A900E7D5}"/>
                </a:ext>
              </a:extLst>
            </p:cNvPr>
            <p:cNvSpPr/>
            <p:nvPr/>
          </p:nvSpPr>
          <p:spPr>
            <a:xfrm>
              <a:off x="2331720" y="1007797"/>
              <a:ext cx="8948928" cy="2302911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EE703DF-616D-3556-F458-B906C1593A68}"/>
                </a:ext>
              </a:extLst>
            </p:cNvPr>
            <p:cNvSpPr/>
            <p:nvPr/>
          </p:nvSpPr>
          <p:spPr>
            <a:xfrm>
              <a:off x="637031" y="930635"/>
              <a:ext cx="2791969" cy="245723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C37581B-E96A-0F34-239E-E37E0EDB0723}"/>
                </a:ext>
              </a:extLst>
            </p:cNvPr>
            <p:cNvSpPr/>
            <p:nvPr/>
          </p:nvSpPr>
          <p:spPr>
            <a:xfrm>
              <a:off x="728472" y="1007797"/>
              <a:ext cx="2590800" cy="2302911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 </a:t>
              </a:r>
              <a:r>
                <a:rPr lang="en-US" altLang="en-US" sz="2400" kern="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Utility </a:t>
              </a:r>
              <a:r>
                <a:rPr lang="en-US" altLang="en-US" sz="2400" b="1" kern="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produces electricity (kWh) </a:t>
              </a:r>
              <a:r>
                <a:rPr lang="en-US" altLang="en-US" sz="2400" kern="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from coal and/or natural gas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7358E71-1105-E912-332F-19981EE75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784" y="1297478"/>
              <a:ext cx="7522464" cy="172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Each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ton of coal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(C) produces 60 kilowatt hours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Each 100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cubic meters of gas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(G) produces 40 kilowatt hours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Production function: 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= 60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C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+ 40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G</a:t>
              </a:r>
              <a:endPara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EC6FED-4D50-8202-A083-281AF461443A}"/>
              </a:ext>
            </a:extLst>
          </p:cNvPr>
          <p:cNvGrpSpPr/>
          <p:nvPr/>
        </p:nvGrpSpPr>
        <p:grpSpPr>
          <a:xfrm>
            <a:off x="637031" y="3792707"/>
            <a:ext cx="10643617" cy="2457235"/>
            <a:chOff x="637031" y="3792707"/>
            <a:chExt cx="10643617" cy="245723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009211B-1966-BD92-2012-BD0DC12DA9D5}"/>
                </a:ext>
              </a:extLst>
            </p:cNvPr>
            <p:cNvSpPr/>
            <p:nvPr/>
          </p:nvSpPr>
          <p:spPr>
            <a:xfrm>
              <a:off x="2331720" y="3869869"/>
              <a:ext cx="8948928" cy="2302911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93F38F6-FE98-EA18-1EAA-A1E1D8608F94}"/>
                </a:ext>
              </a:extLst>
            </p:cNvPr>
            <p:cNvSpPr/>
            <p:nvPr/>
          </p:nvSpPr>
          <p:spPr>
            <a:xfrm>
              <a:off x="637031" y="3792707"/>
              <a:ext cx="2791969" cy="245723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803A807-51B3-F69C-A237-006CADC82F71}"/>
                </a:ext>
              </a:extLst>
            </p:cNvPr>
            <p:cNvSpPr/>
            <p:nvPr/>
          </p:nvSpPr>
          <p:spPr>
            <a:xfrm>
              <a:off x="728472" y="3866071"/>
              <a:ext cx="2590800" cy="2310507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 </a:t>
              </a:r>
              <a:r>
                <a:rPr lang="en-US" altLang="en-US" sz="2400" kern="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Number of </a:t>
              </a:r>
              <a:r>
                <a:rPr lang="en-US" altLang="en-US" sz="2400" b="1" kern="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insurance claims </a:t>
              </a:r>
              <a:r>
                <a:rPr lang="en-US" altLang="en-US" sz="2400" kern="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processed in a day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3">
                  <a:extLst>
                    <a:ext uri="{FF2B5EF4-FFF2-40B4-BE49-F238E27FC236}">
                      <a16:creationId xmlns:a16="http://schemas.microsoft.com/office/drawing/2014/main" id="{CD567184-F98D-DCB1-35D8-D1FB2FC742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05784" y="3880563"/>
                  <a:ext cx="7522464" cy="22815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charset="0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16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5pPr>
                  <a:lvl6pPr marL="25146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6pPr>
                  <a:lvl7pPr marL="29718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7pPr>
                  <a:lvl8pPr marL="34290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8pPr>
                  <a:lvl9pPr marL="38862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spcAft>
                      <a:spcPts val="600"/>
                    </a:spcAft>
                  </a:pPr>
                  <a:r>
                    <a:rPr lang="en-US" altLang="en-US" sz="2400" i="1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Q</a:t>
                  </a:r>
                  <a:r>
                    <a:rPr lang="en-US" altLang="en-US" sz="2400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 = </a:t>
                  </a:r>
                  <a:r>
                    <a:rPr lang="en-US" altLang="en-US" sz="2400" i="1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K</a:t>
                  </a:r>
                  <a:r>
                    <a:rPr lang="en-US" altLang="en-US" sz="2400" kern="0" baseline="3000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1/2</a:t>
                  </a:r>
                  <a:r>
                    <a:rPr lang="en-US" altLang="en-US" sz="2400" i="1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L</a:t>
                  </a:r>
                  <a:r>
                    <a:rPr lang="en-US" altLang="en-US" sz="2400" kern="0" baseline="3000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1/2</a:t>
                  </a:r>
                  <a:r>
                    <a:rPr lang="en-US" altLang="en-US" sz="2400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 =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en-US" sz="2400" i="1" ker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radPr>
                        <m:deg/>
                        <m:e>
                          <m:r>
                            <a:rPr lang="en-US" altLang="en-US" sz="2400" i="1" kern="0">
                              <a:latin typeface="Cambria Math"/>
                              <a:ea typeface="ＭＳ Ｐゴシック" pitchFamily="34" charset="-128"/>
                            </a:rPr>
                            <m:t>𝐾𝐿</m:t>
                          </m:r>
                        </m:e>
                      </m:rad>
                    </m:oMath>
                  </a14:m>
                  <a:endPara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endParaRPr>
                </a:p>
                <a:p>
                  <a:pPr marL="341313" indent="-341313" eaLnBrk="1" hangingPunct="1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altLang="en-US" sz="2400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	K = total computer power, L = # of claims workers</a:t>
                  </a:r>
                </a:p>
                <a:p>
                  <a:pPr marL="419100" indent="-419100" eaLnBrk="1" hangingPunct="1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altLang="en-US" sz="2400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If	K = 2, L = 2:	Q = 2</a:t>
                  </a:r>
                </a:p>
                <a:p>
                  <a:pPr marL="419100" indent="-419100" eaLnBrk="1" hangingPunct="1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altLang="en-US" sz="2400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	K = 9, L = 1:	Q = 3</a:t>
                  </a:r>
                </a:p>
                <a:p>
                  <a:pPr marL="419100" indent="-419100" eaLnBrk="1" hangingPunct="1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altLang="en-US" sz="2400" kern="0" dirty="0">
                      <a:latin typeface="Source Sans Pro" panose="020B0503030403020204" pitchFamily="34" charset="0"/>
                      <a:ea typeface="ＭＳ Ｐゴシック" pitchFamily="34" charset="-128"/>
                    </a:rPr>
                    <a:t>	K = 9, L = 4:	Q = 6</a:t>
                  </a:r>
                </a:p>
              </p:txBody>
            </p:sp>
          </mc:Choice>
          <mc:Fallback xmlns="">
            <p:sp>
              <p:nvSpPr>
                <p:cNvPr id="37" name="Rectangle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05784" y="3880563"/>
                  <a:ext cx="7522464" cy="2281522"/>
                </a:xfrm>
                <a:prstGeom prst="rect">
                  <a:avLst/>
                </a:prstGeom>
                <a:blipFill>
                  <a:blip r:embed="rId2"/>
                  <a:stretch>
                    <a:fillRect l="-1378" t="-1337" b="-534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Production technology</a:t>
            </a:r>
          </a:p>
        </p:txBody>
      </p:sp>
      <p:sp>
        <p:nvSpPr>
          <p:cNvPr id="2457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6BB2C7C-2B62-4DC0-8CE4-B4828D8A2DC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aphicFrame>
        <p:nvGraphicFramePr>
          <p:cNvPr id="4" name="Group 243">
            <a:extLst>
              <a:ext uri="{FF2B5EF4-FFF2-40B4-BE49-F238E27FC236}">
                <a16:creationId xmlns:a16="http://schemas.microsoft.com/office/drawing/2014/main" id="{B29879EF-1DCB-86B1-C296-CC9418165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8933747"/>
              </p:ext>
            </p:extLst>
          </p:nvPr>
        </p:nvGraphicFramePr>
        <p:xfrm>
          <a:off x="2225675" y="1647369"/>
          <a:ext cx="7816850" cy="3613914"/>
        </p:xfrm>
        <a:graphic>
          <a:graphicData uri="http://schemas.openxmlformats.org/drawingml/2006/table">
            <a:tbl>
              <a:tblPr/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5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55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65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75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75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85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75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105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85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115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115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44060502-BDF2-5F04-ACA0-1F0AF296C0E3}"/>
              </a:ext>
            </a:extLst>
          </p:cNvPr>
          <p:cNvGrpSpPr/>
          <p:nvPr/>
        </p:nvGrpSpPr>
        <p:grpSpPr>
          <a:xfrm>
            <a:off x="2225675" y="5486197"/>
            <a:ext cx="7816850" cy="1154088"/>
            <a:chOff x="701675" y="5214047"/>
            <a:chExt cx="7816850" cy="115408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E9F577-FD54-BD7D-1601-02256491837F}"/>
                </a:ext>
              </a:extLst>
            </p:cNvPr>
            <p:cNvGrpSpPr/>
            <p:nvPr/>
          </p:nvGrpSpPr>
          <p:grpSpPr>
            <a:xfrm>
              <a:off x="701675" y="5214047"/>
              <a:ext cx="7816850" cy="1154088"/>
              <a:chOff x="1850571" y="925086"/>
              <a:chExt cx="4811486" cy="1154088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92ADE43-9E59-E27E-DAE7-AAE361A12610}"/>
                  </a:ext>
                </a:extLst>
              </p:cNvPr>
              <p:cNvSpPr/>
              <p:nvPr/>
            </p:nvSpPr>
            <p:spPr>
              <a:xfrm>
                <a:off x="1850571" y="1129772"/>
                <a:ext cx="4811486" cy="73165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B7633F5-B1AE-D149-0FFB-58367BDD9BCF}"/>
                  </a:ext>
                </a:extLst>
              </p:cNvPr>
              <p:cNvSpPr/>
              <p:nvPr/>
            </p:nvSpPr>
            <p:spPr>
              <a:xfrm>
                <a:off x="1850571" y="925086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C1CA826-E2F3-DC53-3DD7-826EB85AEBF9}"/>
                  </a:ext>
                </a:extLst>
              </p:cNvPr>
              <p:cNvSpPr/>
              <p:nvPr/>
            </p:nvSpPr>
            <p:spPr>
              <a:xfrm>
                <a:off x="1850571" y="1530431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0" name="Rectangle 244">
              <a:extLst>
                <a:ext uri="{FF2B5EF4-FFF2-40B4-BE49-F238E27FC236}">
                  <a16:creationId xmlns:a16="http://schemas.microsoft.com/office/drawing/2014/main" id="{D2F4A61C-B92C-A531-CB90-073EEAD18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675" y="5531957"/>
              <a:ext cx="7816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spcAft>
                  <a:spcPct val="20000"/>
                </a:spcAft>
              </a:pPr>
              <a:r>
                <a:rPr lang="en-US" altLang="en-US" dirty="0">
                  <a:latin typeface="Source Sans Pro" panose="020B0503030403020204" pitchFamily="34" charset="0"/>
                </a:rPr>
                <a:t>There are </a:t>
              </a:r>
              <a:r>
                <a:rPr lang="en-US" altLang="en-US" b="1" dirty="0">
                  <a:latin typeface="Source Sans Pro" panose="020B0503030403020204" pitchFamily="34" charset="0"/>
                </a:rPr>
                <a:t>several ways </a:t>
              </a:r>
              <a:r>
                <a:rPr lang="en-US" altLang="en-US" dirty="0">
                  <a:latin typeface="Source Sans Pro" panose="020B0503030403020204" pitchFamily="34" charset="0"/>
                </a:rPr>
                <a:t>to produce </a:t>
              </a:r>
              <a:r>
                <a:rPr lang="en-US" altLang="en-US" b="1" i="1" dirty="0">
                  <a:latin typeface="Source Sans Pro" panose="020B0503030403020204" pitchFamily="34" charset="0"/>
                </a:rPr>
                <a:t>90</a:t>
              </a:r>
              <a:r>
                <a:rPr lang="en-US" altLang="en-US" dirty="0">
                  <a:latin typeface="Source Sans Pro" panose="020B0503030403020204" pitchFamily="34" charset="0"/>
                </a:rPr>
                <a:t> units of output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BDDEE1-CF89-4D92-0FFD-B2067C13DF24}"/>
              </a:ext>
            </a:extLst>
          </p:cNvPr>
          <p:cNvGrpSpPr/>
          <p:nvPr/>
        </p:nvGrpSpPr>
        <p:grpSpPr>
          <a:xfrm>
            <a:off x="9089571" y="3072982"/>
            <a:ext cx="598714" cy="576943"/>
            <a:chOff x="7565571" y="3072981"/>
            <a:chExt cx="598714" cy="57694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289789-FD73-BE3E-B7C3-108247218F0E}"/>
                </a:ext>
              </a:extLst>
            </p:cNvPr>
            <p:cNvSpPr/>
            <p:nvPr/>
          </p:nvSpPr>
          <p:spPr>
            <a:xfrm>
              <a:off x="7565571" y="3072981"/>
              <a:ext cx="598714" cy="576943"/>
            </a:xfrm>
            <a:prstGeom prst="ellipse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i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84DBDB-2BEF-DE5E-EB0A-95742FA09CAB}"/>
                </a:ext>
              </a:extLst>
            </p:cNvPr>
            <p:cNvSpPr txBox="1"/>
            <p:nvPr/>
          </p:nvSpPr>
          <p:spPr>
            <a:xfrm>
              <a:off x="7617103" y="3130619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90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6FB10E0-75E4-5683-F379-60BA16A30A6A}"/>
              </a:ext>
            </a:extLst>
          </p:cNvPr>
          <p:cNvGrpSpPr/>
          <p:nvPr/>
        </p:nvGrpSpPr>
        <p:grpSpPr>
          <a:xfrm>
            <a:off x="6487885" y="3614059"/>
            <a:ext cx="598714" cy="576943"/>
            <a:chOff x="4963885" y="3614058"/>
            <a:chExt cx="598714" cy="57694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CEC400A-06BA-066A-69EB-C9FD57D3A172}"/>
                </a:ext>
              </a:extLst>
            </p:cNvPr>
            <p:cNvSpPr/>
            <p:nvPr/>
          </p:nvSpPr>
          <p:spPr>
            <a:xfrm>
              <a:off x="4963885" y="3614058"/>
              <a:ext cx="598714" cy="576943"/>
            </a:xfrm>
            <a:prstGeom prst="ellipse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i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2265B2-B3AB-364E-1330-2361B4994B5F}"/>
                </a:ext>
              </a:extLst>
            </p:cNvPr>
            <p:cNvSpPr txBox="1"/>
            <p:nvPr/>
          </p:nvSpPr>
          <p:spPr>
            <a:xfrm>
              <a:off x="5015417" y="3671696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90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F7BB023-2974-7DC1-0DC6-2206B26EFB9D}"/>
              </a:ext>
            </a:extLst>
          </p:cNvPr>
          <p:cNvGrpSpPr/>
          <p:nvPr/>
        </p:nvGrpSpPr>
        <p:grpSpPr>
          <a:xfrm>
            <a:off x="5181600" y="4702633"/>
            <a:ext cx="598714" cy="576943"/>
            <a:chOff x="3657600" y="4702632"/>
            <a:chExt cx="598714" cy="576943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89A8EBD-F821-D1C2-E59D-D6FD90EB1F3E}"/>
                </a:ext>
              </a:extLst>
            </p:cNvPr>
            <p:cNvSpPr/>
            <p:nvPr/>
          </p:nvSpPr>
          <p:spPr>
            <a:xfrm>
              <a:off x="3657600" y="4702632"/>
              <a:ext cx="598714" cy="576943"/>
            </a:xfrm>
            <a:prstGeom prst="ellipse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i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E32B42-A278-4FA2-8376-D4E163B0F4BE}"/>
                </a:ext>
              </a:extLst>
            </p:cNvPr>
            <p:cNvSpPr txBox="1"/>
            <p:nvPr/>
          </p:nvSpPr>
          <p:spPr>
            <a:xfrm>
              <a:off x="3709132" y="4760270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90</a:t>
              </a:r>
            </a:p>
          </p:txBody>
        </p: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F3F50482-4297-5663-1BE8-61D0ABF06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1080723"/>
            <a:ext cx="73478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Can describe production technology with a table: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Illustrating production technology</a:t>
            </a: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9359F78-8EA7-4322-A2BD-58F481D2D3B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CB4BCCC3-0F13-3E65-A332-A07477F74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6550" y="2260601"/>
            <a:ext cx="0" cy="34147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4" name="Line 9">
            <a:extLst>
              <a:ext uri="{FF2B5EF4-FFF2-40B4-BE49-F238E27FC236}">
                <a16:creationId xmlns:a16="http://schemas.microsoft.com/office/drawing/2014/main" id="{97FAECD6-23E0-DEF8-AC3A-AFA6A4199B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6550" y="5668963"/>
            <a:ext cx="44021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AD4B757C-13E8-88C9-05EF-751822159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39" y="2254250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59577756-48E8-C496-B5DC-1B34567BE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300" y="4906964"/>
            <a:ext cx="1219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Q = 75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0EB404EA-D2D3-CB73-30AE-9B7377137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289" y="5668963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58ED2B07-5EA8-569D-1054-1267DDA67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4473576"/>
            <a:ext cx="1041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Q</a:t>
            </a:r>
            <a:r>
              <a:rPr lang="en-US" altLang="en-US" sz="2000" baseline="-25000" dirty="0">
                <a:latin typeface="Source Sans Pro" panose="020B0503030403020204" pitchFamily="34" charset="0"/>
              </a:rPr>
              <a:t> </a:t>
            </a:r>
            <a:r>
              <a:rPr lang="en-US" altLang="en-US" sz="2000" dirty="0">
                <a:latin typeface="Source Sans Pro" panose="020B0503030403020204" pitchFamily="34" charset="0"/>
              </a:rPr>
              <a:t>= 90</a:t>
            </a: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E663F360-6C72-CF87-0D85-2029936B3D89}"/>
              </a:ext>
            </a:extLst>
          </p:cNvPr>
          <p:cNvSpPr>
            <a:spLocks/>
          </p:cNvSpPr>
          <p:nvPr/>
        </p:nvSpPr>
        <p:spPr bwMode="auto">
          <a:xfrm>
            <a:off x="2987676" y="2878139"/>
            <a:ext cx="3186113" cy="2581275"/>
          </a:xfrm>
          <a:custGeom>
            <a:avLst/>
            <a:gdLst>
              <a:gd name="T0" fmla="*/ 0 w 2103"/>
              <a:gd name="T1" fmla="*/ 0 h 1626"/>
              <a:gd name="T2" fmla="*/ 2147483647 w 2103"/>
              <a:gd name="T3" fmla="*/ 2147483647 h 1626"/>
              <a:gd name="T4" fmla="*/ 2147483647 w 2103"/>
              <a:gd name="T5" fmla="*/ 2147483647 h 1626"/>
              <a:gd name="T6" fmla="*/ 2147483647 w 2103"/>
              <a:gd name="T7" fmla="*/ 2147483647 h 1626"/>
              <a:gd name="T8" fmla="*/ 2147483647 w 2103"/>
              <a:gd name="T9" fmla="*/ 2147483647 h 1626"/>
              <a:gd name="T10" fmla="*/ 2147483647 w 2103"/>
              <a:gd name="T11" fmla="*/ 2147483647 h 16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03"/>
              <a:gd name="T19" fmla="*/ 0 h 1626"/>
              <a:gd name="T20" fmla="*/ 2103 w 2103"/>
              <a:gd name="T21" fmla="*/ 1626 h 16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03" h="1626">
                <a:moveTo>
                  <a:pt x="0" y="0"/>
                </a:moveTo>
                <a:cubicBezTo>
                  <a:pt x="23" y="159"/>
                  <a:pt x="47" y="319"/>
                  <a:pt x="95" y="478"/>
                </a:cubicBezTo>
                <a:cubicBezTo>
                  <a:pt x="143" y="637"/>
                  <a:pt x="183" y="805"/>
                  <a:pt x="287" y="956"/>
                </a:cubicBezTo>
                <a:cubicBezTo>
                  <a:pt x="391" y="1107"/>
                  <a:pt x="534" y="1283"/>
                  <a:pt x="717" y="1387"/>
                </a:cubicBezTo>
                <a:cubicBezTo>
                  <a:pt x="900" y="1491"/>
                  <a:pt x="1155" y="1538"/>
                  <a:pt x="1386" y="1578"/>
                </a:cubicBezTo>
                <a:cubicBezTo>
                  <a:pt x="1617" y="1618"/>
                  <a:pt x="1860" y="1622"/>
                  <a:pt x="2103" y="1626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0" name="Text Box 22">
            <a:extLst>
              <a:ext uri="{FF2B5EF4-FFF2-40B4-BE49-F238E27FC236}">
                <a16:creationId xmlns:a16="http://schemas.microsoft.com/office/drawing/2014/main" id="{9E6022CD-3910-E7C3-4452-44ACB5DA6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5314951"/>
            <a:ext cx="1219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Q = 60</a:t>
            </a:r>
          </a:p>
        </p:txBody>
      </p:sp>
      <p:sp>
        <p:nvSpPr>
          <p:cNvPr id="11" name="Line 23">
            <a:extLst>
              <a:ext uri="{FF2B5EF4-FFF2-40B4-BE49-F238E27FC236}">
                <a16:creationId xmlns:a16="http://schemas.microsoft.com/office/drawing/2014/main" id="{BAEED078-2A73-8776-377E-C427F63439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6075" y="4778375"/>
            <a:ext cx="1619250" cy="142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2" name="Line 24">
            <a:extLst>
              <a:ext uri="{FF2B5EF4-FFF2-40B4-BE49-F238E27FC236}">
                <a16:creationId xmlns:a16="http://schemas.microsoft.com/office/drawing/2014/main" id="{D502A2A8-FED4-206D-3589-6417949C10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9" y="4002089"/>
            <a:ext cx="14287" cy="1660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0B77E9A7-C357-D2D3-1618-9F36A485F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0200" y="4017963"/>
            <a:ext cx="16462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4" name="Line 26">
            <a:extLst>
              <a:ext uri="{FF2B5EF4-FFF2-40B4-BE49-F238E27FC236}">
                <a16:creationId xmlns:a16="http://schemas.microsoft.com/office/drawing/2014/main" id="{2C693412-D0F7-D20B-C2DE-CBADB0F50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5325" y="4010026"/>
            <a:ext cx="14288" cy="1660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5" name="Freeform 30">
            <a:extLst>
              <a:ext uri="{FF2B5EF4-FFF2-40B4-BE49-F238E27FC236}">
                <a16:creationId xmlns:a16="http://schemas.microsoft.com/office/drawing/2014/main" id="{833A6942-FB84-D686-DFE6-C4C96F36233C}"/>
              </a:ext>
            </a:extLst>
          </p:cNvPr>
          <p:cNvSpPr>
            <a:spLocks/>
          </p:cNvSpPr>
          <p:nvPr/>
        </p:nvSpPr>
        <p:spPr bwMode="auto">
          <a:xfrm>
            <a:off x="3362326" y="2547939"/>
            <a:ext cx="3121025" cy="2566987"/>
          </a:xfrm>
          <a:custGeom>
            <a:avLst/>
            <a:gdLst>
              <a:gd name="T0" fmla="*/ 0 w 2103"/>
              <a:gd name="T1" fmla="*/ 0 h 1626"/>
              <a:gd name="T2" fmla="*/ 2147483647 w 2103"/>
              <a:gd name="T3" fmla="*/ 2147483647 h 1626"/>
              <a:gd name="T4" fmla="*/ 2147483647 w 2103"/>
              <a:gd name="T5" fmla="*/ 2147483647 h 1626"/>
              <a:gd name="T6" fmla="*/ 2147483647 w 2103"/>
              <a:gd name="T7" fmla="*/ 2147483647 h 1626"/>
              <a:gd name="T8" fmla="*/ 2147483647 w 2103"/>
              <a:gd name="T9" fmla="*/ 2147483647 h 1626"/>
              <a:gd name="T10" fmla="*/ 2147483647 w 2103"/>
              <a:gd name="T11" fmla="*/ 2147483647 h 16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03"/>
              <a:gd name="T19" fmla="*/ 0 h 1626"/>
              <a:gd name="T20" fmla="*/ 2103 w 2103"/>
              <a:gd name="T21" fmla="*/ 1626 h 16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03" h="1626">
                <a:moveTo>
                  <a:pt x="0" y="0"/>
                </a:moveTo>
                <a:cubicBezTo>
                  <a:pt x="23" y="159"/>
                  <a:pt x="47" y="319"/>
                  <a:pt x="95" y="478"/>
                </a:cubicBezTo>
                <a:cubicBezTo>
                  <a:pt x="143" y="637"/>
                  <a:pt x="183" y="805"/>
                  <a:pt x="287" y="956"/>
                </a:cubicBezTo>
                <a:cubicBezTo>
                  <a:pt x="391" y="1107"/>
                  <a:pt x="534" y="1283"/>
                  <a:pt x="717" y="1387"/>
                </a:cubicBezTo>
                <a:cubicBezTo>
                  <a:pt x="900" y="1491"/>
                  <a:pt x="1155" y="1538"/>
                  <a:pt x="1386" y="1578"/>
                </a:cubicBezTo>
                <a:cubicBezTo>
                  <a:pt x="1617" y="1618"/>
                  <a:pt x="1860" y="1622"/>
                  <a:pt x="2103" y="1626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8C988281-75F9-9A26-D519-46AFD511F69D}"/>
              </a:ext>
            </a:extLst>
          </p:cNvPr>
          <p:cNvSpPr>
            <a:spLocks/>
          </p:cNvSpPr>
          <p:nvPr/>
        </p:nvSpPr>
        <p:spPr bwMode="auto">
          <a:xfrm>
            <a:off x="3832226" y="2325689"/>
            <a:ext cx="3133725" cy="2346325"/>
          </a:xfrm>
          <a:custGeom>
            <a:avLst/>
            <a:gdLst>
              <a:gd name="T0" fmla="*/ 0 w 2103"/>
              <a:gd name="T1" fmla="*/ 0 h 1626"/>
              <a:gd name="T2" fmla="*/ 2147483647 w 2103"/>
              <a:gd name="T3" fmla="*/ 2147483647 h 1626"/>
              <a:gd name="T4" fmla="*/ 2147483647 w 2103"/>
              <a:gd name="T5" fmla="*/ 2147483647 h 1626"/>
              <a:gd name="T6" fmla="*/ 2147483647 w 2103"/>
              <a:gd name="T7" fmla="*/ 2147483647 h 1626"/>
              <a:gd name="T8" fmla="*/ 2147483647 w 2103"/>
              <a:gd name="T9" fmla="*/ 2147483647 h 1626"/>
              <a:gd name="T10" fmla="*/ 2147483647 w 2103"/>
              <a:gd name="T11" fmla="*/ 2147483647 h 16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03"/>
              <a:gd name="T19" fmla="*/ 0 h 1626"/>
              <a:gd name="T20" fmla="*/ 2103 w 2103"/>
              <a:gd name="T21" fmla="*/ 1626 h 16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03" h="1626">
                <a:moveTo>
                  <a:pt x="0" y="0"/>
                </a:moveTo>
                <a:cubicBezTo>
                  <a:pt x="23" y="159"/>
                  <a:pt x="47" y="319"/>
                  <a:pt x="95" y="478"/>
                </a:cubicBezTo>
                <a:cubicBezTo>
                  <a:pt x="143" y="637"/>
                  <a:pt x="183" y="805"/>
                  <a:pt x="287" y="956"/>
                </a:cubicBezTo>
                <a:cubicBezTo>
                  <a:pt x="391" y="1107"/>
                  <a:pt x="534" y="1283"/>
                  <a:pt x="717" y="1387"/>
                </a:cubicBezTo>
                <a:cubicBezTo>
                  <a:pt x="900" y="1491"/>
                  <a:pt x="1155" y="1538"/>
                  <a:pt x="1386" y="1578"/>
                </a:cubicBezTo>
                <a:cubicBezTo>
                  <a:pt x="1617" y="1618"/>
                  <a:pt x="1860" y="1622"/>
                  <a:pt x="2103" y="1626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7" name="Text Box 32">
            <a:extLst>
              <a:ext uri="{FF2B5EF4-FFF2-40B4-BE49-F238E27FC236}">
                <a16:creationId xmlns:a16="http://schemas.microsoft.com/office/drawing/2014/main" id="{1BF0CD25-93C2-FD35-5DC2-26D81D04D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1" y="5641975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18" name="Text Box 33">
            <a:extLst>
              <a:ext uri="{FF2B5EF4-FFF2-40B4-BE49-F238E27FC236}">
                <a16:creationId xmlns:a16="http://schemas.microsoft.com/office/drawing/2014/main" id="{E7E0D692-5B6D-F5D6-642B-D9BA46A55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6" y="5627688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3</a:t>
            </a:r>
          </a:p>
        </p:txBody>
      </p:sp>
      <p:sp>
        <p:nvSpPr>
          <p:cNvPr id="19" name="Text Box 34">
            <a:extLst>
              <a:ext uri="{FF2B5EF4-FFF2-40B4-BE49-F238E27FC236}">
                <a16:creationId xmlns:a16="http://schemas.microsoft.com/office/drawing/2014/main" id="{AE409BCF-0FDE-2485-901A-1BE9158A5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4" y="4603750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20" name="Text Box 35">
            <a:extLst>
              <a:ext uri="{FF2B5EF4-FFF2-40B4-BE49-F238E27FC236}">
                <a16:creationId xmlns:a16="http://schemas.microsoft.com/office/drawing/2014/main" id="{77AAD3F1-052E-E080-8011-EA48F1AED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3814763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3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D7B3B019-3C8A-A465-3781-2272541CF54F}"/>
              </a:ext>
            </a:extLst>
          </p:cNvPr>
          <p:cNvSpPr/>
          <p:nvPr/>
        </p:nvSpPr>
        <p:spPr>
          <a:xfrm>
            <a:off x="6879771" y="2504395"/>
            <a:ext cx="2960915" cy="1620837"/>
          </a:xfrm>
          <a:prstGeom prst="wedgeRoundRectCallout">
            <a:avLst>
              <a:gd name="adj1" fmla="val -88284"/>
              <a:gd name="adj2" fmla="val 57127"/>
              <a:gd name="adj3" fmla="val 16667"/>
            </a:avLst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These lines are </a:t>
            </a: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contours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, like on a weather or topographical map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9EF35A3-3530-BC99-F3A4-A10789CC5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84" y="1141638"/>
            <a:ext cx="105978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We can also draw lines called </a:t>
            </a:r>
            <a:r>
              <a:rPr lang="en-US" altLang="en-US" b="1" kern="0" dirty="0">
                <a:ea typeface="ＭＳ Ｐゴシック" pitchFamily="34" charset="-128"/>
              </a:rPr>
              <a:t>isoquants</a:t>
            </a:r>
            <a:r>
              <a:rPr lang="en-US" altLang="en-US" kern="0" dirty="0">
                <a:ea typeface="ＭＳ Ｐゴシック" pitchFamily="34" charset="-128"/>
              </a:rPr>
              <a:t> that show the variety of ways that certain output goals can be achieved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Illustrating production technology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F839A06-27E5-4FD4-8BBC-70095DB360AA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6778C32C-44F8-ECF4-6FA6-145600A4E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8763" y="2843214"/>
            <a:ext cx="0" cy="3259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DCADBCB3-0E45-9837-D957-95823DD624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8763" y="6102350"/>
            <a:ext cx="408781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4C27CDC-B068-3C9B-3963-FCFA08681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464" y="2819400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G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D1B7234-C3C6-6040-9215-53791E2E3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164" y="6075363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C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A47B9B4-75E4-05F8-936E-DF304A7FD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000804"/>
            <a:ext cx="10899648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b="1" kern="0">
                <a:ea typeface="ＭＳ Ｐゴシック" pitchFamily="34" charset="-128"/>
              </a:rPr>
              <a:t>Example</a:t>
            </a:r>
            <a:r>
              <a:rPr lang="en-US" altLang="en-US" kern="0">
                <a:ea typeface="ＭＳ Ｐゴシック" pitchFamily="34" charset="-128"/>
              </a:rPr>
              <a:t>: 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kern="0">
                <a:ea typeface="ＭＳ Ｐゴシック" pitchFamily="34" charset="-128"/>
              </a:rPr>
              <a:t>Return to the electricity production function: </a:t>
            </a:r>
            <a:r>
              <a:rPr lang="en-US" altLang="en-US" i="1" kern="0">
                <a:ea typeface="ＭＳ Ｐゴシック" pitchFamily="34" charset="-128"/>
              </a:rPr>
              <a:t>Q </a:t>
            </a:r>
            <a:r>
              <a:rPr lang="en-US" altLang="en-US" kern="0">
                <a:ea typeface="ＭＳ Ｐゴシック" pitchFamily="34" charset="-128"/>
              </a:rPr>
              <a:t>= 60</a:t>
            </a:r>
            <a:r>
              <a:rPr lang="en-US" altLang="en-US" i="1" kern="0">
                <a:ea typeface="ＭＳ Ｐゴシック" pitchFamily="34" charset="-128"/>
              </a:rPr>
              <a:t>C</a:t>
            </a:r>
            <a:r>
              <a:rPr lang="en-US" altLang="en-US" kern="0">
                <a:ea typeface="ＭＳ Ｐゴシック" pitchFamily="34" charset="-128"/>
              </a:rPr>
              <a:t> + 40</a:t>
            </a:r>
            <a:r>
              <a:rPr lang="en-US" altLang="en-US" i="1" kern="0">
                <a:ea typeface="ＭＳ Ｐゴシック" pitchFamily="34" charset="-128"/>
              </a:rPr>
              <a:t>G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kern="0">
                <a:ea typeface="ＭＳ Ｐゴシック" pitchFamily="34" charset="-128"/>
              </a:rPr>
              <a:t>Draw the isoquant for 1,200 kWh of the electricity production technology</a:t>
            </a:r>
            <a:endParaRPr lang="en-US" altLang="en-US" kern="0" dirty="0">
              <a:ea typeface="ＭＳ Ｐゴシック" pitchFamily="34" charset="-128"/>
            </a:endParaRP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76BAF24B-D959-BF58-DDF4-6220A4B366E1}"/>
              </a:ext>
            </a:extLst>
          </p:cNvPr>
          <p:cNvSpPr/>
          <p:nvPr/>
        </p:nvSpPr>
        <p:spPr>
          <a:xfrm>
            <a:off x="1250004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Illustrating production technology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F839A06-27E5-4FD4-8BBC-70095DB360AA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850E72FE-D873-453D-31A0-C46CB2D43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8763" y="2843214"/>
            <a:ext cx="0" cy="3259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DF9F2BC0-9414-5B14-D2C1-481D334F9B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8763" y="6102350"/>
            <a:ext cx="408781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51AD800-F40A-873D-3095-3D8794436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464" y="2819400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G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E95132C9-FB06-7B8E-877F-7841AFFBE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164" y="6075363"/>
            <a:ext cx="3714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C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BE152D2C-DF59-2595-B191-FFBBFE887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650" y="6110288"/>
            <a:ext cx="5667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20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046CE4E-4957-3694-B365-B2A958E04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376613"/>
            <a:ext cx="5667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30</a:t>
            </a: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37920E1F-228B-A0FA-29A5-305053D3D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3526" y="3552825"/>
            <a:ext cx="2600325" cy="2547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6EB0F5-FDFD-77DD-3BEA-F89EB4DEA06E}"/>
              </a:ext>
            </a:extLst>
          </p:cNvPr>
          <p:cNvGrpSpPr/>
          <p:nvPr/>
        </p:nvGrpSpPr>
        <p:grpSpPr>
          <a:xfrm>
            <a:off x="7380951" y="3240506"/>
            <a:ext cx="3740330" cy="2379255"/>
            <a:chOff x="4750527" y="2965630"/>
            <a:chExt cx="3740330" cy="2379255"/>
          </a:xfrm>
          <a:solidFill>
            <a:srgbClr val="007360"/>
          </a:solidFill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5060B01-66AC-AF04-7A9A-873B4FA2883A}"/>
                </a:ext>
              </a:extLst>
            </p:cNvPr>
            <p:cNvSpPr/>
            <p:nvPr/>
          </p:nvSpPr>
          <p:spPr>
            <a:xfrm>
              <a:off x="4750527" y="2965630"/>
              <a:ext cx="3740330" cy="2379255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B2DE47E1-EE60-A198-A273-681E061F0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5717" y="3278094"/>
              <a:ext cx="3409950" cy="1754326"/>
            </a:xfrm>
            <a:prstGeom prst="rect">
              <a:avLst/>
            </a:prstGeom>
            <a:solidFill>
              <a:srgbClr val="D15F27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234950" indent="-2349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en-US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Where do the </a:t>
              </a:r>
              <a:r>
                <a:rPr lang="en-US" altLang="en-US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intercepts </a:t>
              </a:r>
              <a:r>
                <a:rPr lang="en-US" altLang="en-US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come from?</a:t>
              </a:r>
            </a:p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en-US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What does the </a:t>
              </a:r>
              <a:r>
                <a:rPr lang="en-US" altLang="en-US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slope </a:t>
              </a:r>
              <a:r>
                <a:rPr lang="en-US" altLang="en-US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of the isoquant mean?</a:t>
              </a:r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81B585A2-778E-52F6-E9C3-72FF81702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4684" y="2344649"/>
            <a:ext cx="42262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(Set 1,200 = 60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C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+ 40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G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and plot)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D92A4C3-BEC5-1FDD-4B34-F8CBC1EBB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000804"/>
            <a:ext cx="11082528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1" kern="0" dirty="0">
                <a:ea typeface="ＭＳ Ｐゴシック" pitchFamily="34" charset="-128"/>
              </a:rPr>
              <a:t>Example</a:t>
            </a:r>
            <a:r>
              <a:rPr lang="en-US" altLang="en-US" kern="0" dirty="0">
                <a:ea typeface="ＭＳ Ｐゴシック" pitchFamily="34" charset="-128"/>
              </a:rPr>
              <a:t>: </a:t>
            </a:r>
          </a:p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Return to the electricity production function: </a:t>
            </a:r>
            <a:r>
              <a:rPr lang="en-US" altLang="en-US" i="1" kern="0" dirty="0">
                <a:ea typeface="ＭＳ Ｐゴシック" pitchFamily="34" charset="-128"/>
              </a:rPr>
              <a:t>Q </a:t>
            </a:r>
            <a:r>
              <a:rPr lang="en-US" altLang="en-US" kern="0" dirty="0">
                <a:ea typeface="ＭＳ Ｐゴシック" pitchFamily="34" charset="-128"/>
              </a:rPr>
              <a:t>= 60</a:t>
            </a:r>
            <a:r>
              <a:rPr lang="en-US" altLang="en-US" i="1" kern="0" dirty="0">
                <a:ea typeface="ＭＳ Ｐゴシック" pitchFamily="34" charset="-128"/>
              </a:rPr>
              <a:t>C</a:t>
            </a:r>
            <a:r>
              <a:rPr lang="en-US" altLang="en-US" kern="0" dirty="0">
                <a:ea typeface="ＭＳ Ｐゴシック" pitchFamily="34" charset="-128"/>
              </a:rPr>
              <a:t> + 40</a:t>
            </a:r>
            <a:r>
              <a:rPr lang="en-US" altLang="en-US" i="1" kern="0" dirty="0">
                <a:ea typeface="ＭＳ Ｐゴシック" pitchFamily="34" charset="-128"/>
              </a:rPr>
              <a:t>G</a:t>
            </a:r>
          </a:p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Draw the isoquant for 1,200 kWh of the electricity production technology</a:t>
            </a:r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D52CB695-5BFC-D099-503D-2BBCD3C05A0B}"/>
              </a:ext>
            </a:extLst>
          </p:cNvPr>
          <p:cNvSpPr/>
          <p:nvPr/>
        </p:nvSpPr>
        <p:spPr>
          <a:xfrm>
            <a:off x="12711719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4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Production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Marginal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Scale economies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113A2-7C0B-762E-15CA-E7454D6E216E}"/>
              </a:ext>
            </a:extLst>
          </p:cNvPr>
          <p:cNvSpPr txBox="1"/>
          <p:nvPr/>
        </p:nvSpPr>
        <p:spPr>
          <a:xfrm>
            <a:off x="3135630" y="3881415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Moral hazard</a:t>
            </a:r>
          </a:p>
        </p:txBody>
      </p:sp>
    </p:spTree>
    <p:extLst>
      <p:ext uri="{BB962C8B-B14F-4D97-AF65-F5344CB8AC3E}">
        <p14:creationId xmlns:p14="http://schemas.microsoft.com/office/powerpoint/2010/main" val="1003706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product</a:t>
            </a:r>
          </a:p>
        </p:txBody>
      </p:sp>
      <p:sp>
        <p:nvSpPr>
          <p:cNvPr id="276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63BBB7C-CE42-4896-86BA-F8EDC78FDF5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aphicFrame>
        <p:nvGraphicFramePr>
          <p:cNvPr id="5" name="Group 83">
            <a:extLst>
              <a:ext uri="{FF2B5EF4-FFF2-40B4-BE49-F238E27FC236}">
                <a16:creationId xmlns:a16="http://schemas.microsoft.com/office/drawing/2014/main" id="{A82A5D8C-E8D8-874C-20AB-B5EC7D1E8C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857355"/>
              </p:ext>
            </p:extLst>
          </p:nvPr>
        </p:nvGraphicFramePr>
        <p:xfrm>
          <a:off x="904240" y="2047287"/>
          <a:ext cx="10078720" cy="4572000"/>
        </p:xfrm>
        <a:graphic>
          <a:graphicData uri="http://schemas.openxmlformats.org/drawingml/2006/table">
            <a:tbl>
              <a:tblPr/>
              <a:tblGrid>
                <a:gridCol w="2016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4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L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K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Q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Q/L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dQ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/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dL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 (MPL)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30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60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30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80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95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112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8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112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88D0F7-25C8-080D-417A-1B4CE6A50C87}"/>
              </a:ext>
            </a:extLst>
          </p:cNvPr>
          <p:cNvSpPr/>
          <p:nvPr/>
        </p:nvSpPr>
        <p:spPr>
          <a:xfrm>
            <a:off x="3500120" y="987073"/>
            <a:ext cx="7010400" cy="919144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2190AF-8C8E-2E02-4EB4-C2D054C8735F}"/>
              </a:ext>
            </a:extLst>
          </p:cNvPr>
          <p:cNvSpPr/>
          <p:nvPr/>
        </p:nvSpPr>
        <p:spPr>
          <a:xfrm>
            <a:off x="2113280" y="921420"/>
            <a:ext cx="1828800" cy="105045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9AC6DD-6589-0017-7990-82B12CCAE661}"/>
              </a:ext>
            </a:extLst>
          </p:cNvPr>
          <p:cNvSpPr/>
          <p:nvPr/>
        </p:nvSpPr>
        <p:spPr>
          <a:xfrm>
            <a:off x="1188720" y="987073"/>
            <a:ext cx="2661920" cy="919144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Marginal product 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of labor (MPL)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5C6318B-0152-E402-39A2-57F5E7A28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2183" y="1031147"/>
            <a:ext cx="64983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is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extra output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from adding another unit of L, </a:t>
            </a: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holding K fixed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C9A2-38EE-F929-7B84-8F635E3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Marginal product</a:t>
            </a:r>
            <a:endParaRPr lang="en-US" dirty="0"/>
          </a:p>
        </p:txBody>
      </p:sp>
      <p:sp>
        <p:nvSpPr>
          <p:cNvPr id="276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63BBB7C-CE42-4896-86BA-F8EDC78FDF5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aphicFrame>
        <p:nvGraphicFramePr>
          <p:cNvPr id="22611" name="Group 83"/>
          <p:cNvGraphicFramePr>
            <a:graphicFrameLocks noGrp="1"/>
          </p:cNvGraphicFramePr>
          <p:nvPr>
            <p:ph sz="half" idx="4294967295"/>
          </p:nvPr>
        </p:nvGraphicFramePr>
        <p:xfrm>
          <a:off x="1222513" y="1347142"/>
          <a:ext cx="9402418" cy="4572000"/>
        </p:xfrm>
        <a:graphic>
          <a:graphicData uri="http://schemas.openxmlformats.org/drawingml/2006/table">
            <a:tbl>
              <a:tblPr/>
              <a:tblGrid>
                <a:gridCol w="1881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1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Q/L (APL)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dQ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(MPL)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5-Point Star 2">
            <a:extLst>
              <a:ext uri="{FF2B5EF4-FFF2-40B4-BE49-F238E27FC236}">
                <a16:creationId xmlns:a16="http://schemas.microsoft.com/office/drawing/2014/main" id="{2F81378C-175D-9D06-4A83-B7AFFA85E32A}"/>
              </a:ext>
            </a:extLst>
          </p:cNvPr>
          <p:cNvSpPr/>
          <p:nvPr/>
        </p:nvSpPr>
        <p:spPr>
          <a:xfrm>
            <a:off x="1277241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product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E7B7363-D073-4448-A6EC-E5A7579BF38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B4286D-C8BF-DE0B-0710-8FD2E2C67B28}"/>
              </a:ext>
            </a:extLst>
          </p:cNvPr>
          <p:cNvGrpSpPr/>
          <p:nvPr/>
        </p:nvGrpSpPr>
        <p:grpSpPr>
          <a:xfrm>
            <a:off x="472440" y="1026939"/>
            <a:ext cx="6321968" cy="996696"/>
            <a:chOff x="365760" y="1052393"/>
            <a:chExt cx="6321968" cy="9966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50F7F6-31D4-F7FB-152E-689F501DF4CD}"/>
                </a:ext>
              </a:extLst>
            </p:cNvPr>
            <p:cNvGrpSpPr/>
            <p:nvPr/>
          </p:nvGrpSpPr>
          <p:grpSpPr>
            <a:xfrm>
              <a:off x="365760" y="1052393"/>
              <a:ext cx="6321968" cy="996696"/>
              <a:chOff x="365760" y="4800599"/>
              <a:chExt cx="7125747" cy="996696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6782888-E7AD-4079-7870-5282353D0573}"/>
                  </a:ext>
                </a:extLst>
              </p:cNvPr>
              <p:cNvSpPr/>
              <p:nvPr/>
            </p:nvSpPr>
            <p:spPr>
              <a:xfrm>
                <a:off x="1752599" y="4892910"/>
                <a:ext cx="5738908" cy="812074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A32B021-3AE5-5A8D-411E-E2ADCF6D49FF}"/>
                  </a:ext>
                </a:extLst>
              </p:cNvPr>
              <p:cNvSpPr/>
              <p:nvPr/>
            </p:nvSpPr>
            <p:spPr>
              <a:xfrm>
                <a:off x="365760" y="4800599"/>
                <a:ext cx="1828800" cy="996696"/>
              </a:xfrm>
              <a:prstGeom prst="roundRect">
                <a:avLst>
                  <a:gd name="adj" fmla="val 18706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DA6C2485-CAA8-6992-3D5C-F74510A6D9EF}"/>
                  </a:ext>
                </a:extLst>
              </p:cNvPr>
              <p:cNvSpPr/>
              <p:nvPr/>
            </p:nvSpPr>
            <p:spPr>
              <a:xfrm>
                <a:off x="457200" y="4892910"/>
                <a:ext cx="1645920" cy="812074"/>
              </a:xfrm>
              <a:prstGeom prst="roundRect">
                <a:avLst>
                  <a:gd name="adj" fmla="val 14165"/>
                </a:avLst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Source Sans Pro" panose="020B0503030403020204" pitchFamily="34" charset="0"/>
                  </a:rPr>
                  <a:t>MPL</a:t>
                </a:r>
              </a:p>
            </p:txBody>
          </p:sp>
        </p:grp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521B6F33-A5A2-809A-F741-CE400B57F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8273" y="1319772"/>
              <a:ext cx="4699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Marginal product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of labor (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dQ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/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dL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E493F6-3147-BA43-931E-E6F633D4B0E5}"/>
              </a:ext>
            </a:extLst>
          </p:cNvPr>
          <p:cNvGrpSpPr/>
          <p:nvPr/>
        </p:nvGrpSpPr>
        <p:grpSpPr>
          <a:xfrm>
            <a:off x="472440" y="2142017"/>
            <a:ext cx="6321968" cy="996696"/>
            <a:chOff x="4633279" y="1001485"/>
            <a:chExt cx="6321968" cy="99669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11E8DAC-A963-EC4B-76C1-E2976D51247B}"/>
                </a:ext>
              </a:extLst>
            </p:cNvPr>
            <p:cNvGrpSpPr/>
            <p:nvPr/>
          </p:nvGrpSpPr>
          <p:grpSpPr>
            <a:xfrm>
              <a:off x="4633279" y="1001485"/>
              <a:ext cx="6321968" cy="996696"/>
              <a:chOff x="365760" y="4800599"/>
              <a:chExt cx="7125747" cy="99669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1946510-9708-D311-4AF1-52FB9D4C9F31}"/>
                  </a:ext>
                </a:extLst>
              </p:cNvPr>
              <p:cNvSpPr/>
              <p:nvPr/>
            </p:nvSpPr>
            <p:spPr>
              <a:xfrm>
                <a:off x="1752599" y="4892910"/>
                <a:ext cx="5738908" cy="812074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DDFB221B-5AD7-C263-222C-A6BD5D48997C}"/>
                  </a:ext>
                </a:extLst>
              </p:cNvPr>
              <p:cNvSpPr/>
              <p:nvPr/>
            </p:nvSpPr>
            <p:spPr>
              <a:xfrm>
                <a:off x="365760" y="4800599"/>
                <a:ext cx="1828800" cy="996696"/>
              </a:xfrm>
              <a:prstGeom prst="roundRect">
                <a:avLst>
                  <a:gd name="adj" fmla="val 2380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87A71842-AA3C-3D14-A26E-703C2DD4EC7C}"/>
                  </a:ext>
                </a:extLst>
              </p:cNvPr>
              <p:cNvSpPr/>
              <p:nvPr/>
            </p:nvSpPr>
            <p:spPr>
              <a:xfrm>
                <a:off x="457200" y="4892910"/>
                <a:ext cx="1645920" cy="812074"/>
              </a:xfrm>
              <a:prstGeom prst="roundRect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en-US" sz="2400" b="1" kern="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ＭＳ Ｐゴシック" pitchFamily="34" charset="-128"/>
                  </a:rPr>
                  <a:t>APL</a:t>
                </a:r>
              </a:p>
            </p:txBody>
          </p:sp>
        </p:grp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CCE1E7F7-667F-9E7D-03C1-1B70D069A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5792" y="1267373"/>
              <a:ext cx="4699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Average product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of labor (Q/L)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20A480-38D8-99C4-19B9-0F3F6E833023}"/>
              </a:ext>
            </a:extLst>
          </p:cNvPr>
          <p:cNvGrpSpPr/>
          <p:nvPr/>
        </p:nvGrpSpPr>
        <p:grpSpPr>
          <a:xfrm>
            <a:off x="7117081" y="1073095"/>
            <a:ext cx="4245428" cy="1861220"/>
            <a:chOff x="4724401" y="1026940"/>
            <a:chExt cx="4245428" cy="186122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9DE5CAF-BF88-406B-AECC-99A05B758D72}"/>
                </a:ext>
              </a:extLst>
            </p:cNvPr>
            <p:cNvGrpSpPr/>
            <p:nvPr/>
          </p:nvGrpSpPr>
          <p:grpSpPr>
            <a:xfrm>
              <a:off x="4724401" y="1026940"/>
              <a:ext cx="4245428" cy="1861220"/>
              <a:chOff x="1850571" y="925086"/>
              <a:chExt cx="4811486" cy="1154088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808E28F1-35B8-6AEB-5747-FF3F1FE493A6}"/>
                  </a:ext>
                </a:extLst>
              </p:cNvPr>
              <p:cNvSpPr/>
              <p:nvPr/>
            </p:nvSpPr>
            <p:spPr>
              <a:xfrm>
                <a:off x="1850571" y="1129772"/>
                <a:ext cx="4811486" cy="73165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D9966BB-1996-77A1-99AB-0E1F50A09DF9}"/>
                  </a:ext>
                </a:extLst>
              </p:cNvPr>
              <p:cNvSpPr/>
              <p:nvPr/>
            </p:nvSpPr>
            <p:spPr>
              <a:xfrm>
                <a:off x="1850571" y="925086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8BD22C3-955E-009F-CF5D-CBD2862453E0}"/>
                  </a:ext>
                </a:extLst>
              </p:cNvPr>
              <p:cNvSpPr/>
              <p:nvPr/>
            </p:nvSpPr>
            <p:spPr>
              <a:xfrm>
                <a:off x="1850571" y="1530431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DE3F3650-30EB-B978-665A-BF32EF391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285" y="1134248"/>
              <a:ext cx="4057027" cy="1646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Calculated for a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given amount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of capital!</a:t>
              </a:r>
            </a:p>
            <a:p>
              <a:pPr marL="0" indent="0" algn="ctr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Assume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first increase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then decrease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as L goes up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640F0B-4370-7C7F-EAE1-D8A3AC079055}"/>
              </a:ext>
            </a:extLst>
          </p:cNvPr>
          <p:cNvGrpSpPr/>
          <p:nvPr/>
        </p:nvGrpSpPr>
        <p:grpSpPr>
          <a:xfrm>
            <a:off x="553565" y="3441717"/>
            <a:ext cx="10488904" cy="1143000"/>
            <a:chOff x="446885" y="3388513"/>
            <a:chExt cx="10488904" cy="1143000"/>
          </a:xfrm>
        </p:grpSpPr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CC76BD14-9FF4-7FCA-35D1-EAC54C5D8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98" y="3388513"/>
              <a:ext cx="8649791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MPL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eventually goes down</a:t>
              </a:r>
              <a:endPara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Extra units of labor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increase output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at a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decreasing rate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67A0E9A2-D34B-E47D-1CE1-C910B5EFD5C5}"/>
                </a:ext>
              </a:extLst>
            </p:cNvPr>
            <p:cNvSpPr/>
            <p:nvPr/>
          </p:nvSpPr>
          <p:spPr>
            <a:xfrm>
              <a:off x="446885" y="3388513"/>
              <a:ext cx="1850000" cy="1143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 Law of Diminishing Returns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FC790F-4098-98DA-8C91-BDEDC6410FC9}"/>
              </a:ext>
            </a:extLst>
          </p:cNvPr>
          <p:cNvGrpSpPr/>
          <p:nvPr/>
        </p:nvGrpSpPr>
        <p:grpSpPr>
          <a:xfrm>
            <a:off x="553567" y="4919955"/>
            <a:ext cx="10488902" cy="1143000"/>
            <a:chOff x="446886" y="4615147"/>
            <a:chExt cx="10488902" cy="1143000"/>
          </a:xfrm>
        </p:grpSpPr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A51FF302-C3B6-46D3-1210-D56935A2B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98" y="4629479"/>
              <a:ext cx="8649790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MPL &gt; APL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then APL is going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up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MPL &lt; APL 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then APL is going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down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C10F57A-A5D8-CF3A-7C4D-B6A6D911E18C}"/>
                </a:ext>
              </a:extLst>
            </p:cNvPr>
            <p:cNvSpPr/>
            <p:nvPr/>
          </p:nvSpPr>
          <p:spPr>
            <a:xfrm>
              <a:off x="446886" y="4615147"/>
              <a:ext cx="1850000" cy="1143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Another relationship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and average product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E853E4E-7285-48A4-B554-DB00122203F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C46045-5EFE-CB11-9F7B-21FABF1E38CB}"/>
              </a:ext>
            </a:extLst>
          </p:cNvPr>
          <p:cNvGrpSpPr/>
          <p:nvPr/>
        </p:nvGrpSpPr>
        <p:grpSpPr>
          <a:xfrm>
            <a:off x="737616" y="1453466"/>
            <a:ext cx="10610088" cy="2616101"/>
            <a:chOff x="228600" y="1110343"/>
            <a:chExt cx="10610088" cy="2616101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B7C30B39-1F66-47AD-4B1C-9DD8F52B4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1110343"/>
              <a:ext cx="8476488" cy="2616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ja-JP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“</a:t>
              </a:r>
              <a:r>
                <a:rPr lang="en-US" altLang="ja-JP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Labor Productivity</a:t>
              </a:r>
              <a:r>
                <a:rPr lang="ja-JP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”</a:t>
              </a:r>
              <a:endParaRPr lang="en-US" altLang="ja-JP" sz="2400" b="1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dirty="0">
                  <a:latin typeface="Source Sans Pro" panose="020B0503030403020204" pitchFamily="34" charset="0"/>
                  <a:ea typeface="ＭＳ Ｐゴシック" pitchFamily="34" charset="-128"/>
                </a:rPr>
                <a:t>Useful for international productivity </a:t>
              </a:r>
              <a:r>
                <a:rPr lang="en-US" altLang="ja-JP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comparisons</a:t>
              </a:r>
              <a:endParaRPr lang="en-US" altLang="ja-JP" sz="240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Short run </a:t>
              </a:r>
              <a:r>
                <a:rPr lang="en-US" altLang="ja-JP" sz="2400" dirty="0">
                  <a:latin typeface="Source Sans Pro" panose="020B0503030403020204" pitchFamily="34" charset="0"/>
                  <a:ea typeface="ＭＳ Ｐゴシック" pitchFamily="34" charset="-128"/>
                </a:rPr>
                <a:t>concept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What are the main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determinants 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of this?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What determines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productivity growth 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in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services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,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agriculture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?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5D20700-98D3-1D95-663E-E4BEF9646D9B}"/>
                </a:ext>
              </a:extLst>
            </p:cNvPr>
            <p:cNvSpPr/>
            <p:nvPr/>
          </p:nvSpPr>
          <p:spPr>
            <a:xfrm>
              <a:off x="228600" y="1110343"/>
              <a:ext cx="2133600" cy="1143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Average Product of Labor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354AAB-92B7-39DB-30CD-007E2205B9F0}"/>
              </a:ext>
            </a:extLst>
          </p:cNvPr>
          <p:cNvGrpSpPr/>
          <p:nvPr/>
        </p:nvGrpSpPr>
        <p:grpSpPr>
          <a:xfrm>
            <a:off x="737616" y="4458600"/>
            <a:ext cx="10610088" cy="1524000"/>
            <a:chOff x="737616" y="4458600"/>
            <a:chExt cx="10610088" cy="152400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4BD625-DEB9-2682-A742-4C1912BEE6A6}"/>
                </a:ext>
              </a:extLst>
            </p:cNvPr>
            <p:cNvSpPr/>
            <p:nvPr/>
          </p:nvSpPr>
          <p:spPr>
            <a:xfrm>
              <a:off x="737616" y="4458600"/>
              <a:ext cx="2133600" cy="1524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Marginal, Average Products of Capital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3BF0A37F-FAF9-CD2A-D803-0EAB18BB2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1216" y="4458601"/>
              <a:ext cx="8476488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Can define the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same concepts 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for capital (K)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K is flexible 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relative to L in the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long run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Illustrating productivity</a:t>
            </a: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0A234C8-DAA5-433E-B3B5-75FA14A67CD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aphicFrame>
        <p:nvGraphicFramePr>
          <p:cNvPr id="2" name="Object 21">
            <a:extLst>
              <a:ext uri="{FF2B5EF4-FFF2-40B4-BE49-F238E27FC236}">
                <a16:creationId xmlns:a16="http://schemas.microsoft.com/office/drawing/2014/main" id="{A682C66B-70BF-7B5B-3DD5-E6697428F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872704"/>
              </p:ext>
            </p:extLst>
          </p:nvPr>
        </p:nvGraphicFramePr>
        <p:xfrm>
          <a:off x="3860800" y="2813050"/>
          <a:ext cx="850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531" imgH="355446" progId="Equation.DSMT4">
                  <p:embed/>
                </p:oleObj>
              </mc:Choice>
              <mc:Fallback>
                <p:oleObj name="Equation" r:id="rId3" imgW="850531" imgH="355446" progId="Equation.DSMT4">
                  <p:embed/>
                  <p:pic>
                    <p:nvPicPr>
                      <p:cNvPr id="3" name="Object 21">
                        <a:extLst>
                          <a:ext uri="{FF2B5EF4-FFF2-40B4-BE49-F238E27FC236}">
                            <a16:creationId xmlns:a16="http://schemas.microsoft.com/office/drawing/2014/main" id="{3A965A57-32FB-EB21-9903-4BCB812E3F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2813050"/>
                        <a:ext cx="850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ine 9">
            <a:extLst>
              <a:ext uri="{FF2B5EF4-FFF2-40B4-BE49-F238E27FC236}">
                <a16:creationId xmlns:a16="http://schemas.microsoft.com/office/drawing/2014/main" id="{D485D544-A7EF-768F-F776-E4A2D218D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369" y="2832107"/>
            <a:ext cx="1588" cy="2671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4" name="Line 10">
            <a:extLst>
              <a:ext uri="{FF2B5EF4-FFF2-40B4-BE49-F238E27FC236}">
                <a16:creationId xmlns:a16="http://schemas.microsoft.com/office/drawing/2014/main" id="{D6A4BB75-9DB0-EAF5-4692-F14C7B996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370" y="5505456"/>
            <a:ext cx="30575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129BF2ED-D922-4DAC-E282-BED781826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332" y="2705107"/>
            <a:ext cx="6921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MPL APL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EEA55E38-0256-07E5-3776-353F2DB7F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5182" y="5334006"/>
            <a:ext cx="33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58FA7A74-8601-61E8-B8DB-C025A0E75378}"/>
              </a:ext>
            </a:extLst>
          </p:cNvPr>
          <p:cNvSpPr>
            <a:spLocks/>
          </p:cNvSpPr>
          <p:nvPr/>
        </p:nvSpPr>
        <p:spPr bwMode="auto">
          <a:xfrm>
            <a:off x="7171945" y="2997207"/>
            <a:ext cx="3057525" cy="2303463"/>
          </a:xfrm>
          <a:custGeom>
            <a:avLst/>
            <a:gdLst>
              <a:gd name="T0" fmla="*/ 0 w 1868"/>
              <a:gd name="T1" fmla="*/ 2147483647 h 1410"/>
              <a:gd name="T2" fmla="*/ 2147483647 w 1868"/>
              <a:gd name="T3" fmla="*/ 2147483647 h 1410"/>
              <a:gd name="T4" fmla="*/ 2147483647 w 1868"/>
              <a:gd name="T5" fmla="*/ 2147483647 h 1410"/>
              <a:gd name="T6" fmla="*/ 2147483647 w 1868"/>
              <a:gd name="T7" fmla="*/ 2147483647 h 1410"/>
              <a:gd name="T8" fmla="*/ 2147483647 w 1868"/>
              <a:gd name="T9" fmla="*/ 2147483647 h 1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68"/>
              <a:gd name="T16" fmla="*/ 0 h 1410"/>
              <a:gd name="T17" fmla="*/ 1868 w 1868"/>
              <a:gd name="T18" fmla="*/ 1410 h 14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68" h="1410">
                <a:moveTo>
                  <a:pt x="0" y="1410"/>
                </a:moveTo>
                <a:cubicBezTo>
                  <a:pt x="54" y="1057"/>
                  <a:pt x="108" y="705"/>
                  <a:pt x="221" y="484"/>
                </a:cubicBezTo>
                <a:cubicBezTo>
                  <a:pt x="334" y="263"/>
                  <a:pt x="513" y="0"/>
                  <a:pt x="681" y="83"/>
                </a:cubicBezTo>
                <a:cubicBezTo>
                  <a:pt x="849" y="166"/>
                  <a:pt x="1030" y="765"/>
                  <a:pt x="1228" y="985"/>
                </a:cubicBezTo>
                <a:cubicBezTo>
                  <a:pt x="1426" y="1205"/>
                  <a:pt x="1647" y="1304"/>
                  <a:pt x="1868" y="1404"/>
                </a:cubicBezTo>
              </a:path>
            </a:pathLst>
          </a:custGeom>
          <a:noFill/>
          <a:ln w="190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>
              <a:solidFill>
                <a:srgbClr val="789B4A"/>
              </a:solidFill>
              <a:latin typeface="Source Sans Pro" panose="020B0503030403020204" pitchFamily="34" charset="0"/>
            </a:endParaRPr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4DEB911C-87E0-D63B-9FB7-FFD8072031FA}"/>
              </a:ext>
            </a:extLst>
          </p:cNvPr>
          <p:cNvSpPr>
            <a:spLocks/>
          </p:cNvSpPr>
          <p:nvPr/>
        </p:nvSpPr>
        <p:spPr bwMode="auto">
          <a:xfrm>
            <a:off x="7167182" y="3694119"/>
            <a:ext cx="2633662" cy="1752600"/>
          </a:xfrm>
          <a:custGeom>
            <a:avLst/>
            <a:gdLst>
              <a:gd name="T0" fmla="*/ 0 w 1798"/>
              <a:gd name="T1" fmla="*/ 2147483647 h 1017"/>
              <a:gd name="T2" fmla="*/ 2147483647 w 1798"/>
              <a:gd name="T3" fmla="*/ 2147483647 h 1017"/>
              <a:gd name="T4" fmla="*/ 2147483647 w 1798"/>
              <a:gd name="T5" fmla="*/ 2147483647 h 1017"/>
              <a:gd name="T6" fmla="*/ 2147483647 w 1798"/>
              <a:gd name="T7" fmla="*/ 2147483647 h 1017"/>
              <a:gd name="T8" fmla="*/ 2147483647 w 1798"/>
              <a:gd name="T9" fmla="*/ 2147483647 h 1017"/>
              <a:gd name="T10" fmla="*/ 2147483647 w 1798"/>
              <a:gd name="T11" fmla="*/ 2147483647 h 10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98"/>
              <a:gd name="T19" fmla="*/ 0 h 1017"/>
              <a:gd name="T20" fmla="*/ 1798 w 1798"/>
              <a:gd name="T21" fmla="*/ 1017 h 101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98" h="1017">
                <a:moveTo>
                  <a:pt x="0" y="1017"/>
                </a:moveTo>
                <a:cubicBezTo>
                  <a:pt x="60" y="904"/>
                  <a:pt x="120" y="792"/>
                  <a:pt x="227" y="656"/>
                </a:cubicBezTo>
                <a:cubicBezTo>
                  <a:pt x="334" y="520"/>
                  <a:pt x="487" y="303"/>
                  <a:pt x="640" y="203"/>
                </a:cubicBezTo>
                <a:cubicBezTo>
                  <a:pt x="793" y="103"/>
                  <a:pt x="985" y="0"/>
                  <a:pt x="1146" y="57"/>
                </a:cubicBezTo>
                <a:cubicBezTo>
                  <a:pt x="1307" y="114"/>
                  <a:pt x="1497" y="446"/>
                  <a:pt x="1606" y="546"/>
                </a:cubicBezTo>
                <a:cubicBezTo>
                  <a:pt x="1715" y="646"/>
                  <a:pt x="1749" y="636"/>
                  <a:pt x="1798" y="656"/>
                </a:cubicBezTo>
              </a:path>
            </a:pathLst>
          </a:custGeom>
          <a:noFill/>
          <a:ln w="19050">
            <a:solidFill>
              <a:srgbClr val="D15F2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D481A3C7-A3C0-5345-560C-A2EF864E8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3519" y="2876556"/>
            <a:ext cx="6619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789B4A"/>
                </a:solidFill>
                <a:latin typeface="Source Sans Pro" panose="020B0503030403020204" pitchFamily="34" charset="0"/>
              </a:rPr>
              <a:t>MPL</a:t>
            </a: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A38E99F7-8364-528D-E4A9-C792343FB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6158" y="3786194"/>
            <a:ext cx="661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D15F27"/>
                </a:solidFill>
                <a:latin typeface="Source Sans Pro" panose="020B0503030403020204" pitchFamily="34" charset="0"/>
              </a:rPr>
              <a:t>APL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6B884-D06B-91F7-EE1A-FB0F2406219A}"/>
              </a:ext>
            </a:extLst>
          </p:cNvPr>
          <p:cNvGrpSpPr/>
          <p:nvPr/>
        </p:nvGrpSpPr>
        <p:grpSpPr>
          <a:xfrm>
            <a:off x="2104231" y="1108448"/>
            <a:ext cx="7816850" cy="1154088"/>
            <a:chOff x="701675" y="5214047"/>
            <a:chExt cx="7816850" cy="115408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F4AA700-46E5-FA44-BC0C-FBF1E427C1FA}"/>
                </a:ext>
              </a:extLst>
            </p:cNvPr>
            <p:cNvGrpSpPr/>
            <p:nvPr/>
          </p:nvGrpSpPr>
          <p:grpSpPr>
            <a:xfrm>
              <a:off x="701675" y="5214047"/>
              <a:ext cx="7816850" cy="1154088"/>
              <a:chOff x="1850571" y="925086"/>
              <a:chExt cx="4811486" cy="1154088"/>
            </a:xfrm>
          </p:grpSpPr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957E7DA7-1E9B-774A-6080-DF6C25B5ABC7}"/>
                  </a:ext>
                </a:extLst>
              </p:cNvPr>
              <p:cNvSpPr/>
              <p:nvPr/>
            </p:nvSpPr>
            <p:spPr>
              <a:xfrm>
                <a:off x="1850571" y="1129772"/>
                <a:ext cx="4811486" cy="73165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E9B4267-08A0-4CCC-00A4-D869BADCAE06}"/>
                  </a:ext>
                </a:extLst>
              </p:cNvPr>
              <p:cNvSpPr/>
              <p:nvPr/>
            </p:nvSpPr>
            <p:spPr>
              <a:xfrm>
                <a:off x="1850571" y="925086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47A7EE5-AB11-6AD5-6C71-BD6C29145E16}"/>
                  </a:ext>
                </a:extLst>
              </p:cNvPr>
              <p:cNvSpPr/>
              <p:nvPr/>
            </p:nvSpPr>
            <p:spPr>
              <a:xfrm>
                <a:off x="1850571" y="1530431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3" name="Rectangle 244">
              <a:extLst>
                <a:ext uri="{FF2B5EF4-FFF2-40B4-BE49-F238E27FC236}">
                  <a16:creationId xmlns:a16="http://schemas.microsoft.com/office/drawing/2014/main" id="{8454C2BA-6376-E81F-D4F2-B83F0CB0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675" y="5375593"/>
              <a:ext cx="781685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dirty="0">
                  <a:latin typeface="Source Sans Pro" panose="020B0503030403020204" pitchFamily="34" charset="0"/>
                </a:rPr>
                <a:t>For any production function, we can </a:t>
              </a:r>
              <a:r>
                <a:rPr lang="en-US" altLang="en-US" b="1" dirty="0">
                  <a:latin typeface="Source Sans Pro" panose="020B0503030403020204" pitchFamily="34" charset="0"/>
                </a:rPr>
                <a:t>illustrate</a:t>
              </a:r>
              <a:r>
                <a:rPr lang="en-US" altLang="en-US" dirty="0">
                  <a:latin typeface="Source Sans Pro" panose="020B0503030403020204" pitchFamily="34" charset="0"/>
                </a:rPr>
                <a:t> MPL and/or APL, given a level of K</a:t>
              </a:r>
            </a:p>
          </p:txBody>
        </p:sp>
      </p:grpSp>
      <p:sp>
        <p:nvSpPr>
          <p:cNvPr id="17" name="Line 4">
            <a:extLst>
              <a:ext uri="{FF2B5EF4-FFF2-40B4-BE49-F238E27FC236}">
                <a16:creationId xmlns:a16="http://schemas.microsoft.com/office/drawing/2014/main" id="{0E0966F1-55BD-1ECC-F523-E2B9E78B4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1416" y="2817819"/>
            <a:ext cx="0" cy="2671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8" name="Line 5">
            <a:extLst>
              <a:ext uri="{FF2B5EF4-FFF2-40B4-BE49-F238E27FC236}">
                <a16:creationId xmlns:a16="http://schemas.microsoft.com/office/drawing/2014/main" id="{FEC1CD55-BD5E-5519-46C4-0E991FB86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1417" y="5491169"/>
            <a:ext cx="30575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7B96347A-B78C-8D0A-16F2-CB3849D43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141" y="2690819"/>
            <a:ext cx="43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52BB5528-6003-403F-B67D-8962E8DC8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4654" y="5319719"/>
            <a:ext cx="33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CDD0083-95D9-C298-2017-72D92781E64B}"/>
              </a:ext>
            </a:extLst>
          </p:cNvPr>
          <p:cNvSpPr>
            <a:spLocks/>
          </p:cNvSpPr>
          <p:nvPr/>
        </p:nvSpPr>
        <p:spPr bwMode="auto">
          <a:xfrm>
            <a:off x="1933004" y="3138495"/>
            <a:ext cx="2919412" cy="2346325"/>
          </a:xfrm>
          <a:custGeom>
            <a:avLst/>
            <a:gdLst>
              <a:gd name="T0" fmla="*/ 0 w 1839"/>
              <a:gd name="T1" fmla="*/ 2147483647 h 1478"/>
              <a:gd name="T2" fmla="*/ 2147483647 w 1839"/>
              <a:gd name="T3" fmla="*/ 2147483647 h 1478"/>
              <a:gd name="T4" fmla="*/ 2147483647 w 1839"/>
              <a:gd name="T5" fmla="*/ 2147483647 h 1478"/>
              <a:gd name="T6" fmla="*/ 2147483647 w 1839"/>
              <a:gd name="T7" fmla="*/ 2147483647 h 1478"/>
              <a:gd name="T8" fmla="*/ 2147483647 w 1839"/>
              <a:gd name="T9" fmla="*/ 2147483647 h 1478"/>
              <a:gd name="T10" fmla="*/ 2147483647 w 1839"/>
              <a:gd name="T11" fmla="*/ 0 h 14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39"/>
              <a:gd name="T19" fmla="*/ 0 h 1478"/>
              <a:gd name="T20" fmla="*/ 1839 w 1839"/>
              <a:gd name="T21" fmla="*/ 1478 h 147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39" h="1478">
                <a:moveTo>
                  <a:pt x="0" y="1478"/>
                </a:moveTo>
                <a:cubicBezTo>
                  <a:pt x="91" y="1473"/>
                  <a:pt x="183" y="1469"/>
                  <a:pt x="303" y="1390"/>
                </a:cubicBezTo>
                <a:cubicBezTo>
                  <a:pt x="423" y="1311"/>
                  <a:pt x="609" y="1151"/>
                  <a:pt x="722" y="1001"/>
                </a:cubicBezTo>
                <a:cubicBezTo>
                  <a:pt x="835" y="851"/>
                  <a:pt x="871" y="630"/>
                  <a:pt x="983" y="489"/>
                </a:cubicBezTo>
                <a:cubicBezTo>
                  <a:pt x="1095" y="348"/>
                  <a:pt x="1254" y="238"/>
                  <a:pt x="1397" y="157"/>
                </a:cubicBezTo>
                <a:cubicBezTo>
                  <a:pt x="1540" y="76"/>
                  <a:pt x="1689" y="38"/>
                  <a:pt x="1839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 dirty="0">
              <a:latin typeface="Source Sans Pro" panose="020B05030304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7" grpId="0" animBg="1"/>
      <p:bldP spid="18" grpId="0" animBg="1"/>
      <p:bldP spid="19" grpId="0"/>
      <p:bldP spid="20" grpId="0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MPL as K varies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B5B006-5FA3-493A-A730-5185F553530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F2BA90-0B23-C825-2BA6-A60E5EC5478D}"/>
              </a:ext>
            </a:extLst>
          </p:cNvPr>
          <p:cNvGrpSpPr/>
          <p:nvPr/>
        </p:nvGrpSpPr>
        <p:grpSpPr>
          <a:xfrm>
            <a:off x="2104231" y="1086676"/>
            <a:ext cx="7816850" cy="879716"/>
            <a:chOff x="580231" y="1108448"/>
            <a:chExt cx="7816850" cy="87971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F2E8A7-B1D4-FB5A-6564-0848CFE095C5}"/>
                </a:ext>
              </a:extLst>
            </p:cNvPr>
            <p:cNvGrpSpPr/>
            <p:nvPr/>
          </p:nvGrpSpPr>
          <p:grpSpPr>
            <a:xfrm>
              <a:off x="580231" y="1108448"/>
              <a:ext cx="7816850" cy="879716"/>
              <a:chOff x="1850571" y="925086"/>
              <a:chExt cx="4811486" cy="1154088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003EE66-E196-6AA0-9C49-9CA7FF365526}"/>
                  </a:ext>
                </a:extLst>
              </p:cNvPr>
              <p:cNvSpPr/>
              <p:nvPr/>
            </p:nvSpPr>
            <p:spPr>
              <a:xfrm>
                <a:off x="1850571" y="1129772"/>
                <a:ext cx="4811486" cy="73165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AD030A2-57A9-93E4-335C-81EF691A364D}"/>
                  </a:ext>
                </a:extLst>
              </p:cNvPr>
              <p:cNvSpPr/>
              <p:nvPr/>
            </p:nvSpPr>
            <p:spPr>
              <a:xfrm>
                <a:off x="1850571" y="925086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C07442B-F0F4-0388-AC5C-6505ED39A939}"/>
                  </a:ext>
                </a:extLst>
              </p:cNvPr>
              <p:cNvSpPr/>
              <p:nvPr/>
            </p:nvSpPr>
            <p:spPr>
              <a:xfrm>
                <a:off x="1850571" y="1530431"/>
                <a:ext cx="4811486" cy="548743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5" name="Rectangle 244">
              <a:extLst>
                <a:ext uri="{FF2B5EF4-FFF2-40B4-BE49-F238E27FC236}">
                  <a16:creationId xmlns:a16="http://schemas.microsoft.com/office/drawing/2014/main" id="{B300F6C2-25BA-47B9-EC81-A5A60634A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1" y="1332863"/>
              <a:ext cx="7816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dirty="0">
                  <a:latin typeface="Source Sans Pro" panose="020B0503030403020204" pitchFamily="34" charset="0"/>
                </a:rPr>
                <a:t>For </a:t>
              </a:r>
              <a:r>
                <a:rPr lang="en-US" altLang="en-US" b="1" dirty="0">
                  <a:latin typeface="Source Sans Pro" panose="020B0503030403020204" pitchFamily="34" charset="0"/>
                </a:rPr>
                <a:t>higher levels </a:t>
              </a:r>
              <a:r>
                <a:rPr lang="en-US" altLang="en-US" dirty="0">
                  <a:latin typeface="Source Sans Pro" panose="020B0503030403020204" pitchFamily="34" charset="0"/>
                </a:rPr>
                <a:t>of </a:t>
              </a:r>
              <a:r>
                <a:rPr lang="en-US" altLang="en-US" b="1" dirty="0">
                  <a:latin typeface="Source Sans Pro" panose="020B0503030403020204" pitchFamily="34" charset="0"/>
                </a:rPr>
                <a:t>K</a:t>
              </a:r>
              <a:r>
                <a:rPr lang="en-US" altLang="en-US" dirty="0">
                  <a:latin typeface="Source Sans Pro" panose="020B0503030403020204" pitchFamily="34" charset="0"/>
                </a:rPr>
                <a:t>, we will observe higher levels of </a:t>
              </a:r>
              <a:r>
                <a:rPr lang="en-US" altLang="en-US" b="1" dirty="0">
                  <a:latin typeface="Source Sans Pro" panose="020B0503030403020204" pitchFamily="34" charset="0"/>
                </a:rPr>
                <a:t>MPL</a:t>
              </a:r>
            </a:p>
          </p:txBody>
        </p:sp>
      </p:grpSp>
      <p:sp>
        <p:nvSpPr>
          <p:cNvPr id="9" name="Line 4">
            <a:extLst>
              <a:ext uri="{FF2B5EF4-FFF2-40B4-BE49-F238E27FC236}">
                <a16:creationId xmlns:a16="http://schemas.microsoft.com/office/drawing/2014/main" id="{04839F01-FFA7-93AB-DA1A-08E34D2BE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7660" y="2627313"/>
            <a:ext cx="1588" cy="32559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 dirty="0">
              <a:latin typeface="Source Sans Pro" panose="020B0503030403020204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E6D5E288-6D36-ECD4-E82C-6DBCA3218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7661" y="5884864"/>
            <a:ext cx="45878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 dirty="0">
              <a:latin typeface="Source Sans Pro" panose="020B0503030403020204" pitchFamily="34" charset="0"/>
            </a:endParaRP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1A36C593-835D-E26C-9D5F-C54874F34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273" y="2290764"/>
            <a:ext cx="8113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MPL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71473232-5AE8-BB56-6924-EF7B1C1D6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7285" y="5711825"/>
            <a:ext cx="3870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460E4FC2-A809-7B9B-8A48-4F7BFFE5C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910" y="5062539"/>
            <a:ext cx="9323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789B4A"/>
                </a:solidFill>
                <a:latin typeface="Source Sans Pro" panose="020B0503030403020204" pitchFamily="34" charset="0"/>
              </a:rPr>
              <a:t>MPL</a:t>
            </a:r>
            <a:r>
              <a:rPr lang="en-US" altLang="en-US" baseline="-25000" dirty="0">
                <a:solidFill>
                  <a:srgbClr val="789B4A"/>
                </a:solidFill>
                <a:latin typeface="Source Sans Pro" panose="020B0503030403020204" pitchFamily="34" charset="0"/>
              </a:rPr>
              <a:t>1</a:t>
            </a: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B38245F8-D0D1-6AB7-4B7B-241E77528E62}"/>
              </a:ext>
            </a:extLst>
          </p:cNvPr>
          <p:cNvSpPr>
            <a:spLocks/>
          </p:cNvSpPr>
          <p:nvPr/>
        </p:nvSpPr>
        <p:spPr bwMode="auto">
          <a:xfrm>
            <a:off x="1742124" y="2959101"/>
            <a:ext cx="4319587" cy="2740025"/>
          </a:xfrm>
          <a:custGeom>
            <a:avLst/>
            <a:gdLst>
              <a:gd name="T0" fmla="*/ 0 w 2721"/>
              <a:gd name="T1" fmla="*/ 2147483647 h 1726"/>
              <a:gd name="T2" fmla="*/ 2147483647 w 2721"/>
              <a:gd name="T3" fmla="*/ 2147483647 h 1726"/>
              <a:gd name="T4" fmla="*/ 2147483647 w 2721"/>
              <a:gd name="T5" fmla="*/ 2147483647 h 1726"/>
              <a:gd name="T6" fmla="*/ 2147483647 w 2721"/>
              <a:gd name="T7" fmla="*/ 2147483647 h 1726"/>
              <a:gd name="T8" fmla="*/ 2147483647 w 2721"/>
              <a:gd name="T9" fmla="*/ 2147483647 h 1726"/>
              <a:gd name="T10" fmla="*/ 2147483647 w 2721"/>
              <a:gd name="T11" fmla="*/ 2147483647 h 1726"/>
              <a:gd name="T12" fmla="*/ 2147483647 w 2721"/>
              <a:gd name="T13" fmla="*/ 2147483647 h 17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21"/>
              <a:gd name="T22" fmla="*/ 0 h 1726"/>
              <a:gd name="T23" fmla="*/ 2721 w 2721"/>
              <a:gd name="T24" fmla="*/ 1726 h 17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21" h="1726">
                <a:moveTo>
                  <a:pt x="0" y="1726"/>
                </a:moveTo>
                <a:cubicBezTo>
                  <a:pt x="90" y="1460"/>
                  <a:pt x="181" y="1195"/>
                  <a:pt x="285" y="963"/>
                </a:cubicBezTo>
                <a:cubicBezTo>
                  <a:pt x="389" y="731"/>
                  <a:pt x="495" y="487"/>
                  <a:pt x="625" y="331"/>
                </a:cubicBezTo>
                <a:cubicBezTo>
                  <a:pt x="755" y="175"/>
                  <a:pt x="899" y="0"/>
                  <a:pt x="1062" y="26"/>
                </a:cubicBezTo>
                <a:cubicBezTo>
                  <a:pt x="1225" y="52"/>
                  <a:pt x="1440" y="285"/>
                  <a:pt x="1603" y="484"/>
                </a:cubicBezTo>
                <a:cubicBezTo>
                  <a:pt x="1766" y="683"/>
                  <a:pt x="1854" y="1029"/>
                  <a:pt x="2040" y="1220"/>
                </a:cubicBezTo>
                <a:cubicBezTo>
                  <a:pt x="2226" y="1411"/>
                  <a:pt x="2473" y="1520"/>
                  <a:pt x="2721" y="1629"/>
                </a:cubicBezTo>
              </a:path>
            </a:pathLst>
          </a:custGeom>
          <a:noFill/>
          <a:ln w="190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200" dirty="0">
              <a:latin typeface="Source Sans Pro" panose="020B0503030403020204" pitchFamily="34" charset="0"/>
            </a:endParaRP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A8197BD1-66EE-50E3-7816-C628813DB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960" y="3924301"/>
            <a:ext cx="9323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D15F27"/>
                </a:solidFill>
                <a:latin typeface="Source Sans Pro" panose="020B0503030403020204" pitchFamily="34" charset="0"/>
              </a:rPr>
              <a:t>MPL</a:t>
            </a:r>
            <a:r>
              <a:rPr lang="en-US" altLang="en-US" baseline="-25000" dirty="0">
                <a:solidFill>
                  <a:srgbClr val="D15F27"/>
                </a:solidFill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B7EF0C82-8E75-FF8B-55D4-F14CEFDD40AD}"/>
              </a:ext>
            </a:extLst>
          </p:cNvPr>
          <p:cNvSpPr>
            <a:spLocks/>
          </p:cNvSpPr>
          <p:nvPr/>
        </p:nvSpPr>
        <p:spPr bwMode="auto">
          <a:xfrm>
            <a:off x="1713549" y="2460626"/>
            <a:ext cx="4340225" cy="3070225"/>
          </a:xfrm>
          <a:custGeom>
            <a:avLst/>
            <a:gdLst>
              <a:gd name="T0" fmla="*/ 0 w 2734"/>
              <a:gd name="T1" fmla="*/ 2147483647 h 1934"/>
              <a:gd name="T2" fmla="*/ 2147483647 w 2734"/>
              <a:gd name="T3" fmla="*/ 2147483647 h 1934"/>
              <a:gd name="T4" fmla="*/ 2147483647 w 2734"/>
              <a:gd name="T5" fmla="*/ 2147483647 h 1934"/>
              <a:gd name="T6" fmla="*/ 2147483647 w 2734"/>
              <a:gd name="T7" fmla="*/ 2147483647 h 1934"/>
              <a:gd name="T8" fmla="*/ 2147483647 w 2734"/>
              <a:gd name="T9" fmla="*/ 2147483647 h 1934"/>
              <a:gd name="T10" fmla="*/ 2147483647 w 2734"/>
              <a:gd name="T11" fmla="*/ 2147483647 h 19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34"/>
              <a:gd name="T19" fmla="*/ 0 h 1934"/>
              <a:gd name="T20" fmla="*/ 2734 w 2734"/>
              <a:gd name="T21" fmla="*/ 1934 h 193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34" h="1934">
                <a:moveTo>
                  <a:pt x="0" y="1934"/>
                </a:moveTo>
                <a:cubicBezTo>
                  <a:pt x="69" y="1624"/>
                  <a:pt x="138" y="1314"/>
                  <a:pt x="257" y="1039"/>
                </a:cubicBezTo>
                <a:cubicBezTo>
                  <a:pt x="376" y="764"/>
                  <a:pt x="538" y="440"/>
                  <a:pt x="715" y="283"/>
                </a:cubicBezTo>
                <a:cubicBezTo>
                  <a:pt x="892" y="126"/>
                  <a:pt x="1097" y="0"/>
                  <a:pt x="1319" y="95"/>
                </a:cubicBezTo>
                <a:cubicBezTo>
                  <a:pt x="1541" y="190"/>
                  <a:pt x="1811" y="657"/>
                  <a:pt x="2047" y="852"/>
                </a:cubicBezTo>
                <a:cubicBezTo>
                  <a:pt x="2283" y="1047"/>
                  <a:pt x="2619" y="1198"/>
                  <a:pt x="2734" y="1268"/>
                </a:cubicBezTo>
              </a:path>
            </a:pathLst>
          </a:custGeom>
          <a:noFill/>
          <a:ln w="19050">
            <a:solidFill>
              <a:srgbClr val="D15F2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200" dirty="0">
              <a:latin typeface="Source Sans Pro" panose="020B0503030403020204" pitchFamily="34" charset="0"/>
            </a:endParaRP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AD48D7A6-E179-4D9B-075B-6413D83D1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4576" y="2823805"/>
            <a:ext cx="40599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solidFill>
                  <a:srgbClr val="789B4A"/>
                </a:solidFill>
                <a:latin typeface="Source Sans Pro" panose="020B0503030403020204" pitchFamily="34" charset="0"/>
              </a:rPr>
              <a:t>MPL</a:t>
            </a:r>
            <a:r>
              <a:rPr lang="en-US" altLang="en-US" baseline="-25000" dirty="0">
                <a:solidFill>
                  <a:srgbClr val="789B4A"/>
                </a:solidFill>
                <a:latin typeface="Source Sans Pro" panose="020B0503030403020204" pitchFamily="34" charset="0"/>
              </a:rPr>
              <a:t>1</a:t>
            </a:r>
            <a:r>
              <a:rPr lang="en-US" altLang="en-US" dirty="0">
                <a:solidFill>
                  <a:srgbClr val="007360"/>
                </a:solidFill>
                <a:latin typeface="Source Sans Pro" panose="020B0503030403020204" pitchFamily="34" charset="0"/>
              </a:rPr>
              <a:t> </a:t>
            </a:r>
            <a:r>
              <a:rPr lang="en-US" altLang="en-US" dirty="0">
                <a:latin typeface="Source Sans Pro" panose="020B0503030403020204" pitchFamily="34" charset="0"/>
              </a:rPr>
              <a:t>is associated with a </a:t>
            </a:r>
            <a:r>
              <a:rPr lang="en-US" altLang="en-US" b="1" dirty="0">
                <a:latin typeface="Source Sans Pro" panose="020B0503030403020204" pitchFamily="34" charset="0"/>
              </a:rPr>
              <a:t>low</a:t>
            </a:r>
            <a:r>
              <a:rPr lang="en-US" altLang="en-US" dirty="0">
                <a:latin typeface="Source Sans Pro" panose="020B0503030403020204" pitchFamily="34" charset="0"/>
              </a:rPr>
              <a:t> level of K</a:t>
            </a:r>
          </a:p>
        </p:txBody>
      </p:sp>
      <p:sp>
        <p:nvSpPr>
          <p:cNvPr id="26" name="Text Box 17">
            <a:extLst>
              <a:ext uri="{FF2B5EF4-FFF2-40B4-BE49-F238E27FC236}">
                <a16:creationId xmlns:a16="http://schemas.microsoft.com/office/drawing/2014/main" id="{02E09C7F-9163-10FE-7515-AB16BD076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4576" y="3654802"/>
            <a:ext cx="40599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solidFill>
                  <a:srgbClr val="D15F27"/>
                </a:solidFill>
                <a:latin typeface="Source Sans Pro" panose="020B0503030403020204" pitchFamily="34" charset="0"/>
              </a:rPr>
              <a:t>MPL</a:t>
            </a:r>
            <a:r>
              <a:rPr lang="en-US" altLang="en-US" baseline="-25000" dirty="0">
                <a:solidFill>
                  <a:srgbClr val="D15F27"/>
                </a:solidFill>
                <a:latin typeface="Source Sans Pro" panose="020B0503030403020204" pitchFamily="34" charset="0"/>
              </a:rPr>
              <a:t>2</a:t>
            </a:r>
            <a:r>
              <a:rPr lang="en-US" altLang="en-US" dirty="0">
                <a:solidFill>
                  <a:srgbClr val="A51417"/>
                </a:solidFill>
                <a:latin typeface="Source Sans Pro" panose="020B0503030403020204" pitchFamily="34" charset="0"/>
              </a:rPr>
              <a:t> </a:t>
            </a:r>
            <a:r>
              <a:rPr lang="en-US" altLang="en-US" dirty="0">
                <a:latin typeface="Source Sans Pro" panose="020B0503030403020204" pitchFamily="34" charset="0"/>
              </a:rPr>
              <a:t>is associated with </a:t>
            </a:r>
            <a:r>
              <a:rPr lang="en-US" altLang="en-US" b="1" dirty="0">
                <a:latin typeface="Source Sans Pro" panose="020B0503030403020204" pitchFamily="34" charset="0"/>
              </a:rPr>
              <a:t>higher</a:t>
            </a:r>
            <a:r>
              <a:rPr lang="en-US" altLang="en-US" dirty="0">
                <a:latin typeface="Source Sans Pro" panose="020B0503030403020204" pitchFamily="34" charset="0"/>
              </a:rPr>
              <a:t> level of K</a:t>
            </a:r>
          </a:p>
        </p:txBody>
      </p:sp>
      <p:sp>
        <p:nvSpPr>
          <p:cNvPr id="27" name="Text Box 17">
            <a:extLst>
              <a:ext uri="{FF2B5EF4-FFF2-40B4-BE49-F238E27FC236}">
                <a16:creationId xmlns:a16="http://schemas.microsoft.com/office/drawing/2014/main" id="{3F8E222A-B4D7-F557-6C7D-22FEC53A2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4576" y="4485799"/>
            <a:ext cx="40599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Notice the bigger gap at high L than low 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Example: China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44E00FB-23C4-460E-BCA2-CD826B53000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5993" y="6512436"/>
            <a:ext cx="78638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alt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Source: “</a:t>
            </a:r>
            <a:r>
              <a:rPr lang="en-US" altLang="ja-JP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China Has World’s Biggest Productivity Problem,” Bloomberg, May 11, 2017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B377601-AF11-E1BE-D185-4C5370EDB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696" y="1386086"/>
            <a:ext cx="10287000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Why is China’s labor productivity slowing down?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Why is this a problem?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Explain: “China needs to focus on getting more out of its available resources, rather than relying on rapid capital accumulation”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Why does Rabobank recommend: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Improving education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Bolstering intellectual property protections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>
                <a:ea typeface="ＭＳ Ｐゴシック" pitchFamily="34" charset="-128"/>
              </a:rPr>
              <a:t>Chinese companies spending more on R&amp;D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7A95F0E5-B533-CC1E-AB4B-70663A200206}"/>
              </a:ext>
            </a:extLst>
          </p:cNvPr>
          <p:cNvSpPr/>
          <p:nvPr/>
        </p:nvSpPr>
        <p:spPr>
          <a:xfrm>
            <a:off x="1273350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7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Factor substitution and long-run production</a:t>
            </a:r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731365C-0259-4CFA-95F7-33DBCB396A47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D4ECBD-AD87-1D96-2165-9D47B2F01A39}"/>
              </a:ext>
            </a:extLst>
          </p:cNvPr>
          <p:cNvGrpSpPr/>
          <p:nvPr/>
        </p:nvGrpSpPr>
        <p:grpSpPr>
          <a:xfrm>
            <a:off x="6521452" y="2761565"/>
            <a:ext cx="4510087" cy="3495378"/>
            <a:chOff x="735013" y="3008452"/>
            <a:chExt cx="4510087" cy="3495378"/>
          </a:xfrm>
        </p:grpSpPr>
        <p:sp>
          <p:nvSpPr>
            <p:cNvPr id="19" name="Line 4">
              <a:extLst>
                <a:ext uri="{FF2B5EF4-FFF2-40B4-BE49-F238E27FC236}">
                  <a16:creationId xmlns:a16="http://schemas.microsoft.com/office/drawing/2014/main" id="{B07F4D65-9A30-2039-287D-00DB2D0C9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900" y="3179902"/>
              <a:ext cx="0" cy="2876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Line 5">
              <a:extLst>
                <a:ext uri="{FF2B5EF4-FFF2-40B4-BE49-F238E27FC236}">
                  <a16:creationId xmlns:a16="http://schemas.microsoft.com/office/drawing/2014/main" id="{536890EC-758E-C4FC-81FC-5DB9897B4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900" y="6056452"/>
              <a:ext cx="37147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AB63F45F-7D73-7C1D-9103-3E547B020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013" y="3008452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K</a:t>
              </a:r>
            </a:p>
          </p:txBody>
        </p:sp>
        <p:sp>
          <p:nvSpPr>
            <p:cNvPr id="27" name="Arc 7">
              <a:extLst>
                <a:ext uri="{FF2B5EF4-FFF2-40B4-BE49-F238E27FC236}">
                  <a16:creationId xmlns:a16="http://schemas.microsoft.com/office/drawing/2014/main" id="{0D6DABFB-5CEA-1E12-E3EA-E3362597F4A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16075" y="3052902"/>
              <a:ext cx="2852738" cy="2562225"/>
            </a:xfrm>
            <a:custGeom>
              <a:avLst/>
              <a:gdLst>
                <a:gd name="T0" fmla="*/ 2147483647 w 21579"/>
                <a:gd name="T1" fmla="*/ 0 h 21567"/>
                <a:gd name="T2" fmla="*/ 2147483647 w 21579"/>
                <a:gd name="T3" fmla="*/ 2147483647 h 21567"/>
                <a:gd name="T4" fmla="*/ 0 w 21579"/>
                <a:gd name="T5" fmla="*/ 2147483647 h 21567"/>
                <a:gd name="T6" fmla="*/ 0 60000 65536"/>
                <a:gd name="T7" fmla="*/ 0 60000 65536"/>
                <a:gd name="T8" fmla="*/ 0 60000 65536"/>
                <a:gd name="T9" fmla="*/ 0 w 21579"/>
                <a:gd name="T10" fmla="*/ 0 h 21567"/>
                <a:gd name="T11" fmla="*/ 21579 w 21579"/>
                <a:gd name="T12" fmla="*/ 21567 h 215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9" h="21567" fill="none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</a:path>
                <a:path w="21579" h="21567" stroke="0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  <a:lnTo>
                    <a:pt x="0" y="21567"/>
                  </a:lnTo>
                  <a:lnTo>
                    <a:pt x="119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8" name="Text Box 8">
              <a:extLst>
                <a:ext uri="{FF2B5EF4-FFF2-40B4-BE49-F238E27FC236}">
                  <a16:creationId xmlns:a16="http://schemas.microsoft.com/office/drawing/2014/main" id="{132ECBFC-5B98-53B3-F610-DCCFE74D4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7488" y="5130483"/>
              <a:ext cx="12176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Q = 10</a:t>
              </a: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49AC31F0-BB40-2977-407B-BECA0A0D1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3113" y="6042165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L</a:t>
              </a:r>
            </a:p>
          </p:txBody>
        </p:sp>
      </p:grpSp>
      <p:sp>
        <p:nvSpPr>
          <p:cNvPr id="30" name="Text Box 21">
            <a:extLst>
              <a:ext uri="{FF2B5EF4-FFF2-40B4-BE49-F238E27FC236}">
                <a16:creationId xmlns:a16="http://schemas.microsoft.com/office/drawing/2014/main" id="{F444A301-11E0-8C6A-2B37-5D9DFB82E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940" y="1189297"/>
            <a:ext cx="992894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228600" indent="-2286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Various L and K can lead to the same Q when inputs are </a:t>
            </a:r>
            <a:r>
              <a:rPr lang="en-US" altLang="en-US" b="1" dirty="0">
                <a:latin typeface="Source Sans Pro" panose="020B0503030403020204" pitchFamily="34" charset="0"/>
              </a:rPr>
              <a:t>substitutable</a:t>
            </a:r>
          </a:p>
          <a:p>
            <a:pPr marL="228600" indent="-2286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This follows from </a:t>
            </a:r>
            <a:r>
              <a:rPr lang="en-US" altLang="en-US" b="1" dirty="0">
                <a:latin typeface="Source Sans Pro" panose="020B0503030403020204" pitchFamily="34" charset="0"/>
              </a:rPr>
              <a:t>MPL &gt; 0 </a:t>
            </a:r>
            <a:r>
              <a:rPr lang="en-US" altLang="en-US" dirty="0">
                <a:latin typeface="Source Sans Pro" panose="020B0503030403020204" pitchFamily="34" charset="0"/>
              </a:rPr>
              <a:t>and </a:t>
            </a:r>
            <a:r>
              <a:rPr lang="en-US" altLang="en-US" b="1" dirty="0">
                <a:latin typeface="Source Sans Pro" panose="020B0503030403020204" pitchFamily="34" charset="0"/>
              </a:rPr>
              <a:t>MPK &gt; 0 </a:t>
            </a:r>
            <a:r>
              <a:rPr lang="en-US" altLang="en-US" i="1" dirty="0">
                <a:latin typeface="Source Sans Pro" panose="020B0503030403020204" pitchFamily="34" charset="0"/>
              </a:rPr>
              <a:t>(Why?)</a:t>
            </a: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id="{C5E10BB2-7855-8040-A645-CD376EC0B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255" y="4723494"/>
            <a:ext cx="309981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</a:pPr>
            <a:r>
              <a:rPr lang="en-US" altLang="en-US" dirty="0">
                <a:latin typeface="Source Sans Pro" panose="020B0503030403020204" pitchFamily="34" charset="0"/>
              </a:rPr>
              <a:t>Holding </a:t>
            </a:r>
            <a:r>
              <a:rPr lang="en-US" altLang="en-US" i="1" dirty="0">
                <a:latin typeface="Source Sans Pro" panose="020B0503030403020204" pitchFamily="34" charset="0"/>
              </a:rPr>
              <a:t>Q</a:t>
            </a:r>
            <a:r>
              <a:rPr lang="en-US" altLang="en-US" dirty="0">
                <a:latin typeface="Source Sans Pro" panose="020B0503030403020204" pitchFamily="34" charset="0"/>
              </a:rPr>
              <a:t> fixed, how much </a:t>
            </a:r>
            <a:r>
              <a:rPr lang="en-US" altLang="en-US" b="1" i="1" dirty="0">
                <a:latin typeface="Source Sans Pro" panose="020B0503030403020204" pitchFamily="34" charset="0"/>
              </a:rPr>
              <a:t>K</a:t>
            </a:r>
            <a:r>
              <a:rPr lang="en-US" altLang="en-US" b="1" dirty="0">
                <a:latin typeface="Source Sans Pro" panose="020B0503030403020204" pitchFamily="34" charset="0"/>
              </a:rPr>
              <a:t> </a:t>
            </a:r>
            <a:r>
              <a:rPr lang="en-US" altLang="en-US" dirty="0">
                <a:latin typeface="Source Sans Pro" panose="020B0503030403020204" pitchFamily="34" charset="0"/>
              </a:rPr>
              <a:t>is the firm willing to </a:t>
            </a:r>
            <a:r>
              <a:rPr lang="en-US" altLang="en-US" b="1" dirty="0">
                <a:latin typeface="Source Sans Pro" panose="020B0503030403020204" pitchFamily="34" charset="0"/>
              </a:rPr>
              <a:t>give up </a:t>
            </a:r>
            <a:r>
              <a:rPr lang="en-US" altLang="en-US" dirty="0">
                <a:latin typeface="Source Sans Pro" panose="020B0503030403020204" pitchFamily="34" charset="0"/>
              </a:rPr>
              <a:t>for one more unit of </a:t>
            </a:r>
            <a:r>
              <a:rPr lang="en-US" altLang="en-US" b="1" i="1" dirty="0">
                <a:latin typeface="Source Sans Pro" panose="020B0503030403020204" pitchFamily="34" charset="0"/>
              </a:rPr>
              <a:t>L</a:t>
            </a:r>
            <a:r>
              <a:rPr lang="en-US" altLang="en-US" dirty="0">
                <a:latin typeface="Source Sans Pro" panose="020B0503030403020204" pitchFamily="34" charset="0"/>
              </a:rPr>
              <a:t>?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E9C2357-96E3-EE9B-4B2A-5EE6606F3587}"/>
              </a:ext>
            </a:extLst>
          </p:cNvPr>
          <p:cNvSpPr/>
          <p:nvPr/>
        </p:nvSpPr>
        <p:spPr>
          <a:xfrm>
            <a:off x="2566389" y="2545555"/>
            <a:ext cx="3694904" cy="1651541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855141E-5250-906A-A2B3-9CC4DBA6B346}"/>
              </a:ext>
            </a:extLst>
          </p:cNvPr>
          <p:cNvSpPr/>
          <p:nvPr/>
        </p:nvSpPr>
        <p:spPr>
          <a:xfrm>
            <a:off x="801626" y="2453701"/>
            <a:ext cx="2421823" cy="180522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A7F4396-4AC1-27C0-955D-0158AAD80226}"/>
              </a:ext>
            </a:extLst>
          </p:cNvPr>
          <p:cNvSpPr/>
          <p:nvPr/>
        </p:nvSpPr>
        <p:spPr>
          <a:xfrm>
            <a:off x="865635" y="2545555"/>
            <a:ext cx="2279901" cy="1651541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Marginal Rate of Technical Substitution (MRTS)</a:t>
            </a:r>
            <a:endParaRPr lang="en-US" altLang="en-US" sz="2400" b="1" kern="0" dirty="0">
              <a:solidFill>
                <a:schemeClr val="bg1"/>
              </a:solidFill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">
                <a:extLst>
                  <a:ext uri="{FF2B5EF4-FFF2-40B4-BE49-F238E27FC236}">
                    <a16:creationId xmlns:a16="http://schemas.microsoft.com/office/drawing/2014/main" id="{69D05610-7F02-55FF-8617-E0251345E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4255" y="2641083"/>
                <a:ext cx="2896232" cy="1430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228600" indent="-228600" eaLnBrk="1" hangingPunct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400" dirty="0">
                    <a:latin typeface="Source Sans Pro" panose="020B0503030403020204" pitchFamily="34" charset="0"/>
                  </a:rPr>
                  <a:t>Slope of an isoquant</a:t>
                </a:r>
              </a:p>
              <a:p>
                <a:pPr marL="228600" indent="-228600" eaLnBrk="1" hangingPunct="1"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en-US" sz="2400" i="1" kern="0">
                        <a:latin typeface="Cambria Math"/>
                        <a:ea typeface="ＭＳ Ｐゴシック" pitchFamily="34" charset="-128"/>
                      </a:rPr>
                      <m:t>𝑀𝑅𝑇𝑆</m:t>
                    </m:r>
                    <m:r>
                      <a:rPr lang="en-US" altLang="en-US" sz="2400" i="1" kern="0">
                        <a:latin typeface="Cambria Math"/>
                        <a:ea typeface="ＭＳ Ｐゴシック" pitchFamily="34" charset="-128"/>
                      </a:rPr>
                      <m:t>=−</m:t>
                    </m:r>
                    <m:f>
                      <m:fPr>
                        <m:ctrlPr>
                          <a:rPr lang="en-US" altLang="en-US" sz="2400" i="1" ker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fPr>
                      <m:num>
                        <m:r>
                          <a:rPr lang="en-US" altLang="en-US" sz="2400" i="1" kern="0">
                            <a:latin typeface="Cambria Math"/>
                            <a:ea typeface="ＭＳ Ｐゴシック" pitchFamily="34" charset="-128"/>
                          </a:rPr>
                          <m:t>𝑀𝑃𝐿</m:t>
                        </m:r>
                      </m:num>
                      <m:den>
                        <m:r>
                          <a:rPr lang="en-US" altLang="en-US" sz="2400" i="1" kern="0">
                            <a:latin typeface="Cambria Math"/>
                            <a:ea typeface="ＭＳ Ｐゴシック" pitchFamily="34" charset="-128"/>
                          </a:rPr>
                          <m:t>𝑀𝑃𝐾</m:t>
                        </m:r>
                      </m:den>
                    </m:f>
                  </m:oMath>
                </a14:m>
                <a:endPara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5" name="Rectangle 3">
                <a:extLst>
                  <a:ext uri="{FF2B5EF4-FFF2-40B4-BE49-F238E27FC236}">
                    <a16:creationId xmlns:a16="http://schemas.microsoft.com/office/drawing/2014/main" id="{69D05610-7F02-55FF-8617-E0251345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4255" y="2641083"/>
                <a:ext cx="2896232" cy="1430456"/>
              </a:xfrm>
              <a:prstGeom prst="rect">
                <a:avLst/>
              </a:prstGeom>
              <a:blipFill>
                <a:blip r:embed="rId2"/>
                <a:stretch>
                  <a:fillRect l="-3493" t="-3509" b="-8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34A73EA-D3A6-F783-265B-05E11E9039D0}"/>
              </a:ext>
            </a:extLst>
          </p:cNvPr>
          <p:cNvSpPr/>
          <p:nvPr/>
        </p:nvSpPr>
        <p:spPr>
          <a:xfrm>
            <a:off x="865635" y="4723494"/>
            <a:ext cx="2278314" cy="830997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chemeClr val="tx1"/>
                </a:solidFill>
                <a:latin typeface="Source Sans Pro" panose="020B0503030403020204" pitchFamily="34" charset="0"/>
              </a:rPr>
              <a:t>Interpretation</a:t>
            </a:r>
            <a:endParaRPr lang="en-US" altLang="en-US" sz="2400" b="1" kern="0" dirty="0">
              <a:solidFill>
                <a:schemeClr val="tx1"/>
              </a:solidFill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Substitution between factors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C113A56-8525-43D7-83FD-C3E31D20B7A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1800" dirty="0">
              <a:latin typeface="Source Sans Pro" panose="020B0503030403020204" pitchFamily="34" charset="0"/>
            </a:endParaRP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78FF055D-2E02-1CDF-BC9F-7F7115596DB6}"/>
              </a:ext>
            </a:extLst>
          </p:cNvPr>
          <p:cNvSpPr/>
          <p:nvPr/>
        </p:nvSpPr>
        <p:spPr>
          <a:xfrm>
            <a:off x="8000126" y="5418264"/>
            <a:ext cx="1948543" cy="965146"/>
          </a:xfrm>
          <a:prstGeom prst="wedgeRoundRectCallout">
            <a:avLst>
              <a:gd name="adj1" fmla="val -100721"/>
              <a:gd name="adj2" fmla="val 30641"/>
              <a:gd name="adj3" fmla="val 16667"/>
            </a:avLst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Slope of the isoquant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2BF2E72-D611-5DCE-C320-61B057DBBCD3}"/>
              </a:ext>
            </a:extLst>
          </p:cNvPr>
          <p:cNvSpPr/>
          <p:nvPr/>
        </p:nvSpPr>
        <p:spPr>
          <a:xfrm>
            <a:off x="710184" y="974944"/>
            <a:ext cx="2133600" cy="1524000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Are we sure MRTS is the slope of the isoquant?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4B732F7-12AF-8D95-A237-F836597F9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85" y="974945"/>
            <a:ext cx="86502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MPx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is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change in output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if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input x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goes up or down by a small amount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3611E98F-BA4F-1C35-D140-AF721F19C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85" y="1811017"/>
            <a:ext cx="8650223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tabLst>
                <a:tab pos="5943600" algn="l"/>
              </a:tabLs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If L increases by 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L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, then Q increases by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  <a:tabLst>
                <a:tab pos="347663" algn="l"/>
              </a:tabLst>
            </a:pP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	MPL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x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L</a:t>
            </a:r>
            <a:endParaRPr lang="en-US" altLang="en-US" sz="2400" b="1" i="1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DBF1F97-8409-FCFE-14D9-01CAA6BC6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85" y="2724033"/>
            <a:ext cx="8650223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tabLst>
                <a:tab pos="5943600" algn="l"/>
              </a:tabLs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If K decreases by 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K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, then Q falls by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  <a:tabLst>
                <a:tab pos="347663" algn="l"/>
              </a:tabLst>
            </a:pP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	– MPK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x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K</a:t>
            </a:r>
            <a:endParaRPr lang="en-US" altLang="en-US" sz="2400" b="1" i="1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41B21DC0-B741-EA56-3BF0-4868BA8A8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85" y="3637049"/>
            <a:ext cx="8650223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(MPL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x </a:t>
            </a: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L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+ (MPK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x </a:t>
            </a: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K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True for </a:t>
            </a: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L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and </a:t>
            </a: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K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being (+) or (–)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1D614D3-9A71-F3E5-0974-4BA87D81FC55}"/>
              </a:ext>
            </a:extLst>
          </p:cNvPr>
          <p:cNvSpPr/>
          <p:nvPr/>
        </p:nvSpPr>
        <p:spPr>
          <a:xfrm>
            <a:off x="710184" y="3637048"/>
            <a:ext cx="2133600" cy="1080752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In general ...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E8B73BD9-84DA-6835-E812-F7DBA1400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85" y="4550065"/>
            <a:ext cx="86502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Since we are moving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along an isoquant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, we are interested in 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= 0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187392B5-CC8C-DBB4-E43B-99BE51B7F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785" y="5386137"/>
            <a:ext cx="86502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Insert this and rearrange to get: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F2468D-A4DE-4E35-E605-F8BD9EDD4729}"/>
              </a:ext>
            </a:extLst>
          </p:cNvPr>
          <p:cNvGrpSpPr/>
          <p:nvPr/>
        </p:nvGrpSpPr>
        <p:grpSpPr>
          <a:xfrm>
            <a:off x="5026433" y="5802368"/>
            <a:ext cx="1810847" cy="891971"/>
            <a:chOff x="4559299" y="5752672"/>
            <a:chExt cx="1810847" cy="89197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C0526B-1BA3-3AEB-402C-A6BFA497C728}"/>
                </a:ext>
              </a:extLst>
            </p:cNvPr>
            <p:cNvSpPr txBox="1"/>
            <p:nvPr/>
          </p:nvSpPr>
          <p:spPr>
            <a:xfrm>
              <a:off x="4882262" y="5752672"/>
              <a:ext cx="7328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MPL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B571D44-D5C1-2F41-C57A-5EF3D6EB15B4}"/>
                </a:ext>
              </a:extLst>
            </p:cNvPr>
            <p:cNvSpPr txBox="1"/>
            <p:nvPr/>
          </p:nvSpPr>
          <p:spPr>
            <a:xfrm>
              <a:off x="4867835" y="6182978"/>
              <a:ext cx="7617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MPK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609D0F-D209-E4FE-07C5-04EEA3D34658}"/>
                </a:ext>
              </a:extLst>
            </p:cNvPr>
            <p:cNvSpPr txBox="1"/>
            <p:nvPr/>
          </p:nvSpPr>
          <p:spPr>
            <a:xfrm>
              <a:off x="5836025" y="5752672"/>
              <a:ext cx="53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dK</a:t>
              </a:r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1422B5-7190-151C-0E76-0D44B66D0978}"/>
                </a:ext>
              </a:extLst>
            </p:cNvPr>
            <p:cNvSpPr txBox="1"/>
            <p:nvPr/>
          </p:nvSpPr>
          <p:spPr>
            <a:xfrm>
              <a:off x="5850452" y="6182978"/>
              <a:ext cx="5052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dL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CA3AFB-B568-E6FC-BD13-2FB088407C06}"/>
                </a:ext>
              </a:extLst>
            </p:cNvPr>
            <p:cNvSpPr txBox="1"/>
            <p:nvPr/>
          </p:nvSpPr>
          <p:spPr>
            <a:xfrm>
              <a:off x="5563348" y="5967825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=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F8FAE3-5066-D3F2-9165-B79CA6EFAA8D}"/>
                </a:ext>
              </a:extLst>
            </p:cNvPr>
            <p:cNvCxnSpPr>
              <a:cxnSpLocks/>
            </p:cNvCxnSpPr>
            <p:nvPr/>
          </p:nvCxnSpPr>
          <p:spPr>
            <a:xfrm>
              <a:off x="4968188" y="6198658"/>
              <a:ext cx="56104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FB2E39E-241F-4566-C3EF-3F5427758DE6}"/>
                </a:ext>
              </a:extLst>
            </p:cNvPr>
            <p:cNvCxnSpPr>
              <a:cxnSpLocks/>
            </p:cNvCxnSpPr>
            <p:nvPr/>
          </p:nvCxnSpPr>
          <p:spPr>
            <a:xfrm>
              <a:off x="5905862" y="6198658"/>
              <a:ext cx="39444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7E898C-6E55-DD6C-34A5-000588860F3B}"/>
                </a:ext>
              </a:extLst>
            </p:cNvPr>
            <p:cNvSpPr txBox="1"/>
            <p:nvPr/>
          </p:nvSpPr>
          <p:spPr>
            <a:xfrm>
              <a:off x="4559299" y="5944931"/>
              <a:ext cx="4315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—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20" grpId="0"/>
      <p:bldP spid="23" grpId="0"/>
      <p:bldP spid="24" grpId="0"/>
      <p:bldP spid="25" grpId="0"/>
      <p:bldP spid="26" grpId="0" animBg="1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Variation in factor substitution</a:t>
            </a:r>
          </a:p>
        </p:txBody>
      </p:sp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1766007-3B54-4DB3-9F8B-297D8A339FC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079DCC-E45F-B26B-9A38-185B34218CE6}"/>
              </a:ext>
            </a:extLst>
          </p:cNvPr>
          <p:cNvGrpSpPr/>
          <p:nvPr/>
        </p:nvGrpSpPr>
        <p:grpSpPr>
          <a:xfrm>
            <a:off x="2411413" y="3214551"/>
            <a:ext cx="4672012" cy="3450927"/>
            <a:chOff x="887413" y="3109278"/>
            <a:chExt cx="4672012" cy="3450927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503C7202-2F2B-459E-A6D6-88ABA8545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6825" y="3236278"/>
              <a:ext cx="0" cy="2876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Line 5">
              <a:extLst>
                <a:ext uri="{FF2B5EF4-FFF2-40B4-BE49-F238E27FC236}">
                  <a16:creationId xmlns:a16="http://schemas.microsoft.com/office/drawing/2014/main" id="{F6768AB1-F4B5-3376-32FD-68B452C9BD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6825" y="6112828"/>
              <a:ext cx="37147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DBBDBA35-F445-8B28-A5A1-52EA0E440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413" y="3231515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K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Arc 7">
              <a:extLst>
                <a:ext uri="{FF2B5EF4-FFF2-40B4-BE49-F238E27FC236}">
                  <a16:creationId xmlns:a16="http://schemas.microsoft.com/office/drawing/2014/main" id="{F4019C75-6F5B-064F-8D66-B4BE0FE98AA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73225" y="3109278"/>
              <a:ext cx="2852738" cy="2560637"/>
            </a:xfrm>
            <a:custGeom>
              <a:avLst/>
              <a:gdLst>
                <a:gd name="T0" fmla="*/ 2147483647 w 21579"/>
                <a:gd name="T1" fmla="*/ 0 h 21567"/>
                <a:gd name="T2" fmla="*/ 2147483647 w 21579"/>
                <a:gd name="T3" fmla="*/ 2147483647 h 21567"/>
                <a:gd name="T4" fmla="*/ 0 w 21579"/>
                <a:gd name="T5" fmla="*/ 2147483647 h 21567"/>
                <a:gd name="T6" fmla="*/ 0 60000 65536"/>
                <a:gd name="T7" fmla="*/ 0 60000 65536"/>
                <a:gd name="T8" fmla="*/ 0 60000 65536"/>
                <a:gd name="T9" fmla="*/ 0 w 21579"/>
                <a:gd name="T10" fmla="*/ 0 h 21567"/>
                <a:gd name="T11" fmla="*/ 21579 w 21579"/>
                <a:gd name="T12" fmla="*/ 21567 h 215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9" h="21567" fill="none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</a:path>
                <a:path w="21579" h="21567" stroke="0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  <a:lnTo>
                    <a:pt x="0" y="21567"/>
                  </a:lnTo>
                  <a:lnTo>
                    <a:pt x="119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892018E4-3009-2044-54E6-309250BE7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1813" y="5458778"/>
              <a:ext cx="12176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Q</a:t>
              </a:r>
              <a:r>
                <a:rPr lang="en-US" altLang="en-US" dirty="0">
                  <a:latin typeface="Source Sans Pro" panose="020B0503030403020204" pitchFamily="34" charset="0"/>
                </a:rPr>
                <a:t> = 10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0199961A-8A56-23C8-607C-146C10F98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5038" y="6098540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L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A037EE0-B832-09A1-4E6C-7BFD7CFFE402}"/>
              </a:ext>
            </a:extLst>
          </p:cNvPr>
          <p:cNvGrpSpPr/>
          <p:nvPr/>
        </p:nvGrpSpPr>
        <p:grpSpPr>
          <a:xfrm>
            <a:off x="3375026" y="3778748"/>
            <a:ext cx="1796415" cy="1807865"/>
            <a:chOff x="1851025" y="3673475"/>
            <a:chExt cx="1796415" cy="1807865"/>
          </a:xfrm>
        </p:grpSpPr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43DA2D2A-AB8C-B9C0-F37E-910DB74E3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025" y="4031615"/>
              <a:ext cx="92075" cy="9048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CB22606F-E7DC-B8F2-59C4-2BB0F7B7C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975" y="5377815"/>
              <a:ext cx="90488" cy="9048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B0BEEF5B-E842-2040-F393-7219DBECF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9443" y="3673475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1</a:t>
              </a: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4065D44F-1C6A-0F97-CD98-9628D881A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965" y="5019675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2</a:t>
              </a:r>
            </a:p>
          </p:txBody>
        </p:sp>
      </p:grpSp>
      <p:sp>
        <p:nvSpPr>
          <p:cNvPr id="14" name="Text Box 15">
            <a:extLst>
              <a:ext uri="{FF2B5EF4-FFF2-40B4-BE49-F238E27FC236}">
                <a16:creationId xmlns:a16="http://schemas.microsoft.com/office/drawing/2014/main" id="{EE5F2600-6B8B-4E21-1516-A822C8360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737" y="3909310"/>
            <a:ext cx="340874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indent="-342900" eaLnBrk="1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|MRTS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r>
              <a:rPr lang="en-US" altLang="en-US" dirty="0">
                <a:latin typeface="Source Sans Pro" panose="020B0503030403020204" pitchFamily="34" charset="0"/>
              </a:rPr>
              <a:t>| &gt; |MRTS</a:t>
            </a:r>
            <a:r>
              <a:rPr lang="en-US" altLang="en-US" baseline="-25000" dirty="0">
                <a:latin typeface="Source Sans Pro" panose="020B0503030403020204" pitchFamily="34" charset="0"/>
              </a:rPr>
              <a:t>2</a:t>
            </a:r>
            <a:r>
              <a:rPr lang="en-US" altLang="en-US" dirty="0">
                <a:latin typeface="Source Sans Pro" panose="020B0503030403020204" pitchFamily="34" charset="0"/>
              </a:rPr>
              <a:t>| because of differences in labor and capital </a:t>
            </a:r>
            <a:r>
              <a:rPr lang="en-US" altLang="en-US" b="1" dirty="0">
                <a:latin typeface="Source Sans Pro" panose="020B0503030403020204" pitchFamily="34" charset="0"/>
              </a:rPr>
              <a:t>productivity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0DEB69A-2D30-9DB0-EC39-2F82FF231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56" y="2145548"/>
            <a:ext cx="1082649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Managerial relevance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: Flexibility in changing inputs depends on their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initial mix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and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inherent characteristics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of production technology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77BA7CC-A1E2-992B-A066-7888A51BF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56" y="1172055"/>
            <a:ext cx="10826496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When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K is high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and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L is low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, MRTS may be high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Remember MRTS = -MPL/MPK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26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Production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Marginal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Scale economies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86934-E9D6-8A24-E1F1-30C3EB2C03AB}"/>
              </a:ext>
            </a:extLst>
          </p:cNvPr>
          <p:cNvSpPr txBox="1"/>
          <p:nvPr/>
        </p:nvSpPr>
        <p:spPr>
          <a:xfrm>
            <a:off x="3135630" y="3881415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Moral hazard</a:t>
            </a:r>
          </a:p>
        </p:txBody>
      </p:sp>
    </p:spTree>
    <p:extLst>
      <p:ext uri="{BB962C8B-B14F-4D97-AF65-F5344CB8AC3E}">
        <p14:creationId xmlns:p14="http://schemas.microsoft.com/office/powerpoint/2010/main" val="1935253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Scale economies</a:t>
            </a:r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88432C7-1FB5-4EAA-8DA6-E3C89830800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6D975E-82B7-A0F0-6E0B-A207E4D9C43C}"/>
              </a:ext>
            </a:extLst>
          </p:cNvPr>
          <p:cNvGrpSpPr/>
          <p:nvPr/>
        </p:nvGrpSpPr>
        <p:grpSpPr>
          <a:xfrm>
            <a:off x="553866" y="2333658"/>
            <a:ext cx="3195174" cy="3152741"/>
            <a:chOff x="553866" y="2333658"/>
            <a:chExt cx="3195174" cy="3152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9D6214E-3E8E-C496-77E7-8DC08A2805A2}"/>
                </a:ext>
              </a:extLst>
            </p:cNvPr>
            <p:cNvGrpSpPr/>
            <p:nvPr/>
          </p:nvGrpSpPr>
          <p:grpSpPr>
            <a:xfrm>
              <a:off x="553866" y="2333658"/>
              <a:ext cx="3195174" cy="3152741"/>
              <a:chOff x="1066800" y="3886200"/>
              <a:chExt cx="1371600" cy="2743200"/>
            </a:xfrm>
            <a:solidFill>
              <a:srgbClr val="007360"/>
            </a:solidFill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87680E0-3E9E-A12A-0A0C-3BC0634FA0EA}"/>
                  </a:ext>
                </a:extLst>
              </p:cNvPr>
              <p:cNvSpPr/>
              <p:nvPr/>
            </p:nvSpPr>
            <p:spPr>
              <a:xfrm>
                <a:off x="1066800" y="4343400"/>
                <a:ext cx="1371600" cy="1828800"/>
              </a:xfrm>
              <a:prstGeom prst="roundRect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0ADB2A5-D8A1-D331-DE50-FD071E6A2BF0}"/>
                  </a:ext>
                </a:extLst>
              </p:cNvPr>
              <p:cNvSpPr/>
              <p:nvPr/>
            </p:nvSpPr>
            <p:spPr>
              <a:xfrm>
                <a:off x="1066800" y="3886200"/>
                <a:ext cx="1371600" cy="1371600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BEB0BD0-E7DE-AE2E-D33D-50428E004881}"/>
                  </a:ext>
                </a:extLst>
              </p:cNvPr>
              <p:cNvSpPr/>
              <p:nvPr/>
            </p:nvSpPr>
            <p:spPr>
              <a:xfrm>
                <a:off x="1066800" y="5257800"/>
                <a:ext cx="1371600" cy="1371600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C9F83A-B223-8507-57B1-26C124EC54A9}"/>
                </a:ext>
              </a:extLst>
            </p:cNvPr>
            <p:cNvSpPr/>
            <p:nvPr/>
          </p:nvSpPr>
          <p:spPr>
            <a:xfrm>
              <a:off x="716789" y="2860359"/>
              <a:ext cx="2823285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4763" lvl="1" indent="-4763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Small: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 1 chef; small kitchen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Must do everything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Limited equipment</a:t>
              </a:r>
              <a:endPara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73BF847-5961-62C8-B6A5-F4517CCC58FF}"/>
              </a:ext>
            </a:extLst>
          </p:cNvPr>
          <p:cNvGrpSpPr/>
          <p:nvPr/>
        </p:nvGrpSpPr>
        <p:grpSpPr>
          <a:xfrm>
            <a:off x="3926677" y="2333658"/>
            <a:ext cx="3522483" cy="3684555"/>
            <a:chOff x="3926677" y="2333658"/>
            <a:chExt cx="3522483" cy="368455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609B3E-E286-22F3-DDA3-FA312C658256}"/>
                </a:ext>
              </a:extLst>
            </p:cNvPr>
            <p:cNvGrpSpPr/>
            <p:nvPr/>
          </p:nvGrpSpPr>
          <p:grpSpPr>
            <a:xfrm>
              <a:off x="3926677" y="2333658"/>
              <a:ext cx="3522483" cy="3684555"/>
              <a:chOff x="1066800" y="3886200"/>
              <a:chExt cx="1371600" cy="2743200"/>
            </a:xfrm>
            <a:solidFill>
              <a:srgbClr val="007360"/>
            </a:solidFill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23AD26D-6232-28F1-9559-1BC237AD3690}"/>
                  </a:ext>
                </a:extLst>
              </p:cNvPr>
              <p:cNvSpPr/>
              <p:nvPr/>
            </p:nvSpPr>
            <p:spPr>
              <a:xfrm>
                <a:off x="1066800" y="4343400"/>
                <a:ext cx="1371600" cy="1828800"/>
              </a:xfrm>
              <a:prstGeom prst="roundRect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202DAC8-79A0-27B8-F8A7-CCFC545CAE04}"/>
                  </a:ext>
                </a:extLst>
              </p:cNvPr>
              <p:cNvSpPr/>
              <p:nvPr/>
            </p:nvSpPr>
            <p:spPr>
              <a:xfrm>
                <a:off x="1066800" y="3886200"/>
                <a:ext cx="1371600" cy="1371600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7C89006-1E39-E207-C18D-5B67488BCBD2}"/>
                  </a:ext>
                </a:extLst>
              </p:cNvPr>
              <p:cNvSpPr/>
              <p:nvPr/>
            </p:nvSpPr>
            <p:spPr>
              <a:xfrm>
                <a:off x="1066800" y="5257800"/>
                <a:ext cx="1371600" cy="1371600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3E416C-423A-4EB7-FBB1-D680894D8D1A}"/>
                </a:ext>
              </a:extLst>
            </p:cNvPr>
            <p:cNvSpPr/>
            <p:nvPr/>
          </p:nvSpPr>
          <p:spPr>
            <a:xfrm>
              <a:off x="4070661" y="2860359"/>
              <a:ext cx="3153593" cy="2677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Medium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: 10 chefs; kitchen (10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sym typeface="Symbol" pitchFamily="18" charset="2"/>
                </a:rPr>
                <a:t>x Small)</a:t>
              </a:r>
              <a:endPara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Tasks divided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Saves time for all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Specialized capital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More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than 10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Symbol" pitchFamily="18" charset="2"/>
                </a:rPr>
                <a:t>x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the output of Small</a:t>
              </a:r>
              <a:endPara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AA92FE-1244-C201-BCB9-AC8457C4FACA}"/>
              </a:ext>
            </a:extLst>
          </p:cNvPr>
          <p:cNvGrpSpPr/>
          <p:nvPr/>
        </p:nvGrpSpPr>
        <p:grpSpPr>
          <a:xfrm>
            <a:off x="7610856" y="2333659"/>
            <a:ext cx="4255037" cy="4291388"/>
            <a:chOff x="7610856" y="2333659"/>
            <a:chExt cx="4255037" cy="429138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9BF237E-9AA8-7A0F-18AF-221F2B1E57B0}"/>
                </a:ext>
              </a:extLst>
            </p:cNvPr>
            <p:cNvGrpSpPr/>
            <p:nvPr/>
          </p:nvGrpSpPr>
          <p:grpSpPr>
            <a:xfrm>
              <a:off x="7610856" y="2333659"/>
              <a:ext cx="4255037" cy="4291388"/>
              <a:chOff x="1066800" y="3886200"/>
              <a:chExt cx="1371600" cy="2743200"/>
            </a:xfrm>
            <a:solidFill>
              <a:srgbClr val="007360"/>
            </a:solidFill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2C70EEBB-8BEB-D3C4-57EC-D85F59AA5D8B}"/>
                  </a:ext>
                </a:extLst>
              </p:cNvPr>
              <p:cNvSpPr/>
              <p:nvPr/>
            </p:nvSpPr>
            <p:spPr>
              <a:xfrm>
                <a:off x="1066800" y="4343400"/>
                <a:ext cx="1371600" cy="1828800"/>
              </a:xfrm>
              <a:prstGeom prst="roundRect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C52A082-BF52-CB31-540D-8F7CDD67C2DC}"/>
                  </a:ext>
                </a:extLst>
              </p:cNvPr>
              <p:cNvSpPr/>
              <p:nvPr/>
            </p:nvSpPr>
            <p:spPr>
              <a:xfrm>
                <a:off x="1066800" y="3886200"/>
                <a:ext cx="1371600" cy="1371600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57B9238-A6A4-2793-FE13-E0663B86981A}"/>
                  </a:ext>
                </a:extLst>
              </p:cNvPr>
              <p:cNvSpPr/>
              <p:nvPr/>
            </p:nvSpPr>
            <p:spPr>
              <a:xfrm>
                <a:off x="1066800" y="5257800"/>
                <a:ext cx="1371600" cy="1371600"/>
              </a:xfrm>
              <a:prstGeom prst="ellipse">
                <a:avLst/>
              </a:prstGeom>
              <a:solidFill>
                <a:srgbClr val="D15F27"/>
              </a:solidFill>
              <a:ln>
                <a:solidFill>
                  <a:srgbClr val="D15F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rgbClr val="C8C8C8"/>
                  </a:solidFill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6E4FCE-0CD7-2232-6E37-7DBB1D98CE54}"/>
                </a:ext>
              </a:extLst>
            </p:cNvPr>
            <p:cNvSpPr/>
            <p:nvPr/>
          </p:nvSpPr>
          <p:spPr>
            <a:xfrm>
              <a:off x="7790160" y="2860359"/>
              <a:ext cx="3847974" cy="3416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Large: 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100 chefs; huge kitchen (10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sym typeface="Symbol" pitchFamily="18" charset="2"/>
                </a:rPr>
                <a:t>x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 Medium)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Fine division of tasks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Requires a lot of coordination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No additional benefits from specialized capital</a:t>
              </a:r>
            </a:p>
            <a:p>
              <a:pPr marL="174625" lvl="2" indent="-174625">
                <a:buFont typeface="Arial" panose="020B0604020202020204" pitchFamily="34" charset="0"/>
                <a:buChar char="•"/>
              </a:pPr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Less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than 10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Symbol" pitchFamily="18" charset="2"/>
                </a:rPr>
                <a:t>x</a:t>
              </a:r>
              <a:r>
                <a:rPr lang="en-US" alt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the output of Medium</a:t>
              </a:r>
            </a:p>
          </p:txBody>
        </p:sp>
      </p:grpSp>
      <p:sp>
        <p:nvSpPr>
          <p:cNvPr id="38" name="Rectangle 3">
            <a:extLst>
              <a:ext uri="{FF2B5EF4-FFF2-40B4-BE49-F238E27FC236}">
                <a16:creationId xmlns:a16="http://schemas.microsoft.com/office/drawing/2014/main" id="{41C88D97-E451-1043-61C6-B4D40851B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66" y="916726"/>
            <a:ext cx="9656934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A firm’</a:t>
            </a:r>
            <a:r>
              <a:rPr lang="en-US" altLang="ja-JP" kern="0" dirty="0">
                <a:ea typeface="ＭＳ Ｐゴシック" pitchFamily="34" charset="-128"/>
              </a:rPr>
              <a:t>s </a:t>
            </a:r>
            <a:r>
              <a:rPr lang="en-US" altLang="ja-JP" b="1" kern="0" dirty="0">
                <a:ea typeface="ＭＳ Ｐゴシック" pitchFamily="34" charset="-128"/>
              </a:rPr>
              <a:t>efficiency </a:t>
            </a:r>
            <a:r>
              <a:rPr lang="en-US" altLang="ja-JP" kern="0" dirty="0">
                <a:ea typeface="ＭＳ Ｐゴシック" pitchFamily="34" charset="-128"/>
              </a:rPr>
              <a:t>may depend on </a:t>
            </a:r>
            <a:r>
              <a:rPr lang="en-US" altLang="ja-JP" b="1" kern="0" dirty="0">
                <a:ea typeface="ＭＳ Ｐゴシック" pitchFamily="34" charset="-128"/>
              </a:rPr>
              <a:t>how large </a:t>
            </a:r>
            <a:r>
              <a:rPr lang="en-US" altLang="ja-JP" kern="0" dirty="0">
                <a:ea typeface="ＭＳ Ｐゴシック" pitchFamily="34" charset="-128"/>
              </a:rPr>
              <a:t>it is</a:t>
            </a:r>
          </a:p>
          <a:p>
            <a:pPr lvl="1" eaLnBrk="1" hangingPunct="1"/>
            <a:r>
              <a:rPr lang="en-US" altLang="ja-JP" b="1" kern="0" dirty="0">
                <a:ea typeface="ＭＳ Ｐゴシック" pitchFamily="34" charset="-128"/>
              </a:rPr>
              <a:t>High output </a:t>
            </a:r>
            <a:r>
              <a:rPr lang="en-US" altLang="ja-JP" kern="0" dirty="0">
                <a:ea typeface="ＭＳ Ｐゴシック" pitchFamily="34" charset="-128"/>
              </a:rPr>
              <a:t>for relatively </a:t>
            </a:r>
            <a:r>
              <a:rPr lang="en-US" altLang="ja-JP" b="1" kern="0" dirty="0">
                <a:ea typeface="ＭＳ Ｐゴシック" pitchFamily="34" charset="-128"/>
              </a:rPr>
              <a:t>low inputs</a:t>
            </a:r>
            <a:endParaRPr lang="en-US" altLang="en-US" b="1" kern="0" dirty="0">
              <a:ea typeface="ＭＳ Ｐゴシック" pitchFamily="34" charset="-128"/>
            </a:endParaRPr>
          </a:p>
          <a:p>
            <a:pPr eaLnBrk="1" hangingPunct="1"/>
            <a:r>
              <a:rPr lang="en-US" altLang="en-US" b="1" kern="0" dirty="0">
                <a:ea typeface="ＭＳ Ｐゴシック" pitchFamily="34" charset="-128"/>
              </a:rPr>
              <a:t>Example</a:t>
            </a:r>
            <a:r>
              <a:rPr lang="en-US" altLang="en-US" kern="0" dirty="0">
                <a:ea typeface="ＭＳ Ｐゴシック" pitchFamily="34" charset="-128"/>
              </a:rPr>
              <a:t>: 3 </a:t>
            </a:r>
            <a:r>
              <a:rPr lang="en-US" altLang="en-US" b="1" kern="0" dirty="0">
                <a:ea typeface="ＭＳ Ｐゴシック" pitchFamily="34" charset="-128"/>
              </a:rPr>
              <a:t>restaurants</a:t>
            </a:r>
            <a:r>
              <a:rPr lang="en-US" altLang="en-US" kern="0" dirty="0">
                <a:ea typeface="ＭＳ Ｐゴシック" pitchFamily="34" charset="-128"/>
              </a:rPr>
              <a:t> – Which is most efficient?</a:t>
            </a:r>
          </a:p>
        </p:txBody>
      </p:sp>
    </p:spTree>
    <p:extLst>
      <p:ext uri="{BB962C8B-B14F-4D97-AF65-F5344CB8AC3E}">
        <p14:creationId xmlns:p14="http://schemas.microsoft.com/office/powerpoint/2010/main" val="409878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Scale economies defined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7AF8B62-99A0-41D4-908C-78A53D57852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A30855CB-D8CD-2AF3-CFFE-4663E0BAE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4376" y="2082801"/>
            <a:ext cx="3702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If inputs double 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B6ACE5-6C28-F1A5-404C-B034196AFAEB}"/>
              </a:ext>
            </a:extLst>
          </p:cNvPr>
          <p:cNvGrpSpPr/>
          <p:nvPr/>
        </p:nvGrpSpPr>
        <p:grpSpPr>
          <a:xfrm>
            <a:off x="971804" y="2436814"/>
            <a:ext cx="4421188" cy="3444577"/>
            <a:chOff x="444500" y="2436813"/>
            <a:chExt cx="4421188" cy="3444577"/>
          </a:xfrm>
        </p:grpSpPr>
        <p:sp>
          <p:nvSpPr>
            <p:cNvPr id="5" name="Line 18">
              <a:extLst>
                <a:ext uri="{FF2B5EF4-FFF2-40B4-BE49-F238E27FC236}">
                  <a16:creationId xmlns:a16="http://schemas.microsoft.com/office/drawing/2014/main" id="{DB16B9F0-700E-EE7D-BAF0-B85E76A7B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0425" y="2557463"/>
              <a:ext cx="0" cy="28765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9" name="Line 19">
              <a:extLst>
                <a:ext uri="{FF2B5EF4-FFF2-40B4-BE49-F238E27FC236}">
                  <a16:creationId xmlns:a16="http://schemas.microsoft.com/office/drawing/2014/main" id="{5329E660-CAAF-2BA5-55F8-7B2B3BF74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425" y="5434013"/>
              <a:ext cx="37147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Text Box 20">
              <a:extLst>
                <a:ext uri="{FF2B5EF4-FFF2-40B4-BE49-F238E27FC236}">
                  <a16:creationId xmlns:a16="http://schemas.microsoft.com/office/drawing/2014/main" id="{5C8886AA-1A78-CE75-ACEA-CD510761E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013" y="2552700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K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Arc 21">
              <a:extLst>
                <a:ext uri="{FF2B5EF4-FFF2-40B4-BE49-F238E27FC236}">
                  <a16:creationId xmlns:a16="http://schemas.microsoft.com/office/drawing/2014/main" id="{FD5D9450-F62B-8AF6-5562-2E37461ED7C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58850" y="2838450"/>
              <a:ext cx="2852738" cy="2560638"/>
            </a:xfrm>
            <a:custGeom>
              <a:avLst/>
              <a:gdLst>
                <a:gd name="T0" fmla="*/ 2147483647 w 21579"/>
                <a:gd name="T1" fmla="*/ 0 h 21567"/>
                <a:gd name="T2" fmla="*/ 2147483647 w 21579"/>
                <a:gd name="T3" fmla="*/ 2147483647 h 21567"/>
                <a:gd name="T4" fmla="*/ 0 w 21579"/>
                <a:gd name="T5" fmla="*/ 2147483647 h 21567"/>
                <a:gd name="T6" fmla="*/ 0 60000 65536"/>
                <a:gd name="T7" fmla="*/ 0 60000 65536"/>
                <a:gd name="T8" fmla="*/ 0 60000 65536"/>
                <a:gd name="T9" fmla="*/ 0 w 21579"/>
                <a:gd name="T10" fmla="*/ 0 h 21567"/>
                <a:gd name="T11" fmla="*/ 21579 w 21579"/>
                <a:gd name="T12" fmla="*/ 21567 h 215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9" h="21567" fill="none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</a:path>
                <a:path w="21579" h="21567" stroke="0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  <a:lnTo>
                    <a:pt x="0" y="21567"/>
                  </a:lnTo>
                  <a:lnTo>
                    <a:pt x="119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Text Box 22">
              <a:extLst>
                <a:ext uri="{FF2B5EF4-FFF2-40B4-BE49-F238E27FC236}">
                  <a16:creationId xmlns:a16="http://schemas.microsoft.com/office/drawing/2014/main" id="{32D65621-651E-A0D6-A03B-A580F089E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075" y="5000625"/>
              <a:ext cx="12176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Q</a:t>
              </a:r>
              <a:r>
                <a:rPr lang="en-US" altLang="en-US" dirty="0">
                  <a:latin typeface="Source Sans Pro" panose="020B0503030403020204" pitchFamily="34" charset="0"/>
                </a:rPr>
                <a:t> = 10</a:t>
              </a:r>
            </a:p>
          </p:txBody>
        </p:sp>
        <p:sp>
          <p:nvSpPr>
            <p:cNvPr id="13" name="Text Box 23">
              <a:extLst>
                <a:ext uri="{FF2B5EF4-FFF2-40B4-BE49-F238E27FC236}">
                  <a16:creationId xmlns:a16="http://schemas.microsoft.com/office/drawing/2014/main" id="{414D3633-DED7-3061-7E9E-022A572CB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638" y="5419725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L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4" name="Text Box 24">
              <a:extLst>
                <a:ext uri="{FF2B5EF4-FFF2-40B4-BE49-F238E27FC236}">
                  <a16:creationId xmlns:a16="http://schemas.microsoft.com/office/drawing/2014/main" id="{12C97AD4-E232-2D17-8CAD-9AB31222A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8" y="4648200"/>
              <a:ext cx="371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5" name="Arc 29">
              <a:extLst>
                <a:ext uri="{FF2B5EF4-FFF2-40B4-BE49-F238E27FC236}">
                  <a16:creationId xmlns:a16="http://schemas.microsoft.com/office/drawing/2014/main" id="{5914EF0A-179B-6C1F-00F1-F7A2AE5D329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727200" y="2436813"/>
              <a:ext cx="2457450" cy="2152650"/>
            </a:xfrm>
            <a:custGeom>
              <a:avLst/>
              <a:gdLst>
                <a:gd name="T0" fmla="*/ 2147483647 w 21579"/>
                <a:gd name="T1" fmla="*/ 0 h 21567"/>
                <a:gd name="T2" fmla="*/ 2147483647 w 21579"/>
                <a:gd name="T3" fmla="*/ 2147483647 h 21567"/>
                <a:gd name="T4" fmla="*/ 0 w 21579"/>
                <a:gd name="T5" fmla="*/ 2147483647 h 21567"/>
                <a:gd name="T6" fmla="*/ 0 60000 65536"/>
                <a:gd name="T7" fmla="*/ 0 60000 65536"/>
                <a:gd name="T8" fmla="*/ 0 60000 65536"/>
                <a:gd name="T9" fmla="*/ 0 w 21579"/>
                <a:gd name="T10" fmla="*/ 0 h 21567"/>
                <a:gd name="T11" fmla="*/ 21579 w 21579"/>
                <a:gd name="T12" fmla="*/ 21567 h 215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9" h="21567" fill="none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</a:path>
                <a:path w="21579" h="21567" stroke="0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  <a:lnTo>
                    <a:pt x="0" y="21567"/>
                  </a:lnTo>
                  <a:lnTo>
                    <a:pt x="119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6" name="Text Box 30">
              <a:extLst>
                <a:ext uri="{FF2B5EF4-FFF2-40B4-BE49-F238E27FC236}">
                  <a16:creationId xmlns:a16="http://schemas.microsoft.com/office/drawing/2014/main" id="{098AC602-17BD-DFC3-DEAD-FCDCB2CA1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038" y="4123108"/>
              <a:ext cx="10493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Q</a:t>
              </a:r>
              <a:r>
                <a:rPr lang="en-US" altLang="en-US" dirty="0">
                  <a:latin typeface="Source Sans Pro" panose="020B0503030403020204" pitchFamily="34" charset="0"/>
                </a:rPr>
                <a:t> = ??</a:t>
              </a:r>
            </a:p>
          </p:txBody>
        </p:sp>
        <p:sp>
          <p:nvSpPr>
            <p:cNvPr id="17" name="Oval 31">
              <a:extLst>
                <a:ext uri="{FF2B5EF4-FFF2-40B4-BE49-F238E27FC236}">
                  <a16:creationId xmlns:a16="http://schemas.microsoft.com/office/drawing/2014/main" id="{F211A3A6-9708-E6B9-D03E-0C2A22863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625" y="4578350"/>
              <a:ext cx="90488" cy="9048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Oval 32">
              <a:extLst>
                <a:ext uri="{FF2B5EF4-FFF2-40B4-BE49-F238E27FC236}">
                  <a16:creationId xmlns:a16="http://schemas.microsoft.com/office/drawing/2014/main" id="{A3CE5A00-2D93-6CF6-7AF9-059C8B636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113" y="3937000"/>
              <a:ext cx="90487" cy="9048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8DF0BED3-22DE-03EC-8429-84EC71612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4616450"/>
              <a:ext cx="0" cy="803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Line 34">
              <a:extLst>
                <a:ext uri="{FF2B5EF4-FFF2-40B4-BE49-F238E27FC236}">
                  <a16:creationId xmlns:a16="http://schemas.microsoft.com/office/drawing/2014/main" id="{AB7609B1-31FC-2968-EE2E-C650341B9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5863" y="4010025"/>
              <a:ext cx="11112" cy="139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1" name="Line 35">
              <a:extLst>
                <a:ext uri="{FF2B5EF4-FFF2-40B4-BE49-F238E27FC236}">
                  <a16:creationId xmlns:a16="http://schemas.microsoft.com/office/drawing/2014/main" id="{98C5B405-59A5-7E36-5700-0846EBEA5F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7250" y="4624388"/>
              <a:ext cx="8588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Line 36">
              <a:extLst>
                <a:ext uri="{FF2B5EF4-FFF2-40B4-BE49-F238E27FC236}">
                  <a16:creationId xmlns:a16="http://schemas.microsoft.com/office/drawing/2014/main" id="{FA5932D3-12EC-DD29-7FE9-7AA5C655B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6775" y="3971925"/>
              <a:ext cx="1552575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3" name="Text Box 37">
              <a:extLst>
                <a:ext uri="{FF2B5EF4-FFF2-40B4-BE49-F238E27FC236}">
                  <a16:creationId xmlns:a16="http://schemas.microsoft.com/office/drawing/2014/main" id="{1A939F96-7705-C770-4389-E2E64A053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850" y="5384800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8</a:t>
              </a:r>
            </a:p>
          </p:txBody>
        </p:sp>
        <p:sp>
          <p:nvSpPr>
            <p:cNvPr id="24" name="Text Box 38">
              <a:extLst>
                <a:ext uri="{FF2B5EF4-FFF2-40B4-BE49-F238E27FC236}">
                  <a16:creationId xmlns:a16="http://schemas.microsoft.com/office/drawing/2014/main" id="{6AEBB215-BF3A-3506-AB3B-D69A23188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5384800"/>
              <a:ext cx="503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16</a:t>
              </a:r>
            </a:p>
          </p:txBody>
        </p:sp>
        <p:sp>
          <p:nvSpPr>
            <p:cNvPr id="31" name="Text Box 39">
              <a:extLst>
                <a:ext uri="{FF2B5EF4-FFF2-40B4-BE49-F238E27FC236}">
                  <a16:creationId xmlns:a16="http://schemas.microsoft.com/office/drawing/2014/main" id="{3E885667-94C7-A4E5-58A4-63786072C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500" y="3763963"/>
              <a:ext cx="503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16</a:t>
              </a:r>
            </a:p>
          </p:txBody>
        </p:sp>
        <p:sp>
          <p:nvSpPr>
            <p:cNvPr id="32" name="Text Box 40">
              <a:extLst>
                <a:ext uri="{FF2B5EF4-FFF2-40B4-BE49-F238E27FC236}">
                  <a16:creationId xmlns:a16="http://schemas.microsoft.com/office/drawing/2014/main" id="{1C4BB51D-3CFA-53C7-4B6F-8E6D04515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625" y="4424363"/>
              <a:ext cx="3714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</a:rPr>
                <a:t>8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36CD78-6309-88FF-06B1-8312323EF249}"/>
              </a:ext>
            </a:extLst>
          </p:cNvPr>
          <p:cNvGrpSpPr/>
          <p:nvPr/>
        </p:nvGrpSpPr>
        <p:grpSpPr>
          <a:xfrm>
            <a:off x="5714365" y="2608264"/>
            <a:ext cx="4965827" cy="1145381"/>
            <a:chOff x="4865688" y="2836863"/>
            <a:chExt cx="4965827" cy="1145381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49F2536-6C1B-C9E2-9FD5-62BD3DDE429B}"/>
                </a:ext>
              </a:extLst>
            </p:cNvPr>
            <p:cNvSpPr/>
            <p:nvPr/>
          </p:nvSpPr>
          <p:spPr>
            <a:xfrm>
              <a:off x="4865688" y="2839244"/>
              <a:ext cx="1665741" cy="1143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Constant returns to scale</a:t>
              </a:r>
            </a:p>
          </p:txBody>
        </p:sp>
        <p:sp>
          <p:nvSpPr>
            <p:cNvPr id="35" name="Text Box 17">
              <a:extLst>
                <a:ext uri="{FF2B5EF4-FFF2-40B4-BE49-F238E27FC236}">
                  <a16:creationId xmlns:a16="http://schemas.microsoft.com/office/drawing/2014/main" id="{5CB607FA-6396-61E6-4C05-441697AB0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1428" y="2836863"/>
              <a:ext cx="33000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1313" indent="-341313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en-US" b="1" dirty="0">
                  <a:latin typeface="Source Sans Pro" panose="020B0503030403020204" pitchFamily="34" charset="0"/>
                </a:rPr>
                <a:t>Double </a:t>
              </a:r>
              <a:r>
                <a:rPr lang="en-US" altLang="en-US" dirty="0">
                  <a:latin typeface="Source Sans Pro" panose="020B0503030403020204" pitchFamily="34" charset="0"/>
                </a:rPr>
                <a:t>the output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EEE246-3CEB-6CD3-C5B3-0954F3C681BF}"/>
              </a:ext>
            </a:extLst>
          </p:cNvPr>
          <p:cNvGrpSpPr/>
          <p:nvPr/>
        </p:nvGrpSpPr>
        <p:grpSpPr>
          <a:xfrm>
            <a:off x="5714365" y="3894509"/>
            <a:ext cx="4965827" cy="1156917"/>
            <a:chOff x="4865688" y="4123108"/>
            <a:chExt cx="4965827" cy="1156917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2147B1A2-58F9-A3D6-AFF3-26F14283E77B}"/>
                </a:ext>
              </a:extLst>
            </p:cNvPr>
            <p:cNvSpPr/>
            <p:nvPr/>
          </p:nvSpPr>
          <p:spPr>
            <a:xfrm>
              <a:off x="4865688" y="4137025"/>
              <a:ext cx="1665741" cy="1143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Increasing returns to scale</a:t>
              </a:r>
            </a:p>
          </p:txBody>
        </p:sp>
        <p:sp>
          <p:nvSpPr>
            <p:cNvPr id="38" name="Text Box 17">
              <a:extLst>
                <a:ext uri="{FF2B5EF4-FFF2-40B4-BE49-F238E27FC236}">
                  <a16:creationId xmlns:a16="http://schemas.microsoft.com/office/drawing/2014/main" id="{E37BA8FB-5B75-E12D-B760-EB235E959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1428" y="4123108"/>
              <a:ext cx="330008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1313" indent="-341313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en-US" b="1" dirty="0">
                  <a:latin typeface="Source Sans Pro" panose="020B0503030403020204" pitchFamily="34" charset="0"/>
                </a:rPr>
                <a:t>More </a:t>
              </a:r>
              <a:r>
                <a:rPr lang="en-US" altLang="en-US" dirty="0">
                  <a:latin typeface="Source Sans Pro" panose="020B0503030403020204" pitchFamily="34" charset="0"/>
                </a:rPr>
                <a:t>than double the output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8755613-C052-043E-7E67-9F85525F2B51}"/>
              </a:ext>
            </a:extLst>
          </p:cNvPr>
          <p:cNvGrpSpPr/>
          <p:nvPr/>
        </p:nvGrpSpPr>
        <p:grpSpPr>
          <a:xfrm>
            <a:off x="5714365" y="5191126"/>
            <a:ext cx="4965827" cy="1157288"/>
            <a:chOff x="4865688" y="5419725"/>
            <a:chExt cx="4965827" cy="1157288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45F296F9-0CDB-F63C-0328-B91462678252}"/>
                </a:ext>
              </a:extLst>
            </p:cNvPr>
            <p:cNvSpPr/>
            <p:nvPr/>
          </p:nvSpPr>
          <p:spPr>
            <a:xfrm>
              <a:off x="4865688" y="5434013"/>
              <a:ext cx="1665741" cy="1143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Decreasing returns to scale</a:t>
              </a:r>
            </a:p>
          </p:txBody>
        </p:sp>
        <p:sp>
          <p:nvSpPr>
            <p:cNvPr id="41" name="Text Box 17">
              <a:extLst>
                <a:ext uri="{FF2B5EF4-FFF2-40B4-BE49-F238E27FC236}">
                  <a16:creationId xmlns:a16="http://schemas.microsoft.com/office/drawing/2014/main" id="{7F8DB4FA-F9FE-B87C-8D52-1032A240C8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1428" y="5419725"/>
              <a:ext cx="330008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1313" indent="-341313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en-US" b="1" dirty="0">
                  <a:latin typeface="Source Sans Pro" panose="020B0503030403020204" pitchFamily="34" charset="0"/>
                </a:rPr>
                <a:t>Less </a:t>
              </a:r>
              <a:r>
                <a:rPr lang="en-US" altLang="en-US" dirty="0">
                  <a:latin typeface="Source Sans Pro" panose="020B0503030403020204" pitchFamily="34" charset="0"/>
                </a:rPr>
                <a:t>than double the output</a:t>
              </a:r>
            </a:p>
          </p:txBody>
        </p: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B3D93483-9134-CDF0-8FB0-C6A6CC30C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76" y="1092201"/>
            <a:ext cx="109819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Aft>
                <a:spcPct val="20000"/>
              </a:spcAft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We measure scale economies by asking how much </a:t>
            </a:r>
            <a:r>
              <a:rPr lang="en-US" altLang="en-US" b="1" kern="0" dirty="0">
                <a:ea typeface="ＭＳ Ｐゴシック" pitchFamily="34" charset="-128"/>
              </a:rPr>
              <a:t>output</a:t>
            </a:r>
            <a:r>
              <a:rPr lang="en-US" altLang="en-US" kern="0" dirty="0">
                <a:ea typeface="ＭＳ Ｐゴシック" pitchFamily="34" charset="-128"/>
              </a:rPr>
              <a:t> increases if </a:t>
            </a:r>
            <a:r>
              <a:rPr lang="en-US" altLang="en-US" b="1" kern="0" dirty="0">
                <a:ea typeface="ＭＳ Ｐゴシック" pitchFamily="34" charset="-128"/>
              </a:rPr>
              <a:t>inputs </a:t>
            </a:r>
            <a:r>
              <a:rPr lang="en-US" altLang="en-US" kern="0" dirty="0">
                <a:ea typeface="ＭＳ Ｐゴシック" pitchFamily="34" charset="-128"/>
              </a:rPr>
              <a:t>increase by some factor (e.g., double)</a:t>
            </a:r>
          </a:p>
        </p:txBody>
      </p:sp>
    </p:spTree>
    <p:extLst>
      <p:ext uri="{BB962C8B-B14F-4D97-AF65-F5344CB8AC3E}">
        <p14:creationId xmlns:p14="http://schemas.microsoft.com/office/powerpoint/2010/main" val="195377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Scale economies in the real world</a:t>
            </a:r>
          </a:p>
        </p:txBody>
      </p:sp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3010C97-35A7-4559-A068-8217E8D8559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86F92E-8235-6D68-07E5-66697CDAC8CD}"/>
              </a:ext>
            </a:extLst>
          </p:cNvPr>
          <p:cNvGrpSpPr/>
          <p:nvPr/>
        </p:nvGrpSpPr>
        <p:grpSpPr>
          <a:xfrm>
            <a:off x="466344" y="4110979"/>
            <a:ext cx="11116056" cy="1928810"/>
            <a:chOff x="466344" y="3873235"/>
            <a:chExt cx="11116056" cy="192881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DEB6CDC1-747C-A8F7-2E91-1B782C4F5A8A}"/>
                </a:ext>
              </a:extLst>
            </p:cNvPr>
            <p:cNvSpPr/>
            <p:nvPr/>
          </p:nvSpPr>
          <p:spPr>
            <a:xfrm>
              <a:off x="1853184" y="3953329"/>
              <a:ext cx="9729216" cy="176862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6D1E303-9051-D55B-7501-E94D579792CE}"/>
                </a:ext>
              </a:extLst>
            </p:cNvPr>
            <p:cNvSpPr/>
            <p:nvPr/>
          </p:nvSpPr>
          <p:spPr>
            <a:xfrm>
              <a:off x="466344" y="3873235"/>
              <a:ext cx="1828800" cy="192881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7CA76DF-C729-B25B-D11C-93EF4512883C}"/>
                </a:ext>
              </a:extLst>
            </p:cNvPr>
            <p:cNvSpPr/>
            <p:nvPr/>
          </p:nvSpPr>
          <p:spPr>
            <a:xfrm>
              <a:off x="557784" y="3953329"/>
              <a:ext cx="1645920" cy="1768622"/>
            </a:xfrm>
            <a:prstGeom prst="roundRect">
              <a:avLst>
                <a:gd name="adj" fmla="val 13474"/>
              </a:avLst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 General intuition</a:t>
              </a: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AE61CE1-95F1-8546-C023-3CAE7CBD8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144" y="4204708"/>
              <a:ext cx="9061704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In long-run equilibrium, we should expect firms to operate at their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most efficient scale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Coffee shops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are small 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auto plants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are huge</a:t>
              </a:r>
            </a:p>
          </p:txBody>
        </p:sp>
      </p:grpSp>
      <p:sp>
        <p:nvSpPr>
          <p:cNvPr id="7" name="Rectangle 3">
            <a:extLst>
              <a:ext uri="{FF2B5EF4-FFF2-40B4-BE49-F238E27FC236}">
                <a16:creationId xmlns:a16="http://schemas.microsoft.com/office/drawing/2014/main" id="{325B2022-AD82-55C3-1D49-EF5D6491A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936" y="1466598"/>
            <a:ext cx="10951464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Most </a:t>
            </a:r>
            <a:r>
              <a:rPr lang="en-US" altLang="en-US" b="1" kern="0" dirty="0">
                <a:ea typeface="ＭＳ Ｐゴシック" pitchFamily="34" charset="-128"/>
              </a:rPr>
              <a:t>real-world</a:t>
            </a:r>
            <a:r>
              <a:rPr lang="en-US" altLang="en-US" kern="0" dirty="0">
                <a:ea typeface="ＭＳ Ｐゴシック" pitchFamily="34" charset="-128"/>
              </a:rPr>
              <a:t> technologies are believed to have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b="1" kern="0" dirty="0">
                <a:ea typeface="ＭＳ Ｐゴシック" pitchFamily="34" charset="-128"/>
              </a:rPr>
              <a:t>Increasing </a:t>
            </a:r>
            <a:r>
              <a:rPr lang="en-US" altLang="en-US" kern="0" dirty="0">
                <a:ea typeface="ＭＳ Ｐゴシック" pitchFamily="34" charset="-128"/>
              </a:rPr>
              <a:t>returns to scale (RTS) for </a:t>
            </a:r>
            <a:r>
              <a:rPr lang="en-US" altLang="en-US" b="1" kern="0" dirty="0">
                <a:ea typeface="ＭＳ Ｐゴシック" pitchFamily="34" charset="-128"/>
              </a:rPr>
              <a:t>low Q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b="1" kern="0" dirty="0">
                <a:ea typeface="ＭＳ Ｐゴシック" pitchFamily="34" charset="-128"/>
              </a:rPr>
              <a:t>Decreasing </a:t>
            </a:r>
            <a:r>
              <a:rPr lang="en-US" altLang="en-US" kern="0" dirty="0">
                <a:ea typeface="ＭＳ Ｐゴシック" pitchFamily="34" charset="-128"/>
              </a:rPr>
              <a:t>RTS</a:t>
            </a:r>
            <a:r>
              <a:rPr lang="en-US" altLang="en-US" b="1" kern="0" dirty="0">
                <a:ea typeface="ＭＳ Ｐゴシック" pitchFamily="34" charset="-128"/>
              </a:rPr>
              <a:t> </a:t>
            </a:r>
            <a:r>
              <a:rPr lang="en-US" altLang="en-US" kern="0" dirty="0">
                <a:ea typeface="ＭＳ Ｐゴシック" pitchFamily="34" charset="-128"/>
              </a:rPr>
              <a:t>for </a:t>
            </a:r>
            <a:r>
              <a:rPr lang="en-US" altLang="en-US" b="1" kern="0" dirty="0">
                <a:ea typeface="ＭＳ Ｐゴシック" pitchFamily="34" charset="-128"/>
              </a:rPr>
              <a:t>high Q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Why shouldn</a:t>
            </a:r>
            <a:r>
              <a:rPr lang="en-US" altLang="ja-JP" kern="0" dirty="0">
                <a:ea typeface="ＭＳ Ｐゴシック" pitchFamily="34" charset="-128"/>
              </a:rPr>
              <a:t>’t we expect to observe many </a:t>
            </a:r>
            <a:r>
              <a:rPr lang="en-US" altLang="ja-JP" b="1" kern="0" dirty="0">
                <a:ea typeface="ＭＳ Ｐゴシック" pitchFamily="34" charset="-128"/>
              </a:rPr>
              <a:t>increasing </a:t>
            </a:r>
            <a:r>
              <a:rPr lang="en-US" altLang="ja-JP" kern="0" dirty="0">
                <a:ea typeface="ＭＳ Ｐゴシック" pitchFamily="34" charset="-128"/>
              </a:rPr>
              <a:t>RTS situations at firms’ </a:t>
            </a:r>
            <a:r>
              <a:rPr lang="en-US" altLang="ja-JP" b="1" kern="0" dirty="0">
                <a:ea typeface="ＭＳ Ｐゴシック" pitchFamily="34" charset="-128"/>
              </a:rPr>
              <a:t>observed sizes</a:t>
            </a:r>
            <a:r>
              <a:rPr lang="en-US" altLang="ja-JP" kern="0" dirty="0">
                <a:ea typeface="ＭＳ Ｐゴシック" pitchFamily="34" charset="-128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4028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Scale economies example</a:t>
            </a:r>
          </a:p>
        </p:txBody>
      </p:sp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989CC7E-81D1-4B5A-B1CA-5C9E64BE19D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9CCA07-8F01-46C8-04A4-F294C0E2F774}"/>
              </a:ext>
            </a:extLst>
          </p:cNvPr>
          <p:cNvGrpSpPr/>
          <p:nvPr/>
        </p:nvGrpSpPr>
        <p:grpSpPr>
          <a:xfrm>
            <a:off x="729360" y="1005992"/>
            <a:ext cx="10645776" cy="2616101"/>
            <a:chOff x="-671912" y="1379538"/>
            <a:chExt cx="10645776" cy="2616101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AD7DF0A-9B62-AD32-28E0-4A90F6BEF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1688" y="1379538"/>
              <a:ext cx="8512176" cy="2616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6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Decreasing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RTS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Microprocessors produced in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clean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</a:t>
              </a:r>
              <a:r>
                <a:rPr lang="ja-JP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“</a:t>
              </a:r>
              <a:r>
                <a:rPr lang="en-US" altLang="ja-JP" sz="2400" kern="0" dirty="0" err="1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fabs</a:t>
              </a:r>
              <a:r>
                <a:rPr lang="ja-JP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”</a:t>
              </a:r>
              <a:endPara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  <a:cs typeface="Calibri" panose="020F0502020204030204" pitchFamily="34" charset="0"/>
              </a:endParaRP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Fabs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are often the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same size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Increasing returns for very small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fabs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, but as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fabs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 get larger is it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difficult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to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keep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them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clean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and organized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TSMC has many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  <a:cs typeface="Calibri" panose="020F0502020204030204" pitchFamily="34" charset="0"/>
                </a:rPr>
                <a:t>fabs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  <a:cs typeface="Calibri" panose="020F0502020204030204" pitchFamily="34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D23AAE0-2422-75F3-3C25-90B6B42569A7}"/>
                </a:ext>
              </a:extLst>
            </p:cNvPr>
            <p:cNvSpPr/>
            <p:nvPr/>
          </p:nvSpPr>
          <p:spPr>
            <a:xfrm>
              <a:off x="-671912" y="1379538"/>
              <a:ext cx="2133600" cy="152400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cs typeface="Calibri" panose="020F0502020204030204" pitchFamily="34" charset="0"/>
                </a:rPr>
                <a:t>Micro-processor production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22CFF32-6D54-6647-603E-ACFBF8EA2E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0884" y="3634660"/>
            <a:ext cx="4125120" cy="275222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8426596-8A84-3E90-8A3D-AE1DC4284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13655" y="3644200"/>
            <a:ext cx="3535346" cy="274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352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U.S. manufacturing dominated by small plants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75B3E-D7CC-4C25-914F-E4999BEE868A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3FCD8D9-9FE5-DD0F-94DA-6DBDD3F1B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326886"/>
              </p:ext>
            </p:extLst>
          </p:nvPr>
        </p:nvGraphicFramePr>
        <p:xfrm>
          <a:off x="1133475" y="938741"/>
          <a:ext cx="1001077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E56D7037-27E2-EE49-0281-0F023A10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210" y="6329651"/>
            <a:ext cx="8696738" cy="461665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cs typeface="Calibri" panose="020F0502020204030204" pitchFamily="34" charset="0"/>
              </a:rPr>
              <a:t>Source: “2020 SUSB Annual Data Tables by Establishment Industry.” Census.gov. United States Census Bureau, March 7, 2023;  https://www.census.gov/data/tables/2020/econ/susb/2020-susb-annual.html</a:t>
            </a:r>
          </a:p>
        </p:txBody>
      </p:sp>
    </p:spTree>
    <p:extLst>
      <p:ext uri="{BB962C8B-B14F-4D97-AF65-F5344CB8AC3E}">
        <p14:creationId xmlns:p14="http://schemas.microsoft.com/office/powerpoint/2010/main" val="2441981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Short run vs. long run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6E5FE14-830A-46B1-9848-AE3784B9B4A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E8F3D04-3134-67E1-42DA-18E5ABFA854B}"/>
              </a:ext>
            </a:extLst>
          </p:cNvPr>
          <p:cNvGrpSpPr/>
          <p:nvPr/>
        </p:nvGrpSpPr>
        <p:grpSpPr>
          <a:xfrm>
            <a:off x="2273173" y="2413001"/>
            <a:ext cx="3227388" cy="2373015"/>
            <a:chOff x="1736725" y="2413000"/>
            <a:chExt cx="3227388" cy="2373015"/>
          </a:xfrm>
        </p:grpSpPr>
        <p:sp>
          <p:nvSpPr>
            <p:cNvPr id="3" name="Arc 11">
              <a:extLst>
                <a:ext uri="{FF2B5EF4-FFF2-40B4-BE49-F238E27FC236}">
                  <a16:creationId xmlns:a16="http://schemas.microsoft.com/office/drawing/2014/main" id="{1355BCF9-A2D5-EB8E-E7FE-F155497604F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736725" y="2413000"/>
              <a:ext cx="2378075" cy="2103438"/>
            </a:xfrm>
            <a:custGeom>
              <a:avLst/>
              <a:gdLst>
                <a:gd name="T0" fmla="*/ 2147483647 w 21579"/>
                <a:gd name="T1" fmla="*/ 0 h 21567"/>
                <a:gd name="T2" fmla="*/ 2147483647 w 21579"/>
                <a:gd name="T3" fmla="*/ 2147483647 h 21567"/>
                <a:gd name="T4" fmla="*/ 0 w 21579"/>
                <a:gd name="T5" fmla="*/ 2147483647 h 21567"/>
                <a:gd name="T6" fmla="*/ 0 60000 65536"/>
                <a:gd name="T7" fmla="*/ 0 60000 65536"/>
                <a:gd name="T8" fmla="*/ 0 60000 65536"/>
                <a:gd name="T9" fmla="*/ 0 w 21579"/>
                <a:gd name="T10" fmla="*/ 0 h 21567"/>
                <a:gd name="T11" fmla="*/ 21579 w 21579"/>
                <a:gd name="T12" fmla="*/ 21567 h 215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9" h="21567" fill="none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</a:path>
                <a:path w="21579" h="21567" stroke="0" extrusionOk="0">
                  <a:moveTo>
                    <a:pt x="1198" y="0"/>
                  </a:moveTo>
                  <a:cubicBezTo>
                    <a:pt x="12277" y="616"/>
                    <a:pt x="21087" y="9525"/>
                    <a:pt x="21578" y="20610"/>
                  </a:cubicBezTo>
                  <a:lnTo>
                    <a:pt x="0" y="21567"/>
                  </a:lnTo>
                  <a:lnTo>
                    <a:pt x="119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200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Text Box 12">
              <a:extLst>
                <a:ext uri="{FF2B5EF4-FFF2-40B4-BE49-F238E27FC236}">
                  <a16:creationId xmlns:a16="http://schemas.microsoft.com/office/drawing/2014/main" id="{8AD8F994-CB3A-7879-D22F-5ED0444A7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300" y="4324350"/>
              <a:ext cx="1039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Q</a:t>
              </a:r>
              <a:r>
                <a:rPr lang="en-US" altLang="en-US" baseline="-25000" dirty="0">
                  <a:latin typeface="Source Sans Pro" panose="020B0503030403020204" pitchFamily="34" charset="0"/>
                </a:rPr>
                <a:t> </a:t>
              </a:r>
              <a:r>
                <a:rPr lang="en-US" altLang="en-US" dirty="0">
                  <a:latin typeface="Source Sans Pro" panose="020B0503030403020204" pitchFamily="34" charset="0"/>
                </a:rPr>
                <a:t>= 20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95E3790-ACBB-60C1-F0C0-20D03BB9E718}"/>
              </a:ext>
            </a:extLst>
          </p:cNvPr>
          <p:cNvGrpSpPr/>
          <p:nvPr/>
        </p:nvGrpSpPr>
        <p:grpSpPr>
          <a:xfrm>
            <a:off x="985711" y="2441576"/>
            <a:ext cx="4508500" cy="3347740"/>
            <a:chOff x="449263" y="2441575"/>
            <a:chExt cx="4508500" cy="3347740"/>
          </a:xfrm>
        </p:grpSpPr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69F61808-3FBD-0364-E32F-4ADA6E9F2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0150" y="4872038"/>
              <a:ext cx="12176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i="1" dirty="0">
                  <a:latin typeface="Source Sans Pro" panose="020B0503030403020204" pitchFamily="34" charset="0"/>
                </a:rPr>
                <a:t>Q</a:t>
              </a:r>
              <a:r>
                <a:rPr lang="en-US" altLang="en-US" dirty="0">
                  <a:latin typeface="Source Sans Pro" panose="020B0503030403020204" pitchFamily="34" charset="0"/>
                </a:rPr>
                <a:t> = 10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EF11F8C-3B46-58DE-4488-E3D1A205A358}"/>
                </a:ext>
              </a:extLst>
            </p:cNvPr>
            <p:cNvGrpSpPr/>
            <p:nvPr/>
          </p:nvGrpSpPr>
          <p:grpSpPr>
            <a:xfrm>
              <a:off x="449263" y="2441575"/>
              <a:ext cx="4244975" cy="3347740"/>
              <a:chOff x="449263" y="2441575"/>
              <a:chExt cx="4244975" cy="334774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1343523-3D9D-0276-816C-0D4CFDBC0835}"/>
                  </a:ext>
                </a:extLst>
              </p:cNvPr>
              <p:cNvGrpSpPr/>
              <p:nvPr/>
            </p:nvGrpSpPr>
            <p:grpSpPr>
              <a:xfrm>
                <a:off x="465138" y="2441575"/>
                <a:ext cx="4229100" cy="3328690"/>
                <a:chOff x="465138" y="2441575"/>
                <a:chExt cx="4229100" cy="3328690"/>
              </a:xfrm>
            </p:grpSpPr>
            <p:sp>
              <p:nvSpPr>
                <p:cNvPr id="15" name="Line 4">
                  <a:extLst>
                    <a:ext uri="{FF2B5EF4-FFF2-40B4-BE49-F238E27FC236}">
                      <a16:creationId xmlns:a16="http://schemas.microsoft.com/office/drawing/2014/main" id="{C348EA73-F3C7-AADF-AFAF-B93D8E20E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4550" y="2446338"/>
                  <a:ext cx="0" cy="287655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6" name="Line 5">
                  <a:extLst>
                    <a:ext uri="{FF2B5EF4-FFF2-40B4-BE49-F238E27FC236}">
                      <a16:creationId xmlns:a16="http://schemas.microsoft.com/office/drawing/2014/main" id="{1D4B5FDA-E87D-157A-1DDD-FF5888E55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4550" y="5322888"/>
                  <a:ext cx="371475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7" name="Text Box 6">
                  <a:extLst>
                    <a:ext uri="{FF2B5EF4-FFF2-40B4-BE49-F238E27FC236}">
                      <a16:creationId xmlns:a16="http://schemas.microsoft.com/office/drawing/2014/main" id="{67BF51DA-82AC-591B-BD7D-B4DA74FCF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5138" y="2441575"/>
                  <a:ext cx="37147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eaLnBrk="1" hangingPunct="1"/>
                  <a:r>
                    <a:rPr lang="en-US" altLang="en-US" i="1" dirty="0">
                      <a:latin typeface="Source Sans Pro" panose="020B0503030403020204" pitchFamily="34" charset="0"/>
                    </a:rPr>
                    <a:t>K</a:t>
                  </a:r>
                  <a:endParaRPr lang="en-US" altLang="en-US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8" name="Text Box 9">
                  <a:extLst>
                    <a:ext uri="{FF2B5EF4-FFF2-40B4-BE49-F238E27FC236}">
                      <a16:creationId xmlns:a16="http://schemas.microsoft.com/office/drawing/2014/main" id="{57DC783D-60CD-A00A-DA8A-BF296DF23F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2763" y="5308600"/>
                  <a:ext cx="371475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eaLnBrk="1" hangingPunct="1"/>
                  <a:r>
                    <a:rPr lang="en-US" altLang="en-US" i="1" dirty="0">
                      <a:latin typeface="Source Sans Pro" panose="020B0503030403020204" pitchFamily="34" charset="0"/>
                    </a:rPr>
                    <a:t>L</a:t>
                  </a:r>
                  <a:endParaRPr lang="en-US" altLang="en-US" dirty="0">
                    <a:latin typeface="Source Sans Pro" panose="020B0503030403020204" pitchFamily="34" charset="0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554B7DF-AD90-D9B0-17C8-7F1118A9A6C9}"/>
                  </a:ext>
                </a:extLst>
              </p:cNvPr>
              <p:cNvGrpSpPr/>
              <p:nvPr/>
            </p:nvGrpSpPr>
            <p:grpSpPr>
              <a:xfrm>
                <a:off x="449263" y="2541588"/>
                <a:ext cx="4097337" cy="3247727"/>
                <a:chOff x="449263" y="2541588"/>
                <a:chExt cx="4097337" cy="3247727"/>
              </a:xfrm>
            </p:grpSpPr>
            <p:sp>
              <p:nvSpPr>
                <p:cNvPr id="10" name="Arc 7">
                  <a:extLst>
                    <a:ext uri="{FF2B5EF4-FFF2-40B4-BE49-F238E27FC236}">
                      <a16:creationId xmlns:a16="http://schemas.microsoft.com/office/drawing/2014/main" id="{29EBB07B-7AE1-536C-E0A4-5AC93C0679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090613" y="2541588"/>
                  <a:ext cx="2851150" cy="2560637"/>
                </a:xfrm>
                <a:custGeom>
                  <a:avLst/>
                  <a:gdLst>
                    <a:gd name="T0" fmla="*/ 2147483647 w 21579"/>
                    <a:gd name="T1" fmla="*/ 0 h 21567"/>
                    <a:gd name="T2" fmla="*/ 2147483647 w 21579"/>
                    <a:gd name="T3" fmla="*/ 2147483647 h 21567"/>
                    <a:gd name="T4" fmla="*/ 0 w 21579"/>
                    <a:gd name="T5" fmla="*/ 2147483647 h 21567"/>
                    <a:gd name="T6" fmla="*/ 0 60000 65536"/>
                    <a:gd name="T7" fmla="*/ 0 60000 65536"/>
                    <a:gd name="T8" fmla="*/ 0 60000 65536"/>
                    <a:gd name="T9" fmla="*/ 0 w 21579"/>
                    <a:gd name="T10" fmla="*/ 0 h 21567"/>
                    <a:gd name="T11" fmla="*/ 21579 w 21579"/>
                    <a:gd name="T12" fmla="*/ 21567 h 2156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79" h="21567" fill="none" extrusionOk="0">
                      <a:moveTo>
                        <a:pt x="1198" y="0"/>
                      </a:moveTo>
                      <a:cubicBezTo>
                        <a:pt x="12277" y="616"/>
                        <a:pt x="21087" y="9525"/>
                        <a:pt x="21578" y="20610"/>
                      </a:cubicBezTo>
                    </a:path>
                    <a:path w="21579" h="21567" stroke="0" extrusionOk="0">
                      <a:moveTo>
                        <a:pt x="1198" y="0"/>
                      </a:moveTo>
                      <a:cubicBezTo>
                        <a:pt x="12277" y="616"/>
                        <a:pt x="21087" y="9525"/>
                        <a:pt x="21578" y="20610"/>
                      </a:cubicBezTo>
                      <a:lnTo>
                        <a:pt x="0" y="21567"/>
                      </a:lnTo>
                      <a:lnTo>
                        <a:pt x="1198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sz="2400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1" name="Line 13">
                  <a:extLst>
                    <a:ext uri="{FF2B5EF4-FFF2-40B4-BE49-F238E27FC236}">
                      <a16:creationId xmlns:a16="http://schemas.microsoft.com/office/drawing/2014/main" id="{38D79850-E7B3-E893-E806-5A9049BD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4550" y="4249738"/>
                  <a:ext cx="370205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2" name="Text Box 14">
                  <a:extLst>
                    <a:ext uri="{FF2B5EF4-FFF2-40B4-BE49-F238E27FC236}">
                      <a16:creationId xmlns:a16="http://schemas.microsoft.com/office/drawing/2014/main" id="{D4D05E69-7C9D-F1E1-62FC-EC7D4FC27E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9263" y="4044950"/>
                  <a:ext cx="474662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eaLnBrk="1" hangingPunct="1"/>
                  <a:r>
                    <a:rPr lang="en-US" altLang="en-US" i="1" dirty="0">
                      <a:latin typeface="Source Sans Pro" panose="020B0503030403020204" pitchFamily="34" charset="0"/>
                    </a:rPr>
                    <a:t>K</a:t>
                  </a:r>
                  <a:r>
                    <a:rPr lang="en-US" altLang="en-US" baseline="-25000" dirty="0">
                      <a:latin typeface="Source Sans Pro" panose="020B0503030403020204" pitchFamily="34" charset="0"/>
                    </a:rPr>
                    <a:t>1</a:t>
                  </a:r>
                  <a:endParaRPr lang="en-US" altLang="en-US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3" name="Text Box 15">
                  <a:extLst>
                    <a:ext uri="{FF2B5EF4-FFF2-40B4-BE49-F238E27FC236}">
                      <a16:creationId xmlns:a16="http://schemas.microsoft.com/office/drawing/2014/main" id="{07075179-CBA4-4C02-32B6-896D3E7531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4650" y="5327650"/>
                  <a:ext cx="45878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ＭＳ Ｐゴシック" pitchFamily="34" charset="-128"/>
                    </a:defRPr>
                  </a:lvl9pPr>
                </a:lstStyle>
                <a:p>
                  <a:pPr eaLnBrk="1" hangingPunct="1"/>
                  <a:r>
                    <a:rPr lang="en-US" altLang="en-US" i="1" dirty="0">
                      <a:latin typeface="Source Sans Pro" panose="020B0503030403020204" pitchFamily="34" charset="0"/>
                    </a:rPr>
                    <a:t>L</a:t>
                  </a:r>
                  <a:r>
                    <a:rPr lang="en-US" altLang="en-US" baseline="-25000" dirty="0">
                      <a:latin typeface="Source Sans Pro" panose="020B0503030403020204" pitchFamily="34" charset="0"/>
                    </a:rPr>
                    <a:t>1</a:t>
                  </a:r>
                  <a:endParaRPr lang="en-US" altLang="en-US" dirty="0">
                    <a:latin typeface="Source Sans Pro" panose="020B0503030403020204" pitchFamily="34" charset="0"/>
                  </a:endParaRPr>
                </a:p>
              </p:txBody>
            </p:sp>
            <p:sp>
              <p:nvSpPr>
                <p:cNvPr id="14" name="Line 16">
                  <a:extLst>
                    <a:ext uri="{FF2B5EF4-FFF2-40B4-BE49-F238E27FC236}">
                      <a16:creationId xmlns:a16="http://schemas.microsoft.com/office/drawing/2014/main" id="{CC46257E-B5FD-A210-A7E4-81C31A1AAE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31975" y="4249738"/>
                  <a:ext cx="0" cy="107632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400" dirty="0">
                    <a:latin typeface="Source Sans Pro" panose="020B0503030403020204" pitchFamily="34" charset="0"/>
                  </a:endParaRPr>
                </a:p>
              </p:txBody>
            </p:sp>
          </p:grpSp>
        </p:grpSp>
      </p:grpSp>
      <p:sp>
        <p:nvSpPr>
          <p:cNvPr id="19" name="Freeform 20">
            <a:extLst>
              <a:ext uri="{FF2B5EF4-FFF2-40B4-BE49-F238E27FC236}">
                <a16:creationId xmlns:a16="http://schemas.microsoft.com/office/drawing/2014/main" id="{A8F1A51C-C25D-82CF-0CF5-8BCAFC1E2336}"/>
              </a:ext>
            </a:extLst>
          </p:cNvPr>
          <p:cNvSpPr>
            <a:spLocks/>
          </p:cNvSpPr>
          <p:nvPr/>
        </p:nvSpPr>
        <p:spPr bwMode="auto">
          <a:xfrm>
            <a:off x="2493836" y="1871663"/>
            <a:ext cx="2933700" cy="2430462"/>
          </a:xfrm>
          <a:custGeom>
            <a:avLst/>
            <a:gdLst>
              <a:gd name="T0" fmla="*/ 2147483647 w 1848"/>
              <a:gd name="T1" fmla="*/ 0 h 1531"/>
              <a:gd name="T2" fmla="*/ 2147483647 w 1848"/>
              <a:gd name="T3" fmla="*/ 2147483647 h 1531"/>
              <a:gd name="T4" fmla="*/ 2147483647 w 1848"/>
              <a:gd name="T5" fmla="*/ 2147483647 h 1531"/>
              <a:gd name="T6" fmla="*/ 2147483647 w 1848"/>
              <a:gd name="T7" fmla="*/ 2147483647 h 1531"/>
              <a:gd name="T8" fmla="*/ 2147483647 w 1848"/>
              <a:gd name="T9" fmla="*/ 2147483647 h 15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8"/>
              <a:gd name="T16" fmla="*/ 0 h 1531"/>
              <a:gd name="T17" fmla="*/ 1848 w 1848"/>
              <a:gd name="T18" fmla="*/ 1531 h 15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48" h="1531">
                <a:moveTo>
                  <a:pt x="16" y="0"/>
                </a:moveTo>
                <a:cubicBezTo>
                  <a:pt x="8" y="267"/>
                  <a:pt x="0" y="535"/>
                  <a:pt x="50" y="749"/>
                </a:cubicBezTo>
                <a:cubicBezTo>
                  <a:pt x="100" y="963"/>
                  <a:pt x="146" y="1160"/>
                  <a:pt x="314" y="1284"/>
                </a:cubicBezTo>
                <a:cubicBezTo>
                  <a:pt x="482" y="1408"/>
                  <a:pt x="800" y="1453"/>
                  <a:pt x="1056" y="1492"/>
                </a:cubicBezTo>
                <a:cubicBezTo>
                  <a:pt x="1312" y="1531"/>
                  <a:pt x="1580" y="1525"/>
                  <a:pt x="1848" y="1520"/>
                </a:cubicBezTo>
              </a:path>
            </a:pathLst>
          </a:custGeom>
          <a:noFill/>
          <a:ln w="19050">
            <a:solidFill>
              <a:srgbClr val="D15F27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200" dirty="0">
              <a:latin typeface="Source Sans Pro" panose="020B0503030403020204" pitchFamily="34" charset="0"/>
            </a:endParaRP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3428CBAC-B5A5-DCA3-84FF-609441924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666" y="2603077"/>
            <a:ext cx="55504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Production goal just shifted from Q = 10 to Q = 20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2E126930-6E16-8F7B-3213-A8EA71562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666" y="2071376"/>
            <a:ext cx="5550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Firm has K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r>
              <a:rPr lang="en-US" altLang="en-US" dirty="0">
                <a:latin typeface="Source Sans Pro" panose="020B0503030403020204" pitchFamily="34" charset="0"/>
              </a:rPr>
              <a:t> units of </a:t>
            </a:r>
            <a:r>
              <a:rPr lang="en-US" altLang="en-US" b="1" dirty="0">
                <a:latin typeface="Source Sans Pro" panose="020B0503030403020204" pitchFamily="34" charset="0"/>
              </a:rPr>
              <a:t>capital today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97453ED-6896-C8A3-ADEA-4E2C6F71A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199" y="963380"/>
            <a:ext cx="8285163" cy="504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We conclude with long run v. short run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adjustments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B13D8A4F-3614-4B40-422F-134065E20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666" y="3472411"/>
            <a:ext cx="5550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How will you achieve the </a:t>
            </a:r>
            <a:r>
              <a:rPr lang="en-US" altLang="en-US" b="1" dirty="0">
                <a:latin typeface="Source Sans Pro" panose="020B0503030403020204" pitchFamily="34" charset="0"/>
              </a:rPr>
              <a:t>new goal</a:t>
            </a:r>
            <a:r>
              <a:rPr lang="en-US" altLang="en-US" dirty="0">
                <a:latin typeface="Source Sans Pro" panose="020B0503030403020204" pitchFamily="34" charset="0"/>
              </a:rPr>
              <a:t>?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F30669F7-5F16-492E-2594-AF27981B6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666" y="4003191"/>
            <a:ext cx="555047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For what types of </a:t>
            </a:r>
            <a:r>
              <a:rPr lang="en-US" altLang="en-US" b="1" dirty="0">
                <a:latin typeface="Source Sans Pro" panose="020B0503030403020204" pitchFamily="34" charset="0"/>
              </a:rPr>
              <a:t>production technology </a:t>
            </a:r>
            <a:r>
              <a:rPr lang="en-US" altLang="en-US" dirty="0">
                <a:latin typeface="Source Sans Pro" panose="020B0503030403020204" pitchFamily="34" charset="0"/>
              </a:rPr>
              <a:t>do you think it will be easiest/hardest to achieve Q = 20?</a:t>
            </a:r>
          </a:p>
        </p:txBody>
      </p:sp>
      <p:sp>
        <p:nvSpPr>
          <p:cNvPr id="25" name="Text Box 18">
            <a:extLst>
              <a:ext uri="{FF2B5EF4-FFF2-40B4-BE49-F238E27FC236}">
                <a16:creationId xmlns:a16="http://schemas.microsoft.com/office/drawing/2014/main" id="{07117E05-864E-6AFA-860B-098DB45A9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666" y="5211081"/>
            <a:ext cx="55504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1313" indent="-34131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Think of the dashed lines as different technologies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211951-81E5-5EB8-BEDB-77D8F2EFDA7E}"/>
              </a:ext>
            </a:extLst>
          </p:cNvPr>
          <p:cNvCxnSpPr/>
          <p:nvPr/>
        </p:nvCxnSpPr>
        <p:spPr>
          <a:xfrm>
            <a:off x="1735463" y="2529795"/>
            <a:ext cx="2381582" cy="2707369"/>
          </a:xfrm>
          <a:prstGeom prst="line">
            <a:avLst/>
          </a:prstGeom>
          <a:ln w="19050">
            <a:solidFill>
              <a:srgbClr val="789B4A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15">
            <a:extLst>
              <a:ext uri="{FF2B5EF4-FFF2-40B4-BE49-F238E27FC236}">
                <a16:creationId xmlns:a16="http://schemas.microsoft.com/office/drawing/2014/main" id="{DCA63622-7CEB-9F19-9741-9CAD6009E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4381" y="5327650"/>
            <a:ext cx="4587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i="1" dirty="0">
                <a:latin typeface="Source Sans Pro" panose="020B0503030403020204" pitchFamily="34" charset="0"/>
              </a:rPr>
              <a:t>L</a:t>
            </a:r>
            <a:r>
              <a:rPr lang="en-US" altLang="en-US" baseline="-25000" dirty="0">
                <a:latin typeface="Source Sans Pro" panose="020B0503030403020204" pitchFamily="34" charset="0"/>
              </a:rPr>
              <a:t>2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55" name="Line 16">
            <a:extLst>
              <a:ext uri="{FF2B5EF4-FFF2-40B4-BE49-F238E27FC236}">
                <a16:creationId xmlns:a16="http://schemas.microsoft.com/office/drawing/2014/main" id="{34CD5034-6685-AC04-4C9A-6373F0435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1706" y="4249739"/>
            <a:ext cx="0" cy="10763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 dirty="0">
              <a:latin typeface="Source Sans Pro" panose="020B0503030403020204" pitchFamily="34" charset="0"/>
            </a:endParaRPr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C676392D-F5FB-0C67-38D9-021A908B2C62}"/>
              </a:ext>
            </a:extLst>
          </p:cNvPr>
          <p:cNvSpPr/>
          <p:nvPr/>
        </p:nvSpPr>
        <p:spPr>
          <a:xfrm>
            <a:off x="1262650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3" grpId="0"/>
      <p:bldP spid="24" grpId="0"/>
      <p:bldP spid="25" grpId="0"/>
      <p:bldP spid="54" grpId="0"/>
      <p:bldP spid="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b="0" dirty="0"/>
              <a:t>Examples of behavioral biases: Production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7326E0-90A9-82C0-1362-A28D9616B606}"/>
              </a:ext>
            </a:extLst>
          </p:cNvPr>
          <p:cNvGrpSpPr/>
          <p:nvPr/>
        </p:nvGrpSpPr>
        <p:grpSpPr>
          <a:xfrm>
            <a:off x="743712" y="3313898"/>
            <a:ext cx="10704576" cy="1039739"/>
            <a:chOff x="326136" y="3319214"/>
            <a:chExt cx="10704576" cy="103973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EBE74D5-5CA9-99B4-2D53-A657EE9B79C3}"/>
                </a:ext>
              </a:extLst>
            </p:cNvPr>
            <p:cNvSpPr/>
            <p:nvPr/>
          </p:nvSpPr>
          <p:spPr>
            <a:xfrm>
              <a:off x="326136" y="3319214"/>
              <a:ext cx="1941576" cy="1039739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Law of the instrument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4959F1-A663-8B78-6B55-AA15A2769511}"/>
                </a:ext>
              </a:extLst>
            </p:cNvPr>
            <p:cNvSpPr txBox="1"/>
            <p:nvPr/>
          </p:nvSpPr>
          <p:spPr>
            <a:xfrm>
              <a:off x="2267712" y="3319215"/>
              <a:ext cx="8763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Over-reliance on familiar tools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“If all you have is a hammer, everything looks like a nail”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A15056-1D25-883D-3A9C-E4CF630215B0}"/>
              </a:ext>
            </a:extLst>
          </p:cNvPr>
          <p:cNvGrpSpPr/>
          <p:nvPr/>
        </p:nvGrpSpPr>
        <p:grpSpPr>
          <a:xfrm>
            <a:off x="743712" y="4685097"/>
            <a:ext cx="10704576" cy="1569661"/>
            <a:chOff x="326136" y="4583820"/>
            <a:chExt cx="10704576" cy="156966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5D3056D-97ED-9D7E-EB64-59A06040E754}"/>
                </a:ext>
              </a:extLst>
            </p:cNvPr>
            <p:cNvSpPr/>
            <p:nvPr/>
          </p:nvSpPr>
          <p:spPr>
            <a:xfrm>
              <a:off x="326136" y="4583820"/>
              <a:ext cx="1941576" cy="1039739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Not invented here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F4640B-186A-2549-6908-31EF97A93C1B}"/>
                </a:ext>
              </a:extLst>
            </p:cNvPr>
            <p:cNvSpPr txBox="1"/>
            <p:nvPr/>
          </p:nvSpPr>
          <p:spPr>
            <a:xfrm>
              <a:off x="2267712" y="4583821"/>
              <a:ext cx="87630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Resistance to using knowledge or processes or products developed outside of the organization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“That may work for our competitors, but it would never work with us”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825605-E82B-A7AC-D466-46168CCD2B8C}"/>
              </a:ext>
            </a:extLst>
          </p:cNvPr>
          <p:cNvGrpSpPr/>
          <p:nvPr/>
        </p:nvGrpSpPr>
        <p:grpSpPr>
          <a:xfrm>
            <a:off x="743712" y="1412777"/>
            <a:ext cx="10704576" cy="1569661"/>
            <a:chOff x="326136" y="1315944"/>
            <a:chExt cx="10704576" cy="1569661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67102D26-DA44-7B5A-41C5-1529F2E75E3D}"/>
                </a:ext>
              </a:extLst>
            </p:cNvPr>
            <p:cNvSpPr/>
            <p:nvPr/>
          </p:nvSpPr>
          <p:spPr>
            <a:xfrm>
              <a:off x="326136" y="1315944"/>
              <a:ext cx="1941576" cy="1039739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Status quo bias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E1E5960-D1AC-A856-30EE-7570E3BCF66F}"/>
                </a:ext>
              </a:extLst>
            </p:cNvPr>
            <p:cNvSpPr txBox="1"/>
            <p:nvPr/>
          </p:nvSpPr>
          <p:spPr>
            <a:xfrm>
              <a:off x="2267712" y="1315945"/>
              <a:ext cx="87630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Tendency to want things to stay the same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Related to loss aversion and the endowment effect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“This is working fine, and if we change, who knows how bad it’s going to get?”</a:t>
              </a:r>
            </a:p>
          </p:txBody>
        </p:sp>
      </p:grpSp>
      <p:sp>
        <p:nvSpPr>
          <p:cNvPr id="6" name="5-Point Star 5">
            <a:extLst>
              <a:ext uri="{FF2B5EF4-FFF2-40B4-BE49-F238E27FC236}">
                <a16:creationId xmlns:a16="http://schemas.microsoft.com/office/drawing/2014/main" id="{24BFE99A-9D9F-4F7F-418E-9D171E4A4BF4}"/>
              </a:ext>
            </a:extLst>
          </p:cNvPr>
          <p:cNvSpPr/>
          <p:nvPr/>
        </p:nvSpPr>
        <p:spPr>
          <a:xfrm>
            <a:off x="1266541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9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34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Production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Marginal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Scale economies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86934-E9D6-8A24-E1F1-30C3EB2C03AB}"/>
              </a:ext>
            </a:extLst>
          </p:cNvPr>
          <p:cNvSpPr txBox="1"/>
          <p:nvPr/>
        </p:nvSpPr>
        <p:spPr>
          <a:xfrm>
            <a:off x="3135630" y="3881415"/>
            <a:ext cx="4819686" cy="523220"/>
          </a:xfrm>
          <a:prstGeom prst="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Moral hazard</a:t>
            </a:r>
          </a:p>
        </p:txBody>
      </p:sp>
    </p:spTree>
    <p:extLst>
      <p:ext uri="{BB962C8B-B14F-4D97-AF65-F5344CB8AC3E}">
        <p14:creationId xmlns:p14="http://schemas.microsoft.com/office/powerpoint/2010/main" val="1900281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Moral hazard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21D3-71BE-444A-A876-BB3F1A6317AC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016706" y="3214554"/>
            <a:ext cx="1047292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0" fontAlgn="base" hangingPunc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marL="742950" indent="-285750" algn="l" defTabSz="457200" rtl="0" eaLnBrk="0" fontAlgn="base" hangingPunc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sz="2800" dirty="0">
                <a:latin typeface="Source Sans Pro" panose="020B0503030403020204" pitchFamily="34" charset="0"/>
                <a:ea typeface="ＭＳ Ｐゴシック" pitchFamily="34" charset="-128"/>
              </a:rPr>
              <a:t>The insured party can affect the </a:t>
            </a:r>
            <a:r>
              <a:rPr lang="en-US" altLang="en-US" sz="2800" b="1" dirty="0">
                <a:latin typeface="Source Sans Pro" panose="020B0503030403020204" pitchFamily="34" charset="0"/>
                <a:ea typeface="ＭＳ Ｐゴシック" pitchFamily="34" charset="-128"/>
              </a:rPr>
              <a:t>probability </a:t>
            </a:r>
            <a:r>
              <a:rPr lang="en-US" altLang="en-US" sz="2800" dirty="0">
                <a:latin typeface="Source Sans Pro" panose="020B0503030403020204" pitchFamily="34" charset="0"/>
                <a:ea typeface="ＭＳ Ｐゴシック" pitchFamily="34" charset="-128"/>
              </a:rPr>
              <a:t>or </a:t>
            </a:r>
            <a:r>
              <a:rPr lang="en-US" altLang="en-US" sz="2800" b="1" dirty="0">
                <a:latin typeface="Source Sans Pro" panose="020B0503030403020204" pitchFamily="34" charset="0"/>
                <a:ea typeface="ＭＳ Ｐゴシック" pitchFamily="34" charset="-128"/>
              </a:rPr>
              <a:t>magnitude </a:t>
            </a:r>
            <a:r>
              <a:rPr lang="en-US" altLang="en-US" sz="2800" dirty="0">
                <a:latin typeface="Source Sans Pro" panose="020B0503030403020204" pitchFamily="34" charset="0"/>
                <a:ea typeface="ＭＳ Ｐゴシック" pitchFamily="34" charset="-128"/>
              </a:rPr>
              <a:t>of the event that triggers the insurance payment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69234" y="1132846"/>
            <a:ext cx="10820400" cy="1843943"/>
            <a:chOff x="109727" y="995195"/>
            <a:chExt cx="10820400" cy="1843943"/>
          </a:xfrm>
        </p:grpSpPr>
        <p:sp>
          <p:nvSpPr>
            <p:cNvPr id="8" name="Rectangle 3"/>
            <p:cNvSpPr txBox="1">
              <a:spLocks noChangeArrowheads="1"/>
            </p:cNvSpPr>
            <p:nvPr/>
          </p:nvSpPr>
          <p:spPr bwMode="auto">
            <a:xfrm>
              <a:off x="2285999" y="1023256"/>
              <a:ext cx="8644128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defRPr>
              </a:lvl1pPr>
              <a:lvl2pPr marL="742950" indent="-28575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When one party is </a:t>
              </a:r>
              <a:r>
                <a:rPr lang="en-US" altLang="en-US" sz="2800" b="1" dirty="0">
                  <a:latin typeface="Source Sans Pro" panose="020B0503030403020204" pitchFamily="34" charset="0"/>
                  <a:ea typeface="ＭＳ Ｐゴシック" pitchFamily="34" charset="-128"/>
                </a:rPr>
                <a:t>fully insured</a:t>
              </a: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, and it cannot be </a:t>
              </a:r>
              <a:r>
                <a:rPr lang="en-US" altLang="en-US" sz="2800" b="1" dirty="0">
                  <a:latin typeface="Source Sans Pro" panose="020B0503030403020204" pitchFamily="34" charset="0"/>
                  <a:ea typeface="ＭＳ Ｐゴシック" pitchFamily="34" charset="-128"/>
                </a:rPr>
                <a:t>monitored </a:t>
              </a: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fully by the insurer, the insured party’s </a:t>
              </a:r>
              <a:r>
                <a:rPr lang="en-US" altLang="en-US" sz="2800" b="1" dirty="0">
                  <a:latin typeface="Source Sans Pro" panose="020B0503030403020204" pitchFamily="34" charset="0"/>
                  <a:ea typeface="ＭＳ Ｐゴシック" pitchFamily="34" charset="-128"/>
                </a:rPr>
                <a:t>behavior may change </a:t>
              </a: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after the insurance has been purchased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9727" y="995195"/>
              <a:ext cx="1986466" cy="1482080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Definition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69234" y="4406426"/>
            <a:ext cx="10820400" cy="1692772"/>
            <a:chOff x="109727" y="3682976"/>
            <a:chExt cx="10820400" cy="1692772"/>
          </a:xfrm>
        </p:grpSpPr>
        <p:sp>
          <p:nvSpPr>
            <p:cNvPr id="13" name="Rounded Rectangle 12"/>
            <p:cNvSpPr/>
            <p:nvPr/>
          </p:nvSpPr>
          <p:spPr>
            <a:xfrm>
              <a:off x="109727" y="3682976"/>
              <a:ext cx="1986466" cy="1482081"/>
            </a:xfrm>
            <a:prstGeom prst="roundRect">
              <a:avLst/>
            </a:prstGeom>
            <a:solidFill>
              <a:srgbClr val="D15F27"/>
            </a:solidFill>
            <a:ln>
              <a:solidFill>
                <a:srgbClr val="D15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Example: car warranties</a:t>
              </a:r>
            </a:p>
          </p:txBody>
        </p:sp>
        <p:sp>
          <p:nvSpPr>
            <p:cNvPr id="17" name="Content Placeholder 2"/>
            <p:cNvSpPr txBox="1">
              <a:spLocks/>
            </p:cNvSpPr>
            <p:nvPr/>
          </p:nvSpPr>
          <p:spPr bwMode="auto">
            <a:xfrm>
              <a:off x="2103119" y="3682977"/>
              <a:ext cx="8827008" cy="1692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defRPr>
              </a:lvl1pPr>
              <a:lvl2pPr marL="742950" indent="-28575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ts val="0"/>
                </a:spcBef>
                <a:spcAft>
                  <a:spcPts val="1200"/>
                </a:spcAft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In the Lemons model, a warranty can signal high quality</a:t>
              </a:r>
            </a:p>
            <a:p>
              <a:pPr lvl="1" eaLnBrk="1" hangingPunct="1"/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Solves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pre-contractual </a:t>
              </a: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adverse selection problem</a:t>
              </a:r>
            </a:p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Does this create a </a:t>
              </a:r>
              <a:r>
                <a:rPr lang="en-US" altLang="en-US" sz="2800" b="1" dirty="0">
                  <a:latin typeface="Source Sans Pro" panose="020B0503030403020204" pitchFamily="34" charset="0"/>
                  <a:ea typeface="ＭＳ Ｐゴシック" pitchFamily="34" charset="-128"/>
                </a:rPr>
                <a:t>moral hazard </a:t>
              </a: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problem?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Car warranties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B62EBE4-3027-FB24-CAC5-CD05E1F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21D3-71BE-444A-A876-BB3F1A6317AC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AB03-B58E-9086-63EF-C47E2CD510BF}"/>
              </a:ext>
            </a:extLst>
          </p:cNvPr>
          <p:cNvSpPr txBox="1">
            <a:spLocks/>
          </p:cNvSpPr>
          <p:nvPr/>
        </p:nvSpPr>
        <p:spPr>
          <a:xfrm>
            <a:off x="585216" y="976747"/>
            <a:ext cx="10997184" cy="545380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31775" indent="-231775" eaLnBrk="1" hangingPunct="1"/>
            <a:r>
              <a:rPr lang="en-US" altLang="en-US" sz="2600" kern="0">
                <a:ea typeface="ＭＳ Ｐゴシック" pitchFamily="34" charset="-128"/>
              </a:rPr>
              <a:t>Buyer is </a:t>
            </a:r>
            <a:r>
              <a:rPr lang="en-US" altLang="en-US" sz="2600" b="1" kern="0">
                <a:ea typeface="ＭＳ Ｐゴシック" pitchFamily="34" charset="-128"/>
              </a:rPr>
              <a:t>more likely </a:t>
            </a:r>
            <a:r>
              <a:rPr lang="en-US" altLang="en-US" sz="2600" kern="0">
                <a:ea typeface="ＭＳ Ｐゴシック" pitchFamily="34" charset="-128"/>
              </a:rPr>
              <a:t>to </a:t>
            </a:r>
            <a:r>
              <a:rPr lang="en-US" altLang="en-US" sz="2600" b="1" kern="0">
                <a:ea typeface="ＭＳ Ｐゴシック" pitchFamily="34" charset="-128"/>
              </a:rPr>
              <a:t>break </a:t>
            </a:r>
            <a:r>
              <a:rPr lang="en-US" altLang="en-US" sz="2600" kern="0">
                <a:ea typeface="ＭＳ Ｐゴシック" pitchFamily="34" charset="-128"/>
              </a:rPr>
              <a:t>the car when he has a warranty</a:t>
            </a:r>
          </a:p>
          <a:p>
            <a:pPr marL="461963" lvl="1" indent="-225425" eaLnBrk="1" hangingPunct="1"/>
            <a:r>
              <a:rPr lang="en-US" altLang="en-US" sz="2600" kern="0">
                <a:ea typeface="ＭＳ Ｐゴシック" pitchFamily="34" charset="-128"/>
              </a:rPr>
              <a:t>Seller will have </a:t>
            </a:r>
            <a:r>
              <a:rPr lang="en-US" altLang="en-US" sz="2600" b="1" kern="0">
                <a:ea typeface="ＭＳ Ｐゴシック" pitchFamily="34" charset="-128"/>
              </a:rPr>
              <a:t>pay more </a:t>
            </a:r>
            <a:r>
              <a:rPr lang="en-US" altLang="en-US" sz="2600" kern="0">
                <a:ea typeface="ＭＳ Ｐゴシック" pitchFamily="34" charset="-128"/>
              </a:rPr>
              <a:t>to service the warranty</a:t>
            </a:r>
          </a:p>
          <a:p>
            <a:pPr marL="231775" indent="-231775" eaLnBrk="1" hangingPunct="1"/>
            <a:r>
              <a:rPr lang="en-US" altLang="en-US" sz="2600" kern="0">
                <a:ea typeface="ＭＳ Ｐゴシック" pitchFamily="34" charset="-128"/>
              </a:rPr>
              <a:t>How could the seller deal with this situation?</a:t>
            </a:r>
          </a:p>
          <a:p>
            <a:pPr marL="461963" lvl="1" indent="-225425" eaLnBrk="1" hangingPunct="1"/>
            <a:r>
              <a:rPr lang="en-US" altLang="en-US" sz="2600" kern="0">
                <a:ea typeface="ＭＳ Ｐゴシック" pitchFamily="34" charset="-128"/>
              </a:rPr>
              <a:t>Would ideally like to </a:t>
            </a:r>
            <a:r>
              <a:rPr lang="en-US" altLang="en-US" sz="2600" b="1" kern="0">
                <a:ea typeface="ＭＳ Ｐゴシック" pitchFamily="34" charset="-128"/>
              </a:rPr>
              <a:t>fully monitor </a:t>
            </a:r>
            <a:r>
              <a:rPr lang="en-US" altLang="en-US" sz="2600" kern="0">
                <a:ea typeface="ＭＳ Ｐゴシック" pitchFamily="34" charset="-128"/>
              </a:rPr>
              <a:t>the buyer, and only pay out in situations that are not the result of </a:t>
            </a:r>
            <a:r>
              <a:rPr lang="en-US" altLang="en-US" sz="2600" b="1" kern="0">
                <a:ea typeface="ＭＳ Ｐゴシック" pitchFamily="34" charset="-128"/>
              </a:rPr>
              <a:t>careless </a:t>
            </a:r>
            <a:r>
              <a:rPr lang="en-US" altLang="en-US" sz="2600" kern="0">
                <a:ea typeface="ＭＳ Ｐゴシック" pitchFamily="34" charset="-128"/>
              </a:rPr>
              <a:t>actions by buyer</a:t>
            </a:r>
          </a:p>
          <a:p>
            <a:pPr marL="862013" lvl="2" indent="-225425" eaLnBrk="1" hangingPunct="1"/>
            <a:r>
              <a:rPr lang="en-US" altLang="en-US" sz="2600" kern="0">
                <a:ea typeface="ＭＳ Ｐゴシック" pitchFamily="34" charset="-128"/>
              </a:rPr>
              <a:t>This is </a:t>
            </a:r>
            <a:r>
              <a:rPr lang="en-US" altLang="en-US" sz="2600" b="1" kern="0">
                <a:ea typeface="ＭＳ Ｐゴシック" pitchFamily="34" charset="-128"/>
              </a:rPr>
              <a:t>costly </a:t>
            </a:r>
            <a:r>
              <a:rPr lang="en-US" altLang="en-US" sz="2600" kern="0">
                <a:ea typeface="ＭＳ Ｐゴシック" pitchFamily="34" charset="-128"/>
              </a:rPr>
              <a:t>and </a:t>
            </a:r>
            <a:r>
              <a:rPr lang="en-US" altLang="en-US" sz="2600" b="1" kern="0">
                <a:ea typeface="ＭＳ Ｐゴシック" pitchFamily="34" charset="-128"/>
              </a:rPr>
              <a:t>impossible </a:t>
            </a:r>
            <a:r>
              <a:rPr lang="en-US" altLang="en-US" sz="2600" kern="0">
                <a:ea typeface="ＭＳ Ｐゴシック" pitchFamily="34" charset="-128"/>
              </a:rPr>
              <a:t>to do …</a:t>
            </a:r>
          </a:p>
          <a:p>
            <a:pPr marL="461963" lvl="1" indent="-225425" eaLnBrk="1" hangingPunct="1"/>
            <a:r>
              <a:rPr lang="en-US" altLang="en-US" sz="2600" kern="0">
                <a:ea typeface="ＭＳ Ｐゴシック" pitchFamily="34" charset="-128"/>
              </a:rPr>
              <a:t>Because seller cannot monitor buyer, seller doesn’t know whether breakdown because of </a:t>
            </a:r>
            <a:r>
              <a:rPr lang="en-US" altLang="en-US" sz="2600" b="1" kern="0">
                <a:ea typeface="ＭＳ Ｐゴシック" pitchFamily="34" charset="-128"/>
              </a:rPr>
              <a:t>poor maintenance</a:t>
            </a:r>
            <a:r>
              <a:rPr lang="en-US" altLang="en-US" sz="2600" kern="0">
                <a:ea typeface="ＭＳ Ｐゴシック" pitchFamily="34" charset="-128"/>
              </a:rPr>
              <a:t>, or because car was in </a:t>
            </a:r>
            <a:r>
              <a:rPr lang="en-US" altLang="en-US" sz="2600" b="1" kern="0">
                <a:ea typeface="ＭＳ Ｐゴシック" pitchFamily="34" charset="-128"/>
              </a:rPr>
              <a:t>bad shape</a:t>
            </a:r>
            <a:endParaRPr lang="en-US" altLang="en-US" sz="2600" kern="0">
              <a:ea typeface="ＭＳ Ｐゴシック" pitchFamily="34" charset="-128"/>
            </a:endParaRPr>
          </a:p>
          <a:p>
            <a:pPr marL="461963" lvl="1" indent="-225425" eaLnBrk="1" hangingPunct="1"/>
            <a:r>
              <a:rPr lang="en-US" altLang="en-US" sz="2600" kern="0">
                <a:ea typeface="ＭＳ Ｐゴシック" pitchFamily="34" charset="-128"/>
              </a:rPr>
              <a:t>Seller would like a warranty contract where buyer’s interest is to </a:t>
            </a:r>
            <a:r>
              <a:rPr lang="en-US" altLang="en-US" sz="2600" b="1" kern="0">
                <a:ea typeface="ＭＳ Ｐゴシック" pitchFamily="34" charset="-128"/>
              </a:rPr>
              <a:t>take care </a:t>
            </a:r>
            <a:r>
              <a:rPr lang="en-US" altLang="en-US" sz="2600" kern="0">
                <a:ea typeface="ＭＳ Ｐゴシック" pitchFamily="34" charset="-128"/>
              </a:rPr>
              <a:t>of the car</a:t>
            </a:r>
            <a:endParaRPr lang="en-US" altLang="en-US" sz="2600" kern="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Example: Health insurance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3EF8C-5A74-4102-B24F-B561F992B71B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F8EFB199-2A2D-19E2-A21D-F24E5C8285FA}"/>
              </a:ext>
            </a:extLst>
          </p:cNvPr>
          <p:cNvSpPr txBox="1">
            <a:spLocks/>
          </p:cNvSpPr>
          <p:nvPr/>
        </p:nvSpPr>
        <p:spPr>
          <a:xfrm>
            <a:off x="5556477" y="1642710"/>
            <a:ext cx="6350599" cy="43027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>
                <a:ea typeface="ＭＳ Ｐゴシック" pitchFamily="34" charset="-128"/>
              </a:rPr>
              <a:t>M = </a:t>
            </a:r>
            <a:r>
              <a:rPr lang="en-US" altLang="en-US" b="1" kern="0">
                <a:ea typeface="ＭＳ Ｐゴシック" pitchFamily="34" charset="-128"/>
              </a:rPr>
              <a:t>quantity </a:t>
            </a:r>
            <a:r>
              <a:rPr lang="en-US" altLang="en-US" kern="0">
                <a:ea typeface="ＭＳ Ｐゴシック" pitchFamily="34" charset="-128"/>
              </a:rPr>
              <a:t>of healthcare services</a:t>
            </a:r>
          </a:p>
          <a:p>
            <a:pPr eaLnBrk="1" hangingPunct="1"/>
            <a:r>
              <a:rPr lang="en-US" altLang="en-US" kern="0">
                <a:ea typeface="ＭＳ Ｐゴシック" pitchFamily="34" charset="-128"/>
              </a:rPr>
              <a:t>P = price</a:t>
            </a:r>
          </a:p>
          <a:p>
            <a:pPr eaLnBrk="1" hangingPunct="1"/>
            <a:r>
              <a:rPr lang="en-US" altLang="en-US" kern="0">
                <a:ea typeface="ＭＳ Ｐゴシック" pitchFamily="34" charset="-128"/>
              </a:rPr>
              <a:t>C = </a:t>
            </a:r>
            <a:r>
              <a:rPr lang="en-US" altLang="en-US" b="1" kern="0">
                <a:ea typeface="ＭＳ Ｐゴシック" pitchFamily="34" charset="-128"/>
              </a:rPr>
              <a:t>co-insurance </a:t>
            </a:r>
            <a:r>
              <a:rPr lang="en-US" altLang="en-US" kern="0">
                <a:ea typeface="ＭＳ Ｐゴシック" pitchFamily="34" charset="-128"/>
              </a:rPr>
              <a:t>rate (&lt; 100%)</a:t>
            </a:r>
          </a:p>
          <a:p>
            <a:pPr eaLnBrk="1" hangingPunct="1"/>
            <a:r>
              <a:rPr lang="en-US" altLang="en-US" kern="0">
                <a:ea typeface="ＭＳ Ｐゴシック" pitchFamily="34" charset="-128"/>
              </a:rPr>
              <a:t>When consumers </a:t>
            </a:r>
            <a:r>
              <a:rPr lang="en-US" altLang="en-US" b="1" kern="0">
                <a:ea typeface="ＭＳ Ｐゴシック" pitchFamily="34" charset="-128"/>
              </a:rPr>
              <a:t>pay fully </a:t>
            </a:r>
            <a:r>
              <a:rPr lang="en-US" altLang="en-US" kern="0">
                <a:ea typeface="ＭＳ Ｐゴシック" pitchFamily="34" charset="-128"/>
              </a:rPr>
              <a:t>out of pocket, use M</a:t>
            </a:r>
            <a:r>
              <a:rPr lang="en-US" altLang="en-US" kern="0" baseline="-25000">
                <a:ea typeface="ＭＳ Ｐゴシック" pitchFamily="34" charset="-128"/>
              </a:rPr>
              <a:t>1</a:t>
            </a:r>
            <a:endParaRPr lang="en-US" altLang="en-US" kern="0">
              <a:ea typeface="ＭＳ Ｐゴシック" pitchFamily="34" charset="-128"/>
            </a:endParaRPr>
          </a:p>
          <a:p>
            <a:pPr eaLnBrk="1" hangingPunct="1"/>
            <a:r>
              <a:rPr lang="en-US" altLang="en-US" kern="0">
                <a:ea typeface="ＭＳ Ｐゴシック" pitchFamily="34" charset="-128"/>
              </a:rPr>
              <a:t>When consumers only pay C*P, increase demand to M</a:t>
            </a:r>
            <a:r>
              <a:rPr lang="en-US" altLang="en-US" kern="0" baseline="-25000">
                <a:ea typeface="ＭＳ Ｐゴシック" pitchFamily="34" charset="-128"/>
              </a:rPr>
              <a:t>2</a:t>
            </a:r>
            <a:endParaRPr lang="en-US" altLang="en-US" kern="0">
              <a:ea typeface="ＭＳ Ｐゴシック" pitchFamily="34" charset="-128"/>
            </a:endParaRPr>
          </a:p>
          <a:p>
            <a:pPr eaLnBrk="1" hangingPunct="1"/>
            <a:r>
              <a:rPr lang="en-US" altLang="en-US" kern="0">
                <a:ea typeface="ＭＳ Ｐゴシック" pitchFamily="34" charset="-128"/>
              </a:rPr>
              <a:t>Increase in demand reflects </a:t>
            </a:r>
            <a:r>
              <a:rPr lang="en-US" altLang="en-US" b="1" kern="0">
                <a:ea typeface="ＭＳ Ｐゴシック" pitchFamily="34" charset="-128"/>
              </a:rPr>
              <a:t>moral hazard</a:t>
            </a:r>
          </a:p>
          <a:p>
            <a:pPr eaLnBrk="1" hangingPunct="1"/>
            <a:r>
              <a:rPr lang="en-US" altLang="en-US" kern="0">
                <a:ea typeface="ＭＳ Ｐゴシック" pitchFamily="34" charset="-128"/>
              </a:rPr>
              <a:t>Also creates </a:t>
            </a:r>
            <a:r>
              <a:rPr lang="en-US" altLang="en-US" b="1" kern="0">
                <a:ea typeface="ＭＳ Ｐゴシック" pitchFamily="34" charset="-128"/>
              </a:rPr>
              <a:t>deadweight loss </a:t>
            </a:r>
            <a:r>
              <a:rPr lang="en-US" altLang="en-US" kern="0">
                <a:ea typeface="ＭＳ Ｐゴシック" pitchFamily="34" charset="-128"/>
              </a:rPr>
              <a:t>to society</a:t>
            </a:r>
            <a:endParaRPr lang="en-US" altLang="en-US" kern="0" dirty="0">
              <a:ea typeface="ＭＳ Ｐゴシック" pitchFamily="34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9791BAC-142B-3E07-44BA-20C708E7731B}"/>
              </a:ext>
            </a:extLst>
          </p:cNvPr>
          <p:cNvGrpSpPr/>
          <p:nvPr/>
        </p:nvGrpSpPr>
        <p:grpSpPr>
          <a:xfrm>
            <a:off x="1114755" y="1968181"/>
            <a:ext cx="4079027" cy="3571175"/>
            <a:chOff x="195196" y="1968181"/>
            <a:chExt cx="4079027" cy="357117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185D2B1-4DFF-57D9-723B-1BC40F3C95B8}"/>
                </a:ext>
              </a:extLst>
            </p:cNvPr>
            <p:cNvCxnSpPr/>
            <p:nvPr/>
          </p:nvCxnSpPr>
          <p:spPr>
            <a:xfrm>
              <a:off x="865909" y="2168236"/>
              <a:ext cx="0" cy="279169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79F6666-B2B6-ADCC-1001-BE0D2A400EA4}"/>
                </a:ext>
              </a:extLst>
            </p:cNvPr>
            <p:cNvCxnSpPr/>
            <p:nvPr/>
          </p:nvCxnSpPr>
          <p:spPr>
            <a:xfrm>
              <a:off x="865909" y="4959927"/>
              <a:ext cx="3318164" cy="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3159821-22D6-3AB3-DE0D-C3F383E72076}"/>
                </a:ext>
              </a:extLst>
            </p:cNvPr>
            <p:cNvCxnSpPr/>
            <p:nvPr/>
          </p:nvCxnSpPr>
          <p:spPr>
            <a:xfrm>
              <a:off x="865909" y="2604655"/>
              <a:ext cx="3068782" cy="235527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5408DCC-215A-EB84-1AEC-0FB162351EDF}"/>
                </a:ext>
              </a:extLst>
            </p:cNvPr>
            <p:cNvSpPr txBox="1"/>
            <p:nvPr/>
          </p:nvSpPr>
          <p:spPr>
            <a:xfrm>
              <a:off x="457200" y="1968181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Source Sans Pro" panose="020B0503030403020204" pitchFamily="34" charset="0"/>
                </a:rPr>
                <a:t>$</a:t>
              </a:r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675AC5-B752-71FA-6B3B-C59D8843B8BD}"/>
                </a:ext>
              </a:extLst>
            </p:cNvPr>
            <p:cNvSpPr txBox="1"/>
            <p:nvPr/>
          </p:nvSpPr>
          <p:spPr>
            <a:xfrm>
              <a:off x="3865137" y="5077691"/>
              <a:ext cx="409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M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0BF852-8728-B674-A8DC-B5C3C886EFCA}"/>
                </a:ext>
              </a:extLst>
            </p:cNvPr>
            <p:cNvSpPr txBox="1"/>
            <p:nvPr/>
          </p:nvSpPr>
          <p:spPr>
            <a:xfrm>
              <a:off x="2591767" y="5077691"/>
              <a:ext cx="5116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M</a:t>
              </a:r>
              <a:r>
                <a:rPr lang="en-US" sz="2400" baseline="-25000" dirty="0">
                  <a:latin typeface="Source Sans Pro" panose="020B0503030403020204" pitchFamily="34" charset="0"/>
                </a:rPr>
                <a:t>2</a:t>
              </a:r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BA56C9-5057-28FC-A318-8FAA224616A0}"/>
                </a:ext>
              </a:extLst>
            </p:cNvPr>
            <p:cNvSpPr txBox="1"/>
            <p:nvPr/>
          </p:nvSpPr>
          <p:spPr>
            <a:xfrm>
              <a:off x="1576641" y="5077691"/>
              <a:ext cx="5116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M</a:t>
              </a:r>
              <a:r>
                <a:rPr lang="en-US" sz="2400" baseline="-25000" dirty="0">
                  <a:latin typeface="Source Sans Pro" panose="020B0503030403020204" pitchFamily="34" charset="0"/>
                </a:rPr>
                <a:t>1</a:t>
              </a:r>
              <a:endParaRPr lang="en-US" sz="2400" dirty="0">
                <a:latin typeface="Source Sans Pro" panose="020B0503030403020204" pitchFamily="34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929A49D-C1B0-AAD9-A1B5-9C9328B96BBA}"/>
                </a:ext>
              </a:extLst>
            </p:cNvPr>
            <p:cNvCxnSpPr/>
            <p:nvPr/>
          </p:nvCxnSpPr>
          <p:spPr>
            <a:xfrm flipV="1">
              <a:off x="1822061" y="3338946"/>
              <a:ext cx="0" cy="1620982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B7D360-5D28-CB09-80CC-4C8754C277F6}"/>
                </a:ext>
              </a:extLst>
            </p:cNvPr>
            <p:cNvCxnSpPr/>
            <p:nvPr/>
          </p:nvCxnSpPr>
          <p:spPr>
            <a:xfrm flipV="1">
              <a:off x="2761175" y="4045527"/>
              <a:ext cx="0" cy="914401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B437EA-DA35-8C55-1BAC-26B52193E750}"/>
                </a:ext>
              </a:extLst>
            </p:cNvPr>
            <p:cNvCxnSpPr/>
            <p:nvPr/>
          </p:nvCxnSpPr>
          <p:spPr>
            <a:xfrm>
              <a:off x="865909" y="4052454"/>
              <a:ext cx="1895266" cy="1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34ED02F-D92D-9A1E-E76C-2C8891B8AB33}"/>
                </a:ext>
              </a:extLst>
            </p:cNvPr>
            <p:cNvCxnSpPr/>
            <p:nvPr/>
          </p:nvCxnSpPr>
          <p:spPr>
            <a:xfrm>
              <a:off x="865909" y="3335482"/>
              <a:ext cx="956152" cy="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BE154F-3F7F-518F-ED1A-010BDA8FB471}"/>
                </a:ext>
              </a:extLst>
            </p:cNvPr>
            <p:cNvSpPr txBox="1"/>
            <p:nvPr/>
          </p:nvSpPr>
          <p:spPr>
            <a:xfrm>
              <a:off x="457200" y="3135426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P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C9456C-00DF-974F-C957-C8DC10A89522}"/>
                </a:ext>
              </a:extLst>
            </p:cNvPr>
            <p:cNvSpPr txBox="1"/>
            <p:nvPr/>
          </p:nvSpPr>
          <p:spPr>
            <a:xfrm>
              <a:off x="195196" y="3852399"/>
              <a:ext cx="66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C*P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Health insurance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221D3-71BE-444A-A876-BB3F1A6317AC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AA03-AC37-B10C-72A9-35CB0A66D85E}"/>
              </a:ext>
            </a:extLst>
          </p:cNvPr>
          <p:cNvSpPr txBox="1">
            <a:spLocks/>
          </p:cNvSpPr>
          <p:nvPr/>
        </p:nvSpPr>
        <p:spPr>
          <a:xfrm>
            <a:off x="1179576" y="1554481"/>
            <a:ext cx="10076688" cy="31947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Individuals with health insurance no longer have same </a:t>
            </a:r>
            <a:r>
              <a:rPr lang="en-US" altLang="en-US" sz="2800" b="1" kern="0">
                <a:ea typeface="ＭＳ Ｐゴシック" pitchFamily="34" charset="-128"/>
              </a:rPr>
              <a:t>incentives </a:t>
            </a:r>
            <a:r>
              <a:rPr lang="en-US" altLang="en-US" sz="2800" kern="0">
                <a:ea typeface="ＭＳ Ｐゴシック" pitchFamily="34" charset="-128"/>
              </a:rPr>
              <a:t>to purchase healthcare services as if they faced the full price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Generates a moral hazard problem</a:t>
            </a:r>
          </a:p>
          <a:p>
            <a:pPr marL="971550" lvl="1" indent="-514350" eaLnBrk="1" hangingPunct="1">
              <a:buFont typeface="Calibri" pitchFamily="34" charset="0"/>
              <a:buAutoNum type="arabicPeriod"/>
            </a:pPr>
            <a:r>
              <a:rPr lang="en-US" altLang="en-US" sz="2800" kern="0">
                <a:ea typeface="ＭＳ Ｐゴシック" pitchFamily="34" charset="-128"/>
              </a:rPr>
              <a:t>What are the implications of </a:t>
            </a:r>
            <a:r>
              <a:rPr lang="en-US" altLang="en-US" sz="2800" b="1" kern="0">
                <a:ea typeface="ＭＳ Ｐゴシック" pitchFamily="34" charset="-128"/>
              </a:rPr>
              <a:t>covering </a:t>
            </a:r>
            <a:r>
              <a:rPr lang="en-US" altLang="en-US" sz="2800" kern="0">
                <a:ea typeface="ＭＳ Ｐゴシック" pitchFamily="34" charset="-128"/>
              </a:rPr>
              <a:t>the uninsured?</a:t>
            </a:r>
          </a:p>
          <a:p>
            <a:pPr marL="971550" lvl="1" indent="-514350" eaLnBrk="1" hangingPunct="1">
              <a:buFont typeface="Calibri" pitchFamily="34" charset="0"/>
              <a:buAutoNum type="arabicPeriod"/>
            </a:pPr>
            <a:r>
              <a:rPr lang="en-US" altLang="en-US" sz="2800" kern="0">
                <a:ea typeface="ＭＳ Ｐゴシック" pitchFamily="34" charset="-128"/>
              </a:rPr>
              <a:t>Why should </a:t>
            </a:r>
            <a:r>
              <a:rPr lang="en-US" altLang="en-US" sz="2800" b="1" kern="0">
                <a:ea typeface="ＭＳ Ｐゴシック" pitchFamily="34" charset="-128"/>
              </a:rPr>
              <a:t>high deductible health plans </a:t>
            </a:r>
            <a:r>
              <a:rPr lang="en-US" altLang="en-US" sz="2800" kern="0">
                <a:ea typeface="ＭＳ Ｐゴシック" pitchFamily="34" charset="-128"/>
              </a:rPr>
              <a:t>restrain costs?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Summary</a:t>
            </a: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8BC9DAB-E9A2-4A55-BCF0-25328969E06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7FC3B5-FA14-345E-67F7-6061EB7B76A0}"/>
              </a:ext>
            </a:extLst>
          </p:cNvPr>
          <p:cNvSpPr/>
          <p:nvPr/>
        </p:nvSpPr>
        <p:spPr>
          <a:xfrm>
            <a:off x="1019778" y="1569720"/>
            <a:ext cx="2133600" cy="1143000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We have covered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B86D409-F74D-9C4D-9AFC-AD2F46327687}"/>
              </a:ext>
            </a:extLst>
          </p:cNvPr>
          <p:cNvSpPr/>
          <p:nvPr/>
        </p:nvSpPr>
        <p:spPr>
          <a:xfrm>
            <a:off x="1019778" y="3821430"/>
            <a:ext cx="2133600" cy="1524000"/>
          </a:xfrm>
          <a:prstGeom prst="roundRect">
            <a:avLst/>
          </a:prstGeom>
          <a:solidFill>
            <a:srgbClr val="D15F27"/>
          </a:solidFill>
          <a:ln>
            <a:solidFill>
              <a:srgbClr val="D15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This will be useful to us because...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88C72-9A4A-90EB-F13C-C4C33A83F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078" y="3821431"/>
            <a:ext cx="7690866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Firms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costs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follow directly from productivity</a:t>
            </a:r>
          </a:p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Changes to firms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’ </a:t>
            </a:r>
            <a:r>
              <a:rPr lang="en-US" altLang="ja-JP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organizational strategies 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depend on the possible production technologies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249A7B-7630-4020-48A4-9F66B4372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078" y="1569720"/>
            <a:ext cx="7690866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How to describe a </a:t>
            </a:r>
            <a:r>
              <a:rPr lang="en-US" altLang="en-US" b="1" kern="0" dirty="0">
                <a:ea typeface="ＭＳ Ｐゴシック" pitchFamily="34" charset="-128"/>
              </a:rPr>
              <a:t>production technology</a:t>
            </a:r>
          </a:p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Important details: </a:t>
            </a:r>
          </a:p>
          <a:p>
            <a:pPr lvl="1" eaLnBrk="1" hangingPunct="1"/>
            <a:r>
              <a:rPr lang="en-US" altLang="en-US" b="1" kern="0" dirty="0"/>
              <a:t>Marginal </a:t>
            </a:r>
            <a:r>
              <a:rPr lang="en-US" altLang="en-US" kern="0" dirty="0"/>
              <a:t>and </a:t>
            </a:r>
            <a:r>
              <a:rPr lang="en-US" altLang="en-US" b="1" kern="0" dirty="0"/>
              <a:t>average </a:t>
            </a:r>
            <a:r>
              <a:rPr lang="en-US" altLang="en-US" kern="0" dirty="0"/>
              <a:t>productivity</a:t>
            </a:r>
          </a:p>
          <a:p>
            <a:pPr lvl="1" eaLnBrk="1" hangingPunct="1"/>
            <a:r>
              <a:rPr lang="en-US" altLang="en-US" b="1" kern="0" dirty="0"/>
              <a:t>Scale </a:t>
            </a:r>
            <a:r>
              <a:rPr lang="en-US" altLang="en-US" kern="0" dirty="0"/>
              <a:t>economies</a:t>
            </a:r>
            <a:endParaRPr lang="en-US" altLang="en-US" b="1" kern="0" dirty="0">
              <a:ea typeface="ＭＳ Ｐゴシック" pitchFamily="34" charset="-128"/>
            </a:endParaRP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325A71A9-3AB6-D0CA-CF2F-6F93D72CE2F0}"/>
              </a:ext>
            </a:extLst>
          </p:cNvPr>
          <p:cNvSpPr/>
          <p:nvPr/>
        </p:nvSpPr>
        <p:spPr>
          <a:xfrm>
            <a:off x="12743234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AD45-ADC6-A540-72FA-12111E8A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application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AB8D8-85C0-2BA4-636F-BF3DD2CA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40</a:t>
            </a:fld>
            <a:endParaRPr lang="en-US" alt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7E403B-5F0D-1880-4344-B1402710158A}"/>
              </a:ext>
            </a:extLst>
          </p:cNvPr>
          <p:cNvSpPr/>
          <p:nvPr/>
        </p:nvSpPr>
        <p:spPr>
          <a:xfrm>
            <a:off x="701039" y="1034807"/>
            <a:ext cx="4819543" cy="731520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Economic concept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146565-2E4B-0C53-8988-1C1BB2B23B59}"/>
              </a:ext>
            </a:extLst>
          </p:cNvPr>
          <p:cNvSpPr/>
          <p:nvPr/>
        </p:nvSpPr>
        <p:spPr>
          <a:xfrm>
            <a:off x="6033615" y="1034807"/>
            <a:ext cx="4819543" cy="731520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Practical business application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69EE6F-1C13-588C-BF4B-6A13C3CDA85B}"/>
              </a:ext>
            </a:extLst>
          </p:cNvPr>
          <p:cNvGrpSpPr/>
          <p:nvPr/>
        </p:nvGrpSpPr>
        <p:grpSpPr>
          <a:xfrm>
            <a:off x="701039" y="1788072"/>
            <a:ext cx="10152119" cy="461665"/>
            <a:chOff x="701039" y="1915394"/>
            <a:chExt cx="10152119" cy="4616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259D29D-37FF-E555-6AEF-AD8E13654225}"/>
                </a:ext>
              </a:extLst>
            </p:cNvPr>
            <p:cNvSpPr txBox="1"/>
            <p:nvPr/>
          </p:nvSpPr>
          <p:spPr>
            <a:xfrm>
              <a:off x="701039" y="1915394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Isocost</a:t>
              </a:r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4750FA-FED2-96A7-A441-CA61DCC14ACB}"/>
                </a:ext>
              </a:extLst>
            </p:cNvPr>
            <p:cNvSpPr txBox="1"/>
            <p:nvPr/>
          </p:nvSpPr>
          <p:spPr>
            <a:xfrm>
              <a:off x="6033615" y="1915394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Budget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9723BC-DA71-1E03-A851-DB4AE8450DC0}"/>
              </a:ext>
            </a:extLst>
          </p:cNvPr>
          <p:cNvGrpSpPr/>
          <p:nvPr/>
        </p:nvGrpSpPr>
        <p:grpSpPr>
          <a:xfrm>
            <a:off x="701039" y="5163167"/>
            <a:ext cx="10152119" cy="909560"/>
            <a:chOff x="701039" y="5037712"/>
            <a:chExt cx="10152119" cy="909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67C2907-7E9E-EAF8-C5BE-F06AEF2724F4}"/>
                    </a:ext>
                  </a:extLst>
                </p:cNvPr>
                <p:cNvSpPr txBox="1"/>
                <p:nvPr/>
              </p:nvSpPr>
              <p:spPr>
                <a:xfrm>
                  <a:off x="701039" y="5037712"/>
                  <a:ext cx="4819543" cy="783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en-US" sz="2400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i="1" kern="0">
                                <a:latin typeface="Cambria Math"/>
                              </a:rPr>
                              <m:t>𝑀𝑃𝐿</m:t>
                            </m:r>
                          </m:num>
                          <m:den>
                            <m:r>
                              <a:rPr lang="en-US" altLang="en-US" sz="2400" i="1" kern="0">
                                <a:latin typeface="Cambria Math"/>
                              </a:rPr>
                              <m:t>𝑤</m:t>
                            </m:r>
                          </m:den>
                        </m:f>
                        <m:r>
                          <a:rPr lang="en-US" altLang="en-US" sz="2400" i="1" kern="0">
                            <a:latin typeface="Cambria Math"/>
                            <a:ea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en-US" sz="2400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i="1" kern="0">
                                <a:latin typeface="Cambria Math"/>
                              </a:rPr>
                              <m:t>𝑀𝑃𝐾</m:t>
                            </m:r>
                          </m:num>
                          <m:den>
                            <m:r>
                              <a:rPr lang="en-US" altLang="en-US" sz="2400" i="1" kern="0">
                                <a:latin typeface="Cambria Math"/>
                              </a:rPr>
                              <m:t>𝑟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A110FAA-0CB7-EDFE-9E26-015CAC579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39" y="5037712"/>
                  <a:ext cx="4819543" cy="783741"/>
                </a:xfrm>
                <a:prstGeom prst="rect">
                  <a:avLst/>
                </a:prstGeom>
                <a:blipFill>
                  <a:blip r:embed="rId2"/>
                  <a:stretch>
                    <a:fillRect l="-263" b="-1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DE334E-64BA-E64B-55A6-32F3757D58F6}"/>
                </a:ext>
              </a:extLst>
            </p:cNvPr>
            <p:cNvSpPr txBox="1"/>
            <p:nvPr/>
          </p:nvSpPr>
          <p:spPr>
            <a:xfrm>
              <a:off x="6033615" y="5037920"/>
              <a:ext cx="4819543" cy="909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Economic value added</a:t>
              </a:r>
            </a:p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Return </a:t>
              </a:r>
              <a:r>
                <a:rPr lang="en-US" sz="2400">
                  <a:latin typeface="Source Sans Pro" panose="020B0503030403020204" pitchFamily="34" charset="0"/>
                  <a:ea typeface="Source Sans Pro" panose="020B0503030403020204" pitchFamily="34" charset="0"/>
                </a:rPr>
                <a:t>on investment</a:t>
              </a:r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CE22F8-8FD3-4BE6-5185-79182D7EFE12}"/>
              </a:ext>
            </a:extLst>
          </p:cNvPr>
          <p:cNvGrpSpPr/>
          <p:nvPr/>
        </p:nvGrpSpPr>
        <p:grpSpPr>
          <a:xfrm>
            <a:off x="701039" y="6156821"/>
            <a:ext cx="10152119" cy="488339"/>
            <a:chOff x="701039" y="6017924"/>
            <a:chExt cx="10152119" cy="48833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2EE2F2-00CD-C2F9-EC1A-3A775096DF74}"/>
                </a:ext>
              </a:extLst>
            </p:cNvPr>
            <p:cNvSpPr txBox="1"/>
            <p:nvPr/>
          </p:nvSpPr>
          <p:spPr>
            <a:xfrm>
              <a:off x="701039" y="6017924"/>
              <a:ext cx="4819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Economies of scale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9DAAA1-65AA-39B8-6CB5-5AFC4DA9DCAD}"/>
                </a:ext>
              </a:extLst>
            </p:cNvPr>
            <p:cNvSpPr txBox="1"/>
            <p:nvPr/>
          </p:nvSpPr>
          <p:spPr>
            <a:xfrm>
              <a:off x="6033615" y="6017924"/>
              <a:ext cx="4819543" cy="4883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Optimizing business unit sizes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54AEF1-5CC9-9A92-9D7A-2F60708F7996}"/>
              </a:ext>
            </a:extLst>
          </p:cNvPr>
          <p:cNvGrpSpPr/>
          <p:nvPr/>
        </p:nvGrpSpPr>
        <p:grpSpPr>
          <a:xfrm>
            <a:off x="701039" y="2333832"/>
            <a:ext cx="10152119" cy="909560"/>
            <a:chOff x="701039" y="2469316"/>
            <a:chExt cx="10152119" cy="909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AF7BB7A-EB75-6804-B78A-F3432C285BC8}"/>
                    </a:ext>
                  </a:extLst>
                </p:cNvPr>
                <p:cNvSpPr txBox="1"/>
                <p:nvPr/>
              </p:nvSpPr>
              <p:spPr>
                <a:xfrm>
                  <a:off x="701039" y="2469316"/>
                  <a:ext cx="4819543" cy="783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en-US" sz="240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b="0" i="1" kern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en-US" sz="2400" b="0" i="1" kern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en-US" sz="2400" i="1" kern="0">
                                <a:latin typeface="Cambria Math"/>
                              </a:rPr>
                              <m:t>𝑀𝑃𝐿</m:t>
                            </m:r>
                          </m:num>
                          <m:den>
                            <m:r>
                              <a:rPr lang="en-US" altLang="en-US" sz="2400" i="1" kern="0">
                                <a:latin typeface="Cambria Math"/>
                              </a:rPr>
                              <m:t>𝑤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CA36F7F-8C0C-859E-8E43-DE874F77BA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39" y="2469316"/>
                  <a:ext cx="4819543" cy="783741"/>
                </a:xfrm>
                <a:prstGeom prst="rect">
                  <a:avLst/>
                </a:prstGeom>
                <a:blipFill>
                  <a:blip r:embed="rId3"/>
                  <a:stretch>
                    <a:fillRect l="-263" b="-31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A435B9-7713-A14E-BDB5-B20330FE6FF1}"/>
                </a:ext>
              </a:extLst>
            </p:cNvPr>
            <p:cNvSpPr txBox="1"/>
            <p:nvPr/>
          </p:nvSpPr>
          <p:spPr>
            <a:xfrm>
              <a:off x="6033615" y="2469524"/>
              <a:ext cx="4819543" cy="909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Return on “labor”</a:t>
              </a:r>
            </a:p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Gross (contribution) margin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70B96-84B3-3200-51DE-F433F4DD91F5}"/>
              </a:ext>
            </a:extLst>
          </p:cNvPr>
          <p:cNvGrpSpPr/>
          <p:nvPr/>
        </p:nvGrpSpPr>
        <p:grpSpPr>
          <a:xfrm>
            <a:off x="701039" y="3327487"/>
            <a:ext cx="10152119" cy="1751585"/>
            <a:chOff x="701039" y="3706830"/>
            <a:chExt cx="10152119" cy="17515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4BD09AA-1198-1D65-1C5D-ADB2B9F28FF8}"/>
                    </a:ext>
                  </a:extLst>
                </p:cNvPr>
                <p:cNvSpPr txBox="1"/>
                <p:nvPr/>
              </p:nvSpPr>
              <p:spPr>
                <a:xfrm>
                  <a:off x="701039" y="3706830"/>
                  <a:ext cx="4819543" cy="783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en-US" sz="240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b="0" i="1" kern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en-US" sz="2400" b="0" i="1" kern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en-US" sz="2400" i="1" kern="0">
                                <a:latin typeface="Cambria Math"/>
                              </a:rPr>
                              <m:t>𝑀𝑃</m:t>
                            </m:r>
                            <m:r>
                              <a:rPr lang="en-US" altLang="en-US" sz="2400" b="0" i="1" kern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>
                              <a:rPr lang="en-US" altLang="en-US" sz="2400" b="0" i="1" kern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40D57D6-5EB4-94BF-6C75-90A21945F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39" y="3706830"/>
                  <a:ext cx="4819543" cy="783741"/>
                </a:xfrm>
                <a:prstGeom prst="rect">
                  <a:avLst/>
                </a:prstGeom>
                <a:blipFill>
                  <a:blip r:embed="rId4"/>
                  <a:stretch>
                    <a:fillRect l="-263" b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1FED73-DCDF-E429-89F6-248C2E3359D4}"/>
                </a:ext>
              </a:extLst>
            </p:cNvPr>
            <p:cNvSpPr txBox="1"/>
            <p:nvPr/>
          </p:nvSpPr>
          <p:spPr>
            <a:xfrm>
              <a:off x="6033615" y="3707038"/>
              <a:ext cx="4819543" cy="1751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Return on investment</a:t>
              </a:r>
            </a:p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Return on invested capital</a:t>
              </a:r>
            </a:p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Return on equity</a:t>
              </a:r>
            </a:p>
            <a:p>
              <a:pPr marL="342900" indent="-342900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Return on assets</a:t>
              </a:r>
            </a:p>
          </p:txBody>
        </p:sp>
      </p:grpSp>
      <p:sp>
        <p:nvSpPr>
          <p:cNvPr id="8" name="5-Point Star 7">
            <a:extLst>
              <a:ext uri="{FF2B5EF4-FFF2-40B4-BE49-F238E27FC236}">
                <a16:creationId xmlns:a16="http://schemas.microsoft.com/office/drawing/2014/main" id="{11F26D8A-70D7-84EC-591A-FB4156C47843}"/>
              </a:ext>
            </a:extLst>
          </p:cNvPr>
          <p:cNvSpPr/>
          <p:nvPr/>
        </p:nvSpPr>
        <p:spPr>
          <a:xfrm>
            <a:off x="12597319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4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41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Describing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Short-term costs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F6AD3-AE1C-12C6-09D8-96210601A6FC}"/>
              </a:ext>
            </a:extLst>
          </p:cNvPr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Long-term costs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4E2B5-454F-3B85-6192-BC86D2F02259}"/>
              </a:ext>
            </a:extLst>
          </p:cNvPr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Key cost types</a:t>
            </a:r>
          </a:p>
        </p:txBody>
      </p:sp>
    </p:spTree>
    <p:extLst>
      <p:ext uri="{BB962C8B-B14F-4D97-AF65-F5344CB8AC3E}">
        <p14:creationId xmlns:p14="http://schemas.microsoft.com/office/powerpoint/2010/main" val="814610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 areas where economists and accountants disagree</a:t>
            </a:r>
            <a:endParaRPr lang="en-US" altLang="en-US" b="0" dirty="0">
              <a:ea typeface="ＭＳ Ｐゴシック" pitchFamily="34" charset="-128"/>
            </a:endParaRPr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DBF80DF-8080-4857-B543-29123808D40A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297DCB-D7FC-5D43-2D54-F70F49BA542D}"/>
              </a:ext>
            </a:extLst>
          </p:cNvPr>
          <p:cNvGrpSpPr/>
          <p:nvPr/>
        </p:nvGrpSpPr>
        <p:grpSpPr>
          <a:xfrm>
            <a:off x="658368" y="1864745"/>
            <a:ext cx="10789920" cy="876389"/>
            <a:chOff x="658368" y="1864745"/>
            <a:chExt cx="10789920" cy="876389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D1DDE70-85BF-0E50-3E2D-CF24DBFE4905}"/>
                </a:ext>
              </a:extLst>
            </p:cNvPr>
            <p:cNvSpPr/>
            <p:nvPr/>
          </p:nvSpPr>
          <p:spPr>
            <a:xfrm>
              <a:off x="658368" y="1864745"/>
              <a:ext cx="2546948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Economic costs</a:t>
              </a:r>
              <a:endPara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EB7ACED3-22B0-70F1-6C50-0000B1CB3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316" y="1864745"/>
              <a:ext cx="8242972" cy="480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Costs relevant for decision-making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12E1A0-48F8-3CA7-F0DC-C259E48FA24B}"/>
              </a:ext>
            </a:extLst>
          </p:cNvPr>
          <p:cNvGrpSpPr/>
          <p:nvPr/>
        </p:nvGrpSpPr>
        <p:grpSpPr>
          <a:xfrm>
            <a:off x="658368" y="4268268"/>
            <a:ext cx="10789920" cy="1021818"/>
            <a:chOff x="658368" y="4268268"/>
            <a:chExt cx="10789920" cy="1021818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43970EB-883E-D867-EE81-227807E57B6B}"/>
                </a:ext>
              </a:extLst>
            </p:cNvPr>
            <p:cNvSpPr/>
            <p:nvPr/>
          </p:nvSpPr>
          <p:spPr>
            <a:xfrm>
              <a:off x="658368" y="4268268"/>
              <a:ext cx="2546948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Two primary differences</a:t>
              </a:r>
              <a:endPara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E79E068F-0896-9B4E-C282-83ADBE565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316" y="4268268"/>
              <a:ext cx="8242972" cy="1021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Opportunity costs (or real/economic costs)</a:t>
              </a:r>
            </a:p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Sunk costs</a:t>
              </a:r>
              <a:endParaRPr lang="en-US" altLang="en-US" sz="2800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4594FE-6A04-FD8D-542C-4FB77FA54A49}"/>
              </a:ext>
            </a:extLst>
          </p:cNvPr>
          <p:cNvGrpSpPr/>
          <p:nvPr/>
        </p:nvGrpSpPr>
        <p:grpSpPr>
          <a:xfrm>
            <a:off x="658368" y="3066507"/>
            <a:ext cx="10789920" cy="876389"/>
            <a:chOff x="658368" y="2972803"/>
            <a:chExt cx="10789920" cy="876389"/>
          </a:xfrm>
        </p:grpSpPr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A0AF9C4C-88BF-8652-F4A3-31710973840D}"/>
                </a:ext>
              </a:extLst>
            </p:cNvPr>
            <p:cNvSpPr/>
            <p:nvPr/>
          </p:nvSpPr>
          <p:spPr>
            <a:xfrm>
              <a:off x="658368" y="2972803"/>
              <a:ext cx="2546948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Accounting costs</a:t>
              </a:r>
              <a:endPara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BEE1FF69-DF90-F151-3542-06B16F7AB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316" y="2972803"/>
              <a:ext cx="8242972" cy="480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Costs actually incurred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744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Opportunity/real costs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58367" y="1419930"/>
            <a:ext cx="10789921" cy="2215991"/>
            <a:chOff x="658367" y="2484650"/>
            <a:chExt cx="10789921" cy="2215991"/>
          </a:xfrm>
        </p:grpSpPr>
        <p:sp>
          <p:nvSpPr>
            <p:cNvPr id="8" name="Rounded Rectangle 7"/>
            <p:cNvSpPr/>
            <p:nvPr/>
          </p:nvSpPr>
          <p:spPr>
            <a:xfrm>
              <a:off x="658367" y="2484650"/>
              <a:ext cx="1996343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Opportunity costs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9" name="Rectangle 3"/>
            <p:cNvSpPr txBox="1">
              <a:spLocks noChangeArrowheads="1"/>
            </p:cNvSpPr>
            <p:nvPr/>
          </p:nvSpPr>
          <p:spPr bwMode="auto">
            <a:xfrm>
              <a:off x="2654710" y="2484650"/>
              <a:ext cx="8793578" cy="2215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Resources spent on one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opportunity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cannot be spent on another</a:t>
              </a:r>
            </a:p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Foregone (net) benefits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from best alternative opportunity (not taken) must be counted as economic cost</a:t>
              </a:r>
            </a:p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May or may not be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immediately obvious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what counts</a:t>
              </a:r>
            </a:p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Included by economists (excluded by accountants)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8368" y="4074083"/>
            <a:ext cx="10789920" cy="1397306"/>
            <a:chOff x="658368" y="5617040"/>
            <a:chExt cx="10789920" cy="1397306"/>
          </a:xfrm>
        </p:grpSpPr>
        <p:sp>
          <p:nvSpPr>
            <p:cNvPr id="10" name="Rounded Rectangle 9"/>
            <p:cNvSpPr/>
            <p:nvPr/>
          </p:nvSpPr>
          <p:spPr>
            <a:xfrm>
              <a:off x="658368" y="5617040"/>
              <a:ext cx="1996342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Examples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2654710" y="5617040"/>
              <a:ext cx="8793578" cy="1397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Self-employment and own wages</a:t>
              </a:r>
            </a:p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Expense of flying versus driving</a:t>
              </a:r>
            </a:p>
            <a:p>
              <a:pPr marL="228600" indent="-22860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Keeping money in a savings account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1896-10C1-06A0-11D9-BC370D17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1D67-3917-4D1D-B396-6BD35EFCEE75}" type="slidenum">
              <a:rPr lang="en-US" altLang="en-US" smtClean="0"/>
              <a:pPr/>
              <a:t>43</a:t>
            </a:fld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Sunk costs</a:t>
            </a:r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37A64E8-1E3E-4FAD-B22A-69D9147777E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9EEC50-2BD2-9FB6-81D2-9D4D0E04F0D8}"/>
              </a:ext>
            </a:extLst>
          </p:cNvPr>
          <p:cNvGrpSpPr/>
          <p:nvPr/>
        </p:nvGrpSpPr>
        <p:grpSpPr>
          <a:xfrm>
            <a:off x="637032" y="1022202"/>
            <a:ext cx="10774680" cy="1116963"/>
            <a:chOff x="274320" y="914400"/>
            <a:chExt cx="10774680" cy="11169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13F29B-67E9-4C20-43C3-D55807532D28}"/>
                </a:ext>
              </a:extLst>
            </p:cNvPr>
            <p:cNvGrpSpPr/>
            <p:nvPr/>
          </p:nvGrpSpPr>
          <p:grpSpPr>
            <a:xfrm>
              <a:off x="274320" y="914400"/>
              <a:ext cx="10774680" cy="1116963"/>
              <a:chOff x="274320" y="4800600"/>
              <a:chExt cx="10774680" cy="1116963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6BE2594-4051-F5FE-49B6-5E7FB5BD85FC}"/>
                  </a:ext>
                </a:extLst>
              </p:cNvPr>
              <p:cNvSpPr/>
              <p:nvPr/>
            </p:nvSpPr>
            <p:spPr>
              <a:xfrm>
                <a:off x="1752600" y="4892040"/>
                <a:ext cx="9296400" cy="977343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BF180C1B-5695-F0D8-D978-70F90650B429}"/>
                  </a:ext>
                </a:extLst>
              </p:cNvPr>
              <p:cNvSpPr/>
              <p:nvPr/>
            </p:nvSpPr>
            <p:spPr>
              <a:xfrm>
                <a:off x="365760" y="4800600"/>
                <a:ext cx="1828800" cy="111696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5763801-8B80-44F0-E5B7-9B64568730E8}"/>
                  </a:ext>
                </a:extLst>
              </p:cNvPr>
              <p:cNvSpPr/>
              <p:nvPr/>
            </p:nvSpPr>
            <p:spPr>
              <a:xfrm>
                <a:off x="274320" y="4892040"/>
                <a:ext cx="1828800" cy="977343"/>
              </a:xfrm>
              <a:prstGeom prst="roundRect">
                <a:avLst/>
              </a:prstGeom>
              <a:solidFill>
                <a:srgbClr val="005F85"/>
              </a:solidFill>
              <a:ln>
                <a:solidFill>
                  <a:srgbClr val="005F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C8C8C8"/>
                    </a:solidFill>
                    <a:latin typeface="Source Sans Pro" panose="020B0503030403020204" pitchFamily="34" charset="0"/>
                  </a:rPr>
                  <a:t>Sunk costs</a:t>
                </a:r>
              </a:p>
            </p:txBody>
          </p:sp>
        </p:grp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25ED366-4D21-8B83-6880-920FB15AA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1001376"/>
              <a:ext cx="8668512" cy="98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Must be paid regardless of a person’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 or firm’s action</a:t>
              </a:r>
            </a:p>
            <a:p>
              <a:pPr marL="57150" indent="-228600" eaLnBrk="1" hangingPunct="1"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Ignored by economists; included by accountants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A21E06-9973-4005-615A-966321869D64}"/>
              </a:ext>
            </a:extLst>
          </p:cNvPr>
          <p:cNvGrpSpPr/>
          <p:nvPr/>
        </p:nvGrpSpPr>
        <p:grpSpPr>
          <a:xfrm>
            <a:off x="637032" y="2336518"/>
            <a:ext cx="10588752" cy="2317558"/>
            <a:chOff x="274320" y="2868842"/>
            <a:chExt cx="10588752" cy="2317558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13B36983-FF5C-A118-2F56-A6BDDCE2A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2868842"/>
              <a:ext cx="8668512" cy="2317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Consider two possible actions, X and Y, each with its own revenue (R) and economic cost (C)</a:t>
              </a:r>
            </a:p>
            <a:p>
              <a:pPr marL="457200" lvl="1" indent="-228600" eaLnBrk="1" hangingPunct="1"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Sunk cost (S) regardless of action taken</a:t>
              </a:r>
            </a:p>
            <a:p>
              <a:pPr marL="457200" lvl="1" indent="-228600" eaLnBrk="1" hangingPunct="1"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Compare total return:</a:t>
              </a:r>
            </a:p>
            <a:p>
              <a:pPr algn="ctr" eaLnBrk="1" hangingPunct="1">
                <a:spcBef>
                  <a:spcPct val="0"/>
                </a:spcBef>
                <a:spcAft>
                  <a:spcPts val="600"/>
                </a:spcAft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R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– C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– S    &gt;=&lt;    R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– C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– 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A4CE287-A989-7B24-C0A5-A657D46F4D74}"/>
                </a:ext>
              </a:extLst>
            </p:cNvPr>
            <p:cNvSpPr/>
            <p:nvPr/>
          </p:nvSpPr>
          <p:spPr>
            <a:xfrm>
              <a:off x="274320" y="2868842"/>
              <a:ext cx="1828800" cy="1139505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Why sunk costs don’t matter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25" name="Rectangle 3">
            <a:extLst>
              <a:ext uri="{FF2B5EF4-FFF2-40B4-BE49-F238E27FC236}">
                <a16:creationId xmlns:a16="http://schemas.microsoft.com/office/drawing/2014/main" id="{173A7948-B3F1-3564-580D-1159AEFFC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272" y="4851429"/>
            <a:ext cx="86685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28600" indent="-228600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Value of 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won’t affect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optimal choice, so ignore it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50FA42-9535-350D-4568-D4BCA907210E}"/>
              </a:ext>
            </a:extLst>
          </p:cNvPr>
          <p:cNvGrpSpPr/>
          <p:nvPr/>
        </p:nvGrpSpPr>
        <p:grpSpPr>
          <a:xfrm>
            <a:off x="637032" y="5510448"/>
            <a:ext cx="10588752" cy="907941"/>
            <a:chOff x="274320" y="5510447"/>
            <a:chExt cx="10588752" cy="907941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798E4242-8969-556A-CB75-74188D2901EE}"/>
                </a:ext>
              </a:extLst>
            </p:cNvPr>
            <p:cNvSpPr/>
            <p:nvPr/>
          </p:nvSpPr>
          <p:spPr>
            <a:xfrm>
              <a:off x="274320" y="5510447"/>
              <a:ext cx="1828800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Examples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24ECE87B-60BF-E283-7111-AA25C7902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5510447"/>
              <a:ext cx="8668512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spcBef>
                  <a:spcPct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Building permits/licenses</a:t>
              </a:r>
            </a:p>
            <a:p>
              <a:pPr marL="228600" indent="-228600" eaLnBrk="1" hangingPunct="1">
                <a:spcBef>
                  <a:spcPct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Irreversible contracts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17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Describing costs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9785ED2-3D39-4A45-8B94-6852ABB074F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3600DA8-618D-A439-83A7-77F10D68B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870" y="1115548"/>
            <a:ext cx="8833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28600" indent="-22860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How do costs change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as firm’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s environment changes?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24A976-4B66-8189-E9EB-5415878B7E81}"/>
              </a:ext>
            </a:extLst>
          </p:cNvPr>
          <p:cNvSpPr/>
          <p:nvPr/>
        </p:nvSpPr>
        <p:spPr>
          <a:xfrm>
            <a:off x="609600" y="1115549"/>
            <a:ext cx="2223270" cy="600755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Goal</a:t>
            </a:r>
            <a:endParaRPr lang="en-US" sz="24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B9A59F-86AD-357C-3663-F7255F4526AF}"/>
              </a:ext>
            </a:extLst>
          </p:cNvPr>
          <p:cNvSpPr/>
          <p:nvPr/>
        </p:nvSpPr>
        <p:spPr>
          <a:xfrm>
            <a:off x="609600" y="3626222"/>
            <a:ext cx="2223270" cy="1938992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Thinking about expenditures on production inputs</a:t>
            </a:r>
            <a:endParaRPr lang="en-US" sz="24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8185B4-6C5F-1BE5-B9E4-11EEED048173}"/>
              </a:ext>
            </a:extLst>
          </p:cNvPr>
          <p:cNvSpPr/>
          <p:nvPr/>
        </p:nvSpPr>
        <p:spPr>
          <a:xfrm>
            <a:off x="609600" y="1902673"/>
            <a:ext cx="2223270" cy="829355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Two points of emphasis</a:t>
            </a:r>
            <a:endParaRPr lang="en-US" sz="24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4A806F-772A-6EBD-F0B1-D57E419A0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870" y="1902673"/>
            <a:ext cx="883310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28600" lvl="1" indent="-228600" eaLnBrk="1" hangingPunct="1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Best way to understand firm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’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s </a:t>
            </a:r>
            <a:r>
              <a:rPr lang="en-US" altLang="ja-JP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production choices 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is to think about how it </a:t>
            </a:r>
            <a:r>
              <a:rPr lang="en-US" altLang="ja-JP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optimizes spending decisions</a:t>
            </a:r>
          </a:p>
          <a:p>
            <a:pPr marL="228600" lvl="1" indent="-228600" eaLnBrk="1" hangingPunct="1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firms have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flexibility 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optimization, they can achieve their goals at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lower expense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0566610-6586-2927-1602-DF5D89695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870" y="3626222"/>
            <a:ext cx="8833104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28600" indent="-22860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Use a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simple analogy/method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A firm spending $X on labor (L) and capital (K) is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analogous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to a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household</a:t>
            </a:r>
            <a:r>
              <a:rPr lang="en-US" altLang="ja-JP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spending 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on fixed (e.g., mortgage) and discretionary (e.g., entertainment) items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Fixed costs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are capital (K) spending in the short run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Variable costs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are labor (L) in the short run, and both L and K 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37033880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Input costs and </a:t>
            </a:r>
            <a:r>
              <a:rPr lang="en-US" altLang="en-US" b="0" dirty="0" err="1">
                <a:ea typeface="ＭＳ Ｐゴシック" pitchFamily="34" charset="-128"/>
              </a:rPr>
              <a:t>isocost</a:t>
            </a:r>
            <a:r>
              <a:rPr lang="en-US" altLang="en-US" b="0" dirty="0">
                <a:ea typeface="ＭＳ Ｐゴシック" pitchFamily="34" charset="-128"/>
              </a:rPr>
              <a:t> lines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15CFFD5-980A-4DFA-A24C-BE598960D61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3A81EC-B2DD-B586-3914-8AEB3611C598}"/>
              </a:ext>
            </a:extLst>
          </p:cNvPr>
          <p:cNvGrpSpPr/>
          <p:nvPr/>
        </p:nvGrpSpPr>
        <p:grpSpPr>
          <a:xfrm>
            <a:off x="1265917" y="915932"/>
            <a:ext cx="9023218" cy="1463040"/>
            <a:chOff x="365760" y="915932"/>
            <a:chExt cx="9023218" cy="14630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2F57002-1A4E-38E2-2F77-6A8053AD5E46}"/>
                </a:ext>
              </a:extLst>
            </p:cNvPr>
            <p:cNvGrpSpPr/>
            <p:nvPr/>
          </p:nvGrpSpPr>
          <p:grpSpPr>
            <a:xfrm>
              <a:off x="365760" y="915932"/>
              <a:ext cx="9023218" cy="1463040"/>
              <a:chOff x="365760" y="4800600"/>
              <a:chExt cx="9023218" cy="1463040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60B2BE0-78FC-0293-502F-A7AE5AF417BF}"/>
                  </a:ext>
                </a:extLst>
              </p:cNvPr>
              <p:cNvSpPr/>
              <p:nvPr/>
            </p:nvSpPr>
            <p:spPr>
              <a:xfrm>
                <a:off x="1752599" y="4892040"/>
                <a:ext cx="7636379" cy="128016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42FD7593-2446-EF49-9A0F-3B91CA5064A6}"/>
                  </a:ext>
                </a:extLst>
              </p:cNvPr>
              <p:cNvSpPr/>
              <p:nvPr/>
            </p:nvSpPr>
            <p:spPr>
              <a:xfrm>
                <a:off x="365760" y="4800600"/>
                <a:ext cx="1828800" cy="146304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34F6032-5EE2-5105-F9BF-D96DC9FDBA53}"/>
                  </a:ext>
                </a:extLst>
              </p:cNvPr>
              <p:cNvSpPr/>
              <p:nvPr/>
            </p:nvSpPr>
            <p:spPr>
              <a:xfrm>
                <a:off x="457200" y="4892040"/>
                <a:ext cx="1645920" cy="1280160"/>
              </a:xfrm>
              <a:prstGeom prst="roundRect">
                <a:avLst>
                  <a:gd name="adj" fmla="val 10659"/>
                </a:avLst>
              </a:prstGeom>
              <a:solidFill>
                <a:srgbClr val="005F85"/>
              </a:solidFill>
              <a:ln>
                <a:solidFill>
                  <a:srgbClr val="005F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rgbClr val="C8C8C8"/>
                    </a:solidFill>
                    <a:latin typeface="Source Sans Pro" panose="020B0503030403020204" pitchFamily="34" charset="0"/>
                  </a:rPr>
                  <a:t>Input prices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5758BAF-A8EC-0617-F74B-C9146F318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1168250"/>
              <a:ext cx="6809858" cy="97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</a:pPr>
              <a:r>
                <a:rPr lang="en-US" altLang="en-US" sz="2400" i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: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wage rate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, or price per unit of labor (L)</a:t>
              </a:r>
            </a:p>
            <a:p>
              <a:pPr marL="228600" indent="-228600" eaLnBrk="1" hangingPunct="1">
                <a:lnSpc>
                  <a:spcPct val="110000"/>
                </a:lnSpc>
              </a:pPr>
              <a:r>
                <a:rPr lang="en-US" altLang="en-US" sz="2400" i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: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rental rate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per unit of capital (K)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FCE5713-330E-BA79-34CE-EF18423CDB35}"/>
              </a:ext>
            </a:extLst>
          </p:cNvPr>
          <p:cNvGrpSpPr/>
          <p:nvPr/>
        </p:nvGrpSpPr>
        <p:grpSpPr>
          <a:xfrm>
            <a:off x="1265917" y="2616147"/>
            <a:ext cx="9023218" cy="1773936"/>
            <a:chOff x="365760" y="2425971"/>
            <a:chExt cx="9023218" cy="1773936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700BDFB-4760-6381-3CBF-6C5D0CEE76A4}"/>
                </a:ext>
              </a:extLst>
            </p:cNvPr>
            <p:cNvSpPr/>
            <p:nvPr/>
          </p:nvSpPr>
          <p:spPr>
            <a:xfrm>
              <a:off x="1752600" y="2516061"/>
              <a:ext cx="7636378" cy="1593757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5E8000B-FF01-7312-3EA9-5BE9E13FA987}"/>
                </a:ext>
              </a:extLst>
            </p:cNvPr>
            <p:cNvSpPr/>
            <p:nvPr/>
          </p:nvSpPr>
          <p:spPr>
            <a:xfrm>
              <a:off x="365760" y="2425971"/>
              <a:ext cx="1828800" cy="17739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BEB4CC9-D421-B19E-AD02-08C01FA1970C}"/>
                </a:ext>
              </a:extLst>
            </p:cNvPr>
            <p:cNvSpPr/>
            <p:nvPr/>
          </p:nvSpPr>
          <p:spPr>
            <a:xfrm>
              <a:off x="457200" y="2516061"/>
              <a:ext cx="1645920" cy="1593757"/>
            </a:xfrm>
            <a:prstGeom prst="roundRect">
              <a:avLst>
                <a:gd name="adj" fmla="val 12914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err="1">
                  <a:solidFill>
                    <a:srgbClr val="C8C8C8"/>
                  </a:solidFill>
                  <a:latin typeface="Source Sans Pro" panose="020B0503030403020204" pitchFamily="34" charset="0"/>
                </a:rPr>
                <a:t>Isocost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DF418F0B-E812-F7D0-380C-B99FE5179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59" y="2509642"/>
              <a:ext cx="6809859" cy="160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 eaLnBrk="1" hangingPunct="1">
                <a:lnSpc>
                  <a:spcPct val="110000"/>
                </a:lnSpc>
                <a:spcAft>
                  <a:spcPct val="200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Many ways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 firm can spend $C on L and K</a:t>
              </a:r>
            </a:p>
            <a:p>
              <a:pPr marL="228600" indent="-228600" eaLnBrk="1" hangingPunct="1">
                <a:lnSpc>
                  <a:spcPct val="110000"/>
                </a:lnSpc>
                <a:spcAft>
                  <a:spcPct val="20000"/>
                </a:spcAft>
                <a:buFontTx/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	Total spending = Spending on L + Spending on K</a:t>
              </a:r>
            </a:p>
            <a:p>
              <a:pPr eaLnBrk="1" hangingPunct="1">
                <a:lnSpc>
                  <a:spcPct val="110000"/>
                </a:lnSpc>
                <a:spcAft>
                  <a:spcPct val="20000"/>
                </a:spcAft>
                <a:buFontTx/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		C	      =	 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wL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	         +	       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rK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CE58D0-8CB3-8D63-B102-25137568E9F8}"/>
              </a:ext>
            </a:extLst>
          </p:cNvPr>
          <p:cNvGrpSpPr/>
          <p:nvPr/>
        </p:nvGrpSpPr>
        <p:grpSpPr>
          <a:xfrm>
            <a:off x="1332969" y="4627257"/>
            <a:ext cx="8571606" cy="1606594"/>
            <a:chOff x="432812" y="4442195"/>
            <a:chExt cx="8571606" cy="1606594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CB5DA35A-0438-C91C-ECF1-C1233F032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2660" y="4442195"/>
              <a:ext cx="6771758" cy="1606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2" indent="0" eaLnBrk="1" hangingPunct="1">
                <a:lnSpc>
                  <a:spcPct val="110000"/>
                </a:lnSpc>
                <a:spcAft>
                  <a:spcPct val="20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Total spending (C) = $100</a:t>
              </a:r>
            </a:p>
            <a:p>
              <a:pPr marL="0" lvl="2" indent="0" eaLnBrk="1" hangingPunct="1">
                <a:lnSpc>
                  <a:spcPct val="110000"/>
                </a:lnSpc>
                <a:spcAft>
                  <a:spcPct val="20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Wage (w) = $5			           100 = 5L + 10K</a:t>
              </a:r>
            </a:p>
            <a:p>
              <a:pPr marL="0" lvl="2" indent="0" eaLnBrk="1" hangingPunct="1">
                <a:lnSpc>
                  <a:spcPct val="110000"/>
                </a:lnSpc>
                <a:spcAft>
                  <a:spcPct val="20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Rental rate (r) = $10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AF2BD59-FBBE-9392-CB03-F50FBEBA9A4B}"/>
                </a:ext>
              </a:extLst>
            </p:cNvPr>
            <p:cNvGrpSpPr/>
            <p:nvPr/>
          </p:nvGrpSpPr>
          <p:grpSpPr>
            <a:xfrm>
              <a:off x="5597299" y="4490769"/>
              <a:ext cx="971568" cy="1489120"/>
              <a:chOff x="5597299" y="4539343"/>
              <a:chExt cx="971568" cy="1489120"/>
            </a:xfrm>
          </p:grpSpPr>
          <p:sp>
            <p:nvSpPr>
              <p:cNvPr id="17" name="AutoShape 5">
                <a:extLst>
                  <a:ext uri="{FF2B5EF4-FFF2-40B4-BE49-F238E27FC236}">
                    <a16:creationId xmlns:a16="http://schemas.microsoft.com/office/drawing/2014/main" id="{77F47443-5A30-AE53-B63D-B24D7C5EA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7299" y="4539343"/>
                <a:ext cx="152400" cy="1489120"/>
              </a:xfrm>
              <a:prstGeom prst="rightBrace">
                <a:avLst>
                  <a:gd name="adj1" fmla="val 6224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endParaRPr lang="en-US" alt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8" name="Line 6">
                <a:extLst>
                  <a:ext uri="{FF2B5EF4-FFF2-40B4-BE49-F238E27FC236}">
                    <a16:creationId xmlns:a16="http://schemas.microsoft.com/office/drawing/2014/main" id="{AC2D5754-145A-A661-EC1D-1BBF56649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49712" y="5283903"/>
                <a:ext cx="71915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07435AC-EC9C-A1F4-CC85-E14286C09D3A}"/>
                </a:ext>
              </a:extLst>
            </p:cNvPr>
            <p:cNvSpPr/>
            <p:nvPr/>
          </p:nvSpPr>
          <p:spPr>
            <a:xfrm>
              <a:off x="432812" y="4442195"/>
              <a:ext cx="1670308" cy="87638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Example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7755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47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Describing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Short-term costs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F6AD3-AE1C-12C6-09D8-96210601A6FC}"/>
              </a:ext>
            </a:extLst>
          </p:cNvPr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Long-term costs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C72B7-47FE-4926-3263-EE10B2694502}"/>
              </a:ext>
            </a:extLst>
          </p:cNvPr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Key cost types</a:t>
            </a:r>
          </a:p>
        </p:txBody>
      </p:sp>
    </p:spTree>
    <p:extLst>
      <p:ext uri="{BB962C8B-B14F-4D97-AF65-F5344CB8AC3E}">
        <p14:creationId xmlns:p14="http://schemas.microsoft.com/office/powerpoint/2010/main" val="3848004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Optimal choices of inputs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8312C02-0FE2-47C6-8005-E094FA2C491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40EC1D0-5CD6-8CCD-B813-6A7A3E3D033F}"/>
              </a:ext>
            </a:extLst>
          </p:cNvPr>
          <p:cNvSpPr txBox="1">
            <a:spLocks/>
          </p:cNvSpPr>
          <p:nvPr/>
        </p:nvSpPr>
        <p:spPr bwMode="auto">
          <a:xfrm>
            <a:off x="954987" y="2369149"/>
            <a:ext cx="10517685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Incremental benefit: Extra revenue from using one more unit of labor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Quantity from using one more unit of labor: MPL = 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dQ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/dL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Extra revenue = P*(Extra Q) = P*MPL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09270AE-8062-47D9-E556-C745B9A44BD9}"/>
              </a:ext>
            </a:extLst>
          </p:cNvPr>
          <p:cNvSpPr txBox="1">
            <a:spLocks/>
          </p:cNvSpPr>
          <p:nvPr/>
        </p:nvSpPr>
        <p:spPr>
          <a:xfrm>
            <a:off x="954987" y="1236881"/>
            <a:ext cx="10517685" cy="9848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We assume a firm will choose inputs (e.g., L and K) to </a:t>
            </a:r>
            <a:r>
              <a:rPr lang="en-US" altLang="en-US" b="1" kern="0" dirty="0">
                <a:ea typeface="ＭＳ Ｐゴシック" pitchFamily="34" charset="-128"/>
              </a:rPr>
              <a:t>maximize value</a:t>
            </a: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*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kern="0" dirty="0">
                <a:ea typeface="ＭＳ Ｐゴシック" pitchFamily="34" charset="-128"/>
              </a:rPr>
              <a:t> – </a:t>
            </a:r>
            <a:r>
              <a:rPr lang="en-US" altLang="en-US" i="1" kern="0" dirty="0">
                <a:ea typeface="ＭＳ Ｐゴシック" pitchFamily="34" charset="-128"/>
              </a:rPr>
              <a:t>w</a:t>
            </a:r>
            <a:r>
              <a:rPr lang="en-US" altLang="en-US" kern="0" dirty="0">
                <a:ea typeface="ＭＳ Ｐゴシック" pitchFamily="34" charset="-128"/>
              </a:rPr>
              <a:t>*</a:t>
            </a:r>
            <a:r>
              <a:rPr lang="en-US" altLang="en-US" i="1" kern="0" dirty="0">
                <a:ea typeface="ＭＳ Ｐゴシック" pitchFamily="34" charset="-128"/>
              </a:rPr>
              <a:t>L</a:t>
            </a:r>
            <a:r>
              <a:rPr lang="en-US" altLang="en-US" kern="0" dirty="0">
                <a:ea typeface="ＭＳ Ｐゴシック" pitchFamily="34" charset="-128"/>
              </a:rPr>
              <a:t> – </a:t>
            </a:r>
            <a:r>
              <a:rPr lang="en-US" altLang="en-US" i="1" kern="0" dirty="0">
                <a:ea typeface="ＭＳ Ｐゴシック" pitchFamily="34" charset="-128"/>
              </a:rPr>
              <a:t>r</a:t>
            </a:r>
            <a:r>
              <a:rPr lang="en-US" altLang="en-US" kern="0" dirty="0">
                <a:ea typeface="ＭＳ Ｐゴシック" pitchFamily="34" charset="-128"/>
              </a:rPr>
              <a:t>*</a:t>
            </a:r>
            <a:r>
              <a:rPr lang="en-US" altLang="en-US" i="1" kern="0" dirty="0">
                <a:ea typeface="ＭＳ Ｐゴシック" pitchFamily="34" charset="-128"/>
              </a:rPr>
              <a:t>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47F99F-86BE-121E-EBAA-B756CC7AF15D}"/>
              </a:ext>
            </a:extLst>
          </p:cNvPr>
          <p:cNvSpPr txBox="1">
            <a:spLocks/>
          </p:cNvSpPr>
          <p:nvPr/>
        </p:nvSpPr>
        <p:spPr bwMode="auto">
          <a:xfrm>
            <a:off x="954987" y="4024637"/>
            <a:ext cx="1051768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Incremental cost: Extra cost from using one more unit of labor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Wage = 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272C90-6801-E70A-0922-5E78C0B82BBB}"/>
              </a:ext>
            </a:extLst>
          </p:cNvPr>
          <p:cNvSpPr txBox="1">
            <a:spLocks/>
          </p:cNvSpPr>
          <p:nvPr/>
        </p:nvSpPr>
        <p:spPr bwMode="auto">
          <a:xfrm>
            <a:off x="954987" y="5156905"/>
            <a:ext cx="1051768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Optimum where Incremental benefit (MB) = Incremental cost (MC)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P*MPL = w</a:t>
            </a:r>
          </a:p>
        </p:txBody>
      </p:sp>
    </p:spTree>
    <p:extLst>
      <p:ext uri="{BB962C8B-B14F-4D97-AF65-F5344CB8AC3E}">
        <p14:creationId xmlns:p14="http://schemas.microsoft.com/office/powerpoint/2010/main" val="126062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What does P*(</a:t>
            </a:r>
            <a:r>
              <a:rPr lang="en-US" altLang="en-US" b="0" i="1" dirty="0" err="1">
                <a:ea typeface="ＭＳ Ｐゴシック" pitchFamily="34" charset="-128"/>
              </a:rPr>
              <a:t>dQ</a:t>
            </a:r>
            <a:r>
              <a:rPr lang="en-US" altLang="en-US" b="0" i="1" dirty="0">
                <a:ea typeface="ＭＳ Ｐゴシック" pitchFamily="34" charset="-128"/>
              </a:rPr>
              <a:t>/dL</a:t>
            </a:r>
            <a:r>
              <a:rPr lang="en-US" altLang="en-US" b="0" dirty="0">
                <a:ea typeface="ＭＳ Ｐゴシック" pitchFamily="34" charset="-128"/>
              </a:rPr>
              <a:t>) = w mean?</a:t>
            </a:r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CF07F2F3-5217-465D-B744-3F8B07551E0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4F35BD-8C35-073F-40F6-834B6A064015}"/>
              </a:ext>
            </a:extLst>
          </p:cNvPr>
          <p:cNvGrpSpPr/>
          <p:nvPr/>
        </p:nvGrpSpPr>
        <p:grpSpPr>
          <a:xfrm>
            <a:off x="609600" y="2308046"/>
            <a:ext cx="10972800" cy="1348061"/>
            <a:chOff x="210311" y="2329257"/>
            <a:chExt cx="10972800" cy="1348061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999F8432-D589-8BA9-523A-17BDD3B7FDA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82943" y="2329257"/>
              <a:ext cx="9300168" cy="1348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Marginal Revenue Product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of labor (MRP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)</a:t>
              </a:r>
            </a:p>
            <a:p>
              <a:pPr lvl="1"/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Value of the Marginal Product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of labor (VMP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)</a:t>
              </a:r>
            </a:p>
            <a:p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Incremental revenue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created by hiring an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additional unit of labor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0EE9877-D33C-5526-B5D0-2D0BC601ABC1}"/>
                </a:ext>
              </a:extLst>
            </p:cNvPr>
            <p:cNvSpPr/>
            <p:nvPr/>
          </p:nvSpPr>
          <p:spPr>
            <a:xfrm>
              <a:off x="210311" y="2329257"/>
              <a:ext cx="1672632" cy="869271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i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P</a:t>
              </a:r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*</a:t>
              </a:r>
              <a:r>
                <a:rPr lang="en-US" altLang="en-US" sz="2400" b="1" dirty="0" err="1">
                  <a:solidFill>
                    <a:srgbClr val="C8C8C8"/>
                  </a:solidFill>
                  <a:latin typeface="Source Sans Pro" panose="020B0503030403020204" pitchFamily="34" charset="0"/>
                </a:rPr>
                <a:t>dQ</a:t>
              </a:r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/</a:t>
              </a:r>
              <a:r>
                <a:rPr lang="en-US" altLang="en-US" sz="2400" b="1" dirty="0" err="1">
                  <a:solidFill>
                    <a:srgbClr val="C8C8C8"/>
                  </a:solidFill>
                  <a:latin typeface="Source Sans Pro" panose="020B0503030403020204" pitchFamily="34" charset="0"/>
                </a:rPr>
                <a:t>dL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87E0F0D-6D25-AA04-9A73-44F52EA59C19}"/>
              </a:ext>
            </a:extLst>
          </p:cNvPr>
          <p:cNvGrpSpPr/>
          <p:nvPr/>
        </p:nvGrpSpPr>
        <p:grpSpPr>
          <a:xfrm>
            <a:off x="609600" y="3830294"/>
            <a:ext cx="10972800" cy="869271"/>
            <a:chOff x="210311" y="3670778"/>
            <a:chExt cx="10972800" cy="869271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3ED2D9B1-0149-B090-7449-3C0A7E7A4A3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82943" y="3670778"/>
              <a:ext cx="93001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Incremental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(or marginal)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cost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of an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additional unit of labor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085EEE7-824C-7A80-E97C-E0370A3911A2}"/>
                </a:ext>
              </a:extLst>
            </p:cNvPr>
            <p:cNvSpPr/>
            <p:nvPr/>
          </p:nvSpPr>
          <p:spPr>
            <a:xfrm>
              <a:off x="210311" y="3670778"/>
              <a:ext cx="1672632" cy="869271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i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w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0448D4-B4FA-4026-F766-C7C65F73E834}"/>
              </a:ext>
            </a:extLst>
          </p:cNvPr>
          <p:cNvGrpSpPr/>
          <p:nvPr/>
        </p:nvGrpSpPr>
        <p:grpSpPr>
          <a:xfrm>
            <a:off x="609600" y="1208587"/>
            <a:ext cx="10972800" cy="925272"/>
            <a:chOff x="210311" y="1090814"/>
            <a:chExt cx="10972800" cy="925272"/>
          </a:xfrm>
        </p:grpSpPr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B6F26AF6-34D3-9E96-25A0-8AA4DF9803F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82943" y="1111223"/>
              <a:ext cx="9300168" cy="90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How output changes as we add labor, holding capital constant at K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1</a:t>
              </a:r>
              <a:endPara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  <a:p>
              <a:pPr lvl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Marginal product of labor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F4FFD93-F0FB-C94D-D07D-33DA14546F9A}"/>
                </a:ext>
              </a:extLst>
            </p:cNvPr>
            <p:cNvSpPr/>
            <p:nvPr/>
          </p:nvSpPr>
          <p:spPr>
            <a:xfrm>
              <a:off x="210311" y="1090814"/>
              <a:ext cx="1672632" cy="869271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 err="1">
                  <a:solidFill>
                    <a:srgbClr val="C8C8C8"/>
                  </a:solidFill>
                  <a:latin typeface="Source Sans Pro" panose="020B0503030403020204" pitchFamily="34" charset="0"/>
                </a:rPr>
                <a:t>dQ</a:t>
              </a:r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/</a:t>
              </a:r>
              <a:r>
                <a:rPr lang="en-US" altLang="en-US" sz="2400" b="1" dirty="0" err="1">
                  <a:solidFill>
                    <a:srgbClr val="C8C8C8"/>
                  </a:solidFill>
                  <a:latin typeface="Source Sans Pro" panose="020B0503030403020204" pitchFamily="34" charset="0"/>
                </a:rPr>
                <a:t>dL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74A2C6-7229-26E2-53A4-F2C20F4F8A46}"/>
              </a:ext>
            </a:extLst>
          </p:cNvPr>
          <p:cNvGrpSpPr/>
          <p:nvPr/>
        </p:nvGrpSpPr>
        <p:grpSpPr>
          <a:xfrm>
            <a:off x="609600" y="4873751"/>
            <a:ext cx="10972800" cy="1274195"/>
            <a:chOff x="210311" y="4699478"/>
            <a:chExt cx="10972800" cy="1274195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19B7866-E796-A53D-BE12-9582D2787B10}"/>
                </a:ext>
              </a:extLst>
            </p:cNvPr>
            <p:cNvSpPr/>
            <p:nvPr/>
          </p:nvSpPr>
          <p:spPr>
            <a:xfrm>
              <a:off x="210311" y="4699478"/>
              <a:ext cx="1672632" cy="869271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Implication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27370919-33DB-69C8-FF53-46182E9A868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82943" y="4699478"/>
              <a:ext cx="9300168" cy="1274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Firm should hire additional workers as long as the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marginal revenue (benefit)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created by the worker is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greater than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the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marginal cost</a:t>
              </a:r>
            </a:p>
            <a:p>
              <a:pPr lvl="1"/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Benefit of the last worker hired should just equal her cost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381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Implications for business strategy</a:t>
            </a: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C957669-2456-4668-8BAB-C7518832FCD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9AEE8E-B1D2-FE9A-C750-DF92E73548C2}"/>
              </a:ext>
            </a:extLst>
          </p:cNvPr>
          <p:cNvSpPr txBox="1">
            <a:spLocks/>
          </p:cNvSpPr>
          <p:nvPr/>
        </p:nvSpPr>
        <p:spPr bwMode="auto">
          <a:xfrm>
            <a:off x="609600" y="1184349"/>
            <a:ext cx="10972799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defTabSz="457200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Profit maximizing firm will choose L such that </a:t>
            </a:r>
          </a:p>
          <a:p>
            <a:pPr marL="0" indent="0" algn="ctr" defTabSz="457200">
              <a:buNone/>
            </a:pP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*(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dQ</a:t>
            </a: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/</a:t>
            </a:r>
            <a:r>
              <a:rPr lang="en-US" altLang="en-US" sz="2400" b="1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dL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) = </a:t>
            </a: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w</a:t>
            </a:r>
          </a:p>
          <a:p>
            <a:pPr lvl="1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Or,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MRP</a:t>
            </a:r>
            <a:r>
              <a:rPr lang="en-US" altLang="en-US" sz="2400" b="1" kern="0" baseline="-25000" dirty="0">
                <a:latin typeface="Source Sans Pro" panose="020B0503030403020204" pitchFamily="34" charset="0"/>
                <a:ea typeface="ＭＳ Ｐゴシック" pitchFamily="34" charset="-128"/>
              </a:rPr>
              <a:t>L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= 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AE4B-8FC5-0B4F-77A6-C3AB0F89B9F5}"/>
              </a:ext>
            </a:extLst>
          </p:cNvPr>
          <p:cNvSpPr txBox="1">
            <a:spLocks/>
          </p:cNvSpPr>
          <p:nvPr/>
        </p:nvSpPr>
        <p:spPr bwMode="auto">
          <a:xfrm>
            <a:off x="609600" y="2595309"/>
            <a:ext cx="109727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Align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the firm’s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external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(product/service market) strategy with its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internal organizational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(human capital management) strategy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F3F3FF-3B95-BD37-D827-6C74DFFE8247}"/>
              </a:ext>
            </a:extLst>
          </p:cNvPr>
          <p:cNvSpPr txBox="1">
            <a:spLocks/>
          </p:cNvSpPr>
          <p:nvPr/>
        </p:nvSpPr>
        <p:spPr bwMode="auto">
          <a:xfrm>
            <a:off x="609600" y="3487570"/>
            <a:ext cx="10972799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Suppose firm wants to hire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high quality, high wage workers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, like MBAs</a:t>
            </a:r>
          </a:p>
          <a:p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When would this make sense? (Hint: Use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P*MPL(K</a:t>
            </a:r>
            <a:r>
              <a:rPr lang="en-US" altLang="en-US" sz="2400" b="1" kern="0" baseline="-25000" dirty="0">
                <a:latin typeface="Source Sans Pro" panose="020B0503030403020204" pitchFamily="34" charset="0"/>
                <a:ea typeface="ＭＳ Ｐゴシック" pitchFamily="34" charset="-128"/>
              </a:rPr>
              <a:t>1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) = w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21139E-5F3F-3AC0-142F-EF3049F5F3F3}"/>
              </a:ext>
            </a:extLst>
          </p:cNvPr>
          <p:cNvSpPr txBox="1">
            <a:spLocks/>
          </p:cNvSpPr>
          <p:nvPr/>
        </p:nvSpPr>
        <p:spPr bwMode="auto">
          <a:xfrm>
            <a:off x="609600" y="4452514"/>
            <a:ext cx="10972799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charge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high prices</a:t>
            </a:r>
          </a:p>
          <a:p>
            <a:pPr lvl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Has more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productive 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workers</a:t>
            </a:r>
          </a:p>
          <a:p>
            <a:pPr lvl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Uses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capital</a:t>
            </a:r>
            <a:endParaRPr lang="en-US" alt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Has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better production technology</a:t>
            </a:r>
            <a:endParaRPr lang="en-US" altLang="en-US" sz="24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50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Example 1:  Sam’</a:t>
            </a:r>
            <a:r>
              <a:rPr lang="en-US" altLang="ja-JP" b="0" dirty="0">
                <a:ea typeface="ＭＳ Ｐゴシック" pitchFamily="34" charset="-128"/>
              </a:rPr>
              <a:t>s Club vs. Costco</a:t>
            </a:r>
            <a:endParaRPr lang="en-US" altLang="en-US" b="0" dirty="0">
              <a:ea typeface="ＭＳ Ｐゴシック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" y="6534405"/>
            <a:ext cx="9592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</a:rPr>
              <a:t>Source: BusinessWeek, April 11, 2004, http://www.businessweek.com/stories/2004-04-11/graphic-how-costcos-high-wage-strategy-beats-wal-mart</a:t>
            </a:r>
          </a:p>
        </p:txBody>
      </p:sp>
      <p:sp>
        <p:nvSpPr>
          <p:cNvPr id="17" name="Slide Number Placeholder 4"/>
          <p:cNvSpPr txBox="1">
            <a:spLocks/>
          </p:cNvSpPr>
          <p:nvPr/>
        </p:nvSpPr>
        <p:spPr bwMode="auto">
          <a:xfrm>
            <a:off x="8737600" y="6395838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/>
            <a:fld id="{3C957669-2456-4668-8BAB-C7518832FCD5}" type="slidenum">
              <a:rPr lang="en-US" altLang="en-US" sz="1400" smtClean="0">
                <a:latin typeface="Source Sans Pro" panose="020B0503030403020204" pitchFamily="34" charset="0"/>
              </a:rPr>
              <a:pPr eaLnBrk="1" hangingPunct="1"/>
              <a:t>51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pic>
        <p:nvPicPr>
          <p:cNvPr id="22" name="Picture 2" descr="0415_76sociss.gif">
            <a:extLst>
              <a:ext uri="{FF2B5EF4-FFF2-40B4-BE49-F238E27FC236}">
                <a16:creationId xmlns:a16="http://schemas.microsoft.com/office/drawing/2014/main" id="{19E48873-6445-CB38-C8E9-D099052A3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63" y="902796"/>
            <a:ext cx="6458979" cy="5342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6E73EB51-9A2B-10F8-B248-FED3FEE02EA7}"/>
              </a:ext>
            </a:extLst>
          </p:cNvPr>
          <p:cNvSpPr/>
          <p:nvPr/>
        </p:nvSpPr>
        <p:spPr>
          <a:xfrm>
            <a:off x="8566128" y="1567228"/>
            <a:ext cx="3173588" cy="1039787"/>
          </a:xfrm>
          <a:prstGeom prst="wedgeRoundRectCallout">
            <a:avLst>
              <a:gd name="adj1" fmla="val -79777"/>
              <a:gd name="adj2" fmla="val 33670"/>
              <a:gd name="adj3" fmla="val 16667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75" lvl="1"/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Most workers don’t have health insurance</a:t>
            </a: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85084388-ED19-38E0-F88F-549023141665}"/>
              </a:ext>
            </a:extLst>
          </p:cNvPr>
          <p:cNvSpPr/>
          <p:nvPr/>
        </p:nvSpPr>
        <p:spPr>
          <a:xfrm>
            <a:off x="8566128" y="2855557"/>
            <a:ext cx="3173588" cy="1039787"/>
          </a:xfrm>
          <a:prstGeom prst="wedgeRoundRectCallout">
            <a:avLst>
              <a:gd name="adj1" fmla="val -73139"/>
              <a:gd name="adj2" fmla="val -35665"/>
              <a:gd name="adj3" fmla="val 16667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75" lvl="1"/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Many workers with no 401(k)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83337D7-02C6-8813-63F9-2DE5268C8422}"/>
              </a:ext>
            </a:extLst>
          </p:cNvPr>
          <p:cNvSpPr/>
          <p:nvPr/>
        </p:nvSpPr>
        <p:spPr>
          <a:xfrm>
            <a:off x="6204854" y="1502228"/>
            <a:ext cx="2219488" cy="4126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CDF583-EDDC-3FB5-A696-E76D86F896AA}"/>
              </a:ext>
            </a:extLst>
          </p:cNvPr>
          <p:cNvGrpSpPr/>
          <p:nvPr/>
        </p:nvGrpSpPr>
        <p:grpSpPr>
          <a:xfrm>
            <a:off x="9301383" y="4529775"/>
            <a:ext cx="1850508" cy="1521994"/>
            <a:chOff x="7042128" y="4729955"/>
            <a:chExt cx="1850508" cy="152199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732639C-66DE-C52B-70F0-CA429FC872A7}"/>
                </a:ext>
              </a:extLst>
            </p:cNvPr>
            <p:cNvGrpSpPr/>
            <p:nvPr/>
          </p:nvGrpSpPr>
          <p:grpSpPr>
            <a:xfrm>
              <a:off x="7042128" y="4729955"/>
              <a:ext cx="1850508" cy="1521994"/>
              <a:chOff x="5301915" y="5765718"/>
              <a:chExt cx="2229853" cy="808122"/>
            </a:xfrm>
          </p:grpSpPr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EF8F8A58-A3C6-526B-AC03-0DF7776C139C}"/>
                  </a:ext>
                </a:extLst>
              </p:cNvPr>
              <p:cNvSpPr/>
              <p:nvPr/>
            </p:nvSpPr>
            <p:spPr>
              <a:xfrm>
                <a:off x="5301915" y="5900128"/>
                <a:ext cx="2229853" cy="53764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11DA04B-0610-8B5A-6EA0-B99110AED8EB}"/>
                  </a:ext>
                </a:extLst>
              </p:cNvPr>
              <p:cNvSpPr/>
              <p:nvPr/>
            </p:nvSpPr>
            <p:spPr>
              <a:xfrm>
                <a:off x="5301915" y="5765718"/>
                <a:ext cx="2229853" cy="403230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C667713-8D17-4E8D-7F3C-564E4BD0976E}"/>
                  </a:ext>
                </a:extLst>
              </p:cNvPr>
              <p:cNvSpPr/>
              <p:nvPr/>
            </p:nvSpPr>
            <p:spPr>
              <a:xfrm>
                <a:off x="5301915" y="6170610"/>
                <a:ext cx="2229853" cy="403230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A1ABAD-B90E-D6D8-0786-E8AF2CB3E8D5}"/>
                </a:ext>
              </a:extLst>
            </p:cNvPr>
            <p:cNvSpPr txBox="1"/>
            <p:nvPr/>
          </p:nvSpPr>
          <p:spPr>
            <a:xfrm>
              <a:off x="7042128" y="4890788"/>
              <a:ext cx="18505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Source Sans Pro" panose="020B0503030403020204" pitchFamily="34" charset="0"/>
                </a:rPr>
                <a:t>How can Costco survive?</a:t>
              </a:r>
            </a:p>
          </p:txBody>
        </p:sp>
      </p:grpSp>
      <p:sp>
        <p:nvSpPr>
          <p:cNvPr id="2" name="5-Point Star 1">
            <a:extLst>
              <a:ext uri="{FF2B5EF4-FFF2-40B4-BE49-F238E27FC236}">
                <a16:creationId xmlns:a16="http://schemas.microsoft.com/office/drawing/2014/main" id="{A28E687D-2F51-24C8-EF9D-3D208458D98D}"/>
              </a:ext>
            </a:extLst>
          </p:cNvPr>
          <p:cNvSpPr/>
          <p:nvPr/>
        </p:nvSpPr>
        <p:spPr>
          <a:xfrm>
            <a:off x="12577864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4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Sam’</a:t>
            </a:r>
            <a:r>
              <a:rPr lang="en-US" altLang="ja-JP" b="0" dirty="0">
                <a:ea typeface="ＭＳ Ｐゴシック" pitchFamily="34" charset="-128"/>
              </a:rPr>
              <a:t>s Club </a:t>
            </a:r>
            <a:r>
              <a:rPr lang="en-US" altLang="en-US" b="0" dirty="0">
                <a:ea typeface="ＭＳ Ｐゴシック" pitchFamily="34" charset="-128"/>
              </a:rPr>
              <a:t>vs. Costco takeaways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C2F0C2E-A396-4466-9316-86F9CE411DC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DAFCA8-071D-1122-F050-DE6BC0858E07}"/>
              </a:ext>
            </a:extLst>
          </p:cNvPr>
          <p:cNvGrpSpPr/>
          <p:nvPr/>
        </p:nvGrpSpPr>
        <p:grpSpPr>
          <a:xfrm>
            <a:off x="481042" y="2566988"/>
            <a:ext cx="11288907" cy="830997"/>
            <a:chOff x="-102748" y="2072901"/>
            <a:chExt cx="11288907" cy="83099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CE3314-C9E8-1840-1B17-D033CC72075A}"/>
                </a:ext>
              </a:extLst>
            </p:cNvPr>
            <p:cNvSpPr/>
            <p:nvPr/>
          </p:nvSpPr>
          <p:spPr>
            <a:xfrm>
              <a:off x="-102748" y="2072901"/>
              <a:ext cx="2584695" cy="713305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Alignment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A9EC0761-9C2D-F4F4-684E-B0B397EB926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47263" y="2072901"/>
              <a:ext cx="863889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336042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400" kern="0" dirty="0">
                  <a:latin typeface="Source Sans Pro" panose="020B0503030403020204" pitchFamily="34" charset="0"/>
                </a:rPr>
                <a:t>Organizational (HR) strategy must be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aligned </a:t>
              </a:r>
              <a:r>
                <a:rPr lang="en-US" sz="2400" kern="0" dirty="0">
                  <a:latin typeface="Source Sans Pro" panose="020B0503030403020204" pitchFamily="34" charset="0"/>
                </a:rPr>
                <a:t>with product market strategy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4339EF-F367-4EFE-C194-91216346BB5F}"/>
              </a:ext>
            </a:extLst>
          </p:cNvPr>
          <p:cNvGrpSpPr/>
          <p:nvPr/>
        </p:nvGrpSpPr>
        <p:grpSpPr>
          <a:xfrm>
            <a:off x="481042" y="3645244"/>
            <a:ext cx="11288907" cy="2456057"/>
            <a:chOff x="-102748" y="3527827"/>
            <a:chExt cx="11288907" cy="2456057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F588DD6-8BBF-68AB-1EDC-856765261A2F}"/>
                </a:ext>
              </a:extLst>
            </p:cNvPr>
            <p:cNvSpPr/>
            <p:nvPr/>
          </p:nvSpPr>
          <p:spPr>
            <a:xfrm>
              <a:off x="-102748" y="3527827"/>
              <a:ext cx="2584696" cy="713305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Complementarity</a:t>
              </a:r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0D92E9F2-D119-4CE2-2E0F-7A78FF33856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47263" y="3527827"/>
              <a:ext cx="8638896" cy="24560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336042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400" b="1" kern="0" dirty="0">
                  <a:latin typeface="Source Sans Pro" panose="020B0503030403020204" pitchFamily="34" charset="0"/>
                </a:rPr>
                <a:t>Interactions </a:t>
              </a:r>
              <a:r>
                <a:rPr lang="en-US" sz="2400" kern="0" dirty="0">
                  <a:latin typeface="Source Sans Pro" panose="020B0503030403020204" pitchFamily="34" charset="0"/>
                </a:rPr>
                <a:t>between different choices (strategic, HR, supply chain, etc.) affect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overall performance</a:t>
              </a:r>
            </a:p>
            <a:p>
              <a:pPr marL="336042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400" b="1" kern="0" dirty="0">
                  <a:latin typeface="Source Sans Pro" panose="020B0503030403020204" pitchFamily="34" charset="0"/>
                </a:rPr>
                <a:t>Doing more </a:t>
              </a:r>
              <a:r>
                <a:rPr lang="en-US" sz="2400" kern="0" dirty="0">
                  <a:latin typeface="Source Sans Pro" panose="020B0503030403020204" pitchFamily="34" charset="0"/>
                </a:rPr>
                <a:t>of one choice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increases the returns </a:t>
              </a:r>
              <a:r>
                <a:rPr lang="en-US" sz="2400" kern="0" dirty="0">
                  <a:latin typeface="Source Sans Pro" panose="020B0503030403020204" pitchFamily="34" charset="0"/>
                </a:rPr>
                <a:t>to doing more of another choice</a:t>
              </a:r>
            </a:p>
            <a:p>
              <a:pPr marL="336042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400" b="1" kern="0" dirty="0">
                  <a:latin typeface="Source Sans Pro" panose="020B0503030403020204" pitchFamily="34" charset="0"/>
                </a:rPr>
                <a:t>Clear patterns </a:t>
              </a:r>
              <a:r>
                <a:rPr lang="en-US" sz="2400" kern="0" dirty="0">
                  <a:latin typeface="Source Sans Pro" panose="020B0503030403020204" pitchFamily="34" charset="0"/>
                </a:rPr>
                <a:t>of strategic and organizational practices that increase value when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done together</a:t>
              </a:r>
              <a:endParaRPr lang="en-US" sz="2400" kern="0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1F72AE-DB16-5C60-1C90-E7DA7D12F143}"/>
              </a:ext>
            </a:extLst>
          </p:cNvPr>
          <p:cNvGrpSpPr/>
          <p:nvPr/>
        </p:nvGrpSpPr>
        <p:grpSpPr>
          <a:xfrm>
            <a:off x="481042" y="1488731"/>
            <a:ext cx="11288907" cy="830997"/>
            <a:chOff x="-102748" y="1132114"/>
            <a:chExt cx="11288907" cy="830997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4F85DC7E-E216-7260-F8B5-0300C60FC419}"/>
                </a:ext>
              </a:extLst>
            </p:cNvPr>
            <p:cNvSpPr/>
            <p:nvPr/>
          </p:nvSpPr>
          <p:spPr>
            <a:xfrm>
              <a:off x="-102748" y="1132114"/>
              <a:ext cx="2584696" cy="713305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Heterogeneity</a:t>
              </a:r>
            </a:p>
          </p:txBody>
        </p: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89D90B7F-A6C8-B192-14FD-3AFD256563A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47263" y="1132114"/>
              <a:ext cx="863889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336042" fontAlgn="auto">
                <a:spcAft>
                  <a:spcPts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2400" kern="0" dirty="0">
                  <a:latin typeface="Source Sans Pro" panose="020B0503030403020204" pitchFamily="34" charset="0"/>
                </a:rPr>
                <a:t>Firms in same industry may have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very different business </a:t>
              </a:r>
              <a:r>
                <a:rPr lang="en-US" sz="2400" kern="0" dirty="0">
                  <a:latin typeface="Source Sans Pro" panose="020B0503030403020204" pitchFamily="34" charset="0"/>
                </a:rPr>
                <a:t>and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organizational </a:t>
              </a:r>
              <a:r>
                <a:rPr lang="en-US" sz="2400" kern="0" dirty="0">
                  <a:latin typeface="Source Sans Pro" panose="020B0503030403020204" pitchFamily="34" charset="0"/>
                </a:rPr>
                <a:t>strategies</a:t>
              </a:r>
            </a:p>
          </p:txBody>
        </p:sp>
      </p:grpSp>
      <p:sp>
        <p:nvSpPr>
          <p:cNvPr id="2" name="5-Point Star 1">
            <a:extLst>
              <a:ext uri="{FF2B5EF4-FFF2-40B4-BE49-F238E27FC236}">
                <a16:creationId xmlns:a16="http://schemas.microsoft.com/office/drawing/2014/main" id="{6DFED935-0A2C-564D-0278-ADFA51386E4F}"/>
              </a:ext>
            </a:extLst>
          </p:cNvPr>
          <p:cNvSpPr/>
          <p:nvPr/>
        </p:nvSpPr>
        <p:spPr>
          <a:xfrm>
            <a:off x="12509770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781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Illustrating costs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C2F0C2E-A396-4466-9316-86F9CE411DC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FAF6BE0F-32DB-16F0-6CA3-22AFD2D6CE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7064" y="2368550"/>
            <a:ext cx="0" cy="3206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EF022473-CA83-C6D9-6F8A-5F7F420CA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93889" y="5583238"/>
            <a:ext cx="4043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757BF55-C0C4-8CBE-E167-FD3DDE4D7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7065" y="3548063"/>
            <a:ext cx="3316287" cy="2036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93CE952-C8C1-2A9D-91AE-BB008CEF4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751" y="223678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0A751011-5836-DB36-3ABE-B531B9BFA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076" y="556260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71DE41AB-1CAD-95B3-BA0A-1EA92A33E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664" y="5572125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20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0FB33D83-1988-9DB9-59A0-979040452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701" y="334486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CD0B72C7-8EC9-431E-CB82-9E11A1FE5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5977" y="4732801"/>
            <a:ext cx="341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81716598-6719-BE10-4725-3F8B77F9E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9832" y="4545477"/>
            <a:ext cx="0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715BB3F2-C86C-FA45-2D98-8CDC9DC0E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500" y="4409586"/>
            <a:ext cx="7223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-1/2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0D28FAB0-8C06-AF80-9190-A9B236089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275" y="2533651"/>
            <a:ext cx="5316974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Characteristics of </a:t>
            </a:r>
            <a:r>
              <a:rPr lang="en-US" altLang="en-US" sz="2400" dirty="0" err="1">
                <a:latin typeface="Source Sans Pro" panose="020B0503030403020204" pitchFamily="34" charset="0"/>
              </a:rPr>
              <a:t>isocost</a:t>
            </a:r>
            <a:r>
              <a:rPr lang="en-US" altLang="en-US" sz="2400" dirty="0">
                <a:latin typeface="Source Sans Pro" panose="020B0503030403020204" pitchFamily="34" charset="0"/>
              </a:rPr>
              <a:t> lines: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1" dirty="0">
                <a:latin typeface="Source Sans Pro" panose="020B0503030403020204" pitchFamily="34" charset="0"/>
              </a:rPr>
              <a:t>Horizontal </a:t>
            </a:r>
            <a:r>
              <a:rPr lang="en-US" altLang="en-US" sz="2400" dirty="0">
                <a:latin typeface="Source Sans Pro" panose="020B0503030403020204" pitchFamily="34" charset="0"/>
              </a:rPr>
              <a:t>intercept is C/w (100/5)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1" dirty="0">
                <a:latin typeface="Source Sans Pro" panose="020B0503030403020204" pitchFamily="34" charset="0"/>
              </a:rPr>
              <a:t>Vertical </a:t>
            </a:r>
            <a:r>
              <a:rPr lang="en-US" altLang="en-US" sz="2400" dirty="0">
                <a:latin typeface="Source Sans Pro" panose="020B0503030403020204" pitchFamily="34" charset="0"/>
              </a:rPr>
              <a:t>intercept is C/r (100/10)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b="1" dirty="0">
                <a:latin typeface="Source Sans Pro" panose="020B0503030403020204" pitchFamily="34" charset="0"/>
              </a:rPr>
              <a:t>Slope </a:t>
            </a:r>
            <a:r>
              <a:rPr lang="en-US" altLang="en-US" sz="2400" dirty="0">
                <a:latin typeface="Source Sans Pro" panose="020B0503030403020204" pitchFamily="34" charset="0"/>
              </a:rPr>
              <a:t>is –(w/r)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F41B276-6337-1733-3DF4-F0B76A066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4" y="1135519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Sample </a:t>
            </a:r>
            <a:r>
              <a:rPr lang="en-US" altLang="en-US" kern="0" dirty="0" err="1">
                <a:ea typeface="ＭＳ Ｐゴシック" pitchFamily="34" charset="-128"/>
              </a:rPr>
              <a:t>isocost</a:t>
            </a:r>
            <a:r>
              <a:rPr lang="en-US" altLang="en-US" kern="0" dirty="0">
                <a:ea typeface="ＭＳ Ｐゴシック" pitchFamily="34" charset="-128"/>
              </a:rPr>
              <a:t>: 100 = 5L + 10K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9092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Illustrating costs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DE5ADC0-9EE0-4B83-B811-BFE6944BF16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E8FF11B1-EFF9-FE3E-D2BD-23A25EB77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655" y="2100263"/>
            <a:ext cx="0" cy="3206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41FECABD-24FF-2A1C-B2C7-C962D2CDAD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1480" y="5307013"/>
            <a:ext cx="4043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1CE64AD7-DFD1-C422-D799-F2FD01E3F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656" y="3271838"/>
            <a:ext cx="3316287" cy="2036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C34EB63-532A-AC1C-D483-FD0E4424A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18" y="171864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089063F8-0B7F-C310-4E95-9FBC85F70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667" y="5311109"/>
            <a:ext cx="3590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28151963-D706-62CD-D08F-25A0C1350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255" y="531110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20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A07EF19F-F348-FD81-C7C6-D9F3D6EC4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3" y="307975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D003CA1B-70EA-A805-6DC9-F454E570E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299" y="1873251"/>
            <a:ext cx="5644557" cy="4191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indent="0"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dirty="0">
                <a:latin typeface="Source Sans Pro" panose="020B0503030403020204" pitchFamily="34" charset="0"/>
              </a:rPr>
              <a:t>Initial </a:t>
            </a:r>
            <a:r>
              <a:rPr lang="en-US" altLang="en-US" sz="2400" dirty="0" err="1">
                <a:latin typeface="Source Sans Pro" panose="020B0503030403020204" pitchFamily="34" charset="0"/>
              </a:rPr>
              <a:t>isocost</a:t>
            </a:r>
            <a:r>
              <a:rPr lang="en-US" altLang="en-US" sz="2400" dirty="0">
                <a:latin typeface="Source Sans Pro" panose="020B0503030403020204" pitchFamily="34" charset="0"/>
              </a:rPr>
              <a:t>: 100 = 5L + 10K</a:t>
            </a:r>
          </a:p>
          <a:p>
            <a:pPr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dirty="0">
                <a:latin typeface="Source Sans Pro" panose="020B0503030403020204" pitchFamily="34" charset="0"/>
              </a:rPr>
              <a:t>Sample initial (L,K) = (10,5)</a:t>
            </a:r>
          </a:p>
          <a:p>
            <a:pPr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u="sng" dirty="0">
                <a:solidFill>
                  <a:srgbClr val="005F85"/>
                </a:solidFill>
                <a:latin typeface="Source Sans Pro" panose="020B0503030403020204" pitchFamily="34" charset="0"/>
              </a:rPr>
              <a:t>Change #1:</a:t>
            </a:r>
          </a:p>
          <a:p>
            <a:pPr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New price of labor = 10</a:t>
            </a:r>
          </a:p>
          <a:p>
            <a:pPr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		100 = 10L + 10K</a:t>
            </a:r>
          </a:p>
          <a:p>
            <a:pPr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u="sng" dirty="0">
                <a:solidFill>
                  <a:srgbClr val="789B4A"/>
                </a:solidFill>
                <a:latin typeface="Source Sans Pro" panose="020B0503030403020204" pitchFamily="34" charset="0"/>
              </a:rPr>
              <a:t>Change #2:</a:t>
            </a:r>
          </a:p>
          <a:p>
            <a:pPr marL="0" indent="0"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Increase spending (to $150) so that can buy (L,K) = (10,5) again</a:t>
            </a:r>
          </a:p>
          <a:p>
            <a:pPr marL="0" indent="0" eaLnBrk="1" hangingPunct="1">
              <a:spcBef>
                <a:spcPct val="15000"/>
              </a:spcBef>
              <a:spcAft>
                <a:spcPct val="15000"/>
              </a:spcAft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	150 = 10L + 10K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0BDA68F8-0B9B-A3CF-E68D-162043089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7080" y="42418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84625886-BDB1-5284-6AB9-A4294388B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6717" y="4297363"/>
            <a:ext cx="1663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D2A2D1A5-49A4-A9B8-2244-54EEFCB0EF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08830" y="4295775"/>
            <a:ext cx="0" cy="9921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121EB17B-E1C2-E12A-52FD-11EE25E80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3" y="411321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5</a:t>
            </a: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15BC32F5-37D8-F8F8-3655-FC2EABE19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817" y="531110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0877C54D-97B2-8DBA-51DE-60C679CB8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46718" y="3271839"/>
            <a:ext cx="1666875" cy="2035175"/>
          </a:xfrm>
          <a:prstGeom prst="line">
            <a:avLst/>
          </a:prstGeom>
          <a:noFill/>
          <a:ln w="19050">
            <a:solidFill>
              <a:srgbClr val="005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6D03D099-5CCD-DD52-C44F-C56A830E2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2593" y="2311401"/>
            <a:ext cx="2505075" cy="2995613"/>
          </a:xfrm>
          <a:prstGeom prst="line">
            <a:avLst/>
          </a:prstGeom>
          <a:noFill/>
          <a:ln w="190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B8DC3F84-6120-2CC6-6796-C136B3678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355" y="531110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15</a:t>
            </a: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3E9A042C-E712-30B7-2E9E-BEE14EB6E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3" y="212725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15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833E2682-60B8-159B-4542-F79706A55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43" y="1061594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kern="0">
                <a:ea typeface="ＭＳ Ｐゴシック" pitchFamily="34" charset="-128"/>
              </a:rPr>
              <a:t>What happens when </a:t>
            </a:r>
            <a:r>
              <a:rPr lang="en-US" altLang="en-US" b="1" kern="0">
                <a:ea typeface="ＭＳ Ｐゴシック" pitchFamily="34" charset="-128"/>
              </a:rPr>
              <a:t>prices</a:t>
            </a:r>
            <a:r>
              <a:rPr lang="en-US" altLang="en-US" kern="0">
                <a:ea typeface="ＭＳ Ｐゴシック" pitchFamily="34" charset="-128"/>
              </a:rPr>
              <a:t> or </a:t>
            </a:r>
            <a:r>
              <a:rPr lang="en-US" altLang="en-US" b="1" kern="0">
                <a:ea typeface="ＭＳ Ｐゴシック" pitchFamily="34" charset="-128"/>
              </a:rPr>
              <a:t>total expenditures change</a:t>
            </a:r>
            <a:r>
              <a:rPr lang="en-US" altLang="en-US" kern="0">
                <a:ea typeface="ＭＳ Ｐゴシック" pitchFamily="34" charset="-128"/>
              </a:rPr>
              <a:t>?</a:t>
            </a:r>
            <a:endParaRPr lang="en-US" altLang="en-US" kern="0" dirty="0">
              <a:ea typeface="ＭＳ Ｐゴシック" pitchFamily="34" charset="-128"/>
            </a:endParaRPr>
          </a:p>
        </p:txBody>
      </p:sp>
      <p:sp>
        <p:nvSpPr>
          <p:cNvPr id="20" name="5-Point Star 19">
            <a:extLst>
              <a:ext uri="{FF2B5EF4-FFF2-40B4-BE49-F238E27FC236}">
                <a16:creationId xmlns:a16="http://schemas.microsoft.com/office/drawing/2014/main" id="{02F957F6-41C6-E4C3-4B79-0A2D4191109E}"/>
              </a:ext>
            </a:extLst>
          </p:cNvPr>
          <p:cNvSpPr/>
          <p:nvPr/>
        </p:nvSpPr>
        <p:spPr>
          <a:xfrm>
            <a:off x="1278775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4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Short-run cost minimization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2D8EFD2-A305-498C-A7B3-650E3FA9546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F7F58C7F-437E-9E56-1AB6-251909B12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4780" y="2847975"/>
            <a:ext cx="0" cy="294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C10561CB-D9AA-8B43-E440-15DC39DD11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1606" y="5783263"/>
            <a:ext cx="4043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9043320D-CB23-5E34-D477-ED052F2A3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355" y="2727325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B772BDFB-3C6C-D7B1-A3A5-B4F5FA03A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3694" y="5584825"/>
            <a:ext cx="314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9A3B5842-438C-EFF5-219E-6403FA1F9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9643" y="402113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9E997A9F-4349-BDAF-CC85-2B2320F8F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697" y="2876801"/>
            <a:ext cx="4428238" cy="356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4950" indent="-2349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400" u="sng" dirty="0">
                <a:latin typeface="Source Sans Pro" panose="020B0503030403020204" pitchFamily="34" charset="0"/>
              </a:rPr>
              <a:t>What is your best choice of L?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No real choice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For Q = 50, choose L = 5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400" dirty="0">
              <a:solidFill>
                <a:schemeClr val="accent2"/>
              </a:solidFill>
              <a:latin typeface="Source Sans Pro" panose="020B0503030403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Suppose w = 5 and r = 10</a:t>
            </a:r>
          </a:p>
          <a:p>
            <a:pPr marL="0" indent="0" eaLnBrk="1" hangingPunct="1">
              <a:spcBef>
                <a:spcPct val="20000"/>
              </a:spcBef>
            </a:pPr>
            <a:r>
              <a:rPr lang="en-US" altLang="en-US" sz="2400" u="sng" dirty="0">
                <a:solidFill>
                  <a:srgbClr val="005F85"/>
                </a:solidFill>
                <a:latin typeface="Source Sans Pro" panose="020B0503030403020204" pitchFamily="34" charset="0"/>
              </a:rPr>
              <a:t>Cost of L = 5 and K = 10?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C = </a:t>
            </a:r>
            <a:r>
              <a:rPr lang="en-US" altLang="en-US" sz="2400" dirty="0" err="1">
                <a:solidFill>
                  <a:srgbClr val="005F85"/>
                </a:solidFill>
                <a:latin typeface="Source Sans Pro" panose="020B0503030403020204" pitchFamily="34" charset="0"/>
              </a:rPr>
              <a:t>wL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 + </a:t>
            </a:r>
            <a:r>
              <a:rPr lang="en-US" altLang="en-US" sz="2400" dirty="0" err="1">
                <a:solidFill>
                  <a:srgbClr val="005F85"/>
                </a:solidFill>
                <a:latin typeface="Source Sans Pro" panose="020B0503030403020204" pitchFamily="34" charset="0"/>
              </a:rPr>
              <a:t>rK</a:t>
            </a:r>
            <a:endParaRPr lang="en-US" altLang="en-US" sz="2400" dirty="0">
              <a:solidFill>
                <a:srgbClr val="005F85"/>
              </a:solidFill>
              <a:latin typeface="Source Sans Pro" panose="020B0503030403020204" pitchFamily="34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C = 5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  <a:sym typeface="Symbol" pitchFamily="18" charset="2"/>
              </a:rPr>
              <a:t>*5 + 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10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  <a:sym typeface="Symbol" pitchFamily="18" charset="2"/>
              </a:rPr>
              <a:t>*10 = $125</a:t>
            </a:r>
            <a:endParaRPr lang="en-US" altLang="en-US" sz="2400" dirty="0">
              <a:solidFill>
                <a:srgbClr val="005F85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Arc 10">
            <a:extLst>
              <a:ext uri="{FF2B5EF4-FFF2-40B4-BE49-F238E27FC236}">
                <a16:creationId xmlns:a16="http://schemas.microsoft.com/office/drawing/2014/main" id="{BF4472F5-F8D1-6BE1-8F85-8FA9116A1C19}"/>
              </a:ext>
            </a:extLst>
          </p:cNvPr>
          <p:cNvSpPr>
            <a:spLocks/>
          </p:cNvSpPr>
          <p:nvPr/>
        </p:nvSpPr>
        <p:spPr bwMode="auto">
          <a:xfrm rot="10800000">
            <a:off x="2130056" y="3019426"/>
            <a:ext cx="3243263" cy="2562225"/>
          </a:xfrm>
          <a:custGeom>
            <a:avLst/>
            <a:gdLst>
              <a:gd name="T0" fmla="*/ 2147483647 w 21579"/>
              <a:gd name="T1" fmla="*/ 0 h 21567"/>
              <a:gd name="T2" fmla="*/ 2147483647 w 21579"/>
              <a:gd name="T3" fmla="*/ 2147483647 h 21567"/>
              <a:gd name="T4" fmla="*/ 0 w 21579"/>
              <a:gd name="T5" fmla="*/ 2147483647 h 21567"/>
              <a:gd name="T6" fmla="*/ 0 60000 65536"/>
              <a:gd name="T7" fmla="*/ 0 60000 65536"/>
              <a:gd name="T8" fmla="*/ 0 60000 65536"/>
              <a:gd name="T9" fmla="*/ 0 w 21579"/>
              <a:gd name="T10" fmla="*/ 0 h 21567"/>
              <a:gd name="T11" fmla="*/ 21579 w 21579"/>
              <a:gd name="T12" fmla="*/ 21567 h 215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9" h="21567" fill="none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</a:path>
              <a:path w="21579" h="21567" stroke="0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  <a:lnTo>
                  <a:pt x="0" y="21567"/>
                </a:lnTo>
                <a:lnTo>
                  <a:pt x="1198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43F2D23A-F5A2-D78A-3545-A7D4B6FA6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343" y="3087689"/>
            <a:ext cx="1217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Q = 50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65C3758F-3EAC-DADA-91DF-238D61693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0019" y="4210050"/>
            <a:ext cx="20526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B7209868-4979-3D76-2B69-4DF990063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380" y="415766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856C91D5-B0D8-E008-4C92-585023003C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0019" y="3813175"/>
            <a:ext cx="3335337" cy="1963738"/>
          </a:xfrm>
          <a:prstGeom prst="line">
            <a:avLst/>
          </a:prstGeom>
          <a:noFill/>
          <a:ln w="19050">
            <a:solidFill>
              <a:srgbClr val="005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52C680D7-BDD9-DF5B-E4A6-8D6AC8B3EA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1719" y="4587876"/>
            <a:ext cx="388937" cy="396875"/>
          </a:xfrm>
          <a:prstGeom prst="line">
            <a:avLst/>
          </a:prstGeom>
          <a:noFill/>
          <a:ln w="9525">
            <a:solidFill>
              <a:srgbClr val="005F8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87B9D98C-210D-645F-6141-614021627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3167" y="4185061"/>
            <a:ext cx="1246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C = $125</a:t>
            </a:r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48401718-C8B9-DC43-3116-C5F74F179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0418" y="4206876"/>
            <a:ext cx="0" cy="15732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ED368373-ACF1-856F-9B3E-BA788FB2E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193" y="577056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69489C-B536-FE79-0159-48A07369AE55}"/>
              </a:ext>
            </a:extLst>
          </p:cNvPr>
          <p:cNvGrpSpPr/>
          <p:nvPr/>
        </p:nvGrpSpPr>
        <p:grpSpPr>
          <a:xfrm>
            <a:off x="1582994" y="944206"/>
            <a:ext cx="9085006" cy="1543766"/>
            <a:chOff x="806815" y="944206"/>
            <a:chExt cx="5894774" cy="1543766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911B1E0-B968-BF46-91FA-C8DAF75A4377}"/>
                </a:ext>
              </a:extLst>
            </p:cNvPr>
            <p:cNvSpPr/>
            <p:nvPr/>
          </p:nvSpPr>
          <p:spPr>
            <a:xfrm>
              <a:off x="806815" y="1208236"/>
              <a:ext cx="5894774" cy="101257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A6801B8-5FD0-8CA7-895C-22AF26AA5A2A}"/>
                </a:ext>
              </a:extLst>
            </p:cNvPr>
            <p:cNvSpPr/>
            <p:nvPr/>
          </p:nvSpPr>
          <p:spPr>
            <a:xfrm>
              <a:off x="806815" y="944206"/>
              <a:ext cx="5894774" cy="759432"/>
            </a:xfrm>
            <a:prstGeom prst="ellipse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9F3615F-B07B-1D01-248C-566C713A8D49}"/>
                </a:ext>
              </a:extLst>
            </p:cNvPr>
            <p:cNvSpPr/>
            <p:nvPr/>
          </p:nvSpPr>
          <p:spPr>
            <a:xfrm>
              <a:off x="806815" y="1728540"/>
              <a:ext cx="5894774" cy="759432"/>
            </a:xfrm>
            <a:prstGeom prst="ellipse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4C1B417-6C1F-A295-CA6E-55BE8A6C0D1F}"/>
              </a:ext>
            </a:extLst>
          </p:cNvPr>
          <p:cNvSpPr txBox="1"/>
          <p:nvPr/>
        </p:nvSpPr>
        <p:spPr>
          <a:xfrm>
            <a:off x="2601805" y="1129117"/>
            <a:ext cx="7047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Your firm has the production function Q = LK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Capital (K) is fixed at 10 units in the short run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You are asked to produce 50 units of output</a:t>
            </a:r>
          </a:p>
        </p:txBody>
      </p:sp>
    </p:spTree>
    <p:extLst>
      <p:ext uri="{BB962C8B-B14F-4D97-AF65-F5344CB8AC3E}">
        <p14:creationId xmlns:p14="http://schemas.microsoft.com/office/powerpoint/2010/main" val="300363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Lessons on short-run costs</a:t>
            </a: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7011992-3BFA-4F99-9028-D271ED60446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2BC8CB-2688-3FF2-9433-CD62A583B9CA}"/>
              </a:ext>
            </a:extLst>
          </p:cNvPr>
          <p:cNvSpPr/>
          <p:nvPr/>
        </p:nvSpPr>
        <p:spPr>
          <a:xfrm>
            <a:off x="782463" y="3049600"/>
            <a:ext cx="2044798" cy="1141044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Input prices</a:t>
            </a:r>
            <a:endParaRPr lang="en-US" sz="28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DF71EC0-AA83-D876-DD46-B00380FC0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420" y="3043584"/>
            <a:ext cx="8320076" cy="196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No role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in selection of L and K to achieve the production goal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Once firm can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input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we should expect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optimal choices 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reflect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input prices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56B8B1-AA92-4A85-C3FB-2AF0584B0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420" y="1291768"/>
            <a:ext cx="832007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Constraints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in one area (i.e., capital) lead to implicit constraints in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other areas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(i.e., labor)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2D3536-C6F4-3FAB-9A83-E7F066EE9D15}"/>
              </a:ext>
            </a:extLst>
          </p:cNvPr>
          <p:cNvSpPr/>
          <p:nvPr/>
        </p:nvSpPr>
        <p:spPr>
          <a:xfrm>
            <a:off x="782463" y="1291768"/>
            <a:ext cx="2044798" cy="1141044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Constraints</a:t>
            </a:r>
            <a:endParaRPr lang="en-US" sz="28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2158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b="0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57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Describing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Short-term costs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F6AD3-AE1C-12C6-09D8-96210601A6FC}"/>
              </a:ext>
            </a:extLst>
          </p:cNvPr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Long-term costs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DE81F-F0DB-1AB1-2F1F-DFE38FF4DFC0}"/>
              </a:ext>
            </a:extLst>
          </p:cNvPr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Key cost types</a:t>
            </a:r>
          </a:p>
        </p:txBody>
      </p:sp>
    </p:spTree>
    <p:extLst>
      <p:ext uri="{BB962C8B-B14F-4D97-AF65-F5344CB8AC3E}">
        <p14:creationId xmlns:p14="http://schemas.microsoft.com/office/powerpoint/2010/main" val="26327366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Optimal organization in long run</a:t>
            </a:r>
          </a:p>
        </p:txBody>
      </p:sp>
      <p:sp>
        <p:nvSpPr>
          <p:cNvPr id="3174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537FFD4-876D-4870-A741-8FC4CEA15C5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B3BA2F1-F66A-888A-FB8B-D528F5C5AD05}"/>
              </a:ext>
            </a:extLst>
          </p:cNvPr>
          <p:cNvSpPr txBox="1">
            <a:spLocks/>
          </p:cNvSpPr>
          <p:nvPr/>
        </p:nvSpPr>
        <p:spPr bwMode="auto">
          <a:xfrm>
            <a:off x="609600" y="1166637"/>
            <a:ext cx="11080955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 long run,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all inputs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are variable, so we now consider choice of K, too</a:t>
            </a:r>
          </a:p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Value =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*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w*L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r*K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2967-4684-AE18-0571-E42FB331402F}"/>
              </a:ext>
            </a:extLst>
          </p:cNvPr>
          <p:cNvSpPr txBox="1">
            <a:spLocks/>
          </p:cNvSpPr>
          <p:nvPr/>
        </p:nvSpPr>
        <p:spPr bwMode="auto">
          <a:xfrm>
            <a:off x="609600" y="2223228"/>
            <a:ext cx="110809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is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correct choice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of L and K?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C1182D-16C2-34B6-936A-D3A6D08B8178}"/>
              </a:ext>
            </a:extLst>
          </p:cNvPr>
          <p:cNvSpPr txBox="1">
            <a:spLocks/>
          </p:cNvSpPr>
          <p:nvPr/>
        </p:nvSpPr>
        <p:spPr bwMode="auto">
          <a:xfrm>
            <a:off x="609600" y="2787377"/>
            <a:ext cx="11080955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Find optimal L same as before</a:t>
            </a: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*(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/dL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endParaRPr lang="en-US" altLang="en-US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L so that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MRP</a:t>
            </a:r>
            <a:r>
              <a:rPr lang="en-US" altLang="en-US" b="1" kern="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en-US" altLang="en-US" b="1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P*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MPL</a:t>
            </a:r>
            <a:r>
              <a:rPr lang="en-US" altLang="en-US" b="1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en-US" altLang="en-US" b="1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MC</a:t>
            </a:r>
            <a:r>
              <a:rPr lang="en-US" altLang="en-US" b="1" kern="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</a:t>
            </a:r>
            <a:endParaRPr lang="en-US" altLang="en-US" b="1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64227B-8380-F94E-EEF2-3A6867F4D2E2}"/>
              </a:ext>
            </a:extLst>
          </p:cNvPr>
          <p:cNvSpPr txBox="1">
            <a:spLocks/>
          </p:cNvSpPr>
          <p:nvPr/>
        </p:nvSpPr>
        <p:spPr bwMode="auto">
          <a:xfrm>
            <a:off x="609600" y="4336411"/>
            <a:ext cx="11080955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Find optimal K by similar reasoning</a:t>
            </a: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*(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dK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endParaRPr lang="en-US" altLang="en-US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2">
              <a:spcBef>
                <a:spcPts val="0"/>
              </a:spcBef>
              <a:spcAft>
                <a:spcPts val="1200"/>
              </a:spcAft>
            </a:pP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K so that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MRP</a:t>
            </a:r>
            <a:r>
              <a:rPr lang="en-US" altLang="en-US" b="1" kern="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en-US" altLang="en-US" b="1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*MPK = </a:t>
            </a:r>
            <a:r>
              <a:rPr lang="en-US" altLang="en-US" b="1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MC</a:t>
            </a:r>
            <a:r>
              <a:rPr lang="en-US" altLang="en-US" b="1" kern="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C13F30-CA01-0FB4-42F8-108371FD210F}"/>
              </a:ext>
            </a:extLst>
          </p:cNvPr>
          <p:cNvSpPr txBox="1">
            <a:spLocks/>
          </p:cNvSpPr>
          <p:nvPr/>
        </p:nvSpPr>
        <p:spPr bwMode="auto">
          <a:xfrm>
            <a:off x="609600" y="5885444"/>
            <a:ext cx="110809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is the optimal allocation?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2486EC-2E60-28AC-FFD8-7A97ABE6F744}"/>
              </a:ext>
            </a:extLst>
          </p:cNvPr>
          <p:cNvSpPr/>
          <p:nvPr/>
        </p:nvSpPr>
        <p:spPr>
          <a:xfrm>
            <a:off x="4935791" y="3844413"/>
            <a:ext cx="1474841" cy="407897"/>
          </a:xfrm>
          <a:prstGeom prst="rect">
            <a:avLst/>
          </a:prstGeom>
          <a:noFill/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AD985F-7498-EA98-B9C0-0FB226322AF7}"/>
              </a:ext>
            </a:extLst>
          </p:cNvPr>
          <p:cNvSpPr/>
          <p:nvPr/>
        </p:nvSpPr>
        <p:spPr>
          <a:xfrm>
            <a:off x="4984955" y="5383616"/>
            <a:ext cx="1425678" cy="407897"/>
          </a:xfrm>
          <a:prstGeom prst="rect">
            <a:avLst/>
          </a:prstGeom>
          <a:noFill/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9" grpId="0"/>
      <p:bldP spid="12" grpId="0" animBg="1"/>
      <p:bldP spid="1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Optimal long-run input choice</a:t>
            </a:r>
          </a:p>
        </p:txBody>
      </p:sp>
      <p:sp>
        <p:nvSpPr>
          <p:cNvPr id="327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1684C4A-936D-4DF7-9C2F-BB7D521E609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C05A26D-9E1A-2DE0-E06F-1D6DCD2F0F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0939" y="3555261"/>
                <a:ext cx="7880533" cy="14608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altLang="ja-JP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Or …</a:t>
                </a:r>
              </a:p>
              <a:p>
                <a:pPr marL="0" indent="0" eaLnBrk="1" hangingPunct="1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400" i="1" ker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i="1" kern="0">
                              <a:latin typeface="Cambria Math"/>
                              <a:ea typeface="ＭＳ Ｐゴシック" pitchFamily="34" charset="-128"/>
                            </a:rPr>
                            <m:t>𝑀𝑃𝐿</m:t>
                          </m:r>
                        </m:num>
                        <m:den>
                          <m:r>
                            <a:rPr lang="en-US" altLang="en-US" sz="2400" i="1" kern="0">
                              <a:latin typeface="Cambria Math"/>
                              <a:ea typeface="ＭＳ Ｐゴシック" pitchFamily="34" charset="-128"/>
                            </a:rPr>
                            <m:t>𝑤</m:t>
                          </m:r>
                        </m:den>
                      </m:f>
                      <m:r>
                        <a:rPr lang="en-US" altLang="en-US" sz="2400" i="1" ker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en-US" sz="2400" i="1" ker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i="1" kern="0">
                              <a:latin typeface="Cambria Math"/>
                              <a:ea typeface="ＭＳ Ｐゴシック" pitchFamily="34" charset="-128"/>
                            </a:rPr>
                            <m:t>𝑀𝑃𝐾</m:t>
                          </m:r>
                        </m:num>
                        <m:den>
                          <m:r>
                            <a:rPr lang="en-US" altLang="en-US" sz="2400" i="1" kern="0">
                              <a:latin typeface="Cambria Math"/>
                              <a:ea typeface="ＭＳ Ｐゴシック" pitchFamily="34" charset="-128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C05A26D-9E1A-2DE0-E06F-1D6DCD2F0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0939" y="3555261"/>
                <a:ext cx="7880533" cy="1460849"/>
              </a:xfrm>
              <a:prstGeom prst="rect">
                <a:avLst/>
              </a:prstGeom>
              <a:blipFill>
                <a:blip r:embed="rId2"/>
                <a:stretch>
                  <a:fillRect l="-1288" t="-25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>
            <a:extLst>
              <a:ext uri="{FF2B5EF4-FFF2-40B4-BE49-F238E27FC236}">
                <a16:creationId xmlns:a16="http://schemas.microsoft.com/office/drawing/2014/main" id="{68711E96-C4C4-B4C7-BB7B-E470E8BE9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213" y="5248275"/>
            <a:ext cx="82296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dirty="0">
              <a:latin typeface="Source Sans Pro" panose="020B05030304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614DEF-A95F-00AD-F1CC-847578072DD5}"/>
              </a:ext>
            </a:extLst>
          </p:cNvPr>
          <p:cNvGrpSpPr/>
          <p:nvPr/>
        </p:nvGrpSpPr>
        <p:grpSpPr>
          <a:xfrm>
            <a:off x="2193557" y="1384675"/>
            <a:ext cx="3578696" cy="2199282"/>
            <a:chOff x="669556" y="1384675"/>
            <a:chExt cx="3578696" cy="219928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1487B19-27AB-AD5D-9D05-0627A579AACA}"/>
                </a:ext>
              </a:extLst>
            </p:cNvPr>
            <p:cNvSpPr/>
            <p:nvPr/>
          </p:nvSpPr>
          <p:spPr>
            <a:xfrm>
              <a:off x="669556" y="1750468"/>
              <a:ext cx="3578696" cy="1463173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864B2AC-B737-A856-6475-64FA10ABC721}"/>
                </a:ext>
              </a:extLst>
            </p:cNvPr>
            <p:cNvSpPr/>
            <p:nvPr/>
          </p:nvSpPr>
          <p:spPr>
            <a:xfrm>
              <a:off x="669556" y="1384675"/>
              <a:ext cx="3578696" cy="1097379"/>
            </a:xfrm>
            <a:prstGeom prst="ellipse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4212284-C313-B911-57CF-D6EBE99D308D}"/>
                </a:ext>
              </a:extLst>
            </p:cNvPr>
            <p:cNvSpPr/>
            <p:nvPr/>
          </p:nvSpPr>
          <p:spPr>
            <a:xfrm>
              <a:off x="669556" y="2486578"/>
              <a:ext cx="3578696" cy="1097379"/>
            </a:xfrm>
            <a:prstGeom prst="ellipse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6558D3-3F51-95F4-1DA1-94483675ED44}"/>
                </a:ext>
              </a:extLst>
            </p:cNvPr>
            <p:cNvSpPr txBox="1"/>
            <p:nvPr/>
          </p:nvSpPr>
          <p:spPr>
            <a:xfrm>
              <a:off x="739278" y="1513377"/>
              <a:ext cx="343925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/>
              <a:r>
                <a:rPr lang="en-US" altLang="ja-JP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Marginal rate of technical substitution </a:t>
              </a:r>
              <a:r>
                <a:rPr lang="en-US" altLang="ja-JP" sz="24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(MRTS)</a:t>
              </a:r>
            </a:p>
            <a:p>
              <a:pPr algn="ctr" eaLnBrk="1" hangingPunct="1"/>
              <a:endParaRPr lang="en-US" altLang="ja-JP" sz="24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  <a:p>
              <a:pPr algn="ctr" eaLnBrk="1" hangingPunct="1"/>
              <a:r>
                <a:rPr lang="en-US" altLang="ja-JP" sz="24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-MPL/MPK</a:t>
              </a:r>
              <a:endPara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C764F1-1DF6-36B2-552C-F70634F951E7}"/>
              </a:ext>
            </a:extLst>
          </p:cNvPr>
          <p:cNvGrpSpPr/>
          <p:nvPr/>
        </p:nvGrpSpPr>
        <p:grpSpPr>
          <a:xfrm>
            <a:off x="6495394" y="1384675"/>
            <a:ext cx="3578696" cy="2199282"/>
            <a:chOff x="4971394" y="1384675"/>
            <a:chExt cx="3578696" cy="219928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66D60B9-6A50-5C0A-93CA-9B400824D6D5}"/>
                </a:ext>
              </a:extLst>
            </p:cNvPr>
            <p:cNvGrpSpPr/>
            <p:nvPr/>
          </p:nvGrpSpPr>
          <p:grpSpPr>
            <a:xfrm>
              <a:off x="4971394" y="1384675"/>
              <a:ext cx="3578696" cy="2199282"/>
              <a:chOff x="5192326" y="1384675"/>
              <a:chExt cx="3578696" cy="2199282"/>
            </a:xfrm>
            <a:solidFill>
              <a:srgbClr val="A51417"/>
            </a:solidFill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08A003F7-F6E9-06AA-F5DD-840C4F787690}"/>
                  </a:ext>
                </a:extLst>
              </p:cNvPr>
              <p:cNvSpPr/>
              <p:nvPr/>
            </p:nvSpPr>
            <p:spPr>
              <a:xfrm>
                <a:off x="5192326" y="1750468"/>
                <a:ext cx="3578696" cy="1463173"/>
              </a:xfrm>
              <a:prstGeom prst="roundRect">
                <a:avLst/>
              </a:prstGeom>
              <a:grpFill/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92444D4-C237-7246-E185-743CD1F89664}"/>
                  </a:ext>
                </a:extLst>
              </p:cNvPr>
              <p:cNvSpPr/>
              <p:nvPr/>
            </p:nvSpPr>
            <p:spPr>
              <a:xfrm>
                <a:off x="5192326" y="1384675"/>
                <a:ext cx="3578696" cy="1097379"/>
              </a:xfrm>
              <a:prstGeom prst="ellipse">
                <a:avLst/>
              </a:prstGeom>
              <a:solidFill>
                <a:srgbClr val="005F85"/>
              </a:solidFill>
              <a:ln>
                <a:solidFill>
                  <a:srgbClr val="005F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DC4C83A-C15A-3BA0-025A-06F48DF92961}"/>
                  </a:ext>
                </a:extLst>
              </p:cNvPr>
              <p:cNvSpPr/>
              <p:nvPr/>
            </p:nvSpPr>
            <p:spPr>
              <a:xfrm>
                <a:off x="5192326" y="2486578"/>
                <a:ext cx="3578696" cy="1097379"/>
              </a:xfrm>
              <a:prstGeom prst="ellipse">
                <a:avLst/>
              </a:prstGeom>
              <a:solidFill>
                <a:srgbClr val="005F85"/>
              </a:solidFill>
              <a:ln>
                <a:solidFill>
                  <a:srgbClr val="005F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AA0787-C05B-A5AD-54E6-A7FEB1C2F625}"/>
                </a:ext>
              </a:extLst>
            </p:cNvPr>
            <p:cNvSpPr txBox="1"/>
            <p:nvPr/>
          </p:nvSpPr>
          <p:spPr>
            <a:xfrm>
              <a:off x="4971394" y="1884152"/>
              <a:ext cx="3578696" cy="1200329"/>
            </a:xfrm>
            <a:prstGeom prst="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txBody>
            <a:bodyPr wrap="square" rtlCol="0">
              <a:spAutoFit/>
            </a:bodyPr>
            <a:lstStyle/>
            <a:p>
              <a:pPr algn="ctr" eaLnBrk="1" hangingPunct="1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Input price ratio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ja-JP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  <a:p>
              <a:pPr algn="ctr" eaLnBrk="1" hangingPunct="1"/>
              <a:r>
                <a:rPr lang="en-US" altLang="ja-JP" sz="24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-w/r</a:t>
              </a:r>
              <a:endPara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A8782C0E-6D39-7371-DEBC-0CC7C4AB0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046" y="2253485"/>
            <a:ext cx="7155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=</a:t>
            </a:r>
            <a:endParaRPr lang="en-US" altLang="en-US" sz="2400" b="1" i="1" kern="0" dirty="0">
              <a:latin typeface="Source Sans Pro" panose="020B0503030403020204" pitchFamily="34" charset="0"/>
            </a:endParaRP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ABF5DE88-850A-AAD1-0BC6-9FBC0DA64489}"/>
              </a:ext>
            </a:extLst>
          </p:cNvPr>
          <p:cNvSpPr/>
          <p:nvPr/>
        </p:nvSpPr>
        <p:spPr>
          <a:xfrm>
            <a:off x="1954214" y="4385448"/>
            <a:ext cx="2316079" cy="832940"/>
          </a:xfrm>
          <a:prstGeom prst="wedgeRoundRectCallout">
            <a:avLst>
              <a:gd name="adj1" fmla="val 92845"/>
              <a:gd name="adj2" fmla="val -40433"/>
              <a:gd name="adj3" fmla="val 16667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75" lvl="1"/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Productivity per $ spent on L</a:t>
            </a: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61675764-7585-CB30-BE19-1FB82D78E0C7}"/>
              </a:ext>
            </a:extLst>
          </p:cNvPr>
          <p:cNvSpPr/>
          <p:nvPr/>
        </p:nvSpPr>
        <p:spPr>
          <a:xfrm>
            <a:off x="7813508" y="4159061"/>
            <a:ext cx="2316079" cy="832940"/>
          </a:xfrm>
          <a:prstGeom prst="wedgeRoundRectCallout">
            <a:avLst>
              <a:gd name="adj1" fmla="val -83530"/>
              <a:gd name="adj2" fmla="val -2877"/>
              <a:gd name="adj3" fmla="val 16667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175" lvl="1"/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Productivity per $ spent on 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19E9EC-37C7-6CE6-5237-05C7BAA8CAF9}"/>
              </a:ext>
            </a:extLst>
          </p:cNvPr>
          <p:cNvGrpSpPr/>
          <p:nvPr/>
        </p:nvGrpSpPr>
        <p:grpSpPr>
          <a:xfrm>
            <a:off x="3076773" y="5398672"/>
            <a:ext cx="5894774" cy="1283167"/>
            <a:chOff x="1552773" y="5398671"/>
            <a:chExt cx="5894774" cy="12831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3A3E33-3C46-2524-3D5B-0F493F414295}"/>
                </a:ext>
              </a:extLst>
            </p:cNvPr>
            <p:cNvGrpSpPr/>
            <p:nvPr/>
          </p:nvGrpSpPr>
          <p:grpSpPr>
            <a:xfrm>
              <a:off x="1552773" y="5398671"/>
              <a:ext cx="5894774" cy="1283167"/>
              <a:chOff x="1552773" y="5398671"/>
              <a:chExt cx="5894774" cy="1283167"/>
            </a:xfrm>
          </p:grpSpPr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3DE3688-E5D6-4935-4293-817FA443CE34}"/>
                  </a:ext>
                </a:extLst>
              </p:cNvPr>
              <p:cNvSpPr/>
              <p:nvPr/>
            </p:nvSpPr>
            <p:spPr>
              <a:xfrm>
                <a:off x="1552773" y="5632166"/>
                <a:ext cx="5894774" cy="813661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14EE17C-AC7D-DB3E-3816-FCB069F0DA96}"/>
                  </a:ext>
                </a:extLst>
              </p:cNvPr>
              <p:cNvSpPr/>
              <p:nvPr/>
            </p:nvSpPr>
            <p:spPr>
              <a:xfrm>
                <a:off x="1552773" y="5398671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61B52FC-BCF7-B349-0BF5-CB19EB94614E}"/>
                  </a:ext>
                </a:extLst>
              </p:cNvPr>
              <p:cNvSpPr/>
              <p:nvPr/>
            </p:nvSpPr>
            <p:spPr>
              <a:xfrm>
                <a:off x="1552773" y="6071592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E8275C-8B60-7322-550F-0456763A975C}"/>
                </a:ext>
              </a:extLst>
            </p:cNvPr>
            <p:cNvSpPr txBox="1"/>
            <p:nvPr/>
          </p:nvSpPr>
          <p:spPr>
            <a:xfrm>
              <a:off x="1552773" y="5624756"/>
              <a:ext cx="58947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/>
              <a:r>
                <a:rPr lang="en-US" altLang="en-US" sz="2400" dirty="0">
                  <a:latin typeface="Source Sans Pro" panose="020B0503030403020204" pitchFamily="34" charset="0"/>
                </a:rPr>
                <a:t>Optimal input choice equalizes </a:t>
              </a:r>
              <a:r>
                <a:rPr lang="en-US" altLang="en-US" sz="2400" b="1" dirty="0">
                  <a:latin typeface="Source Sans Pro" panose="020B0503030403020204" pitchFamily="34" charset="0"/>
                </a:rPr>
                <a:t>productivity per $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across inputs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100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8" grpId="0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Long-run cost minimization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591AD1E-114F-4FAD-AA6B-8754CEB3A10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0EA2ACB7-5264-8BD6-31DB-19E206733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094" y="2505202"/>
            <a:ext cx="0" cy="305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EDEC54AB-3736-3C1F-5EBB-2ACA9E4B12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3920" y="5559552"/>
            <a:ext cx="4043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EC73B780-FBDF-1675-B681-9961454A4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669" y="2376615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BAD11839-99F6-7CB1-DAC5-E7A468DCA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019" y="550875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75041005-7A00-8634-D3D7-3F177EBF1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10" y="3611436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7" name="Arc 9">
            <a:extLst>
              <a:ext uri="{FF2B5EF4-FFF2-40B4-BE49-F238E27FC236}">
                <a16:creationId xmlns:a16="http://schemas.microsoft.com/office/drawing/2014/main" id="{8310ADC7-A754-4571-962F-E7B33AAB23E0}"/>
              </a:ext>
            </a:extLst>
          </p:cNvPr>
          <p:cNvSpPr>
            <a:spLocks/>
          </p:cNvSpPr>
          <p:nvPr/>
        </p:nvSpPr>
        <p:spPr bwMode="auto">
          <a:xfrm rot="10800000">
            <a:off x="1682370" y="2668715"/>
            <a:ext cx="3648075" cy="2736850"/>
          </a:xfrm>
          <a:custGeom>
            <a:avLst/>
            <a:gdLst>
              <a:gd name="T0" fmla="*/ 2147483647 w 21579"/>
              <a:gd name="T1" fmla="*/ 0 h 21567"/>
              <a:gd name="T2" fmla="*/ 2147483647 w 21579"/>
              <a:gd name="T3" fmla="*/ 2147483647 h 21567"/>
              <a:gd name="T4" fmla="*/ 0 w 21579"/>
              <a:gd name="T5" fmla="*/ 2147483647 h 21567"/>
              <a:gd name="T6" fmla="*/ 0 60000 65536"/>
              <a:gd name="T7" fmla="*/ 0 60000 65536"/>
              <a:gd name="T8" fmla="*/ 0 60000 65536"/>
              <a:gd name="T9" fmla="*/ 0 w 21579"/>
              <a:gd name="T10" fmla="*/ 0 h 21567"/>
              <a:gd name="T11" fmla="*/ 21579 w 21579"/>
              <a:gd name="T12" fmla="*/ 21567 h 215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9" h="21567" fill="none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</a:path>
              <a:path w="21579" h="21567" stroke="0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  <a:lnTo>
                  <a:pt x="0" y="21567"/>
                </a:lnTo>
                <a:lnTo>
                  <a:pt x="1198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DB3C10B0-8675-DAE6-74F4-6B6143C37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6657" y="2736978"/>
            <a:ext cx="12176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Q = 50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602D811B-ED1D-D6F7-5537-F44F4982B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269" y="3833939"/>
            <a:ext cx="642938" cy="0"/>
          </a:xfrm>
          <a:prstGeom prst="line">
            <a:avLst/>
          </a:prstGeom>
          <a:noFill/>
          <a:ln w="9525">
            <a:solidFill>
              <a:srgbClr val="005F85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10EC0548-88A9-6C2B-32BD-EA502F666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2333" y="3468815"/>
            <a:ext cx="3563937" cy="2087562"/>
          </a:xfrm>
          <a:prstGeom prst="line">
            <a:avLst/>
          </a:prstGeom>
          <a:noFill/>
          <a:ln w="19050">
            <a:solidFill>
              <a:srgbClr val="005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9909CF9B-BAFD-0272-29FA-D21E1D447D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4873" y="4286326"/>
            <a:ext cx="388937" cy="396875"/>
          </a:xfrm>
          <a:prstGeom prst="line">
            <a:avLst/>
          </a:prstGeom>
          <a:noFill/>
          <a:ln w="9525">
            <a:solidFill>
              <a:srgbClr val="00736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6D065ADC-5FFD-ACE7-0405-EF487ABFE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481" y="3922841"/>
            <a:ext cx="141922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C = $125</a:t>
            </a: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B0A192D4-A4FB-F5D4-C685-9E040CB7C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094" y="3818065"/>
            <a:ext cx="2909888" cy="1738312"/>
          </a:xfrm>
          <a:prstGeom prst="line">
            <a:avLst/>
          </a:prstGeom>
          <a:noFill/>
          <a:ln w="19050">
            <a:solidFill>
              <a:srgbClr val="E1C4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CE9DF8F7-FDE8-40EC-7EB5-FED7C8EB3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2333" y="3683127"/>
            <a:ext cx="3176587" cy="1866900"/>
          </a:xfrm>
          <a:prstGeom prst="line">
            <a:avLst/>
          </a:prstGeom>
          <a:noFill/>
          <a:ln w="190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748A794C-90D1-29D9-0C7F-C8406CF57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10" y="403621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8</a:t>
            </a:r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D005DCB4-9E6A-9323-896B-6337D71207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90269" y="4257802"/>
            <a:ext cx="939800" cy="0"/>
          </a:xfrm>
          <a:prstGeom prst="line">
            <a:avLst/>
          </a:prstGeom>
          <a:noFill/>
          <a:ln w="9525">
            <a:solidFill>
              <a:srgbClr val="789B4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7" name="Line 22">
            <a:extLst>
              <a:ext uri="{FF2B5EF4-FFF2-40B4-BE49-F238E27FC236}">
                <a16:creationId xmlns:a16="http://schemas.microsoft.com/office/drawing/2014/main" id="{743051F9-728D-5E04-925D-6119DA6A6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269" y="4767390"/>
            <a:ext cx="1549400" cy="0"/>
          </a:xfrm>
          <a:prstGeom prst="line">
            <a:avLst/>
          </a:prstGeom>
          <a:noFill/>
          <a:ln w="9525">
            <a:solidFill>
              <a:srgbClr val="E1C4A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73889892-90FC-5A7D-2A08-78FBC873B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10" y="454550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</a:rPr>
              <a:t>5</a:t>
            </a:r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87417E3E-B03E-AA0A-6953-9F932E298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635" y="553732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5</a:t>
            </a:r>
          </a:p>
        </p:txBody>
      </p:sp>
      <p:sp>
        <p:nvSpPr>
          <p:cNvPr id="20" name="Text Box 25">
            <a:extLst>
              <a:ext uri="{FF2B5EF4-FFF2-40B4-BE49-F238E27FC236}">
                <a16:creationId xmlns:a16="http://schemas.microsoft.com/office/drawing/2014/main" id="{660D975F-472F-35AE-A968-E6E0D7E2B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047" y="5812324"/>
            <a:ext cx="74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6.25</a:t>
            </a:r>
          </a:p>
        </p:txBody>
      </p:sp>
      <p:sp>
        <p:nvSpPr>
          <p:cNvPr id="21" name="Text Box 26">
            <a:extLst>
              <a:ext uri="{FF2B5EF4-FFF2-40B4-BE49-F238E27FC236}">
                <a16:creationId xmlns:a16="http://schemas.microsoft.com/office/drawing/2014/main" id="{54841E4E-E31A-A577-7F23-7F85F61C6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644" y="554685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010E459F-7334-39FD-DCAB-7207F6E54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6382" y="3845053"/>
            <a:ext cx="0" cy="1706563"/>
          </a:xfrm>
          <a:prstGeom prst="line">
            <a:avLst/>
          </a:prstGeom>
          <a:noFill/>
          <a:ln w="9525">
            <a:solidFill>
              <a:srgbClr val="005F85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3" name="Line 28">
            <a:extLst>
              <a:ext uri="{FF2B5EF4-FFF2-40B4-BE49-F238E27FC236}">
                <a16:creationId xmlns:a16="http://schemas.microsoft.com/office/drawing/2014/main" id="{1305254D-B2C7-4E2A-6433-662AB42AB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47532" y="4264152"/>
            <a:ext cx="0" cy="1295400"/>
          </a:xfrm>
          <a:prstGeom prst="line">
            <a:avLst/>
          </a:prstGeom>
          <a:noFill/>
          <a:ln w="9525">
            <a:solidFill>
              <a:srgbClr val="789B4A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4" name="Line 29">
            <a:extLst>
              <a:ext uri="{FF2B5EF4-FFF2-40B4-BE49-F238E27FC236}">
                <a16:creationId xmlns:a16="http://schemas.microsoft.com/office/drawing/2014/main" id="{87FBBBB8-FB6E-4A0E-5DDE-7F5E8E7B5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2844" y="4767391"/>
            <a:ext cx="0" cy="769937"/>
          </a:xfrm>
          <a:prstGeom prst="line">
            <a:avLst/>
          </a:prstGeom>
          <a:noFill/>
          <a:ln w="9525">
            <a:solidFill>
              <a:srgbClr val="E1C4A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5" name="Text Box 30">
            <a:extLst>
              <a:ext uri="{FF2B5EF4-FFF2-40B4-BE49-F238E27FC236}">
                <a16:creationId xmlns:a16="http://schemas.microsoft.com/office/drawing/2014/main" id="{EA9FB0A1-2A66-5314-9104-113F125E2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007" y="3527553"/>
            <a:ext cx="16748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C = $111.25</a:t>
            </a:r>
          </a:p>
        </p:txBody>
      </p:sp>
      <p:sp>
        <p:nvSpPr>
          <p:cNvPr id="26" name="Text Box 31">
            <a:extLst>
              <a:ext uri="{FF2B5EF4-FFF2-40B4-BE49-F238E27FC236}">
                <a16:creationId xmlns:a16="http://schemas.microsoft.com/office/drawing/2014/main" id="{3B509649-3E92-D4D3-9817-82C0F46B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0670" y="5669091"/>
            <a:ext cx="16748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</a:rPr>
              <a:t>C = $100</a:t>
            </a:r>
          </a:p>
        </p:txBody>
      </p:sp>
      <p:sp>
        <p:nvSpPr>
          <p:cNvPr id="27" name="Line 32">
            <a:extLst>
              <a:ext uri="{FF2B5EF4-FFF2-40B4-BE49-F238E27FC236}">
                <a16:creationId xmlns:a16="http://schemas.microsoft.com/office/drawing/2014/main" id="{3191782A-B4C6-A3B5-BB0D-F9EEA9D3A7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6666" y="3873269"/>
            <a:ext cx="0" cy="579437"/>
          </a:xfrm>
          <a:prstGeom prst="line">
            <a:avLst/>
          </a:prstGeom>
          <a:noFill/>
          <a:ln w="9525">
            <a:solidFill>
              <a:srgbClr val="789B4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8" name="Line 33">
            <a:extLst>
              <a:ext uri="{FF2B5EF4-FFF2-40B4-BE49-F238E27FC236}">
                <a16:creationId xmlns:a16="http://schemas.microsoft.com/office/drawing/2014/main" id="{14115C0A-1282-45A7-2AF8-999FEC5F28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43865" y="5248455"/>
            <a:ext cx="7938" cy="449262"/>
          </a:xfrm>
          <a:prstGeom prst="line">
            <a:avLst/>
          </a:prstGeom>
          <a:noFill/>
          <a:ln w="9525">
            <a:solidFill>
              <a:srgbClr val="E1C4A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9" name="Text Box 34">
            <a:extLst>
              <a:ext uri="{FF2B5EF4-FFF2-40B4-BE49-F238E27FC236}">
                <a16:creationId xmlns:a16="http://schemas.microsoft.com/office/drawing/2014/main" id="{9B4AC357-BF12-017C-2043-3D97E4815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995" y="2530643"/>
            <a:ext cx="5553139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4950" indent="-2349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 is relatively expensive, yet the firm uses a large amount</a:t>
            </a:r>
          </a:p>
          <a:p>
            <a:pPr marL="174625" indent="-174625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Reduce K (arbitrarily) to 8, and select L = 6.25 so that Q = 50 and C = $111.25</a:t>
            </a:r>
          </a:p>
          <a:p>
            <a:pPr marL="174625" indent="-174625"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</a:rPr>
              <a:t>Reduce K (optimally) to 5, and select L = 10 so that Q = 50 and C = 100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We pushed </a:t>
            </a:r>
            <a:r>
              <a:rPr lang="en-US" altLang="en-US" sz="2400" dirty="0" err="1">
                <a:latin typeface="Source Sans Pro" panose="020B0503030403020204" pitchFamily="34" charset="0"/>
              </a:rPr>
              <a:t>isocost</a:t>
            </a:r>
            <a:r>
              <a:rPr lang="en-US" altLang="en-US" sz="2400" dirty="0">
                <a:latin typeface="Source Sans Pro" panose="020B0503030403020204" pitchFamily="34" charset="0"/>
              </a:rPr>
              <a:t> inward while maintaining contact with isoquant</a:t>
            </a:r>
          </a:p>
        </p:txBody>
      </p:sp>
      <p:sp>
        <p:nvSpPr>
          <p:cNvPr id="30" name="Oval 12">
            <a:extLst>
              <a:ext uri="{FF2B5EF4-FFF2-40B4-BE49-F238E27FC236}">
                <a16:creationId xmlns:a16="http://schemas.microsoft.com/office/drawing/2014/main" id="{2006DE59-0C4E-8494-6692-3E1843449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694" y="3806952"/>
            <a:ext cx="88900" cy="88900"/>
          </a:xfrm>
          <a:prstGeom prst="ellipse">
            <a:avLst/>
          </a:prstGeom>
          <a:solidFill>
            <a:srgbClr val="005F85"/>
          </a:solidFill>
          <a:ln w="9525">
            <a:solidFill>
              <a:srgbClr val="005F85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1" name="Oval 16">
            <a:extLst>
              <a:ext uri="{FF2B5EF4-FFF2-40B4-BE49-F238E27FC236}">
                <a16:creationId xmlns:a16="http://schemas.microsoft.com/office/drawing/2014/main" id="{F753F39E-3629-A70E-E7DA-2F2E11E24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494" y="4210177"/>
            <a:ext cx="88900" cy="88900"/>
          </a:xfrm>
          <a:prstGeom prst="ellipse">
            <a:avLst/>
          </a:prstGeom>
          <a:solidFill>
            <a:srgbClr val="789B4A"/>
          </a:solidFill>
          <a:ln w="9525">
            <a:solidFill>
              <a:srgbClr val="789B4A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2" name="Oval 17">
            <a:extLst>
              <a:ext uri="{FF2B5EF4-FFF2-40B4-BE49-F238E27FC236}">
                <a16:creationId xmlns:a16="http://schemas.microsoft.com/office/drawing/2014/main" id="{53F56A18-8BF4-9F23-F5F4-37B334E61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157" y="4721352"/>
            <a:ext cx="88900" cy="88900"/>
          </a:xfrm>
          <a:prstGeom prst="ellipse">
            <a:avLst/>
          </a:prstGeom>
          <a:solidFill>
            <a:srgbClr val="E1C4AC"/>
          </a:solidFill>
          <a:ln w="9525">
            <a:solidFill>
              <a:srgbClr val="E1C4A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FBB2F934-562E-D0EC-CBF9-0BD8257E9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24" y="1090253"/>
            <a:ext cx="10415016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Return to the example of Q = </a:t>
            </a:r>
            <a:r>
              <a:rPr lang="en-US" altLang="en-US" i="1" kern="0" dirty="0">
                <a:ea typeface="ＭＳ Ｐゴシック" pitchFamily="34" charset="-128"/>
              </a:rPr>
              <a:t>LK</a:t>
            </a:r>
            <a:r>
              <a:rPr lang="en-US" altLang="en-US" kern="0" dirty="0">
                <a:ea typeface="ＭＳ Ｐゴシック" pitchFamily="34" charset="-128"/>
              </a:rPr>
              <a:t> with K = 10 and input prices w = 5 and r = 10</a:t>
            </a:r>
          </a:p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Can we reduce spending when both L and K can be adjusted?</a:t>
            </a:r>
          </a:p>
        </p:txBody>
      </p:sp>
    </p:spTree>
    <p:extLst>
      <p:ext uri="{BB962C8B-B14F-4D97-AF65-F5344CB8AC3E}">
        <p14:creationId xmlns:p14="http://schemas.microsoft.com/office/powerpoint/2010/main" val="179931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  <p:bldP spid="17" grpId="0" animBg="1"/>
      <p:bldP spid="18" grpId="0"/>
      <p:bldP spid="20" grpId="0"/>
      <p:bldP spid="21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 err="1">
                <a:ea typeface="ＭＳ Ｐゴシック" pitchFamily="34" charset="-128"/>
              </a:rPr>
              <a:t>Isocost</a:t>
            </a:r>
            <a:r>
              <a:rPr lang="en-US" altLang="en-US" b="0" dirty="0">
                <a:ea typeface="ＭＳ Ｐゴシック" pitchFamily="34" charset="-128"/>
              </a:rPr>
              <a:t> tangent to isoquant</a:t>
            </a:r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C444B37-1007-46AF-BACC-4D1C4F222C3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3CB33144-B8AD-E85D-60EE-7917EB3EE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3426" y="2325689"/>
            <a:ext cx="0" cy="3462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8E355A5B-4852-EF51-6188-08E1EC51C1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0252" y="5783263"/>
            <a:ext cx="40433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E4094176-F133-E472-1F47-9BACC78D2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1" y="221615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FA9CB2B5-34C1-DEAD-5BD4-E575656E1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89" y="5768975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B5A943DD-BBC9-5163-1EAD-F2913008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1" y="4210357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K*</a:t>
            </a:r>
          </a:p>
        </p:txBody>
      </p:sp>
      <p:sp>
        <p:nvSpPr>
          <p:cNvPr id="7" name="Arc 9">
            <a:extLst>
              <a:ext uri="{FF2B5EF4-FFF2-40B4-BE49-F238E27FC236}">
                <a16:creationId xmlns:a16="http://schemas.microsoft.com/office/drawing/2014/main" id="{F55EE877-C7F2-2F66-BCB2-EE22914500F7}"/>
              </a:ext>
            </a:extLst>
          </p:cNvPr>
          <p:cNvSpPr>
            <a:spLocks/>
          </p:cNvSpPr>
          <p:nvPr/>
        </p:nvSpPr>
        <p:spPr bwMode="auto">
          <a:xfrm rot="10800000">
            <a:off x="2146364" y="2473326"/>
            <a:ext cx="3243262" cy="2728913"/>
          </a:xfrm>
          <a:custGeom>
            <a:avLst/>
            <a:gdLst>
              <a:gd name="T0" fmla="*/ 2147483647 w 21579"/>
              <a:gd name="T1" fmla="*/ 0 h 21567"/>
              <a:gd name="T2" fmla="*/ 2147483647 w 21579"/>
              <a:gd name="T3" fmla="*/ 2147483647 h 21567"/>
              <a:gd name="T4" fmla="*/ 0 w 21579"/>
              <a:gd name="T5" fmla="*/ 2147483647 h 21567"/>
              <a:gd name="T6" fmla="*/ 0 60000 65536"/>
              <a:gd name="T7" fmla="*/ 0 60000 65536"/>
              <a:gd name="T8" fmla="*/ 0 60000 65536"/>
              <a:gd name="T9" fmla="*/ 0 w 21579"/>
              <a:gd name="T10" fmla="*/ 0 h 21567"/>
              <a:gd name="T11" fmla="*/ 21579 w 21579"/>
              <a:gd name="T12" fmla="*/ 21567 h 215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9" h="21567" fill="none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</a:path>
              <a:path w="21579" h="21567" stroke="0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  <a:lnTo>
                  <a:pt x="0" y="21567"/>
                </a:lnTo>
                <a:lnTo>
                  <a:pt x="1198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AD011E53-6979-4E33-2BFB-159518779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24" y="2257426"/>
            <a:ext cx="669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Q*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14DC25D8-2B9E-628C-B53D-0EEAD0A89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051" y="43942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27F93C90-186B-0E83-2B1F-3A588FFC0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1365" y="3184525"/>
            <a:ext cx="3322637" cy="2592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6E31641D-FA4C-3D08-DBBA-0C89C7DA4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701" y="5768975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L*</a:t>
            </a: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040101D1-6C4D-C02E-B760-58B9E134C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8665" y="4422775"/>
            <a:ext cx="16144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46917A0A-6313-3284-92C6-4CFC7F1D7E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09976" y="4441826"/>
            <a:ext cx="1588" cy="131921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E18BDF3F-5D99-B98E-7F77-605390352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850" y="2798129"/>
            <a:ext cx="5662550" cy="2536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25000"/>
              </a:spcAft>
            </a:pPr>
            <a:r>
              <a:rPr lang="en-US" altLang="en-US" sz="2400" dirty="0">
                <a:latin typeface="Source Sans Pro" panose="020B0503030403020204" pitchFamily="34" charset="0"/>
              </a:rPr>
              <a:t>K* and L* are the cost-minimizing way to produce Q*</a:t>
            </a:r>
            <a:endParaRPr lang="en-US" altLang="en-US" sz="2400" baseline="-25000" dirty="0">
              <a:latin typeface="Source Sans Pro" panose="020B0503030403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25000"/>
              </a:spcAft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K</a:t>
            </a:r>
            <a:r>
              <a:rPr lang="en-US" altLang="en-US" sz="2400" baseline="-25000" dirty="0">
                <a:solidFill>
                  <a:srgbClr val="005F85"/>
                </a:solidFill>
                <a:latin typeface="Source Sans Pro" panose="020B0503030403020204" pitchFamily="34" charset="0"/>
              </a:rPr>
              <a:t>1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 and L</a:t>
            </a:r>
            <a:r>
              <a:rPr lang="en-US" altLang="en-US" sz="2400" baseline="-25000" dirty="0">
                <a:solidFill>
                  <a:srgbClr val="005F85"/>
                </a:solidFill>
                <a:latin typeface="Source Sans Pro" panose="020B0503030403020204" pitchFamily="34" charset="0"/>
              </a:rPr>
              <a:t>1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 also yield Q*, but at higher cost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25000"/>
              </a:spcAft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K</a:t>
            </a:r>
            <a:r>
              <a:rPr lang="en-US" altLang="en-US" sz="2400" baseline="-25000" dirty="0">
                <a:solidFill>
                  <a:srgbClr val="789B4A"/>
                </a:solidFill>
                <a:latin typeface="Source Sans Pro" panose="020B0503030403020204" pitchFamily="34" charset="0"/>
              </a:rPr>
              <a:t>2</a:t>
            </a: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 and L</a:t>
            </a:r>
            <a:r>
              <a:rPr lang="en-US" altLang="en-US" sz="2400" baseline="-25000" dirty="0">
                <a:solidFill>
                  <a:srgbClr val="789B4A"/>
                </a:solidFill>
                <a:latin typeface="Source Sans Pro" panose="020B0503030403020204" pitchFamily="34" charset="0"/>
              </a:rPr>
              <a:t>1</a:t>
            </a: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 cost less than K* and L*, but do not yield the desired output</a:t>
            </a:r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01AA3537-4003-1B2B-3FCE-6947597DC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14" y="5768975"/>
            <a:ext cx="55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L</a:t>
            </a:r>
            <a:r>
              <a:rPr lang="en-US" altLang="en-US" sz="2400" baseline="-25000" dirty="0">
                <a:solidFill>
                  <a:srgbClr val="005F85"/>
                </a:solidFill>
                <a:latin typeface="Source Sans Pro" panose="020B0503030403020204" pitchFamily="34" charset="0"/>
              </a:rPr>
              <a:t>1</a:t>
            </a:r>
            <a:endParaRPr lang="en-US" altLang="en-US" sz="2400" dirty="0">
              <a:solidFill>
                <a:srgbClr val="005F85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 Box 21">
            <a:extLst>
              <a:ext uri="{FF2B5EF4-FFF2-40B4-BE49-F238E27FC236}">
                <a16:creationId xmlns:a16="http://schemas.microsoft.com/office/drawing/2014/main" id="{96961AF2-289B-BAA9-9269-21FCAD4B3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119" y="3330628"/>
            <a:ext cx="557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K</a:t>
            </a:r>
            <a:r>
              <a:rPr lang="en-US" altLang="en-US" sz="2400" baseline="-25000" dirty="0">
                <a:solidFill>
                  <a:srgbClr val="005F85"/>
                </a:solidFill>
                <a:latin typeface="Source Sans Pro" panose="020B0503030403020204" pitchFamily="34" charset="0"/>
              </a:rPr>
              <a:t>1</a:t>
            </a:r>
            <a:endParaRPr lang="en-US" altLang="en-US" sz="2400" dirty="0">
              <a:solidFill>
                <a:srgbClr val="005F85"/>
              </a:solidFill>
              <a:latin typeface="Source Sans Pro" panose="020B0503030403020204" pitchFamily="34" charset="0"/>
            </a:endParaRP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E9D4F75E-D0C9-4200-83DB-1CF3ABBD0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631" y="4726909"/>
            <a:ext cx="520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K</a:t>
            </a:r>
            <a:r>
              <a:rPr lang="en-US" altLang="en-US" sz="2400" baseline="-25000" dirty="0">
                <a:solidFill>
                  <a:srgbClr val="789B4A"/>
                </a:solidFill>
                <a:latin typeface="Source Sans Pro" panose="020B0503030403020204" pitchFamily="34" charset="0"/>
              </a:rPr>
              <a:t>2</a:t>
            </a:r>
            <a:endParaRPr lang="en-US" altLang="en-US" sz="2400" dirty="0">
              <a:solidFill>
                <a:srgbClr val="789B4A"/>
              </a:solidFill>
              <a:latin typeface="Source Sans Pro" panose="020B0503030403020204" pitchFamily="34" charset="0"/>
            </a:endParaRPr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DA534E2B-541B-09EF-7D3D-716CDE836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7076" y="2841625"/>
            <a:ext cx="3702050" cy="2933700"/>
          </a:xfrm>
          <a:prstGeom prst="line">
            <a:avLst/>
          </a:prstGeom>
          <a:noFill/>
          <a:ln w="19050">
            <a:solidFill>
              <a:srgbClr val="005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9" name="Line 26">
            <a:extLst>
              <a:ext uri="{FF2B5EF4-FFF2-40B4-BE49-F238E27FC236}">
                <a16:creationId xmlns:a16="http://schemas.microsoft.com/office/drawing/2014/main" id="{E20B34C2-E787-6FBE-0E9E-BC6E008F3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602" y="4260850"/>
            <a:ext cx="1946275" cy="1512888"/>
          </a:xfrm>
          <a:prstGeom prst="line">
            <a:avLst/>
          </a:prstGeom>
          <a:noFill/>
          <a:ln w="190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EF3B0756-4F58-3025-A63D-A44E7410DB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08301" y="3562350"/>
            <a:ext cx="1588" cy="21859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C8BA0DE8-8C28-ACDE-629B-F67F3393E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490" y="4953000"/>
            <a:ext cx="890587" cy="0"/>
          </a:xfrm>
          <a:prstGeom prst="line">
            <a:avLst/>
          </a:prstGeom>
          <a:noFill/>
          <a:ln w="9525">
            <a:solidFill>
              <a:srgbClr val="789B4A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A59036DA-74D6-BD56-6F14-2038C52FA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901" y="3562350"/>
            <a:ext cx="890588" cy="0"/>
          </a:xfrm>
          <a:prstGeom prst="line">
            <a:avLst/>
          </a:prstGeom>
          <a:noFill/>
          <a:ln w="9525">
            <a:solidFill>
              <a:srgbClr val="005F85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4F0E2CA7-CBEE-BEDB-B33C-6D7071EF5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7026" y="4927600"/>
            <a:ext cx="88900" cy="88900"/>
          </a:xfrm>
          <a:prstGeom prst="ellipse">
            <a:avLst/>
          </a:prstGeom>
          <a:solidFill>
            <a:srgbClr val="789B4A"/>
          </a:solidFill>
          <a:ln w="9525">
            <a:solidFill>
              <a:srgbClr val="789B4A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4" name="Oval 24">
            <a:extLst>
              <a:ext uri="{FF2B5EF4-FFF2-40B4-BE49-F238E27FC236}">
                <a16:creationId xmlns:a16="http://schemas.microsoft.com/office/drawing/2014/main" id="{B90291EE-3D45-8303-1BCE-F9890B8F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0201" y="3524250"/>
            <a:ext cx="88900" cy="88900"/>
          </a:xfrm>
          <a:prstGeom prst="ellipse">
            <a:avLst/>
          </a:prstGeom>
          <a:solidFill>
            <a:srgbClr val="005F85"/>
          </a:solidFill>
          <a:ln w="9525">
            <a:solidFill>
              <a:srgbClr val="005F85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093D3A33-DC4C-770F-491E-6C453DC37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" y="1228725"/>
            <a:ext cx="107624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kern="0">
                <a:ea typeface="ＭＳ Ｐゴシック" pitchFamily="34" charset="-128"/>
              </a:rPr>
              <a:t>The firm’</a:t>
            </a:r>
            <a:r>
              <a:rPr lang="en-US" altLang="ja-JP" kern="0">
                <a:ea typeface="ＭＳ Ｐゴシック" pitchFamily="34" charset="-128"/>
              </a:rPr>
              <a:t>s best choice of inputs is where the </a:t>
            </a:r>
            <a:r>
              <a:rPr lang="en-US" altLang="ja-JP" b="1" kern="0">
                <a:ea typeface="ＭＳ Ｐゴシック" pitchFamily="34" charset="-128"/>
              </a:rPr>
              <a:t>isocost </a:t>
            </a:r>
            <a:r>
              <a:rPr lang="en-US" altLang="ja-JP" kern="0">
                <a:ea typeface="ＭＳ Ｐゴシック" pitchFamily="34" charset="-128"/>
              </a:rPr>
              <a:t>is </a:t>
            </a:r>
            <a:r>
              <a:rPr lang="en-US" altLang="ja-JP" b="1" kern="0">
                <a:ea typeface="ＭＳ Ｐゴシック" pitchFamily="34" charset="-128"/>
              </a:rPr>
              <a:t>tangent </a:t>
            </a:r>
            <a:r>
              <a:rPr lang="en-US" altLang="ja-JP" kern="0">
                <a:ea typeface="ＭＳ Ｐゴシック" pitchFamily="34" charset="-128"/>
              </a:rPr>
              <a:t>to the </a:t>
            </a:r>
            <a:r>
              <a:rPr lang="en-US" altLang="ja-JP" b="1" kern="0">
                <a:ea typeface="ＭＳ Ｐゴシック" pitchFamily="34" charset="-128"/>
              </a:rPr>
              <a:t>isoquant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kern="0">
                <a:ea typeface="ＭＳ Ｐゴシック" pitchFamily="34" charset="-128"/>
              </a:rPr>
              <a:t>They have the </a:t>
            </a:r>
            <a:r>
              <a:rPr lang="en-US" altLang="ja-JP" b="1" kern="0">
                <a:ea typeface="ＭＳ Ｐゴシック" pitchFamily="34" charset="-128"/>
              </a:rPr>
              <a:t>same slope</a:t>
            </a:r>
            <a:endParaRPr lang="en-US" altLang="en-US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950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Why is equal productivity/$ a good idea?</a:t>
            </a:r>
          </a:p>
        </p:txBody>
      </p:sp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FC3BD0A-7D74-280F-5EDE-BEFB3B075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89" y="4748525"/>
            <a:ext cx="110093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</a:rPr>
              <a:t>Which is bigger?</a:t>
            </a:r>
            <a:endParaRPr lang="en-US" altLang="ja-JP" sz="2400" kern="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7501F5-A661-834A-1836-64617A987D13}"/>
              </a:ext>
            </a:extLst>
          </p:cNvPr>
          <p:cNvGrpSpPr/>
          <p:nvPr/>
        </p:nvGrpSpPr>
        <p:grpSpPr>
          <a:xfrm>
            <a:off x="2208655" y="2886042"/>
            <a:ext cx="7887846" cy="461665"/>
            <a:chOff x="684655" y="2886042"/>
            <a:chExt cx="7887846" cy="4616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262DD3-287B-AFE8-FBF2-383E655BD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655" y="2886042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</a:rPr>
                <a:t>K</a:t>
              </a: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907988C-4DFE-9E52-96D5-E35FDF201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7582" y="2886042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</a:rPr>
                <a:t>L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101B0A-50B6-3C4E-8E42-B6C4576174D8}"/>
              </a:ext>
            </a:extLst>
          </p:cNvPr>
          <p:cNvGrpSpPr/>
          <p:nvPr/>
        </p:nvGrpSpPr>
        <p:grpSpPr>
          <a:xfrm>
            <a:off x="4233541" y="2418348"/>
            <a:ext cx="3901813" cy="577511"/>
            <a:chOff x="2709540" y="2418347"/>
            <a:chExt cx="3901813" cy="577511"/>
          </a:xfrm>
        </p:grpSpPr>
        <p:sp>
          <p:nvSpPr>
            <p:cNvPr id="7" name="Curved Down Arrow 6">
              <a:extLst>
                <a:ext uri="{FF2B5EF4-FFF2-40B4-BE49-F238E27FC236}">
                  <a16:creationId xmlns:a16="http://schemas.microsoft.com/office/drawing/2014/main" id="{70C0044F-1E39-69E4-C85F-9BBF761C354F}"/>
                </a:ext>
              </a:extLst>
            </p:cNvPr>
            <p:cNvSpPr/>
            <p:nvPr/>
          </p:nvSpPr>
          <p:spPr>
            <a:xfrm>
              <a:off x="2709540" y="2514595"/>
              <a:ext cx="3901813" cy="481263"/>
            </a:xfrm>
            <a:prstGeom prst="curvedDownArrow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021487-3DCC-63CF-9823-0122CF90160B}"/>
                </a:ext>
              </a:extLst>
            </p:cNvPr>
            <p:cNvSpPr/>
            <p:nvPr/>
          </p:nvSpPr>
          <p:spPr>
            <a:xfrm>
              <a:off x="4078708" y="2418347"/>
              <a:ext cx="1070810" cy="378994"/>
            </a:xfrm>
            <a:prstGeom prst="rect">
              <a:avLst/>
            </a:prstGeom>
            <a:solidFill>
              <a:srgbClr val="789B4A"/>
            </a:solidFill>
            <a:ln>
              <a:solidFill>
                <a:srgbClr val="0073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Source Sans Pro" panose="020B0503030403020204" pitchFamily="34" charset="0"/>
                </a:rPr>
                <a:t>$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B9C7D38-717C-A021-B3B4-BFF57C27DA07}"/>
              </a:ext>
            </a:extLst>
          </p:cNvPr>
          <p:cNvGrpSpPr/>
          <p:nvPr/>
        </p:nvGrpSpPr>
        <p:grpSpPr>
          <a:xfrm>
            <a:off x="2208655" y="3521325"/>
            <a:ext cx="7887846" cy="461665"/>
            <a:chOff x="684655" y="3383766"/>
            <a:chExt cx="7887846" cy="461665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39CB3A3C-3E66-C14F-ADF8-F00971C0B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655" y="3383766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algn="ctr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-1/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F5612144-516A-916A-9F09-C39A12B97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7582" y="3383766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algn="ctr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1/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</a:t>
              </a: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2B22933E-FBAA-9E94-EAE4-D706B2F2F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540" y="3383766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</a:rPr>
                <a:t>Change in input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7698C9-F6CB-20C6-AC86-75229316154C}"/>
              </a:ext>
            </a:extLst>
          </p:cNvPr>
          <p:cNvGrpSpPr/>
          <p:nvPr/>
        </p:nvGrpSpPr>
        <p:grpSpPr>
          <a:xfrm>
            <a:off x="2208655" y="4156608"/>
            <a:ext cx="7887846" cy="461665"/>
            <a:chOff x="684655" y="4156608"/>
            <a:chExt cx="7887846" cy="461665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348AFF91-5D1E-B277-7866-E39D31D14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655" y="4156608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algn="ctr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MPK x (-1/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r)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44D6158C-C488-70A3-BC96-6DC09B6C2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7582" y="4156608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algn="ctr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MPL x (1/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w)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3B612A8A-1468-6E88-6DD2-AE5EE7FBC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9540" y="4156608"/>
              <a:ext cx="37249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buNone/>
              </a:pPr>
              <a:r>
                <a:rPr lang="en-US" altLang="en-US" sz="2400" b="1" kern="0" dirty="0">
                  <a:latin typeface="Source Sans Pro" panose="020B0503030403020204" pitchFamily="34" charset="0"/>
                </a:rPr>
                <a:t>Effect on output</a:t>
              </a:r>
            </a:p>
          </p:txBody>
        </p:sp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8507972F-FF19-C642-BA49-09F5EEC4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89" y="5210190"/>
            <a:ext cx="110093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b="1" kern="0" dirty="0">
                <a:latin typeface="Source Sans Pro" panose="020B0503030403020204" pitchFamily="34" charset="0"/>
              </a:rPr>
              <a:t>Total cost </a:t>
            </a:r>
            <a:r>
              <a:rPr lang="en-US" altLang="en-US" sz="2400" kern="0" dirty="0">
                <a:latin typeface="Source Sans Pro" panose="020B0503030403020204" pitchFamily="34" charset="0"/>
              </a:rPr>
              <a:t>has stayed the </a:t>
            </a:r>
            <a:r>
              <a:rPr lang="en-US" altLang="en-US" sz="2400" b="1" kern="0" dirty="0">
                <a:latin typeface="Source Sans Pro" panose="020B0503030403020204" pitchFamily="34" charset="0"/>
              </a:rPr>
              <a:t>same</a:t>
            </a:r>
            <a:r>
              <a:rPr lang="en-US" altLang="en-US" sz="2400" kern="0" dirty="0">
                <a:latin typeface="Source Sans Pro" panose="020B0503030403020204" pitchFamily="34" charset="0"/>
              </a:rPr>
              <a:t>, but </a:t>
            </a:r>
            <a:r>
              <a:rPr lang="en-US" altLang="en-US" sz="2400" b="1" kern="0" dirty="0">
                <a:latin typeface="Source Sans Pro" panose="020B0503030403020204" pitchFamily="34" charset="0"/>
              </a:rPr>
              <a:t>output </a:t>
            </a:r>
            <a:r>
              <a:rPr lang="en-US" altLang="en-US" sz="2400" kern="0" dirty="0">
                <a:latin typeface="Source Sans Pro" panose="020B0503030403020204" pitchFamily="34" charset="0"/>
              </a:rPr>
              <a:t>has </a:t>
            </a:r>
            <a:r>
              <a:rPr lang="en-US" altLang="en-US" sz="2400" b="1" kern="0" dirty="0">
                <a:latin typeface="Source Sans Pro" panose="020B0503030403020204" pitchFamily="34" charset="0"/>
              </a:rPr>
              <a:t>increased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975A05C-B341-B5CF-C8C5-2E9014A39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89" y="5671855"/>
            <a:ext cx="11009374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</a:rPr>
              <a:t>Or … </a:t>
            </a:r>
            <a:r>
              <a:rPr lang="en-US" altLang="en-US" sz="2400" b="1" kern="0" dirty="0">
                <a:latin typeface="Source Sans Pro" panose="020B0503030403020204" pitchFamily="34" charset="0"/>
              </a:rPr>
              <a:t>output </a:t>
            </a:r>
            <a:r>
              <a:rPr lang="en-US" altLang="en-US" sz="2400" kern="0" dirty="0">
                <a:latin typeface="Source Sans Pro" panose="020B0503030403020204" pitchFamily="34" charset="0"/>
              </a:rPr>
              <a:t>stays the </a:t>
            </a:r>
            <a:r>
              <a:rPr lang="en-US" altLang="en-US" sz="2400" b="1" kern="0" dirty="0">
                <a:latin typeface="Source Sans Pro" panose="020B0503030403020204" pitchFamily="34" charset="0"/>
              </a:rPr>
              <a:t>same </a:t>
            </a:r>
            <a:r>
              <a:rPr lang="en-US" altLang="en-US" sz="2400" kern="0" dirty="0">
                <a:latin typeface="Source Sans Pro" panose="020B0503030403020204" pitchFamily="34" charset="0"/>
              </a:rPr>
              <a:t>and </a:t>
            </a:r>
            <a:r>
              <a:rPr lang="en-US" altLang="en-US" sz="2400" b="1" kern="0" dirty="0">
                <a:latin typeface="Source Sans Pro" panose="020B0503030403020204" pitchFamily="34" charset="0"/>
              </a:rPr>
              <a:t>costs decrease</a:t>
            </a:r>
          </a:p>
          <a:p>
            <a:pPr lvl="1" eaLnBrk="1" hangingPunct="1"/>
            <a:r>
              <a:rPr lang="en-US" altLang="en-US" sz="2400" kern="0" dirty="0">
                <a:latin typeface="Source Sans Pro" panose="020B0503030403020204" pitchFamily="34" charset="0"/>
              </a:rPr>
              <a:t>Don’</a:t>
            </a:r>
            <a:r>
              <a:rPr lang="en-US" altLang="ja-JP" sz="2400" kern="0" dirty="0">
                <a:latin typeface="Source Sans Pro" panose="020B0503030403020204" pitchFamily="34" charset="0"/>
              </a:rPr>
              <a:t>t need to put </a:t>
            </a:r>
            <a:r>
              <a:rPr lang="en-US" altLang="ja-JP" sz="2400" b="1" kern="0" dirty="0">
                <a:latin typeface="Source Sans Pro" panose="020B0503030403020204" pitchFamily="34" charset="0"/>
              </a:rPr>
              <a:t>full $1 </a:t>
            </a:r>
            <a:r>
              <a:rPr lang="en-US" altLang="ja-JP" sz="2400" kern="0" dirty="0">
                <a:latin typeface="Source Sans Pro" panose="020B0503030403020204" pitchFamily="34" charset="0"/>
              </a:rPr>
              <a:t>back into L to return to original 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37C0543-5C91-6AB6-EA44-6C9F5D758A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488" y="1005829"/>
                <a:ext cx="11009375" cy="1230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Source Sans Pro" panose="020B050303040302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400" kern="0" dirty="0">
                    <a:ea typeface="ＭＳ Ｐゴシック" pitchFamily="34" charset="-128"/>
                  </a:rPr>
                  <a:t>What if you think I’m wrong? What if you think labor should be more productive?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2400" i="1" ker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</m:ctrlPr>
                        </m:fPr>
                        <m:num>
                          <m:r>
                            <a:rPr lang="en-US" altLang="en-US" sz="2400" i="1" kern="0">
                              <a:latin typeface="Cambria Math"/>
                              <a:ea typeface="ＭＳ Ｐゴシック" pitchFamily="34" charset="-128"/>
                            </a:rPr>
                            <m:t>𝑀𝑃</m:t>
                          </m:r>
                          <m:r>
                            <a:rPr lang="en-US" altLang="en-US" sz="2400" i="1" ker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𝐾</m:t>
                          </m:r>
                        </m:num>
                        <m:den>
                          <m:r>
                            <a:rPr lang="en-US" altLang="en-US" sz="2400" i="1" kern="0">
                              <a:latin typeface="Cambria Math" panose="02040503050406030204" pitchFamily="18" charset="0"/>
                              <a:ea typeface="ＭＳ Ｐゴシック" pitchFamily="34" charset="-128"/>
                            </a:rPr>
                            <m:t>𝑟</m:t>
                          </m:r>
                        </m:den>
                      </m:f>
                      <m:r>
                        <a:rPr lang="en-US" altLang="en-US" sz="2400" i="1" kern="0">
                          <a:latin typeface="Cambria Math" panose="02040503050406030204" pitchFamily="18" charset="0"/>
                          <a:ea typeface="Cambria Math"/>
                        </a:rPr>
                        <m:t>&lt;</m:t>
                      </m:r>
                      <m:f>
                        <m:fPr>
                          <m:ctrlPr>
                            <a:rPr lang="en-US" altLang="en-US" sz="2400" i="1" ker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en-US" sz="2400" i="1" kern="0">
                              <a:latin typeface="Cambria Math"/>
                              <a:ea typeface="Cambria Math"/>
                            </a:rPr>
                            <m:t>𝑀𝑃</m:t>
                          </m:r>
                          <m:r>
                            <a:rPr lang="en-US" altLang="en-US" sz="2400" i="1" kern="0">
                              <a:latin typeface="Cambria Math" panose="02040503050406030204" pitchFamily="18" charset="0"/>
                              <a:ea typeface="Cambria Math"/>
                            </a:rPr>
                            <m:t>𝐿</m:t>
                          </m:r>
                        </m:num>
                        <m:den>
                          <m:r>
                            <a:rPr lang="en-US" altLang="en-US" sz="2400" i="1" kern="0">
                              <a:latin typeface="Cambria Math" panose="02040503050406030204" pitchFamily="18" charset="0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altLang="en-US" sz="2400" kern="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137C0543-5C91-6AB6-EA44-6C9F5D758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488" y="1005829"/>
                <a:ext cx="11009375" cy="1230017"/>
              </a:xfrm>
              <a:prstGeom prst="rect">
                <a:avLst/>
              </a:prstGeom>
              <a:blipFill>
                <a:blip r:embed="rId2"/>
                <a:stretch>
                  <a:fillRect l="-922" t="-61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64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8" grpId="0"/>
      <p:bldP spid="19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Example: Apple Store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C10D4-8AEE-0A48-3A85-57EDC4C7673C}"/>
              </a:ext>
            </a:extLst>
          </p:cNvPr>
          <p:cNvSpPr/>
          <p:nvPr/>
        </p:nvSpPr>
        <p:spPr>
          <a:xfrm>
            <a:off x="6271043" y="1804843"/>
            <a:ext cx="4848061" cy="3946733"/>
          </a:xfrm>
          <a:prstGeom prst="rect">
            <a:avLst/>
          </a:prstGeom>
          <a:solidFill>
            <a:srgbClr val="C8C8C8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Ex Post</a:t>
            </a:r>
          </a:p>
          <a:p>
            <a:endParaRPr lang="en-US" altLang="en-US" sz="2400" dirty="0">
              <a:solidFill>
                <a:schemeClr val="tx1"/>
              </a:solidFill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Hugely successful!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Why did Apple succeed when others failed?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How does the Apple Store fit in Apple’s business model?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6191D66B-F0A3-41DB-D829-D509CFF2A0C4}"/>
              </a:ext>
            </a:extLst>
          </p:cNvPr>
          <p:cNvSpPr/>
          <p:nvPr/>
        </p:nvSpPr>
        <p:spPr>
          <a:xfrm>
            <a:off x="711491" y="1804843"/>
            <a:ext cx="5780750" cy="3946733"/>
          </a:xfrm>
          <a:prstGeom prst="homePlate">
            <a:avLst>
              <a:gd name="adj" fmla="val 13470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Ex Ante</a:t>
            </a:r>
          </a:p>
          <a:p>
            <a:pPr>
              <a:spcAft>
                <a:spcPts val="600"/>
              </a:spcAft>
            </a:pPr>
            <a:b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</a:b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Many questioned whether a good idea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Gateway </a:t>
            </a: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retail stores were failing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Why not sell through </a:t>
            </a:r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Best Buy</a:t>
            </a: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Wasn’t better to sell through </a:t>
            </a:r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Apple.com</a:t>
            </a: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Is this the </a:t>
            </a:r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right business model </a:t>
            </a:r>
            <a:r>
              <a:rPr lang="en-US" altLang="en-US" sz="2400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for Apple?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28245F-C08B-41F7-9E66-BECAEC7FBF18}"/>
              </a:ext>
            </a:extLst>
          </p:cNvPr>
          <p:cNvSpPr txBox="1">
            <a:spLocks/>
          </p:cNvSpPr>
          <p:nvPr/>
        </p:nvSpPr>
        <p:spPr>
          <a:xfrm>
            <a:off x="646176" y="1160581"/>
            <a:ext cx="8229600" cy="461665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en-US" kern="0">
                <a:ea typeface="ＭＳ Ｐゴシック" pitchFamily="34" charset="-128"/>
              </a:rPr>
              <a:t>First Apple bricks and mortar retail store opened in 2001</a:t>
            </a:r>
            <a:endParaRPr lang="en-US" altLang="en-US" kern="0" dirty="0">
              <a:ea typeface="ＭＳ Ｐゴシック" pitchFamily="34" charset="-128"/>
            </a:endParaRPr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090BF544-4CC3-C9BB-C21B-2387C0CBC853}"/>
              </a:ext>
            </a:extLst>
          </p:cNvPr>
          <p:cNvSpPr/>
          <p:nvPr/>
        </p:nvSpPr>
        <p:spPr>
          <a:xfrm>
            <a:off x="12556053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35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Some Apple Store data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9ABF61-9F64-7855-070E-F80C7725D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073886"/>
              </p:ext>
            </p:extLst>
          </p:nvPr>
        </p:nvGraphicFramePr>
        <p:xfrm>
          <a:off x="5555226" y="1032386"/>
          <a:ext cx="5938684" cy="5004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AE454F8-6593-DE06-F3E4-1436A55F7DA5}"/>
              </a:ext>
            </a:extLst>
          </p:cNvPr>
          <p:cNvSpPr/>
          <p:nvPr/>
        </p:nvSpPr>
        <p:spPr>
          <a:xfrm>
            <a:off x="128016" y="6275693"/>
            <a:ext cx="11095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Source Sans Pro" panose="020B0503030403020204" pitchFamily="34" charset="0"/>
              </a:rPr>
              <a:t>Sources: </a:t>
            </a:r>
            <a:r>
              <a:rPr lang="en-US" sz="1400" dirty="0">
                <a:latin typeface="Source Sans Pro" panose="020B0503030403020204" pitchFamily="34" charset="0"/>
                <a:hlinkClick r:id="rId3"/>
              </a:rPr>
              <a:t>https://www.cnbc.com/2017/07/29/here-are-the-retailers-that-make-the-most-money-per-square-foot-on-their-real-estate.html</a:t>
            </a:r>
            <a:r>
              <a:rPr lang="en-US" sz="1400" dirty="0">
                <a:latin typeface="Source Sans Pro" panose="020B0503030403020204" pitchFamily="34" charset="0"/>
              </a:rPr>
              <a:t> ; </a:t>
            </a:r>
            <a:r>
              <a:rPr lang="en-US" sz="1400" dirty="0">
                <a:latin typeface="Source Sans Pro" panose="020B0503030403020204" pitchFamily="34" charset="0"/>
                <a:hlinkClick r:id="rId4"/>
              </a:rPr>
              <a:t>http://files.shareholder.com/downloads/AAPL/5038990083x0x789040/ED3853DA-2E3F-448D-ADB4-34816C375F5D/2014_Form_10_K_As_Filed.PDF</a:t>
            </a:r>
            <a:r>
              <a:rPr lang="en-US" sz="1400" dirty="0">
                <a:latin typeface="Source Sans Pro" panose="020B0503030403020204" pitchFamily="34" charset="0"/>
              </a:rPr>
              <a:t>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666F2E2-DA4F-97F2-4E8A-9275F0BAC2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4513021"/>
              </p:ext>
            </p:extLst>
          </p:nvPr>
        </p:nvGraphicFramePr>
        <p:xfrm>
          <a:off x="609600" y="1332501"/>
          <a:ext cx="4630783" cy="3839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5-Point Star 1">
            <a:extLst>
              <a:ext uri="{FF2B5EF4-FFF2-40B4-BE49-F238E27FC236}">
                <a16:creationId xmlns:a16="http://schemas.microsoft.com/office/drawing/2014/main" id="{3C8BBA9C-6B0B-7137-7B4C-7A5D2ACA52CB}"/>
              </a:ext>
            </a:extLst>
          </p:cNvPr>
          <p:cNvSpPr/>
          <p:nvPr/>
        </p:nvSpPr>
        <p:spPr>
          <a:xfrm>
            <a:off x="1249830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460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Optimal firm organization</a:t>
            </a: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D01B72-C9F1-A7FF-6688-1ABD4312FB28}"/>
              </a:ext>
            </a:extLst>
          </p:cNvPr>
          <p:cNvGrpSpPr/>
          <p:nvPr/>
        </p:nvGrpSpPr>
        <p:grpSpPr>
          <a:xfrm>
            <a:off x="408038" y="1071834"/>
            <a:ext cx="11375923" cy="1354217"/>
            <a:chOff x="58501" y="990586"/>
            <a:chExt cx="11375923" cy="1354217"/>
          </a:xfrm>
        </p:grpSpPr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7E716BA4-FCBD-F831-0420-8D054AEA236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024740" y="990586"/>
              <a:ext cx="9409684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Sam’s Club/Costco and Apple examples hint at how organizations should be structured</a:t>
              </a:r>
            </a:p>
            <a:p>
              <a:pPr marL="228600" indent="-228600"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For each division, think about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incremental value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vs.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incremental cost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9A305EF-AE71-455A-8DB9-D30239C6999E}"/>
                </a:ext>
              </a:extLst>
            </p:cNvPr>
            <p:cNvSpPr/>
            <p:nvPr/>
          </p:nvSpPr>
          <p:spPr>
            <a:xfrm>
              <a:off x="58501" y="990586"/>
              <a:ext cx="1933586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Goal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BF989DE-940B-EBAC-57BD-ADA32D6744FA}"/>
              </a:ext>
            </a:extLst>
          </p:cNvPr>
          <p:cNvGrpSpPr/>
          <p:nvPr/>
        </p:nvGrpSpPr>
        <p:grpSpPr>
          <a:xfrm>
            <a:off x="408038" y="2624015"/>
            <a:ext cx="11375922" cy="1354217"/>
            <a:chOff x="58501" y="2558129"/>
            <a:chExt cx="11375922" cy="1354217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612DB8D6-6D08-4D19-AAAC-DF4FFEC9C74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024739" y="2558129"/>
              <a:ext cx="9409684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28600" indent="-228600"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Allocate resources (denoted by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i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) across divisions (denoted by j)</a:t>
              </a:r>
            </a:p>
            <a:p>
              <a:pPr marL="228600" indent="-228600"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IN</a:t>
              </a:r>
              <a:r>
                <a:rPr lang="en-US" altLang="en-US" sz="2400" kern="0" baseline="-250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ij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would be an input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i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(e.g., labor, capital) used in division j (e.g., region, customer segment, product/brand)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E5E04F5-80A5-AB51-86E1-5447EAFF29A4}"/>
                </a:ext>
              </a:extLst>
            </p:cNvPr>
            <p:cNvSpPr/>
            <p:nvPr/>
          </p:nvSpPr>
          <p:spPr>
            <a:xfrm>
              <a:off x="58501" y="2558129"/>
              <a:ext cx="1933586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Allocate inputs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7E3DA9-6E21-4EC4-D2A6-6AFF26AA65D5}"/>
              </a:ext>
            </a:extLst>
          </p:cNvPr>
          <p:cNvGrpSpPr/>
          <p:nvPr/>
        </p:nvGrpSpPr>
        <p:grpSpPr>
          <a:xfrm>
            <a:off x="408038" y="4176195"/>
            <a:ext cx="11368995" cy="2130583"/>
            <a:chOff x="65428" y="4016815"/>
            <a:chExt cx="11368995" cy="21305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ontent Placeholder 2">
                  <a:extLst>
                    <a:ext uri="{FF2B5EF4-FFF2-40B4-BE49-F238E27FC236}">
                      <a16:creationId xmlns:a16="http://schemas.microsoft.com/office/drawing/2014/main" id="{B5083E1A-B0C8-E262-36C3-EB41266142E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024739" y="4016815"/>
                  <a:ext cx="9409684" cy="2130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charset="0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Arial" charset="0"/>
                      <a:cs typeface="+mn-cs"/>
                    </a:defRPr>
                  </a:lvl5pPr>
                  <a:lvl6pPr marL="25146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6pPr>
                  <a:lvl7pPr marL="29718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7pPr>
                  <a:lvl8pPr marL="34290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8pPr>
                  <a:lvl9pPr marL="3886200" indent="-228600" algn="l" rtl="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cs typeface="+mn-cs"/>
                    </a:defRPr>
                  </a:lvl9pPr>
                </a:lstStyle>
                <a:p>
                  <a:pPr marL="228600" indent="-228600"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Let </a:t>
                  </a:r>
                  <a:r>
                    <a:rPr lang="en-US" altLang="en-US" sz="2400" b="1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MRP(</a:t>
                  </a:r>
                  <a:r>
                    <a:rPr lang="en-US" altLang="en-US" sz="2400" b="1" kern="0" dirty="0" err="1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IN</a:t>
                  </a:r>
                  <a:r>
                    <a:rPr lang="en-US" altLang="en-US" sz="2400" b="1" kern="0" baseline="-25000" dirty="0" err="1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ij</a:t>
                  </a:r>
                  <a:r>
                    <a:rPr lang="en-US" altLang="en-US" sz="2400" b="1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)</a:t>
                  </a:r>
                  <a:r>
                    <a:rPr lang="en-US" altLang="en-US" sz="2400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 be the </a:t>
                  </a:r>
                  <a:r>
                    <a:rPr lang="en-US" altLang="en-US" sz="2400" b="1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incremental benefit </a:t>
                  </a:r>
                  <a:r>
                    <a:rPr lang="en-US" altLang="en-US" sz="2400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of using 1 more unit of </a:t>
                  </a:r>
                  <a:r>
                    <a:rPr lang="en-US" altLang="en-US" sz="2400" kern="0" dirty="0" err="1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IN</a:t>
                  </a:r>
                  <a:r>
                    <a:rPr lang="en-US" altLang="en-US" sz="2400" kern="0" baseline="-25000" dirty="0" err="1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ij</a:t>
                  </a:r>
                  <a:endParaRPr lang="en-US" altLang="en-US" sz="2400" kern="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  <a:p>
                  <a:pPr marL="228600" indent="-228600"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kern="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Optimal allocation across inputs and divisions implies:</a:t>
                  </a:r>
                </a:p>
                <a:p>
                  <a:pPr marL="0" indent="0">
                    <a:spcBef>
                      <a:spcPts val="0"/>
                    </a:spcBef>
                    <a:spcAft>
                      <a:spcPts val="120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en-US" sz="2400" b="1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b="1" i="1" kern="0" smtClean="0">
                                <a:latin typeface="Cambria Math" panose="02040503050406030204" pitchFamily="18" charset="0"/>
                              </a:rPr>
                              <m:t>𝑴𝑹𝑷</m:t>
                            </m:r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𝑰𝑵</m:t>
                                </m:r>
                              </m:e>
                              <m:sub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en-US" sz="2400" b="1" i="1" kern="0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en-US" sz="2400" b="1" i="1" kern="0" dirty="0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𝑴𝑪</m:t>
                            </m:r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𝑰𝑵</m:t>
                                </m:r>
                              </m:e>
                              <m:sub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en-US" sz="2400" b="1" i="1" kern="0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en-US" sz="2400" i="1" ker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en-US" sz="2400" b="1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2400" b="1" i="1" kern="0" smtClean="0">
                                <a:latin typeface="Cambria Math" panose="02040503050406030204" pitchFamily="18" charset="0"/>
                              </a:rPr>
                              <m:t>𝑴𝑹𝑷</m:t>
                            </m:r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𝑰𝑵</m:t>
                                </m:r>
                              </m:e>
                              <m:sub>
                                <m:r>
                                  <a:rPr lang="en-US" altLang="en-US" sz="2400" b="1" i="1" kern="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en-US" sz="2400" b="1" i="1" kern="0" dirty="0" smtClean="0"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𝑴𝑪</m:t>
                            </m:r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𝑰𝑵</m:t>
                                </m:r>
                              </m:e>
                              <m:sub>
                                <m:r>
                                  <a:rPr lang="en-US" altLang="en-US" sz="2400" b="1" i="1" kern="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altLang="en-US" sz="2400" b="1" i="1" kern="0" dirty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en-US" sz="2400" b="1" kern="0" dirty="0">
                                <a:latin typeface="Source Sans Pro" panose="020B0503030403020204" pitchFamily="34" charset="0"/>
                                <a:ea typeface="Source Sans Pro" panose="020B0503030403020204" pitchFamily="34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altLang="en-US" sz="2400" b="1" kern="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Content Placeholder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24739" y="4016815"/>
                  <a:ext cx="9409684" cy="2130583"/>
                </a:xfrm>
                <a:prstGeom prst="rect">
                  <a:avLst/>
                </a:prstGeom>
                <a:blipFill>
                  <a:blip r:embed="rId2"/>
                  <a:stretch>
                    <a:fillRect l="-842" t="-228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436688D-9B67-6187-1E52-75C53C318188}"/>
                </a:ext>
              </a:extLst>
            </p:cNvPr>
            <p:cNvSpPr/>
            <p:nvPr/>
          </p:nvSpPr>
          <p:spPr>
            <a:xfrm>
              <a:off x="65428" y="4016815"/>
              <a:ext cx="1926659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Economic value added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30080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Example: Outsourcing to China</a:t>
            </a:r>
          </a:p>
        </p:txBody>
      </p:sp>
      <p:sp>
        <p:nvSpPr>
          <p:cNvPr id="4198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FA388A1-CA6B-427E-A07C-A2DBD539200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DBC21-87FD-E3A1-918F-0D500B92B199}"/>
              </a:ext>
            </a:extLst>
          </p:cNvPr>
          <p:cNvSpPr txBox="1">
            <a:spLocks/>
          </p:cNvSpPr>
          <p:nvPr/>
        </p:nvSpPr>
        <p:spPr>
          <a:xfrm>
            <a:off x="1152144" y="1493902"/>
            <a:ext cx="10040112" cy="24191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It has been claimed that low wage countries like China have an inherent production advantage over high wage countries like the U.S.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Does this logic make sense?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How can we think about a firm’</a:t>
            </a:r>
            <a:r>
              <a:rPr lang="en-US" altLang="ja-JP" sz="2800" kern="0">
                <a:ea typeface="ＭＳ Ｐゴシック" pitchFamily="34" charset="-128"/>
              </a:rPr>
              <a:t>s decision to outsource?</a:t>
            </a:r>
            <a:endParaRPr lang="en-US" altLang="ja-JP" sz="2800" kern="0" dirty="0">
              <a:ea typeface="ＭＳ Ｐゴシック" pitchFamily="34" charset="-128"/>
            </a:endParaRPr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44B6878C-0D3F-4756-99B0-3BE49F9D89E3}"/>
              </a:ext>
            </a:extLst>
          </p:cNvPr>
          <p:cNvSpPr/>
          <p:nvPr/>
        </p:nvSpPr>
        <p:spPr>
          <a:xfrm>
            <a:off x="12527178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243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Example:  Outsourcing to China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3D8077B-31C2-C5B0-8500-6DBF8B3F4C1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2622" y="1245839"/>
                <a:ext cx="6357257" cy="1034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393192" lvl="1" indent="0" fontAlgn="auto">
                  <a:spcBef>
                    <a:spcPts val="0"/>
                  </a:spcBef>
                  <a:spcAft>
                    <a:spcPts val="1200"/>
                  </a:spcAft>
                  <a:buSzPct val="10000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kern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kern="0" smtClean="0">
                              <a:latin typeface="Cambria Math" panose="02040503050406030204" pitchFamily="18" charset="0"/>
                            </a:rPr>
                            <m:t>𝑴𝑹𝑷</m:t>
                          </m:r>
                          <m:r>
                            <m:rPr>
                              <m:nor/>
                            </m:rPr>
                            <a:rPr lang="en-US" sz="2400" b="1" kern="0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𝑪𝒉𝒊𝒏𝒂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1" kern="0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𝑪𝒉𝒊𝒏𝒂</m:t>
                              </m:r>
                            </m:sub>
                          </m:sSub>
                        </m:den>
                      </m:f>
                      <m:r>
                        <a:rPr lang="en-US" sz="2400" b="1" i="1" kern="0">
                          <a:latin typeface="Cambria Math"/>
                        </a:rPr>
                        <m:t>&gt;</m:t>
                      </m:r>
                      <m:f>
                        <m:fPr>
                          <m:ctrlPr>
                            <a:rPr lang="en-US" sz="2400" b="1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kern="0" smtClean="0">
                              <a:latin typeface="Cambria Math" panose="02040503050406030204" pitchFamily="18" charset="0"/>
                            </a:rPr>
                            <m:t>𝑴𝑹𝑷</m:t>
                          </m:r>
                          <m:r>
                            <m:rPr>
                              <m:nor/>
                            </m:rPr>
                            <a:rPr lang="en-US" sz="2400" b="1" kern="0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𝑼𝑺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1" kern="0" dirty="0">
                              <a:latin typeface="Source Sans Pro" panose="020B0503030403020204" pitchFamily="34" charset="0"/>
                              <a:ea typeface="Source Sans Pro" panose="020B0503030403020204" pitchFamily="34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400" b="1" i="1" kern="0" dirty="0">
                                  <a:latin typeface="Cambria Math" panose="02040503050406030204" pitchFamily="18" charset="0"/>
                                </a:rPr>
                                <m:t>𝑼𝑺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3D8077B-31C2-C5B0-8500-6DBF8B3F4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2622" y="1245839"/>
                <a:ext cx="6357257" cy="10341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B8483E-100A-BFC9-EF80-DA6258C9B0E5}"/>
              </a:ext>
            </a:extLst>
          </p:cNvPr>
          <p:cNvSpPr/>
          <p:nvPr/>
        </p:nvSpPr>
        <p:spPr>
          <a:xfrm>
            <a:off x="1093359" y="1245838"/>
            <a:ext cx="2013859" cy="986020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When to outsource?</a:t>
            </a:r>
            <a:endParaRPr lang="en-US" sz="24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6D65B9-1C6F-0EE4-7EAC-6AEC4B55D4C2}"/>
              </a:ext>
            </a:extLst>
          </p:cNvPr>
          <p:cNvSpPr txBox="1">
            <a:spLocks/>
          </p:cNvSpPr>
          <p:nvPr/>
        </p:nvSpPr>
        <p:spPr bwMode="auto">
          <a:xfrm>
            <a:off x="3232622" y="2693639"/>
            <a:ext cx="7923058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36042" fontAlgn="auto"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kern="0" dirty="0" err="1">
                <a:latin typeface="Source Sans Pro" panose="020B0503030403020204" pitchFamily="34" charset="0"/>
              </a:rPr>
              <a:t>MRP</a:t>
            </a:r>
            <a:r>
              <a:rPr lang="en-US" sz="2400" kern="0" baseline="-25000" dirty="0" err="1">
                <a:latin typeface="Source Sans Pro" panose="020B0503030403020204" pitchFamily="34" charset="0"/>
              </a:rPr>
              <a:t>i</a:t>
            </a:r>
            <a:r>
              <a:rPr lang="en-US" sz="2400" kern="0" dirty="0">
                <a:latin typeface="Source Sans Pro" panose="020B0503030403020204" pitchFamily="34" charset="0"/>
              </a:rPr>
              <a:t> = </a:t>
            </a:r>
            <a:r>
              <a:rPr lang="en-US" sz="2400" b="1" kern="0" dirty="0">
                <a:latin typeface="Source Sans Pro" panose="020B0503030403020204" pitchFamily="34" charset="0"/>
              </a:rPr>
              <a:t>MP(L</a:t>
            </a:r>
            <a:r>
              <a:rPr lang="en-US" sz="2400" b="1" kern="0" baseline="-25000" dirty="0">
                <a:latin typeface="Source Sans Pro" panose="020B0503030403020204" pitchFamily="34" charset="0"/>
              </a:rPr>
              <a:t>i</a:t>
            </a:r>
            <a:r>
              <a:rPr lang="en-US" sz="2400" b="1" kern="0" dirty="0">
                <a:latin typeface="Source Sans Pro" panose="020B0503030403020204" pitchFamily="34" charset="0"/>
              </a:rPr>
              <a:t>)*MR(Q</a:t>
            </a:r>
            <a:r>
              <a:rPr lang="en-US" sz="2400" b="1" kern="0" baseline="-25000" dirty="0">
                <a:latin typeface="Source Sans Pro" panose="020B0503030403020204" pitchFamily="34" charset="0"/>
              </a:rPr>
              <a:t>i</a:t>
            </a:r>
            <a:r>
              <a:rPr lang="en-US" sz="2400" b="1" kern="0" dirty="0">
                <a:latin typeface="Source Sans Pro" panose="020B0503030403020204" pitchFamily="34" charset="0"/>
              </a:rPr>
              <a:t>)</a:t>
            </a:r>
          </a:p>
          <a:p>
            <a:pPr marL="336042" fontAlgn="auto"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latin typeface="Source Sans Pro" panose="020B0503030403020204" pitchFamily="34" charset="0"/>
              </a:rPr>
              <a:t>If firms are selling in global market</a:t>
            </a:r>
          </a:p>
          <a:p>
            <a:pPr marL="0" indent="0" algn="ctr" fontAlgn="auto">
              <a:spcBef>
                <a:spcPts val="0"/>
              </a:spcBef>
              <a:spcAft>
                <a:spcPts val="1200"/>
              </a:spcAft>
              <a:buSzPct val="100000"/>
              <a:buNone/>
              <a:defRPr/>
            </a:pPr>
            <a:r>
              <a:rPr lang="en-US" sz="2400" kern="0" dirty="0" err="1">
                <a:latin typeface="Source Sans Pro" panose="020B0503030403020204" pitchFamily="34" charset="0"/>
              </a:rPr>
              <a:t>MR</a:t>
            </a:r>
            <a:r>
              <a:rPr lang="en-US" sz="2400" kern="0" baseline="-25000" dirty="0" err="1">
                <a:latin typeface="Source Sans Pro" panose="020B0503030403020204" pitchFamily="34" charset="0"/>
              </a:rPr>
              <a:t>China</a:t>
            </a:r>
            <a:r>
              <a:rPr lang="en-US" sz="2400" kern="0" dirty="0">
                <a:latin typeface="Source Sans Pro" panose="020B0503030403020204" pitchFamily="34" charset="0"/>
              </a:rPr>
              <a:t> = MR</a:t>
            </a:r>
            <a:r>
              <a:rPr lang="en-US" sz="2400" kern="0" baseline="-25000" dirty="0">
                <a:latin typeface="Source Sans Pro" panose="020B0503030403020204" pitchFamily="34" charset="0"/>
              </a:rPr>
              <a:t>US</a:t>
            </a:r>
            <a:endParaRPr lang="en-US" sz="2400" kern="0" dirty="0">
              <a:latin typeface="Source Sans Pro" panose="020B0503030403020204" pitchFamily="34" charset="0"/>
            </a:endParaRPr>
          </a:p>
          <a:p>
            <a:pPr marL="336042" fontAlgn="auto"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latin typeface="Source Sans Pro" panose="020B0503030403020204" pitchFamily="34" charset="0"/>
              </a:rPr>
              <a:t>So we really want to think about differences in </a:t>
            </a:r>
            <a:r>
              <a:rPr lang="en-US" sz="2400" b="1" kern="0" dirty="0">
                <a:latin typeface="Source Sans Pro" panose="020B0503030403020204" pitchFamily="34" charset="0"/>
              </a:rPr>
              <a:t>marginal productivity</a:t>
            </a:r>
          </a:p>
          <a:p>
            <a:pPr marL="336042" fontAlgn="auto"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400" kern="0" dirty="0">
                <a:latin typeface="Source Sans Pro" panose="020B0503030403020204" pitchFamily="34" charset="0"/>
              </a:rPr>
              <a:t>How will productivity and wages evolve in the U.S. and China in the future?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A3635D-EF7F-F1B3-8E33-3F3183834A77}"/>
              </a:ext>
            </a:extLst>
          </p:cNvPr>
          <p:cNvSpPr/>
          <p:nvPr/>
        </p:nvSpPr>
        <p:spPr>
          <a:xfrm>
            <a:off x="1093359" y="2693639"/>
            <a:ext cx="2013859" cy="1277841"/>
          </a:xfrm>
          <a:prstGeom prst="round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kern="0" dirty="0">
                <a:solidFill>
                  <a:srgbClr val="C8C8C8"/>
                </a:solidFill>
                <a:latin typeface="Source Sans Pro" panose="020B0503030403020204" pitchFamily="34" charset="0"/>
              </a:rPr>
              <a:t>What affects </a:t>
            </a:r>
            <a:r>
              <a:rPr lang="en-US" sz="2400" b="1" kern="0" dirty="0" err="1">
                <a:solidFill>
                  <a:srgbClr val="C8C8C8"/>
                </a:solidFill>
                <a:latin typeface="Source Sans Pro" panose="020B0503030403020204" pitchFamily="34" charset="0"/>
              </a:rPr>
              <a:t>MRP</a:t>
            </a:r>
            <a:r>
              <a:rPr lang="en-US" sz="2400" b="1" kern="0" baseline="-25000" dirty="0" err="1">
                <a:solidFill>
                  <a:srgbClr val="C8C8C8"/>
                </a:solidFill>
                <a:latin typeface="Source Sans Pro" panose="020B0503030403020204" pitchFamily="34" charset="0"/>
              </a:rPr>
              <a:t>China</a:t>
            </a:r>
            <a:r>
              <a:rPr lang="en-US" sz="2400" b="1" kern="0" dirty="0">
                <a:solidFill>
                  <a:srgbClr val="C8C8C8"/>
                </a:solidFill>
                <a:latin typeface="Source Sans Pro" panose="020B0503030403020204" pitchFamily="34" charset="0"/>
              </a:rPr>
              <a:t> and MRP</a:t>
            </a:r>
            <a:r>
              <a:rPr lang="en-US" sz="2400" b="1" kern="0" baseline="-25000" dirty="0">
                <a:solidFill>
                  <a:srgbClr val="C8C8C8"/>
                </a:solidFill>
                <a:latin typeface="Source Sans Pro" panose="020B0503030403020204" pitchFamily="34" charset="0"/>
              </a:rPr>
              <a:t>US</a:t>
            </a:r>
            <a:r>
              <a:rPr lang="en-US" sz="2400" b="1" kern="0" dirty="0">
                <a:solidFill>
                  <a:srgbClr val="C8C8C8"/>
                </a:solidFill>
                <a:latin typeface="Source Sans Pro" panose="020B0503030403020204" pitchFamily="34" charset="0"/>
              </a:rPr>
              <a:t>?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2EA03234-77AD-05A3-C951-8AC19F156198}"/>
              </a:ext>
            </a:extLst>
          </p:cNvPr>
          <p:cNvSpPr/>
          <p:nvPr/>
        </p:nvSpPr>
        <p:spPr>
          <a:xfrm>
            <a:off x="1246942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938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Outsourcing to China takeaways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A56F37-F356-08E1-8F6C-50B2946ECC4A}"/>
              </a:ext>
            </a:extLst>
          </p:cNvPr>
          <p:cNvSpPr txBox="1">
            <a:spLocks/>
          </p:cNvSpPr>
          <p:nvPr/>
        </p:nvSpPr>
        <p:spPr>
          <a:xfrm>
            <a:off x="723900" y="1405570"/>
            <a:ext cx="10744200" cy="41242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kern="0">
                <a:ea typeface="ＭＳ Ｐゴシック" pitchFamily="34" charset="-128"/>
              </a:rPr>
              <a:t>Need to think carefully about what is driving </a:t>
            </a:r>
            <a:r>
              <a:rPr lang="en-US" altLang="en-US" b="1" kern="0">
                <a:ea typeface="ＭＳ Ｐゴシック" pitchFamily="34" charset="-128"/>
              </a:rPr>
              <a:t>value creation </a:t>
            </a:r>
            <a:r>
              <a:rPr lang="en-US" altLang="en-US" kern="0">
                <a:ea typeface="ＭＳ Ｐゴシック" pitchFamily="34" charset="-128"/>
              </a:rPr>
              <a:t>in each region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kern="0">
                <a:ea typeface="ＭＳ Ｐゴシック" pitchFamily="34" charset="-128"/>
              </a:rPr>
              <a:t>MRP of a worker is a function of</a:t>
            </a:r>
          </a:p>
          <a:p>
            <a:pPr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kern="0"/>
              <a:t>Incremental revenue driven by </a:t>
            </a:r>
            <a:r>
              <a:rPr lang="en-US" altLang="en-US" b="1" kern="0"/>
              <a:t>corporate strategy</a:t>
            </a:r>
          </a:p>
          <a:p>
            <a:pPr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kern="0"/>
              <a:t>Capital </a:t>
            </a:r>
            <a:r>
              <a:rPr lang="en-US" altLang="en-US" kern="0"/>
              <a:t>deployed per worker</a:t>
            </a:r>
          </a:p>
          <a:p>
            <a:pPr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kern="0"/>
              <a:t>Organizational </a:t>
            </a:r>
            <a:r>
              <a:rPr lang="en-US" altLang="en-US" b="1" kern="0"/>
              <a:t>incentives</a:t>
            </a:r>
          </a:p>
          <a:p>
            <a:pPr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kern="0"/>
              <a:t>Management </a:t>
            </a:r>
            <a:r>
              <a:rPr lang="en-US" altLang="en-US" kern="0"/>
              <a:t>quality</a:t>
            </a:r>
          </a:p>
          <a:p>
            <a:pPr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kern="0"/>
              <a:t>Worker </a:t>
            </a:r>
            <a:r>
              <a:rPr lang="en-US" altLang="en-US" b="1" kern="0"/>
              <a:t>quality</a:t>
            </a:r>
          </a:p>
          <a:p>
            <a:pPr lvl="1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b="1" kern="0"/>
              <a:t>Skills </a:t>
            </a:r>
            <a:r>
              <a:rPr lang="en-US" altLang="en-US" kern="0"/>
              <a:t>and </a:t>
            </a:r>
            <a:r>
              <a:rPr lang="en-US" altLang="en-US" b="1" kern="0"/>
              <a:t>complementarity </a:t>
            </a:r>
            <a:r>
              <a:rPr lang="en-US" altLang="en-US" kern="0"/>
              <a:t>of other workers in the organization </a:t>
            </a:r>
            <a:endParaRPr lang="en-US" altLang="en-US" kern="0" dirty="0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13886C60-3B9B-5A15-F584-F99CC9FACB45}"/>
              </a:ext>
            </a:extLst>
          </p:cNvPr>
          <p:cNvSpPr/>
          <p:nvPr/>
        </p:nvSpPr>
        <p:spPr>
          <a:xfrm>
            <a:off x="12604179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879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Input price changes</a:t>
            </a:r>
          </a:p>
        </p:txBody>
      </p:sp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3E3D73E-23E2-4146-801E-2DA37993A51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4BF612-33BF-DA21-E5EA-70888B48503B}"/>
              </a:ext>
            </a:extLst>
          </p:cNvPr>
          <p:cNvGrpSpPr/>
          <p:nvPr/>
        </p:nvGrpSpPr>
        <p:grpSpPr>
          <a:xfrm>
            <a:off x="609600" y="2194803"/>
            <a:ext cx="11159613" cy="2923877"/>
            <a:chOff x="238628" y="1945535"/>
            <a:chExt cx="11159613" cy="2923877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F515973-E655-2281-4472-7639F0189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029" y="1945535"/>
              <a:ext cx="9210212" cy="2923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Supply of high-quality labor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increases due to improvements in higher education and greater college enrollment rates</a:t>
              </a:r>
            </a:p>
            <a:p>
              <a:pPr lvl="1"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Leads to a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decrease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 equilibrium wages (w)</a:t>
              </a:r>
            </a:p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Interest rates increase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, which raises the opportunity cost of capital</a:t>
              </a:r>
            </a:p>
            <a:p>
              <a:pPr lvl="1"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Leads to an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increase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 the real cost of capital (r)</a:t>
              </a:r>
            </a:p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Oil output restrictions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by OPEC lead to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increased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energy prices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D903878-B126-BE10-964D-DB00E7E7282E}"/>
                </a:ext>
              </a:extLst>
            </p:cNvPr>
            <p:cNvSpPr/>
            <p:nvPr/>
          </p:nvSpPr>
          <p:spPr>
            <a:xfrm>
              <a:off x="238628" y="1945535"/>
              <a:ext cx="1949401" cy="806232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Examples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2EC559A-DE3C-6775-A586-302DAA7792A0}"/>
              </a:ext>
            </a:extLst>
          </p:cNvPr>
          <p:cNvGrpSpPr/>
          <p:nvPr/>
        </p:nvGrpSpPr>
        <p:grpSpPr>
          <a:xfrm>
            <a:off x="609600" y="5316657"/>
            <a:ext cx="11159613" cy="830997"/>
            <a:chOff x="238628" y="5616339"/>
            <a:chExt cx="11159613" cy="830997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C45CD524-485F-1F60-0A7F-B5B0D64FF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029" y="5616339"/>
              <a:ext cx="921021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How should firms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re-optimize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input choices in the short- and long- run in response to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input price changes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?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BD4BAD-A8A1-131B-3A51-3701C2117B06}"/>
                </a:ext>
              </a:extLst>
            </p:cNvPr>
            <p:cNvSpPr/>
            <p:nvPr/>
          </p:nvSpPr>
          <p:spPr>
            <a:xfrm>
              <a:off x="238628" y="5616339"/>
              <a:ext cx="1949401" cy="806232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Re-optimize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8D70E7-C17A-7BF4-5AF7-AEC386ECAD07}"/>
              </a:ext>
            </a:extLst>
          </p:cNvPr>
          <p:cNvGrpSpPr/>
          <p:nvPr/>
        </p:nvGrpSpPr>
        <p:grpSpPr>
          <a:xfrm>
            <a:off x="609599" y="1165830"/>
            <a:ext cx="11159614" cy="830997"/>
            <a:chOff x="337453" y="946373"/>
            <a:chExt cx="11057336" cy="830997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787B32CA-707C-33E7-7463-B842DFF35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989" y="946373"/>
              <a:ext cx="91258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How should a firm respond to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changes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in the prices of labor, capital, or other materials?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23652CD-2CB2-DA52-F08C-63621B1D7B84}"/>
                </a:ext>
              </a:extLst>
            </p:cNvPr>
            <p:cNvSpPr/>
            <p:nvPr/>
          </p:nvSpPr>
          <p:spPr>
            <a:xfrm>
              <a:off x="337453" y="946373"/>
              <a:ext cx="1931535" cy="806232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How to respond?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7556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Input price changes</a:t>
            </a:r>
          </a:p>
        </p:txBody>
      </p:sp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EEC77B4-F372-4EE2-B13B-B08C647147D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Line 4">
            <a:extLst>
              <a:ext uri="{FF2B5EF4-FFF2-40B4-BE49-F238E27FC236}">
                <a16:creationId xmlns:a16="http://schemas.microsoft.com/office/drawing/2014/main" id="{EA8704BA-5C98-4D6E-20BD-62298D90A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739" y="1787525"/>
            <a:ext cx="0" cy="3054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625EB1CC-28CA-A2E4-2029-D11D3B0C5C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4564" y="4841875"/>
            <a:ext cx="3765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CB8149AE-78A5-7A7C-796B-94BA825B7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53" y="165893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K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5BDC0191-3626-2F1F-EFAF-5B9B00D4D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301" y="4851041"/>
            <a:ext cx="30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7" name="Arc 9">
            <a:extLst>
              <a:ext uri="{FF2B5EF4-FFF2-40B4-BE49-F238E27FC236}">
                <a16:creationId xmlns:a16="http://schemas.microsoft.com/office/drawing/2014/main" id="{E26C3159-9C34-9EEE-68A3-6859362CCC5C}"/>
              </a:ext>
            </a:extLst>
          </p:cNvPr>
          <p:cNvSpPr>
            <a:spLocks/>
          </p:cNvSpPr>
          <p:nvPr/>
        </p:nvSpPr>
        <p:spPr bwMode="auto">
          <a:xfrm rot="10800000">
            <a:off x="1683015" y="1727200"/>
            <a:ext cx="3648075" cy="2960688"/>
          </a:xfrm>
          <a:custGeom>
            <a:avLst/>
            <a:gdLst>
              <a:gd name="T0" fmla="*/ 2147483647 w 21579"/>
              <a:gd name="T1" fmla="*/ 0 h 21567"/>
              <a:gd name="T2" fmla="*/ 2147483647 w 21579"/>
              <a:gd name="T3" fmla="*/ 2147483647 h 21567"/>
              <a:gd name="T4" fmla="*/ 0 w 21579"/>
              <a:gd name="T5" fmla="*/ 2147483647 h 21567"/>
              <a:gd name="T6" fmla="*/ 0 60000 65536"/>
              <a:gd name="T7" fmla="*/ 0 60000 65536"/>
              <a:gd name="T8" fmla="*/ 0 60000 65536"/>
              <a:gd name="T9" fmla="*/ 0 w 21579"/>
              <a:gd name="T10" fmla="*/ 0 h 21567"/>
              <a:gd name="T11" fmla="*/ 21579 w 21579"/>
              <a:gd name="T12" fmla="*/ 21567 h 215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9" h="21567" fill="none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</a:path>
              <a:path w="21579" h="21567" stroke="0" extrusionOk="0">
                <a:moveTo>
                  <a:pt x="1198" y="0"/>
                </a:moveTo>
                <a:cubicBezTo>
                  <a:pt x="12277" y="616"/>
                  <a:pt x="21087" y="9525"/>
                  <a:pt x="21578" y="20610"/>
                </a:cubicBezTo>
                <a:lnTo>
                  <a:pt x="0" y="21567"/>
                </a:lnTo>
                <a:lnTo>
                  <a:pt x="1198" y="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D3E4FAFE-BF6F-DCE2-4121-71A76F8ED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852" y="4072041"/>
            <a:ext cx="12176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Q = 50</a:t>
            </a: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0E13DD3F-ADAC-D1A3-5966-C1557DB48A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740" y="3022600"/>
            <a:ext cx="2955925" cy="1816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0" name="Line 22">
            <a:extLst>
              <a:ext uri="{FF2B5EF4-FFF2-40B4-BE49-F238E27FC236}">
                <a16:creationId xmlns:a16="http://schemas.microsoft.com/office/drawing/2014/main" id="{EA164632-0528-4BB0-B8F1-8182802BD4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915" y="4049713"/>
            <a:ext cx="16716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Text Box 23">
            <a:extLst>
              <a:ext uri="{FF2B5EF4-FFF2-40B4-BE49-F238E27FC236}">
                <a16:creationId xmlns:a16="http://schemas.microsoft.com/office/drawing/2014/main" id="{EB98923D-10FE-D800-BB32-D90801F81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53" y="386715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5</a:t>
            </a: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1E2068CC-5C6B-B6A4-0171-15B4219B6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076" y="4851041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13" name="Line 29">
            <a:extLst>
              <a:ext uri="{FF2B5EF4-FFF2-40B4-BE49-F238E27FC236}">
                <a16:creationId xmlns:a16="http://schemas.microsoft.com/office/drawing/2014/main" id="{83A22AD5-5246-440D-03A9-C6E8B47F9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726" y="4049714"/>
            <a:ext cx="0" cy="769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4" name="Text Box 33">
            <a:extLst>
              <a:ext uri="{FF2B5EF4-FFF2-40B4-BE49-F238E27FC236}">
                <a16:creationId xmlns:a16="http://schemas.microsoft.com/office/drawing/2014/main" id="{5651C4D8-0BAF-17E4-2E9A-91B32CBEC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7546" y="1610413"/>
            <a:ext cx="6498541" cy="4007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234950" indent="-2349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In the short run: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 err="1">
                <a:solidFill>
                  <a:srgbClr val="005F85"/>
                </a:solidFill>
                <a:latin typeface="Source Sans Pro" panose="020B0503030403020204" pitchFamily="34" charset="0"/>
              </a:rPr>
              <a:t>Isocost</a:t>
            </a:r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 rotates in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K fixed at 5, so must keep L = 10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This is now more expensive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	C = 20</a:t>
            </a: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  <a:sym typeface="Symbol" pitchFamily="18" charset="2"/>
              </a:rPr>
              <a:t>*10 + </a:t>
            </a: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</a:rPr>
              <a:t>10</a:t>
            </a:r>
            <a:r>
              <a:rPr lang="en-US" altLang="en-US" sz="2400" dirty="0">
                <a:solidFill>
                  <a:srgbClr val="789B4A"/>
                </a:solidFill>
                <a:latin typeface="Source Sans Pro" panose="020B0503030403020204" pitchFamily="34" charset="0"/>
                <a:sym typeface="Symbol" pitchFamily="18" charset="2"/>
              </a:rPr>
              <a:t>*5 = $250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 dirty="0">
                <a:latin typeface="Source Sans Pro" panose="020B0503030403020204" pitchFamily="34" charset="0"/>
                <a:sym typeface="Symbol" pitchFamily="18" charset="2"/>
              </a:rPr>
              <a:t>In the long run: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  <a:sym typeface="Symbol" pitchFamily="18" charset="2"/>
              </a:rPr>
              <a:t>The firm can re-optimize its L &amp; K combination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  <a:sym typeface="Symbol" pitchFamily="18" charset="2"/>
              </a:rPr>
              <a:t>It chooses L = 5 &amp; K = 10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  <a:sym typeface="Symbol" pitchFamily="18" charset="2"/>
              </a:rPr>
              <a:t>	C = </a:t>
            </a: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</a:rPr>
              <a:t>20</a:t>
            </a: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  <a:sym typeface="Symbol" pitchFamily="18" charset="2"/>
              </a:rPr>
              <a:t>*5 + </a:t>
            </a: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</a:rPr>
              <a:t>10</a:t>
            </a:r>
            <a:r>
              <a:rPr lang="en-US" altLang="en-US" sz="2400" dirty="0">
                <a:solidFill>
                  <a:srgbClr val="E1C4AC"/>
                </a:solidFill>
                <a:latin typeface="Source Sans Pro" panose="020B0503030403020204" pitchFamily="34" charset="0"/>
                <a:sym typeface="Symbol" pitchFamily="18" charset="2"/>
              </a:rPr>
              <a:t>*10 = $200</a:t>
            </a:r>
          </a:p>
        </p:txBody>
      </p:sp>
      <p:sp>
        <p:nvSpPr>
          <p:cNvPr id="15" name="Line 34">
            <a:extLst>
              <a:ext uri="{FF2B5EF4-FFF2-40B4-BE49-F238E27FC236}">
                <a16:creationId xmlns:a16="http://schemas.microsoft.com/office/drawing/2014/main" id="{A14BAE61-414A-6315-9773-E236FFAD6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452" y="2249488"/>
            <a:ext cx="1527175" cy="2597150"/>
          </a:xfrm>
          <a:prstGeom prst="line">
            <a:avLst/>
          </a:prstGeom>
          <a:noFill/>
          <a:ln w="190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6" name="Text Box 37">
            <a:extLst>
              <a:ext uri="{FF2B5EF4-FFF2-40B4-BE49-F238E27FC236}">
                <a16:creationId xmlns:a16="http://schemas.microsoft.com/office/drawing/2014/main" id="{79B1D92E-A648-04E8-E0C8-044399A4D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033163"/>
            <a:ext cx="100260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Suppose w ↑ to $20 (from $5), and your firm is still obliged to produce Q = 50</a:t>
            </a:r>
          </a:p>
        </p:txBody>
      </p:sp>
      <p:sp>
        <p:nvSpPr>
          <p:cNvPr id="17" name="Line 38">
            <a:extLst>
              <a:ext uri="{FF2B5EF4-FFF2-40B4-BE49-F238E27FC236}">
                <a16:creationId xmlns:a16="http://schemas.microsoft.com/office/drawing/2014/main" id="{F7C26244-4598-07B7-4107-014115211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564" y="1927225"/>
            <a:ext cx="1733550" cy="2914650"/>
          </a:xfrm>
          <a:prstGeom prst="line">
            <a:avLst/>
          </a:prstGeom>
          <a:noFill/>
          <a:ln w="19050">
            <a:solidFill>
              <a:srgbClr val="E1C4A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8" name="Oval 39">
            <a:extLst>
              <a:ext uri="{FF2B5EF4-FFF2-40B4-BE49-F238E27FC236}">
                <a16:creationId xmlns:a16="http://schemas.microsoft.com/office/drawing/2014/main" id="{8F398532-18E0-0008-54B2-3143E1B9B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464" y="2947988"/>
            <a:ext cx="88900" cy="88900"/>
          </a:xfrm>
          <a:prstGeom prst="ellipse">
            <a:avLst/>
          </a:prstGeom>
          <a:solidFill>
            <a:srgbClr val="E1C4AC"/>
          </a:solidFill>
          <a:ln w="9525">
            <a:solidFill>
              <a:srgbClr val="E1C4A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9D50B547-E6B5-452C-CF86-F5B97D62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926" y="4003675"/>
            <a:ext cx="88900" cy="88900"/>
          </a:xfrm>
          <a:prstGeom prst="ellipse">
            <a:avLst/>
          </a:prstGeom>
          <a:solidFill>
            <a:srgbClr val="789B4A"/>
          </a:solidFill>
          <a:ln w="9525">
            <a:solidFill>
              <a:srgbClr val="789B4A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0" name="Text Box 40">
            <a:extLst>
              <a:ext uri="{FF2B5EF4-FFF2-40B4-BE49-F238E27FC236}">
                <a16:creationId xmlns:a16="http://schemas.microsoft.com/office/drawing/2014/main" id="{FEAA43F8-4E0A-7462-DDC1-9309533CF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53" y="2806700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21" name="Text Box 41">
            <a:extLst>
              <a:ext uri="{FF2B5EF4-FFF2-40B4-BE49-F238E27FC236}">
                <a16:creationId xmlns:a16="http://schemas.microsoft.com/office/drawing/2014/main" id="{D0217AF9-D053-8AC6-2E25-4DC213711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590" y="4851041"/>
            <a:ext cx="4286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5</a:t>
            </a:r>
          </a:p>
        </p:txBody>
      </p:sp>
      <p:sp>
        <p:nvSpPr>
          <p:cNvPr id="22" name="Line 42">
            <a:extLst>
              <a:ext uri="{FF2B5EF4-FFF2-40B4-BE49-F238E27FC236}">
                <a16:creationId xmlns:a16="http://schemas.microsoft.com/office/drawing/2014/main" id="{3E7D21DE-8AF5-A961-0BF8-F740382E7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8852" y="2997200"/>
            <a:ext cx="6127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3" name="Line 43">
            <a:extLst>
              <a:ext uri="{FF2B5EF4-FFF2-40B4-BE49-F238E27FC236}">
                <a16:creationId xmlns:a16="http://schemas.microsoft.com/office/drawing/2014/main" id="{0B16F1EE-AC31-6095-3C87-312EAC5B83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14801" y="3043239"/>
            <a:ext cx="0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B32F84-595A-E20B-4795-742FFED49DAF}"/>
              </a:ext>
            </a:extLst>
          </p:cNvPr>
          <p:cNvGrpSpPr/>
          <p:nvPr/>
        </p:nvGrpSpPr>
        <p:grpSpPr>
          <a:xfrm>
            <a:off x="1523108" y="5606503"/>
            <a:ext cx="9145783" cy="955676"/>
            <a:chOff x="981300" y="5398671"/>
            <a:chExt cx="6984775" cy="114364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684FCF3-DDC0-A989-4877-5E5180FEDD8C}"/>
                </a:ext>
              </a:extLst>
            </p:cNvPr>
            <p:cNvGrpSpPr/>
            <p:nvPr/>
          </p:nvGrpSpPr>
          <p:grpSpPr>
            <a:xfrm>
              <a:off x="981300" y="5398671"/>
              <a:ext cx="6984775" cy="1143643"/>
              <a:chOff x="1552773" y="5398671"/>
              <a:chExt cx="5894774" cy="1283167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2A6243E-F3B9-BF88-6E8F-C1D84EF8B683}"/>
                  </a:ext>
                </a:extLst>
              </p:cNvPr>
              <p:cNvSpPr/>
              <p:nvPr/>
            </p:nvSpPr>
            <p:spPr>
              <a:xfrm>
                <a:off x="1552773" y="5632166"/>
                <a:ext cx="5894774" cy="813661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B6C5900-2A5C-75B7-BF76-51562CA60A82}"/>
                  </a:ext>
                </a:extLst>
              </p:cNvPr>
              <p:cNvSpPr/>
              <p:nvPr/>
            </p:nvSpPr>
            <p:spPr>
              <a:xfrm>
                <a:off x="1552773" y="5398671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938C3B0-3A38-C795-C81D-48B67376C68F}"/>
                  </a:ext>
                </a:extLst>
              </p:cNvPr>
              <p:cNvSpPr/>
              <p:nvPr/>
            </p:nvSpPr>
            <p:spPr>
              <a:xfrm>
                <a:off x="1552773" y="6071592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EE9F6F9-568F-5F56-C6C2-A0B3AA5FEC42}"/>
                </a:ext>
              </a:extLst>
            </p:cNvPr>
            <p:cNvSpPr txBox="1"/>
            <p:nvPr/>
          </p:nvSpPr>
          <p:spPr>
            <a:xfrm>
              <a:off x="981300" y="5511986"/>
              <a:ext cx="69847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</a:rPr>
                <a:t>Firm can make </a:t>
              </a:r>
              <a:r>
                <a:rPr lang="en-US" altLang="en-US" sz="2400" b="1" dirty="0">
                  <a:latin typeface="Source Sans Pro" panose="020B0503030403020204" pitchFamily="34" charset="0"/>
                </a:rPr>
                <a:t>better adjustments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to price changes in the </a:t>
              </a:r>
              <a:r>
                <a:rPr lang="en-US" altLang="en-US" sz="2400" b="1" dirty="0">
                  <a:latin typeface="Source Sans Pro" panose="020B0503030403020204" pitchFamily="34" charset="0"/>
                </a:rPr>
                <a:t>long run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(when it has more flexibility)</a:t>
              </a:r>
            </a:p>
          </p:txBody>
        </p:sp>
      </p:grpSp>
      <p:sp>
        <p:nvSpPr>
          <p:cNvPr id="36" name="Line 38">
            <a:extLst>
              <a:ext uri="{FF2B5EF4-FFF2-40B4-BE49-F238E27FC236}">
                <a16:creationId xmlns:a16="http://schemas.microsoft.com/office/drawing/2014/main" id="{BDCB9368-F979-BFEC-D461-AD702014C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0915" y="3030915"/>
            <a:ext cx="1095375" cy="1820732"/>
          </a:xfrm>
          <a:prstGeom prst="line">
            <a:avLst/>
          </a:prstGeom>
          <a:noFill/>
          <a:ln w="19050">
            <a:solidFill>
              <a:srgbClr val="005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57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3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Output goal changes</a:t>
            </a:r>
          </a:p>
        </p:txBody>
      </p:sp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5416D84-49E4-4500-B2E8-74C7EC58263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F94F94-C056-A7C9-0046-F0C437C6BB39}"/>
              </a:ext>
            </a:extLst>
          </p:cNvPr>
          <p:cNvGrpSpPr/>
          <p:nvPr/>
        </p:nvGrpSpPr>
        <p:grpSpPr>
          <a:xfrm>
            <a:off x="654447" y="1400620"/>
            <a:ext cx="10626201" cy="1354217"/>
            <a:chOff x="337454" y="952564"/>
            <a:chExt cx="10626201" cy="1354217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38C0D8E-1DC4-6D98-B97F-C56E54AC4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028" y="952564"/>
              <a:ext cx="8775627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When firm’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 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 shifts outward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, it will generally attempt to 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increase output</a:t>
              </a:r>
            </a:p>
            <a:p>
              <a:pPr lvl="1"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Firm chooses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higher Q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in response to higher MR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3732B97-BBEC-7F60-7223-BD17B528B234}"/>
                </a:ext>
              </a:extLst>
            </p:cNvPr>
            <p:cNvSpPr/>
            <p:nvPr/>
          </p:nvSpPr>
          <p:spPr>
            <a:xfrm>
              <a:off x="337454" y="952564"/>
              <a:ext cx="1850575" cy="806232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Demand shifts out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6A3AF9B-60BE-83EE-6AE5-3925721F89A7}"/>
              </a:ext>
            </a:extLst>
          </p:cNvPr>
          <p:cNvGrpSpPr/>
          <p:nvPr/>
        </p:nvGrpSpPr>
        <p:grpSpPr>
          <a:xfrm>
            <a:off x="654447" y="2986815"/>
            <a:ext cx="10626201" cy="1354217"/>
            <a:chOff x="337454" y="2326545"/>
            <a:chExt cx="10626201" cy="135421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FFFD156-A3F5-3565-7470-9F15CC7A4F78}"/>
                </a:ext>
              </a:extLst>
            </p:cNvPr>
            <p:cNvSpPr/>
            <p:nvPr/>
          </p:nvSpPr>
          <p:spPr>
            <a:xfrm>
              <a:off x="337454" y="2326545"/>
              <a:ext cx="1850575" cy="806232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Examples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3E244313-0266-455E-9126-561C8A74F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028" y="2326545"/>
              <a:ext cx="8775627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Begin shipping to a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new market</a:t>
              </a:r>
            </a:p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Price of a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complementary product decreased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, </a:t>
              </a:r>
              <a:r>
                <a:rPr lang="en-US" altLang="en-US" sz="2400" kern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which increases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demand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134323-6869-24CA-7349-B332928AC3FA}"/>
              </a:ext>
            </a:extLst>
          </p:cNvPr>
          <p:cNvGrpSpPr/>
          <p:nvPr/>
        </p:nvGrpSpPr>
        <p:grpSpPr>
          <a:xfrm>
            <a:off x="654447" y="4573009"/>
            <a:ext cx="10626201" cy="1354217"/>
            <a:chOff x="337454" y="4515163"/>
            <a:chExt cx="10626201" cy="1354217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B25D158-3511-649A-05AE-899845DD48CC}"/>
                </a:ext>
              </a:extLst>
            </p:cNvPr>
            <p:cNvSpPr/>
            <p:nvPr/>
          </p:nvSpPr>
          <p:spPr>
            <a:xfrm>
              <a:off x="337454" y="4515163"/>
              <a:ext cx="1850575" cy="806232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How costly?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80E5BDA2-0DEB-3AB5-D5C0-3E5AE8B6A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028" y="4515163"/>
              <a:ext cx="8775627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How costly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is it to adjust an output goal?</a:t>
              </a:r>
            </a:p>
            <a:p>
              <a:pPr lvl="1"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Should a firm make a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small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or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large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output change as demand changes?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420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Output goal changes</a:t>
            </a:r>
          </a:p>
        </p:txBody>
      </p:sp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F43DA17-ACC5-4DC1-8923-EA041E622CB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1F4DF75-ECA5-2482-AF05-380F6636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738" y="1042152"/>
            <a:ext cx="8345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Return to Q = </a:t>
            </a:r>
            <a:r>
              <a:rPr lang="en-US" altLang="en-US" sz="2400" i="1" dirty="0">
                <a:latin typeface="Source Sans Pro" panose="020B0503030403020204" pitchFamily="34" charset="0"/>
              </a:rPr>
              <a:t>LK</a:t>
            </a:r>
            <a:r>
              <a:rPr lang="en-US" altLang="en-US" sz="2400" dirty="0">
                <a:latin typeface="Source Sans Pro" panose="020B0503030403020204" pitchFamily="34" charset="0"/>
              </a:rPr>
              <a:t>, K = 5, w = 5, r = 10, C = $100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C1218F-8DDA-8DF0-8780-84CCAA67267C}"/>
              </a:ext>
            </a:extLst>
          </p:cNvPr>
          <p:cNvGrpSpPr/>
          <p:nvPr/>
        </p:nvGrpSpPr>
        <p:grpSpPr>
          <a:xfrm>
            <a:off x="1354344" y="2168848"/>
            <a:ext cx="6012788" cy="3855844"/>
            <a:chOff x="58943" y="2332010"/>
            <a:chExt cx="6012788" cy="3855844"/>
          </a:xfrm>
        </p:grpSpPr>
        <p:sp>
          <p:nvSpPr>
            <p:cNvPr id="5" name="Oval 18">
              <a:extLst>
                <a:ext uri="{FF2B5EF4-FFF2-40B4-BE49-F238E27FC236}">
                  <a16:creationId xmlns:a16="http://schemas.microsoft.com/office/drawing/2014/main" id="{4D4F854D-CF3E-821D-C169-0A818B58D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581" y="4878157"/>
              <a:ext cx="88900" cy="889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5CAC77DD-5FA0-1E98-AF36-6EEB3E76C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7618" y="4936895"/>
              <a:ext cx="0" cy="769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5AE1504-F2F0-B568-7CF9-8853F4FDF54F}"/>
                </a:ext>
              </a:extLst>
            </p:cNvPr>
            <p:cNvGrpSpPr/>
            <p:nvPr/>
          </p:nvGrpSpPr>
          <p:grpSpPr>
            <a:xfrm>
              <a:off x="58943" y="2332010"/>
              <a:ext cx="6012788" cy="3855844"/>
              <a:chOff x="58943" y="2332010"/>
              <a:chExt cx="6012788" cy="3855844"/>
            </a:xfrm>
          </p:grpSpPr>
          <p:sp>
            <p:nvSpPr>
              <p:cNvPr id="13" name="Line 5">
                <a:extLst>
                  <a:ext uri="{FF2B5EF4-FFF2-40B4-BE49-F238E27FC236}">
                    <a16:creationId xmlns:a16="http://schemas.microsoft.com/office/drawing/2014/main" id="{AEE0F49B-1FC2-372F-D04C-B915A2159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9631" y="2674707"/>
                <a:ext cx="0" cy="30543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4" name="Line 6">
                <a:extLst>
                  <a:ext uri="{FF2B5EF4-FFF2-40B4-BE49-F238E27FC236}">
                    <a16:creationId xmlns:a16="http://schemas.microsoft.com/office/drawing/2014/main" id="{91B15112-654E-23C2-A70E-6A5851A8B0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6456" y="5729057"/>
                <a:ext cx="518953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5" name="Text Box 7">
                <a:extLst>
                  <a:ext uri="{FF2B5EF4-FFF2-40B4-BE49-F238E27FC236}">
                    <a16:creationId xmlns:a16="http://schemas.microsoft.com/office/drawing/2014/main" id="{725DC9A8-0077-46E4-17D0-93FAAA182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48" y="2546120"/>
                <a:ext cx="62865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sz="2400" dirty="0">
                    <a:latin typeface="Source Sans Pro" panose="020B0503030403020204" pitchFamily="34" charset="0"/>
                  </a:rPr>
                  <a:t>K</a:t>
                </a:r>
              </a:p>
            </p:txBody>
          </p:sp>
          <p:sp>
            <p:nvSpPr>
              <p:cNvPr id="16" name="Text Box 8">
                <a:extLst>
                  <a:ext uri="{FF2B5EF4-FFF2-40B4-BE49-F238E27FC236}">
                    <a16:creationId xmlns:a16="http://schemas.microsoft.com/office/drawing/2014/main" id="{B4470718-DD19-96E2-0775-CACEB7796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6931" y="5654445"/>
                <a:ext cx="3048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400" dirty="0">
                    <a:latin typeface="Source Sans Pro" panose="020B0503030403020204" pitchFamily="34" charset="0"/>
                  </a:rPr>
                  <a:t>L</a:t>
                </a:r>
              </a:p>
            </p:txBody>
          </p:sp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A2149491-279B-E096-692B-DD598B3D9A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933" y="2332010"/>
                <a:ext cx="103929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2400" dirty="0">
                    <a:latin typeface="Source Sans Pro" panose="020B0503030403020204" pitchFamily="34" charset="0"/>
                  </a:rPr>
                  <a:t>Q = 50</a:t>
                </a:r>
              </a:p>
            </p:txBody>
          </p:sp>
          <p:sp>
            <p:nvSpPr>
              <p:cNvPr id="18" name="Line 11">
                <a:extLst>
                  <a:ext uri="{FF2B5EF4-FFF2-40B4-BE49-F238E27FC236}">
                    <a16:creationId xmlns:a16="http://schemas.microsoft.com/office/drawing/2014/main" id="{ADE84169-5B9C-A0F2-6F5B-94A4567A9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9631" y="3909782"/>
                <a:ext cx="2955925" cy="18161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9" name="Line 12">
                <a:extLst>
                  <a:ext uri="{FF2B5EF4-FFF2-40B4-BE49-F238E27FC236}">
                    <a16:creationId xmlns:a16="http://schemas.microsoft.com/office/drawing/2014/main" id="{E26247BE-9927-7566-3AD0-F47F39468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2806" y="4931456"/>
                <a:ext cx="1674812" cy="54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AC209463-FA78-6F25-5819-8774EC7D7B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943" y="4715004"/>
                <a:ext cx="62865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sz="2400" dirty="0">
                    <a:latin typeface="Source Sans Pro" panose="020B0503030403020204" pitchFamily="34" charset="0"/>
                  </a:rPr>
                  <a:t>5</a:t>
                </a:r>
              </a:p>
            </p:txBody>
          </p:sp>
          <p:sp>
            <p:nvSpPr>
              <p:cNvPr id="21" name="Text Box 14">
                <a:extLst>
                  <a:ext uri="{FF2B5EF4-FFF2-40B4-BE49-F238E27FC236}">
                    <a16:creationId xmlns:a16="http://schemas.microsoft.com/office/drawing/2014/main" id="{A0A9489F-E2C3-97FB-042C-57D5642C79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4161" y="5726189"/>
                <a:ext cx="62865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2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2400" dirty="0">
                    <a:latin typeface="Source Sans Pro" panose="020B0503030403020204" pitchFamily="34" charset="0"/>
                  </a:rPr>
                  <a:t>10</a:t>
                </a:r>
                <a:endParaRPr lang="en-US" alt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2" name="Freeform 29">
                <a:extLst>
                  <a:ext uri="{FF2B5EF4-FFF2-40B4-BE49-F238E27FC236}">
                    <a16:creationId xmlns:a16="http://schemas.microsoft.com/office/drawing/2014/main" id="{AEF385D1-7BBF-B427-CC8F-06661FCF3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393" y="2768370"/>
                <a:ext cx="3121025" cy="2566987"/>
              </a:xfrm>
              <a:custGeom>
                <a:avLst/>
                <a:gdLst>
                  <a:gd name="T0" fmla="*/ 0 w 2103"/>
                  <a:gd name="T1" fmla="*/ 0 h 1626"/>
                  <a:gd name="T2" fmla="*/ 2147483647 w 2103"/>
                  <a:gd name="T3" fmla="*/ 2147483647 h 1626"/>
                  <a:gd name="T4" fmla="*/ 2147483647 w 2103"/>
                  <a:gd name="T5" fmla="*/ 2147483647 h 1626"/>
                  <a:gd name="T6" fmla="*/ 2147483647 w 2103"/>
                  <a:gd name="T7" fmla="*/ 2147483647 h 1626"/>
                  <a:gd name="T8" fmla="*/ 2147483647 w 2103"/>
                  <a:gd name="T9" fmla="*/ 2147483647 h 1626"/>
                  <a:gd name="T10" fmla="*/ 2147483647 w 2103"/>
                  <a:gd name="T11" fmla="*/ 2147483647 h 16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03"/>
                  <a:gd name="T19" fmla="*/ 0 h 1626"/>
                  <a:gd name="T20" fmla="*/ 2103 w 2103"/>
                  <a:gd name="T21" fmla="*/ 1626 h 162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03" h="1626">
                    <a:moveTo>
                      <a:pt x="0" y="0"/>
                    </a:moveTo>
                    <a:cubicBezTo>
                      <a:pt x="23" y="159"/>
                      <a:pt x="47" y="319"/>
                      <a:pt x="95" y="478"/>
                    </a:cubicBezTo>
                    <a:cubicBezTo>
                      <a:pt x="143" y="637"/>
                      <a:pt x="183" y="805"/>
                      <a:pt x="287" y="956"/>
                    </a:cubicBezTo>
                    <a:cubicBezTo>
                      <a:pt x="391" y="1107"/>
                      <a:pt x="534" y="1283"/>
                      <a:pt x="717" y="1387"/>
                    </a:cubicBezTo>
                    <a:cubicBezTo>
                      <a:pt x="900" y="1491"/>
                      <a:pt x="1155" y="1538"/>
                      <a:pt x="1386" y="1578"/>
                    </a:cubicBezTo>
                    <a:cubicBezTo>
                      <a:pt x="1617" y="1618"/>
                      <a:pt x="1860" y="1622"/>
                      <a:pt x="2103" y="1626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</p:grpSp>
      <p:sp>
        <p:nvSpPr>
          <p:cNvPr id="23" name="Line 12">
            <a:extLst>
              <a:ext uri="{FF2B5EF4-FFF2-40B4-BE49-F238E27FC236}">
                <a16:creationId xmlns:a16="http://schemas.microsoft.com/office/drawing/2014/main" id="{DCBC3E98-8290-4195-5520-460C677A07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1431" y="4768294"/>
            <a:ext cx="17653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8693EE-DDBA-9F6E-A6E7-89852EA9CD8D}"/>
              </a:ext>
            </a:extLst>
          </p:cNvPr>
          <p:cNvGrpSpPr/>
          <p:nvPr/>
        </p:nvGrpSpPr>
        <p:grpSpPr>
          <a:xfrm>
            <a:off x="2973545" y="2177098"/>
            <a:ext cx="3141048" cy="2614098"/>
            <a:chOff x="1678145" y="2645067"/>
            <a:chExt cx="3141048" cy="2614098"/>
          </a:xfrm>
        </p:grpSpPr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76AA4032-22C1-6142-C859-73F916ABF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8145" y="2645067"/>
              <a:ext cx="10683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latin typeface="Source Sans Pro" panose="020B0503030403020204" pitchFamily="34" charset="0"/>
                </a:rPr>
                <a:t>Q = 80</a:t>
              </a: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3958AF1C-DF73-94CF-8300-E77B63701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168" y="2692178"/>
              <a:ext cx="3121025" cy="2566987"/>
            </a:xfrm>
            <a:custGeom>
              <a:avLst/>
              <a:gdLst>
                <a:gd name="T0" fmla="*/ 0 w 2103"/>
                <a:gd name="T1" fmla="*/ 0 h 1626"/>
                <a:gd name="T2" fmla="*/ 2147483647 w 2103"/>
                <a:gd name="T3" fmla="*/ 2147483647 h 1626"/>
                <a:gd name="T4" fmla="*/ 2147483647 w 2103"/>
                <a:gd name="T5" fmla="*/ 2147483647 h 1626"/>
                <a:gd name="T6" fmla="*/ 2147483647 w 2103"/>
                <a:gd name="T7" fmla="*/ 2147483647 h 1626"/>
                <a:gd name="T8" fmla="*/ 2147483647 w 2103"/>
                <a:gd name="T9" fmla="*/ 2147483647 h 1626"/>
                <a:gd name="T10" fmla="*/ 2147483647 w 2103"/>
                <a:gd name="T11" fmla="*/ 2147483647 h 16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03"/>
                <a:gd name="T19" fmla="*/ 0 h 1626"/>
                <a:gd name="T20" fmla="*/ 2103 w 2103"/>
                <a:gd name="T21" fmla="*/ 1626 h 16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03" h="1626">
                  <a:moveTo>
                    <a:pt x="0" y="0"/>
                  </a:moveTo>
                  <a:cubicBezTo>
                    <a:pt x="23" y="159"/>
                    <a:pt x="47" y="319"/>
                    <a:pt x="95" y="478"/>
                  </a:cubicBezTo>
                  <a:cubicBezTo>
                    <a:pt x="143" y="637"/>
                    <a:pt x="183" y="805"/>
                    <a:pt x="287" y="956"/>
                  </a:cubicBezTo>
                  <a:cubicBezTo>
                    <a:pt x="391" y="1107"/>
                    <a:pt x="534" y="1283"/>
                    <a:pt x="717" y="1387"/>
                  </a:cubicBezTo>
                  <a:cubicBezTo>
                    <a:pt x="900" y="1491"/>
                    <a:pt x="1155" y="1538"/>
                    <a:pt x="1386" y="1578"/>
                  </a:cubicBezTo>
                  <a:cubicBezTo>
                    <a:pt x="1617" y="1618"/>
                    <a:pt x="1860" y="1622"/>
                    <a:pt x="2103" y="162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5F50E0-73DF-08C3-A1A1-24BA5CB4347C}"/>
              </a:ext>
            </a:extLst>
          </p:cNvPr>
          <p:cNvGrpSpPr/>
          <p:nvPr/>
        </p:nvGrpSpPr>
        <p:grpSpPr>
          <a:xfrm>
            <a:off x="1987094" y="2117144"/>
            <a:ext cx="9809408" cy="3906576"/>
            <a:chOff x="691693" y="2280305"/>
            <a:chExt cx="9809408" cy="3906576"/>
          </a:xfrm>
        </p:grpSpPr>
        <p:sp>
          <p:nvSpPr>
            <p:cNvPr id="28" name="Text Box 31">
              <a:extLst>
                <a:ext uri="{FF2B5EF4-FFF2-40B4-BE49-F238E27FC236}">
                  <a16:creationId xmlns:a16="http://schemas.microsoft.com/office/drawing/2014/main" id="{BBBB70E1-A897-B376-9416-B67D6E3EE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6678" y="2280305"/>
              <a:ext cx="4984423" cy="1348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34950" indent="-2349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 dirty="0">
                  <a:solidFill>
                    <a:srgbClr val="005F85"/>
                  </a:solidFill>
                  <a:latin typeface="Source Sans Pro" panose="020B0503030403020204" pitchFamily="34" charset="0"/>
                </a:rPr>
                <a:t>In the short run: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en-US" sz="2400" dirty="0">
                  <a:solidFill>
                    <a:srgbClr val="005F85"/>
                  </a:solidFill>
                  <a:latin typeface="Source Sans Pro" panose="020B0503030403020204" pitchFamily="34" charset="0"/>
                </a:rPr>
                <a:t>K fixed at 5, so must increase L to 16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en-US" sz="2400" dirty="0">
                  <a:solidFill>
                    <a:srgbClr val="005F85"/>
                  </a:solidFill>
                  <a:latin typeface="Source Sans Pro" panose="020B0503030403020204" pitchFamily="34" charset="0"/>
                </a:rPr>
                <a:t>C = 5</a:t>
              </a:r>
              <a:r>
                <a:rPr lang="en-US" altLang="en-US" sz="2400" dirty="0">
                  <a:solidFill>
                    <a:srgbClr val="005F85"/>
                  </a:solidFill>
                  <a:latin typeface="Source Sans Pro" panose="020B0503030403020204" pitchFamily="34" charset="0"/>
                  <a:sym typeface="Symbol" pitchFamily="18" charset="2"/>
                </a:rPr>
                <a:t>*16 + </a:t>
              </a:r>
              <a:r>
                <a:rPr lang="en-US" altLang="en-US" sz="2400" dirty="0">
                  <a:solidFill>
                    <a:srgbClr val="005F85"/>
                  </a:solidFill>
                  <a:latin typeface="Source Sans Pro" panose="020B0503030403020204" pitchFamily="34" charset="0"/>
                </a:rPr>
                <a:t>10</a:t>
              </a:r>
              <a:r>
                <a:rPr lang="en-US" altLang="en-US" sz="2400" dirty="0">
                  <a:solidFill>
                    <a:srgbClr val="005F85"/>
                  </a:solidFill>
                  <a:latin typeface="Source Sans Pro" panose="020B0503030403020204" pitchFamily="34" charset="0"/>
                  <a:sym typeface="Symbol" pitchFamily="18" charset="2"/>
                </a:rPr>
                <a:t>*5 = $130</a:t>
              </a: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2AFBAFB4-CBB1-BF2E-6118-76217A323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693" y="2817582"/>
              <a:ext cx="4745038" cy="2913063"/>
            </a:xfrm>
            <a:prstGeom prst="line">
              <a:avLst/>
            </a:prstGeom>
            <a:noFill/>
            <a:ln w="19050">
              <a:solidFill>
                <a:srgbClr val="005F8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0" name="Oval 19">
              <a:extLst>
                <a:ext uri="{FF2B5EF4-FFF2-40B4-BE49-F238E27FC236}">
                  <a16:creationId xmlns:a16="http://schemas.microsoft.com/office/drawing/2014/main" id="{D438AF34-65FB-A831-67DA-6344C47A3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356" y="4876570"/>
              <a:ext cx="88900" cy="88900"/>
            </a:xfrm>
            <a:prstGeom prst="ellipse">
              <a:avLst/>
            </a:prstGeom>
            <a:solidFill>
              <a:srgbClr val="005F85"/>
            </a:solidFill>
            <a:ln w="9525">
              <a:solidFill>
                <a:srgbClr val="005F85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F2E2D86B-D88A-7D13-BAE5-FDF92E652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393" y="4968645"/>
              <a:ext cx="7938" cy="754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4B34BE09-3B84-F80E-0959-9F2E7BB50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360" y="5725216"/>
              <a:ext cx="5667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</a:rPr>
                <a:t>16</a:t>
              </a:r>
            </a:p>
          </p:txBody>
        </p:sp>
      </p:grpSp>
      <p:sp>
        <p:nvSpPr>
          <p:cNvPr id="35" name="Rectangle 4">
            <a:extLst>
              <a:ext uri="{FF2B5EF4-FFF2-40B4-BE49-F238E27FC236}">
                <a16:creationId xmlns:a16="http://schemas.microsoft.com/office/drawing/2014/main" id="{280BD311-7C5C-4B52-4CBE-EA80C7D4F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738" y="1512191"/>
            <a:ext cx="8345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Source Sans Pro" panose="020B0503030403020204" pitchFamily="34" charset="0"/>
              </a:rPr>
              <a:t>Now your firm must increase output from Q = 50 to Q = 80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3DBACD-6C11-C614-BF18-E424AE57BA52}"/>
              </a:ext>
            </a:extLst>
          </p:cNvPr>
          <p:cNvGrpSpPr/>
          <p:nvPr/>
        </p:nvGrpSpPr>
        <p:grpSpPr>
          <a:xfrm>
            <a:off x="1362081" y="3146545"/>
            <a:ext cx="9713540" cy="2879735"/>
            <a:chOff x="66680" y="3309707"/>
            <a:chExt cx="9713540" cy="2879735"/>
          </a:xfrm>
        </p:grpSpPr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BC7CFA3D-C88A-1A0B-58B2-B8F05DD11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281" y="3309707"/>
              <a:ext cx="3940175" cy="2405063"/>
            </a:xfrm>
            <a:prstGeom prst="line">
              <a:avLst/>
            </a:prstGeom>
            <a:noFill/>
            <a:ln w="19050">
              <a:solidFill>
                <a:srgbClr val="789B4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0" name="Oval 26">
              <a:extLst>
                <a:ext uri="{FF2B5EF4-FFF2-40B4-BE49-F238E27FC236}">
                  <a16:creationId xmlns:a16="http://schemas.microsoft.com/office/drawing/2014/main" id="{ED42FFA6-3F55-DF91-C2BA-3EDBDA5C7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3" y="4551132"/>
              <a:ext cx="88900" cy="88900"/>
            </a:xfrm>
            <a:prstGeom prst="ellipse">
              <a:avLst/>
            </a:prstGeom>
            <a:solidFill>
              <a:srgbClr val="789B4A"/>
            </a:solidFill>
            <a:ln w="9525">
              <a:solidFill>
                <a:srgbClr val="789B4A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1" name="Line 32">
              <a:extLst>
                <a:ext uri="{FF2B5EF4-FFF2-40B4-BE49-F238E27FC236}">
                  <a16:creationId xmlns:a16="http://schemas.microsoft.com/office/drawing/2014/main" id="{5CDBD892-184E-3F07-7232-DE338FC1B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5131" y="4625745"/>
              <a:ext cx="0" cy="1103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2" name="Text Box 34">
              <a:extLst>
                <a:ext uri="{FF2B5EF4-FFF2-40B4-BE49-F238E27FC236}">
                  <a16:creationId xmlns:a16="http://schemas.microsoft.com/office/drawing/2014/main" id="{36954A86-DD88-E5E3-3FFC-37EE9D162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617" y="5727777"/>
              <a:ext cx="90011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</a:rPr>
                <a:t>12.65</a:t>
              </a:r>
            </a:p>
          </p:txBody>
        </p:sp>
        <p:sp>
          <p:nvSpPr>
            <p:cNvPr id="43" name="Line 36">
              <a:extLst>
                <a:ext uri="{FF2B5EF4-FFF2-40B4-BE49-F238E27FC236}">
                  <a16:creationId xmlns:a16="http://schemas.microsoft.com/office/drawing/2014/main" id="{041408BC-DF54-21FE-2B37-ABDEEF1E8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393" y="4601932"/>
              <a:ext cx="20224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4" name="Text Box 37">
              <a:extLst>
                <a:ext uri="{FF2B5EF4-FFF2-40B4-BE49-F238E27FC236}">
                  <a16:creationId xmlns:a16="http://schemas.microsoft.com/office/drawing/2014/main" id="{1D46EFF7-2E6A-B6BA-961D-E9607511F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80" y="4381322"/>
              <a:ext cx="6286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</a:rPr>
                <a:t>6.3</a:t>
              </a:r>
            </a:p>
          </p:txBody>
        </p:sp>
        <p:sp>
          <p:nvSpPr>
            <p:cNvPr id="45" name="Text Box 31">
              <a:extLst>
                <a:ext uri="{FF2B5EF4-FFF2-40B4-BE49-F238E27FC236}">
                  <a16:creationId xmlns:a16="http://schemas.microsoft.com/office/drawing/2014/main" id="{D4EE79FC-3176-A952-AB3C-D0AA0DC43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1344" y="3596419"/>
              <a:ext cx="4268876" cy="1717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34950" indent="-2349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  <a:sym typeface="Symbol" pitchFamily="18" charset="2"/>
                </a:rPr>
                <a:t>In the long run: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  <a:sym typeface="Symbol" pitchFamily="18" charset="2"/>
                </a:rPr>
                <a:t>Firm re-optimizes and chooses L = 12.65 &amp; K = 6.3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  <a:sym typeface="Symbol" pitchFamily="18" charset="2"/>
                </a:rPr>
                <a:t>C = </a:t>
              </a: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</a:rPr>
                <a:t>12.65</a:t>
              </a: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  <a:sym typeface="Symbol" pitchFamily="18" charset="2"/>
                </a:rPr>
                <a:t>*5 + </a:t>
              </a: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</a:rPr>
                <a:t>10</a:t>
              </a:r>
              <a:r>
                <a:rPr lang="en-US" altLang="en-US" sz="2400" dirty="0">
                  <a:solidFill>
                    <a:srgbClr val="789B4A"/>
                  </a:solidFill>
                  <a:latin typeface="Source Sans Pro" panose="020B0503030403020204" pitchFamily="34" charset="0"/>
                  <a:sym typeface="Symbol" pitchFamily="18" charset="2"/>
                </a:rPr>
                <a:t>*6.3 = $126.25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66316AD-4CC2-2297-2EDE-A233C04B6323}"/>
              </a:ext>
            </a:extLst>
          </p:cNvPr>
          <p:cNvGrpSpPr/>
          <p:nvPr/>
        </p:nvGrpSpPr>
        <p:grpSpPr>
          <a:xfrm>
            <a:off x="1599235" y="5967891"/>
            <a:ext cx="8793462" cy="698700"/>
            <a:chOff x="981300" y="6056661"/>
            <a:chExt cx="6984775" cy="69870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2760D86-D49D-CF90-8B2D-2D983A83F6EF}"/>
                </a:ext>
              </a:extLst>
            </p:cNvPr>
            <p:cNvGrpSpPr/>
            <p:nvPr/>
          </p:nvGrpSpPr>
          <p:grpSpPr>
            <a:xfrm>
              <a:off x="981300" y="6056661"/>
              <a:ext cx="6984775" cy="698700"/>
              <a:chOff x="1552773" y="5398671"/>
              <a:chExt cx="5894774" cy="1283167"/>
            </a:xfrm>
          </p:grpSpPr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11D7A383-BFF6-898C-C79B-EF3467C6826D}"/>
                  </a:ext>
                </a:extLst>
              </p:cNvPr>
              <p:cNvSpPr/>
              <p:nvPr/>
            </p:nvSpPr>
            <p:spPr>
              <a:xfrm>
                <a:off x="1552773" y="5632166"/>
                <a:ext cx="5894774" cy="813661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73F4A62-7533-0639-85AF-A5D4D03C1335}"/>
                  </a:ext>
                </a:extLst>
              </p:cNvPr>
              <p:cNvSpPr/>
              <p:nvPr/>
            </p:nvSpPr>
            <p:spPr>
              <a:xfrm>
                <a:off x="1552773" y="5398671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8CDDBBC-BDAD-0DFA-A0C3-3E4B678569F4}"/>
                  </a:ext>
                </a:extLst>
              </p:cNvPr>
              <p:cNvSpPr/>
              <p:nvPr/>
            </p:nvSpPr>
            <p:spPr>
              <a:xfrm>
                <a:off x="1552773" y="6071592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2544A5-E6E9-152E-4E07-2DB88C59C940}"/>
                </a:ext>
              </a:extLst>
            </p:cNvPr>
            <p:cNvSpPr txBox="1"/>
            <p:nvPr/>
          </p:nvSpPr>
          <p:spPr>
            <a:xfrm>
              <a:off x="981300" y="6205956"/>
              <a:ext cx="6984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</a:rPr>
                <a:t>Again, the firm does better in the long run when it can adjust 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11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 animBg="1"/>
      <p:bldP spid="3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73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Describing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Short-term costs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9F6AD3-AE1C-12C6-09D8-96210601A6FC}"/>
              </a:ext>
            </a:extLst>
          </p:cNvPr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Long-term costs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8FFE5-6DA1-8935-3D0D-2968D94A5034}"/>
              </a:ext>
            </a:extLst>
          </p:cNvPr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solidFill>
            <a:srgbClr val="005F85"/>
          </a:solidFill>
          <a:ln>
            <a:solidFill>
              <a:srgbClr val="005F85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Key cost types</a:t>
            </a:r>
          </a:p>
        </p:txBody>
      </p:sp>
    </p:spTree>
    <p:extLst>
      <p:ext uri="{BB962C8B-B14F-4D97-AF65-F5344CB8AC3E}">
        <p14:creationId xmlns:p14="http://schemas.microsoft.com/office/powerpoint/2010/main" val="16202437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Total, variable and fixed costs</a:t>
            </a:r>
          </a:p>
        </p:txBody>
      </p:sp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7F7B6D6-4B41-465A-90A7-41F05373321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5E7CAE0-2E69-7EA6-A2FB-BF544FA12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67918"/>
            <a:ext cx="10767416" cy="116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ea typeface="ＭＳ Ｐゴシック" pitchFamily="34" charset="-128"/>
              </a:rPr>
              <a:t>For profit-maximizing output decisions, it’s convenient to illustrate a firm’s</a:t>
            </a:r>
            <a:r>
              <a:rPr lang="en-US" altLang="ja-JP" sz="2400" kern="0" dirty="0">
                <a:ea typeface="ＭＳ Ｐゴシック" pitchFamily="34" charset="-128"/>
              </a:rPr>
              <a:t> </a:t>
            </a:r>
            <a:r>
              <a:rPr lang="en-US" altLang="ja-JP" sz="2400" b="1" kern="0" dirty="0">
                <a:ea typeface="ＭＳ Ｐゴシック" pitchFamily="34" charset="-128"/>
              </a:rPr>
              <a:t>total, variable</a:t>
            </a:r>
            <a:r>
              <a:rPr lang="en-US" altLang="ja-JP" sz="2400" kern="0" dirty="0">
                <a:ea typeface="ＭＳ Ｐゴシック" pitchFamily="34" charset="-128"/>
              </a:rPr>
              <a:t>, and </a:t>
            </a:r>
            <a:r>
              <a:rPr lang="en-US" altLang="ja-JP" sz="2400" b="1" kern="0" dirty="0">
                <a:ea typeface="ＭＳ Ｐゴシック" pitchFamily="34" charset="-128"/>
              </a:rPr>
              <a:t>fixed </a:t>
            </a:r>
            <a:r>
              <a:rPr lang="en-US" altLang="ja-JP" sz="2400" kern="0" dirty="0">
                <a:ea typeface="ＭＳ Ｐゴシック" pitchFamily="34" charset="-128"/>
              </a:rPr>
              <a:t>costs</a:t>
            </a:r>
            <a:endParaRPr lang="en-US" altLang="en-US" sz="2400" kern="0" dirty="0">
              <a:ea typeface="ＭＳ Ｐゴシック" pitchFamily="34" charset="-128"/>
            </a:endParaRP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 altLang="en-US" sz="2400" b="1" kern="0" dirty="0">
                <a:ea typeface="ＭＳ Ｐゴシック" pitchFamily="34" charset="-128"/>
              </a:rPr>
              <a:t>Total Cost (TC) = Variable Cost (VC) + Fixed Cost (FC)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ED40075-DC77-169D-AAD3-42995A78B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60611"/>
            <a:ext cx="10767416" cy="834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 the short run, VC = 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wL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and FC = 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rK</a:t>
            </a:r>
            <a:endParaRPr lang="en-US" altLang="en-US" sz="2400" i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are VC and FC in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long run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0C9E11B-821E-F1EA-45C1-73A3924E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020905"/>
            <a:ext cx="1076741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Two important costs for output decisions:</a:t>
            </a:r>
            <a:endParaRPr lang="en-US" altLang="en-US" sz="2400" b="1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C2DFD4-4722-55A3-EF23-CC7664B0DDD0}"/>
              </a:ext>
            </a:extLst>
          </p:cNvPr>
          <p:cNvGrpSpPr/>
          <p:nvPr/>
        </p:nvGrpSpPr>
        <p:grpSpPr>
          <a:xfrm>
            <a:off x="609600" y="4586212"/>
            <a:ext cx="10673696" cy="1901102"/>
            <a:chOff x="365760" y="4524148"/>
            <a:chExt cx="10673696" cy="1901102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E452EC3-3DBE-FA78-00BF-38694457DBF9}"/>
                </a:ext>
              </a:extLst>
            </p:cNvPr>
            <p:cNvSpPr/>
            <p:nvPr/>
          </p:nvSpPr>
          <p:spPr>
            <a:xfrm>
              <a:off x="1752600" y="4615044"/>
              <a:ext cx="9286856" cy="1747461"/>
            </a:xfrm>
            <a:prstGeom prst="roundRect">
              <a:avLst>
                <a:gd name="adj" fmla="val 9297"/>
              </a:avLst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BDFF0FD-DF0E-1166-A99E-056044249F8B}"/>
                </a:ext>
              </a:extLst>
            </p:cNvPr>
            <p:cNvSpPr/>
            <p:nvPr/>
          </p:nvSpPr>
          <p:spPr>
            <a:xfrm>
              <a:off x="365760" y="4524148"/>
              <a:ext cx="1828800" cy="1901102"/>
            </a:xfrm>
            <a:prstGeom prst="roundRect">
              <a:avLst>
                <a:gd name="adj" fmla="val 12334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73339DE-9067-BB0A-336C-44FDE3EE7204}"/>
                </a:ext>
              </a:extLst>
            </p:cNvPr>
            <p:cNvSpPr/>
            <p:nvPr/>
          </p:nvSpPr>
          <p:spPr>
            <a:xfrm>
              <a:off x="457200" y="4615044"/>
              <a:ext cx="1645920" cy="1747461"/>
            </a:xfrm>
            <a:prstGeom prst="roundRect">
              <a:avLst>
                <a:gd name="adj" fmla="val 10715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Average cost (AC)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0B847B-A878-0289-6EBE-D111C45342DE}"/>
                </a:ext>
              </a:extLst>
            </p:cNvPr>
            <p:cNvSpPr/>
            <p:nvPr/>
          </p:nvSpPr>
          <p:spPr>
            <a:xfrm>
              <a:off x="2285999" y="4679364"/>
              <a:ext cx="8571148" cy="16527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Cost divided by output (C/Q)</a:t>
              </a:r>
            </a:p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Important for whether a firm is profitable at a given price, P</a:t>
              </a:r>
            </a:p>
            <a:p>
              <a:pPr marL="800100" lvl="1" indent="-3429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If P ≥ AC, then yes</a:t>
              </a:r>
            </a:p>
            <a:p>
              <a:pPr marL="800100" lvl="1" indent="-3429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If P &lt; AC, then no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1EFE5C-2D33-DBFC-3686-243C9EC5DA2F}"/>
              </a:ext>
            </a:extLst>
          </p:cNvPr>
          <p:cNvGrpSpPr/>
          <p:nvPr/>
        </p:nvGrpSpPr>
        <p:grpSpPr>
          <a:xfrm>
            <a:off x="609600" y="3471857"/>
            <a:ext cx="10673696" cy="1088136"/>
            <a:chOff x="365760" y="3487403"/>
            <a:chExt cx="10673696" cy="1088136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9015961-73B1-C6C6-8462-E706C7205385}"/>
                </a:ext>
              </a:extLst>
            </p:cNvPr>
            <p:cNvSpPr/>
            <p:nvPr/>
          </p:nvSpPr>
          <p:spPr>
            <a:xfrm>
              <a:off x="1752599" y="3578880"/>
              <a:ext cx="9286857" cy="90518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92948D4-8F9C-66B7-0C20-7D430891D923}"/>
                </a:ext>
              </a:extLst>
            </p:cNvPr>
            <p:cNvSpPr/>
            <p:nvPr/>
          </p:nvSpPr>
          <p:spPr>
            <a:xfrm>
              <a:off x="365760" y="3487403"/>
              <a:ext cx="1828800" cy="1088136"/>
            </a:xfrm>
            <a:prstGeom prst="roundRect">
              <a:avLst>
                <a:gd name="adj" fmla="val 1980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BCAB0E4-E51B-2BC4-78AE-06B205F7ECC9}"/>
                </a:ext>
              </a:extLst>
            </p:cNvPr>
            <p:cNvSpPr/>
            <p:nvPr/>
          </p:nvSpPr>
          <p:spPr>
            <a:xfrm>
              <a:off x="457200" y="3578880"/>
              <a:ext cx="1645920" cy="905183"/>
            </a:xfrm>
            <a:prstGeom prst="roundRect">
              <a:avLst>
                <a:gd name="adj" fmla="val 11947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Marginal cost (MC)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D0AE534-6D63-E645-DB0B-3E5D3737748E}"/>
                </a:ext>
              </a:extLst>
            </p:cNvPr>
            <p:cNvSpPr/>
            <p:nvPr/>
          </p:nvSpPr>
          <p:spPr>
            <a:xfrm>
              <a:off x="2285999" y="3631362"/>
              <a:ext cx="8571148" cy="8340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The change in costs as output increases by one unit</a:t>
              </a:r>
            </a:p>
            <a:p>
              <a:pPr marL="800100" lvl="1" indent="-3429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 the short run, this just depends on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VC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259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cost and productivity</a:t>
            </a:r>
          </a:p>
        </p:txBody>
      </p:sp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F680EBA-9FC6-4E89-8868-A1C7622A3D4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9">
            <a:extLst>
              <a:ext uri="{FF2B5EF4-FFF2-40B4-BE49-F238E27FC236}">
                <a16:creationId xmlns:a16="http://schemas.microsoft.com/office/drawing/2014/main" id="{731AF4AC-62C4-C4CE-2215-F95B5CF79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653" y="3187707"/>
            <a:ext cx="1588" cy="2671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10">
            <a:extLst>
              <a:ext uri="{FF2B5EF4-FFF2-40B4-BE49-F238E27FC236}">
                <a16:creationId xmlns:a16="http://schemas.microsoft.com/office/drawing/2014/main" id="{DEEFBDBC-84C1-8156-E186-CD5801963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1654" y="5861056"/>
            <a:ext cx="30575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EBF67FFC-9471-72B8-0755-F7DE5184E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616" y="3060707"/>
            <a:ext cx="8075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MPL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DB115F46-DA92-0407-B4CC-393B2FAD84AF}"/>
              </a:ext>
            </a:extLst>
          </p:cNvPr>
          <p:cNvSpPr>
            <a:spLocks/>
          </p:cNvSpPr>
          <p:nvPr/>
        </p:nvSpPr>
        <p:spPr bwMode="auto">
          <a:xfrm>
            <a:off x="4550229" y="3352807"/>
            <a:ext cx="3057525" cy="2303463"/>
          </a:xfrm>
          <a:custGeom>
            <a:avLst/>
            <a:gdLst>
              <a:gd name="T0" fmla="*/ 0 w 1868"/>
              <a:gd name="T1" fmla="*/ 2147483647 h 1410"/>
              <a:gd name="T2" fmla="*/ 2147483647 w 1868"/>
              <a:gd name="T3" fmla="*/ 2147483647 h 1410"/>
              <a:gd name="T4" fmla="*/ 2147483647 w 1868"/>
              <a:gd name="T5" fmla="*/ 2147483647 h 1410"/>
              <a:gd name="T6" fmla="*/ 2147483647 w 1868"/>
              <a:gd name="T7" fmla="*/ 2147483647 h 1410"/>
              <a:gd name="T8" fmla="*/ 2147483647 w 1868"/>
              <a:gd name="T9" fmla="*/ 2147483647 h 1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68"/>
              <a:gd name="T16" fmla="*/ 0 h 1410"/>
              <a:gd name="T17" fmla="*/ 1868 w 1868"/>
              <a:gd name="T18" fmla="*/ 1410 h 14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68" h="1410">
                <a:moveTo>
                  <a:pt x="0" y="1410"/>
                </a:moveTo>
                <a:cubicBezTo>
                  <a:pt x="54" y="1057"/>
                  <a:pt x="108" y="705"/>
                  <a:pt x="221" y="484"/>
                </a:cubicBezTo>
                <a:cubicBezTo>
                  <a:pt x="334" y="263"/>
                  <a:pt x="513" y="0"/>
                  <a:pt x="681" y="83"/>
                </a:cubicBezTo>
                <a:cubicBezTo>
                  <a:pt x="849" y="166"/>
                  <a:pt x="1030" y="765"/>
                  <a:pt x="1228" y="985"/>
                </a:cubicBezTo>
                <a:cubicBezTo>
                  <a:pt x="1426" y="1205"/>
                  <a:pt x="1647" y="1304"/>
                  <a:pt x="1868" y="1404"/>
                </a:cubicBezTo>
              </a:path>
            </a:pathLst>
          </a:custGeom>
          <a:noFill/>
          <a:ln w="19050">
            <a:solidFill>
              <a:srgbClr val="005F8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B9359D26-77EE-BA6E-638B-EB316EC51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1803" y="3232156"/>
            <a:ext cx="787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5F85"/>
                </a:solidFill>
                <a:latin typeface="Source Sans Pro" panose="020B0503030403020204" pitchFamily="34" charset="0"/>
              </a:rPr>
              <a:t>MPL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217CD9E0-57BA-BF1A-FE31-841A8D2DB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753" y="5873536"/>
            <a:ext cx="33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8A6DAB6-7DA4-B90A-A3EE-677DFAC86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528" y="1387508"/>
            <a:ext cx="10552176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>
                <a:ea typeface="ＭＳ Ｐゴシック" pitchFamily="34" charset="-128"/>
              </a:rPr>
              <a:t>Recall that the </a:t>
            </a:r>
            <a:r>
              <a:rPr lang="ja-JP" altLang="en-US" kern="0">
                <a:ea typeface="ＭＳ Ｐゴシック" pitchFamily="34" charset="-128"/>
              </a:rPr>
              <a:t>“</a:t>
            </a:r>
            <a:r>
              <a:rPr lang="en-US" altLang="ja-JP" b="1" kern="0">
                <a:ea typeface="ＭＳ Ｐゴシック" pitchFamily="34" charset="-128"/>
              </a:rPr>
              <a:t>typical</a:t>
            </a:r>
            <a:r>
              <a:rPr lang="ja-JP" altLang="en-US" kern="0">
                <a:ea typeface="ＭＳ Ｐゴシック" pitchFamily="34" charset="-128"/>
              </a:rPr>
              <a:t>”</a:t>
            </a:r>
            <a:r>
              <a:rPr lang="en-US" altLang="ja-JP" kern="0">
                <a:ea typeface="ＭＳ Ｐゴシック" pitchFamily="34" charset="-128"/>
              </a:rPr>
              <a:t> case for marginal product of labor (MPL) is that </a:t>
            </a:r>
            <a:r>
              <a:rPr lang="en-US" altLang="ja-JP" b="1" kern="0">
                <a:ea typeface="ＭＳ Ｐゴシック" pitchFamily="34" charset="-128"/>
              </a:rPr>
              <a:t>MPL is hump-shaped</a:t>
            </a:r>
          </a:p>
          <a:p>
            <a:pPr lvl="1" eaLnBrk="1" hangingPunct="1"/>
            <a:r>
              <a:rPr lang="en-US" altLang="ja-JP" kern="0">
                <a:ea typeface="ＭＳ Ｐゴシック" pitchFamily="34" charset="-128"/>
              </a:rPr>
              <a:t>What does this imply about marginal costs?</a:t>
            </a:r>
            <a:endParaRPr lang="en-US" altLang="ja-JP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94160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cost and productivity</a:t>
            </a:r>
          </a:p>
        </p:txBody>
      </p:sp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F680EBA-9FC6-4E89-8868-A1C7622A3D4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B76F9D2-0316-F0D9-BA26-77F97066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8" y="1054147"/>
            <a:ext cx="1083564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MPL = </a:t>
            </a: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dQ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/dL</a:t>
            </a:r>
          </a:p>
          <a:p>
            <a:pPr lvl="1" eaLnBrk="1" hangingPunct="1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Increase in output with a one-unit increase in labor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D55483-38AC-6F46-17AE-7B296EFF9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8" y="1940472"/>
            <a:ext cx="1083564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Invert to get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dL/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</a:rPr>
              <a:t>dQ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= 1/MPL</a:t>
            </a:r>
          </a:p>
          <a:p>
            <a:pPr lvl="1" eaLnBrk="1" hangingPunct="1"/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Necessary labor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for another unit of output is the inverse of MPL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876416-D12F-8E29-C8C4-4C454A450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8" y="2826797"/>
            <a:ext cx="108356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MC = </a:t>
            </a:r>
            <a:r>
              <a:rPr lang="en-US" alt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dC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r>
              <a:rPr lang="en-US" altLang="en-US" sz="2400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AADF1A-033B-662A-A8E9-106588BBC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8" y="3269924"/>
            <a:ext cx="1083564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eaLnBrk="1" hangingPunct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Costs increase (in short run) only through variable cost (VC = 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wL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lvl="1" eaLnBrk="1" hangingPunct="1"/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How much do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variable costs 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change when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target Q 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increases by a unit?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BB01099-BDAA-27D0-4E54-6974415AB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68" y="4156247"/>
            <a:ext cx="1083564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2" eaLnBrk="1" hangingPunct="1"/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Amount of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additional labor 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necessary, multiplied by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wage</a:t>
            </a:r>
          </a:p>
          <a:p>
            <a:pPr lvl="2" eaLnBrk="1" hangingPunct="1"/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Thus,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MC 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= 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 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  <a:sym typeface="Symbol" pitchFamily="18" charset="2"/>
              </a:rPr>
              <a:t>x 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en-US" altLang="en-US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dL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r>
              <a:rPr lang="en-US" altLang="en-US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w/MPL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8AF217-CE0F-8659-5E5A-EE413F625174}"/>
              </a:ext>
            </a:extLst>
          </p:cNvPr>
          <p:cNvGrpSpPr/>
          <p:nvPr/>
        </p:nvGrpSpPr>
        <p:grpSpPr>
          <a:xfrm>
            <a:off x="1110897" y="5170595"/>
            <a:ext cx="9930581" cy="1517974"/>
            <a:chOff x="457200" y="5427694"/>
            <a:chExt cx="7968343" cy="136812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737D4D-1E36-EAFA-AC43-6F476F5D39E2}"/>
                </a:ext>
              </a:extLst>
            </p:cNvPr>
            <p:cNvGrpSpPr/>
            <p:nvPr/>
          </p:nvGrpSpPr>
          <p:grpSpPr>
            <a:xfrm>
              <a:off x="457200" y="5427694"/>
              <a:ext cx="7968343" cy="1368127"/>
              <a:chOff x="1552773" y="5377101"/>
              <a:chExt cx="5894774" cy="1326309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CD323CD-90FF-44A8-CEC8-48760B98CE88}"/>
                  </a:ext>
                </a:extLst>
              </p:cNvPr>
              <p:cNvSpPr/>
              <p:nvPr/>
            </p:nvSpPr>
            <p:spPr>
              <a:xfrm>
                <a:off x="1552773" y="5632166"/>
                <a:ext cx="5894774" cy="813661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714BBE1-3648-C05D-00BA-B613648448E0}"/>
                  </a:ext>
                </a:extLst>
              </p:cNvPr>
              <p:cNvSpPr/>
              <p:nvPr/>
            </p:nvSpPr>
            <p:spPr>
              <a:xfrm>
                <a:off x="1552773" y="5377101"/>
                <a:ext cx="5894774" cy="61024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4933D80-88A8-E08E-DD2D-23A00A62B918}"/>
                  </a:ext>
                </a:extLst>
              </p:cNvPr>
              <p:cNvSpPr/>
              <p:nvPr/>
            </p:nvSpPr>
            <p:spPr>
              <a:xfrm>
                <a:off x="1552773" y="6093163"/>
                <a:ext cx="5894774" cy="610247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037C93-5C77-307F-25DF-D1502528E249}"/>
                </a:ext>
              </a:extLst>
            </p:cNvPr>
            <p:cNvSpPr txBox="1"/>
            <p:nvPr/>
          </p:nvSpPr>
          <p:spPr>
            <a:xfrm>
              <a:off x="899009" y="5625047"/>
              <a:ext cx="7084725" cy="1148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en-US" sz="2400" b="1" dirty="0">
                  <a:latin typeface="Source Sans Pro" panose="020B0503030403020204" pitchFamily="34" charset="0"/>
                </a:rPr>
                <a:t>Marginal cost is inversely related to productivity!</a:t>
              </a:r>
            </a:p>
            <a:p>
              <a:pPr algn="ctr" eaLnBrk="1" hangingPunct="1">
                <a:spcBef>
                  <a:spcPct val="2000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</a:rPr>
                <a:t>Less time is needed from more productive workers in order to increase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035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cost and productivity</a:t>
            </a:r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22C8F97-6F9E-4E22-857C-BB348025E8F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3E595F04-0B64-6546-0284-2D029DF38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5356" y="2671763"/>
            <a:ext cx="1588" cy="2671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CB382610-1DBC-E33F-FE02-A953C8C8B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5357" y="5343525"/>
            <a:ext cx="322421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B1A240A-141F-8AED-A85C-7E340CF6B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744" y="2520951"/>
            <a:ext cx="41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FCE41335-884F-7F54-7F0B-3AC820EF9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181" y="5173663"/>
            <a:ext cx="33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L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44F996AB-BA2F-E783-F1D6-1E9570FE4D2A}"/>
              </a:ext>
            </a:extLst>
          </p:cNvPr>
          <p:cNvSpPr>
            <a:spLocks/>
          </p:cNvSpPr>
          <p:nvPr/>
        </p:nvSpPr>
        <p:spPr bwMode="auto">
          <a:xfrm>
            <a:off x="1943932" y="2836863"/>
            <a:ext cx="3057525" cy="2303462"/>
          </a:xfrm>
          <a:custGeom>
            <a:avLst/>
            <a:gdLst>
              <a:gd name="T0" fmla="*/ 0 w 1868"/>
              <a:gd name="T1" fmla="*/ 2147483647 h 1410"/>
              <a:gd name="T2" fmla="*/ 2147483647 w 1868"/>
              <a:gd name="T3" fmla="*/ 2147483647 h 1410"/>
              <a:gd name="T4" fmla="*/ 2147483647 w 1868"/>
              <a:gd name="T5" fmla="*/ 2147483647 h 1410"/>
              <a:gd name="T6" fmla="*/ 2147483647 w 1868"/>
              <a:gd name="T7" fmla="*/ 2147483647 h 1410"/>
              <a:gd name="T8" fmla="*/ 2147483647 w 1868"/>
              <a:gd name="T9" fmla="*/ 2147483647 h 1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68"/>
              <a:gd name="T16" fmla="*/ 0 h 1410"/>
              <a:gd name="T17" fmla="*/ 1868 w 1868"/>
              <a:gd name="T18" fmla="*/ 1410 h 14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68" h="1410">
                <a:moveTo>
                  <a:pt x="0" y="1410"/>
                </a:moveTo>
                <a:cubicBezTo>
                  <a:pt x="54" y="1057"/>
                  <a:pt x="108" y="705"/>
                  <a:pt x="221" y="484"/>
                </a:cubicBezTo>
                <a:cubicBezTo>
                  <a:pt x="334" y="263"/>
                  <a:pt x="513" y="0"/>
                  <a:pt x="681" y="83"/>
                </a:cubicBezTo>
                <a:cubicBezTo>
                  <a:pt x="849" y="166"/>
                  <a:pt x="1030" y="765"/>
                  <a:pt x="1228" y="985"/>
                </a:cubicBezTo>
                <a:cubicBezTo>
                  <a:pt x="1426" y="1205"/>
                  <a:pt x="1647" y="1304"/>
                  <a:pt x="1868" y="1404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77855B21-621E-6DDE-83B9-90531409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021" y="4160838"/>
            <a:ext cx="958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MPL</a:t>
            </a: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9532AD54-D39A-86E0-7D82-42D80E77F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801" y="1566864"/>
            <a:ext cx="43145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MPL eventually falls due to the law of diminishing returns (LDR)</a:t>
            </a:r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25D174F4-113E-C208-9525-25064155D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7873" y="2689226"/>
            <a:ext cx="1588" cy="2671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97E77489-26CB-719B-0CC0-A1A27EA211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7874" y="5360989"/>
            <a:ext cx="32242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506C095B-DF8C-BCF9-7772-D7510250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5457" y="2516188"/>
            <a:ext cx="92226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Source Sans Pro" panose="020B0503030403020204" pitchFamily="34" charset="0"/>
              </a:rPr>
              <a:t>Cost</a:t>
            </a:r>
          </a:p>
          <a:p>
            <a:pPr algn="ctr" eaLnBrk="1" hangingPunct="1"/>
            <a:r>
              <a:rPr lang="en-US" altLang="en-US" sz="2400" dirty="0">
                <a:latin typeface="Source Sans Pro" panose="020B0503030403020204" pitchFamily="34" charset="0"/>
              </a:rPr>
              <a:t>($)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9F599318-8274-4E18-809F-4BD657393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9698" y="5191125"/>
            <a:ext cx="414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13" name="Text Box 19">
            <a:extLst>
              <a:ext uri="{FF2B5EF4-FFF2-40B4-BE49-F238E27FC236}">
                <a16:creationId xmlns:a16="http://schemas.microsoft.com/office/drawing/2014/main" id="{6A931A13-F0D3-879D-96C0-C43F52C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7349" y="1584326"/>
            <a:ext cx="41179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 dirty="0">
                <a:latin typeface="Source Sans Pro" panose="020B0503030403020204" pitchFamily="34" charset="0"/>
              </a:rPr>
              <a:t>MC falls as MPL rises, and then eventually rises due to LDR</a:t>
            </a:r>
          </a:p>
        </p:txBody>
      </p:sp>
      <p:sp>
        <p:nvSpPr>
          <p:cNvPr id="14" name="Freeform 20">
            <a:extLst>
              <a:ext uri="{FF2B5EF4-FFF2-40B4-BE49-F238E27FC236}">
                <a16:creationId xmlns:a16="http://schemas.microsoft.com/office/drawing/2014/main" id="{3F42BEE7-A8E6-2015-22E0-76C22AEA7A26}"/>
              </a:ext>
            </a:extLst>
          </p:cNvPr>
          <p:cNvSpPr>
            <a:spLocks/>
          </p:cNvSpPr>
          <p:nvPr/>
        </p:nvSpPr>
        <p:spPr bwMode="auto">
          <a:xfrm>
            <a:off x="6903136" y="3217863"/>
            <a:ext cx="2671762" cy="1885950"/>
          </a:xfrm>
          <a:custGeom>
            <a:avLst/>
            <a:gdLst>
              <a:gd name="T0" fmla="*/ 0 w 1683"/>
              <a:gd name="T1" fmla="*/ 2147483647 h 1188"/>
              <a:gd name="T2" fmla="*/ 2147483647 w 1683"/>
              <a:gd name="T3" fmla="*/ 2147483647 h 1188"/>
              <a:gd name="T4" fmla="*/ 2147483647 w 1683"/>
              <a:gd name="T5" fmla="*/ 2147483647 h 1188"/>
              <a:gd name="T6" fmla="*/ 2147483647 w 1683"/>
              <a:gd name="T7" fmla="*/ 2147483647 h 1188"/>
              <a:gd name="T8" fmla="*/ 2147483647 w 1683"/>
              <a:gd name="T9" fmla="*/ 0 h 11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3"/>
              <a:gd name="T16" fmla="*/ 0 h 1188"/>
              <a:gd name="T17" fmla="*/ 1683 w 1683"/>
              <a:gd name="T18" fmla="*/ 1188 h 11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3" h="1188">
                <a:moveTo>
                  <a:pt x="0" y="351"/>
                </a:moveTo>
                <a:cubicBezTo>
                  <a:pt x="89" y="548"/>
                  <a:pt x="178" y="746"/>
                  <a:pt x="306" y="883"/>
                </a:cubicBezTo>
                <a:cubicBezTo>
                  <a:pt x="434" y="1020"/>
                  <a:pt x="602" y="1188"/>
                  <a:pt x="770" y="1174"/>
                </a:cubicBezTo>
                <a:cubicBezTo>
                  <a:pt x="938" y="1160"/>
                  <a:pt x="1164" y="995"/>
                  <a:pt x="1316" y="800"/>
                </a:cubicBezTo>
                <a:cubicBezTo>
                  <a:pt x="1468" y="605"/>
                  <a:pt x="1575" y="302"/>
                  <a:pt x="1683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8CE3BD81-702B-3606-F011-C64A42CDA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9317" y="2801094"/>
            <a:ext cx="661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Source Sans Pro" panose="020B0503030403020204" pitchFamily="34" charset="0"/>
              </a:rPr>
              <a:t>MC</a:t>
            </a:r>
          </a:p>
        </p:txBody>
      </p:sp>
    </p:spTree>
    <p:extLst>
      <p:ext uri="{BB962C8B-B14F-4D97-AF65-F5344CB8AC3E}">
        <p14:creationId xmlns:p14="http://schemas.microsoft.com/office/powerpoint/2010/main" val="19217274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Properties of marginal and average cost</a:t>
            </a:r>
          </a:p>
        </p:txBody>
      </p:sp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D7A0B45-F3B4-4E21-AC87-BC6A6B094B9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6EAA66-9A1B-7786-9C42-F610A8A8ACE7}"/>
              </a:ext>
            </a:extLst>
          </p:cNvPr>
          <p:cNvGrpSpPr/>
          <p:nvPr/>
        </p:nvGrpSpPr>
        <p:grpSpPr>
          <a:xfrm>
            <a:off x="2950031" y="3026239"/>
            <a:ext cx="5435145" cy="3649365"/>
            <a:chOff x="1426030" y="3026238"/>
            <a:chExt cx="5435145" cy="3649365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13B5237A-D47E-611F-9155-376B0C4F20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1413" y="3169113"/>
              <a:ext cx="11112" cy="32400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03553084-80B2-902F-5F58-3855E8DC5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1413" y="6402851"/>
              <a:ext cx="3911600" cy="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077A4834-95FC-FCA9-B194-BF6DF1EF4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6030" y="3026238"/>
              <a:ext cx="107428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latin typeface="Source Sans Pro" panose="020B0503030403020204" pitchFamily="34" charset="0"/>
                </a:rPr>
                <a:t>Cost ($)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A93815F6-0DF6-7D7E-6C4A-60FAE2941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2038" y="6213938"/>
              <a:ext cx="7191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altLang="en-US" sz="2400" dirty="0">
                  <a:latin typeface="Source Sans Pro" panose="020B0503030403020204" pitchFamily="34" charset="0"/>
                </a:rPr>
                <a:t>Q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269461-01F4-6974-3092-59F2CF54272E}"/>
              </a:ext>
            </a:extLst>
          </p:cNvPr>
          <p:cNvGrpSpPr/>
          <p:nvPr/>
        </p:nvGrpSpPr>
        <p:grpSpPr>
          <a:xfrm>
            <a:off x="4511675" y="3472327"/>
            <a:ext cx="3423558" cy="1831975"/>
            <a:chOff x="2987675" y="3472326"/>
            <a:chExt cx="3423558" cy="1831975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F7EEAB3-B0AD-FB9E-67BB-F9D307AF7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5" y="3472326"/>
              <a:ext cx="3333750" cy="1831975"/>
            </a:xfrm>
            <a:custGeom>
              <a:avLst/>
              <a:gdLst>
                <a:gd name="T0" fmla="*/ 0 w 5745"/>
                <a:gd name="T1" fmla="*/ 0 h 2285"/>
                <a:gd name="T2" fmla="*/ 2147483647 w 5745"/>
                <a:gd name="T3" fmla="*/ 2147483647 h 2285"/>
                <a:gd name="T4" fmla="*/ 2147483647 w 5745"/>
                <a:gd name="T5" fmla="*/ 2147483647 h 2285"/>
                <a:gd name="T6" fmla="*/ 2147483647 w 5745"/>
                <a:gd name="T7" fmla="*/ 2147483647 h 2285"/>
                <a:gd name="T8" fmla="*/ 2147483647 w 5745"/>
                <a:gd name="T9" fmla="*/ 2147483647 h 22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45"/>
                <a:gd name="T16" fmla="*/ 0 h 2285"/>
                <a:gd name="T17" fmla="*/ 5745 w 5745"/>
                <a:gd name="T18" fmla="*/ 2285 h 22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45" h="2285">
                  <a:moveTo>
                    <a:pt x="0" y="0"/>
                  </a:moveTo>
                  <a:cubicBezTo>
                    <a:pt x="382" y="645"/>
                    <a:pt x="765" y="1290"/>
                    <a:pt x="1260" y="1665"/>
                  </a:cubicBezTo>
                  <a:cubicBezTo>
                    <a:pt x="1755" y="2040"/>
                    <a:pt x="2415" y="2215"/>
                    <a:pt x="2970" y="2250"/>
                  </a:cubicBezTo>
                  <a:cubicBezTo>
                    <a:pt x="3525" y="2285"/>
                    <a:pt x="4128" y="2110"/>
                    <a:pt x="4590" y="1875"/>
                  </a:cubicBezTo>
                  <a:cubicBezTo>
                    <a:pt x="5052" y="1640"/>
                    <a:pt x="5398" y="1240"/>
                    <a:pt x="5745" y="84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C346839C-99F9-6CCC-5D04-831467313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7333" y="4014794"/>
              <a:ext cx="7239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sz="2400" dirty="0">
                  <a:latin typeface="Source Sans Pro" panose="020B0503030403020204" pitchFamily="34" charset="0"/>
                </a:rPr>
                <a:t>AC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1717F6-2A92-4C11-4049-DA79A864D340}"/>
              </a:ext>
            </a:extLst>
          </p:cNvPr>
          <p:cNvGrpSpPr/>
          <p:nvPr/>
        </p:nvGrpSpPr>
        <p:grpSpPr>
          <a:xfrm>
            <a:off x="4244976" y="3251888"/>
            <a:ext cx="3224213" cy="2760438"/>
            <a:chOff x="2720975" y="3251888"/>
            <a:chExt cx="3224213" cy="2760438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D5AEADF4-F29D-96AD-017D-B18035A02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1288" y="3251888"/>
              <a:ext cx="7239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altLang="en-US" sz="2400" dirty="0">
                  <a:latin typeface="Source Sans Pro" panose="020B0503030403020204" pitchFamily="34" charset="0"/>
                </a:rPr>
                <a:t>MC</a:t>
              </a: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D9BE764-A841-5987-6254-5107D27FC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975" y="3653301"/>
              <a:ext cx="2847975" cy="2359025"/>
            </a:xfrm>
            <a:custGeom>
              <a:avLst/>
              <a:gdLst>
                <a:gd name="T0" fmla="*/ 0 w 4485"/>
                <a:gd name="T1" fmla="*/ 2147483647 h 3715"/>
                <a:gd name="T2" fmla="*/ 2147483647 w 4485"/>
                <a:gd name="T3" fmla="*/ 2147483647 h 3715"/>
                <a:gd name="T4" fmla="*/ 2147483647 w 4485"/>
                <a:gd name="T5" fmla="*/ 2147483647 h 3715"/>
                <a:gd name="T6" fmla="*/ 2147483647 w 4485"/>
                <a:gd name="T7" fmla="*/ 2147483647 h 3715"/>
                <a:gd name="T8" fmla="*/ 2147483647 w 4485"/>
                <a:gd name="T9" fmla="*/ 2147483647 h 3715"/>
                <a:gd name="T10" fmla="*/ 2147483647 w 4485"/>
                <a:gd name="T11" fmla="*/ 0 h 37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85"/>
                <a:gd name="T19" fmla="*/ 0 h 3715"/>
                <a:gd name="T20" fmla="*/ 4485 w 4485"/>
                <a:gd name="T21" fmla="*/ 3715 h 37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85" h="3715">
                  <a:moveTo>
                    <a:pt x="0" y="1230"/>
                  </a:moveTo>
                  <a:cubicBezTo>
                    <a:pt x="256" y="1932"/>
                    <a:pt x="513" y="2635"/>
                    <a:pt x="840" y="3045"/>
                  </a:cubicBezTo>
                  <a:cubicBezTo>
                    <a:pt x="1167" y="3455"/>
                    <a:pt x="1598" y="3715"/>
                    <a:pt x="1965" y="3690"/>
                  </a:cubicBezTo>
                  <a:cubicBezTo>
                    <a:pt x="2332" y="3665"/>
                    <a:pt x="2673" y="3400"/>
                    <a:pt x="3045" y="2895"/>
                  </a:cubicBezTo>
                  <a:cubicBezTo>
                    <a:pt x="3417" y="2390"/>
                    <a:pt x="3960" y="1143"/>
                    <a:pt x="4200" y="660"/>
                  </a:cubicBezTo>
                  <a:cubicBezTo>
                    <a:pt x="4440" y="177"/>
                    <a:pt x="4462" y="88"/>
                    <a:pt x="4485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16" name="Rectangle 3">
            <a:extLst>
              <a:ext uri="{FF2B5EF4-FFF2-40B4-BE49-F238E27FC236}">
                <a16:creationId xmlns:a16="http://schemas.microsoft.com/office/drawing/2014/main" id="{81587BFF-12DF-F820-58AC-FD34A88E6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2050818"/>
            <a:ext cx="83835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MC cuts through AC at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AC’</a:t>
            </a:r>
            <a:r>
              <a:rPr lang="en-US" altLang="ja-JP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s minimum </a:t>
            </a:r>
            <a:r>
              <a:rPr lang="en-US" altLang="ja-JP" sz="2400" kern="0" dirty="0">
                <a:latin typeface="Source Sans Pro" panose="020B0503030403020204" pitchFamily="34" charset="0"/>
                <a:ea typeface="ＭＳ Ｐゴシック" pitchFamily="34" charset="-128"/>
              </a:rPr>
              <a:t>point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C0FBC59-1AB0-26F6-0DD5-2F9AE675C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1025526"/>
            <a:ext cx="8383588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b="1" kern="0">
                <a:ea typeface="ＭＳ Ｐゴシック" pitchFamily="34" charset="-128"/>
              </a:rPr>
              <a:t>Average cost </a:t>
            </a:r>
            <a:r>
              <a:rPr lang="en-US" altLang="en-US" kern="0">
                <a:ea typeface="ＭＳ Ｐゴシック" pitchFamily="34" charset="-128"/>
              </a:rPr>
              <a:t>(AC) is usually </a:t>
            </a:r>
            <a:r>
              <a:rPr lang="en-US" altLang="en-US" b="1" kern="0">
                <a:ea typeface="ＭＳ Ｐゴシック" pitchFamily="34" charset="-128"/>
              </a:rPr>
              <a:t>U-shaped </a:t>
            </a:r>
            <a:r>
              <a:rPr lang="en-US" altLang="en-US" kern="0">
                <a:ea typeface="ＭＳ Ｐゴシック" pitchFamily="34" charset="-128"/>
              </a:rPr>
              <a:t>in quantity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altLang="en-US" kern="0">
                <a:ea typeface="ＭＳ Ｐゴシック" pitchFamily="34" charset="-128"/>
              </a:rPr>
              <a:t>Includes both </a:t>
            </a:r>
            <a:r>
              <a:rPr lang="en-US" altLang="en-US" b="1" kern="0">
                <a:ea typeface="ＭＳ Ｐゴシック" pitchFamily="34" charset="-128"/>
              </a:rPr>
              <a:t>fixed </a:t>
            </a:r>
            <a:r>
              <a:rPr lang="en-US" altLang="en-US" kern="0">
                <a:ea typeface="ＭＳ Ｐゴシック" pitchFamily="34" charset="-128"/>
              </a:rPr>
              <a:t>and </a:t>
            </a:r>
            <a:r>
              <a:rPr lang="en-US" altLang="en-US" b="1" kern="0">
                <a:ea typeface="ＭＳ Ｐゴシック" pitchFamily="34" charset="-128"/>
              </a:rPr>
              <a:t>variable costs</a:t>
            </a:r>
            <a:endParaRPr lang="en-US" altLang="en-US" b="1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485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Marginal cost and average cost</a:t>
            </a:r>
          </a:p>
        </p:txBody>
      </p:sp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06D7DF7-4D60-41EE-96FA-8873226D4F0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D5DC3D7-919A-D210-F097-452B80CB8EB0}"/>
              </a:ext>
            </a:extLst>
          </p:cNvPr>
          <p:cNvGrpSpPr/>
          <p:nvPr/>
        </p:nvGrpSpPr>
        <p:grpSpPr>
          <a:xfrm>
            <a:off x="609600" y="1230300"/>
            <a:ext cx="10829543" cy="1729704"/>
            <a:chOff x="337455" y="1062038"/>
            <a:chExt cx="10610960" cy="17297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67890C-7463-9365-8449-255BEE69E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342" y="1062038"/>
              <a:ext cx="9076073" cy="1729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85750" indent="-28575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Together,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MC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AC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guide the firm to make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optimal quantity decisions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marL="685800" lvl="1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Best Q &gt; 0</a:t>
              </a:r>
            </a:p>
            <a:p>
              <a:pPr marL="685800" lvl="1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Whether Q &gt; 0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is wise at all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1BFC6BE-AF3C-BA64-8100-1E652AEC576C}"/>
                </a:ext>
              </a:extLst>
            </p:cNvPr>
            <p:cNvSpPr/>
            <p:nvPr/>
          </p:nvSpPr>
          <p:spPr>
            <a:xfrm>
              <a:off x="337455" y="1062038"/>
              <a:ext cx="1534888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Optimal decisions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373B19-5D6C-2BE5-755A-7E8B007DD22B}"/>
              </a:ext>
            </a:extLst>
          </p:cNvPr>
          <p:cNvGrpSpPr/>
          <p:nvPr/>
        </p:nvGrpSpPr>
        <p:grpSpPr>
          <a:xfrm>
            <a:off x="613053" y="3186608"/>
            <a:ext cx="10826091" cy="911019"/>
            <a:chOff x="337455" y="2586038"/>
            <a:chExt cx="10607577" cy="91101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B966D5EF-E616-90A2-2CCD-4604B6827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342" y="2586038"/>
              <a:ext cx="9072690" cy="91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285750" indent="-28575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MC and AC are defined in both the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short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long run</a:t>
              </a:r>
            </a:p>
            <a:p>
              <a:pPr marL="285750" indent="-285750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Properties are determined by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productivity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cost-minimization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0883693-0BE4-E92D-421D-82FCE3087B8C}"/>
                </a:ext>
              </a:extLst>
            </p:cNvPr>
            <p:cNvSpPr/>
            <p:nvPr/>
          </p:nvSpPr>
          <p:spPr>
            <a:xfrm>
              <a:off x="337455" y="2586038"/>
              <a:ext cx="1534888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F4E03C-F5EB-8FF4-E215-110B74CDA410}"/>
              </a:ext>
            </a:extLst>
          </p:cNvPr>
          <p:cNvGrpSpPr/>
          <p:nvPr/>
        </p:nvGrpSpPr>
        <p:grpSpPr>
          <a:xfrm>
            <a:off x="613053" y="4324231"/>
            <a:ext cx="10826091" cy="2215991"/>
            <a:chOff x="337455" y="3750809"/>
            <a:chExt cx="10607577" cy="2215991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B46B1D6-D6E9-306B-5B5E-67FF75300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343" y="3750809"/>
              <a:ext cx="9072689" cy="2215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When a firm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cannot easily substitute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 for K …</a:t>
              </a:r>
            </a:p>
            <a:p>
              <a:pPr lvl="1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Short-run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marginal costs will be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steep in Q</a:t>
              </a:r>
              <a:endPara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Long-run average costs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will always be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below short-run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average costs</a:t>
              </a:r>
            </a:p>
            <a:p>
              <a:pPr lvl="1" ea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Firm has more flexibility to achieve an output goal at lower cost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0E0A7416-FEC3-F70E-A021-1D0A549AD516}"/>
                </a:ext>
              </a:extLst>
            </p:cNvPr>
            <p:cNvSpPr/>
            <p:nvPr/>
          </p:nvSpPr>
          <p:spPr>
            <a:xfrm>
              <a:off x="337455" y="3750809"/>
              <a:ext cx="1534888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Examples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50440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b="0" dirty="0">
                <a:ea typeface="ＭＳ Ｐゴシック" pitchFamily="34" charset="-128"/>
              </a:rPr>
              <a:t>Total cost and average cost</a:t>
            </a:r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9FA75A05-E85D-CCAA-77E4-69CD548B4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77" y="2133601"/>
            <a:ext cx="8552253" cy="46230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ctr" eaLnBrk="0" hangingPunct="0">
              <a:spcAft>
                <a:spcPts val="1200"/>
              </a:spcAft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Total cost (TC(Q)) = Variable cost (VC(Q)) + Fixed cost (FC)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A8F57DD8-D42D-0A26-C5A5-B7B0438AA89B}"/>
              </a:ext>
            </a:extLst>
          </p:cNvPr>
          <p:cNvSpPr/>
          <p:nvPr/>
        </p:nvSpPr>
        <p:spPr>
          <a:xfrm>
            <a:off x="6732814" y="1001485"/>
            <a:ext cx="2688772" cy="914400"/>
          </a:xfrm>
          <a:prstGeom prst="wedgeRoundRectCallout">
            <a:avLst>
              <a:gd name="adj1" fmla="val 45466"/>
              <a:gd name="adj2" fmla="val 79357"/>
              <a:gd name="adj3" fmla="val 16667"/>
            </a:avLst>
          </a:prstGeom>
          <a:solidFill>
            <a:srgbClr val="005F85"/>
          </a:solidFill>
          <a:ln>
            <a:solidFill>
              <a:srgbClr val="005F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8C8C8"/>
                </a:solidFill>
                <a:latin typeface="Source Sans Pro" panose="020B0503030403020204" pitchFamily="34" charset="0"/>
              </a:rPr>
              <a:t>Does not depend on Q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B40A02-5C0B-CD5F-9B35-B33F10A90D5C}"/>
              </a:ext>
            </a:extLst>
          </p:cNvPr>
          <p:cNvGrpSpPr/>
          <p:nvPr/>
        </p:nvGrpSpPr>
        <p:grpSpPr>
          <a:xfrm>
            <a:off x="1889760" y="2697887"/>
            <a:ext cx="8397240" cy="1225296"/>
            <a:chOff x="365760" y="4129467"/>
            <a:chExt cx="8397240" cy="122529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CBDAF15-7579-D1FB-DFBA-A45BC85EC3A0}"/>
                </a:ext>
              </a:extLst>
            </p:cNvPr>
            <p:cNvSpPr/>
            <p:nvPr/>
          </p:nvSpPr>
          <p:spPr>
            <a:xfrm>
              <a:off x="1752600" y="4220907"/>
              <a:ext cx="7010400" cy="104241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072B268-6FA2-548D-DF0B-734124BDB768}"/>
                </a:ext>
              </a:extLst>
            </p:cNvPr>
            <p:cNvSpPr/>
            <p:nvPr/>
          </p:nvSpPr>
          <p:spPr>
            <a:xfrm>
              <a:off x="365760" y="4129467"/>
              <a:ext cx="2862072" cy="12252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49434B9-1CCF-649C-9579-CECF8AC9D8DB}"/>
                </a:ext>
              </a:extLst>
            </p:cNvPr>
            <p:cNvSpPr/>
            <p:nvPr/>
          </p:nvSpPr>
          <p:spPr>
            <a:xfrm>
              <a:off x="457198" y="4220539"/>
              <a:ext cx="2678539" cy="1043153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Average variable cost (AVC)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74E0017-D5F7-6F7E-7DAE-57C0B244E2D7}"/>
                    </a:ext>
                  </a:extLst>
                </p:cNvPr>
                <p:cNvSpPr/>
                <p:nvPr/>
              </p:nvSpPr>
              <p:spPr>
                <a:xfrm>
                  <a:off x="2471056" y="4277233"/>
                  <a:ext cx="6215743" cy="930255"/>
                </a:xfrm>
                <a:prstGeom prst="rect">
                  <a:avLst/>
                </a:prstGeom>
              </p:spPr>
              <p:txBody>
                <a:bodyPr wrap="square" tIns="91440" bIns="0">
                  <a:spAutoFit/>
                </a:bodyPr>
                <a:lstStyle/>
                <a:p>
                  <a:pPr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en-US" sz="2400" b="1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VC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Q</m:t>
                            </m:r>
                          </m:den>
                        </m:f>
                      </m:oMath>
                    </m:oMathPara>
                  </a14:m>
                  <a:endParaRPr lang="en-US" altLang="en-US" sz="2400" b="1" kern="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1056" y="4277233"/>
                  <a:ext cx="6215743" cy="93025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A07B38-7408-B1CA-9DE9-4091DA460A20}"/>
              </a:ext>
            </a:extLst>
          </p:cNvPr>
          <p:cNvGrpSpPr/>
          <p:nvPr/>
        </p:nvGrpSpPr>
        <p:grpSpPr>
          <a:xfrm>
            <a:off x="1889760" y="3934214"/>
            <a:ext cx="8397240" cy="1225296"/>
            <a:chOff x="365760" y="4129467"/>
            <a:chExt cx="8397240" cy="122529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9E7DC166-5F6F-1B03-EC86-05850B2290A3}"/>
                </a:ext>
              </a:extLst>
            </p:cNvPr>
            <p:cNvSpPr/>
            <p:nvPr/>
          </p:nvSpPr>
          <p:spPr>
            <a:xfrm>
              <a:off x="1752600" y="4220907"/>
              <a:ext cx="7010400" cy="104241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FF580E3-54E8-6CD7-B9FF-AAB83548C41F}"/>
                </a:ext>
              </a:extLst>
            </p:cNvPr>
            <p:cNvSpPr/>
            <p:nvPr/>
          </p:nvSpPr>
          <p:spPr>
            <a:xfrm>
              <a:off x="365760" y="4129467"/>
              <a:ext cx="2862072" cy="12252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0BEE498-89D1-BE9A-7550-9D625989B0C0}"/>
                </a:ext>
              </a:extLst>
            </p:cNvPr>
            <p:cNvSpPr/>
            <p:nvPr/>
          </p:nvSpPr>
          <p:spPr>
            <a:xfrm>
              <a:off x="457198" y="4220539"/>
              <a:ext cx="2678539" cy="1043153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Average fixed cost (AFC)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A7B0264-5C30-06AE-D6A3-FAC4B84A88C8}"/>
                    </a:ext>
                  </a:extLst>
                </p:cNvPr>
                <p:cNvSpPr/>
                <p:nvPr/>
              </p:nvSpPr>
              <p:spPr>
                <a:xfrm>
                  <a:off x="2471056" y="4285868"/>
                  <a:ext cx="6215743" cy="912494"/>
                </a:xfrm>
                <a:prstGeom prst="rect">
                  <a:avLst/>
                </a:prstGeom>
              </p:spPr>
              <p:txBody>
                <a:bodyPr wrap="square" tIns="91440" bIns="0">
                  <a:spAutoFit/>
                </a:bodyPr>
                <a:lstStyle/>
                <a:p>
                  <a:pPr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en-US" sz="2400" b="1" i="1" ker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FC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>
                                <a:latin typeface="Source Sans Pro" panose="020B0503030403020204" pitchFamily="34" charset="0"/>
                                <a:ea typeface="ＭＳ Ｐゴシック" charset="0"/>
                                <a:cs typeface="ＭＳ Ｐゴシック" charset="0"/>
                              </a:rPr>
                              <m:t>Q</m:t>
                            </m:r>
                          </m:den>
                        </m:f>
                      </m:oMath>
                    </m:oMathPara>
                  </a14:m>
                  <a:endParaRPr lang="en-US" altLang="en-US" sz="2400" b="1" kern="0" dirty="0"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1056" y="4285868"/>
                  <a:ext cx="6215743" cy="9124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A8C9D4-6AD4-5B48-454E-C3BD59FCE9F0}"/>
              </a:ext>
            </a:extLst>
          </p:cNvPr>
          <p:cNvGrpSpPr/>
          <p:nvPr/>
        </p:nvGrpSpPr>
        <p:grpSpPr>
          <a:xfrm>
            <a:off x="1889760" y="5170541"/>
            <a:ext cx="8397240" cy="1225296"/>
            <a:chOff x="365760" y="5170541"/>
            <a:chExt cx="8397240" cy="1225296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2056CBB-43BF-69E1-77F7-D150956CEDDF}"/>
                </a:ext>
              </a:extLst>
            </p:cNvPr>
            <p:cNvSpPr/>
            <p:nvPr/>
          </p:nvSpPr>
          <p:spPr>
            <a:xfrm>
              <a:off x="1752600" y="5261981"/>
              <a:ext cx="7010400" cy="104241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18195FB1-A26B-6587-88BD-CAE76E12AD11}"/>
                </a:ext>
              </a:extLst>
            </p:cNvPr>
            <p:cNvSpPr/>
            <p:nvPr/>
          </p:nvSpPr>
          <p:spPr>
            <a:xfrm>
              <a:off x="365760" y="5170541"/>
              <a:ext cx="2862072" cy="12252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7C47059E-06D5-1925-707D-C4407AFBFB2C}"/>
                </a:ext>
              </a:extLst>
            </p:cNvPr>
            <p:cNvSpPr/>
            <p:nvPr/>
          </p:nvSpPr>
          <p:spPr>
            <a:xfrm>
              <a:off x="457198" y="5261613"/>
              <a:ext cx="2678539" cy="1043153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Average total cost (AC)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548EC0B-10B3-A1AA-FAFA-2DDC9565780E}"/>
                </a:ext>
              </a:extLst>
            </p:cNvPr>
            <p:cNvSpPr/>
            <p:nvPr/>
          </p:nvSpPr>
          <p:spPr>
            <a:xfrm>
              <a:off x="2471056" y="5570823"/>
              <a:ext cx="6215743" cy="424732"/>
            </a:xfrm>
            <a:prstGeom prst="rect">
              <a:avLst/>
            </a:prstGeom>
          </p:spPr>
          <p:txBody>
            <a:bodyPr wrap="square" tIns="91440" bIns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2400" dirty="0">
                  <a:latin typeface="Source Sans Pro" panose="020B0503030403020204" pitchFamily="34" charset="0"/>
                  <a:ea typeface="ＭＳ Ｐゴシック" charset="0"/>
                  <a:cs typeface="ＭＳ Ｐゴシック" charset="0"/>
                </a:rPr>
                <a:t>AVC + AFC</a:t>
              </a:r>
              <a:endPara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1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b="0" dirty="0">
                <a:ea typeface="ＭＳ Ｐゴシック" pitchFamily="34" charset="-128"/>
              </a:rPr>
              <a:t>Average cost and returns to scale</a:t>
            </a:r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51C4A80-7016-E993-6045-0648A3C0562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262126" y="2038350"/>
            <a:ext cx="5168900" cy="3746500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E560A34-A1B8-5ABB-B404-852AF4F21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902" y="1926768"/>
            <a:ext cx="755271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Cost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DCD4BD-9ED6-A4AE-2655-A65EBE601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451" y="5308907"/>
            <a:ext cx="1102866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Output</a:t>
            </a: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EC170E90-5C6D-A071-554B-5B254765C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6552" y="5297488"/>
            <a:ext cx="435123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Arc 8">
            <a:extLst>
              <a:ext uri="{FF2B5EF4-FFF2-40B4-BE49-F238E27FC236}">
                <a16:creationId xmlns:a16="http://schemas.microsoft.com/office/drawing/2014/main" id="{94E1E03B-E4B7-7321-1E28-5B72E8A650A1}"/>
              </a:ext>
            </a:extLst>
          </p:cNvPr>
          <p:cNvSpPr>
            <a:spLocks/>
          </p:cNvSpPr>
          <p:nvPr/>
        </p:nvSpPr>
        <p:spPr bwMode="auto">
          <a:xfrm rot="9180000">
            <a:off x="2281301" y="2397125"/>
            <a:ext cx="3454400" cy="2146300"/>
          </a:xfrm>
          <a:custGeom>
            <a:avLst/>
            <a:gdLst>
              <a:gd name="T0" fmla="*/ 3199 w 21600"/>
              <a:gd name="T1" fmla="*/ 0 h 21600"/>
              <a:gd name="T2" fmla="*/ 3454400 w 21600"/>
              <a:gd name="T3" fmla="*/ 2146300 h 21600"/>
              <a:gd name="T4" fmla="*/ 0 w 21600"/>
              <a:gd name="T5" fmla="*/ 21463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</a:path>
              <a:path w="21600" h="21600" stroke="0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  <a:lnTo>
                  <a:pt x="0" y="21600"/>
                </a:lnTo>
                <a:lnTo>
                  <a:pt x="19" y="0"/>
                </a:lnTo>
                <a:close/>
              </a:path>
            </a:pathLst>
          </a:custGeom>
          <a:noFill/>
          <a:ln w="19050" cap="rnd">
            <a:solidFill>
              <a:srgbClr val="789B4A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7" name="Arc 9">
            <a:extLst>
              <a:ext uri="{FF2B5EF4-FFF2-40B4-BE49-F238E27FC236}">
                <a16:creationId xmlns:a16="http://schemas.microsoft.com/office/drawing/2014/main" id="{7E68D884-E9FF-CCB5-F287-7D630501D105}"/>
              </a:ext>
            </a:extLst>
          </p:cNvPr>
          <p:cNvSpPr>
            <a:spLocks/>
          </p:cNvSpPr>
          <p:nvPr/>
        </p:nvSpPr>
        <p:spPr bwMode="auto">
          <a:xfrm rot="-5460000">
            <a:off x="2370995" y="1704182"/>
            <a:ext cx="2894013" cy="3905250"/>
          </a:xfrm>
          <a:custGeom>
            <a:avLst/>
            <a:gdLst>
              <a:gd name="T0" fmla="*/ 7503 w 21600"/>
              <a:gd name="T1" fmla="*/ 3905250 h 21447"/>
              <a:gd name="T2" fmla="*/ 1764812 w 21600"/>
              <a:gd name="T3" fmla="*/ 0 h 21447"/>
              <a:gd name="T4" fmla="*/ 2894013 w 21600"/>
              <a:gd name="T5" fmla="*/ 3621374 h 214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447" fill="none" extrusionOk="0">
                <a:moveTo>
                  <a:pt x="56" y="21446"/>
                </a:moveTo>
                <a:cubicBezTo>
                  <a:pt x="18" y="20928"/>
                  <a:pt x="0" y="20408"/>
                  <a:pt x="0" y="19888"/>
                </a:cubicBezTo>
                <a:cubicBezTo>
                  <a:pt x="0" y="11215"/>
                  <a:pt x="5186" y="3383"/>
                  <a:pt x="13172" y="0"/>
                </a:cubicBezTo>
              </a:path>
              <a:path w="21600" h="21447" stroke="0" extrusionOk="0">
                <a:moveTo>
                  <a:pt x="56" y="21446"/>
                </a:moveTo>
                <a:cubicBezTo>
                  <a:pt x="18" y="20928"/>
                  <a:pt x="0" y="20408"/>
                  <a:pt x="0" y="19888"/>
                </a:cubicBezTo>
                <a:cubicBezTo>
                  <a:pt x="0" y="11215"/>
                  <a:pt x="5186" y="3383"/>
                  <a:pt x="13172" y="0"/>
                </a:cubicBezTo>
                <a:lnTo>
                  <a:pt x="21600" y="19888"/>
                </a:lnTo>
                <a:lnTo>
                  <a:pt x="56" y="21446"/>
                </a:lnTo>
                <a:close/>
              </a:path>
            </a:pathLst>
          </a:custGeom>
          <a:noFill/>
          <a:ln w="19050" cap="rnd">
            <a:solidFill>
              <a:srgbClr val="005F85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5E5902A-A8FA-A692-A489-22D9C307E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176" y="5308907"/>
            <a:ext cx="507318" cy="462307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Q*</a:t>
            </a:r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068D6ED1-F61E-9C51-7853-C561E495D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740" y="2165350"/>
            <a:ext cx="0" cy="3132138"/>
          </a:xfrm>
          <a:prstGeom prst="line">
            <a:avLst/>
          </a:prstGeom>
          <a:noFill/>
          <a:ln w="25399">
            <a:solidFill>
              <a:srgbClr val="005F85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441075CF-97F9-D466-84F4-5CC6AEB80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179" y="2348435"/>
            <a:ext cx="4854432" cy="2616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eaLnBrk="0" hangingPunct="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At</a:t>
            </a:r>
            <a:r>
              <a:rPr lang="en-US" sz="2400" i="1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 Q*</a:t>
            </a: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2400" b="1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average total cost is minimized</a:t>
            </a:r>
            <a:endParaRPr lang="en-US" sz="2400" b="1" i="1" dirty="0"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  <a:p>
            <a:pPr marL="342900" indent="-342900" eaLnBrk="0" hangingPunct="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At Q &lt; Q*, </a:t>
            </a:r>
            <a:r>
              <a:rPr lang="en-US" sz="2400" b="1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increasing returns to scale</a:t>
            </a:r>
          </a:p>
          <a:p>
            <a:pPr marL="342900" indent="-342900" eaLnBrk="0" hangingPunct="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For Q &gt; Q*, </a:t>
            </a:r>
            <a:r>
              <a:rPr lang="en-US" sz="2400" b="1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decreasing returns to scale</a:t>
            </a: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14D05F24-D5E8-6DBF-D098-E458A7EF3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107" y="2362200"/>
            <a:ext cx="1555582" cy="831639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46038" rIns="0" bIns="46038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</a:rPr>
              <a:t>Increasing</a:t>
            </a:r>
          </a:p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</a:rPr>
              <a:t>returns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62F4536D-B819-61D8-9685-B95CAE05F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76" y="2362200"/>
            <a:ext cx="1417696" cy="831639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46038" rIns="0" bIns="46038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</a:rPr>
              <a:t>Decreasing</a:t>
            </a:r>
          </a:p>
          <a:p>
            <a:pPr eaLnBrk="0" hangingPunct="0">
              <a:defRPr/>
            </a:pPr>
            <a:r>
              <a:rPr lang="en-US" sz="2400" dirty="0">
                <a:latin typeface="Source Sans Pro" panose="020B0503030403020204" pitchFamily="34" charset="0"/>
              </a:rPr>
              <a:t>returns</a:t>
            </a: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47D41EFA-3AF0-241D-09F4-FD5968D4DD4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599177" y="3124200"/>
            <a:ext cx="669799" cy="46230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solidFill>
                  <a:srgbClr val="789B4A"/>
                </a:solidFill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ATC</a:t>
            </a:r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DC6C0C83-A4B6-F271-4C07-48131C10979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430901" y="4643209"/>
            <a:ext cx="67819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2400" dirty="0">
                <a:solidFill>
                  <a:srgbClr val="005F85"/>
                </a:solidFill>
                <a:latin typeface="Source Sans Pro" panose="020B0503030403020204" pitchFamily="34" charset="0"/>
              </a:rPr>
              <a:t>AFC</a:t>
            </a:r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77167459-B635-C547-7B1B-DC7C84EA98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77930" y="2362200"/>
            <a:ext cx="0" cy="293528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045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Economies of scale and learning</a:t>
            </a:r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B94249-39D0-F09F-A000-24BE64A7284F}"/>
              </a:ext>
            </a:extLst>
          </p:cNvPr>
          <p:cNvGrpSpPr/>
          <p:nvPr/>
        </p:nvGrpSpPr>
        <p:grpSpPr>
          <a:xfrm>
            <a:off x="618744" y="1678548"/>
            <a:ext cx="10747248" cy="1797887"/>
            <a:chOff x="618744" y="1184772"/>
            <a:chExt cx="10747248" cy="1797887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A92C964-EF17-908A-E144-0E93A158FF52}"/>
                </a:ext>
              </a:extLst>
            </p:cNvPr>
            <p:cNvSpPr/>
            <p:nvPr/>
          </p:nvSpPr>
          <p:spPr>
            <a:xfrm>
              <a:off x="2005584" y="1251258"/>
              <a:ext cx="9360408" cy="1664915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573FF67-D71A-99D6-0E3D-83FBEA6B3B83}"/>
                </a:ext>
              </a:extLst>
            </p:cNvPr>
            <p:cNvSpPr/>
            <p:nvPr/>
          </p:nvSpPr>
          <p:spPr>
            <a:xfrm>
              <a:off x="618744" y="1184772"/>
              <a:ext cx="2862072" cy="17978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69375FA-8B5F-476F-B6AA-73E20BFAC659}"/>
                </a:ext>
              </a:extLst>
            </p:cNvPr>
            <p:cNvSpPr/>
            <p:nvPr/>
          </p:nvSpPr>
          <p:spPr>
            <a:xfrm>
              <a:off x="710183" y="1250670"/>
              <a:ext cx="2678539" cy="1666091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Economies of scale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36F57628-3980-61FA-77FE-F3E973A49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816" y="1606661"/>
              <a:ext cx="757428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2800" b="1" kern="0" dirty="0">
                  <a:latin typeface="Source Sans Pro" panose="020B0503030403020204" pitchFamily="34" charset="0"/>
                </a:rPr>
                <a:t>Average cost declines as output increases</a:t>
              </a:r>
              <a:r>
                <a:rPr lang="en-US" sz="2800" kern="0" dirty="0">
                  <a:latin typeface="Source Sans Pro" panose="020B0503030403020204" pitchFamily="34" charset="0"/>
                </a:rPr>
                <a:t> when measured </a:t>
              </a:r>
              <a:r>
                <a:rPr lang="en-US" sz="2800" b="1" i="1" kern="0" dirty="0">
                  <a:latin typeface="Source Sans Pro" panose="020B0503030403020204" pitchFamily="34" charset="0"/>
                </a:rPr>
                <a:t>within</a:t>
              </a:r>
              <a:r>
                <a:rPr lang="en-US" sz="2800" kern="0" dirty="0">
                  <a:latin typeface="Source Sans Pro" panose="020B0503030403020204" pitchFamily="34" charset="0"/>
                </a:rPr>
                <a:t> a given time period</a:t>
              </a:r>
              <a:endParaRPr lang="en-US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B3BD0-5269-C98A-88FB-5FD2AC6D3E27}"/>
              </a:ext>
            </a:extLst>
          </p:cNvPr>
          <p:cNvGrpSpPr/>
          <p:nvPr/>
        </p:nvGrpSpPr>
        <p:grpSpPr>
          <a:xfrm>
            <a:off x="618744" y="3831838"/>
            <a:ext cx="10747248" cy="1797887"/>
            <a:chOff x="365760" y="3934214"/>
            <a:chExt cx="10747248" cy="152603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41FE689-1FCF-85EC-0D40-75C1B3A6D02E}"/>
                </a:ext>
              </a:extLst>
            </p:cNvPr>
            <p:cNvSpPr/>
            <p:nvPr/>
          </p:nvSpPr>
          <p:spPr>
            <a:xfrm>
              <a:off x="1752600" y="4008117"/>
              <a:ext cx="9360408" cy="1378225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0D4E239-6435-1BC0-7E52-12630F57FE6A}"/>
                </a:ext>
              </a:extLst>
            </p:cNvPr>
            <p:cNvSpPr/>
            <p:nvPr/>
          </p:nvSpPr>
          <p:spPr>
            <a:xfrm>
              <a:off x="365760" y="3934214"/>
              <a:ext cx="2862072" cy="152603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A0877CC7-BC73-00FB-428E-4EB08615EF41}"/>
                </a:ext>
              </a:extLst>
            </p:cNvPr>
            <p:cNvSpPr/>
            <p:nvPr/>
          </p:nvSpPr>
          <p:spPr>
            <a:xfrm>
              <a:off x="457198" y="4007630"/>
              <a:ext cx="2678539" cy="1379199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Learning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8797E276-1C0A-AA79-19A9-21483A1C9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832" y="4220176"/>
              <a:ext cx="757428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2800" b="1" kern="0" dirty="0">
                  <a:latin typeface="Source Sans Pro" panose="020B0503030403020204" pitchFamily="34" charset="0"/>
                </a:rPr>
                <a:t>Average cost declines as output increases</a:t>
              </a:r>
              <a:r>
                <a:rPr lang="en-US" sz="2800" kern="0" dirty="0">
                  <a:latin typeface="Source Sans Pro" panose="020B0503030403020204" pitchFamily="34" charset="0"/>
                </a:rPr>
                <a:t> when measured </a:t>
              </a:r>
              <a:r>
                <a:rPr lang="en-US" sz="2800" b="1" i="1" kern="0" dirty="0">
                  <a:latin typeface="Source Sans Pro" panose="020B0503030403020204" pitchFamily="34" charset="0"/>
                </a:rPr>
                <a:t>across</a:t>
              </a:r>
              <a:r>
                <a:rPr lang="en-US" sz="2800" kern="0" dirty="0">
                  <a:latin typeface="Source Sans Pro" panose="020B0503030403020204" pitchFamily="34" charset="0"/>
                </a:rPr>
                <a:t> time periods</a:t>
              </a:r>
              <a:endParaRPr lang="en-US" kern="0" dirty="0">
                <a:latin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65305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3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Economies of scale and learning</a:t>
            </a:r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521EFCE8-E5D7-D209-7355-ACABD31780A6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600200"/>
            <a:ext cx="5029200" cy="3886200"/>
            <a:chOff x="1440" y="1008"/>
            <a:chExt cx="3168" cy="2448"/>
          </a:xfrm>
        </p:grpSpPr>
        <p:sp>
          <p:nvSpPr>
            <p:cNvPr id="27" name="Line 3">
              <a:extLst>
                <a:ext uri="{FF2B5EF4-FFF2-40B4-BE49-F238E27FC236}">
                  <a16:creationId xmlns:a16="http://schemas.microsoft.com/office/drawing/2014/main" id="{734061BE-62B0-1CE5-F228-9AAE822FD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08"/>
              <a:ext cx="0" cy="24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Line 4">
              <a:extLst>
                <a:ext uri="{FF2B5EF4-FFF2-40B4-BE49-F238E27FC236}">
                  <a16:creationId xmlns:a16="http://schemas.microsoft.com/office/drawing/2014/main" id="{A343F831-028D-C581-FE01-179433BA0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456"/>
              <a:ext cx="31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9" name="Text Box 6">
            <a:extLst>
              <a:ext uri="{FF2B5EF4-FFF2-40B4-BE49-F238E27FC236}">
                <a16:creationId xmlns:a16="http://schemas.microsoft.com/office/drawing/2014/main" id="{5C0AED1F-9A1D-53B9-CB2C-B67AC32D2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687" y="1600200"/>
            <a:ext cx="1589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Unit Cost</a:t>
            </a: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466D2483-D658-556E-7BE2-C1400CDF6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9228" y="5562601"/>
            <a:ext cx="134438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Output</a:t>
            </a:r>
          </a:p>
        </p:txBody>
      </p:sp>
      <p:sp>
        <p:nvSpPr>
          <p:cNvPr id="31" name="Arc 8">
            <a:extLst>
              <a:ext uri="{FF2B5EF4-FFF2-40B4-BE49-F238E27FC236}">
                <a16:creationId xmlns:a16="http://schemas.microsoft.com/office/drawing/2014/main" id="{EFC35E77-CCBD-D6D8-E450-61AF8C2D9FEF}"/>
              </a:ext>
            </a:extLst>
          </p:cNvPr>
          <p:cNvSpPr>
            <a:spLocks/>
          </p:cNvSpPr>
          <p:nvPr/>
        </p:nvSpPr>
        <p:spPr bwMode="auto">
          <a:xfrm rot="9180000">
            <a:off x="4597399" y="1409572"/>
            <a:ext cx="3454400" cy="2146300"/>
          </a:xfrm>
          <a:custGeom>
            <a:avLst/>
            <a:gdLst>
              <a:gd name="T0" fmla="*/ 3199 w 21600"/>
              <a:gd name="T1" fmla="*/ 0 h 21600"/>
              <a:gd name="T2" fmla="*/ 3454400 w 21600"/>
              <a:gd name="T3" fmla="*/ 2146300 h 21600"/>
              <a:gd name="T4" fmla="*/ 0 w 21600"/>
              <a:gd name="T5" fmla="*/ 21463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</a:path>
              <a:path w="21600" h="21600" stroke="0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  <a:lnTo>
                  <a:pt x="0" y="21600"/>
                </a:lnTo>
                <a:lnTo>
                  <a:pt x="19" y="0"/>
                </a:lnTo>
                <a:close/>
              </a:path>
            </a:pathLst>
          </a:custGeom>
          <a:noFill/>
          <a:ln w="19050" cap="rnd">
            <a:solidFill>
              <a:srgbClr val="789B4A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0F9344C2-64EB-00AF-D046-1C04E5D6B9C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50319" y="2171434"/>
            <a:ext cx="897682" cy="5238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solidFill>
                  <a:srgbClr val="789B4A"/>
                </a:solidFill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ATC</a:t>
            </a:r>
            <a:r>
              <a:rPr lang="en-US" sz="2800" baseline="-25000" dirty="0">
                <a:solidFill>
                  <a:srgbClr val="789B4A"/>
                </a:solidFill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1</a:t>
            </a:r>
            <a:endParaRPr lang="en-US" sz="2800" dirty="0">
              <a:solidFill>
                <a:srgbClr val="789B4A"/>
              </a:solidFill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Arc 8">
            <a:extLst>
              <a:ext uri="{FF2B5EF4-FFF2-40B4-BE49-F238E27FC236}">
                <a16:creationId xmlns:a16="http://schemas.microsoft.com/office/drawing/2014/main" id="{15D8B9F7-71BE-2747-3FA6-19A6582D4797}"/>
              </a:ext>
            </a:extLst>
          </p:cNvPr>
          <p:cNvSpPr>
            <a:spLocks/>
          </p:cNvSpPr>
          <p:nvPr/>
        </p:nvSpPr>
        <p:spPr bwMode="auto">
          <a:xfrm rot="9180000">
            <a:off x="4597399" y="2116029"/>
            <a:ext cx="3454400" cy="2146300"/>
          </a:xfrm>
          <a:custGeom>
            <a:avLst/>
            <a:gdLst>
              <a:gd name="T0" fmla="*/ 3199 w 21600"/>
              <a:gd name="T1" fmla="*/ 0 h 21600"/>
              <a:gd name="T2" fmla="*/ 3454400 w 21600"/>
              <a:gd name="T3" fmla="*/ 2146300 h 21600"/>
              <a:gd name="T4" fmla="*/ 0 w 21600"/>
              <a:gd name="T5" fmla="*/ 21463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</a:path>
              <a:path w="21600" h="21600" stroke="0" extrusionOk="0">
                <a:moveTo>
                  <a:pt x="19" y="0"/>
                </a:moveTo>
                <a:cubicBezTo>
                  <a:pt x="11941" y="11"/>
                  <a:pt x="21600" y="9678"/>
                  <a:pt x="21600" y="21600"/>
                </a:cubicBezTo>
                <a:lnTo>
                  <a:pt x="0" y="21600"/>
                </a:lnTo>
                <a:lnTo>
                  <a:pt x="19" y="0"/>
                </a:lnTo>
                <a:close/>
              </a:path>
            </a:pathLst>
          </a:custGeom>
          <a:noFill/>
          <a:ln w="19050" cap="rnd">
            <a:solidFill>
              <a:srgbClr val="789B4A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82D45D57-EB19-B25F-27D7-CF096198000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50319" y="2877891"/>
            <a:ext cx="897682" cy="5238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solidFill>
                  <a:srgbClr val="789B4A"/>
                </a:solidFill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ATC</a:t>
            </a:r>
            <a:r>
              <a:rPr lang="en-US" sz="2800" baseline="-25000" dirty="0">
                <a:solidFill>
                  <a:srgbClr val="789B4A"/>
                </a:solidFill>
                <a:latin typeface="Source Sans Pro" panose="020B0503030403020204" pitchFamily="34" charset="0"/>
                <a:ea typeface="ＭＳ Ｐゴシック" charset="0"/>
                <a:cs typeface="ＭＳ Ｐゴシック" charset="0"/>
              </a:rPr>
              <a:t>2</a:t>
            </a:r>
            <a:endParaRPr lang="en-US" sz="2800" dirty="0">
              <a:solidFill>
                <a:srgbClr val="789B4A"/>
              </a:solidFill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A5BF904-8F09-4E36-9D98-4F56F4BEA43A}"/>
              </a:ext>
            </a:extLst>
          </p:cNvPr>
          <p:cNvGrpSpPr/>
          <p:nvPr/>
        </p:nvGrpSpPr>
        <p:grpSpPr>
          <a:xfrm>
            <a:off x="1989275" y="3124201"/>
            <a:ext cx="3344724" cy="938799"/>
            <a:chOff x="465275" y="3124200"/>
            <a:chExt cx="3344724" cy="938799"/>
          </a:xfrm>
        </p:grpSpPr>
        <p:sp>
          <p:nvSpPr>
            <p:cNvPr id="36" name="Rounded Rectangular Callout 35">
              <a:extLst>
                <a:ext uri="{FF2B5EF4-FFF2-40B4-BE49-F238E27FC236}">
                  <a16:creationId xmlns:a16="http://schemas.microsoft.com/office/drawing/2014/main" id="{832B024D-A2FB-4EF7-8E54-2E8D4F2771BB}"/>
                </a:ext>
              </a:extLst>
            </p:cNvPr>
            <p:cNvSpPr/>
            <p:nvPr/>
          </p:nvSpPr>
          <p:spPr>
            <a:xfrm>
              <a:off x="465275" y="3148599"/>
              <a:ext cx="2195404" cy="914400"/>
            </a:xfrm>
            <a:prstGeom prst="wedgeRoundRectCallout">
              <a:avLst>
                <a:gd name="adj1" fmla="val 92844"/>
                <a:gd name="adj2" fmla="val -30834"/>
                <a:gd name="adj3" fmla="val 16667"/>
              </a:avLst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Learning effect</a:t>
              </a:r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5F2540E9-D51C-4C5C-2076-F7A2D0C817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2022" y="3124200"/>
              <a:ext cx="327977" cy="542544"/>
            </a:xfrm>
            <a:prstGeom prst="line">
              <a:avLst/>
            </a:prstGeom>
            <a:noFill/>
            <a:ln w="76200">
              <a:solidFill>
                <a:srgbClr val="005F85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Source Sans Pro" panose="020B0503030403020204" pitchFamily="34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38" name="Line 12">
            <a:extLst>
              <a:ext uri="{FF2B5EF4-FFF2-40B4-BE49-F238E27FC236}">
                <a16:creationId xmlns:a16="http://schemas.microsoft.com/office/drawing/2014/main" id="{F23BABF0-D443-D718-2395-C48993DF4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4164" y="1847088"/>
            <a:ext cx="0" cy="3639312"/>
          </a:xfrm>
          <a:prstGeom prst="line">
            <a:avLst/>
          </a:prstGeom>
          <a:noFill/>
          <a:ln w="25399">
            <a:solidFill>
              <a:srgbClr val="005F85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Source Sans Pro" panose="020B0503030403020204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D66976E-AC2A-7E58-815F-2118552B8E4B}"/>
              </a:ext>
            </a:extLst>
          </p:cNvPr>
          <p:cNvSpPr/>
          <p:nvPr/>
        </p:nvSpPr>
        <p:spPr>
          <a:xfrm rot="16200000">
            <a:off x="4845756" y="4604960"/>
            <a:ext cx="301752" cy="2217031"/>
          </a:xfrm>
          <a:prstGeom prst="leftBrace">
            <a:avLst/>
          </a:prstGeom>
          <a:ln w="19050">
            <a:solidFill>
              <a:srgbClr val="005F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CC1645D0-B61B-08CB-A326-56AED9BD0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8117" y="5771795"/>
            <a:ext cx="22160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Economies of scale</a:t>
            </a:r>
          </a:p>
        </p:txBody>
      </p:sp>
    </p:spTree>
    <p:extLst>
      <p:ext uri="{BB962C8B-B14F-4D97-AF65-F5344CB8AC3E}">
        <p14:creationId xmlns:p14="http://schemas.microsoft.com/office/powerpoint/2010/main" val="178201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 dirty="0">
                <a:ea typeface="ＭＳ Ｐゴシック" pitchFamily="34" charset="-128"/>
              </a:rPr>
              <a:t>Economies of scope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1F04E3-D2EB-4280-8B51-9CE9BA3B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005D0C6-C81A-3E03-E242-83E1B8BE9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448182"/>
            <a:ext cx="10366248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en-US" sz="2800" kern="0"/>
              <a:t>Effect on costs of the </a:t>
            </a:r>
            <a:r>
              <a:rPr lang="en-US" sz="2800" b="1" kern="0"/>
              <a:t>number</a:t>
            </a:r>
            <a:r>
              <a:rPr lang="en-US" sz="2800" kern="0"/>
              <a:t> of activities in which the company is engaged</a:t>
            </a:r>
          </a:p>
          <a:p>
            <a:pPr lvl="1">
              <a:defRPr/>
            </a:pPr>
            <a:r>
              <a:rPr lang="en-US" sz="2800" kern="0"/>
              <a:t>Joint products </a:t>
            </a:r>
          </a:p>
          <a:p>
            <a:pPr lvl="1">
              <a:defRPr/>
            </a:pPr>
            <a:r>
              <a:rPr lang="en-US" sz="2800" kern="0"/>
              <a:t>Networks (rail)</a:t>
            </a:r>
          </a:p>
          <a:p>
            <a:pPr lvl="1">
              <a:defRPr/>
            </a:pPr>
            <a:r>
              <a:rPr lang="en-US" sz="2800" kern="0"/>
              <a:t>Shared services (Alibaba)</a:t>
            </a: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2070107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b="0" dirty="0"/>
              <a:t>Examples of behavioral biases: Costs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85</a:t>
            </a:fld>
            <a:endParaRPr lang="en-US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8A29D5-8AE9-531F-3ED3-1839504F5D5D}"/>
              </a:ext>
            </a:extLst>
          </p:cNvPr>
          <p:cNvGrpSpPr/>
          <p:nvPr/>
        </p:nvGrpSpPr>
        <p:grpSpPr>
          <a:xfrm>
            <a:off x="678426" y="1336119"/>
            <a:ext cx="10733286" cy="2169825"/>
            <a:chOff x="279138" y="1508760"/>
            <a:chExt cx="10733286" cy="216982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7633FBC-E5BA-4E77-8A6D-B1CECC86EA04}"/>
                </a:ext>
              </a:extLst>
            </p:cNvPr>
            <p:cNvSpPr/>
            <p:nvPr/>
          </p:nvSpPr>
          <p:spPr>
            <a:xfrm>
              <a:off x="279138" y="1508760"/>
              <a:ext cx="1988574" cy="999776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Sunk cost fallacy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0F38F2-F3EA-CF65-1309-AE608FF81138}"/>
                </a:ext>
              </a:extLst>
            </p:cNvPr>
            <p:cNvSpPr txBox="1"/>
            <p:nvPr/>
          </p:nvSpPr>
          <p:spPr>
            <a:xfrm>
              <a:off x="2267712" y="1508760"/>
              <a:ext cx="8744712" cy="21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Factoring in unrecoverable costs when making a decision</a:t>
              </a:r>
            </a:p>
            <a:p>
              <a:pPr marL="685800" lvl="1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Focus on money or time already spent</a:t>
              </a:r>
            </a:p>
            <a:p>
              <a:pPr marL="685800" lvl="1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Continue to fund project</a:t>
              </a:r>
            </a:p>
            <a:p>
              <a:pPr marL="685800" lvl="1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“We might as well keep building the plant – we’ve already invested $2B”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B64D06-BD8C-802A-A5DB-499416A22FF8}"/>
              </a:ext>
            </a:extLst>
          </p:cNvPr>
          <p:cNvGrpSpPr/>
          <p:nvPr/>
        </p:nvGrpSpPr>
        <p:grpSpPr>
          <a:xfrm>
            <a:off x="678426" y="3896687"/>
            <a:ext cx="10733286" cy="2092882"/>
            <a:chOff x="279138" y="3279349"/>
            <a:chExt cx="10733286" cy="2092882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05F2985-F17B-0234-AD13-1382CF48224D}"/>
                </a:ext>
              </a:extLst>
            </p:cNvPr>
            <p:cNvSpPr/>
            <p:nvPr/>
          </p:nvSpPr>
          <p:spPr>
            <a:xfrm>
              <a:off x="279138" y="3279349"/>
              <a:ext cx="1988574" cy="999777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Escalation of commitment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EC0C62-1D58-757D-1681-087457D3BE75}"/>
                </a:ext>
              </a:extLst>
            </p:cNvPr>
            <p:cNvSpPr txBox="1"/>
            <p:nvPr/>
          </p:nvSpPr>
          <p:spPr>
            <a:xfrm>
              <a:off x="2267712" y="3279350"/>
              <a:ext cx="8744712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Investing additional resources to “catch up” even when all indicators point to a failure of continued investment</a:t>
              </a:r>
            </a:p>
            <a:p>
              <a:pPr marL="685800" lvl="1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Investing additional resources to “fix” the problem</a:t>
              </a:r>
            </a:p>
            <a:p>
              <a:pPr marL="685800" lvl="1" indent="-2286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Ex: Vancouver ‘86 Expo’s initial budget of CND 78M ballooned to CND 1.5B, with multiple additional cash infusions</a:t>
              </a:r>
            </a:p>
          </p:txBody>
        </p:sp>
      </p:grpSp>
      <p:sp>
        <p:nvSpPr>
          <p:cNvPr id="3" name="5-Point Star 2">
            <a:extLst>
              <a:ext uri="{FF2B5EF4-FFF2-40B4-BE49-F238E27FC236}">
                <a16:creationId xmlns:a16="http://schemas.microsoft.com/office/drawing/2014/main" id="{3E254497-F4D9-83CB-1AF0-DB44B70F0282}"/>
              </a:ext>
            </a:extLst>
          </p:cNvPr>
          <p:cNvSpPr/>
          <p:nvPr/>
        </p:nvSpPr>
        <p:spPr>
          <a:xfrm>
            <a:off x="12544705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9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0" dirty="0">
                <a:ea typeface="ＭＳ Ｐゴシック" pitchFamily="34" charset="-128"/>
              </a:rPr>
              <a:t>Summary of costs</a:t>
            </a:r>
          </a:p>
        </p:txBody>
      </p:sp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8412CE7-D64C-4AB8-84D7-2A6332BCDEB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17195D-F6C3-38BB-D83D-A457E987673D}"/>
              </a:ext>
            </a:extLst>
          </p:cNvPr>
          <p:cNvGrpSpPr/>
          <p:nvPr/>
        </p:nvGrpSpPr>
        <p:grpSpPr>
          <a:xfrm>
            <a:off x="562356" y="2399325"/>
            <a:ext cx="11067287" cy="978729"/>
            <a:chOff x="-192025" y="2313666"/>
            <a:chExt cx="11067287" cy="978729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36D9AD3B-C5F7-7132-7272-5BA5517CF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630" y="2313666"/>
              <a:ext cx="8839632" cy="97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Aft>
                  <a:spcPct val="200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Constrained choices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eaLnBrk="1" hangingPunct="1">
                <a:spcAft>
                  <a:spcPct val="20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Generally expensive reactions to changing environments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32619F3-3448-ECE2-DC81-3F96EDB7A408}"/>
                </a:ext>
              </a:extLst>
            </p:cNvPr>
            <p:cNvSpPr/>
            <p:nvPr/>
          </p:nvSpPr>
          <p:spPr>
            <a:xfrm>
              <a:off x="-192025" y="2313666"/>
              <a:ext cx="2227654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Short run minimization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D113D1A-10DC-9FD5-57EC-D44609A3FBE7}"/>
              </a:ext>
            </a:extLst>
          </p:cNvPr>
          <p:cNvGrpSpPr/>
          <p:nvPr/>
        </p:nvGrpSpPr>
        <p:grpSpPr>
          <a:xfrm>
            <a:off x="562356" y="3774223"/>
            <a:ext cx="11067287" cy="978729"/>
            <a:chOff x="-192025" y="3369580"/>
            <a:chExt cx="11067287" cy="978729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5B1C023-C14F-2573-2B1A-C3D21B3DD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630" y="3369580"/>
              <a:ext cx="8839632" cy="97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Aft>
                  <a:spcPct val="200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Long run costs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are lower than in the short run</a:t>
              </a:r>
            </a:p>
            <a:p>
              <a:pPr lvl="1" eaLnBrk="1" hangingPunct="1">
                <a:spcAft>
                  <a:spcPct val="20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Due to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benefits of flexibility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for a firm choosing all its inputs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771834C-02E7-A1CD-8773-361718F10F14}"/>
                </a:ext>
              </a:extLst>
            </p:cNvPr>
            <p:cNvSpPr/>
            <p:nvPr/>
          </p:nvSpPr>
          <p:spPr>
            <a:xfrm>
              <a:off x="-192025" y="3369580"/>
              <a:ext cx="2227654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Long run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524CACA-27E9-20B4-5AC8-A2CFCAF93AEC}"/>
              </a:ext>
            </a:extLst>
          </p:cNvPr>
          <p:cNvGrpSpPr/>
          <p:nvPr/>
        </p:nvGrpSpPr>
        <p:grpSpPr>
          <a:xfrm>
            <a:off x="562356" y="5149120"/>
            <a:ext cx="11067287" cy="830997"/>
            <a:chOff x="-192025" y="4490806"/>
            <a:chExt cx="11067287" cy="830997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5FEBA9E4-6DE4-5514-3D6D-54BDADE18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630" y="4490806"/>
              <a:ext cx="883963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Aft>
                  <a:spcPct val="20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Determined through firm’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 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production technology 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cost-minimizing input choices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60D4427-AEC8-56F7-BBD8-3B3077DE59A1}"/>
                </a:ext>
              </a:extLst>
            </p:cNvPr>
            <p:cNvSpPr/>
            <p:nvPr/>
          </p:nvSpPr>
          <p:spPr>
            <a:xfrm>
              <a:off x="-192025" y="4490806"/>
              <a:ext cx="2227654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Marginal costs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4A3320-E8D9-F3B2-9D27-9213C6570682}"/>
              </a:ext>
            </a:extLst>
          </p:cNvPr>
          <p:cNvGrpSpPr/>
          <p:nvPr/>
        </p:nvGrpSpPr>
        <p:grpSpPr>
          <a:xfrm>
            <a:off x="562356" y="1199856"/>
            <a:ext cx="11067287" cy="803300"/>
            <a:chOff x="-192025" y="985609"/>
            <a:chExt cx="11067287" cy="803300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71F27DF8-9A46-CF72-800C-9D14014C6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629" y="985609"/>
              <a:ext cx="88396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Aft>
                  <a:spcPct val="20000"/>
                </a:spcAft>
              </a:pP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Primary difference from accounting: opportunity and sunk costs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8AE40277-C65D-AD4F-4672-9AF68375C7C9}"/>
                </a:ext>
              </a:extLst>
            </p:cNvPr>
            <p:cNvSpPr/>
            <p:nvPr/>
          </p:nvSpPr>
          <p:spPr>
            <a:xfrm>
              <a:off x="-192025" y="985609"/>
              <a:ext cx="2227654" cy="803300"/>
            </a:xfrm>
            <a:prstGeom prst="roundRect">
              <a:avLst/>
            </a:prstGeom>
            <a:solidFill>
              <a:srgbClr val="005F85"/>
            </a:solidFill>
            <a:ln>
              <a:solidFill>
                <a:srgbClr val="005F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“Right” kind of costs</a:t>
              </a:r>
            </a:p>
          </p:txBody>
        </p:sp>
      </p:grpSp>
      <p:sp>
        <p:nvSpPr>
          <p:cNvPr id="8" name="5-Point Star 7">
            <a:extLst>
              <a:ext uri="{FF2B5EF4-FFF2-40B4-BE49-F238E27FC236}">
                <a16:creationId xmlns:a16="http://schemas.microsoft.com/office/drawing/2014/main" id="{3FC413E4-ED4B-3D73-DA90-50714952D178}"/>
              </a:ext>
            </a:extLst>
          </p:cNvPr>
          <p:cNvSpPr/>
          <p:nvPr/>
        </p:nvSpPr>
        <p:spPr>
          <a:xfrm>
            <a:off x="12565678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6561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400" dirty="0" smtClean="0">
            <a:latin typeface="Source Sans Pro" panose="020B0503030403020204" pitchFamily="34" charset="0"/>
            <a:ea typeface="Source Sans Pro" panose="020B0503030403020204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5992</Words>
  <Application>Microsoft Macintosh PowerPoint</Application>
  <PresentationFormat>Widescreen</PresentationFormat>
  <Paragraphs>1086</Paragraphs>
  <Slides>86</Slides>
  <Notes>5</Notes>
  <HiddenSlides>12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ＭＳ Ｐゴシック</vt:lpstr>
      <vt:lpstr>Arial</vt:lpstr>
      <vt:lpstr>Calibri</vt:lpstr>
      <vt:lpstr>Cambria Math</vt:lpstr>
      <vt:lpstr>PlusJakartaSans</vt:lpstr>
      <vt:lpstr>Source Sans Pro</vt:lpstr>
      <vt:lpstr>Default Design</vt:lpstr>
      <vt:lpstr>Equation</vt:lpstr>
      <vt:lpstr>Production technology, moral hazard &amp; costs</vt:lpstr>
      <vt:lpstr>Practical application</vt:lpstr>
      <vt:lpstr>Agenda</vt:lpstr>
      <vt:lpstr>Firms’ choices</vt:lpstr>
      <vt:lpstr>Production technology</vt:lpstr>
      <vt:lpstr>Production technology: Examples</vt:lpstr>
      <vt:lpstr>Production technology</vt:lpstr>
      <vt:lpstr>“Simple” example</vt:lpstr>
      <vt:lpstr>Production functions</vt:lpstr>
      <vt:lpstr>Production functions: Examples</vt:lpstr>
      <vt:lpstr>Production technology</vt:lpstr>
      <vt:lpstr>Illustrating production technology</vt:lpstr>
      <vt:lpstr>Illustrating production technology</vt:lpstr>
      <vt:lpstr>Illustrating production technology</vt:lpstr>
      <vt:lpstr>Agenda</vt:lpstr>
      <vt:lpstr>Marginal product</vt:lpstr>
      <vt:lpstr>Marginal product</vt:lpstr>
      <vt:lpstr>Marginal product</vt:lpstr>
      <vt:lpstr>Marginal and average product</vt:lpstr>
      <vt:lpstr>Illustrating productivity</vt:lpstr>
      <vt:lpstr>MPL as K varies</vt:lpstr>
      <vt:lpstr>Example: China</vt:lpstr>
      <vt:lpstr>Factor substitution and long-run production</vt:lpstr>
      <vt:lpstr>Substitution between factors</vt:lpstr>
      <vt:lpstr>Variation in factor substitution</vt:lpstr>
      <vt:lpstr>Agenda</vt:lpstr>
      <vt:lpstr>Scale economies</vt:lpstr>
      <vt:lpstr>Scale economies defined</vt:lpstr>
      <vt:lpstr>Scale economies in the real world</vt:lpstr>
      <vt:lpstr>Scale economies example</vt:lpstr>
      <vt:lpstr>U.S. manufacturing dominated by small plants</vt:lpstr>
      <vt:lpstr>Short run vs. long run</vt:lpstr>
      <vt:lpstr>Examples of behavioral biases: Production</vt:lpstr>
      <vt:lpstr>Agenda</vt:lpstr>
      <vt:lpstr>Moral hazard</vt:lpstr>
      <vt:lpstr>Example: Car warranties</vt:lpstr>
      <vt:lpstr>Example: Health insurance</vt:lpstr>
      <vt:lpstr>Example: Health insurance</vt:lpstr>
      <vt:lpstr>Summary</vt:lpstr>
      <vt:lpstr>Practical application</vt:lpstr>
      <vt:lpstr>Agenda</vt:lpstr>
      <vt:lpstr>Two areas where economists and accountants disagree</vt:lpstr>
      <vt:lpstr>Opportunity/real costs</vt:lpstr>
      <vt:lpstr>Sunk costs</vt:lpstr>
      <vt:lpstr>Describing costs</vt:lpstr>
      <vt:lpstr>Input costs and isocost lines</vt:lpstr>
      <vt:lpstr>Agenda</vt:lpstr>
      <vt:lpstr>Optimal choices of inputs</vt:lpstr>
      <vt:lpstr>What does P*(dQ/dL) = w mean?</vt:lpstr>
      <vt:lpstr>Implications for business strategy</vt:lpstr>
      <vt:lpstr>Example 1:  Sam’s Club vs. Costco</vt:lpstr>
      <vt:lpstr>Sam’s Club vs. Costco takeaways</vt:lpstr>
      <vt:lpstr>Illustrating costs</vt:lpstr>
      <vt:lpstr>Illustrating costs</vt:lpstr>
      <vt:lpstr>Short-run cost minimization</vt:lpstr>
      <vt:lpstr>Lessons on short-run costs</vt:lpstr>
      <vt:lpstr>Agenda</vt:lpstr>
      <vt:lpstr>Optimal organization in long run</vt:lpstr>
      <vt:lpstr>Optimal long-run input choice</vt:lpstr>
      <vt:lpstr>Long-run cost minimization</vt:lpstr>
      <vt:lpstr>Isocost tangent to isoquant</vt:lpstr>
      <vt:lpstr>Why is equal productivity/$ a good idea?</vt:lpstr>
      <vt:lpstr>Example: Apple Store</vt:lpstr>
      <vt:lpstr>Some Apple Store data</vt:lpstr>
      <vt:lpstr>Optimal firm organization</vt:lpstr>
      <vt:lpstr>Example: Outsourcing to China</vt:lpstr>
      <vt:lpstr>Example:  Outsourcing to China</vt:lpstr>
      <vt:lpstr>Outsourcing to China takeaways</vt:lpstr>
      <vt:lpstr>Input price changes</vt:lpstr>
      <vt:lpstr>Input price changes</vt:lpstr>
      <vt:lpstr>Output goal changes</vt:lpstr>
      <vt:lpstr>Output goal changes</vt:lpstr>
      <vt:lpstr>Agenda</vt:lpstr>
      <vt:lpstr>Total, variable and fixed costs</vt:lpstr>
      <vt:lpstr>Marginal cost and productivity</vt:lpstr>
      <vt:lpstr>Marginal cost and productivity</vt:lpstr>
      <vt:lpstr>Marginal cost and productivity</vt:lpstr>
      <vt:lpstr>Properties of marginal and average cost</vt:lpstr>
      <vt:lpstr>Marginal cost and average cost</vt:lpstr>
      <vt:lpstr>Total cost and average cost</vt:lpstr>
      <vt:lpstr>Average cost and returns to scale</vt:lpstr>
      <vt:lpstr>Economies of scale and learning</vt:lpstr>
      <vt:lpstr>Economies of scale and learning</vt:lpstr>
      <vt:lpstr>Economies of scope</vt:lpstr>
      <vt:lpstr>Examples of behavioral biases: Costs</vt:lpstr>
      <vt:lpstr>Summary of costs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5a: Production</dc:title>
  <dc:creator>Brian McManus</dc:creator>
  <cp:lastModifiedBy>John Horn</cp:lastModifiedBy>
  <cp:revision>365</cp:revision>
  <dcterms:created xsi:type="dcterms:W3CDTF">2005-06-06T00:10:14Z</dcterms:created>
  <dcterms:modified xsi:type="dcterms:W3CDTF">2025-02-12T23:04:07Z</dcterms:modified>
</cp:coreProperties>
</file>