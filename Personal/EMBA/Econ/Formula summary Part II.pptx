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421" r:id="rId2"/>
    <p:sldId id="575" r:id="rId3"/>
    <p:sldId id="576" r:id="rId4"/>
    <p:sldId id="578" r:id="rId5"/>
    <p:sldId id="577" r:id="rId6"/>
    <p:sldId id="564" r:id="rId7"/>
    <p:sldId id="579" r:id="rId8"/>
    <p:sldId id="580" r:id="rId9"/>
    <p:sldId id="581" r:id="rId10"/>
    <p:sldId id="281" r:id="rId11"/>
    <p:sldId id="582" r:id="rId12"/>
    <p:sldId id="257" r:id="rId13"/>
    <p:sldId id="583" r:id="rId14"/>
    <p:sldId id="567" r:id="rId15"/>
    <p:sldId id="584" r:id="rId16"/>
  </p:sldIdLst>
  <p:sldSz cx="12192000" cy="6858000"/>
  <p:notesSz cx="6997700" cy="9271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15F27"/>
    <a:srgbClr val="C8C8C8"/>
    <a:srgbClr val="A51417"/>
    <a:srgbClr val="CFF1FD"/>
    <a:srgbClr val="CEE5FE"/>
    <a:srgbClr val="CCECFF"/>
    <a:srgbClr val="C0D2DE"/>
    <a:srgbClr val="BDD0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39"/>
    <p:restoredTop sz="93665" autoAdjust="0"/>
  </p:normalViewPr>
  <p:slideViewPr>
    <p:cSldViewPr snapToGrid="0">
      <p:cViewPr varScale="1">
        <p:scale>
          <a:sx n="127" d="100"/>
          <a:sy n="127" d="100"/>
        </p:scale>
        <p:origin x="1400" y="19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98" d="100"/>
        <a:sy n="98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8" tIns="46479" rIns="92958" bIns="46479" numCol="1" anchor="t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Arial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3988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8" tIns="46479" rIns="92958" bIns="46479" numCol="1" anchor="t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Arial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6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05863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8" tIns="46479" rIns="92958" bIns="46479" numCol="1" anchor="b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Arial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6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3988" y="8805863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8" tIns="46479" rIns="92958" bIns="46479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cs typeface="Arial" pitchFamily="34" charset="0"/>
              </a:defRPr>
            </a:lvl1pPr>
          </a:lstStyle>
          <a:p>
            <a:fld id="{45EEBEAD-2372-4A4F-A8FA-72FF041C9440}" type="slidenum">
              <a:rPr lang="en-US" altLang="en-US">
                <a:latin typeface="Calibri" panose="020F0502020204030204" pitchFamily="34" charset="0"/>
                <a:cs typeface="Calibri" panose="020F0502020204030204" pitchFamily="34" charset="0"/>
              </a:rPr>
              <a:pPr/>
              <a:t>‹#›</a:t>
            </a:fld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92106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8" tIns="46479" rIns="92958" bIns="46479" numCol="1" anchor="t" anchorCtr="0" compatLnSpc="1">
            <a:prstTxWarp prst="textNoShape">
              <a:avLst/>
            </a:prstTxWarp>
          </a:bodyPr>
          <a:lstStyle>
            <a:lvl1pPr defTabSz="930275">
              <a:defRPr sz="1200" b="0" i="0"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63988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8" tIns="46479" rIns="92958" bIns="46479" numCol="1" anchor="t" anchorCtr="0" compatLnSpc="1">
            <a:prstTxWarp prst="textNoShape">
              <a:avLst/>
            </a:prstTxWarp>
          </a:bodyPr>
          <a:lstStyle>
            <a:lvl1pPr algn="r" defTabSz="930275">
              <a:defRPr sz="1200" b="0" i="0"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74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9575" y="695325"/>
            <a:ext cx="6178550" cy="34766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0088" y="4403725"/>
            <a:ext cx="5597525" cy="417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8" tIns="46479" rIns="92958" bIns="4647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4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05863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8" tIns="46479" rIns="92958" bIns="46479" numCol="1" anchor="b" anchorCtr="0" compatLnSpc="1">
            <a:prstTxWarp prst="textNoShape">
              <a:avLst/>
            </a:prstTxWarp>
          </a:bodyPr>
          <a:lstStyle>
            <a:lvl1pPr defTabSz="930275">
              <a:defRPr sz="1200" b="0" i="0"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3988" y="8805863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8" tIns="46479" rIns="92958" bIns="46479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E73B544E-4E4F-4443-A8CC-A12E4C1F825D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8384555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Calibri" panose="020F0502020204030204" pitchFamily="34" charset="0"/>
        <a:ea typeface="ＭＳ Ｐゴシック" charset="0"/>
        <a:cs typeface="Calibri" panose="020F0502020204030204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Calibri" panose="020F0502020204030204" pitchFamily="34" charset="0"/>
        <a:ea typeface="Source Sans Pro" panose="020B0503030403020204" pitchFamily="34" charset="0"/>
        <a:cs typeface="Calibri" panose="020F0502020204030204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Calibri" panose="020F0502020204030204" pitchFamily="34" charset="0"/>
        <a:ea typeface="Source Sans Pro" panose="020B0503030403020204" pitchFamily="34" charset="0"/>
        <a:cs typeface="Calibri" panose="020F0502020204030204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Calibri" panose="020F0502020204030204" pitchFamily="34" charset="0"/>
        <a:ea typeface="Source Sans Pro" panose="020B0503030403020204" pitchFamily="34" charset="0"/>
        <a:cs typeface="Calibri" panose="020F0502020204030204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Calibri" panose="020F0502020204030204" pitchFamily="34" charset="0"/>
        <a:ea typeface="Source Sans Pro" panose="020B0503030403020204" pitchFamily="34" charset="0"/>
        <a:cs typeface="Calibri" panose="020F050202020403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F815A60-E808-4004-A0A8-04FC00BDDAAB}" type="slidenum">
              <a:rPr lang="en-US"/>
              <a:pPr/>
              <a:t>10</a:t>
            </a:fld>
            <a:endParaRPr lang="en-US"/>
          </a:p>
        </p:txBody>
      </p:sp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320925" y="422275"/>
            <a:ext cx="5275263" cy="2968625"/>
          </a:xfrm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1688" y="3624263"/>
            <a:ext cx="8442325" cy="1651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542271"/>
            <a:ext cx="10363200" cy="646331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1"/>
            <a:ext cx="8534400" cy="46166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D4C03C-0187-4A31-98BE-7B6B2B0CF534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39601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 b="0" i="0"/>
            </a:lvl2pPr>
            <a:lvl3pPr>
              <a:defRPr sz="2400" b="0" i="0"/>
            </a:lvl3pPr>
            <a:lvl4pPr>
              <a:defRPr sz="2400" b="0" i="0"/>
            </a:lvl4pPr>
            <a:lvl5pPr>
              <a:defRPr sz="2400" b="0" i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397824"/>
            <a:ext cx="2844800" cy="307777"/>
          </a:xfrm>
          <a:ln/>
        </p:spPr>
        <p:txBody>
          <a:bodyPr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397824"/>
            <a:ext cx="3860800" cy="307777"/>
          </a:xfrm>
          <a:ln/>
        </p:spPr>
        <p:txBody>
          <a:bodyPr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397824"/>
            <a:ext cx="2844800" cy="307777"/>
          </a:xfrm>
          <a:ln/>
        </p:spPr>
        <p:txBody>
          <a:bodyPr>
            <a:spAutoFit/>
          </a:bodyPr>
          <a:lstStyle>
            <a:lvl1pPr>
              <a:defRPr/>
            </a:lvl1pPr>
          </a:lstStyle>
          <a:p>
            <a:fld id="{7E34CCD4-1BBD-410D-B2DF-A7552E316D63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18584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70788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4006790"/>
            <a:ext cx="10363200" cy="40011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5291E6E-6053-45F4-972E-DC7083C504BF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58338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2062103"/>
          </a:xfrm>
        </p:spPr>
        <p:txBody>
          <a:bodyPr/>
          <a:lstStyle>
            <a:lvl1pPr>
              <a:defRPr sz="2800"/>
            </a:lvl1pPr>
            <a:lvl2pPr>
              <a:defRPr sz="2400" b="0" i="0"/>
            </a:lvl2pPr>
            <a:lvl3pPr>
              <a:defRPr sz="2000" b="0" i="0"/>
            </a:lvl3pPr>
            <a:lvl4pPr>
              <a:defRPr sz="1800" b="0" i="0"/>
            </a:lvl4pPr>
            <a:lvl5pPr>
              <a:defRPr sz="1800" b="0" i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2062103"/>
          </a:xfrm>
        </p:spPr>
        <p:txBody>
          <a:bodyPr/>
          <a:lstStyle>
            <a:lvl1pPr>
              <a:defRPr sz="2800"/>
            </a:lvl1pPr>
            <a:lvl2pPr>
              <a:defRPr sz="2400" b="0" i="0"/>
            </a:lvl2pPr>
            <a:lvl3pPr>
              <a:defRPr sz="2000" b="0" i="0"/>
            </a:lvl3pPr>
            <a:lvl4pPr>
              <a:defRPr sz="1800" b="0" i="0"/>
            </a:lvl4pPr>
            <a:lvl5pPr>
              <a:defRPr sz="1800" b="0" i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26FB6C-114E-417B-A461-50ACF12D6E88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45570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713211"/>
            <a:ext cx="5386917" cy="4616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6"/>
            <a:ext cx="5386917" cy="1846659"/>
          </a:xfrm>
        </p:spPr>
        <p:txBody>
          <a:bodyPr/>
          <a:lstStyle>
            <a:lvl1pPr>
              <a:defRPr sz="2400"/>
            </a:lvl1pPr>
            <a:lvl2pPr>
              <a:defRPr sz="2000" b="0" i="0"/>
            </a:lvl2pPr>
            <a:lvl3pPr>
              <a:defRPr sz="1800" b="0" i="0"/>
            </a:lvl3pPr>
            <a:lvl4pPr>
              <a:defRPr sz="1600" b="0" i="0"/>
            </a:lvl4pPr>
            <a:lvl5pPr>
              <a:defRPr sz="1600" b="0" i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713211"/>
            <a:ext cx="5389033" cy="4616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6"/>
            <a:ext cx="5389033" cy="1846659"/>
          </a:xfrm>
        </p:spPr>
        <p:txBody>
          <a:bodyPr/>
          <a:lstStyle>
            <a:lvl1pPr>
              <a:defRPr sz="2400"/>
            </a:lvl1pPr>
            <a:lvl2pPr>
              <a:defRPr sz="2000" b="0" i="0"/>
            </a:lvl2pPr>
            <a:lvl3pPr>
              <a:defRPr sz="1800" b="0" i="0"/>
            </a:lvl3pPr>
            <a:lvl4pPr>
              <a:defRPr sz="1600" b="0" i="0"/>
            </a:lvl4pPr>
            <a:lvl5pPr>
              <a:defRPr sz="1600" b="0" i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AB802B6-6854-49DA-B07C-3F7440427CB8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02150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8C0BFFA-A26B-42B9-863F-CA8A50A760A5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833001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EEE9019-0929-4141-9206-2A62D7448D03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36305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1034990"/>
            <a:ext cx="4011084" cy="40011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2308324"/>
          </a:xfrm>
        </p:spPr>
        <p:txBody>
          <a:bodyPr/>
          <a:lstStyle>
            <a:lvl1pPr>
              <a:defRPr sz="3200"/>
            </a:lvl1pPr>
            <a:lvl2pPr>
              <a:defRPr sz="2800" b="0" i="0"/>
            </a:lvl2pPr>
            <a:lvl3pPr>
              <a:defRPr sz="2400" b="0" i="0"/>
            </a:lvl3pPr>
            <a:lvl4pPr>
              <a:defRPr sz="2000" b="0" i="0"/>
            </a:lvl4pPr>
            <a:lvl5pPr>
              <a:defRPr sz="2000" b="0" i="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30777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26190ED-CAD9-4A15-A025-528A8C65AB1F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48592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967228"/>
            <a:ext cx="7315200" cy="40011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6"/>
            <a:ext cx="7315200" cy="584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30777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7295B27-7871-4B0D-9A9B-D69F01D35768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54614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03320" y="1600200"/>
            <a:ext cx="7879080" cy="2308324"/>
          </a:xfrm>
        </p:spPr>
        <p:txBody>
          <a:bodyPr vert="eaVert"/>
          <a:lstStyle>
            <a:lvl1pPr>
              <a:defRPr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D10BFE-9C03-4661-9735-724CDE2C1D57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30879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41468" y="274639"/>
            <a:ext cx="738664" cy="5851525"/>
          </a:xfrm>
        </p:spPr>
        <p:txBody>
          <a:bodyPr vert="eaVer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96898" y="274639"/>
            <a:ext cx="2339102" cy="5851525"/>
          </a:xfrm>
        </p:spPr>
        <p:txBody>
          <a:bodyPr vert="eaVert"/>
          <a:lstStyle>
            <a:lvl1pPr>
              <a:defRPr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DBF2B8F-99C4-495E-B7F8-169374AADCFE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723873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2195"/>
            <a:ext cx="10972800" cy="707886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2246769"/>
          </a:xfrm>
        </p:spPr>
        <p:txBody>
          <a:bodyPr/>
          <a:lstStyle>
            <a:lvl1pPr>
              <a:defRPr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2246769"/>
          </a:xfrm>
        </p:spPr>
        <p:txBody>
          <a:bodyPr/>
          <a:lstStyle>
            <a:lvl1pPr>
              <a:defRPr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C42EE8-DAF6-4F1D-A429-F1805826EDF7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29905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37292"/>
            <a:ext cx="109728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397824"/>
            <a:ext cx="28448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>
              <a:defRPr sz="1400" b="0" i="0"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397824"/>
            <a:ext cx="38608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algn="ctr">
              <a:defRPr sz="1400" b="0" i="0"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397824"/>
            <a:ext cx="28448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algn="r">
              <a:defRPr sz="14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19F84D50-F368-4E2F-833F-6D7B9CE4ED8B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0" i="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ts val="0"/>
        </a:spcBef>
        <a:spcAft>
          <a:spcPts val="600"/>
        </a:spcAft>
        <a:buChar char="•"/>
        <a:defRPr sz="2400" b="0" i="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1pPr>
      <a:lvl2pPr marL="742950" indent="-285750" algn="l" rtl="0" eaLnBrk="0" fontAlgn="base" hangingPunct="0">
        <a:spcBef>
          <a:spcPts val="0"/>
        </a:spcBef>
        <a:spcAft>
          <a:spcPts val="600"/>
        </a:spcAft>
        <a:buChar char="–"/>
        <a:defRPr sz="2400" b="0" i="0">
          <a:solidFill>
            <a:schemeClr val="tx1"/>
          </a:solidFill>
          <a:latin typeface="Calibri" panose="020F0502020204030204" pitchFamily="34" charset="0"/>
          <a:ea typeface="Source Sans Pro" panose="020B0503030403020204" pitchFamily="34" charset="0"/>
          <a:cs typeface="Calibri" panose="020F0502020204030204" pitchFamily="34" charset="0"/>
        </a:defRPr>
      </a:lvl2pPr>
      <a:lvl3pPr marL="1143000" indent="-228600" algn="l" rtl="0" eaLnBrk="0" fontAlgn="base" hangingPunct="0">
        <a:spcBef>
          <a:spcPts val="0"/>
        </a:spcBef>
        <a:spcAft>
          <a:spcPts val="600"/>
        </a:spcAft>
        <a:buChar char="•"/>
        <a:defRPr sz="2400" b="0" i="0">
          <a:solidFill>
            <a:schemeClr val="tx1"/>
          </a:solidFill>
          <a:latin typeface="Calibri" panose="020F0502020204030204" pitchFamily="34" charset="0"/>
          <a:ea typeface="Source Sans Pro" panose="020B0503030403020204" pitchFamily="34" charset="0"/>
          <a:cs typeface="Calibri" panose="020F0502020204030204" pitchFamily="34" charset="0"/>
        </a:defRPr>
      </a:lvl3pPr>
      <a:lvl4pPr marL="1600200" indent="-228600" algn="l" rtl="0" eaLnBrk="0" fontAlgn="base" hangingPunct="0">
        <a:spcBef>
          <a:spcPts val="0"/>
        </a:spcBef>
        <a:spcAft>
          <a:spcPts val="600"/>
        </a:spcAft>
        <a:buChar char="–"/>
        <a:defRPr sz="2400" b="0" i="0">
          <a:solidFill>
            <a:schemeClr val="tx1"/>
          </a:solidFill>
          <a:latin typeface="Calibri" panose="020F0502020204030204" pitchFamily="34" charset="0"/>
          <a:ea typeface="Source Sans Pro" panose="020B0503030403020204" pitchFamily="34" charset="0"/>
          <a:cs typeface="Calibri" panose="020F0502020204030204" pitchFamily="34" charset="0"/>
        </a:defRPr>
      </a:lvl4pPr>
      <a:lvl5pPr marL="2057400" indent="-228600" algn="l" rtl="0" eaLnBrk="0" fontAlgn="base" hangingPunct="0">
        <a:spcBef>
          <a:spcPts val="0"/>
        </a:spcBef>
        <a:spcAft>
          <a:spcPts val="600"/>
        </a:spcAft>
        <a:buChar char="»"/>
        <a:defRPr sz="2400" b="0" i="0">
          <a:solidFill>
            <a:schemeClr val="tx1"/>
          </a:solidFill>
          <a:latin typeface="Calibri" panose="020F0502020204030204" pitchFamily="34" charset="0"/>
          <a:ea typeface="Source Sans Pro" panose="020B0503030403020204" pitchFamily="34" charset="0"/>
          <a:cs typeface="Calibri" panose="020F0502020204030204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ctrTitle"/>
          </p:nvPr>
        </p:nvSpPr>
        <p:spPr>
          <a:xfrm>
            <a:off x="3959376" y="2130426"/>
            <a:ext cx="7215443" cy="1470025"/>
          </a:xfrm>
        </p:spPr>
        <p:txBody>
          <a:bodyPr>
            <a:normAutofit/>
          </a:bodyPr>
          <a:lstStyle/>
          <a:p>
            <a:r>
              <a:rPr lang="en-US" sz="4400" dirty="0"/>
              <a:t>Formulas</a:t>
            </a:r>
          </a:p>
        </p:txBody>
      </p:sp>
      <p:sp>
        <p:nvSpPr>
          <p:cNvPr id="14" name="Subtitle 2"/>
          <p:cNvSpPr>
            <a:spLocks noGrp="1"/>
          </p:cNvSpPr>
          <p:nvPr>
            <p:ph type="subTitle" idx="1"/>
          </p:nvPr>
        </p:nvSpPr>
        <p:spPr>
          <a:xfrm>
            <a:off x="3959375" y="3886201"/>
            <a:ext cx="4273249" cy="584775"/>
          </a:xfrm>
        </p:spPr>
        <p:txBody>
          <a:bodyPr/>
          <a:lstStyle/>
          <a:p>
            <a:pPr algn="l"/>
            <a:r>
              <a:rPr lang="en-US" sz="3200" dirty="0">
                <a:solidFill>
                  <a:schemeClr val="bg1">
                    <a:lumMod val="65000"/>
                  </a:schemeClr>
                </a:solidFill>
              </a:rPr>
              <a:t>John Horn</a:t>
            </a:r>
          </a:p>
        </p:txBody>
      </p:sp>
      <p:pic>
        <p:nvPicPr>
          <p:cNvPr id="16" name="Picture 4" descr="M:\Admin\Logos\150206_jwb_race_ethnicity_00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513" y="-1"/>
            <a:ext cx="3237542" cy="4666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black background with red text&#10;&#10;Description automatically generated">
            <a:extLst>
              <a:ext uri="{FF2B5EF4-FFF2-40B4-BE49-F238E27FC236}">
                <a16:creationId xmlns:a16="http://schemas.microsoft.com/office/drawing/2014/main" id="{2E6A5925-901A-20ED-1DD4-18EAE71776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20" y="4908560"/>
            <a:ext cx="3133501" cy="1282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124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Simultaneous games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084CBE6-F35A-872B-91DC-0214D892DB80}"/>
              </a:ext>
            </a:extLst>
          </p:cNvPr>
          <p:cNvGrpSpPr/>
          <p:nvPr/>
        </p:nvGrpSpPr>
        <p:grpSpPr>
          <a:xfrm>
            <a:off x="430599" y="1176690"/>
            <a:ext cx="11293731" cy="1446463"/>
            <a:chOff x="430599" y="1176690"/>
            <a:chExt cx="11293731" cy="1446463"/>
          </a:xfrm>
        </p:grpSpPr>
        <p:sp>
          <p:nvSpPr>
            <p:cNvPr id="28" name="Rounded Rectangle 27"/>
            <p:cNvSpPr/>
            <p:nvPr/>
          </p:nvSpPr>
          <p:spPr>
            <a:xfrm>
              <a:off x="430599" y="1176690"/>
              <a:ext cx="2121408" cy="1060704"/>
            </a:xfrm>
            <a:prstGeom prst="roundRect">
              <a:avLst>
                <a:gd name="adj" fmla="val 15319"/>
              </a:avLst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Payoff matrix</a:t>
              </a:r>
            </a:p>
          </p:txBody>
        </p:sp>
        <p:sp>
          <p:nvSpPr>
            <p:cNvPr id="23" name="Rectangle 3"/>
            <p:cNvSpPr txBox="1">
              <a:spLocks noChangeArrowheads="1"/>
            </p:cNvSpPr>
            <p:nvPr/>
          </p:nvSpPr>
          <p:spPr bwMode="auto">
            <a:xfrm>
              <a:off x="2654000" y="1179488"/>
              <a:ext cx="9070330" cy="1443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Solution framework for simultaneous games</a:t>
              </a:r>
            </a:p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Each player’s strategies listed either in rows or columns</a:t>
              </a:r>
            </a:p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Equilibria listed as pairs of strategies, not payoffs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49F949C-C629-70C7-0744-B089197AB9F7}"/>
              </a:ext>
            </a:extLst>
          </p:cNvPr>
          <p:cNvGrpSpPr/>
          <p:nvPr/>
        </p:nvGrpSpPr>
        <p:grpSpPr>
          <a:xfrm>
            <a:off x="430599" y="4517969"/>
            <a:ext cx="11293730" cy="1060704"/>
            <a:chOff x="430599" y="2616147"/>
            <a:chExt cx="11293730" cy="1060704"/>
          </a:xfrm>
        </p:grpSpPr>
        <p:sp>
          <p:nvSpPr>
            <p:cNvPr id="36" name="Rounded Rectangle 35"/>
            <p:cNvSpPr/>
            <p:nvPr/>
          </p:nvSpPr>
          <p:spPr>
            <a:xfrm>
              <a:off x="430599" y="2616147"/>
              <a:ext cx="2121408" cy="1060704"/>
            </a:xfrm>
            <a:prstGeom prst="roundRect">
              <a:avLst>
                <a:gd name="adj" fmla="val 12914"/>
              </a:avLst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Dominated strategy</a:t>
              </a:r>
            </a:p>
          </p:txBody>
        </p:sp>
        <p:sp>
          <p:nvSpPr>
            <p:cNvPr id="37" name="Rectangle 3"/>
            <p:cNvSpPr txBox="1">
              <a:spLocks noChangeArrowheads="1"/>
            </p:cNvSpPr>
            <p:nvPr/>
          </p:nvSpPr>
          <p:spPr bwMode="auto">
            <a:xfrm>
              <a:off x="2653999" y="2616147"/>
              <a:ext cx="9070330" cy="9604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One that is never optimal, regardless of the opponent’s action</a:t>
              </a:r>
            </a:p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Can be eliminated from the payoff matrix</a:t>
              </a:r>
            </a:p>
          </p:txBody>
        </p: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C3AF8B-539F-61D4-9B8A-7FFF5F390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1D67-3917-4D1D-B396-6BD35EFCEE75}" type="slidenum">
              <a:rPr lang="en-US" altLang="en-US" smtClean="0"/>
              <a:pPr/>
              <a:t>2</a:t>
            </a:fld>
            <a:endParaRPr lang="en-US" alt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1952BB1-39F5-42E5-DD6B-F11732F3AF28}"/>
              </a:ext>
            </a:extLst>
          </p:cNvPr>
          <p:cNvGrpSpPr/>
          <p:nvPr/>
        </p:nvGrpSpPr>
        <p:grpSpPr>
          <a:xfrm>
            <a:off x="430599" y="3040209"/>
            <a:ext cx="11293731" cy="1060704"/>
            <a:chOff x="430599" y="1176690"/>
            <a:chExt cx="11293731" cy="1060704"/>
          </a:xfrm>
        </p:grpSpPr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0DEC31FC-915B-AEF1-E5E4-78888EF02AF3}"/>
                </a:ext>
              </a:extLst>
            </p:cNvPr>
            <p:cNvSpPr/>
            <p:nvPr/>
          </p:nvSpPr>
          <p:spPr>
            <a:xfrm>
              <a:off x="430599" y="1176690"/>
              <a:ext cx="2121408" cy="1060704"/>
            </a:xfrm>
            <a:prstGeom prst="roundRect">
              <a:avLst>
                <a:gd name="adj" fmla="val 15319"/>
              </a:avLst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Dominant strategy</a:t>
              </a:r>
            </a:p>
          </p:txBody>
        </p:sp>
        <p:sp>
          <p:nvSpPr>
            <p:cNvPr id="22" name="Rectangle 3">
              <a:extLst>
                <a:ext uri="{FF2B5EF4-FFF2-40B4-BE49-F238E27FC236}">
                  <a16:creationId xmlns:a16="http://schemas.microsoft.com/office/drawing/2014/main" id="{06211270-3F6B-DB89-0354-BDC139C9F6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4000" y="1179488"/>
              <a:ext cx="9070330" cy="9604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Always better regardless of what the other side chooses</a:t>
              </a:r>
            </a:p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Players opt to play their dominant strategy if they have one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05735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Simultaneous games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C3AF8B-539F-61D4-9B8A-7FFF5F390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1D67-3917-4D1D-B396-6BD35EFCEE75}" type="slidenum">
              <a:rPr lang="en-US" altLang="en-US" smtClean="0"/>
              <a:pPr/>
              <a:t>3</a:t>
            </a:fld>
            <a:endParaRPr lang="en-US" alt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4C3CDF3-8A7F-8B1B-ECA2-589A8381553D}"/>
              </a:ext>
            </a:extLst>
          </p:cNvPr>
          <p:cNvGrpSpPr/>
          <p:nvPr/>
        </p:nvGrpSpPr>
        <p:grpSpPr>
          <a:xfrm>
            <a:off x="430599" y="1176690"/>
            <a:ext cx="11293730" cy="2092881"/>
            <a:chOff x="430599" y="3938320"/>
            <a:chExt cx="11293730" cy="2092881"/>
          </a:xfrm>
        </p:grpSpPr>
        <p:sp>
          <p:nvSpPr>
            <p:cNvPr id="2" name="Rounded Rectangle 1">
              <a:extLst>
                <a:ext uri="{FF2B5EF4-FFF2-40B4-BE49-F238E27FC236}">
                  <a16:creationId xmlns:a16="http://schemas.microsoft.com/office/drawing/2014/main" id="{593514EB-858F-7077-7AD5-22CA78AC5F36}"/>
                </a:ext>
              </a:extLst>
            </p:cNvPr>
            <p:cNvSpPr/>
            <p:nvPr/>
          </p:nvSpPr>
          <p:spPr>
            <a:xfrm>
              <a:off x="430599" y="3938320"/>
              <a:ext cx="2121408" cy="1060704"/>
            </a:xfrm>
            <a:prstGeom prst="roundRect">
              <a:avLst>
                <a:gd name="adj" fmla="val 12914"/>
              </a:avLst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Nash Equilibrium</a:t>
              </a:r>
            </a:p>
          </p:txBody>
        </p:sp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8EC940E3-91C5-31CC-0D9E-F8E8C926C3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3999" y="3938320"/>
              <a:ext cx="9070330" cy="20928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Find each player’s best response to other players’ potential strategies</a:t>
              </a:r>
            </a:p>
            <a:p>
              <a:pPr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Nash Equilibrium are any cells in payoff matrix where all players are playing best responses</a:t>
              </a:r>
            </a:p>
            <a:p>
              <a:pPr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May be zero, one, or multiple Nash Equilibria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22855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Sequential games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084CBE6-F35A-872B-91DC-0214D892DB80}"/>
              </a:ext>
            </a:extLst>
          </p:cNvPr>
          <p:cNvGrpSpPr/>
          <p:nvPr/>
        </p:nvGrpSpPr>
        <p:grpSpPr>
          <a:xfrm>
            <a:off x="430599" y="1176690"/>
            <a:ext cx="11293731" cy="1369519"/>
            <a:chOff x="430599" y="1176690"/>
            <a:chExt cx="11293731" cy="1369519"/>
          </a:xfrm>
        </p:grpSpPr>
        <p:sp>
          <p:nvSpPr>
            <p:cNvPr id="28" name="Rounded Rectangle 27"/>
            <p:cNvSpPr/>
            <p:nvPr/>
          </p:nvSpPr>
          <p:spPr>
            <a:xfrm>
              <a:off x="430599" y="1176690"/>
              <a:ext cx="2121408" cy="1060704"/>
            </a:xfrm>
            <a:prstGeom prst="roundRect">
              <a:avLst>
                <a:gd name="adj" fmla="val 15319"/>
              </a:avLst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Game tree</a:t>
              </a:r>
            </a:p>
          </p:txBody>
        </p:sp>
        <p:sp>
          <p:nvSpPr>
            <p:cNvPr id="23" name="Rectangle 3"/>
            <p:cNvSpPr txBox="1">
              <a:spLocks noChangeArrowheads="1"/>
            </p:cNvSpPr>
            <p:nvPr/>
          </p:nvSpPr>
          <p:spPr bwMode="auto">
            <a:xfrm>
              <a:off x="2654000" y="1179488"/>
              <a:ext cx="9070330" cy="13667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Solution framework for sequential games</a:t>
              </a:r>
            </a:p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Players make choices at nodes, branches represent potential strategic choices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49F949C-C629-70C7-0744-B089197AB9F7}"/>
              </a:ext>
            </a:extLst>
          </p:cNvPr>
          <p:cNvGrpSpPr/>
          <p:nvPr/>
        </p:nvGrpSpPr>
        <p:grpSpPr>
          <a:xfrm>
            <a:off x="430599" y="3102314"/>
            <a:ext cx="11293730" cy="2739404"/>
            <a:chOff x="430599" y="2616147"/>
            <a:chExt cx="11293730" cy="2739404"/>
          </a:xfrm>
        </p:grpSpPr>
        <p:sp>
          <p:nvSpPr>
            <p:cNvPr id="36" name="Rounded Rectangle 35"/>
            <p:cNvSpPr/>
            <p:nvPr/>
          </p:nvSpPr>
          <p:spPr>
            <a:xfrm>
              <a:off x="430599" y="2616147"/>
              <a:ext cx="2121408" cy="1060704"/>
            </a:xfrm>
            <a:prstGeom prst="roundRect">
              <a:avLst>
                <a:gd name="adj" fmla="val 12914"/>
              </a:avLst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Backward induction</a:t>
              </a:r>
            </a:p>
          </p:txBody>
        </p:sp>
        <p:sp>
          <p:nvSpPr>
            <p:cNvPr id="37" name="Rectangle 3"/>
            <p:cNvSpPr txBox="1">
              <a:spLocks noChangeArrowheads="1"/>
            </p:cNvSpPr>
            <p:nvPr/>
          </p:nvSpPr>
          <p:spPr bwMode="auto">
            <a:xfrm>
              <a:off x="2653999" y="2616147"/>
              <a:ext cx="9070330" cy="2739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Determine best responses at terminal nodes (final moves)</a:t>
              </a:r>
            </a:p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Transfer relevant payoffs to previous nodes</a:t>
              </a:r>
            </a:p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Determine best responses at second-to-last nodes, write payoffs at previous nodes, repeat</a:t>
              </a:r>
            </a:p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Follow path of selected branches from top-to-bottom to indicate equilibrium (pairs of strategies, not payoffs)</a:t>
              </a:r>
            </a:p>
          </p:txBody>
        </p: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C3AF8B-539F-61D4-9B8A-7FFF5F390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1D67-3917-4D1D-B396-6BD35EFCEE75}" type="slidenum">
              <a:rPr lang="en-US" altLang="en-US" smtClean="0"/>
              <a:pPr/>
              <a:t>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61672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Sequential games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49F949C-C629-70C7-0744-B089197AB9F7}"/>
              </a:ext>
            </a:extLst>
          </p:cNvPr>
          <p:cNvGrpSpPr/>
          <p:nvPr/>
        </p:nvGrpSpPr>
        <p:grpSpPr>
          <a:xfrm>
            <a:off x="430599" y="2594991"/>
            <a:ext cx="11293730" cy="1443665"/>
            <a:chOff x="430599" y="2616147"/>
            <a:chExt cx="11293730" cy="1443665"/>
          </a:xfrm>
        </p:grpSpPr>
        <p:sp>
          <p:nvSpPr>
            <p:cNvPr id="36" name="Rounded Rectangle 35"/>
            <p:cNvSpPr/>
            <p:nvPr/>
          </p:nvSpPr>
          <p:spPr>
            <a:xfrm>
              <a:off x="430599" y="2616147"/>
              <a:ext cx="2121408" cy="1060704"/>
            </a:xfrm>
            <a:prstGeom prst="roundRect">
              <a:avLst>
                <a:gd name="adj" fmla="val 12914"/>
              </a:avLst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Credible threats</a:t>
              </a:r>
            </a:p>
          </p:txBody>
        </p:sp>
        <p:sp>
          <p:nvSpPr>
            <p:cNvPr id="37" name="Rectangle 3"/>
            <p:cNvSpPr txBox="1">
              <a:spLocks noChangeArrowheads="1"/>
            </p:cNvSpPr>
            <p:nvPr/>
          </p:nvSpPr>
          <p:spPr bwMode="auto">
            <a:xfrm>
              <a:off x="2653999" y="2616147"/>
              <a:ext cx="9070330" cy="1443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Visible (others must know you’ve made a threat)</a:t>
              </a:r>
            </a:p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Understandable (others must know impact of threat to them)</a:t>
              </a:r>
            </a:p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Irreversible (you can’t be bluffing and change your plans)</a:t>
              </a:r>
            </a:p>
          </p:txBody>
        </p: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C3AF8B-539F-61D4-9B8A-7FFF5F390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1D67-3917-4D1D-B396-6BD35EFCEE75}" type="slidenum">
              <a:rPr lang="en-US" altLang="en-US" smtClean="0"/>
              <a:pPr/>
              <a:t>5</a:t>
            </a:fld>
            <a:endParaRPr lang="en-US" alt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1952BB1-39F5-42E5-DD6B-F11732F3AF28}"/>
              </a:ext>
            </a:extLst>
          </p:cNvPr>
          <p:cNvGrpSpPr/>
          <p:nvPr/>
        </p:nvGrpSpPr>
        <p:grpSpPr>
          <a:xfrm>
            <a:off x="430599" y="1176690"/>
            <a:ext cx="11293731" cy="1060704"/>
            <a:chOff x="430599" y="1176690"/>
            <a:chExt cx="11293731" cy="1060704"/>
          </a:xfrm>
        </p:grpSpPr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0DEC31FC-915B-AEF1-E5E4-78888EF02AF3}"/>
                </a:ext>
              </a:extLst>
            </p:cNvPr>
            <p:cNvSpPr/>
            <p:nvPr/>
          </p:nvSpPr>
          <p:spPr>
            <a:xfrm>
              <a:off x="430599" y="1176690"/>
              <a:ext cx="2121408" cy="1060704"/>
            </a:xfrm>
            <a:prstGeom prst="roundRect">
              <a:avLst>
                <a:gd name="adj" fmla="val 15319"/>
              </a:avLst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Dominant strategy</a:t>
              </a:r>
            </a:p>
          </p:txBody>
        </p:sp>
        <p:sp>
          <p:nvSpPr>
            <p:cNvPr id="22" name="Rectangle 3">
              <a:extLst>
                <a:ext uri="{FF2B5EF4-FFF2-40B4-BE49-F238E27FC236}">
                  <a16:creationId xmlns:a16="http://schemas.microsoft.com/office/drawing/2014/main" id="{06211270-3F6B-DB89-0354-BDC139C9F6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4000" y="1179488"/>
              <a:ext cx="9070330" cy="4772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No such thing in sequential games!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41836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Principal-agent concepts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EEDC1-525A-4847-800E-C96F24993272}" type="slidenum">
              <a:rPr lang="en-US" altLang="en-US" smtClean="0"/>
              <a:pPr/>
              <a:t>6</a:t>
            </a:fld>
            <a:endParaRPr lang="en-US" alt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BEA6BB5-DEF6-7D2B-3783-6C18D9DD1E58}"/>
              </a:ext>
            </a:extLst>
          </p:cNvPr>
          <p:cNvGrpSpPr/>
          <p:nvPr/>
        </p:nvGrpSpPr>
        <p:grpSpPr>
          <a:xfrm>
            <a:off x="609600" y="1056228"/>
            <a:ext cx="10621873" cy="1277274"/>
            <a:chOff x="253389" y="955457"/>
            <a:chExt cx="10621873" cy="1277274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A2C0DB44-C5D5-0F34-9E01-727A87B309A3}"/>
                </a:ext>
              </a:extLst>
            </p:cNvPr>
            <p:cNvSpPr/>
            <p:nvPr/>
          </p:nvSpPr>
          <p:spPr>
            <a:xfrm>
              <a:off x="253389" y="955457"/>
              <a:ext cx="1927951" cy="1191672"/>
            </a:xfrm>
            <a:prstGeom prst="roundRect">
              <a:avLst/>
            </a:prstGeom>
            <a:solidFill>
              <a:srgbClr val="FFCC00"/>
            </a:solidFill>
            <a:ln>
              <a:solidFill>
                <a:srgbClr val="FFCC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Principal-agent relationship</a:t>
              </a:r>
            </a:p>
          </p:txBody>
        </p:sp>
        <p:sp>
          <p:nvSpPr>
            <p:cNvPr id="10" name="Content Placeholder 2">
              <a:extLst>
                <a:ext uri="{FF2B5EF4-FFF2-40B4-BE49-F238E27FC236}">
                  <a16:creationId xmlns:a16="http://schemas.microsoft.com/office/drawing/2014/main" id="{2B10EB3A-8446-8771-F2F4-9FC94EE828AB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2181339" y="955458"/>
              <a:ext cx="8693923" cy="1277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defTabSz="457200" rtl="0" eaLnBrk="0" fontAlgn="base" hangingPunct="0">
                <a:spcBef>
                  <a:spcPts val="0"/>
                </a:spcBef>
                <a:spcAft>
                  <a:spcPts val="1200"/>
                </a:spcAft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ＭＳ Ｐゴシック" charset="0"/>
                  <a:cs typeface="ＭＳ Ｐゴシック" charset="0"/>
                </a:defRPr>
              </a:lvl1pPr>
              <a:lvl2pPr marL="742950" indent="-285750" algn="l" defTabSz="457200" rtl="0" eaLnBrk="0" fontAlgn="base" hangingPunct="0">
                <a:spcBef>
                  <a:spcPts val="0"/>
                </a:spcBef>
                <a:spcAft>
                  <a:spcPts val="1200"/>
                </a:spcAft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ＭＳ Ｐゴシック" charset="0"/>
                  <a:cs typeface="+mn-cs"/>
                </a:defRPr>
              </a:lvl2pPr>
              <a:lvl3pPr marL="1143000" indent="-228600" algn="l" defTabSz="457200" rtl="0" eaLnBrk="0" fontAlgn="base" hangingPunct="0">
                <a:spcBef>
                  <a:spcPts val="0"/>
                </a:spcBef>
                <a:spcAft>
                  <a:spcPts val="1200"/>
                </a:spcAft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ＭＳ Ｐゴシック" charset="0"/>
                  <a:cs typeface="+mn-cs"/>
                </a:defRPr>
              </a:lvl3pPr>
              <a:lvl4pPr marL="1600200" indent="-228600" algn="l" defTabSz="457200" rtl="0" eaLnBrk="0" fontAlgn="base" hangingPunct="0">
                <a:spcBef>
                  <a:spcPts val="0"/>
                </a:spcBef>
                <a:spcAft>
                  <a:spcPts val="1200"/>
                </a:spcAft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ＭＳ Ｐゴシック" charset="0"/>
                  <a:cs typeface="+mn-cs"/>
                </a:defRPr>
              </a:lvl4pPr>
              <a:lvl5pPr marL="2057400" indent="-228600" algn="l" defTabSz="457200" rtl="0" eaLnBrk="0" fontAlgn="base" hangingPunct="0">
                <a:spcBef>
                  <a:spcPts val="0"/>
                </a:spcBef>
                <a:spcAft>
                  <a:spcPts val="1200"/>
                </a:spcAft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ＭＳ Ｐゴシック" charset="0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1" hangingPunct="1">
                <a:spcAft>
                  <a:spcPts val="600"/>
                </a:spcAft>
              </a:pPr>
              <a:r>
                <a:rPr lang="en-US" altLang="en-US" sz="2400" dirty="0">
                  <a:latin typeface="Calibri" panose="020F0502020204030204" pitchFamily="34" charset="0"/>
                  <a:ea typeface="ＭＳ Ｐゴシック" pitchFamily="34" charset="-128"/>
                </a:rPr>
                <a:t>Principal hires/contracts with the agent to act on the principal’s behalf</a:t>
              </a:r>
            </a:p>
            <a:p>
              <a:pPr eaLnBrk="1" hangingPunct="1">
                <a:spcAft>
                  <a:spcPts val="600"/>
                </a:spcAft>
              </a:pPr>
              <a:r>
                <a:rPr lang="en-US" altLang="en-US" sz="2400" dirty="0">
                  <a:latin typeface="Calibri" panose="020F0502020204030204" pitchFamily="34" charset="0"/>
                  <a:ea typeface="ＭＳ Ｐゴシック" pitchFamily="34" charset="-128"/>
                </a:rPr>
                <a:t>Agent’s actions affect principal’s outcomes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83F1CAE-0A50-4EE1-4E72-5337973A1615}"/>
              </a:ext>
            </a:extLst>
          </p:cNvPr>
          <p:cNvGrpSpPr/>
          <p:nvPr/>
        </p:nvGrpSpPr>
        <p:grpSpPr>
          <a:xfrm>
            <a:off x="609600" y="2491059"/>
            <a:ext cx="10621873" cy="4170373"/>
            <a:chOff x="253389" y="2669325"/>
            <a:chExt cx="10621873" cy="4170373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38ADBAAD-7F37-8DBA-ABCE-88FB7835DB0C}"/>
                </a:ext>
              </a:extLst>
            </p:cNvPr>
            <p:cNvSpPr/>
            <p:nvPr/>
          </p:nvSpPr>
          <p:spPr>
            <a:xfrm>
              <a:off x="253389" y="2669325"/>
              <a:ext cx="1927951" cy="1191671"/>
            </a:xfrm>
            <a:prstGeom prst="roundRect">
              <a:avLst/>
            </a:prstGeom>
            <a:solidFill>
              <a:srgbClr val="FFCC00"/>
            </a:solidFill>
            <a:ln>
              <a:solidFill>
                <a:srgbClr val="FFCC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Principal-agent problem</a:t>
              </a:r>
            </a:p>
          </p:txBody>
        </p:sp>
        <p:sp>
          <p:nvSpPr>
            <p:cNvPr id="13" name="Content Placeholder 2">
              <a:extLst>
                <a:ext uri="{FF2B5EF4-FFF2-40B4-BE49-F238E27FC236}">
                  <a16:creationId xmlns:a16="http://schemas.microsoft.com/office/drawing/2014/main" id="{4E55C806-CF83-6124-1D21-3A6C21C83D1E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2181340" y="2669326"/>
              <a:ext cx="8693922" cy="41703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defTabSz="457200" rtl="0" eaLnBrk="0" fontAlgn="base" hangingPunct="0">
                <a:spcBef>
                  <a:spcPts val="0"/>
                </a:spcBef>
                <a:spcAft>
                  <a:spcPts val="1200"/>
                </a:spcAft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ＭＳ Ｐゴシック" charset="0"/>
                  <a:cs typeface="ＭＳ Ｐゴシック" charset="0"/>
                </a:defRPr>
              </a:lvl1pPr>
              <a:lvl2pPr marL="742950" indent="-285750" algn="l" defTabSz="457200" rtl="0" eaLnBrk="0" fontAlgn="base" hangingPunct="0">
                <a:spcBef>
                  <a:spcPts val="0"/>
                </a:spcBef>
                <a:spcAft>
                  <a:spcPts val="1200"/>
                </a:spcAft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ＭＳ Ｐゴシック" charset="0"/>
                  <a:cs typeface="+mn-cs"/>
                </a:defRPr>
              </a:lvl2pPr>
              <a:lvl3pPr marL="1143000" indent="-228600" algn="l" defTabSz="457200" rtl="0" eaLnBrk="0" fontAlgn="base" hangingPunct="0">
                <a:spcBef>
                  <a:spcPts val="0"/>
                </a:spcBef>
                <a:spcAft>
                  <a:spcPts val="1200"/>
                </a:spcAft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ＭＳ Ｐゴシック" charset="0"/>
                  <a:cs typeface="+mn-cs"/>
                </a:defRPr>
              </a:lvl3pPr>
              <a:lvl4pPr marL="1600200" indent="-228600" algn="l" defTabSz="457200" rtl="0" eaLnBrk="0" fontAlgn="base" hangingPunct="0">
                <a:spcBef>
                  <a:spcPts val="0"/>
                </a:spcBef>
                <a:spcAft>
                  <a:spcPts val="1200"/>
                </a:spcAft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ＭＳ Ｐゴシック" charset="0"/>
                  <a:cs typeface="+mn-cs"/>
                </a:defRPr>
              </a:lvl4pPr>
              <a:lvl5pPr marL="2057400" indent="-228600" algn="l" defTabSz="457200" rtl="0" eaLnBrk="0" fontAlgn="base" hangingPunct="0">
                <a:spcBef>
                  <a:spcPts val="0"/>
                </a:spcBef>
                <a:spcAft>
                  <a:spcPts val="1200"/>
                </a:spcAft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ＭＳ Ｐゴシック" charset="0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1" hangingPunct="1">
                <a:spcAft>
                  <a:spcPts val="600"/>
                </a:spcAft>
              </a:pPr>
              <a:r>
                <a:rPr lang="en-US" altLang="en-US" sz="2400" dirty="0">
                  <a:latin typeface="Calibri" panose="020F0502020204030204" pitchFamily="34" charset="0"/>
                  <a:ea typeface="ＭＳ Ｐゴシック" pitchFamily="34" charset="-128"/>
                </a:rPr>
                <a:t>Principal and agent may have misaligned objectives</a:t>
              </a:r>
            </a:p>
            <a:p>
              <a:pPr lvl="1" eaLnBrk="1" hangingPunct="1">
                <a:spcAft>
                  <a:spcPts val="600"/>
                </a:spcAft>
              </a:pPr>
              <a:r>
                <a:rPr lang="en-US" altLang="en-US" sz="240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E.g., principal wants profit maximization; agent wants a bigger role, political appointment, etc.</a:t>
              </a:r>
            </a:p>
            <a:p>
              <a:pPr eaLnBrk="1" hangingPunct="1">
                <a:spcAft>
                  <a:spcPts val="600"/>
                </a:spcAft>
              </a:pPr>
              <a:r>
                <a:rPr lang="en-US" altLang="en-US" sz="2400" dirty="0">
                  <a:latin typeface="Calibri" panose="020F0502020204030204" pitchFamily="34" charset="0"/>
                  <a:ea typeface="ＭＳ Ｐゴシック" pitchFamily="34" charset="-128"/>
                </a:rPr>
                <a:t>Principal and agent may have different risk preferences</a:t>
              </a:r>
            </a:p>
            <a:p>
              <a:pPr lvl="1" eaLnBrk="1" hangingPunct="1">
                <a:spcAft>
                  <a:spcPts val="600"/>
                </a:spcAft>
              </a:pPr>
              <a:r>
                <a:rPr lang="en-US" altLang="en-US" sz="240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E.g., board wants aggressive growth; CEO is nearing retirement and doesn’t want to jeopardize reputation or separation package</a:t>
              </a:r>
            </a:p>
            <a:p>
              <a:pPr eaLnBrk="1" hangingPunct="1">
                <a:spcAft>
                  <a:spcPts val="600"/>
                </a:spcAft>
              </a:pPr>
              <a:r>
                <a:rPr lang="en-US" altLang="en-US" sz="2400" dirty="0">
                  <a:latin typeface="Calibri" panose="020F0502020204030204" pitchFamily="34" charset="0"/>
                  <a:ea typeface="ＭＳ Ｐゴシック" pitchFamily="34" charset="-128"/>
                </a:rPr>
                <a:t>Principal and agent may have different effort preferences</a:t>
              </a:r>
            </a:p>
            <a:p>
              <a:pPr lvl="1" eaLnBrk="1" hangingPunct="1">
                <a:spcAft>
                  <a:spcPts val="600"/>
                </a:spcAft>
              </a:pPr>
              <a:r>
                <a:rPr lang="en-US" altLang="en-US" sz="240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E.g., board wants focus on company; CEO may have attention on philanthropic or other ventures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3397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Profit maximization – monopoly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49F949C-C629-70C7-0744-B089197AB9F7}"/>
              </a:ext>
            </a:extLst>
          </p:cNvPr>
          <p:cNvGrpSpPr/>
          <p:nvPr/>
        </p:nvGrpSpPr>
        <p:grpSpPr>
          <a:xfrm>
            <a:off x="430599" y="2633473"/>
            <a:ext cx="11293730" cy="1060704"/>
            <a:chOff x="430599" y="2616147"/>
            <a:chExt cx="11293730" cy="1060704"/>
          </a:xfrm>
        </p:grpSpPr>
        <p:sp>
          <p:nvSpPr>
            <p:cNvPr id="36" name="Rounded Rectangle 35"/>
            <p:cNvSpPr/>
            <p:nvPr/>
          </p:nvSpPr>
          <p:spPr>
            <a:xfrm>
              <a:off x="430599" y="2616147"/>
              <a:ext cx="2121408" cy="1060704"/>
            </a:xfrm>
            <a:prstGeom prst="roundRect">
              <a:avLst>
                <a:gd name="adj" fmla="val 12914"/>
              </a:avLst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Monopoly markup</a:t>
              </a:r>
            </a:p>
          </p:txBody>
        </p:sp>
        <p:sp>
          <p:nvSpPr>
            <p:cNvPr id="37" name="Rectangle 3"/>
            <p:cNvSpPr txBox="1">
              <a:spLocks noChangeArrowheads="1"/>
            </p:cNvSpPr>
            <p:nvPr/>
          </p:nvSpPr>
          <p:spPr bwMode="auto">
            <a:xfrm>
              <a:off x="2653999" y="2616147"/>
              <a:ext cx="9070330" cy="9604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(P – MC)/P = -1/</a:t>
              </a:r>
              <a:r>
                <a:rPr lang="en-US" altLang="en-US" sz="2400" kern="0" dirty="0" err="1">
                  <a:ea typeface="ＭＳ Ｐゴシック" pitchFamily="34" charset="-128"/>
                  <a:cs typeface="Calibri" panose="020F0502020204030204" pitchFamily="34" charset="0"/>
                </a:rPr>
                <a:t>ε</a:t>
              </a:r>
              <a:r>
                <a:rPr lang="en-US" altLang="en-US" sz="2400" kern="0" baseline="-25000" dirty="0" err="1">
                  <a:ea typeface="ＭＳ Ｐゴシック" pitchFamily="34" charset="-128"/>
                  <a:cs typeface="Calibri" panose="020F0502020204030204" pitchFamily="34" charset="0"/>
                </a:rPr>
                <a:t>D</a:t>
              </a:r>
              <a:endParaRPr lang="en-US" altLang="en-US" sz="2400" kern="0" dirty="0">
                <a:ea typeface="ＭＳ Ｐゴシック" pitchFamily="34" charset="-128"/>
                <a:cs typeface="Calibri" panose="020F0502020204030204" pitchFamily="34" charset="0"/>
              </a:endParaRPr>
            </a:p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Profit margin = inverse of own-price (demand) elasticity</a:t>
              </a:r>
            </a:p>
          </p:txBody>
        </p: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C3AF8B-539F-61D4-9B8A-7FFF5F390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1D67-3917-4D1D-B396-6BD35EFCEE75}" type="slidenum">
              <a:rPr lang="en-US" altLang="en-US" smtClean="0"/>
              <a:pPr/>
              <a:t>7</a:t>
            </a:fld>
            <a:endParaRPr lang="en-US" alt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1952BB1-39F5-42E5-DD6B-F11732F3AF28}"/>
              </a:ext>
            </a:extLst>
          </p:cNvPr>
          <p:cNvGrpSpPr/>
          <p:nvPr/>
        </p:nvGrpSpPr>
        <p:grpSpPr>
          <a:xfrm>
            <a:off x="430599" y="1176690"/>
            <a:ext cx="11293731" cy="1060704"/>
            <a:chOff x="430599" y="1176690"/>
            <a:chExt cx="11293731" cy="1060704"/>
          </a:xfrm>
        </p:grpSpPr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0DEC31FC-915B-AEF1-E5E4-78888EF02AF3}"/>
                </a:ext>
              </a:extLst>
            </p:cNvPr>
            <p:cNvSpPr/>
            <p:nvPr/>
          </p:nvSpPr>
          <p:spPr>
            <a:xfrm>
              <a:off x="430599" y="1176690"/>
              <a:ext cx="2121408" cy="1060704"/>
            </a:xfrm>
            <a:prstGeom prst="roundRect">
              <a:avLst>
                <a:gd name="adj" fmla="val 15319"/>
              </a:avLst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MR = MC</a:t>
              </a:r>
            </a:p>
          </p:txBody>
        </p:sp>
        <p:sp>
          <p:nvSpPr>
            <p:cNvPr id="22" name="Rectangle 3">
              <a:extLst>
                <a:ext uri="{FF2B5EF4-FFF2-40B4-BE49-F238E27FC236}">
                  <a16:creationId xmlns:a16="http://schemas.microsoft.com/office/drawing/2014/main" id="{06211270-3F6B-DB89-0354-BDC139C9F6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4000" y="1179488"/>
              <a:ext cx="9070330" cy="9604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Marginal revenue = marginal cost</a:t>
              </a:r>
            </a:p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 err="1">
                  <a:ea typeface="Source Sans Pro" panose="020B0503030403020204" pitchFamily="34" charset="0"/>
                  <a:cs typeface="Calibri" panose="020F0502020204030204" pitchFamily="34" charset="0"/>
                </a:rPr>
                <a:t>dR</a:t>
              </a: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/</a:t>
              </a:r>
              <a:r>
                <a:rPr lang="en-US" altLang="en-US" sz="2400" kern="0" dirty="0" err="1">
                  <a:ea typeface="Source Sans Pro" panose="020B0503030403020204" pitchFamily="34" charset="0"/>
                  <a:cs typeface="Calibri" panose="020F0502020204030204" pitchFamily="34" charset="0"/>
                </a:rPr>
                <a:t>dQ</a:t>
              </a: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 = </a:t>
              </a:r>
              <a:r>
                <a:rPr lang="en-US" altLang="en-US" sz="2400" kern="0" dirty="0" err="1">
                  <a:ea typeface="Source Sans Pro" panose="020B0503030403020204" pitchFamily="34" charset="0"/>
                  <a:cs typeface="Calibri" panose="020F0502020204030204" pitchFamily="34" charset="0"/>
                </a:rPr>
                <a:t>dC</a:t>
              </a: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/</a:t>
              </a:r>
              <a:r>
                <a:rPr lang="en-US" altLang="en-US" sz="2400" kern="0" dirty="0" err="1">
                  <a:ea typeface="Source Sans Pro" panose="020B0503030403020204" pitchFamily="34" charset="0"/>
                  <a:cs typeface="Calibri" panose="020F0502020204030204" pitchFamily="34" charset="0"/>
                </a:rPr>
                <a:t>dQ</a:t>
              </a:r>
              <a:endParaRPr lang="en-US" altLang="en-US" sz="2400" kern="0" dirty="0">
                <a:ea typeface="Source Sans Pro" panose="020B050303040302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32AB2101-BDB9-B83F-30E5-F573136D5608}"/>
              </a:ext>
            </a:extLst>
          </p:cNvPr>
          <p:cNvGrpSpPr/>
          <p:nvPr/>
        </p:nvGrpSpPr>
        <p:grpSpPr>
          <a:xfrm>
            <a:off x="430599" y="4090255"/>
            <a:ext cx="11293730" cy="1443665"/>
            <a:chOff x="430599" y="2616147"/>
            <a:chExt cx="11293730" cy="1443665"/>
          </a:xfrm>
        </p:grpSpPr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B66A3566-A2FF-5887-899E-ADFA848178AF}"/>
                </a:ext>
              </a:extLst>
            </p:cNvPr>
            <p:cNvSpPr/>
            <p:nvPr/>
          </p:nvSpPr>
          <p:spPr>
            <a:xfrm>
              <a:off x="430599" y="2616147"/>
              <a:ext cx="2121408" cy="1060704"/>
            </a:xfrm>
            <a:prstGeom prst="roundRect">
              <a:avLst>
                <a:gd name="adj" fmla="val 12914"/>
              </a:avLst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MES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10326D5-3631-23FB-98AB-6B1E848902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3999" y="2616147"/>
              <a:ext cx="9070330" cy="1443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Minimum efficient scale</a:t>
              </a:r>
            </a:p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Lowest point on Long Run Average Cost (LRAC) curve</a:t>
              </a:r>
            </a:p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Point where LRMC and LRAC intersect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374189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Profit maximization – competitive firms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49F949C-C629-70C7-0744-B089197AB9F7}"/>
              </a:ext>
            </a:extLst>
          </p:cNvPr>
          <p:cNvGrpSpPr/>
          <p:nvPr/>
        </p:nvGrpSpPr>
        <p:grpSpPr>
          <a:xfrm>
            <a:off x="430599" y="2588526"/>
            <a:ext cx="11293730" cy="1443665"/>
            <a:chOff x="430599" y="2616147"/>
            <a:chExt cx="11293730" cy="1443665"/>
          </a:xfrm>
        </p:grpSpPr>
        <p:sp>
          <p:nvSpPr>
            <p:cNvPr id="36" name="Rounded Rectangle 35"/>
            <p:cNvSpPr/>
            <p:nvPr/>
          </p:nvSpPr>
          <p:spPr>
            <a:xfrm>
              <a:off x="430599" y="2616147"/>
              <a:ext cx="2121408" cy="1060704"/>
            </a:xfrm>
            <a:prstGeom prst="roundRect">
              <a:avLst>
                <a:gd name="adj" fmla="val 12914"/>
              </a:avLst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Should we produce?</a:t>
              </a:r>
            </a:p>
          </p:txBody>
        </p:sp>
        <p:sp>
          <p:nvSpPr>
            <p:cNvPr id="37" name="Rectangle 3"/>
            <p:cNvSpPr txBox="1">
              <a:spLocks noChangeArrowheads="1"/>
            </p:cNvSpPr>
            <p:nvPr/>
          </p:nvSpPr>
          <p:spPr bwMode="auto">
            <a:xfrm>
              <a:off x="2653999" y="2616147"/>
              <a:ext cx="9070330" cy="1443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If P ≥ AC where MR = MC</a:t>
              </a:r>
            </a:p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Short-run: P ≥ AVC + AAFC (average avoidable fixed costs)</a:t>
              </a:r>
            </a:p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Long-run: P ≥ ATC</a:t>
              </a:r>
            </a:p>
          </p:txBody>
        </p: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C3AF8B-539F-61D4-9B8A-7FFF5F390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1D67-3917-4D1D-B396-6BD35EFCEE75}" type="slidenum">
              <a:rPr lang="en-US" altLang="en-US" smtClean="0"/>
              <a:pPr/>
              <a:t>8</a:t>
            </a:fld>
            <a:endParaRPr lang="en-US" alt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1952BB1-39F5-42E5-DD6B-F11732F3AF28}"/>
              </a:ext>
            </a:extLst>
          </p:cNvPr>
          <p:cNvGrpSpPr/>
          <p:nvPr/>
        </p:nvGrpSpPr>
        <p:grpSpPr>
          <a:xfrm>
            <a:off x="430599" y="1176690"/>
            <a:ext cx="11293731" cy="1060704"/>
            <a:chOff x="430599" y="1176690"/>
            <a:chExt cx="11293731" cy="1060704"/>
          </a:xfrm>
        </p:grpSpPr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0DEC31FC-915B-AEF1-E5E4-78888EF02AF3}"/>
                </a:ext>
              </a:extLst>
            </p:cNvPr>
            <p:cNvSpPr/>
            <p:nvPr/>
          </p:nvSpPr>
          <p:spPr>
            <a:xfrm>
              <a:off x="430599" y="1176690"/>
              <a:ext cx="2121408" cy="1060704"/>
            </a:xfrm>
            <a:prstGeom prst="roundRect">
              <a:avLst>
                <a:gd name="adj" fmla="val 15319"/>
              </a:avLst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How much to produce?</a:t>
              </a:r>
            </a:p>
          </p:txBody>
        </p:sp>
        <p:sp>
          <p:nvSpPr>
            <p:cNvPr id="22" name="Rectangle 3">
              <a:extLst>
                <a:ext uri="{FF2B5EF4-FFF2-40B4-BE49-F238E27FC236}">
                  <a16:creationId xmlns:a16="http://schemas.microsoft.com/office/drawing/2014/main" id="{06211270-3F6B-DB89-0354-BDC139C9F6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4000" y="1179488"/>
              <a:ext cx="9070330" cy="9604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Marginal revenue = marginal cost [MR = MC]</a:t>
              </a:r>
            </a:p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MR = P for competitive firm, so reduces to P = MC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32AB2101-BDB9-B83F-30E5-F573136D5608}"/>
              </a:ext>
            </a:extLst>
          </p:cNvPr>
          <p:cNvGrpSpPr/>
          <p:nvPr/>
        </p:nvGrpSpPr>
        <p:grpSpPr>
          <a:xfrm>
            <a:off x="430599" y="4383323"/>
            <a:ext cx="11293730" cy="1443665"/>
            <a:chOff x="430599" y="2616147"/>
            <a:chExt cx="11293730" cy="1443665"/>
          </a:xfrm>
        </p:grpSpPr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B66A3566-A2FF-5887-899E-ADFA848178AF}"/>
                </a:ext>
              </a:extLst>
            </p:cNvPr>
            <p:cNvSpPr/>
            <p:nvPr/>
          </p:nvSpPr>
          <p:spPr>
            <a:xfrm>
              <a:off x="430599" y="2616147"/>
              <a:ext cx="2121408" cy="1060704"/>
            </a:xfrm>
            <a:prstGeom prst="roundRect">
              <a:avLst>
                <a:gd name="adj" fmla="val 12914"/>
              </a:avLst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Entry/exit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10326D5-3631-23FB-98AB-6B1E848902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3999" y="2616147"/>
              <a:ext cx="9070330" cy="1443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If </a:t>
              </a:r>
              <a:r>
                <a:rPr lang="en-US" altLang="en-US" sz="2400" kern="0" dirty="0" err="1">
                  <a:ea typeface="ＭＳ Ｐゴシック" pitchFamily="34" charset="-128"/>
                  <a:cs typeface="Calibri" panose="020F0502020204030204" pitchFamily="34" charset="0"/>
                </a:rPr>
                <a:t>Profits</a:t>
              </a:r>
              <a:r>
                <a:rPr lang="en-US" altLang="en-US" sz="2400" kern="0" baseline="-25000" dirty="0" err="1">
                  <a:ea typeface="ＭＳ Ｐゴシック" pitchFamily="34" charset="-128"/>
                  <a:cs typeface="Calibri" panose="020F0502020204030204" pitchFamily="34" charset="0"/>
                </a:rPr>
                <a:t>Long</a:t>
              </a:r>
              <a:r>
                <a:rPr lang="en-US" altLang="en-US" sz="2400" kern="0" baseline="-25000" dirty="0">
                  <a:ea typeface="ＭＳ Ｐゴシック" pitchFamily="34" charset="-128"/>
                  <a:cs typeface="Calibri" panose="020F0502020204030204" pitchFamily="34" charset="0"/>
                </a:rPr>
                <a:t> run</a:t>
              </a: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 &gt; 0, then firms will enter</a:t>
              </a:r>
            </a:p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If </a:t>
              </a:r>
              <a:r>
                <a:rPr lang="en-US" altLang="en-US" sz="2400" kern="0" dirty="0" err="1">
                  <a:ea typeface="ＭＳ Ｐゴシック" pitchFamily="34" charset="-128"/>
                  <a:cs typeface="Calibri" panose="020F0502020204030204" pitchFamily="34" charset="0"/>
                </a:rPr>
                <a:t>Profits</a:t>
              </a:r>
              <a:r>
                <a:rPr lang="en-US" altLang="en-US" sz="2400" kern="0" baseline="-25000" dirty="0" err="1">
                  <a:ea typeface="ＭＳ Ｐゴシック" pitchFamily="34" charset="-128"/>
                  <a:cs typeface="Calibri" panose="020F0502020204030204" pitchFamily="34" charset="0"/>
                </a:rPr>
                <a:t>Long</a:t>
              </a:r>
              <a:r>
                <a:rPr lang="en-US" altLang="en-US" sz="2400" kern="0" baseline="-25000" dirty="0">
                  <a:ea typeface="ＭＳ Ｐゴシック" pitchFamily="34" charset="-128"/>
                  <a:cs typeface="Calibri" panose="020F0502020204030204" pitchFamily="34" charset="0"/>
                </a:rPr>
                <a:t> run</a:t>
              </a: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 &lt; 0, then firms will exit</a:t>
              </a:r>
            </a:p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If </a:t>
              </a:r>
              <a:r>
                <a:rPr lang="en-US" altLang="en-US" sz="2400" kern="0" dirty="0" err="1">
                  <a:ea typeface="ＭＳ Ｐゴシック" pitchFamily="34" charset="-128"/>
                  <a:cs typeface="Calibri" panose="020F0502020204030204" pitchFamily="34" charset="0"/>
                </a:rPr>
                <a:t>Profits</a:t>
              </a:r>
              <a:r>
                <a:rPr lang="en-US" altLang="en-US" sz="2400" kern="0" baseline="-25000" dirty="0" err="1">
                  <a:ea typeface="ＭＳ Ｐゴシック" pitchFamily="34" charset="-128"/>
                  <a:cs typeface="Calibri" panose="020F0502020204030204" pitchFamily="34" charset="0"/>
                </a:rPr>
                <a:t>Long</a:t>
              </a:r>
              <a:r>
                <a:rPr lang="en-US" altLang="en-US" sz="2400" kern="0" baseline="-25000" dirty="0">
                  <a:ea typeface="ＭＳ Ｐゴシック" pitchFamily="34" charset="-128"/>
                  <a:cs typeface="Calibri" panose="020F0502020204030204" pitchFamily="34" charset="0"/>
                </a:rPr>
                <a:t> run</a:t>
              </a: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 = 0, no entry or exit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208808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Profit maximization – competitive firms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49F949C-C629-70C7-0744-B089197AB9F7}"/>
              </a:ext>
            </a:extLst>
          </p:cNvPr>
          <p:cNvGrpSpPr/>
          <p:nvPr/>
        </p:nvGrpSpPr>
        <p:grpSpPr>
          <a:xfrm>
            <a:off x="430599" y="2588526"/>
            <a:ext cx="11293730" cy="1443665"/>
            <a:chOff x="430599" y="2616147"/>
            <a:chExt cx="11293730" cy="1443665"/>
          </a:xfrm>
        </p:grpSpPr>
        <p:sp>
          <p:nvSpPr>
            <p:cNvPr id="36" name="Rounded Rectangle 35"/>
            <p:cNvSpPr/>
            <p:nvPr/>
          </p:nvSpPr>
          <p:spPr>
            <a:xfrm>
              <a:off x="430599" y="2616147"/>
              <a:ext cx="2121408" cy="1060704"/>
            </a:xfrm>
            <a:prstGeom prst="roundRect">
              <a:avLst>
                <a:gd name="adj" fmla="val 12914"/>
              </a:avLst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Long-run equilibrium</a:t>
              </a:r>
            </a:p>
          </p:txBody>
        </p:sp>
        <p:sp>
          <p:nvSpPr>
            <p:cNvPr id="37" name="Rectangle 3"/>
            <p:cNvSpPr txBox="1">
              <a:spLocks noChangeArrowheads="1"/>
            </p:cNvSpPr>
            <p:nvPr/>
          </p:nvSpPr>
          <p:spPr bwMode="auto">
            <a:xfrm>
              <a:off x="2653999" y="2616147"/>
              <a:ext cx="9070330" cy="1443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Market demand = Market supply</a:t>
              </a:r>
            </a:p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Firms maximize profit (MR = MC, or P = MC)</a:t>
              </a:r>
            </a:p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Firms collect zero economic profit (P = ATC)</a:t>
              </a:r>
            </a:p>
          </p:txBody>
        </p: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C3AF8B-539F-61D4-9B8A-7FFF5F390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1D67-3917-4D1D-B396-6BD35EFCEE75}" type="slidenum">
              <a:rPr lang="en-US" altLang="en-US" smtClean="0"/>
              <a:pPr/>
              <a:t>9</a:t>
            </a:fld>
            <a:endParaRPr lang="en-US" alt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1952BB1-39F5-42E5-DD6B-F11732F3AF28}"/>
              </a:ext>
            </a:extLst>
          </p:cNvPr>
          <p:cNvGrpSpPr/>
          <p:nvPr/>
        </p:nvGrpSpPr>
        <p:grpSpPr>
          <a:xfrm>
            <a:off x="430599" y="1176690"/>
            <a:ext cx="11293731" cy="1060704"/>
            <a:chOff x="430599" y="1176690"/>
            <a:chExt cx="11293731" cy="1060704"/>
          </a:xfrm>
        </p:grpSpPr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0DEC31FC-915B-AEF1-E5E4-78888EF02AF3}"/>
                </a:ext>
              </a:extLst>
            </p:cNvPr>
            <p:cNvSpPr/>
            <p:nvPr/>
          </p:nvSpPr>
          <p:spPr>
            <a:xfrm>
              <a:off x="430599" y="1176690"/>
              <a:ext cx="2121408" cy="1060704"/>
            </a:xfrm>
            <a:prstGeom prst="roundRect">
              <a:avLst>
                <a:gd name="adj" fmla="val 15319"/>
              </a:avLst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Short-run equilibrium</a:t>
              </a:r>
            </a:p>
          </p:txBody>
        </p:sp>
        <p:sp>
          <p:nvSpPr>
            <p:cNvPr id="22" name="Rectangle 3">
              <a:extLst>
                <a:ext uri="{FF2B5EF4-FFF2-40B4-BE49-F238E27FC236}">
                  <a16:creationId xmlns:a16="http://schemas.microsoft.com/office/drawing/2014/main" id="{06211270-3F6B-DB89-0354-BDC139C9F6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4000" y="1179488"/>
              <a:ext cx="9070330" cy="9604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Market demand = Market supply</a:t>
              </a:r>
            </a:p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Firms maximize profit (MR = MC, or P = MC)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41935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609600" y="66171"/>
            <a:ext cx="10972800" cy="1200329"/>
          </a:xfrm>
        </p:spPr>
        <p:txBody>
          <a:bodyPr/>
          <a:lstStyle/>
          <a:p>
            <a:r>
              <a:rPr lang="en-US" dirty="0"/>
              <a:t>Oligopolies fall between perfect competition and monopolies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CB21D2E4-CA84-B1F2-9FD1-7DDB815640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719" y="2520423"/>
            <a:ext cx="162359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2400">
                <a:solidFill>
                  <a:schemeClr val="tx1"/>
                </a:solidFill>
                <a:latin typeface="Clarika Grotesque" panose="00000500000000000000" pitchFamily="50" charset="0"/>
                <a:ea typeface="+mn-ea"/>
                <a:cs typeface="+mn-cs"/>
              </a:defRPr>
            </a:lvl1pPr>
            <a:lvl2pPr marL="193685" indent="-192098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larika Grotesque" panose="00000500000000000000" pitchFamily="50" charset="0"/>
              </a:defRPr>
            </a:lvl2pPr>
            <a:lvl3pPr marL="457223" indent="-261951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larika Grotesque" panose="00000500000000000000" pitchFamily="50" charset="0"/>
              </a:defRPr>
            </a:lvl3pPr>
            <a:lvl4pPr marL="614394" indent="-155583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larika Grotesque" panose="00000500000000000000" pitchFamily="50" charset="0"/>
              </a:defRPr>
            </a:lvl4pPr>
            <a:lvl5pPr marL="746162" indent="-130181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larika Grotesque" panose="00000500000000000000" pitchFamily="50" charset="0"/>
              </a:defRPr>
            </a:lvl5pPr>
            <a:lvl6pPr marL="1203386" indent="-130181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>
                <a:solidFill>
                  <a:schemeClr val="tx1"/>
                </a:solidFill>
                <a:latin typeface="+mn-lt"/>
              </a:defRPr>
            </a:lvl6pPr>
            <a:lvl7pPr marL="1660608" indent="-130181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>
                <a:solidFill>
                  <a:schemeClr val="tx1"/>
                </a:solidFill>
                <a:latin typeface="+mn-lt"/>
              </a:defRPr>
            </a:lvl7pPr>
            <a:lvl8pPr marL="2117831" indent="-130181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>
                <a:solidFill>
                  <a:schemeClr val="tx1"/>
                </a:solidFill>
                <a:latin typeface="+mn-lt"/>
              </a:defRPr>
            </a:lvl8pPr>
            <a:lvl9pPr marL="2575054" indent="-130181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Description</a:t>
            </a:r>
          </a:p>
        </p:txBody>
      </p:sp>
      <p:sp>
        <p:nvSpPr>
          <p:cNvPr id="9" name="AutoShape 4">
            <a:extLst>
              <a:ext uri="{FF2B5EF4-FFF2-40B4-BE49-F238E27FC236}">
                <a16:creationId xmlns:a16="http://schemas.microsoft.com/office/drawing/2014/main" id="{0FC66E11-8456-05BE-9B82-5A96DED521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4208" y="1127633"/>
            <a:ext cx="10169604" cy="1279598"/>
          </a:xfrm>
          <a:prstGeom prst="leftRightArrow">
            <a:avLst>
              <a:gd name="adj1" fmla="val 62213"/>
              <a:gd name="adj2" fmla="val 55230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solidFill>
                <a:schemeClr val="bg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0266167D-CB48-25D9-7D0F-3FA08D7821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0325" y="1398100"/>
            <a:ext cx="2056989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2400">
                <a:solidFill>
                  <a:schemeClr val="tx1"/>
                </a:solidFill>
                <a:latin typeface="Clarika Grotesque" panose="00000500000000000000" pitchFamily="50" charset="0"/>
                <a:ea typeface="+mn-ea"/>
                <a:cs typeface="+mn-cs"/>
              </a:defRPr>
            </a:lvl1pPr>
            <a:lvl2pPr marL="193685" indent="-192098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larika Grotesque" panose="00000500000000000000" pitchFamily="50" charset="0"/>
              </a:defRPr>
            </a:lvl2pPr>
            <a:lvl3pPr marL="457223" indent="-261951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larika Grotesque" panose="00000500000000000000" pitchFamily="50" charset="0"/>
              </a:defRPr>
            </a:lvl3pPr>
            <a:lvl4pPr marL="614394" indent="-155583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larika Grotesque" panose="00000500000000000000" pitchFamily="50" charset="0"/>
              </a:defRPr>
            </a:lvl4pPr>
            <a:lvl5pPr marL="746162" indent="-130181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larika Grotesque" panose="00000500000000000000" pitchFamily="50" charset="0"/>
              </a:defRPr>
            </a:lvl5pPr>
            <a:lvl6pPr marL="1203386" indent="-130181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>
                <a:solidFill>
                  <a:schemeClr val="tx1"/>
                </a:solidFill>
                <a:latin typeface="+mn-lt"/>
              </a:defRPr>
            </a:lvl6pPr>
            <a:lvl7pPr marL="1660608" indent="-130181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>
                <a:solidFill>
                  <a:schemeClr val="tx1"/>
                </a:solidFill>
                <a:latin typeface="+mn-lt"/>
              </a:defRPr>
            </a:lvl7pPr>
            <a:lvl8pPr marL="2117831" indent="-130181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>
                <a:solidFill>
                  <a:schemeClr val="tx1"/>
                </a:solidFill>
                <a:latin typeface="+mn-lt"/>
              </a:defRPr>
            </a:lvl8pPr>
            <a:lvl9pPr marL="2575054" indent="-130181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b="1" kern="0" dirty="0">
                <a:solidFill>
                  <a:schemeClr val="tx2"/>
                </a:solidFill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Perfect competition</a:t>
            </a:r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0D960EE5-4A5C-F1E2-63C9-6C6B180980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8990" y="1582766"/>
            <a:ext cx="143849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2400">
                <a:solidFill>
                  <a:schemeClr val="tx1"/>
                </a:solidFill>
                <a:latin typeface="Clarika Grotesque" panose="00000500000000000000" pitchFamily="50" charset="0"/>
                <a:ea typeface="+mn-ea"/>
                <a:cs typeface="+mn-cs"/>
              </a:defRPr>
            </a:lvl1pPr>
            <a:lvl2pPr marL="193685" indent="-192098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larika Grotesque" panose="00000500000000000000" pitchFamily="50" charset="0"/>
              </a:defRPr>
            </a:lvl2pPr>
            <a:lvl3pPr marL="457223" indent="-261951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larika Grotesque" panose="00000500000000000000" pitchFamily="50" charset="0"/>
              </a:defRPr>
            </a:lvl3pPr>
            <a:lvl4pPr marL="614394" indent="-155583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larika Grotesque" panose="00000500000000000000" pitchFamily="50" charset="0"/>
              </a:defRPr>
            </a:lvl4pPr>
            <a:lvl5pPr marL="746162" indent="-130181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larika Grotesque" panose="00000500000000000000" pitchFamily="50" charset="0"/>
              </a:defRPr>
            </a:lvl5pPr>
            <a:lvl6pPr marL="1203386" indent="-130181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>
                <a:solidFill>
                  <a:schemeClr val="tx1"/>
                </a:solidFill>
                <a:latin typeface="+mn-lt"/>
              </a:defRPr>
            </a:lvl6pPr>
            <a:lvl7pPr marL="1660608" indent="-130181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>
                <a:solidFill>
                  <a:schemeClr val="tx1"/>
                </a:solidFill>
                <a:latin typeface="+mn-lt"/>
              </a:defRPr>
            </a:lvl7pPr>
            <a:lvl8pPr marL="2117831" indent="-130181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>
                <a:solidFill>
                  <a:schemeClr val="tx1"/>
                </a:solidFill>
                <a:latin typeface="+mn-lt"/>
              </a:defRPr>
            </a:lvl8pPr>
            <a:lvl9pPr marL="2575054" indent="-130181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b="1" kern="0" dirty="0">
                <a:solidFill>
                  <a:schemeClr val="tx2"/>
                </a:solidFill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Oligopoly</a:t>
            </a:r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24F6FF0A-B1E2-B609-7EC8-62EACD8524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48212" y="1582766"/>
            <a:ext cx="143849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2400">
                <a:solidFill>
                  <a:schemeClr val="tx1"/>
                </a:solidFill>
                <a:latin typeface="Clarika Grotesque" panose="00000500000000000000" pitchFamily="50" charset="0"/>
                <a:ea typeface="+mn-ea"/>
                <a:cs typeface="+mn-cs"/>
              </a:defRPr>
            </a:lvl1pPr>
            <a:lvl2pPr marL="193685" indent="-192098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larika Grotesque" panose="00000500000000000000" pitchFamily="50" charset="0"/>
              </a:defRPr>
            </a:lvl2pPr>
            <a:lvl3pPr marL="457223" indent="-261951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larika Grotesque" panose="00000500000000000000" pitchFamily="50" charset="0"/>
              </a:defRPr>
            </a:lvl3pPr>
            <a:lvl4pPr marL="614394" indent="-155583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larika Grotesque" panose="00000500000000000000" pitchFamily="50" charset="0"/>
              </a:defRPr>
            </a:lvl4pPr>
            <a:lvl5pPr marL="746162" indent="-130181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larika Grotesque" panose="00000500000000000000" pitchFamily="50" charset="0"/>
              </a:defRPr>
            </a:lvl5pPr>
            <a:lvl6pPr marL="1203386" indent="-130181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>
                <a:solidFill>
                  <a:schemeClr val="tx1"/>
                </a:solidFill>
                <a:latin typeface="+mn-lt"/>
              </a:defRPr>
            </a:lvl6pPr>
            <a:lvl7pPr marL="1660608" indent="-130181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>
                <a:solidFill>
                  <a:schemeClr val="tx1"/>
                </a:solidFill>
                <a:latin typeface="+mn-lt"/>
              </a:defRPr>
            </a:lvl7pPr>
            <a:lvl8pPr marL="2117831" indent="-130181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>
                <a:solidFill>
                  <a:schemeClr val="tx1"/>
                </a:solidFill>
                <a:latin typeface="+mn-lt"/>
              </a:defRPr>
            </a:lvl8pPr>
            <a:lvl9pPr marL="2575054" indent="-130181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b="1" kern="0" dirty="0">
                <a:solidFill>
                  <a:schemeClr val="tx2"/>
                </a:solidFill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Monopoly</a:t>
            </a:r>
          </a:p>
        </p:txBody>
      </p:sp>
      <p:sp>
        <p:nvSpPr>
          <p:cNvPr id="14" name="Rectangle 9">
            <a:extLst>
              <a:ext uri="{FF2B5EF4-FFF2-40B4-BE49-F238E27FC236}">
                <a16:creationId xmlns:a16="http://schemas.microsoft.com/office/drawing/2014/main" id="{FD3938DC-6A6C-FFDB-1160-5A8DD77FEE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0324" y="2520423"/>
            <a:ext cx="2764561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2400">
                <a:solidFill>
                  <a:schemeClr val="tx1"/>
                </a:solidFill>
                <a:latin typeface="Clarika Grotesque" panose="00000500000000000000" pitchFamily="50" charset="0"/>
                <a:ea typeface="+mn-ea"/>
                <a:cs typeface="+mn-cs"/>
              </a:defRPr>
            </a:lvl1pPr>
            <a:lvl2pPr marL="193685" indent="-192098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larika Grotesque" panose="00000500000000000000" pitchFamily="50" charset="0"/>
              </a:defRPr>
            </a:lvl2pPr>
            <a:lvl3pPr marL="457223" indent="-261951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larika Grotesque" panose="00000500000000000000" pitchFamily="50" charset="0"/>
              </a:defRPr>
            </a:lvl3pPr>
            <a:lvl4pPr marL="614394" indent="-155583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larika Grotesque" panose="00000500000000000000" pitchFamily="50" charset="0"/>
              </a:defRPr>
            </a:lvl4pPr>
            <a:lvl5pPr marL="746162" indent="-130181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larika Grotesque" panose="00000500000000000000" pitchFamily="50" charset="0"/>
              </a:defRPr>
            </a:lvl5pPr>
            <a:lvl6pPr marL="1203386" indent="-130181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>
                <a:solidFill>
                  <a:schemeClr val="tx1"/>
                </a:solidFill>
                <a:latin typeface="+mn-lt"/>
              </a:defRPr>
            </a:lvl6pPr>
            <a:lvl7pPr marL="1660608" indent="-130181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>
                <a:solidFill>
                  <a:schemeClr val="tx1"/>
                </a:solidFill>
                <a:latin typeface="+mn-lt"/>
              </a:defRPr>
            </a:lvl7pPr>
            <a:lvl8pPr marL="2117831" indent="-130181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>
                <a:solidFill>
                  <a:schemeClr val="tx1"/>
                </a:solidFill>
                <a:latin typeface="+mn-lt"/>
              </a:defRPr>
            </a:lvl8pPr>
            <a:lvl9pPr marL="2575054" indent="-130181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lvl="1">
              <a:buClr>
                <a:schemeClr val="tx1"/>
              </a:buClr>
              <a:buSzPct val="100000"/>
            </a:pPr>
            <a:r>
              <a:rPr lang="en-US" kern="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Multiple competitors, none with ability to affect market price</a:t>
            </a:r>
          </a:p>
          <a:p>
            <a:pPr lvl="1">
              <a:buClr>
                <a:schemeClr val="tx1"/>
              </a:buClr>
              <a:buSzPct val="100000"/>
            </a:pPr>
            <a:r>
              <a:rPr lang="en-US" kern="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Firms select optimal production point</a:t>
            </a:r>
          </a:p>
          <a:p>
            <a:pPr lvl="1">
              <a:buClr>
                <a:schemeClr val="tx1"/>
              </a:buClr>
              <a:buSzPct val="100000"/>
            </a:pPr>
            <a:r>
              <a:rPr lang="en-US" kern="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P = MC</a:t>
            </a:r>
          </a:p>
          <a:p>
            <a:pPr lvl="1">
              <a:buClr>
                <a:schemeClr val="tx1"/>
              </a:buClr>
              <a:buSzPct val="100000"/>
            </a:pPr>
            <a:r>
              <a:rPr lang="en-US" kern="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E.g., restaurants, hair salons</a:t>
            </a:r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8B113BCC-A3BE-8CD8-9141-467784DABF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8988" y="2520422"/>
            <a:ext cx="2940725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2400">
                <a:solidFill>
                  <a:schemeClr val="tx1"/>
                </a:solidFill>
                <a:latin typeface="Clarika Grotesque" panose="00000500000000000000" pitchFamily="50" charset="0"/>
                <a:ea typeface="+mn-ea"/>
                <a:cs typeface="+mn-cs"/>
              </a:defRPr>
            </a:lvl1pPr>
            <a:lvl2pPr marL="193685" indent="-192098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larika Grotesque" panose="00000500000000000000" pitchFamily="50" charset="0"/>
              </a:defRPr>
            </a:lvl2pPr>
            <a:lvl3pPr marL="457223" indent="-261951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larika Grotesque" panose="00000500000000000000" pitchFamily="50" charset="0"/>
              </a:defRPr>
            </a:lvl3pPr>
            <a:lvl4pPr marL="614394" indent="-155583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larika Grotesque" panose="00000500000000000000" pitchFamily="50" charset="0"/>
              </a:defRPr>
            </a:lvl4pPr>
            <a:lvl5pPr marL="746162" indent="-130181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larika Grotesque" panose="00000500000000000000" pitchFamily="50" charset="0"/>
              </a:defRPr>
            </a:lvl5pPr>
            <a:lvl6pPr marL="1203386" indent="-130181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>
                <a:solidFill>
                  <a:schemeClr val="tx1"/>
                </a:solidFill>
                <a:latin typeface="+mn-lt"/>
              </a:defRPr>
            </a:lvl6pPr>
            <a:lvl7pPr marL="1660608" indent="-130181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>
                <a:solidFill>
                  <a:schemeClr val="tx1"/>
                </a:solidFill>
                <a:latin typeface="+mn-lt"/>
              </a:defRPr>
            </a:lvl7pPr>
            <a:lvl8pPr marL="2117831" indent="-130181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>
                <a:solidFill>
                  <a:schemeClr val="tx1"/>
                </a:solidFill>
                <a:latin typeface="+mn-lt"/>
              </a:defRPr>
            </a:lvl8pPr>
            <a:lvl9pPr marL="2575054" indent="-130181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lvl="1">
              <a:buClr>
                <a:schemeClr val="tx1"/>
              </a:buClr>
              <a:buSzPct val="100000"/>
            </a:pPr>
            <a:r>
              <a:rPr lang="en-US" kern="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Several competitors, each with some pricing power</a:t>
            </a:r>
          </a:p>
          <a:p>
            <a:pPr lvl="1">
              <a:buClr>
                <a:schemeClr val="tx1"/>
              </a:buClr>
              <a:buSzPct val="100000"/>
            </a:pPr>
            <a:r>
              <a:rPr lang="en-US" kern="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Firms focus on either price or quantity when setting strategy</a:t>
            </a:r>
          </a:p>
          <a:p>
            <a:pPr lvl="1">
              <a:buClr>
                <a:schemeClr val="tx1"/>
              </a:buClr>
              <a:buSzPct val="100000"/>
            </a:pPr>
            <a:r>
              <a:rPr lang="en-US" kern="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Profit maximization depends on strategic interaction</a:t>
            </a:r>
          </a:p>
          <a:p>
            <a:pPr lvl="1">
              <a:buClr>
                <a:schemeClr val="tx1"/>
              </a:buClr>
              <a:buSzPct val="100000"/>
            </a:pPr>
            <a:r>
              <a:rPr lang="en-US" kern="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E.g., soft drinks</a:t>
            </a:r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9DA9B70A-D465-09C1-0CC1-34AA97636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8926" y="2520422"/>
            <a:ext cx="2147782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2400">
                <a:solidFill>
                  <a:schemeClr val="tx1"/>
                </a:solidFill>
                <a:latin typeface="Clarika Grotesque" panose="00000500000000000000" pitchFamily="50" charset="0"/>
                <a:ea typeface="+mn-ea"/>
                <a:cs typeface="+mn-cs"/>
              </a:defRPr>
            </a:lvl1pPr>
            <a:lvl2pPr marL="193685" indent="-192098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5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larika Grotesque" panose="00000500000000000000" pitchFamily="50" charset="0"/>
              </a:defRPr>
            </a:lvl2pPr>
            <a:lvl3pPr marL="457223" indent="-261951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larika Grotesque" panose="00000500000000000000" pitchFamily="50" charset="0"/>
              </a:defRPr>
            </a:lvl3pPr>
            <a:lvl4pPr marL="614394" indent="-155583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larika Grotesque" panose="00000500000000000000" pitchFamily="50" charset="0"/>
              </a:defRPr>
            </a:lvl4pPr>
            <a:lvl5pPr marL="746162" indent="-130181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larika Grotesque" panose="00000500000000000000" pitchFamily="50" charset="0"/>
              </a:defRPr>
            </a:lvl5pPr>
            <a:lvl6pPr marL="1203386" indent="-130181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>
                <a:solidFill>
                  <a:schemeClr val="tx1"/>
                </a:solidFill>
                <a:latin typeface="+mn-lt"/>
              </a:defRPr>
            </a:lvl6pPr>
            <a:lvl7pPr marL="1660608" indent="-130181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>
                <a:solidFill>
                  <a:schemeClr val="tx1"/>
                </a:solidFill>
                <a:latin typeface="+mn-lt"/>
              </a:defRPr>
            </a:lvl7pPr>
            <a:lvl8pPr marL="2117831" indent="-130181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>
                <a:solidFill>
                  <a:schemeClr val="tx1"/>
                </a:solidFill>
                <a:latin typeface="+mn-lt"/>
              </a:defRPr>
            </a:lvl8pPr>
            <a:lvl9pPr marL="2575054" indent="-130181" algn="l" defTabSz="895395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lvl="1">
              <a:buClr>
                <a:schemeClr val="tx1"/>
              </a:buClr>
              <a:buSzPct val="100000"/>
            </a:pPr>
            <a:r>
              <a:rPr lang="en-US" kern="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One company selling in market</a:t>
            </a:r>
          </a:p>
          <a:p>
            <a:pPr lvl="1">
              <a:buClr>
                <a:schemeClr val="tx1"/>
              </a:buClr>
              <a:buSzPct val="100000"/>
            </a:pPr>
            <a:r>
              <a:rPr lang="en-US" kern="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Set price &amp; quantity if unregulated</a:t>
            </a:r>
          </a:p>
          <a:p>
            <a:pPr lvl="1">
              <a:buClr>
                <a:schemeClr val="tx1"/>
              </a:buClr>
              <a:buSzPct val="100000"/>
            </a:pPr>
            <a:r>
              <a:rPr lang="en-US" kern="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MR = MC</a:t>
            </a:r>
          </a:p>
          <a:p>
            <a:pPr lvl="1">
              <a:buClr>
                <a:schemeClr val="tx1"/>
              </a:buClr>
              <a:buSzPct val="100000"/>
            </a:pPr>
            <a:r>
              <a:rPr lang="en-US" kern="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E.g., power distribution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86A883-5F55-5F0E-4709-81A48FC28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0BFFA-A26B-42B9-863F-CA8A50A760A5}" type="slidenum">
              <a:rPr lang="en-US" altLang="en-US" smtClean="0"/>
              <a:pPr/>
              <a:t>10</a:t>
            </a:fld>
            <a:endParaRPr lang="en-US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Oligopoly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49F949C-C629-70C7-0744-B089197AB9F7}"/>
              </a:ext>
            </a:extLst>
          </p:cNvPr>
          <p:cNvGrpSpPr/>
          <p:nvPr/>
        </p:nvGrpSpPr>
        <p:grpSpPr>
          <a:xfrm>
            <a:off x="430599" y="4295518"/>
            <a:ext cx="11293730" cy="2410083"/>
            <a:chOff x="430599" y="2616147"/>
            <a:chExt cx="11293730" cy="2410083"/>
          </a:xfrm>
        </p:grpSpPr>
        <p:sp>
          <p:nvSpPr>
            <p:cNvPr id="36" name="Rounded Rectangle 35"/>
            <p:cNvSpPr/>
            <p:nvPr/>
          </p:nvSpPr>
          <p:spPr>
            <a:xfrm>
              <a:off x="430599" y="2616147"/>
              <a:ext cx="2121408" cy="1060704"/>
            </a:xfrm>
            <a:prstGeom prst="roundRect">
              <a:avLst>
                <a:gd name="adj" fmla="val 12914"/>
              </a:avLst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Herfindahl-Hirschman Index (HHI)</a:t>
              </a:r>
            </a:p>
          </p:txBody>
        </p:sp>
        <p:sp>
          <p:nvSpPr>
            <p:cNvPr id="37" name="Rectangle 3"/>
            <p:cNvSpPr txBox="1">
              <a:spLocks noChangeArrowheads="1"/>
            </p:cNvSpPr>
            <p:nvPr/>
          </p:nvSpPr>
          <p:spPr bwMode="auto">
            <a:xfrm>
              <a:off x="2653999" y="2616147"/>
              <a:ext cx="9070330" cy="24100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Sum the squares of the ALL market shares</a:t>
              </a:r>
            </a:p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 err="1">
                  <a:ea typeface="ＭＳ Ｐゴシック" pitchFamily="34" charset="-128"/>
                  <a:cs typeface="Calibri" panose="020F0502020204030204" pitchFamily="34" charset="0"/>
                </a:rPr>
                <a:t>DoJ</a:t>
              </a: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 guidelines</a:t>
              </a:r>
            </a:p>
            <a:p>
              <a:pPr marL="628650" lvl="1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Unconcentrated (competitive)	HHI &lt; 1,000</a:t>
              </a:r>
            </a:p>
            <a:p>
              <a:pPr marL="628650" lvl="1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Moderately concentrated	[1,000 ; 1,800]</a:t>
              </a:r>
            </a:p>
            <a:p>
              <a:pPr marL="628650" lvl="1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ＭＳ Ｐゴシック" pitchFamily="34" charset="-128"/>
                  <a:cs typeface="Calibri" panose="020F0502020204030204" pitchFamily="34" charset="0"/>
                </a:rPr>
                <a:t>Highly concentrated		HHI &gt; 1,800</a:t>
              </a:r>
            </a:p>
          </p:txBody>
        </p: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C3AF8B-539F-61D4-9B8A-7FFF5F390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1D67-3917-4D1D-B396-6BD35EFCEE75}" type="slidenum">
              <a:rPr lang="en-US" altLang="en-US" smtClean="0"/>
              <a:pPr/>
              <a:t>11</a:t>
            </a:fld>
            <a:endParaRPr lang="en-US" alt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1952BB1-39F5-42E5-DD6B-F11732F3AF28}"/>
              </a:ext>
            </a:extLst>
          </p:cNvPr>
          <p:cNvGrpSpPr/>
          <p:nvPr/>
        </p:nvGrpSpPr>
        <p:grpSpPr>
          <a:xfrm>
            <a:off x="430599" y="1176690"/>
            <a:ext cx="11293731" cy="2896091"/>
            <a:chOff x="430599" y="1176690"/>
            <a:chExt cx="11293731" cy="2896091"/>
          </a:xfrm>
        </p:grpSpPr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0DEC31FC-915B-AEF1-E5E4-78888EF02AF3}"/>
                </a:ext>
              </a:extLst>
            </p:cNvPr>
            <p:cNvSpPr/>
            <p:nvPr/>
          </p:nvSpPr>
          <p:spPr>
            <a:xfrm>
              <a:off x="430599" y="1176690"/>
              <a:ext cx="2121408" cy="1060704"/>
            </a:xfrm>
            <a:prstGeom prst="roundRect">
              <a:avLst>
                <a:gd name="adj" fmla="val 15319"/>
              </a:avLst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X-firm concentration ratio</a:t>
              </a:r>
            </a:p>
          </p:txBody>
        </p:sp>
        <p:sp>
          <p:nvSpPr>
            <p:cNvPr id="22" name="Rectangle 3">
              <a:extLst>
                <a:ext uri="{FF2B5EF4-FFF2-40B4-BE49-F238E27FC236}">
                  <a16:creationId xmlns:a16="http://schemas.microsoft.com/office/drawing/2014/main" id="{06211270-3F6B-DB89-0354-BDC139C9F6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4000" y="1179488"/>
              <a:ext cx="9070330" cy="28932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Sum of market shares of X largest firms</a:t>
              </a:r>
            </a:p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4 firm ratio:</a:t>
              </a:r>
            </a:p>
            <a:p>
              <a:pPr marL="628650" lvl="1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tabLst>
                  <a:tab pos="2282825" algn="l"/>
                </a:tabLst>
              </a:pP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&gt; 60%	Tight oligopoly</a:t>
              </a:r>
            </a:p>
            <a:p>
              <a:pPr marL="628650" lvl="1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tabLst>
                  <a:tab pos="2282825" algn="l"/>
                </a:tabLst>
              </a:pP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[60%, 40%]	Loose oligopoly</a:t>
              </a:r>
            </a:p>
            <a:p>
              <a:pPr marL="628650" lvl="1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tabLst>
                  <a:tab pos="2282825" algn="l"/>
                </a:tabLst>
              </a:pP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&lt; 40%	Effectively competitive</a:t>
              </a:r>
            </a:p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1 firm ratio:	&gt; 90%	Effectively monopoly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787546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0EBC5-9896-5D62-6B3B-59CB7FE7D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oligopoly models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4EDC58-DF96-8102-A4B6-C31F232CEF3F}"/>
              </a:ext>
            </a:extLst>
          </p:cNvPr>
          <p:cNvSpPr txBox="1"/>
          <p:nvPr/>
        </p:nvSpPr>
        <p:spPr>
          <a:xfrm>
            <a:off x="282011" y="1819544"/>
            <a:ext cx="20893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Choice variable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623B19-4912-BE51-6E36-1A9A718DBE4A}"/>
              </a:ext>
            </a:extLst>
          </p:cNvPr>
          <p:cNvSpPr txBox="1"/>
          <p:nvPr/>
        </p:nvSpPr>
        <p:spPr>
          <a:xfrm>
            <a:off x="282011" y="2338845"/>
            <a:ext cx="21627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Timing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C74282-3639-1E09-72D3-362834FB6C72}"/>
              </a:ext>
            </a:extLst>
          </p:cNvPr>
          <p:cNvSpPr txBox="1"/>
          <p:nvPr/>
        </p:nvSpPr>
        <p:spPr>
          <a:xfrm>
            <a:off x="282011" y="2860282"/>
            <a:ext cx="21627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Solution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9140E0-FA54-AA5A-2966-34227C9CDF90}"/>
              </a:ext>
            </a:extLst>
          </p:cNvPr>
          <p:cNvSpPr txBox="1"/>
          <p:nvPr/>
        </p:nvSpPr>
        <p:spPr>
          <a:xfrm>
            <a:off x="5924516" y="1819544"/>
            <a:ext cx="28716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Quantity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14CEA9-49C6-8B81-399C-0D7EE80E7648}"/>
              </a:ext>
            </a:extLst>
          </p:cNvPr>
          <p:cNvSpPr txBox="1"/>
          <p:nvPr/>
        </p:nvSpPr>
        <p:spPr>
          <a:xfrm>
            <a:off x="9172199" y="1819544"/>
            <a:ext cx="28716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Quantity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011D8D-8E18-156C-A1B1-C22EF2AEC5BA}"/>
              </a:ext>
            </a:extLst>
          </p:cNvPr>
          <p:cNvSpPr txBox="1"/>
          <p:nvPr/>
        </p:nvSpPr>
        <p:spPr>
          <a:xfrm>
            <a:off x="2768276" y="1819544"/>
            <a:ext cx="28716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Price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84BAC8-8816-874B-55C2-C77CB25DF410}"/>
              </a:ext>
            </a:extLst>
          </p:cNvPr>
          <p:cNvSpPr txBox="1"/>
          <p:nvPr/>
        </p:nvSpPr>
        <p:spPr>
          <a:xfrm>
            <a:off x="5924516" y="2338845"/>
            <a:ext cx="28716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Simultaneous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04B40F-ED82-B2A5-2D54-8245F7BBA555}"/>
              </a:ext>
            </a:extLst>
          </p:cNvPr>
          <p:cNvSpPr txBox="1"/>
          <p:nvPr/>
        </p:nvSpPr>
        <p:spPr>
          <a:xfrm>
            <a:off x="9172199" y="2338845"/>
            <a:ext cx="28716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Sequential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124A07-7FFA-58EA-5436-D52C653098A6}"/>
              </a:ext>
            </a:extLst>
          </p:cNvPr>
          <p:cNvSpPr txBox="1"/>
          <p:nvPr/>
        </p:nvSpPr>
        <p:spPr>
          <a:xfrm>
            <a:off x="2768276" y="2338845"/>
            <a:ext cx="28716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Simultaneous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0C8C06-514F-D523-375A-E23643FD869F}"/>
              </a:ext>
            </a:extLst>
          </p:cNvPr>
          <p:cNvSpPr txBox="1"/>
          <p:nvPr/>
        </p:nvSpPr>
        <p:spPr>
          <a:xfrm>
            <a:off x="5924516" y="2860282"/>
            <a:ext cx="316222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9250" indent="-349250">
              <a:buFont typeface="+mj-lt"/>
              <a:buAutoNum type="arabicPeriod"/>
            </a:pPr>
            <a:r>
              <a:rPr lang="en-US" sz="2400" dirty="0" err="1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MR</a:t>
            </a:r>
            <a:r>
              <a:rPr lang="en-US" sz="2400" baseline="-25000" dirty="0" err="1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i</a:t>
            </a:r>
            <a:r>
              <a:rPr lang="en-US" sz="24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 = </a:t>
            </a:r>
            <a:r>
              <a:rPr lang="en-US" sz="2400" dirty="0" err="1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MC</a:t>
            </a:r>
            <a:r>
              <a:rPr lang="en-US" sz="2400" baseline="-25000" dirty="0" err="1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i</a:t>
            </a:r>
            <a:endParaRPr lang="en-US" sz="2400" baseline="-25000" dirty="0">
              <a:latin typeface="Calibri" panose="020F0502020204030204" pitchFamily="34" charset="0"/>
              <a:ea typeface="Source Sans Pro" panose="020B0503030403020204" pitchFamily="34" charset="0"/>
              <a:cs typeface="Calibri" panose="020F0502020204030204" pitchFamily="34" charset="0"/>
            </a:endParaRPr>
          </a:p>
          <a:p>
            <a:pPr marL="806450" lvl="1" indent="-3492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Solve for Q</a:t>
            </a:r>
            <a:r>
              <a:rPr lang="en-US" sz="2400" baseline="-250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i</a:t>
            </a:r>
            <a:r>
              <a:rPr lang="en-US" sz="24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 to get </a:t>
            </a:r>
            <a:r>
              <a:rPr lang="en-US" sz="2400" dirty="0" err="1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BRF</a:t>
            </a:r>
            <a:r>
              <a:rPr lang="en-US" sz="2400" baseline="-25000" dirty="0" err="1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i</a:t>
            </a:r>
            <a:endParaRPr lang="en-US" sz="2400" baseline="-25000" dirty="0">
              <a:latin typeface="Calibri" panose="020F0502020204030204" pitchFamily="34" charset="0"/>
              <a:ea typeface="Source Sans Pro" panose="020B0503030403020204" pitchFamily="34" charset="0"/>
              <a:cs typeface="Calibri" panose="020F0502020204030204" pitchFamily="34" charset="0"/>
            </a:endParaRPr>
          </a:p>
          <a:p>
            <a:pPr marL="349250" indent="-349250">
              <a:buFont typeface="+mj-lt"/>
              <a:buAutoNum type="arabicPeriod"/>
            </a:pPr>
            <a:r>
              <a:rPr lang="en-US" sz="24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Plug BRF</a:t>
            </a:r>
            <a:r>
              <a:rPr lang="en-US" sz="2400" baseline="-250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B</a:t>
            </a:r>
            <a:r>
              <a:rPr lang="en-US" sz="24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 into BRF</a:t>
            </a:r>
            <a:r>
              <a:rPr lang="en-US" sz="2400" baseline="-250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A</a:t>
            </a:r>
          </a:p>
          <a:p>
            <a:pPr marL="806450" lvl="1" indent="-3492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Solve for Q</a:t>
            </a:r>
            <a:r>
              <a:rPr lang="en-US" sz="2400" baseline="-250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A</a:t>
            </a:r>
            <a:endParaRPr lang="en-US" sz="2400" dirty="0">
              <a:latin typeface="Calibri" panose="020F0502020204030204" pitchFamily="34" charset="0"/>
              <a:ea typeface="Source Sans Pro" panose="020B0503030403020204" pitchFamily="34" charset="0"/>
              <a:cs typeface="Calibri" panose="020F0502020204030204" pitchFamily="34" charset="0"/>
            </a:endParaRPr>
          </a:p>
          <a:p>
            <a:pPr marL="349250" indent="-349250">
              <a:buFont typeface="+mj-lt"/>
              <a:buAutoNum type="arabicPeriod"/>
            </a:pPr>
            <a:r>
              <a:rPr lang="en-US" sz="24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Plug Q</a:t>
            </a:r>
            <a:r>
              <a:rPr lang="en-US" sz="2400" baseline="-250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 into BRF</a:t>
            </a:r>
            <a:r>
              <a:rPr lang="en-US" sz="2400" baseline="-250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B</a:t>
            </a:r>
          </a:p>
          <a:p>
            <a:pPr marL="806450" lvl="1" indent="-3492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Solve for Q</a:t>
            </a:r>
            <a:r>
              <a:rPr lang="en-US" sz="2400" baseline="-250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B</a:t>
            </a:r>
            <a:endParaRPr lang="en-US" sz="2400" dirty="0">
              <a:latin typeface="Calibri" panose="020F0502020204030204" pitchFamily="34" charset="0"/>
              <a:ea typeface="Source Sans Pro" panose="020B0503030403020204" pitchFamily="34" charset="0"/>
              <a:cs typeface="Calibri" panose="020F0502020204030204" pitchFamily="34" charset="0"/>
            </a:endParaRPr>
          </a:p>
          <a:p>
            <a:pPr marL="349250" indent="-349250">
              <a:buFont typeface="+mj-lt"/>
              <a:buAutoNum type="arabicPeriod"/>
            </a:pPr>
            <a:r>
              <a:rPr lang="en-US" sz="24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Q = Q</a:t>
            </a:r>
            <a:r>
              <a:rPr lang="en-US" sz="2400" baseline="-250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 + Q</a:t>
            </a:r>
            <a:r>
              <a:rPr lang="en-US" sz="2400" baseline="-250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B</a:t>
            </a:r>
          </a:p>
          <a:p>
            <a:pPr marL="349250" indent="-349250">
              <a:buFont typeface="+mj-lt"/>
              <a:buAutoNum type="arabicPeriod"/>
            </a:pPr>
            <a:r>
              <a:rPr lang="en-US" sz="24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P = P(Q)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D44073-9E59-EA7B-19C9-E5707782871C}"/>
              </a:ext>
            </a:extLst>
          </p:cNvPr>
          <p:cNvSpPr txBox="1"/>
          <p:nvPr/>
        </p:nvSpPr>
        <p:spPr>
          <a:xfrm>
            <a:off x="9172199" y="2860282"/>
            <a:ext cx="287166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9250" indent="-349250">
              <a:buFont typeface="+mj-lt"/>
              <a:buAutoNum type="arabicPeriod"/>
            </a:pPr>
            <a:r>
              <a:rPr lang="en-US" sz="24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If A moves first</a:t>
            </a:r>
          </a:p>
          <a:p>
            <a:pPr marL="349250" indent="-349250">
              <a:buFont typeface="+mj-lt"/>
              <a:buAutoNum type="arabicPeriod"/>
            </a:pPr>
            <a:r>
              <a:rPr lang="en-US" sz="24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Plug BRF</a:t>
            </a:r>
            <a:r>
              <a:rPr lang="en-US" sz="2400" baseline="-250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B</a:t>
            </a:r>
            <a:r>
              <a:rPr lang="en-US" sz="24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 into Inv. </a:t>
            </a:r>
            <a:r>
              <a:rPr lang="en-US" sz="2400" dirty="0" err="1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Demand</a:t>
            </a:r>
            <a:r>
              <a:rPr lang="en-US" sz="2400" baseline="-25000" dirty="0" err="1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 </a:t>
            </a:r>
          </a:p>
          <a:p>
            <a:pPr marL="349250" indent="-349250">
              <a:buFont typeface="+mj-lt"/>
              <a:buAutoNum type="arabicPeriod"/>
            </a:pPr>
            <a:r>
              <a:rPr lang="en-US" sz="24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Calculate MR</a:t>
            </a:r>
            <a:r>
              <a:rPr lang="en-US" sz="2400" baseline="-250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A</a:t>
            </a:r>
          </a:p>
          <a:p>
            <a:pPr marL="349250" indent="-349250">
              <a:buFont typeface="+mj-lt"/>
              <a:buAutoNum type="arabicPeriod"/>
            </a:pPr>
            <a:r>
              <a:rPr lang="en-US" sz="24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MR</a:t>
            </a:r>
            <a:r>
              <a:rPr lang="en-US" sz="2400" baseline="-250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 = MC</a:t>
            </a:r>
            <a:r>
              <a:rPr lang="en-US" sz="2400" baseline="-250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A</a:t>
            </a:r>
            <a:endParaRPr lang="en-US" sz="2400" dirty="0">
              <a:latin typeface="Calibri" panose="020F0502020204030204" pitchFamily="34" charset="0"/>
              <a:ea typeface="Source Sans Pro" panose="020B0503030403020204" pitchFamily="34" charset="0"/>
              <a:cs typeface="Calibri" panose="020F0502020204030204" pitchFamily="34" charset="0"/>
            </a:endParaRPr>
          </a:p>
          <a:p>
            <a:pPr marL="806450" lvl="1" indent="-3492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Solve for Q</a:t>
            </a:r>
            <a:r>
              <a:rPr lang="en-US" sz="2400" baseline="-250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A</a:t>
            </a:r>
            <a:endParaRPr lang="en-US" sz="2400" dirty="0">
              <a:latin typeface="Calibri" panose="020F0502020204030204" pitchFamily="34" charset="0"/>
              <a:ea typeface="Source Sans Pro" panose="020B0503030403020204" pitchFamily="34" charset="0"/>
              <a:cs typeface="Calibri" panose="020F0502020204030204" pitchFamily="34" charset="0"/>
            </a:endParaRPr>
          </a:p>
          <a:p>
            <a:pPr marL="349250" indent="-349250">
              <a:buFont typeface="+mj-lt"/>
              <a:buAutoNum type="arabicPeriod"/>
            </a:pPr>
            <a:r>
              <a:rPr lang="en-US" sz="24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Plug Q</a:t>
            </a:r>
            <a:r>
              <a:rPr lang="en-US" sz="2400" baseline="-250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 into BRF</a:t>
            </a:r>
            <a:r>
              <a:rPr lang="en-US" sz="2400" baseline="-250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B</a:t>
            </a:r>
          </a:p>
          <a:p>
            <a:pPr marL="806450" lvl="1" indent="-3492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Solve for Q</a:t>
            </a:r>
            <a:r>
              <a:rPr lang="en-US" sz="2400" baseline="-250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B</a:t>
            </a:r>
          </a:p>
          <a:p>
            <a:pPr marL="349250" indent="-349250">
              <a:buFont typeface="+mj-lt"/>
              <a:buAutoNum type="arabicPeriod"/>
            </a:pPr>
            <a:r>
              <a:rPr lang="en-US" sz="24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Q = Q</a:t>
            </a:r>
            <a:r>
              <a:rPr lang="en-US" sz="2400" baseline="-250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 + Q</a:t>
            </a:r>
            <a:r>
              <a:rPr lang="en-US" sz="2400" baseline="-250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B</a:t>
            </a:r>
          </a:p>
          <a:p>
            <a:pPr marL="349250" indent="-349250">
              <a:buFont typeface="+mj-lt"/>
              <a:buAutoNum type="arabicPeriod"/>
            </a:pPr>
            <a:r>
              <a:rPr lang="en-US" sz="24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P = P(Q)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181B1E9-21D8-2B43-DBBD-F06CC7A6EF6B}"/>
                  </a:ext>
                </a:extLst>
              </p:cNvPr>
              <p:cNvSpPr txBox="1"/>
              <p:nvPr/>
            </p:nvSpPr>
            <p:spPr>
              <a:xfrm>
                <a:off x="2768276" y="2860282"/>
                <a:ext cx="2871668" cy="35705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9250" indent="-349250">
                  <a:buFont typeface="+mj-lt"/>
                  <a:buAutoNum type="arabicPeriod"/>
                </a:pPr>
                <a:r>
                  <a:rPr lang="en-US" sz="2400" dirty="0">
                    <a:latin typeface="Calibri" panose="020F0502020204030204" pitchFamily="34" charset="0"/>
                    <a:ea typeface="Source Sans Pro" panose="020B0503030403020204" pitchFamily="34" charset="0"/>
                    <a:cs typeface="Calibri" panose="020F0502020204030204" pitchFamily="34" charset="0"/>
                  </a:rPr>
                  <a:t>If same costs</a:t>
                </a:r>
              </a:p>
              <a:p>
                <a:pPr marL="806450" lvl="1" indent="-3492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Calibri" panose="020F0502020204030204" pitchFamily="34" charset="0"/>
                    <a:ea typeface="Source Sans Pro" panose="020B0503030403020204" pitchFamily="34" charset="0"/>
                    <a:cs typeface="Calibri" panose="020F0502020204030204" pitchFamily="34" charset="0"/>
                  </a:rPr>
                  <a:t>P</a:t>
                </a:r>
                <a:r>
                  <a:rPr lang="en-US" sz="2400" baseline="-25000" dirty="0">
                    <a:latin typeface="Calibri" panose="020F0502020204030204" pitchFamily="34" charset="0"/>
                    <a:ea typeface="Source Sans Pro" panose="020B0503030403020204" pitchFamily="34" charset="0"/>
                    <a:cs typeface="Calibri" panose="020F0502020204030204" pitchFamily="34" charset="0"/>
                  </a:rPr>
                  <a:t>i</a:t>
                </a:r>
                <a:r>
                  <a:rPr lang="en-US" sz="2400" dirty="0">
                    <a:latin typeface="Calibri" panose="020F0502020204030204" pitchFamily="34" charset="0"/>
                    <a:ea typeface="Source Sans Pro" panose="020B0503030403020204" pitchFamily="34" charset="0"/>
                    <a:cs typeface="Calibri" panose="020F0502020204030204" pitchFamily="34" charset="0"/>
                  </a:rPr>
                  <a:t> = </a:t>
                </a:r>
                <a:r>
                  <a:rPr lang="en-US" sz="2400" dirty="0" err="1">
                    <a:latin typeface="Calibri" panose="020F0502020204030204" pitchFamily="34" charset="0"/>
                    <a:ea typeface="Source Sans Pro" panose="020B0503030403020204" pitchFamily="34" charset="0"/>
                    <a:cs typeface="Calibri" panose="020F0502020204030204" pitchFamily="34" charset="0"/>
                  </a:rPr>
                  <a:t>MC</a:t>
                </a:r>
                <a:r>
                  <a:rPr lang="en-US" sz="2400" baseline="-25000" dirty="0" err="1">
                    <a:latin typeface="Calibri" panose="020F0502020204030204" pitchFamily="34" charset="0"/>
                    <a:ea typeface="Source Sans Pro" panose="020B0503030403020204" pitchFamily="34" charset="0"/>
                    <a:cs typeface="Calibri" panose="020F0502020204030204" pitchFamily="34" charset="0"/>
                  </a:rPr>
                  <a:t>i</a:t>
                </a:r>
                <a:r>
                  <a:rPr lang="en-US" sz="2400" dirty="0">
                    <a:latin typeface="Calibri" panose="020F0502020204030204" pitchFamily="34" charset="0"/>
                    <a:ea typeface="Source Sans Pro" panose="020B0503030403020204" pitchFamily="34" charset="0"/>
                    <a:cs typeface="Calibri" panose="020F0502020204030204" pitchFamily="34" charset="0"/>
                  </a:rPr>
                  <a:t> </a:t>
                </a:r>
                <a:endParaRPr lang="en-US" sz="2400" baseline="-25000" dirty="0">
                  <a:latin typeface="Calibri" panose="020F0502020204030204" pitchFamily="34" charset="0"/>
                  <a:ea typeface="Source Sans Pro" panose="020B0503030403020204" pitchFamily="34" charset="0"/>
                  <a:cs typeface="Calibri" panose="020F0502020204030204" pitchFamily="34" charset="0"/>
                </a:endParaRPr>
              </a:p>
              <a:p>
                <a:pPr marL="806450" lvl="1" indent="-3492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Calibri" panose="020F0502020204030204" pitchFamily="34" charset="0"/>
                    <a:ea typeface="Source Sans Pro" panose="020B0503030403020204" pitchFamily="34" charset="0"/>
                    <a:cs typeface="Calibri" panose="020F0502020204030204" pitchFamily="34" charset="0"/>
                  </a:rPr>
                  <a:t>Q</a:t>
                </a:r>
                <a:r>
                  <a:rPr lang="en-US" sz="2400" baseline="-25000" dirty="0">
                    <a:latin typeface="Calibri" panose="020F0502020204030204" pitchFamily="34" charset="0"/>
                    <a:ea typeface="Source Sans Pro" panose="020B0503030403020204" pitchFamily="34" charset="0"/>
                    <a:cs typeface="Calibri" panose="020F0502020204030204" pitchFamily="34" charset="0"/>
                  </a:rPr>
                  <a:t>i</a:t>
                </a:r>
                <a:r>
                  <a:rPr lang="en-US" sz="2400" dirty="0">
                    <a:latin typeface="Calibri" panose="020F0502020204030204" pitchFamily="34" charset="0"/>
                    <a:ea typeface="Source Sans Pro" panose="020B0503030403020204" pitchFamily="34" charset="0"/>
                    <a:cs typeface="Calibri" panose="020F0502020204030204" pitchFamily="34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</m:ctrlPr>
                      </m:fPr>
                      <m:num>
                        <m:r>
                          <a:rPr lang="en-US" sz="2400" smtClean="0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1</m:t>
                        </m:r>
                      </m:num>
                      <m:den>
                        <m:r>
                          <a:rPr lang="en-US" sz="2400" smtClean="0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𝑖</m:t>
                        </m:r>
                      </m:den>
                    </m:f>
                  </m:oMath>
                </a14:m>
                <a:r>
                  <a:rPr lang="en-US" sz="2400" dirty="0">
                    <a:latin typeface="Calibri" panose="020F0502020204030204" pitchFamily="34" charset="0"/>
                    <a:ea typeface="Source Sans Pro" panose="020B0503030403020204" pitchFamily="34" charset="0"/>
                    <a:cs typeface="Calibri" panose="020F0502020204030204" pitchFamily="34" charset="0"/>
                  </a:rPr>
                  <a:t>Q(P)</a:t>
                </a:r>
              </a:p>
              <a:p>
                <a:pPr marL="349250" indent="-349250">
                  <a:buFont typeface="+mj-lt"/>
                  <a:buAutoNum type="arabicPeriod"/>
                </a:pPr>
                <a:r>
                  <a:rPr lang="en-US" sz="2400" dirty="0">
                    <a:latin typeface="Calibri" panose="020F0502020204030204" pitchFamily="34" charset="0"/>
                    <a:ea typeface="Source Sans Pro" panose="020B0503030403020204" pitchFamily="34" charset="0"/>
                    <a:cs typeface="Calibri" panose="020F0502020204030204" pitchFamily="34" charset="0"/>
                  </a:rPr>
                  <a:t>If MC</a:t>
                </a:r>
                <a:r>
                  <a:rPr lang="en-US" sz="2400" baseline="-25000" dirty="0">
                    <a:latin typeface="Calibri" panose="020F0502020204030204" pitchFamily="34" charset="0"/>
                    <a:ea typeface="Source Sans Pro" panose="020B0503030403020204" pitchFamily="34" charset="0"/>
                    <a:cs typeface="Calibri" panose="020F0502020204030204" pitchFamily="34" charset="0"/>
                  </a:rPr>
                  <a:t>A</a:t>
                </a:r>
                <a:r>
                  <a:rPr lang="en-US" sz="2400" dirty="0">
                    <a:latin typeface="Calibri" panose="020F0502020204030204" pitchFamily="34" charset="0"/>
                    <a:ea typeface="Source Sans Pro" panose="020B0503030403020204" pitchFamily="34" charset="0"/>
                    <a:cs typeface="Calibri" panose="020F0502020204030204" pitchFamily="34" charset="0"/>
                  </a:rPr>
                  <a:t> &gt; MC</a:t>
                </a:r>
                <a:r>
                  <a:rPr lang="en-US" sz="2400" baseline="-25000" dirty="0">
                    <a:latin typeface="Calibri" panose="020F0502020204030204" pitchFamily="34" charset="0"/>
                    <a:ea typeface="Source Sans Pro" panose="020B0503030403020204" pitchFamily="34" charset="0"/>
                    <a:cs typeface="Calibri" panose="020F0502020204030204" pitchFamily="34" charset="0"/>
                  </a:rPr>
                  <a:t>B</a:t>
                </a:r>
              </a:p>
              <a:p>
                <a:pPr marL="806450" lvl="1" indent="-3492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Calibri" panose="020F0502020204030204" pitchFamily="34" charset="0"/>
                    <a:ea typeface="Source Sans Pro" panose="020B0503030403020204" pitchFamily="34" charset="0"/>
                    <a:cs typeface="Calibri" panose="020F0502020204030204" pitchFamily="34" charset="0"/>
                  </a:rPr>
                  <a:t>P</a:t>
                </a:r>
                <a:r>
                  <a:rPr lang="en-US" sz="2400" baseline="-25000" dirty="0">
                    <a:latin typeface="Calibri" panose="020F0502020204030204" pitchFamily="34" charset="0"/>
                    <a:ea typeface="Source Sans Pro" panose="020B0503030403020204" pitchFamily="34" charset="0"/>
                    <a:cs typeface="Calibri" panose="020F0502020204030204" pitchFamily="34" charset="0"/>
                  </a:rPr>
                  <a:t>A</a:t>
                </a:r>
                <a:r>
                  <a:rPr lang="en-US" sz="2400" dirty="0">
                    <a:latin typeface="Calibri" panose="020F0502020204030204" pitchFamily="34" charset="0"/>
                    <a:ea typeface="Source Sans Pro" panose="020B0503030403020204" pitchFamily="34" charset="0"/>
                    <a:cs typeface="Calibri" panose="020F0502020204030204" pitchFamily="34" charset="0"/>
                  </a:rPr>
                  <a:t> = MC</a:t>
                </a:r>
                <a:r>
                  <a:rPr lang="en-US" sz="2400" baseline="-25000" dirty="0">
                    <a:latin typeface="Calibri" panose="020F0502020204030204" pitchFamily="34" charset="0"/>
                    <a:ea typeface="Source Sans Pro" panose="020B0503030403020204" pitchFamily="34" charset="0"/>
                    <a:cs typeface="Calibri" panose="020F0502020204030204" pitchFamily="34" charset="0"/>
                  </a:rPr>
                  <a:t>A</a:t>
                </a:r>
              </a:p>
              <a:p>
                <a:pPr marL="806450" lvl="1" indent="-3492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Calibri" panose="020F0502020204030204" pitchFamily="34" charset="0"/>
                    <a:ea typeface="Source Sans Pro" panose="020B0503030403020204" pitchFamily="34" charset="0"/>
                    <a:cs typeface="Calibri" panose="020F0502020204030204" pitchFamily="34" charset="0"/>
                  </a:rPr>
                  <a:t>P</a:t>
                </a:r>
                <a:r>
                  <a:rPr lang="en-US" sz="2400" baseline="-25000" dirty="0">
                    <a:latin typeface="Calibri" panose="020F0502020204030204" pitchFamily="34" charset="0"/>
                    <a:ea typeface="Source Sans Pro" panose="020B0503030403020204" pitchFamily="34" charset="0"/>
                    <a:cs typeface="Calibri" panose="020F0502020204030204" pitchFamily="34" charset="0"/>
                  </a:rPr>
                  <a:t>B</a:t>
                </a:r>
                <a:r>
                  <a:rPr lang="en-US" sz="2400" dirty="0">
                    <a:latin typeface="Calibri" panose="020F0502020204030204" pitchFamily="34" charset="0"/>
                    <a:ea typeface="Source Sans Pro" panose="020B0503030403020204" pitchFamily="34" charset="0"/>
                    <a:cs typeface="Calibri" panose="020F0502020204030204" pitchFamily="34" charset="0"/>
                  </a:rPr>
                  <a:t> = MC</a:t>
                </a:r>
                <a:r>
                  <a:rPr lang="en-US" sz="2400" baseline="-25000" dirty="0">
                    <a:latin typeface="Calibri" panose="020F0502020204030204" pitchFamily="34" charset="0"/>
                    <a:ea typeface="Source Sans Pro" panose="020B0503030403020204" pitchFamily="34" charset="0"/>
                    <a:cs typeface="Calibri" panose="020F0502020204030204" pitchFamily="34" charset="0"/>
                  </a:rPr>
                  <a:t>A</a:t>
                </a:r>
                <a:r>
                  <a:rPr lang="en-US" sz="2400" dirty="0">
                    <a:latin typeface="Calibri" panose="020F0502020204030204" pitchFamily="34" charset="0"/>
                    <a:ea typeface="Source Sans Pro" panose="020B0503030403020204" pitchFamily="34" charset="0"/>
                    <a:cs typeface="Calibri" panose="020F0502020204030204" pitchFamily="34" charset="0"/>
                  </a:rPr>
                  <a:t> – 0.01</a:t>
                </a:r>
              </a:p>
              <a:p>
                <a:pPr marL="806450" lvl="1" indent="-3492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Calibri" panose="020F0502020204030204" pitchFamily="34" charset="0"/>
                    <a:ea typeface="Source Sans Pro" panose="020B0503030403020204" pitchFamily="34" charset="0"/>
                    <a:cs typeface="Calibri" panose="020F0502020204030204" pitchFamily="34" charset="0"/>
                  </a:rPr>
                  <a:t>Q</a:t>
                </a:r>
                <a:r>
                  <a:rPr lang="en-US" sz="2400" baseline="-25000" dirty="0">
                    <a:latin typeface="Calibri" panose="020F0502020204030204" pitchFamily="34" charset="0"/>
                    <a:ea typeface="Source Sans Pro" panose="020B0503030403020204" pitchFamily="34" charset="0"/>
                    <a:cs typeface="Calibri" panose="020F0502020204030204" pitchFamily="34" charset="0"/>
                  </a:rPr>
                  <a:t>A</a:t>
                </a:r>
                <a:r>
                  <a:rPr lang="en-US" sz="2400" dirty="0">
                    <a:latin typeface="Calibri" panose="020F0502020204030204" pitchFamily="34" charset="0"/>
                    <a:ea typeface="Source Sans Pro" panose="020B0503030403020204" pitchFamily="34" charset="0"/>
                    <a:cs typeface="Calibri" panose="020F0502020204030204" pitchFamily="34" charset="0"/>
                  </a:rPr>
                  <a:t> = 0</a:t>
                </a:r>
              </a:p>
              <a:p>
                <a:pPr marL="806450" lvl="1" indent="-3492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Calibri" panose="020F0502020204030204" pitchFamily="34" charset="0"/>
                    <a:ea typeface="Source Sans Pro" panose="020B0503030403020204" pitchFamily="34" charset="0"/>
                    <a:cs typeface="Calibri" panose="020F0502020204030204" pitchFamily="34" charset="0"/>
                  </a:rPr>
                  <a:t>Q</a:t>
                </a:r>
                <a:r>
                  <a:rPr lang="en-US" sz="2400" baseline="-25000" dirty="0">
                    <a:latin typeface="Calibri" panose="020F0502020204030204" pitchFamily="34" charset="0"/>
                    <a:ea typeface="Source Sans Pro" panose="020B0503030403020204" pitchFamily="34" charset="0"/>
                    <a:cs typeface="Calibri" panose="020F0502020204030204" pitchFamily="34" charset="0"/>
                  </a:rPr>
                  <a:t>B</a:t>
                </a:r>
                <a:r>
                  <a:rPr lang="en-US" sz="2400" dirty="0">
                    <a:latin typeface="Calibri" panose="020F0502020204030204" pitchFamily="34" charset="0"/>
                    <a:ea typeface="Source Sans Pro" panose="020B0503030403020204" pitchFamily="34" charset="0"/>
                    <a:cs typeface="Calibri" panose="020F0502020204030204" pitchFamily="34" charset="0"/>
                  </a:rPr>
                  <a:t> = Q(P</a:t>
                </a:r>
                <a:r>
                  <a:rPr lang="en-US" sz="2400" baseline="-25000" dirty="0">
                    <a:latin typeface="Calibri" panose="020F0502020204030204" pitchFamily="34" charset="0"/>
                    <a:ea typeface="Source Sans Pro" panose="020B0503030403020204" pitchFamily="34" charset="0"/>
                    <a:cs typeface="Calibri" panose="020F0502020204030204" pitchFamily="34" charset="0"/>
                  </a:rPr>
                  <a:t>B</a:t>
                </a:r>
                <a:r>
                  <a:rPr lang="en-US" sz="2400" dirty="0">
                    <a:latin typeface="Calibri" panose="020F0502020204030204" pitchFamily="34" charset="0"/>
                    <a:ea typeface="Source Sans Pro" panose="020B0503030403020204" pitchFamily="34" charset="0"/>
                    <a:cs typeface="Calibri" panose="020F0502020204030204" pitchFamily="34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181B1E9-21D8-2B43-DBBD-F06CC7A6EF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8276" y="2860282"/>
                <a:ext cx="2871668" cy="3570529"/>
              </a:xfrm>
              <a:prstGeom prst="rect">
                <a:avLst/>
              </a:prstGeom>
              <a:blipFill>
                <a:blip r:embed="rId2"/>
                <a:stretch>
                  <a:fillRect l="-3070" t="-1773" b="-28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875D8C82-EBDA-8BB5-C687-B803A071A6D2}"/>
              </a:ext>
            </a:extLst>
          </p:cNvPr>
          <p:cNvSpPr/>
          <p:nvPr/>
        </p:nvSpPr>
        <p:spPr>
          <a:xfrm>
            <a:off x="2768276" y="1084605"/>
            <a:ext cx="2871666" cy="632389"/>
          </a:xfrm>
          <a:prstGeom prst="roundRect">
            <a:avLst/>
          </a:prstGeom>
          <a:solidFill>
            <a:srgbClr val="007360"/>
          </a:solidFill>
          <a:ln>
            <a:solidFill>
              <a:srgbClr val="0073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C8C8C8"/>
                </a:solidFill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Bertrand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4FE10385-DFBB-4ACF-D52A-FFCB5D68B5F1}"/>
              </a:ext>
            </a:extLst>
          </p:cNvPr>
          <p:cNvSpPr/>
          <p:nvPr/>
        </p:nvSpPr>
        <p:spPr>
          <a:xfrm>
            <a:off x="5924516" y="1084605"/>
            <a:ext cx="2871666" cy="632389"/>
          </a:xfrm>
          <a:prstGeom prst="roundRect">
            <a:avLst/>
          </a:prstGeom>
          <a:solidFill>
            <a:srgbClr val="007360"/>
          </a:solidFill>
          <a:ln>
            <a:solidFill>
              <a:srgbClr val="0073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C8C8C8"/>
                </a:solidFill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Cournot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DD0B745F-9254-8B8A-B80C-07728538CFB7}"/>
              </a:ext>
            </a:extLst>
          </p:cNvPr>
          <p:cNvSpPr/>
          <p:nvPr/>
        </p:nvSpPr>
        <p:spPr>
          <a:xfrm>
            <a:off x="9172196" y="1084605"/>
            <a:ext cx="2871666" cy="632389"/>
          </a:xfrm>
          <a:prstGeom prst="roundRect">
            <a:avLst/>
          </a:prstGeom>
          <a:solidFill>
            <a:srgbClr val="007360"/>
          </a:solidFill>
          <a:ln>
            <a:solidFill>
              <a:srgbClr val="0073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C8C8C8"/>
                </a:solidFill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Stackelberg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7FA048A-6DFA-70D5-7062-0230335C6269}"/>
              </a:ext>
            </a:extLst>
          </p:cNvPr>
          <p:cNvSpPr txBox="1"/>
          <p:nvPr/>
        </p:nvSpPr>
        <p:spPr>
          <a:xfrm>
            <a:off x="205097" y="6238428"/>
            <a:ext cx="115795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681038" algn="l"/>
              </a:tabLst>
            </a:pPr>
            <a:r>
              <a:rPr lang="en-US" sz="16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Notes: 	Subscript </a:t>
            </a:r>
            <a:r>
              <a:rPr lang="en-US" sz="1600" dirty="0" err="1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i</a:t>
            </a:r>
            <a:r>
              <a:rPr lang="en-US" sz="16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 is shorthand for applying the same formula for A, B, C …</a:t>
            </a:r>
          </a:p>
          <a:p>
            <a:pPr>
              <a:tabLst>
                <a:tab pos="681038" algn="l"/>
              </a:tabLst>
            </a:pPr>
            <a:r>
              <a:rPr lang="en-US" sz="1600" dirty="0"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	BRF is abbreviation for “best response function”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19ABC7-9DC7-0AE2-6C8D-49516E271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7AD01-DBC0-460A-9794-B1D9E8D78AAA}" type="slidenum">
              <a:rPr lang="en-US" altLang="en-US" smtClean="0"/>
              <a:pPr/>
              <a:t>12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138624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Taxes and subsidies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49F949C-C629-70C7-0744-B089197AB9F7}"/>
              </a:ext>
            </a:extLst>
          </p:cNvPr>
          <p:cNvGrpSpPr/>
          <p:nvPr/>
        </p:nvGrpSpPr>
        <p:grpSpPr>
          <a:xfrm>
            <a:off x="430599" y="3326137"/>
            <a:ext cx="11293730" cy="1405449"/>
            <a:chOff x="430599" y="2616147"/>
            <a:chExt cx="11293730" cy="1405449"/>
          </a:xfrm>
        </p:grpSpPr>
        <p:sp>
          <p:nvSpPr>
            <p:cNvPr id="36" name="Rounded Rectangle 35"/>
            <p:cNvSpPr/>
            <p:nvPr/>
          </p:nvSpPr>
          <p:spPr>
            <a:xfrm>
              <a:off x="430599" y="2616147"/>
              <a:ext cx="2121408" cy="1060704"/>
            </a:xfrm>
            <a:prstGeom prst="roundRect">
              <a:avLst>
                <a:gd name="adj" fmla="val 12914"/>
              </a:avLst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Who bears burden?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Rectangle 3"/>
                <p:cNvSpPr txBox="1">
                  <a:spLocks noChangeArrowheads="1"/>
                </p:cNvSpPr>
                <p:nvPr/>
              </p:nvSpPr>
              <p:spPr bwMode="auto">
                <a:xfrm>
                  <a:off x="2653999" y="2616147"/>
                  <a:ext cx="9070330" cy="140544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charset="0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Arial" charset="0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Arial" charset="0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Arial" charset="0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Arial" charset="0"/>
                      <a:cs typeface="+mn-cs"/>
                    </a:defRPr>
                  </a:lvl5pPr>
                  <a:lvl6pPr marL="2514600" indent="-228600" algn="l" rtl="0"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cs typeface="+mn-cs"/>
                    </a:defRPr>
                  </a:lvl6pPr>
                  <a:lvl7pPr marL="2971800" indent="-228600" algn="l" rtl="0"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cs typeface="+mn-cs"/>
                    </a:defRPr>
                  </a:lvl7pPr>
                  <a:lvl8pPr marL="3429000" indent="-228600" algn="l" rtl="0"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cs typeface="+mn-cs"/>
                    </a:defRPr>
                  </a:lvl8pPr>
                  <a:lvl9pPr marL="3886200" indent="-228600" algn="l" rtl="0"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cs typeface="+mn-cs"/>
                    </a:defRPr>
                  </a:lvl9pPr>
                </a:lstStyle>
                <a:p>
                  <a:pPr marL="228600" indent="-228600" eaLnBrk="1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600"/>
                    </a:spcAft>
                  </a:pPr>
                  <a:r>
                    <a:rPr lang="en-US" altLang="en-US" sz="2400" kern="0" dirty="0">
                      <a:ea typeface="ＭＳ Ｐゴシック" pitchFamily="34" charset="-128"/>
                      <a:cs typeface="Calibri" panose="020F0502020204030204" pitchFamily="34" charset="0"/>
                    </a:rPr>
                    <a:t>Consumers:	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altLang="en-US" sz="2400" i="1" kern="0" dirty="0" smtClean="0"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</m:ctrlPr>
                        </m:fPr>
                        <m:num>
                          <m:r>
                            <a:rPr lang="en-US" altLang="en-US" sz="2400" kern="0" dirty="0"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  <m:t>𝜀</m:t>
                          </m:r>
                          <m:r>
                            <a:rPr lang="en-US" altLang="en-US" sz="2400" kern="0" baseline="-25000" dirty="0" err="1"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  <m:t>𝑆</m:t>
                          </m:r>
                        </m:num>
                        <m:den>
                          <m:r>
                            <a:rPr lang="en-US" altLang="en-US" sz="2400" kern="0" dirty="0"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  <m:t>|</m:t>
                          </m:r>
                          <m:r>
                            <a:rPr lang="en-US" altLang="en-US" sz="2400" kern="0" dirty="0" err="1"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  <m:t>𝜀</m:t>
                          </m:r>
                          <m:r>
                            <a:rPr lang="en-US" altLang="en-US" sz="2400" kern="0" baseline="-25000" dirty="0" err="1"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  <m:t>𝐷</m:t>
                          </m:r>
                          <m:r>
                            <a:rPr lang="en-US" altLang="en-US" sz="2400" kern="0" dirty="0"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  <m:t>| + </m:t>
                          </m:r>
                          <m:r>
                            <a:rPr lang="en-US" altLang="en-US" sz="2400" kern="0" dirty="0" err="1"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  <m:t>𝜀</m:t>
                          </m:r>
                          <m:r>
                            <a:rPr lang="en-US" altLang="en-US" sz="2400" kern="0" baseline="-25000" dirty="0" err="1"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  <m:t>𝑆</m:t>
                          </m:r>
                        </m:den>
                      </m:f>
                    </m:oMath>
                  </a14:m>
                  <a:endParaRPr lang="en-US" altLang="en-US" sz="2400" kern="0" dirty="0">
                    <a:ea typeface="ＭＳ Ｐゴシック" pitchFamily="34" charset="-128"/>
                    <a:cs typeface="Calibri" panose="020F0502020204030204" pitchFamily="34" charset="0"/>
                  </a:endParaRPr>
                </a:p>
                <a:p>
                  <a:pPr marL="228600" indent="-228600" eaLnBrk="1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600"/>
                    </a:spcAft>
                  </a:pPr>
                  <a:r>
                    <a:rPr lang="en-US" altLang="en-US" sz="2400" kern="0" dirty="0">
                      <a:ea typeface="ＭＳ Ｐゴシック" pitchFamily="34" charset="-128"/>
                      <a:cs typeface="Calibri" panose="020F0502020204030204" pitchFamily="34" charset="0"/>
                    </a:rPr>
                    <a:t>Firms:	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altLang="en-US" sz="2400" i="1" kern="0" dirty="0" smtClean="0"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</m:ctrlPr>
                        </m:fPr>
                        <m:num>
                          <m:r>
                            <a:rPr lang="en-US" altLang="en-US" sz="2400" kern="0" dirty="0"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  <m:t>|</m:t>
                          </m:r>
                          <m:r>
                            <a:rPr lang="en-US" altLang="en-US" sz="2400" kern="0" dirty="0" err="1"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  <m:t>𝜀</m:t>
                          </m:r>
                          <m:r>
                            <a:rPr lang="en-US" altLang="en-US" sz="2400" kern="0" baseline="-25000" dirty="0" err="1"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  <m:t>𝐷</m:t>
                          </m:r>
                          <m:r>
                            <a:rPr lang="en-US" altLang="en-US" sz="2400" kern="0" dirty="0"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  <m:t>|</m:t>
                          </m:r>
                        </m:num>
                        <m:den>
                          <m:r>
                            <a:rPr lang="en-US" altLang="en-US" sz="2400" kern="0" dirty="0"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  <m:t>|</m:t>
                          </m:r>
                          <m:r>
                            <a:rPr lang="en-US" altLang="en-US" sz="2400" kern="0" dirty="0" err="1"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  <m:t>𝜀</m:t>
                          </m:r>
                          <m:r>
                            <a:rPr lang="en-US" altLang="en-US" sz="2400" kern="0" baseline="-25000" dirty="0" err="1"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  <m:t>𝐷</m:t>
                          </m:r>
                          <m:r>
                            <a:rPr lang="en-US" altLang="en-US" sz="2400" kern="0" dirty="0"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  <m:t>| + </m:t>
                          </m:r>
                          <m:r>
                            <a:rPr lang="en-US" altLang="en-US" sz="2400" kern="0" dirty="0" err="1"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  <m:t>𝜀</m:t>
                          </m:r>
                          <m:r>
                            <a:rPr lang="en-US" altLang="en-US" sz="2400" kern="0" baseline="-25000" dirty="0" err="1"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  <m:t>𝑆</m:t>
                          </m:r>
                        </m:den>
                      </m:f>
                    </m:oMath>
                  </a14:m>
                  <a:endParaRPr lang="en-US" altLang="en-US" sz="2400" kern="0" dirty="0">
                    <a:ea typeface="ＭＳ Ｐゴシック" pitchFamily="34" charset="-128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37" name="Rectangle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653999" y="2616147"/>
                  <a:ext cx="9070330" cy="1405449"/>
                </a:xfrm>
                <a:prstGeom prst="rect">
                  <a:avLst/>
                </a:prstGeom>
                <a:blipFill>
                  <a:blip r:embed="rId2"/>
                  <a:stretch>
                    <a:fillRect l="-978" b="-4505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C3AF8B-539F-61D4-9B8A-7FFF5F390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1D67-3917-4D1D-B396-6BD35EFCEE75}" type="slidenum">
              <a:rPr lang="en-US" altLang="en-US" smtClean="0"/>
              <a:pPr/>
              <a:t>13</a:t>
            </a:fld>
            <a:endParaRPr lang="en-US" alt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1952BB1-39F5-42E5-DD6B-F11732F3AF28}"/>
              </a:ext>
            </a:extLst>
          </p:cNvPr>
          <p:cNvGrpSpPr/>
          <p:nvPr/>
        </p:nvGrpSpPr>
        <p:grpSpPr>
          <a:xfrm>
            <a:off x="430599" y="1176690"/>
            <a:ext cx="11293731" cy="1929672"/>
            <a:chOff x="430599" y="1176690"/>
            <a:chExt cx="11293731" cy="1929672"/>
          </a:xfrm>
        </p:grpSpPr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0DEC31FC-915B-AEF1-E5E4-78888EF02AF3}"/>
                </a:ext>
              </a:extLst>
            </p:cNvPr>
            <p:cNvSpPr/>
            <p:nvPr/>
          </p:nvSpPr>
          <p:spPr>
            <a:xfrm>
              <a:off x="430599" y="1176690"/>
              <a:ext cx="2121408" cy="1060704"/>
            </a:xfrm>
            <a:prstGeom prst="roundRect">
              <a:avLst>
                <a:gd name="adj" fmla="val 15319"/>
              </a:avLst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Per-unit</a:t>
              </a:r>
            </a:p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tax (t)</a:t>
              </a:r>
            </a:p>
          </p:txBody>
        </p:sp>
        <p:sp>
          <p:nvSpPr>
            <p:cNvPr id="22" name="Rectangle 3">
              <a:extLst>
                <a:ext uri="{FF2B5EF4-FFF2-40B4-BE49-F238E27FC236}">
                  <a16:creationId xmlns:a16="http://schemas.microsoft.com/office/drawing/2014/main" id="{06211270-3F6B-DB89-0354-BDC139C9F6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4000" y="1179488"/>
              <a:ext cx="9070330" cy="19268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P</a:t>
              </a:r>
              <a:r>
                <a:rPr lang="en-US" altLang="en-US" sz="2400" kern="0" baseline="-25000" dirty="0">
                  <a:ea typeface="Source Sans Pro" panose="020B0503030403020204" pitchFamily="34" charset="0"/>
                  <a:cs typeface="Calibri" panose="020F0502020204030204" pitchFamily="34" charset="0"/>
                </a:rPr>
                <a:t>F</a:t>
              </a: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 is price collected by the firm</a:t>
              </a:r>
            </a:p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P</a:t>
              </a:r>
              <a:r>
                <a:rPr lang="en-US" altLang="en-US" sz="2400" kern="0" baseline="-25000" dirty="0">
                  <a:ea typeface="Source Sans Pro" panose="020B0503030403020204" pitchFamily="34" charset="0"/>
                  <a:cs typeface="Calibri" panose="020F0502020204030204" pitchFamily="34" charset="0"/>
                </a:rPr>
                <a:t>C</a:t>
              </a: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 is price paid by consumers</a:t>
              </a:r>
            </a:p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Tax on customers: P</a:t>
              </a:r>
              <a:r>
                <a:rPr lang="en-US" altLang="en-US" sz="2400" kern="0" baseline="-25000" dirty="0">
                  <a:ea typeface="Source Sans Pro" panose="020B0503030403020204" pitchFamily="34" charset="0"/>
                  <a:cs typeface="Calibri" panose="020F0502020204030204" pitchFamily="34" charset="0"/>
                </a:rPr>
                <a:t>C</a:t>
              </a: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 = P</a:t>
              </a:r>
              <a:r>
                <a:rPr lang="en-US" altLang="en-US" sz="2400" kern="0" baseline="-25000" dirty="0">
                  <a:ea typeface="Source Sans Pro" panose="020B0503030403020204" pitchFamily="34" charset="0"/>
                  <a:cs typeface="Calibri" panose="020F0502020204030204" pitchFamily="34" charset="0"/>
                </a:rPr>
                <a:t>F</a:t>
              </a: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 + t [P</a:t>
              </a:r>
              <a:r>
                <a:rPr lang="en-US" altLang="en-US" sz="2400" kern="0" baseline="-25000" dirty="0">
                  <a:ea typeface="Source Sans Pro" panose="020B0503030403020204" pitchFamily="34" charset="0"/>
                  <a:cs typeface="Calibri" panose="020F0502020204030204" pitchFamily="34" charset="0"/>
                </a:rPr>
                <a:t>F</a:t>
              </a: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 is price tag]</a:t>
              </a:r>
            </a:p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Tax on firms: P</a:t>
              </a:r>
              <a:r>
                <a:rPr lang="en-US" altLang="en-US" sz="2400" kern="0" baseline="-25000" dirty="0">
                  <a:ea typeface="Source Sans Pro" panose="020B0503030403020204" pitchFamily="34" charset="0"/>
                  <a:cs typeface="Calibri" panose="020F0502020204030204" pitchFamily="34" charset="0"/>
                </a:rPr>
                <a:t>F</a:t>
              </a: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 = P</a:t>
              </a:r>
              <a:r>
                <a:rPr lang="en-US" altLang="en-US" sz="2400" kern="0" baseline="-25000" dirty="0">
                  <a:ea typeface="Source Sans Pro" panose="020B0503030403020204" pitchFamily="34" charset="0"/>
                  <a:cs typeface="Calibri" panose="020F0502020204030204" pitchFamily="34" charset="0"/>
                </a:rPr>
                <a:t>C</a:t>
              </a: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 – t [P</a:t>
              </a:r>
              <a:r>
                <a:rPr lang="en-US" altLang="en-US" sz="2400" kern="0" baseline="-25000" dirty="0">
                  <a:ea typeface="Source Sans Pro" panose="020B0503030403020204" pitchFamily="34" charset="0"/>
                  <a:cs typeface="Calibri" panose="020F0502020204030204" pitchFamily="34" charset="0"/>
                </a:rPr>
                <a:t>C</a:t>
              </a: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 is price tag]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2FF00022-DF39-B0A5-F6F5-4DE3E627CB0A}"/>
              </a:ext>
            </a:extLst>
          </p:cNvPr>
          <p:cNvGrpSpPr/>
          <p:nvPr/>
        </p:nvGrpSpPr>
        <p:grpSpPr>
          <a:xfrm>
            <a:off x="430599" y="4951361"/>
            <a:ext cx="11293731" cy="1446463"/>
            <a:chOff x="430599" y="1176690"/>
            <a:chExt cx="11293731" cy="1446463"/>
          </a:xfrm>
        </p:grpSpPr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C8B881F5-93D2-92EF-3A0A-DB64E93169CA}"/>
                </a:ext>
              </a:extLst>
            </p:cNvPr>
            <p:cNvSpPr/>
            <p:nvPr/>
          </p:nvSpPr>
          <p:spPr>
            <a:xfrm>
              <a:off x="430599" y="1176690"/>
              <a:ext cx="2121408" cy="1060704"/>
            </a:xfrm>
            <a:prstGeom prst="roundRect">
              <a:avLst>
                <a:gd name="adj" fmla="val 15319"/>
              </a:avLst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Per-unit</a:t>
              </a:r>
            </a:p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subsidy (s)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C7DE6D7-E08B-8DA2-A2F7-0B90C00D22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4000" y="1179488"/>
              <a:ext cx="9070330" cy="1443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Subsidy to customers: P</a:t>
              </a:r>
              <a:r>
                <a:rPr lang="en-US" altLang="en-US" sz="2400" kern="0" baseline="-25000" dirty="0">
                  <a:ea typeface="Source Sans Pro" panose="020B0503030403020204" pitchFamily="34" charset="0"/>
                  <a:cs typeface="Calibri" panose="020F0502020204030204" pitchFamily="34" charset="0"/>
                </a:rPr>
                <a:t>C</a:t>
              </a: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 = P</a:t>
              </a:r>
              <a:r>
                <a:rPr lang="en-US" altLang="en-US" sz="2400" kern="0" baseline="-25000" dirty="0">
                  <a:ea typeface="Source Sans Pro" panose="020B0503030403020204" pitchFamily="34" charset="0"/>
                  <a:cs typeface="Calibri" panose="020F0502020204030204" pitchFamily="34" charset="0"/>
                </a:rPr>
                <a:t>F</a:t>
              </a: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 – s [P</a:t>
              </a:r>
              <a:r>
                <a:rPr lang="en-US" altLang="en-US" sz="2400" kern="0" baseline="-25000" dirty="0">
                  <a:ea typeface="Source Sans Pro" panose="020B0503030403020204" pitchFamily="34" charset="0"/>
                  <a:cs typeface="Calibri" panose="020F0502020204030204" pitchFamily="34" charset="0"/>
                </a:rPr>
                <a:t>F</a:t>
              </a: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 is price tag]</a:t>
              </a:r>
            </a:p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Subsidy to firms: P</a:t>
              </a:r>
              <a:r>
                <a:rPr lang="en-US" altLang="en-US" sz="2400" kern="0" baseline="-25000" dirty="0">
                  <a:ea typeface="Source Sans Pro" panose="020B0503030403020204" pitchFamily="34" charset="0"/>
                  <a:cs typeface="Calibri" panose="020F0502020204030204" pitchFamily="34" charset="0"/>
                </a:rPr>
                <a:t>F</a:t>
              </a: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 = P</a:t>
              </a:r>
              <a:r>
                <a:rPr lang="en-US" altLang="en-US" sz="2400" kern="0" baseline="-25000" dirty="0">
                  <a:ea typeface="Source Sans Pro" panose="020B0503030403020204" pitchFamily="34" charset="0"/>
                  <a:cs typeface="Calibri" panose="020F0502020204030204" pitchFamily="34" charset="0"/>
                </a:rPr>
                <a:t>C</a:t>
              </a: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 + s [P</a:t>
              </a:r>
              <a:r>
                <a:rPr lang="en-US" altLang="en-US" sz="2400" kern="0" baseline="-25000" dirty="0">
                  <a:ea typeface="Source Sans Pro" panose="020B0503030403020204" pitchFamily="34" charset="0"/>
                  <a:cs typeface="Calibri" panose="020F0502020204030204" pitchFamily="34" charset="0"/>
                </a:rPr>
                <a:t>C</a:t>
              </a: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 is price tag]</a:t>
              </a:r>
            </a:p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In both cases, s = -t, so subsidies are negative taxes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36104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Introduction to Microeconomics</a:t>
            </a:r>
          </a:p>
        </p:txBody>
      </p:sp>
      <p:sp>
        <p:nvSpPr>
          <p:cNvPr id="47" name="Slide Number Placeholder 46">
            <a:extLst>
              <a:ext uri="{FF2B5EF4-FFF2-40B4-BE49-F238E27FC236}">
                <a16:creationId xmlns:a16="http://schemas.microsoft.com/office/drawing/2014/main" id="{A2600850-4DB8-384A-56EC-87D158C9A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4CCD4-1BBD-410D-B2DF-A7552E316D63}" type="slidenum">
              <a:rPr lang="en-US" altLang="en-US" smtClean="0"/>
              <a:pPr/>
              <a:t>14</a:t>
            </a:fld>
            <a:endParaRPr lang="en-US" alt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D7CC0C9-0C1A-F0B9-802A-9441E1B544BB}"/>
              </a:ext>
            </a:extLst>
          </p:cNvPr>
          <p:cNvGrpSpPr/>
          <p:nvPr/>
        </p:nvGrpSpPr>
        <p:grpSpPr>
          <a:xfrm>
            <a:off x="435428" y="1171714"/>
            <a:ext cx="11321144" cy="1059857"/>
            <a:chOff x="435428" y="3152576"/>
            <a:chExt cx="11321144" cy="1059857"/>
          </a:xfrm>
        </p:grpSpPr>
        <p:sp>
          <p:nvSpPr>
            <p:cNvPr id="18" name="Content Placeholder 2">
              <a:extLst>
                <a:ext uri="{FF2B5EF4-FFF2-40B4-BE49-F238E27FC236}">
                  <a16:creationId xmlns:a16="http://schemas.microsoft.com/office/drawing/2014/main" id="{63B16A13-6CB6-1A8E-DAF0-62BEC80F6654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2710542" y="3152576"/>
              <a:ext cx="9046030" cy="9079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»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Area below the market price and above the supply curve</a:t>
              </a:r>
            </a:p>
            <a:p>
              <a:r>
                <a:rPr lang="en-US" altLang="en-US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½ * equilibrium quantity * (market price – supply choke price)</a:t>
              </a:r>
            </a:p>
          </p:txBody>
        </p:sp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F22B71BC-769F-1B95-0FA9-B0CE84DFE524}"/>
                </a:ext>
              </a:extLst>
            </p:cNvPr>
            <p:cNvSpPr/>
            <p:nvPr/>
          </p:nvSpPr>
          <p:spPr>
            <a:xfrm>
              <a:off x="435428" y="3152576"/>
              <a:ext cx="2122715" cy="1059857"/>
            </a:xfrm>
            <a:prstGeom prst="roundRect">
              <a:avLst/>
            </a:prstGeom>
            <a:solidFill>
              <a:schemeClr val="accent2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en-US" sz="2400" b="1" dirty="0">
                  <a:solidFill>
                    <a:srgbClr val="C8C8C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Producer surplus</a:t>
              </a:r>
              <a:endParaRPr lang="en-US" sz="2400" b="1" dirty="0">
                <a:solidFill>
                  <a:srgbClr val="C8C8C8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FF61DB33-1FE6-6384-A229-C534042989EC}"/>
              </a:ext>
            </a:extLst>
          </p:cNvPr>
          <p:cNvGrpSpPr/>
          <p:nvPr/>
        </p:nvGrpSpPr>
        <p:grpSpPr>
          <a:xfrm>
            <a:off x="435428" y="2889503"/>
            <a:ext cx="11321144" cy="1277273"/>
            <a:chOff x="435428" y="3152576"/>
            <a:chExt cx="11321144" cy="1277273"/>
          </a:xfrm>
        </p:grpSpPr>
        <p:sp>
          <p:nvSpPr>
            <p:cNvPr id="3" name="Content Placeholder 2">
              <a:extLst>
                <a:ext uri="{FF2B5EF4-FFF2-40B4-BE49-F238E27FC236}">
                  <a16:creationId xmlns:a16="http://schemas.microsoft.com/office/drawing/2014/main" id="{54A1B8CC-A023-A816-E3CD-14B60B6904CA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2710542" y="3152576"/>
              <a:ext cx="9046030" cy="1277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»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r>
                <a:rPr lang="en-US" altLang="en-US" kern="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Triangle area below demand curve and above supply curve, between market quantity and competitive equilibrium quantity</a:t>
              </a:r>
            </a:p>
            <a:p>
              <a:r>
                <a:rPr lang="en-US" altLang="en-US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½ * (comp. </a:t>
              </a:r>
              <a:r>
                <a:rPr lang="en-US" altLang="en-US" dirty="0" err="1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equil</a:t>
              </a:r>
              <a:r>
                <a:rPr lang="en-US" altLang="en-US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. quantity – market quantity) * (P</a:t>
              </a:r>
              <a:r>
                <a:rPr lang="en-US" altLang="en-US" baseline="-2500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D</a:t>
              </a:r>
              <a:r>
                <a:rPr lang="en-US" altLang="en-US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(Q</a:t>
              </a:r>
              <a:r>
                <a:rPr lang="en-US" altLang="en-US" baseline="-2500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M</a:t>
              </a:r>
              <a:r>
                <a:rPr lang="en-US" altLang="en-US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) – P</a:t>
              </a:r>
              <a:r>
                <a:rPr lang="en-US" altLang="en-US" baseline="-2500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S</a:t>
              </a:r>
              <a:r>
                <a:rPr lang="en-US" altLang="en-US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(Q</a:t>
              </a:r>
              <a:r>
                <a:rPr lang="en-US" altLang="en-US" baseline="-25000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M</a:t>
              </a:r>
              <a:r>
                <a:rPr lang="en-US" altLang="en-US" dirty="0">
                  <a:latin typeface="Calibri" panose="020F0502020204030204" pitchFamily="34" charset="0"/>
                  <a:ea typeface="ＭＳ Ｐゴシック" pitchFamily="34" charset="-128"/>
                  <a:cs typeface="Calibri" panose="020F0502020204030204" pitchFamily="34" charset="0"/>
                </a:rPr>
                <a:t>))</a:t>
              </a: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60DB4C96-16DC-5891-A17E-65E33CD8FFA2}"/>
                </a:ext>
              </a:extLst>
            </p:cNvPr>
            <p:cNvSpPr/>
            <p:nvPr/>
          </p:nvSpPr>
          <p:spPr>
            <a:xfrm>
              <a:off x="435428" y="3152576"/>
              <a:ext cx="2122715" cy="1059857"/>
            </a:xfrm>
            <a:prstGeom prst="roundRect">
              <a:avLst/>
            </a:prstGeom>
            <a:solidFill>
              <a:schemeClr val="accent2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en-US" sz="2400" b="1" dirty="0">
                  <a:solidFill>
                    <a:srgbClr val="C8C8C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Deadweight loss</a:t>
              </a:r>
              <a:endParaRPr lang="en-US" sz="2400" b="1" dirty="0">
                <a:solidFill>
                  <a:srgbClr val="C8C8C8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529579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Other government regulations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C3AF8B-539F-61D4-9B8A-7FFF5F390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1D67-3917-4D1D-B396-6BD35EFCEE75}" type="slidenum">
              <a:rPr lang="en-US" altLang="en-US" smtClean="0"/>
              <a:pPr/>
              <a:t>15</a:t>
            </a:fld>
            <a:endParaRPr lang="en-US" alt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1952BB1-39F5-42E5-DD6B-F11732F3AF28}"/>
              </a:ext>
            </a:extLst>
          </p:cNvPr>
          <p:cNvGrpSpPr/>
          <p:nvPr/>
        </p:nvGrpSpPr>
        <p:grpSpPr>
          <a:xfrm>
            <a:off x="430599" y="1176690"/>
            <a:ext cx="11293731" cy="1446463"/>
            <a:chOff x="430599" y="1176690"/>
            <a:chExt cx="11293731" cy="1446463"/>
          </a:xfrm>
        </p:grpSpPr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0DEC31FC-915B-AEF1-E5E4-78888EF02AF3}"/>
                </a:ext>
              </a:extLst>
            </p:cNvPr>
            <p:cNvSpPr/>
            <p:nvPr/>
          </p:nvSpPr>
          <p:spPr>
            <a:xfrm>
              <a:off x="430599" y="1176690"/>
              <a:ext cx="2121408" cy="1060704"/>
            </a:xfrm>
            <a:prstGeom prst="roundRect">
              <a:avLst>
                <a:gd name="adj" fmla="val 15319"/>
              </a:avLst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Price ceiling</a:t>
              </a:r>
            </a:p>
          </p:txBody>
        </p:sp>
        <p:sp>
          <p:nvSpPr>
            <p:cNvPr id="22" name="Rectangle 3">
              <a:extLst>
                <a:ext uri="{FF2B5EF4-FFF2-40B4-BE49-F238E27FC236}">
                  <a16:creationId xmlns:a16="http://schemas.microsoft.com/office/drawing/2014/main" id="{06211270-3F6B-DB89-0354-BDC139C9F6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4000" y="1179488"/>
              <a:ext cx="9070330" cy="1443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Maximum price above which price cannot go</a:t>
              </a:r>
            </a:p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Must be below competitive equilibrium price</a:t>
              </a:r>
            </a:p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Customers receive extra consumer surplus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2FF00022-DF39-B0A5-F6F5-4DE3E627CB0A}"/>
              </a:ext>
            </a:extLst>
          </p:cNvPr>
          <p:cNvGrpSpPr/>
          <p:nvPr/>
        </p:nvGrpSpPr>
        <p:grpSpPr>
          <a:xfrm>
            <a:off x="430599" y="4674902"/>
            <a:ext cx="11293731" cy="1446463"/>
            <a:chOff x="430599" y="1176690"/>
            <a:chExt cx="11293731" cy="1446463"/>
          </a:xfrm>
        </p:grpSpPr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C8B881F5-93D2-92EF-3A0A-DB64E93169CA}"/>
                </a:ext>
              </a:extLst>
            </p:cNvPr>
            <p:cNvSpPr/>
            <p:nvPr/>
          </p:nvSpPr>
          <p:spPr>
            <a:xfrm>
              <a:off x="430599" y="1176690"/>
              <a:ext cx="2121408" cy="1060704"/>
            </a:xfrm>
            <a:prstGeom prst="roundRect">
              <a:avLst>
                <a:gd name="adj" fmla="val 15319"/>
              </a:avLst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Quantity restriction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C7DE6D7-E08B-8DA2-A2F7-0B90C00D22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4000" y="1179488"/>
              <a:ext cx="9070330" cy="1443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Maximum quantity above which quantity cannot go</a:t>
              </a:r>
            </a:p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Must be less than competitive equilibrium quantity</a:t>
              </a:r>
            </a:p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Firms receive extra producer surplus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647FE779-9E37-64CB-31DB-EF292F262C31}"/>
              </a:ext>
            </a:extLst>
          </p:cNvPr>
          <p:cNvGrpSpPr/>
          <p:nvPr/>
        </p:nvGrpSpPr>
        <p:grpSpPr>
          <a:xfrm>
            <a:off x="430599" y="2925796"/>
            <a:ext cx="11293731" cy="1446463"/>
            <a:chOff x="430599" y="1176690"/>
            <a:chExt cx="11293731" cy="1446463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0F2693D3-C71A-E07F-BDBB-948C68B55291}"/>
                </a:ext>
              </a:extLst>
            </p:cNvPr>
            <p:cNvSpPr/>
            <p:nvPr/>
          </p:nvSpPr>
          <p:spPr>
            <a:xfrm>
              <a:off x="430599" y="1176690"/>
              <a:ext cx="2121408" cy="1060704"/>
            </a:xfrm>
            <a:prstGeom prst="roundRect">
              <a:avLst>
                <a:gd name="adj" fmla="val 15319"/>
              </a:avLst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Price floor</a:t>
              </a:r>
            </a:p>
          </p:txBody>
        </p:sp>
        <p:sp>
          <p:nvSpPr>
            <p:cNvPr id="8" name="Rectangle 3">
              <a:extLst>
                <a:ext uri="{FF2B5EF4-FFF2-40B4-BE49-F238E27FC236}">
                  <a16:creationId xmlns:a16="http://schemas.microsoft.com/office/drawing/2014/main" id="{8B719DDF-9943-A8F1-64EE-3EB4B17390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4000" y="1179488"/>
              <a:ext cx="9070330" cy="1443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Minimum price below which price cannot go</a:t>
              </a:r>
            </a:p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Must be above competitive equilibrium price</a:t>
              </a:r>
            </a:p>
            <a:p>
              <a:pPr marL="228600" indent="-228600" eaLnBrk="1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ea typeface="Source Sans Pro" panose="020B0503030403020204" pitchFamily="34" charset="0"/>
                  <a:cs typeface="Calibri" panose="020F0502020204030204" pitchFamily="34" charset="0"/>
                </a:rPr>
                <a:t>Suppliers receive extra producer surplus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0573126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heme/theme1.xml><?xml version="1.0" encoding="utf-8"?>
<a:theme xmlns:a="http://schemas.openxmlformats.org/drawingml/2006/main" name="Default Design">
  <a:themeElements>
    <a:clrScheme name="WashU">
      <a:dk1>
        <a:srgbClr val="000000"/>
      </a:dk1>
      <a:lt1>
        <a:srgbClr val="FFFFFF"/>
      </a:lt1>
      <a:dk2>
        <a:srgbClr val="C8C8C8"/>
      </a:dk2>
      <a:lt2>
        <a:srgbClr val="D8D2C5"/>
      </a:lt2>
      <a:accent1>
        <a:srgbClr val="A51417"/>
      </a:accent1>
      <a:accent2>
        <a:srgbClr val="007360"/>
      </a:accent2>
      <a:accent3>
        <a:srgbClr val="005F85"/>
      </a:accent3>
      <a:accent4>
        <a:srgbClr val="67C8C7"/>
      </a:accent4>
      <a:accent5>
        <a:srgbClr val="D15F27"/>
      </a:accent5>
      <a:accent6>
        <a:srgbClr val="612466"/>
      </a:accent6>
      <a:hlink>
        <a:srgbClr val="FFCC00"/>
      </a:hlink>
      <a:folHlink>
        <a:srgbClr val="163E34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6283</TotalTime>
  <Words>1133</Words>
  <Application>Microsoft Macintosh PowerPoint</Application>
  <PresentationFormat>Widescreen</PresentationFormat>
  <Paragraphs>197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ＭＳ Ｐゴシック</vt:lpstr>
      <vt:lpstr>Arial</vt:lpstr>
      <vt:lpstr>Calibri</vt:lpstr>
      <vt:lpstr>Cambria Math</vt:lpstr>
      <vt:lpstr>Source Sans Pro</vt:lpstr>
      <vt:lpstr>Default Design</vt:lpstr>
      <vt:lpstr>Formulas</vt:lpstr>
      <vt:lpstr>Simultaneous games</vt:lpstr>
      <vt:lpstr>Simultaneous games</vt:lpstr>
      <vt:lpstr>Sequential games</vt:lpstr>
      <vt:lpstr>Sequential games</vt:lpstr>
      <vt:lpstr>Principal-agent concepts</vt:lpstr>
      <vt:lpstr>Profit maximization – monopoly</vt:lpstr>
      <vt:lpstr>Profit maximization – competitive firms</vt:lpstr>
      <vt:lpstr>Profit maximization – competitive firms</vt:lpstr>
      <vt:lpstr>Oligopolies fall between perfect competition and monopolies</vt:lpstr>
      <vt:lpstr>Oligopoly</vt:lpstr>
      <vt:lpstr>Overview of oligopoly models</vt:lpstr>
      <vt:lpstr>Taxes and subsidies</vt:lpstr>
      <vt:lpstr>Introduction to Microeconomics</vt:lpstr>
      <vt:lpstr>Other government regulations</vt:lpstr>
    </vt:vector>
  </TitlesOfParts>
  <Company>Washington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MEC 5404: Managerial Economics I</dc:title>
  <dc:creator>mcmanus</dc:creator>
  <cp:lastModifiedBy>John Horn</cp:lastModifiedBy>
  <cp:revision>488</cp:revision>
  <dcterms:created xsi:type="dcterms:W3CDTF">2005-05-16T01:18:25Z</dcterms:created>
  <dcterms:modified xsi:type="dcterms:W3CDTF">2025-03-15T00:43:46Z</dcterms:modified>
</cp:coreProperties>
</file>