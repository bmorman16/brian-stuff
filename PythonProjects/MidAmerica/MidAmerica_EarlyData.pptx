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25" d="100"/>
          <a:sy n="25" d="100"/>
        </p:scale>
        <p:origin x="19" y="11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AAC9-5BF5-340F-C2B3-4AC403FADF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6B374B-EB5A-98E9-ADC9-325D51D7FE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F91BBE-DACF-01F6-5F8E-FFA184BCB522}"/>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A602F7AF-2C79-C034-C7E7-655478351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F5E38-3414-C466-566D-B7502B338A7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037492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06676-1017-E4DE-BE6A-8F43B6699B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911121-F424-852E-BCBE-3D0AC7161B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B425A-2A41-F29D-2150-C58D61A319B2}"/>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E0D61697-21C5-46CE-EB90-81C9949503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DF174-2A28-3BA0-D934-D2445BB6BC4C}"/>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0932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07D3-EE1B-78B9-3F34-6DAD80C1AF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E18490-346A-730B-5BCB-0FF9A4D4C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EAFE2-C75A-9F5A-2E7F-2A5C9932079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864608CD-9319-7069-BB0E-CD8CECA1E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092FD-9595-0CB8-20CA-CC551831D4AD}"/>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689020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60B78-E971-DE30-38FA-E80F8AAC8A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2E0DA9-23A6-B1A2-2F39-D1BC3B81D0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4D5781-3427-5BC5-BC9E-2DC9EA83F8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86CB28-1FD2-2BBC-D984-969A843B270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385FA8B3-40D8-1869-F334-82BA21CF9F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185DBC-B957-3379-E0B3-56D17422823B}"/>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52004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5120-15A2-7CE2-F946-78EA9E6A65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017D88-C0AD-23BB-D564-9A8E7249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6A8344-4569-D444-DAC9-EC560D10CE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EA8469-59C6-D06E-26EF-33B5E1788A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8DA8C-7D4A-0C81-D4D7-B9E70C5BAA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46261-643F-E0E6-723B-38E7F9D022B1}"/>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8" name="Footer Placeholder 7">
            <a:extLst>
              <a:ext uri="{FF2B5EF4-FFF2-40B4-BE49-F238E27FC236}">
                <a16:creationId xmlns:a16="http://schemas.microsoft.com/office/drawing/2014/main" id="{854CB376-D10C-2017-0B49-5E02C0EB56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26CCE0-E721-9D25-FF56-DEB308B8516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70376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B5CE7-21A3-C88F-8FD0-19A512A4FD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CB20F4-F17C-1EA6-2D0D-7925C082C61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4" name="Footer Placeholder 3">
            <a:extLst>
              <a:ext uri="{FF2B5EF4-FFF2-40B4-BE49-F238E27FC236}">
                <a16:creationId xmlns:a16="http://schemas.microsoft.com/office/drawing/2014/main" id="{5155F002-15BE-F99A-3D5E-8FD365E42A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4C7CBC-6B99-23B1-A882-7BDE9E3DB27E}"/>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145632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9C171-C5E3-6124-465F-F9E9584D06BF}"/>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3" name="Footer Placeholder 2">
            <a:extLst>
              <a:ext uri="{FF2B5EF4-FFF2-40B4-BE49-F238E27FC236}">
                <a16:creationId xmlns:a16="http://schemas.microsoft.com/office/drawing/2014/main" id="{C8910F0A-5179-9508-5B28-C8AC39C3B3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36363C-B902-14B4-B0CC-5FED44993BF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909299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71EE-2C17-95B4-2442-0B1DEACB6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DAA86A-45DF-C218-F8F4-E8D7D2C40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907ACB-7C5D-5D14-2CD0-C96DE9975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56D757-FABE-C5C9-BC02-B051A7155AC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0502BD3C-0D47-F27D-ECDC-027BE49A2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8EE4AC-19BC-E150-E307-9B0634B9CD76}"/>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64817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691D-F6C6-0DC3-B495-33A3221B2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32C512-841C-B929-150E-ACFE4092E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436003-CAF9-F09D-620F-73D2C9CC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D4BE9-3632-F03E-76BE-0EA837870DEE}"/>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6FDC9C44-1A5C-B39B-7A35-7DDE55086B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08A705-FE47-4BA0-3CD4-6F8F754CD4BF}"/>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16444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EC7D-AD3E-F3DE-246C-8DBB8FEBA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06DB3C-AA75-0CAF-B320-6D63641ED7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6225B-CB90-440B-E695-0E18B3BE881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BCC3AD98-9A9A-9EA9-9D43-570D0226E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55F8B-13AB-5BB1-15CD-25AE613CC64D}"/>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18699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F89E45-2688-3B58-34ED-C9765C2F6D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28F7D6-DF0F-50AB-6F78-0F5A7A28B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0534C-0651-28B0-E612-D7CABC822D8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53C45D64-987C-F0DA-9598-85CFCDCE3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8C62C1-C4EE-5862-0348-5A94A7C05473}"/>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954486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B6F401-7E6B-20CF-E8BE-9A718E4EB2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6A702C-1D9C-E176-B105-C66CC7CA9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AFD4D-A5CD-0009-B0D9-BD93636CF3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664511F3-855D-E55B-3BA8-1BCE9E86CA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4AF7B7-C393-097D-773D-ACC1CC144D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F54151-BE7B-4218-9C6B-F6CCBED8F1C0}" type="slidenum">
              <a:rPr lang="en-US" smtClean="0"/>
              <a:t>‹#›</a:t>
            </a:fld>
            <a:endParaRPr lang="en-US"/>
          </a:p>
        </p:txBody>
      </p:sp>
    </p:spTree>
    <p:extLst>
      <p:ext uri="{BB962C8B-B14F-4D97-AF65-F5344CB8AC3E}">
        <p14:creationId xmlns:p14="http://schemas.microsoft.com/office/powerpoint/2010/main" val="3063418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C3D332-C3A4-433F-FB06-14974C2E9D69}"/>
              </a:ext>
            </a:extLst>
          </p:cNvPr>
          <p:cNvPicPr>
            <a:picLocks noChangeAspect="1"/>
          </p:cNvPicPr>
          <p:nvPr/>
        </p:nvPicPr>
        <p:blipFill>
          <a:blip r:embed="rId2"/>
          <a:stretch>
            <a:fillRect/>
          </a:stretch>
        </p:blipFill>
        <p:spPr>
          <a:xfrm>
            <a:off x="164663" y="1131477"/>
            <a:ext cx="3063505" cy="4968671"/>
          </a:xfrm>
          <a:prstGeom prst="rect">
            <a:avLst/>
          </a:prstGeom>
        </p:spPr>
      </p:pic>
      <p:pic>
        <p:nvPicPr>
          <p:cNvPr id="4" name="Picture 3">
            <a:extLst>
              <a:ext uri="{FF2B5EF4-FFF2-40B4-BE49-F238E27FC236}">
                <a16:creationId xmlns:a16="http://schemas.microsoft.com/office/drawing/2014/main" id="{4E0486A0-5360-8C85-75E0-087DC4A4CF13}"/>
              </a:ext>
            </a:extLst>
          </p:cNvPr>
          <p:cNvPicPr>
            <a:picLocks noChangeAspect="1"/>
          </p:cNvPicPr>
          <p:nvPr/>
        </p:nvPicPr>
        <p:blipFill>
          <a:blip r:embed="rId3"/>
          <a:stretch>
            <a:fillRect/>
          </a:stretch>
        </p:blipFill>
        <p:spPr>
          <a:xfrm>
            <a:off x="3697914" y="3295744"/>
            <a:ext cx="5791702" cy="2766300"/>
          </a:xfrm>
          <a:prstGeom prst="rect">
            <a:avLst/>
          </a:prstGeom>
        </p:spPr>
      </p:pic>
      <p:sp>
        <p:nvSpPr>
          <p:cNvPr id="5" name="TextBox 4">
            <a:extLst>
              <a:ext uri="{FF2B5EF4-FFF2-40B4-BE49-F238E27FC236}">
                <a16:creationId xmlns:a16="http://schemas.microsoft.com/office/drawing/2014/main" id="{C6A7011F-7A53-C469-2294-ED9A97A4D3EB}"/>
              </a:ext>
            </a:extLst>
          </p:cNvPr>
          <p:cNvSpPr txBox="1"/>
          <p:nvPr/>
        </p:nvSpPr>
        <p:spPr>
          <a:xfrm>
            <a:off x="0" y="559060"/>
            <a:ext cx="3527701" cy="369332"/>
          </a:xfrm>
          <a:prstGeom prst="rect">
            <a:avLst/>
          </a:prstGeom>
          <a:noFill/>
        </p:spPr>
        <p:txBody>
          <a:bodyPr wrap="square" rtlCol="0">
            <a:spAutoFit/>
          </a:bodyPr>
          <a:lstStyle/>
          <a:p>
            <a:r>
              <a:rPr lang="en-US" dirty="0"/>
              <a:t>Multivariable Correlation Analysis</a:t>
            </a:r>
          </a:p>
        </p:txBody>
      </p:sp>
      <p:pic>
        <p:nvPicPr>
          <p:cNvPr id="6" name="Picture 5">
            <a:extLst>
              <a:ext uri="{FF2B5EF4-FFF2-40B4-BE49-F238E27FC236}">
                <a16:creationId xmlns:a16="http://schemas.microsoft.com/office/drawing/2014/main" id="{022C4EDA-2C87-0B4A-6DCB-6423C49BD356}"/>
              </a:ext>
            </a:extLst>
          </p:cNvPr>
          <p:cNvPicPr>
            <a:picLocks noChangeAspect="1"/>
          </p:cNvPicPr>
          <p:nvPr/>
        </p:nvPicPr>
        <p:blipFill>
          <a:blip r:embed="rId4"/>
          <a:stretch>
            <a:fillRect/>
          </a:stretch>
        </p:blipFill>
        <p:spPr>
          <a:xfrm>
            <a:off x="9120416" y="1131477"/>
            <a:ext cx="2956816" cy="4930567"/>
          </a:xfrm>
          <a:prstGeom prst="rect">
            <a:avLst/>
          </a:prstGeom>
        </p:spPr>
      </p:pic>
      <p:pic>
        <p:nvPicPr>
          <p:cNvPr id="8" name="Picture 7">
            <a:extLst>
              <a:ext uri="{FF2B5EF4-FFF2-40B4-BE49-F238E27FC236}">
                <a16:creationId xmlns:a16="http://schemas.microsoft.com/office/drawing/2014/main" id="{82C1CBED-E2E3-F574-EDB1-11A92B49D464}"/>
              </a:ext>
            </a:extLst>
          </p:cNvPr>
          <p:cNvPicPr>
            <a:picLocks noChangeAspect="1"/>
          </p:cNvPicPr>
          <p:nvPr/>
        </p:nvPicPr>
        <p:blipFill>
          <a:blip r:embed="rId5"/>
          <a:stretch>
            <a:fillRect/>
          </a:stretch>
        </p:blipFill>
        <p:spPr>
          <a:xfrm>
            <a:off x="3384750" y="1131477"/>
            <a:ext cx="5281118" cy="2110923"/>
          </a:xfrm>
          <a:prstGeom prst="rect">
            <a:avLst/>
          </a:prstGeom>
        </p:spPr>
      </p:pic>
      <p:sp>
        <p:nvSpPr>
          <p:cNvPr id="11" name="Arrow: Right 10">
            <a:extLst>
              <a:ext uri="{FF2B5EF4-FFF2-40B4-BE49-F238E27FC236}">
                <a16:creationId xmlns:a16="http://schemas.microsoft.com/office/drawing/2014/main" id="{87B14093-B9B2-CA70-991A-C45DFD0E8EB0}"/>
              </a:ext>
            </a:extLst>
          </p:cNvPr>
          <p:cNvSpPr/>
          <p:nvPr/>
        </p:nvSpPr>
        <p:spPr>
          <a:xfrm>
            <a:off x="8665868" y="2186938"/>
            <a:ext cx="454548" cy="3792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74779FF-5BBA-E084-B060-091B210305B3}"/>
              </a:ext>
            </a:extLst>
          </p:cNvPr>
          <p:cNvSpPr/>
          <p:nvPr/>
        </p:nvSpPr>
        <p:spPr>
          <a:xfrm rot="10800000">
            <a:off x="3274142" y="4414684"/>
            <a:ext cx="423772"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0EE226F-6ED2-B983-2126-6E8020C97415}"/>
              </a:ext>
            </a:extLst>
          </p:cNvPr>
          <p:cNvSpPr txBox="1"/>
          <p:nvPr/>
        </p:nvSpPr>
        <p:spPr>
          <a:xfrm>
            <a:off x="9901084" y="559060"/>
            <a:ext cx="1793696" cy="369332"/>
          </a:xfrm>
          <a:prstGeom prst="rect">
            <a:avLst/>
          </a:prstGeom>
          <a:noFill/>
        </p:spPr>
        <p:txBody>
          <a:bodyPr wrap="none" rtlCol="0">
            <a:spAutoFit/>
          </a:bodyPr>
          <a:lstStyle/>
          <a:p>
            <a:r>
              <a:rPr lang="en-US" dirty="0"/>
              <a:t>P Value Analysis</a:t>
            </a:r>
          </a:p>
        </p:txBody>
      </p:sp>
    </p:spTree>
    <p:extLst>
      <p:ext uri="{BB962C8B-B14F-4D97-AF65-F5344CB8AC3E}">
        <p14:creationId xmlns:p14="http://schemas.microsoft.com/office/powerpoint/2010/main" val="3493064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4033D9-2F45-EA45-B191-C15694DABC71}"/>
              </a:ext>
            </a:extLst>
          </p:cNvPr>
          <p:cNvSpPr txBox="1"/>
          <p:nvPr/>
        </p:nvSpPr>
        <p:spPr>
          <a:xfrm>
            <a:off x="501445" y="875071"/>
            <a:ext cx="5338917" cy="2308324"/>
          </a:xfrm>
          <a:prstGeom prst="rect">
            <a:avLst/>
          </a:prstGeom>
          <a:noFill/>
        </p:spPr>
        <p:txBody>
          <a:bodyPr wrap="square" rtlCol="0">
            <a:spAutoFit/>
          </a:bodyPr>
          <a:lstStyle/>
          <a:p>
            <a:r>
              <a:rPr lang="en-US" dirty="0"/>
              <a:t>Chart Meaning: </a:t>
            </a:r>
          </a:p>
          <a:p>
            <a:r>
              <a:rPr lang="en-US" dirty="0"/>
              <a:t>In the P-Value chart, Green cells have very strong evidence of correlation from our small data set.</a:t>
            </a:r>
          </a:p>
          <a:p>
            <a:r>
              <a:rPr lang="en-US" dirty="0"/>
              <a:t>Yellow Cells have some evidence of correlation.</a:t>
            </a:r>
          </a:p>
          <a:p>
            <a:endParaRPr lang="en-US" dirty="0"/>
          </a:p>
          <a:p>
            <a:r>
              <a:rPr lang="en-US" dirty="0"/>
              <a:t>In the Correlation Chart, highlighted cells have a good fit to a linear trend.  (Red text for a negative correlation).    </a:t>
            </a:r>
          </a:p>
        </p:txBody>
      </p:sp>
      <p:sp>
        <p:nvSpPr>
          <p:cNvPr id="3" name="TextBox 2">
            <a:extLst>
              <a:ext uri="{FF2B5EF4-FFF2-40B4-BE49-F238E27FC236}">
                <a16:creationId xmlns:a16="http://schemas.microsoft.com/office/drawing/2014/main" id="{3C7736E8-4498-240C-C217-8B1B60630116}"/>
              </a:ext>
            </a:extLst>
          </p:cNvPr>
          <p:cNvSpPr txBox="1"/>
          <p:nvPr/>
        </p:nvSpPr>
        <p:spPr>
          <a:xfrm>
            <a:off x="6012426" y="875071"/>
            <a:ext cx="5338917" cy="3970318"/>
          </a:xfrm>
          <a:prstGeom prst="rect">
            <a:avLst/>
          </a:prstGeom>
          <a:noFill/>
        </p:spPr>
        <p:txBody>
          <a:bodyPr wrap="square" rtlCol="0">
            <a:spAutoFit/>
          </a:bodyPr>
          <a:lstStyle/>
          <a:p>
            <a:r>
              <a:rPr lang="en-US" dirty="0"/>
              <a:t>Takeaways:</a:t>
            </a:r>
          </a:p>
          <a:p>
            <a:pPr marL="342900" indent="-342900">
              <a:buAutoNum type="arabicParenR"/>
            </a:pPr>
            <a:r>
              <a:rPr lang="en-US" dirty="0"/>
              <a:t>No surprise, the most positive correlation to increased gross margin are BD donations.</a:t>
            </a:r>
          </a:p>
          <a:p>
            <a:pPr marL="342900" indent="-342900">
              <a:buAutoNum type="arabicParenR"/>
            </a:pPr>
            <a:r>
              <a:rPr lang="en-US" dirty="0"/>
              <a:t>Somewhat interesting – both local and exported organ donations have very similar positive correlation.  This suggests to me the costs of export really aren’t hurting gross margin at this point.</a:t>
            </a:r>
          </a:p>
          <a:p>
            <a:pPr marL="342900" indent="-342900">
              <a:buAutoNum type="arabicParenR"/>
            </a:pPr>
            <a:r>
              <a:rPr lang="en-US" dirty="0"/>
              <a:t>Most interesting – our P value fit is not perfect but this data suggests that HV Donors and Male tissue donors &lt;60 are driving NEGITIVE gross margin while female tissue donors between 60 and 69 are driving POSITIVE Gross margin.  </a:t>
            </a:r>
          </a:p>
          <a:p>
            <a:pPr marL="342900" indent="-342900">
              <a:buAutoNum type="arabicParenR"/>
            </a:pPr>
            <a:endParaRPr lang="en-US" dirty="0"/>
          </a:p>
        </p:txBody>
      </p:sp>
      <p:sp>
        <p:nvSpPr>
          <p:cNvPr id="4" name="TextBox 3">
            <a:extLst>
              <a:ext uri="{FF2B5EF4-FFF2-40B4-BE49-F238E27FC236}">
                <a16:creationId xmlns:a16="http://schemas.microsoft.com/office/drawing/2014/main" id="{4C6CCED9-B3A3-E30D-44B2-E3EEC257A56F}"/>
              </a:ext>
            </a:extLst>
          </p:cNvPr>
          <p:cNvSpPr txBox="1"/>
          <p:nvPr/>
        </p:nvSpPr>
        <p:spPr>
          <a:xfrm>
            <a:off x="2084439" y="5112774"/>
            <a:ext cx="8386916" cy="1477328"/>
          </a:xfrm>
          <a:prstGeom prst="rect">
            <a:avLst/>
          </a:prstGeom>
          <a:noFill/>
        </p:spPr>
        <p:txBody>
          <a:bodyPr wrap="square" rtlCol="0">
            <a:spAutoFit/>
          </a:bodyPr>
          <a:lstStyle/>
          <a:p>
            <a:r>
              <a:rPr lang="en-US" dirty="0"/>
              <a:t>Key Questions: More data would be very useful here to confirm these trends or to deny them.  If we had more discrete data to break these up by individual event I could better run the analysis.  If that’s not possible we may be able to gather some external research data that might help drive conclusions.  I’d love to get your thoughts on the findings so far to see if this could  be a good avenue to continue.</a:t>
            </a:r>
          </a:p>
        </p:txBody>
      </p:sp>
    </p:spTree>
    <p:extLst>
      <p:ext uri="{BB962C8B-B14F-4D97-AF65-F5344CB8AC3E}">
        <p14:creationId xmlns:p14="http://schemas.microsoft.com/office/powerpoint/2010/main" val="2595537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Words>
  <Application>Microsoft Office PowerPoint</Application>
  <PresentationFormat>Widescreen</PresentationFormat>
  <Paragraphs>12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Morman, Brian</dc:creator>
  <cp:lastModifiedBy>Morman, Brian</cp:lastModifiedBy>
  <cp:revision>1</cp:revision>
  <dcterms:created xsi:type="dcterms:W3CDTF">2025-07-02T01:44:12Z</dcterms:created>
  <dcterms:modified xsi:type="dcterms:W3CDTF">2025-07-02T01:44:48Z</dcterms:modified>
</cp:coreProperties>
</file>