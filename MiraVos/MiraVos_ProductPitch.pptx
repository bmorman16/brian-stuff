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778" autoAdjust="0"/>
  </p:normalViewPr>
  <p:slideViewPr>
    <p:cSldViewPr snapToGrid="0">
      <p:cViewPr varScale="1">
        <p:scale>
          <a:sx n="64" d="100"/>
          <a:sy n="64" d="100"/>
        </p:scale>
        <p:origin x="54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AC9063E1-B5E0-421E-89B1-1324C316AF1B}"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37C43DA-71DC-42EE-A67B-716F02E2D64C}">
      <dgm:prSet/>
      <dgm:spPr/>
      <dgm:t>
        <a:bodyPr/>
        <a:lstStyle/>
        <a:p>
          <a:r>
            <a:rPr lang="en-US"/>
            <a:t>Low trust industry – 3</a:t>
          </a:r>
          <a:r>
            <a:rPr lang="en-US" baseline="30000"/>
            <a:t>rd</a:t>
          </a:r>
          <a:r>
            <a:rPr lang="en-US"/>
            <a:t> party tested</a:t>
          </a:r>
        </a:p>
      </dgm:t>
    </dgm:pt>
    <dgm:pt modelId="{83539B81-BD8C-4165-82B8-650202D04DF1}" type="parTrans" cxnId="{B636F545-5DF9-44FD-97A5-D3C3DC0C40E8}">
      <dgm:prSet/>
      <dgm:spPr/>
      <dgm:t>
        <a:bodyPr/>
        <a:lstStyle/>
        <a:p>
          <a:endParaRPr lang="en-US"/>
        </a:p>
      </dgm:t>
    </dgm:pt>
    <dgm:pt modelId="{867451D5-1F7A-4E47-BE53-B2E11190F3A8}" type="sibTrans" cxnId="{B636F545-5DF9-44FD-97A5-D3C3DC0C40E8}">
      <dgm:prSet/>
      <dgm:spPr/>
      <dgm:t>
        <a:bodyPr/>
        <a:lstStyle/>
        <a:p>
          <a:endParaRPr lang="en-US"/>
        </a:p>
      </dgm:t>
    </dgm:pt>
    <dgm:pt modelId="{F479B019-CBF5-4033-88DA-10B41019BC40}">
      <dgm:prSet/>
      <dgm:spPr/>
      <dgm:t>
        <a:bodyPr/>
        <a:lstStyle/>
        <a:p>
          <a:r>
            <a:rPr lang="en-US" dirty="0"/>
            <a:t>Busy shelves filled with unknown brands and little differentiation</a:t>
          </a:r>
        </a:p>
      </dgm:t>
    </dgm:pt>
    <dgm:pt modelId="{CDFDB480-4E2E-4631-B80A-5EFF938022A5}" type="parTrans" cxnId="{CC9E3674-5F8E-4E25-ABE2-2159DBED0588}">
      <dgm:prSet/>
      <dgm:spPr/>
      <dgm:t>
        <a:bodyPr/>
        <a:lstStyle/>
        <a:p>
          <a:endParaRPr lang="en-US"/>
        </a:p>
      </dgm:t>
    </dgm:pt>
    <dgm:pt modelId="{125F62E3-4545-401C-910A-BEDB54FB184F}" type="sibTrans" cxnId="{CC9E3674-5F8E-4E25-ABE2-2159DBED0588}">
      <dgm:prSet/>
      <dgm:spPr/>
      <dgm:t>
        <a:bodyPr/>
        <a:lstStyle/>
        <a:p>
          <a:endParaRPr lang="en-US"/>
        </a:p>
      </dgm:t>
    </dgm:pt>
    <dgm:pt modelId="{C75273E4-5802-4488-A04D-D02A572C3FF5}">
      <dgm:prSet/>
      <dgm:spPr/>
      <dgm:t>
        <a:bodyPr/>
        <a:lstStyle/>
        <a:p>
          <a:r>
            <a:rPr lang="en-US"/>
            <a:t>Products that are marketed to mostly power lifters and male audiences.  With ingredients that don’t align to the Mira Vos buyers needs.  </a:t>
          </a:r>
        </a:p>
      </dgm:t>
    </dgm:pt>
    <dgm:pt modelId="{55335D9E-ADF6-44E5-B769-61C209714A04}" type="parTrans" cxnId="{161A2C0B-C4D7-4EE6-971D-BEDC68E15E24}">
      <dgm:prSet/>
      <dgm:spPr/>
      <dgm:t>
        <a:bodyPr/>
        <a:lstStyle/>
        <a:p>
          <a:endParaRPr lang="en-US"/>
        </a:p>
      </dgm:t>
    </dgm:pt>
    <dgm:pt modelId="{479E1D16-442F-42E1-B83A-F882CCD399AD}" type="sibTrans" cxnId="{161A2C0B-C4D7-4EE6-971D-BEDC68E15E24}">
      <dgm:prSet/>
      <dgm:spPr/>
      <dgm:t>
        <a:bodyPr/>
        <a:lstStyle/>
        <a:p>
          <a:endParaRPr lang="en-US"/>
        </a:p>
      </dgm:t>
    </dgm:pt>
    <dgm:pt modelId="{3684B05D-F12A-436B-95E0-F442ED3468D8}">
      <dgm:prSet/>
      <dgm:spPr/>
      <dgm:t>
        <a:bodyPr/>
        <a:lstStyle/>
        <a:p>
          <a:r>
            <a:rPr lang="en-US" dirty="0"/>
            <a:t>Mira Vos sells the ritual of </a:t>
          </a:r>
          <a:r>
            <a:rPr lang="en-US" dirty="0" err="1"/>
            <a:t>preworkout</a:t>
          </a:r>
          <a:r>
            <a:rPr lang="en-US" dirty="0"/>
            <a:t> drinking to a customer segment that hasn’t been engaged previously.  The pain is getting yourself up to go to the gym every day.   </a:t>
          </a:r>
          <a:r>
            <a:rPr lang="en-US" dirty="0" err="1"/>
            <a:t>MiraVos</a:t>
          </a:r>
          <a:r>
            <a:rPr lang="en-US" dirty="0"/>
            <a:t> extends the </a:t>
          </a:r>
          <a:r>
            <a:rPr lang="en-US" dirty="0" err="1"/>
            <a:t>preworkout</a:t>
          </a:r>
          <a:r>
            <a:rPr lang="en-US" dirty="0"/>
            <a:t> ritual solution to a new segment </a:t>
          </a:r>
        </a:p>
      </dgm:t>
    </dgm:pt>
    <dgm:pt modelId="{E2315A59-69A7-4536-9A83-B0462C432C2A}" type="parTrans" cxnId="{19C1E0C4-0556-4CE1-899A-B4392A1C0E86}">
      <dgm:prSet/>
      <dgm:spPr/>
      <dgm:t>
        <a:bodyPr/>
        <a:lstStyle/>
        <a:p>
          <a:endParaRPr lang="en-US"/>
        </a:p>
      </dgm:t>
    </dgm:pt>
    <dgm:pt modelId="{0A4CAC6D-295D-434E-B4B0-B933899460E1}" type="sibTrans" cxnId="{19C1E0C4-0556-4CE1-899A-B4392A1C0E86}">
      <dgm:prSet/>
      <dgm:spPr/>
      <dgm:t>
        <a:bodyPr/>
        <a:lstStyle/>
        <a:p>
          <a:endParaRPr lang="en-US"/>
        </a:p>
      </dgm:t>
    </dgm:pt>
    <dgm:pt modelId="{24D271E5-6EF9-4AC3-9CCB-88BFA4086479}" type="pres">
      <dgm:prSet presAssocID="{AC9063E1-B5E0-421E-89B1-1324C316AF1B}" presName="root" presStyleCnt="0">
        <dgm:presLayoutVars>
          <dgm:dir/>
          <dgm:resizeHandles val="exact"/>
        </dgm:presLayoutVars>
      </dgm:prSet>
      <dgm:spPr/>
    </dgm:pt>
    <dgm:pt modelId="{4AA53523-0790-458F-9385-C493DCA7DC88}" type="pres">
      <dgm:prSet presAssocID="{AC9063E1-B5E0-421E-89B1-1324C316AF1B}" presName="container" presStyleCnt="0">
        <dgm:presLayoutVars>
          <dgm:dir/>
          <dgm:resizeHandles val="exact"/>
        </dgm:presLayoutVars>
      </dgm:prSet>
      <dgm:spPr/>
    </dgm:pt>
    <dgm:pt modelId="{137657F7-9C8B-46B4-9EAB-5BE7FE654900}" type="pres">
      <dgm:prSet presAssocID="{A37C43DA-71DC-42EE-A67B-716F02E2D64C}" presName="compNode" presStyleCnt="0"/>
      <dgm:spPr/>
    </dgm:pt>
    <dgm:pt modelId="{7D13111B-2276-46DB-B42B-00FDDC176044}" type="pres">
      <dgm:prSet presAssocID="{A37C43DA-71DC-42EE-A67B-716F02E2D64C}" presName="iconBgRect" presStyleLbl="bgShp" presStyleIdx="0" presStyleCnt="4"/>
      <dgm:spPr/>
    </dgm:pt>
    <dgm:pt modelId="{7C5B62D8-6D6A-4CBB-9700-73541A9138FA}" type="pres">
      <dgm:prSet presAssocID="{A37C43DA-71DC-42EE-A67B-716F02E2D64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tract"/>
        </a:ext>
      </dgm:extLst>
    </dgm:pt>
    <dgm:pt modelId="{884BB351-A27C-420F-B18C-D5DE668E40A6}" type="pres">
      <dgm:prSet presAssocID="{A37C43DA-71DC-42EE-A67B-716F02E2D64C}" presName="spaceRect" presStyleCnt="0"/>
      <dgm:spPr/>
    </dgm:pt>
    <dgm:pt modelId="{7EB5A6D0-F6F4-43B9-B29F-55A7B7B44B61}" type="pres">
      <dgm:prSet presAssocID="{A37C43DA-71DC-42EE-A67B-716F02E2D64C}" presName="textRect" presStyleLbl="revTx" presStyleIdx="0" presStyleCnt="4">
        <dgm:presLayoutVars>
          <dgm:chMax val="1"/>
          <dgm:chPref val="1"/>
        </dgm:presLayoutVars>
      </dgm:prSet>
      <dgm:spPr/>
    </dgm:pt>
    <dgm:pt modelId="{C728794D-9790-4A18-903E-BAADB69D9811}" type="pres">
      <dgm:prSet presAssocID="{867451D5-1F7A-4E47-BE53-B2E11190F3A8}" presName="sibTrans" presStyleLbl="sibTrans2D1" presStyleIdx="0" presStyleCnt="0"/>
      <dgm:spPr/>
    </dgm:pt>
    <dgm:pt modelId="{313A737F-7A1E-4AD5-8F2F-282FC8E0F6D6}" type="pres">
      <dgm:prSet presAssocID="{F479B019-CBF5-4033-88DA-10B41019BC40}" presName="compNode" presStyleCnt="0"/>
      <dgm:spPr/>
    </dgm:pt>
    <dgm:pt modelId="{A7D156C3-54EC-499E-BD1E-665184AA1180}" type="pres">
      <dgm:prSet presAssocID="{F479B019-CBF5-4033-88DA-10B41019BC40}" presName="iconBgRect" presStyleLbl="bgShp" presStyleIdx="1" presStyleCnt="4"/>
      <dgm:spPr/>
    </dgm:pt>
    <dgm:pt modelId="{0708FAE4-FAB1-454E-9A8F-F386B3F476DD}" type="pres">
      <dgm:prSet presAssocID="{F479B019-CBF5-4033-88DA-10B41019BC4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opping cart"/>
        </a:ext>
      </dgm:extLst>
    </dgm:pt>
    <dgm:pt modelId="{14B28FE7-9673-4CCE-B4B1-55087FC602E6}" type="pres">
      <dgm:prSet presAssocID="{F479B019-CBF5-4033-88DA-10B41019BC40}" presName="spaceRect" presStyleCnt="0"/>
      <dgm:spPr/>
    </dgm:pt>
    <dgm:pt modelId="{D7C780B2-FF9C-470F-8A63-9B4C57F1B62C}" type="pres">
      <dgm:prSet presAssocID="{F479B019-CBF5-4033-88DA-10B41019BC40}" presName="textRect" presStyleLbl="revTx" presStyleIdx="1" presStyleCnt="4">
        <dgm:presLayoutVars>
          <dgm:chMax val="1"/>
          <dgm:chPref val="1"/>
        </dgm:presLayoutVars>
      </dgm:prSet>
      <dgm:spPr/>
    </dgm:pt>
    <dgm:pt modelId="{DE03FD08-3E79-41E2-8A31-AA82250F6385}" type="pres">
      <dgm:prSet presAssocID="{125F62E3-4545-401C-910A-BEDB54FB184F}" presName="sibTrans" presStyleLbl="sibTrans2D1" presStyleIdx="0" presStyleCnt="0"/>
      <dgm:spPr/>
    </dgm:pt>
    <dgm:pt modelId="{A29F3D4E-3332-43B0-8F8B-E8760F327A7B}" type="pres">
      <dgm:prSet presAssocID="{C75273E4-5802-4488-A04D-D02A572C3FF5}" presName="compNode" presStyleCnt="0"/>
      <dgm:spPr/>
    </dgm:pt>
    <dgm:pt modelId="{0F2649E4-82A4-4E5E-B598-CDE2F9057D03}" type="pres">
      <dgm:prSet presAssocID="{C75273E4-5802-4488-A04D-D02A572C3FF5}" presName="iconBgRect" presStyleLbl="bgShp" presStyleIdx="2" presStyleCnt="4"/>
      <dgm:spPr/>
    </dgm:pt>
    <dgm:pt modelId="{97E20D54-6C25-4B7E-8E3E-FB0215BA5428}" type="pres">
      <dgm:prSet presAssocID="{C75273E4-5802-4488-A04D-D02A572C3FF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dvertising"/>
        </a:ext>
      </dgm:extLst>
    </dgm:pt>
    <dgm:pt modelId="{DB6BF044-B161-4AB0-8EC1-A2827B3E26CD}" type="pres">
      <dgm:prSet presAssocID="{C75273E4-5802-4488-A04D-D02A572C3FF5}" presName="spaceRect" presStyleCnt="0"/>
      <dgm:spPr/>
    </dgm:pt>
    <dgm:pt modelId="{20223A8B-48AB-4710-9A06-427169C1F450}" type="pres">
      <dgm:prSet presAssocID="{C75273E4-5802-4488-A04D-D02A572C3FF5}" presName="textRect" presStyleLbl="revTx" presStyleIdx="2" presStyleCnt="4">
        <dgm:presLayoutVars>
          <dgm:chMax val="1"/>
          <dgm:chPref val="1"/>
        </dgm:presLayoutVars>
      </dgm:prSet>
      <dgm:spPr/>
    </dgm:pt>
    <dgm:pt modelId="{0D7B5E8C-5683-4B60-B6F6-9938B7F87160}" type="pres">
      <dgm:prSet presAssocID="{479E1D16-442F-42E1-B83A-F882CCD399AD}" presName="sibTrans" presStyleLbl="sibTrans2D1" presStyleIdx="0" presStyleCnt="0"/>
      <dgm:spPr/>
    </dgm:pt>
    <dgm:pt modelId="{66D85CE9-7D09-4D5C-B93E-6AC7D18BF890}" type="pres">
      <dgm:prSet presAssocID="{3684B05D-F12A-436B-95E0-F442ED3468D8}" presName="compNode" presStyleCnt="0"/>
      <dgm:spPr/>
    </dgm:pt>
    <dgm:pt modelId="{340DDAA9-FFA1-48DC-B78C-4302A86DF793}" type="pres">
      <dgm:prSet presAssocID="{3684B05D-F12A-436B-95E0-F442ED3468D8}" presName="iconBgRect" presStyleLbl="bgShp" presStyleIdx="3" presStyleCnt="4"/>
      <dgm:spPr/>
    </dgm:pt>
    <dgm:pt modelId="{3AB5B7DF-8CD9-4793-9C8F-C3B12AB1B7C4}" type="pres">
      <dgm:prSet presAssocID="{3684B05D-F12A-436B-95E0-F442ED3468D8}"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ody builder outline"/>
        </a:ext>
      </dgm:extLst>
    </dgm:pt>
    <dgm:pt modelId="{60078EEF-8C98-4BC0-A0F8-6010A470FD08}" type="pres">
      <dgm:prSet presAssocID="{3684B05D-F12A-436B-95E0-F442ED3468D8}" presName="spaceRect" presStyleCnt="0"/>
      <dgm:spPr/>
    </dgm:pt>
    <dgm:pt modelId="{DF0810F4-54E8-43EC-9BA1-0349290DA609}" type="pres">
      <dgm:prSet presAssocID="{3684B05D-F12A-436B-95E0-F442ED3468D8}" presName="textRect" presStyleLbl="revTx" presStyleIdx="3" presStyleCnt="4">
        <dgm:presLayoutVars>
          <dgm:chMax val="1"/>
          <dgm:chPref val="1"/>
        </dgm:presLayoutVars>
      </dgm:prSet>
      <dgm:spPr/>
    </dgm:pt>
  </dgm:ptLst>
  <dgm:cxnLst>
    <dgm:cxn modelId="{161A2C0B-C4D7-4EE6-971D-BEDC68E15E24}" srcId="{AC9063E1-B5E0-421E-89B1-1324C316AF1B}" destId="{C75273E4-5802-4488-A04D-D02A572C3FF5}" srcOrd="2" destOrd="0" parTransId="{55335D9E-ADF6-44E5-B769-61C209714A04}" sibTransId="{479E1D16-442F-42E1-B83A-F882CCD399AD}"/>
    <dgm:cxn modelId="{E53D082A-81B7-4282-943C-4DE8B7C41981}" type="presOf" srcId="{125F62E3-4545-401C-910A-BEDB54FB184F}" destId="{DE03FD08-3E79-41E2-8A31-AA82250F6385}" srcOrd="0" destOrd="0" presId="urn:microsoft.com/office/officeart/2018/2/layout/IconCircleList"/>
    <dgm:cxn modelId="{4738B95B-27F9-46E5-8721-D2DDDF5B5FE8}" type="presOf" srcId="{C75273E4-5802-4488-A04D-D02A572C3FF5}" destId="{20223A8B-48AB-4710-9A06-427169C1F450}" srcOrd="0" destOrd="0" presId="urn:microsoft.com/office/officeart/2018/2/layout/IconCircleList"/>
    <dgm:cxn modelId="{B636F545-5DF9-44FD-97A5-D3C3DC0C40E8}" srcId="{AC9063E1-B5E0-421E-89B1-1324C316AF1B}" destId="{A37C43DA-71DC-42EE-A67B-716F02E2D64C}" srcOrd="0" destOrd="0" parTransId="{83539B81-BD8C-4165-82B8-650202D04DF1}" sibTransId="{867451D5-1F7A-4E47-BE53-B2E11190F3A8}"/>
    <dgm:cxn modelId="{CC9E3674-5F8E-4E25-ABE2-2159DBED0588}" srcId="{AC9063E1-B5E0-421E-89B1-1324C316AF1B}" destId="{F479B019-CBF5-4033-88DA-10B41019BC40}" srcOrd="1" destOrd="0" parTransId="{CDFDB480-4E2E-4631-B80A-5EFF938022A5}" sibTransId="{125F62E3-4545-401C-910A-BEDB54FB184F}"/>
    <dgm:cxn modelId="{347A968C-9D67-4004-8B8F-7F398064F1F7}" type="presOf" srcId="{A37C43DA-71DC-42EE-A67B-716F02E2D64C}" destId="{7EB5A6D0-F6F4-43B9-B29F-55A7B7B44B61}" srcOrd="0" destOrd="0" presId="urn:microsoft.com/office/officeart/2018/2/layout/IconCircleList"/>
    <dgm:cxn modelId="{38BC16A4-EF91-4502-90BE-A1D9803D96A0}" type="presOf" srcId="{AC9063E1-B5E0-421E-89B1-1324C316AF1B}" destId="{24D271E5-6EF9-4AC3-9CCB-88BFA4086479}" srcOrd="0" destOrd="0" presId="urn:microsoft.com/office/officeart/2018/2/layout/IconCircleList"/>
    <dgm:cxn modelId="{19C1E0C4-0556-4CE1-899A-B4392A1C0E86}" srcId="{AC9063E1-B5E0-421E-89B1-1324C316AF1B}" destId="{3684B05D-F12A-436B-95E0-F442ED3468D8}" srcOrd="3" destOrd="0" parTransId="{E2315A59-69A7-4536-9A83-B0462C432C2A}" sibTransId="{0A4CAC6D-295D-434E-B4B0-B933899460E1}"/>
    <dgm:cxn modelId="{84CB38CF-3E97-417F-A81D-3E68C7140528}" type="presOf" srcId="{F479B019-CBF5-4033-88DA-10B41019BC40}" destId="{D7C780B2-FF9C-470F-8A63-9B4C57F1B62C}" srcOrd="0" destOrd="0" presId="urn:microsoft.com/office/officeart/2018/2/layout/IconCircleList"/>
    <dgm:cxn modelId="{E19263DA-7691-4236-95B6-5A72B745F6F0}" type="presOf" srcId="{3684B05D-F12A-436B-95E0-F442ED3468D8}" destId="{DF0810F4-54E8-43EC-9BA1-0349290DA609}" srcOrd="0" destOrd="0" presId="urn:microsoft.com/office/officeart/2018/2/layout/IconCircleList"/>
    <dgm:cxn modelId="{504702E0-C53D-40EB-8DB3-0123125A1CB5}" type="presOf" srcId="{479E1D16-442F-42E1-B83A-F882CCD399AD}" destId="{0D7B5E8C-5683-4B60-B6F6-9938B7F87160}" srcOrd="0" destOrd="0" presId="urn:microsoft.com/office/officeart/2018/2/layout/IconCircleList"/>
    <dgm:cxn modelId="{2DA156ED-5114-4A3E-9C72-E3FA7F5C9973}" type="presOf" srcId="{867451D5-1F7A-4E47-BE53-B2E11190F3A8}" destId="{C728794D-9790-4A18-903E-BAADB69D9811}" srcOrd="0" destOrd="0" presId="urn:microsoft.com/office/officeart/2018/2/layout/IconCircleList"/>
    <dgm:cxn modelId="{3F4B8164-DA15-4F63-9994-2B6F5707C986}" type="presParOf" srcId="{24D271E5-6EF9-4AC3-9CCB-88BFA4086479}" destId="{4AA53523-0790-458F-9385-C493DCA7DC88}" srcOrd="0" destOrd="0" presId="urn:microsoft.com/office/officeart/2018/2/layout/IconCircleList"/>
    <dgm:cxn modelId="{66D81F69-A75C-4CBA-9831-B2A3C5C0B07E}" type="presParOf" srcId="{4AA53523-0790-458F-9385-C493DCA7DC88}" destId="{137657F7-9C8B-46B4-9EAB-5BE7FE654900}" srcOrd="0" destOrd="0" presId="urn:microsoft.com/office/officeart/2018/2/layout/IconCircleList"/>
    <dgm:cxn modelId="{F99537BE-C18B-4F24-872B-82245CC8585E}" type="presParOf" srcId="{137657F7-9C8B-46B4-9EAB-5BE7FE654900}" destId="{7D13111B-2276-46DB-B42B-00FDDC176044}" srcOrd="0" destOrd="0" presId="urn:microsoft.com/office/officeart/2018/2/layout/IconCircleList"/>
    <dgm:cxn modelId="{B1A9F7BA-5B83-491C-9FF1-8694593B24C3}" type="presParOf" srcId="{137657F7-9C8B-46B4-9EAB-5BE7FE654900}" destId="{7C5B62D8-6D6A-4CBB-9700-73541A9138FA}" srcOrd="1" destOrd="0" presId="urn:microsoft.com/office/officeart/2018/2/layout/IconCircleList"/>
    <dgm:cxn modelId="{27F30369-75D3-42EA-8819-9142A622761A}" type="presParOf" srcId="{137657F7-9C8B-46B4-9EAB-5BE7FE654900}" destId="{884BB351-A27C-420F-B18C-D5DE668E40A6}" srcOrd="2" destOrd="0" presId="urn:microsoft.com/office/officeart/2018/2/layout/IconCircleList"/>
    <dgm:cxn modelId="{85B1805B-8B6B-4451-953B-F2DF63EDACA2}" type="presParOf" srcId="{137657F7-9C8B-46B4-9EAB-5BE7FE654900}" destId="{7EB5A6D0-F6F4-43B9-B29F-55A7B7B44B61}" srcOrd="3" destOrd="0" presId="urn:microsoft.com/office/officeart/2018/2/layout/IconCircleList"/>
    <dgm:cxn modelId="{B5E93D73-51BA-4BD6-AC83-01D0B9DFFCF9}" type="presParOf" srcId="{4AA53523-0790-458F-9385-C493DCA7DC88}" destId="{C728794D-9790-4A18-903E-BAADB69D9811}" srcOrd="1" destOrd="0" presId="urn:microsoft.com/office/officeart/2018/2/layout/IconCircleList"/>
    <dgm:cxn modelId="{ABB2BAC0-02E9-4C7B-A540-027FB2246204}" type="presParOf" srcId="{4AA53523-0790-458F-9385-C493DCA7DC88}" destId="{313A737F-7A1E-4AD5-8F2F-282FC8E0F6D6}" srcOrd="2" destOrd="0" presId="urn:microsoft.com/office/officeart/2018/2/layout/IconCircleList"/>
    <dgm:cxn modelId="{C654C103-74C4-4586-8E23-EAB10D622B43}" type="presParOf" srcId="{313A737F-7A1E-4AD5-8F2F-282FC8E0F6D6}" destId="{A7D156C3-54EC-499E-BD1E-665184AA1180}" srcOrd="0" destOrd="0" presId="urn:microsoft.com/office/officeart/2018/2/layout/IconCircleList"/>
    <dgm:cxn modelId="{2D2EEC19-8191-48EB-A4FB-17107BA29865}" type="presParOf" srcId="{313A737F-7A1E-4AD5-8F2F-282FC8E0F6D6}" destId="{0708FAE4-FAB1-454E-9A8F-F386B3F476DD}" srcOrd="1" destOrd="0" presId="urn:microsoft.com/office/officeart/2018/2/layout/IconCircleList"/>
    <dgm:cxn modelId="{DBFFF186-4BB1-4220-A519-BE28C82CD471}" type="presParOf" srcId="{313A737F-7A1E-4AD5-8F2F-282FC8E0F6D6}" destId="{14B28FE7-9673-4CCE-B4B1-55087FC602E6}" srcOrd="2" destOrd="0" presId="urn:microsoft.com/office/officeart/2018/2/layout/IconCircleList"/>
    <dgm:cxn modelId="{749F9DA8-8B35-4849-BAF7-ABB117C4EC7B}" type="presParOf" srcId="{313A737F-7A1E-4AD5-8F2F-282FC8E0F6D6}" destId="{D7C780B2-FF9C-470F-8A63-9B4C57F1B62C}" srcOrd="3" destOrd="0" presId="urn:microsoft.com/office/officeart/2018/2/layout/IconCircleList"/>
    <dgm:cxn modelId="{0B2D0642-442B-453F-8659-ECA52BC594F1}" type="presParOf" srcId="{4AA53523-0790-458F-9385-C493DCA7DC88}" destId="{DE03FD08-3E79-41E2-8A31-AA82250F6385}" srcOrd="3" destOrd="0" presId="urn:microsoft.com/office/officeart/2018/2/layout/IconCircleList"/>
    <dgm:cxn modelId="{7459A9A9-639C-4AB0-815B-61C967DA4DAD}" type="presParOf" srcId="{4AA53523-0790-458F-9385-C493DCA7DC88}" destId="{A29F3D4E-3332-43B0-8F8B-E8760F327A7B}" srcOrd="4" destOrd="0" presId="urn:microsoft.com/office/officeart/2018/2/layout/IconCircleList"/>
    <dgm:cxn modelId="{5C9C7957-6A2D-42A5-B199-4D6946710756}" type="presParOf" srcId="{A29F3D4E-3332-43B0-8F8B-E8760F327A7B}" destId="{0F2649E4-82A4-4E5E-B598-CDE2F9057D03}" srcOrd="0" destOrd="0" presId="urn:microsoft.com/office/officeart/2018/2/layout/IconCircleList"/>
    <dgm:cxn modelId="{12B915C4-F855-4FE9-9212-BD6D1D25A8CE}" type="presParOf" srcId="{A29F3D4E-3332-43B0-8F8B-E8760F327A7B}" destId="{97E20D54-6C25-4B7E-8E3E-FB0215BA5428}" srcOrd="1" destOrd="0" presId="urn:microsoft.com/office/officeart/2018/2/layout/IconCircleList"/>
    <dgm:cxn modelId="{6DA5CD42-C242-4EE1-9375-0B7B3BFF3A77}" type="presParOf" srcId="{A29F3D4E-3332-43B0-8F8B-E8760F327A7B}" destId="{DB6BF044-B161-4AB0-8EC1-A2827B3E26CD}" srcOrd="2" destOrd="0" presId="urn:microsoft.com/office/officeart/2018/2/layout/IconCircleList"/>
    <dgm:cxn modelId="{B9B90CA3-8459-499F-8F72-A69618348B3C}" type="presParOf" srcId="{A29F3D4E-3332-43B0-8F8B-E8760F327A7B}" destId="{20223A8B-48AB-4710-9A06-427169C1F450}" srcOrd="3" destOrd="0" presId="urn:microsoft.com/office/officeart/2018/2/layout/IconCircleList"/>
    <dgm:cxn modelId="{E33C1B29-F80C-4A30-A2A6-EB906CF9671E}" type="presParOf" srcId="{4AA53523-0790-458F-9385-C493DCA7DC88}" destId="{0D7B5E8C-5683-4B60-B6F6-9938B7F87160}" srcOrd="5" destOrd="0" presId="urn:microsoft.com/office/officeart/2018/2/layout/IconCircleList"/>
    <dgm:cxn modelId="{F6F7E3B6-C6DF-4DEE-BCEE-BC5A61E43139}" type="presParOf" srcId="{4AA53523-0790-458F-9385-C493DCA7DC88}" destId="{66D85CE9-7D09-4D5C-B93E-6AC7D18BF890}" srcOrd="6" destOrd="0" presId="urn:microsoft.com/office/officeart/2018/2/layout/IconCircleList"/>
    <dgm:cxn modelId="{117BBC63-9483-4E3D-A33F-F43398406F94}" type="presParOf" srcId="{66D85CE9-7D09-4D5C-B93E-6AC7D18BF890}" destId="{340DDAA9-FFA1-48DC-B78C-4302A86DF793}" srcOrd="0" destOrd="0" presId="urn:microsoft.com/office/officeart/2018/2/layout/IconCircleList"/>
    <dgm:cxn modelId="{67D9DC00-991D-4D54-9FA1-DA8D2F06871B}" type="presParOf" srcId="{66D85CE9-7D09-4D5C-B93E-6AC7D18BF890}" destId="{3AB5B7DF-8CD9-4793-9C8F-C3B12AB1B7C4}" srcOrd="1" destOrd="0" presId="urn:microsoft.com/office/officeart/2018/2/layout/IconCircleList"/>
    <dgm:cxn modelId="{61DE633F-DE57-44CD-B24A-883719891199}" type="presParOf" srcId="{66D85CE9-7D09-4D5C-B93E-6AC7D18BF890}" destId="{60078EEF-8C98-4BC0-A0F8-6010A470FD08}" srcOrd="2" destOrd="0" presId="urn:microsoft.com/office/officeart/2018/2/layout/IconCircleList"/>
    <dgm:cxn modelId="{8CE5F9B3-C346-4910-A3D3-0098D163CA41}" type="presParOf" srcId="{66D85CE9-7D09-4D5C-B93E-6AC7D18BF890}" destId="{DF0810F4-54E8-43EC-9BA1-0349290DA60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13111B-2276-46DB-B42B-00FDDC176044}">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5B62D8-6D6A-4CBB-9700-73541A9138FA}">
      <dsp:nvSpPr>
        <dsp:cNvPr id="0" name=""/>
        <dsp:cNvSpPr/>
      </dsp:nvSpPr>
      <dsp:spPr>
        <a:xfrm>
          <a:off x="570337" y="656145"/>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B5A6D0-F6F4-43B9-B29F-55A7B7B44B61}">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Low trust industry – 3</a:t>
          </a:r>
          <a:r>
            <a:rPr lang="en-US" sz="1400" kern="1200" baseline="30000"/>
            <a:t>rd</a:t>
          </a:r>
          <a:r>
            <a:rPr lang="en-US" sz="1400" kern="1200"/>
            <a:t> party tested</a:t>
          </a:r>
        </a:p>
      </dsp:txBody>
      <dsp:txXfrm>
        <a:off x="1948202" y="368029"/>
        <a:ext cx="3233964" cy="1371985"/>
      </dsp:txXfrm>
    </dsp:sp>
    <dsp:sp modelId="{A7D156C3-54EC-499E-BD1E-665184AA1180}">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08FAE4-FAB1-454E-9A8F-F386B3F476DD}">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C780B2-FF9C-470F-8A63-9B4C57F1B62C}">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t>Busy shelves filled with unknown brands and little differentiation</a:t>
          </a:r>
        </a:p>
      </dsp:txBody>
      <dsp:txXfrm>
        <a:off x="7411643" y="368029"/>
        <a:ext cx="3233964" cy="1371985"/>
      </dsp:txXfrm>
    </dsp:sp>
    <dsp:sp modelId="{0F2649E4-82A4-4E5E-B598-CDE2F9057D03}">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E20D54-6C25-4B7E-8E3E-FB0215BA5428}">
      <dsp:nvSpPr>
        <dsp:cNvPr id="0" name=""/>
        <dsp:cNvSpPr/>
      </dsp:nvSpPr>
      <dsp:spPr>
        <a:xfrm>
          <a:off x="570337" y="2740907"/>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223A8B-48AB-4710-9A06-427169C1F450}">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Products that are marketed to mostly power lifters and male audiences.  With ingredients that don’t align to the Mira Vos buyers needs.  </a:t>
          </a:r>
        </a:p>
      </dsp:txBody>
      <dsp:txXfrm>
        <a:off x="1948202" y="2452790"/>
        <a:ext cx="3233964" cy="1371985"/>
      </dsp:txXfrm>
    </dsp:sp>
    <dsp:sp modelId="{340DDAA9-FFA1-48DC-B78C-4302A86DF793}">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B5B7DF-8CD9-4793-9C8F-C3B12AB1B7C4}">
      <dsp:nvSpPr>
        <dsp:cNvPr id="0" name=""/>
        <dsp:cNvSpPr/>
      </dsp:nvSpPr>
      <dsp:spPr>
        <a:xfrm>
          <a:off x="6033778" y="2740907"/>
          <a:ext cx="795751" cy="795751"/>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0810F4-54E8-43EC-9BA1-0349290DA609}">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t>Mira Vos sells the ritual of </a:t>
          </a:r>
          <a:r>
            <a:rPr lang="en-US" sz="1400" kern="1200" dirty="0" err="1"/>
            <a:t>preworkout</a:t>
          </a:r>
          <a:r>
            <a:rPr lang="en-US" sz="1400" kern="1200" dirty="0"/>
            <a:t> drinking to a customer segment that hasn’t been engaged previously.  The pain is getting yourself up to go to the gym every day.   </a:t>
          </a:r>
          <a:r>
            <a:rPr lang="en-US" sz="1400" kern="1200" dirty="0" err="1"/>
            <a:t>MiraVos</a:t>
          </a:r>
          <a:r>
            <a:rPr lang="en-US" sz="1400" kern="1200" dirty="0"/>
            <a:t> extends the </a:t>
          </a:r>
          <a:r>
            <a:rPr lang="en-US" sz="1400" kern="1200" dirty="0" err="1"/>
            <a:t>preworkout</a:t>
          </a:r>
          <a:r>
            <a:rPr lang="en-US" sz="1400" kern="1200" dirty="0"/>
            <a:t> ritual solution to a new segment </a:t>
          </a:r>
        </a:p>
      </dsp:txBody>
      <dsp:txXfrm>
        <a:off x="7411643" y="2452790"/>
        <a:ext cx="3233964" cy="137198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5C0635-3DF7-46CD-B278-1D7AE1CB2263}" type="datetimeFigureOut">
              <a:rPr lang="en-US" smtClean="0"/>
              <a:t>2/23/2026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C24710-112A-4526-A6FD-937CCF456D00}" type="slidenum">
              <a:rPr lang="en-US" smtClean="0"/>
              <a:t>‹#›</a:t>
            </a:fld>
            <a:endParaRPr lang="en-US"/>
          </a:p>
        </p:txBody>
      </p:sp>
    </p:spTree>
    <p:extLst>
      <p:ext uri="{BB962C8B-B14F-4D97-AF65-F5344CB8AC3E}">
        <p14:creationId xmlns:p14="http://schemas.microsoft.com/office/powerpoint/2010/main" val="3997251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closest competitors to the Mira Vos model are: </a:t>
            </a:r>
            <a:r>
              <a:rPr lang="en-US" dirty="0" err="1"/>
              <a:t>Celcius</a:t>
            </a:r>
            <a:r>
              <a:rPr lang="en-US" dirty="0"/>
              <a:t>, Alani Nu, and Naked Energy.  Each of these are competitors in the clean energy </a:t>
            </a:r>
            <a:r>
              <a:rPr lang="en-US" dirty="0" err="1"/>
              <a:t>preworkout</a:t>
            </a:r>
            <a:r>
              <a:rPr lang="en-US" dirty="0"/>
              <a:t> space.  Each of these is differentiated in ways similar to the Mira Vos model.  </a:t>
            </a:r>
            <a:r>
              <a:rPr lang="en-US" dirty="0" err="1"/>
              <a:t>Celcius</a:t>
            </a:r>
            <a:r>
              <a:rPr lang="en-US" dirty="0"/>
              <a:t> is sold in different locations (i.e. Costco shelves).  Alani is marketed heavily in social media and targeted towards women.  Naked Energy focuses on third party testing and natural ingredients.  None of these approaches the problem in the same way as Mira Vos.  None of these includes the same ingredient mix and marketing story Mira Vos can tell.</a:t>
            </a:r>
          </a:p>
          <a:p>
            <a:endParaRPr lang="en-US" dirty="0"/>
          </a:p>
        </p:txBody>
      </p:sp>
      <p:sp>
        <p:nvSpPr>
          <p:cNvPr id="4" name="Slide Number Placeholder 3"/>
          <p:cNvSpPr>
            <a:spLocks noGrp="1"/>
          </p:cNvSpPr>
          <p:nvPr>
            <p:ph type="sldNum" sz="quarter" idx="5"/>
          </p:nvPr>
        </p:nvSpPr>
        <p:spPr/>
        <p:txBody>
          <a:bodyPr/>
          <a:lstStyle/>
          <a:p>
            <a:fld id="{2EC24710-112A-4526-A6FD-937CCF456D00}" type="slidenum">
              <a:rPr lang="en-US" smtClean="0"/>
              <a:t>5</a:t>
            </a:fld>
            <a:endParaRPr lang="en-US"/>
          </a:p>
        </p:txBody>
      </p:sp>
    </p:spTree>
    <p:extLst>
      <p:ext uri="{BB962C8B-B14F-4D97-AF65-F5344CB8AC3E}">
        <p14:creationId xmlns:p14="http://schemas.microsoft.com/office/powerpoint/2010/main" val="3208276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D4116-04CF-1145-D631-5035A903B8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2B9A69-FCFE-1B17-3EA1-E0357FF5DB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C52491-EFBE-99F0-E25A-A688F3BE35FB}"/>
              </a:ext>
            </a:extLst>
          </p:cNvPr>
          <p:cNvSpPr>
            <a:spLocks noGrp="1"/>
          </p:cNvSpPr>
          <p:nvPr>
            <p:ph type="dt" sz="half" idx="10"/>
          </p:nvPr>
        </p:nvSpPr>
        <p:spPr/>
        <p:txBody>
          <a:bodyPr/>
          <a:lstStyle/>
          <a:p>
            <a:fld id="{A0E59541-9BFD-4BB4-8D4F-508F901CFAF1}" type="datetimeFigureOut">
              <a:rPr lang="en-US" smtClean="0"/>
              <a:t>2/23/2026</a:t>
            </a:fld>
            <a:endParaRPr lang="en-US"/>
          </a:p>
        </p:txBody>
      </p:sp>
      <p:sp>
        <p:nvSpPr>
          <p:cNvPr id="5" name="Footer Placeholder 4">
            <a:extLst>
              <a:ext uri="{FF2B5EF4-FFF2-40B4-BE49-F238E27FC236}">
                <a16:creationId xmlns:a16="http://schemas.microsoft.com/office/drawing/2014/main" id="{2C97E22E-F293-C671-26B3-345E5BD80C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A8612C-1484-AA95-F515-F367F36784D5}"/>
              </a:ext>
            </a:extLst>
          </p:cNvPr>
          <p:cNvSpPr>
            <a:spLocks noGrp="1"/>
          </p:cNvSpPr>
          <p:nvPr>
            <p:ph type="sldNum" sz="quarter" idx="12"/>
          </p:nvPr>
        </p:nvSpPr>
        <p:spPr/>
        <p:txBody>
          <a:bodyPr/>
          <a:lstStyle/>
          <a:p>
            <a:fld id="{38EA01B0-CB26-4B1B-8AC8-333207D35EB1}" type="slidenum">
              <a:rPr lang="en-US" smtClean="0"/>
              <a:t>‹#›</a:t>
            </a:fld>
            <a:endParaRPr lang="en-US"/>
          </a:p>
        </p:txBody>
      </p:sp>
    </p:spTree>
    <p:extLst>
      <p:ext uri="{BB962C8B-B14F-4D97-AF65-F5344CB8AC3E}">
        <p14:creationId xmlns:p14="http://schemas.microsoft.com/office/powerpoint/2010/main" val="1174860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54599-0F18-7C15-44F8-E50FF66275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4D5DAC-4DEC-01A1-2B96-D79448FB8C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38589E-691D-140C-7D56-65788EE36080}"/>
              </a:ext>
            </a:extLst>
          </p:cNvPr>
          <p:cNvSpPr>
            <a:spLocks noGrp="1"/>
          </p:cNvSpPr>
          <p:nvPr>
            <p:ph type="dt" sz="half" idx="10"/>
          </p:nvPr>
        </p:nvSpPr>
        <p:spPr/>
        <p:txBody>
          <a:bodyPr/>
          <a:lstStyle/>
          <a:p>
            <a:fld id="{A0E59541-9BFD-4BB4-8D4F-508F901CFAF1}" type="datetimeFigureOut">
              <a:rPr lang="en-US" smtClean="0"/>
              <a:t>2/23/2026</a:t>
            </a:fld>
            <a:endParaRPr lang="en-US"/>
          </a:p>
        </p:txBody>
      </p:sp>
      <p:sp>
        <p:nvSpPr>
          <p:cNvPr id="5" name="Footer Placeholder 4">
            <a:extLst>
              <a:ext uri="{FF2B5EF4-FFF2-40B4-BE49-F238E27FC236}">
                <a16:creationId xmlns:a16="http://schemas.microsoft.com/office/drawing/2014/main" id="{7556D681-4710-433E-85CD-1EAD550656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BB0F8E-E570-50A9-7ECA-D7C000ED8144}"/>
              </a:ext>
            </a:extLst>
          </p:cNvPr>
          <p:cNvSpPr>
            <a:spLocks noGrp="1"/>
          </p:cNvSpPr>
          <p:nvPr>
            <p:ph type="sldNum" sz="quarter" idx="12"/>
          </p:nvPr>
        </p:nvSpPr>
        <p:spPr/>
        <p:txBody>
          <a:bodyPr/>
          <a:lstStyle/>
          <a:p>
            <a:fld id="{38EA01B0-CB26-4B1B-8AC8-333207D35EB1}" type="slidenum">
              <a:rPr lang="en-US" smtClean="0"/>
              <a:t>‹#›</a:t>
            </a:fld>
            <a:endParaRPr lang="en-US"/>
          </a:p>
        </p:txBody>
      </p:sp>
    </p:spTree>
    <p:extLst>
      <p:ext uri="{BB962C8B-B14F-4D97-AF65-F5344CB8AC3E}">
        <p14:creationId xmlns:p14="http://schemas.microsoft.com/office/powerpoint/2010/main" val="641295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0F9D6-63A8-DE2B-92B4-727C260DF2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3DEFF4-BC14-9D67-74A9-7DC69A123E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21EE68-6A63-9BA1-34F2-6081BC99EC9D}"/>
              </a:ext>
            </a:extLst>
          </p:cNvPr>
          <p:cNvSpPr>
            <a:spLocks noGrp="1"/>
          </p:cNvSpPr>
          <p:nvPr>
            <p:ph type="dt" sz="half" idx="10"/>
          </p:nvPr>
        </p:nvSpPr>
        <p:spPr/>
        <p:txBody>
          <a:bodyPr/>
          <a:lstStyle/>
          <a:p>
            <a:fld id="{A0E59541-9BFD-4BB4-8D4F-508F901CFAF1}" type="datetimeFigureOut">
              <a:rPr lang="en-US" smtClean="0"/>
              <a:t>2/23/2026</a:t>
            </a:fld>
            <a:endParaRPr lang="en-US"/>
          </a:p>
        </p:txBody>
      </p:sp>
      <p:sp>
        <p:nvSpPr>
          <p:cNvPr id="5" name="Footer Placeholder 4">
            <a:extLst>
              <a:ext uri="{FF2B5EF4-FFF2-40B4-BE49-F238E27FC236}">
                <a16:creationId xmlns:a16="http://schemas.microsoft.com/office/drawing/2014/main" id="{0A2BA1D1-030C-86BC-80BB-AC32D6B198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5E0956-8AF0-C95D-EA84-C9BCE49F4A08}"/>
              </a:ext>
            </a:extLst>
          </p:cNvPr>
          <p:cNvSpPr>
            <a:spLocks noGrp="1"/>
          </p:cNvSpPr>
          <p:nvPr>
            <p:ph type="sldNum" sz="quarter" idx="12"/>
          </p:nvPr>
        </p:nvSpPr>
        <p:spPr/>
        <p:txBody>
          <a:bodyPr/>
          <a:lstStyle/>
          <a:p>
            <a:fld id="{38EA01B0-CB26-4B1B-8AC8-333207D35EB1}" type="slidenum">
              <a:rPr lang="en-US" smtClean="0"/>
              <a:t>‹#›</a:t>
            </a:fld>
            <a:endParaRPr lang="en-US"/>
          </a:p>
        </p:txBody>
      </p:sp>
    </p:spTree>
    <p:extLst>
      <p:ext uri="{BB962C8B-B14F-4D97-AF65-F5344CB8AC3E}">
        <p14:creationId xmlns:p14="http://schemas.microsoft.com/office/powerpoint/2010/main" val="2143593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B5159-1F9D-735F-FC8B-60E92922B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AACEB1-2A70-B01F-0541-CC87031BD0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2A69E5-2DE4-6AE7-0924-35ECD09F75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CF527B-A0E2-7822-B2C3-3ECAD5FCA7BB}"/>
              </a:ext>
            </a:extLst>
          </p:cNvPr>
          <p:cNvSpPr>
            <a:spLocks noGrp="1"/>
          </p:cNvSpPr>
          <p:nvPr>
            <p:ph type="dt" sz="half" idx="10"/>
          </p:nvPr>
        </p:nvSpPr>
        <p:spPr/>
        <p:txBody>
          <a:bodyPr/>
          <a:lstStyle/>
          <a:p>
            <a:fld id="{A0E59541-9BFD-4BB4-8D4F-508F901CFAF1}" type="datetimeFigureOut">
              <a:rPr lang="en-US" smtClean="0"/>
              <a:t>2/23/2026</a:t>
            </a:fld>
            <a:endParaRPr lang="en-US"/>
          </a:p>
        </p:txBody>
      </p:sp>
      <p:sp>
        <p:nvSpPr>
          <p:cNvPr id="6" name="Footer Placeholder 5">
            <a:extLst>
              <a:ext uri="{FF2B5EF4-FFF2-40B4-BE49-F238E27FC236}">
                <a16:creationId xmlns:a16="http://schemas.microsoft.com/office/drawing/2014/main" id="{C5A6A0DD-C513-4F3B-6161-3E82B6880C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74C161-99F8-F12C-7132-49F3ED5C371C}"/>
              </a:ext>
            </a:extLst>
          </p:cNvPr>
          <p:cNvSpPr>
            <a:spLocks noGrp="1"/>
          </p:cNvSpPr>
          <p:nvPr>
            <p:ph type="sldNum" sz="quarter" idx="12"/>
          </p:nvPr>
        </p:nvSpPr>
        <p:spPr/>
        <p:txBody>
          <a:bodyPr/>
          <a:lstStyle/>
          <a:p>
            <a:fld id="{38EA01B0-CB26-4B1B-8AC8-333207D35EB1}" type="slidenum">
              <a:rPr lang="en-US" smtClean="0"/>
              <a:t>‹#›</a:t>
            </a:fld>
            <a:endParaRPr lang="en-US"/>
          </a:p>
        </p:txBody>
      </p:sp>
    </p:spTree>
    <p:extLst>
      <p:ext uri="{BB962C8B-B14F-4D97-AF65-F5344CB8AC3E}">
        <p14:creationId xmlns:p14="http://schemas.microsoft.com/office/powerpoint/2010/main" val="464530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2D061-642A-425E-226E-A4605A2716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9BB18C-8BB6-462A-3FBA-2F1F14383F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0E832-BDD3-5C6C-E06F-16FCBB32DF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A8B6A7-81F9-F496-A3EC-60A3578DA4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AF1C03-8D2E-0F8C-A357-5F2A7BA912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D797C8-3789-17DC-DC67-BA3E7D47AFB7}"/>
              </a:ext>
            </a:extLst>
          </p:cNvPr>
          <p:cNvSpPr>
            <a:spLocks noGrp="1"/>
          </p:cNvSpPr>
          <p:nvPr>
            <p:ph type="dt" sz="half" idx="10"/>
          </p:nvPr>
        </p:nvSpPr>
        <p:spPr/>
        <p:txBody>
          <a:bodyPr/>
          <a:lstStyle/>
          <a:p>
            <a:fld id="{A0E59541-9BFD-4BB4-8D4F-508F901CFAF1}" type="datetimeFigureOut">
              <a:rPr lang="en-US" smtClean="0"/>
              <a:t>2/23/2026</a:t>
            </a:fld>
            <a:endParaRPr lang="en-US"/>
          </a:p>
        </p:txBody>
      </p:sp>
      <p:sp>
        <p:nvSpPr>
          <p:cNvPr id="8" name="Footer Placeholder 7">
            <a:extLst>
              <a:ext uri="{FF2B5EF4-FFF2-40B4-BE49-F238E27FC236}">
                <a16:creationId xmlns:a16="http://schemas.microsoft.com/office/drawing/2014/main" id="{A7DEE922-CA53-1D60-D76D-949312E52D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D7218D-5291-A5A9-DBC6-A9C49F8DBC7C}"/>
              </a:ext>
            </a:extLst>
          </p:cNvPr>
          <p:cNvSpPr>
            <a:spLocks noGrp="1"/>
          </p:cNvSpPr>
          <p:nvPr>
            <p:ph type="sldNum" sz="quarter" idx="12"/>
          </p:nvPr>
        </p:nvSpPr>
        <p:spPr/>
        <p:txBody>
          <a:bodyPr/>
          <a:lstStyle/>
          <a:p>
            <a:fld id="{38EA01B0-CB26-4B1B-8AC8-333207D35EB1}" type="slidenum">
              <a:rPr lang="en-US" smtClean="0"/>
              <a:t>‹#›</a:t>
            </a:fld>
            <a:endParaRPr lang="en-US"/>
          </a:p>
        </p:txBody>
      </p:sp>
    </p:spTree>
    <p:extLst>
      <p:ext uri="{BB962C8B-B14F-4D97-AF65-F5344CB8AC3E}">
        <p14:creationId xmlns:p14="http://schemas.microsoft.com/office/powerpoint/2010/main" val="2112048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BB84-0887-A29B-492F-31F2081535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A25104-82FB-8EC9-0D8C-BF98C64D5051}"/>
              </a:ext>
            </a:extLst>
          </p:cNvPr>
          <p:cNvSpPr>
            <a:spLocks noGrp="1"/>
          </p:cNvSpPr>
          <p:nvPr>
            <p:ph type="dt" sz="half" idx="10"/>
          </p:nvPr>
        </p:nvSpPr>
        <p:spPr/>
        <p:txBody>
          <a:bodyPr/>
          <a:lstStyle/>
          <a:p>
            <a:fld id="{A0E59541-9BFD-4BB4-8D4F-508F901CFAF1}" type="datetimeFigureOut">
              <a:rPr lang="en-US" smtClean="0"/>
              <a:t>2/23/2026</a:t>
            </a:fld>
            <a:endParaRPr lang="en-US"/>
          </a:p>
        </p:txBody>
      </p:sp>
      <p:sp>
        <p:nvSpPr>
          <p:cNvPr id="4" name="Footer Placeholder 3">
            <a:extLst>
              <a:ext uri="{FF2B5EF4-FFF2-40B4-BE49-F238E27FC236}">
                <a16:creationId xmlns:a16="http://schemas.microsoft.com/office/drawing/2014/main" id="{34E162B9-65D5-4EE8-4C8D-09F09743DC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E414E5-9825-ED6D-DB5C-60B3F71141DB}"/>
              </a:ext>
            </a:extLst>
          </p:cNvPr>
          <p:cNvSpPr>
            <a:spLocks noGrp="1"/>
          </p:cNvSpPr>
          <p:nvPr>
            <p:ph type="sldNum" sz="quarter" idx="12"/>
          </p:nvPr>
        </p:nvSpPr>
        <p:spPr/>
        <p:txBody>
          <a:bodyPr/>
          <a:lstStyle/>
          <a:p>
            <a:fld id="{38EA01B0-CB26-4B1B-8AC8-333207D35EB1}" type="slidenum">
              <a:rPr lang="en-US" smtClean="0"/>
              <a:t>‹#›</a:t>
            </a:fld>
            <a:endParaRPr lang="en-US"/>
          </a:p>
        </p:txBody>
      </p:sp>
    </p:spTree>
    <p:extLst>
      <p:ext uri="{BB962C8B-B14F-4D97-AF65-F5344CB8AC3E}">
        <p14:creationId xmlns:p14="http://schemas.microsoft.com/office/powerpoint/2010/main" val="2291550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7E98BF-990C-8118-02DA-06A346D75EFF}"/>
              </a:ext>
            </a:extLst>
          </p:cNvPr>
          <p:cNvSpPr>
            <a:spLocks noGrp="1"/>
          </p:cNvSpPr>
          <p:nvPr>
            <p:ph type="dt" sz="half" idx="10"/>
          </p:nvPr>
        </p:nvSpPr>
        <p:spPr/>
        <p:txBody>
          <a:bodyPr/>
          <a:lstStyle/>
          <a:p>
            <a:fld id="{A0E59541-9BFD-4BB4-8D4F-508F901CFAF1}" type="datetimeFigureOut">
              <a:rPr lang="en-US" smtClean="0"/>
              <a:t>2/23/2026</a:t>
            </a:fld>
            <a:endParaRPr lang="en-US"/>
          </a:p>
        </p:txBody>
      </p:sp>
      <p:sp>
        <p:nvSpPr>
          <p:cNvPr id="3" name="Footer Placeholder 2">
            <a:extLst>
              <a:ext uri="{FF2B5EF4-FFF2-40B4-BE49-F238E27FC236}">
                <a16:creationId xmlns:a16="http://schemas.microsoft.com/office/drawing/2014/main" id="{4B355F24-4ECF-8ABE-0BFC-6FC2E093E5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54216E-DC68-3F14-EBCF-5039F3815D9D}"/>
              </a:ext>
            </a:extLst>
          </p:cNvPr>
          <p:cNvSpPr>
            <a:spLocks noGrp="1"/>
          </p:cNvSpPr>
          <p:nvPr>
            <p:ph type="sldNum" sz="quarter" idx="12"/>
          </p:nvPr>
        </p:nvSpPr>
        <p:spPr/>
        <p:txBody>
          <a:bodyPr/>
          <a:lstStyle/>
          <a:p>
            <a:fld id="{38EA01B0-CB26-4B1B-8AC8-333207D35EB1}" type="slidenum">
              <a:rPr lang="en-US" smtClean="0"/>
              <a:t>‹#›</a:t>
            </a:fld>
            <a:endParaRPr lang="en-US"/>
          </a:p>
        </p:txBody>
      </p:sp>
    </p:spTree>
    <p:extLst>
      <p:ext uri="{BB962C8B-B14F-4D97-AF65-F5344CB8AC3E}">
        <p14:creationId xmlns:p14="http://schemas.microsoft.com/office/powerpoint/2010/main" val="2612739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E4DF1-6D90-A625-4838-33EA5A5BA3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728239-09F2-6C82-6C75-E7D605B15B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D1D3EB-FA2B-91D5-8831-52FAD8B58E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54BB65-12DE-21C8-BEF5-E35FB74FB2BD}"/>
              </a:ext>
            </a:extLst>
          </p:cNvPr>
          <p:cNvSpPr>
            <a:spLocks noGrp="1"/>
          </p:cNvSpPr>
          <p:nvPr>
            <p:ph type="dt" sz="half" idx="10"/>
          </p:nvPr>
        </p:nvSpPr>
        <p:spPr/>
        <p:txBody>
          <a:bodyPr/>
          <a:lstStyle/>
          <a:p>
            <a:fld id="{A0E59541-9BFD-4BB4-8D4F-508F901CFAF1}" type="datetimeFigureOut">
              <a:rPr lang="en-US" smtClean="0"/>
              <a:t>2/23/2026</a:t>
            </a:fld>
            <a:endParaRPr lang="en-US"/>
          </a:p>
        </p:txBody>
      </p:sp>
      <p:sp>
        <p:nvSpPr>
          <p:cNvPr id="6" name="Footer Placeholder 5">
            <a:extLst>
              <a:ext uri="{FF2B5EF4-FFF2-40B4-BE49-F238E27FC236}">
                <a16:creationId xmlns:a16="http://schemas.microsoft.com/office/drawing/2014/main" id="{E4C861C1-A699-3317-07A2-9DBDE0A453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C88927-2D24-4A9E-A8C3-6B4742D24574}"/>
              </a:ext>
            </a:extLst>
          </p:cNvPr>
          <p:cNvSpPr>
            <a:spLocks noGrp="1"/>
          </p:cNvSpPr>
          <p:nvPr>
            <p:ph type="sldNum" sz="quarter" idx="12"/>
          </p:nvPr>
        </p:nvSpPr>
        <p:spPr/>
        <p:txBody>
          <a:bodyPr/>
          <a:lstStyle/>
          <a:p>
            <a:fld id="{38EA01B0-CB26-4B1B-8AC8-333207D35EB1}" type="slidenum">
              <a:rPr lang="en-US" smtClean="0"/>
              <a:t>‹#›</a:t>
            </a:fld>
            <a:endParaRPr lang="en-US"/>
          </a:p>
        </p:txBody>
      </p:sp>
    </p:spTree>
    <p:extLst>
      <p:ext uri="{BB962C8B-B14F-4D97-AF65-F5344CB8AC3E}">
        <p14:creationId xmlns:p14="http://schemas.microsoft.com/office/powerpoint/2010/main" val="3827450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1B632-78DD-52B5-A940-D4A84B3140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FBE5D9-31A7-BC25-4F3E-906C85BC8D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268F24-9831-4A21-F604-9C19FB29ED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C07483-F8E4-7C57-9641-8A7258E9476A}"/>
              </a:ext>
            </a:extLst>
          </p:cNvPr>
          <p:cNvSpPr>
            <a:spLocks noGrp="1"/>
          </p:cNvSpPr>
          <p:nvPr>
            <p:ph type="dt" sz="half" idx="10"/>
          </p:nvPr>
        </p:nvSpPr>
        <p:spPr/>
        <p:txBody>
          <a:bodyPr/>
          <a:lstStyle/>
          <a:p>
            <a:fld id="{A0E59541-9BFD-4BB4-8D4F-508F901CFAF1}" type="datetimeFigureOut">
              <a:rPr lang="en-US" smtClean="0"/>
              <a:t>2/23/2026</a:t>
            </a:fld>
            <a:endParaRPr lang="en-US"/>
          </a:p>
        </p:txBody>
      </p:sp>
      <p:sp>
        <p:nvSpPr>
          <p:cNvPr id="6" name="Footer Placeholder 5">
            <a:extLst>
              <a:ext uri="{FF2B5EF4-FFF2-40B4-BE49-F238E27FC236}">
                <a16:creationId xmlns:a16="http://schemas.microsoft.com/office/drawing/2014/main" id="{3483300D-EC98-89DB-4FEE-C5936678F2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724405-E4D6-4D02-EDD9-26F38ED68C6A}"/>
              </a:ext>
            </a:extLst>
          </p:cNvPr>
          <p:cNvSpPr>
            <a:spLocks noGrp="1"/>
          </p:cNvSpPr>
          <p:nvPr>
            <p:ph type="sldNum" sz="quarter" idx="12"/>
          </p:nvPr>
        </p:nvSpPr>
        <p:spPr/>
        <p:txBody>
          <a:bodyPr/>
          <a:lstStyle/>
          <a:p>
            <a:fld id="{38EA01B0-CB26-4B1B-8AC8-333207D35EB1}" type="slidenum">
              <a:rPr lang="en-US" smtClean="0"/>
              <a:t>‹#›</a:t>
            </a:fld>
            <a:endParaRPr lang="en-US"/>
          </a:p>
        </p:txBody>
      </p:sp>
    </p:spTree>
    <p:extLst>
      <p:ext uri="{BB962C8B-B14F-4D97-AF65-F5344CB8AC3E}">
        <p14:creationId xmlns:p14="http://schemas.microsoft.com/office/powerpoint/2010/main" val="2892576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5102-6284-841D-BB2A-1773394734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A598AE-F509-6C93-5448-679C3A4AD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9922A3-68CA-CC88-4CF8-044A2523B8E3}"/>
              </a:ext>
            </a:extLst>
          </p:cNvPr>
          <p:cNvSpPr>
            <a:spLocks noGrp="1"/>
          </p:cNvSpPr>
          <p:nvPr>
            <p:ph type="dt" sz="half" idx="10"/>
          </p:nvPr>
        </p:nvSpPr>
        <p:spPr/>
        <p:txBody>
          <a:bodyPr/>
          <a:lstStyle/>
          <a:p>
            <a:fld id="{A0E59541-9BFD-4BB4-8D4F-508F901CFAF1}" type="datetimeFigureOut">
              <a:rPr lang="en-US" smtClean="0"/>
              <a:t>2/23/2026</a:t>
            </a:fld>
            <a:endParaRPr lang="en-US"/>
          </a:p>
        </p:txBody>
      </p:sp>
      <p:sp>
        <p:nvSpPr>
          <p:cNvPr id="5" name="Footer Placeholder 4">
            <a:extLst>
              <a:ext uri="{FF2B5EF4-FFF2-40B4-BE49-F238E27FC236}">
                <a16:creationId xmlns:a16="http://schemas.microsoft.com/office/drawing/2014/main" id="{FFD3EA6F-A5B0-4789-841D-49ABF2DAFD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50ED30-89EB-C4FC-3072-E0F4F8A25633}"/>
              </a:ext>
            </a:extLst>
          </p:cNvPr>
          <p:cNvSpPr>
            <a:spLocks noGrp="1"/>
          </p:cNvSpPr>
          <p:nvPr>
            <p:ph type="sldNum" sz="quarter" idx="12"/>
          </p:nvPr>
        </p:nvSpPr>
        <p:spPr/>
        <p:txBody>
          <a:bodyPr/>
          <a:lstStyle/>
          <a:p>
            <a:fld id="{38EA01B0-CB26-4B1B-8AC8-333207D35EB1}" type="slidenum">
              <a:rPr lang="en-US" smtClean="0"/>
              <a:t>‹#›</a:t>
            </a:fld>
            <a:endParaRPr lang="en-US"/>
          </a:p>
        </p:txBody>
      </p:sp>
    </p:spTree>
    <p:extLst>
      <p:ext uri="{BB962C8B-B14F-4D97-AF65-F5344CB8AC3E}">
        <p14:creationId xmlns:p14="http://schemas.microsoft.com/office/powerpoint/2010/main" val="186867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A4544A-6B3F-4FCE-DA60-3F1BE7CFF4F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0C2CE9-882D-551D-B978-EB805656D9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DCD9FD-C5A6-69D4-D0EC-0CBE9EAD89A6}"/>
              </a:ext>
            </a:extLst>
          </p:cNvPr>
          <p:cNvSpPr>
            <a:spLocks noGrp="1"/>
          </p:cNvSpPr>
          <p:nvPr>
            <p:ph type="dt" sz="half" idx="10"/>
          </p:nvPr>
        </p:nvSpPr>
        <p:spPr/>
        <p:txBody>
          <a:bodyPr/>
          <a:lstStyle/>
          <a:p>
            <a:fld id="{A0E59541-9BFD-4BB4-8D4F-508F901CFAF1}" type="datetimeFigureOut">
              <a:rPr lang="en-US" smtClean="0"/>
              <a:t>2/23/2026</a:t>
            </a:fld>
            <a:endParaRPr lang="en-US"/>
          </a:p>
        </p:txBody>
      </p:sp>
      <p:sp>
        <p:nvSpPr>
          <p:cNvPr id="5" name="Footer Placeholder 4">
            <a:extLst>
              <a:ext uri="{FF2B5EF4-FFF2-40B4-BE49-F238E27FC236}">
                <a16:creationId xmlns:a16="http://schemas.microsoft.com/office/drawing/2014/main" id="{C4EECF2A-20FA-999E-3A98-A9F5516EA4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C3548C-C1EB-5D95-871A-4EC6E02F505B}"/>
              </a:ext>
            </a:extLst>
          </p:cNvPr>
          <p:cNvSpPr>
            <a:spLocks noGrp="1"/>
          </p:cNvSpPr>
          <p:nvPr>
            <p:ph type="sldNum" sz="quarter" idx="12"/>
          </p:nvPr>
        </p:nvSpPr>
        <p:spPr/>
        <p:txBody>
          <a:bodyPr/>
          <a:lstStyle/>
          <a:p>
            <a:fld id="{38EA01B0-CB26-4B1B-8AC8-333207D35EB1}" type="slidenum">
              <a:rPr lang="en-US" smtClean="0"/>
              <a:t>‹#›</a:t>
            </a:fld>
            <a:endParaRPr lang="en-US"/>
          </a:p>
        </p:txBody>
      </p:sp>
    </p:spTree>
    <p:extLst>
      <p:ext uri="{BB962C8B-B14F-4D97-AF65-F5344CB8AC3E}">
        <p14:creationId xmlns:p14="http://schemas.microsoft.com/office/powerpoint/2010/main" val="2990895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21D4C9-AB15-0BFF-840F-617FB52EB7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331947-59B8-9973-BFE7-949729B433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57B65F-4391-C914-C90E-CE2A1821AB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E59541-9BFD-4BB4-8D4F-508F901CFAF1}" type="datetimeFigureOut">
              <a:rPr lang="en-US" smtClean="0"/>
              <a:t>2/23/2026</a:t>
            </a:fld>
            <a:endParaRPr lang="en-US"/>
          </a:p>
        </p:txBody>
      </p:sp>
      <p:sp>
        <p:nvSpPr>
          <p:cNvPr id="5" name="Footer Placeholder 4">
            <a:extLst>
              <a:ext uri="{FF2B5EF4-FFF2-40B4-BE49-F238E27FC236}">
                <a16:creationId xmlns:a16="http://schemas.microsoft.com/office/drawing/2014/main" id="{33EC3D1A-F9AB-B50C-D963-F8DA17330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AC47251-E737-52FD-ECD0-37F72708E5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EA01B0-CB26-4B1B-8AC8-333207D35EB1}" type="slidenum">
              <a:rPr lang="en-US" smtClean="0"/>
              <a:t>‹#›</a:t>
            </a:fld>
            <a:endParaRPr lang="en-US"/>
          </a:p>
        </p:txBody>
      </p:sp>
    </p:spTree>
    <p:extLst>
      <p:ext uri="{BB962C8B-B14F-4D97-AF65-F5344CB8AC3E}">
        <p14:creationId xmlns:p14="http://schemas.microsoft.com/office/powerpoint/2010/main" val="3337492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0EF0EE3-96BD-65EE-E7A8-BC899EB2E405}"/>
              </a:ext>
            </a:extLst>
          </p:cNvPr>
          <p:cNvPicPr>
            <a:picLocks noChangeAspect="1"/>
          </p:cNvPicPr>
          <p:nvPr/>
        </p:nvPicPr>
        <p:blipFill>
          <a:blip r:embed="rId2"/>
          <a:srcRect t="12843" r="9090" b="15594"/>
          <a:stretch>
            <a:fillRect/>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A9647A45-94CB-ECB4-ECA7-956394C69060}"/>
              </a:ext>
            </a:extLst>
          </p:cNvPr>
          <p:cNvSpPr>
            <a:spLocks noGrp="1"/>
          </p:cNvSpPr>
          <p:nvPr>
            <p:ph type="subTitle" idx="1"/>
          </p:nvPr>
        </p:nvSpPr>
        <p:spPr>
          <a:xfrm>
            <a:off x="477980" y="4872922"/>
            <a:ext cx="4023359" cy="1208141"/>
          </a:xfrm>
        </p:spPr>
        <p:txBody>
          <a:bodyPr>
            <a:normAutofit/>
          </a:bodyPr>
          <a:lstStyle/>
          <a:p>
            <a:pPr algn="l"/>
            <a:endParaRPr lang="en-US" sz="2000">
              <a:solidFill>
                <a:schemeClr val="bg1"/>
              </a:solidFill>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990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FB876C-0DF1-BA86-6D1D-CB665770F630}"/>
              </a:ext>
            </a:extLst>
          </p:cNvPr>
          <p:cNvSpPr>
            <a:spLocks noGrp="1"/>
          </p:cNvSpPr>
          <p:nvPr>
            <p:ph type="title"/>
          </p:nvPr>
        </p:nvSpPr>
        <p:spPr>
          <a:xfrm>
            <a:off x="1136397" y="502020"/>
            <a:ext cx="5323715" cy="1642970"/>
          </a:xfrm>
        </p:spPr>
        <p:txBody>
          <a:bodyPr anchor="b">
            <a:normAutofit/>
          </a:bodyPr>
          <a:lstStyle/>
          <a:p>
            <a:r>
              <a:rPr lang="en-US" sz="4000"/>
              <a:t>•	A description of your product/service</a:t>
            </a:r>
          </a:p>
        </p:txBody>
      </p:sp>
      <p:sp>
        <p:nvSpPr>
          <p:cNvPr id="3" name="Content Placeholder 2">
            <a:extLst>
              <a:ext uri="{FF2B5EF4-FFF2-40B4-BE49-F238E27FC236}">
                <a16:creationId xmlns:a16="http://schemas.microsoft.com/office/drawing/2014/main" id="{02751537-88F2-1731-1CFF-2104045F387D}"/>
              </a:ext>
            </a:extLst>
          </p:cNvPr>
          <p:cNvSpPr>
            <a:spLocks noGrp="1"/>
          </p:cNvSpPr>
          <p:nvPr>
            <p:ph idx="1"/>
          </p:nvPr>
        </p:nvSpPr>
        <p:spPr>
          <a:xfrm>
            <a:off x="1144923" y="2405894"/>
            <a:ext cx="5315189" cy="3535083"/>
          </a:xfrm>
        </p:spPr>
        <p:txBody>
          <a:bodyPr anchor="t">
            <a:normAutofit/>
          </a:bodyPr>
          <a:lstStyle/>
          <a:p>
            <a:r>
              <a:rPr lang="en-US" sz="2000"/>
              <a:t>Mira Vos Drink Company manufactures high-quality exercise supplement powders and drinks with a real science-based focus on health and wellness. Our flagship drink “Mira Vos” is made with caffeine from Yerba Matte tea leaves from the heart of Argentina. Our products are made to support health-conscious people with the motivation to start new habits and the energy to maintain them.</a:t>
            </a:r>
          </a:p>
          <a:p>
            <a:endParaRPr lang="en-US" sz="2000"/>
          </a:p>
        </p:txBody>
      </p:sp>
      <p:sp>
        <p:nvSpPr>
          <p:cNvPr id="11" name="Rectangle 1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90E0DD9-D0BE-22A4-75B2-E87682190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7075967" y="1359681"/>
            <a:ext cx="4170530" cy="4170530"/>
          </a:xfrm>
          <a:prstGeom prst="rect">
            <a:avLst/>
          </a:prstGeom>
          <a:noFill/>
        </p:spPr>
      </p:pic>
    </p:spTree>
    <p:extLst>
      <p:ext uri="{BB962C8B-B14F-4D97-AF65-F5344CB8AC3E}">
        <p14:creationId xmlns:p14="http://schemas.microsoft.com/office/powerpoint/2010/main" val="1474064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5FD6EA-64C8-88E5-31E4-E988918AC638}"/>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	The pain it solves</a:t>
            </a:r>
          </a:p>
        </p:txBody>
      </p:sp>
      <p:graphicFrame>
        <p:nvGraphicFramePr>
          <p:cNvPr id="5" name="Content Placeholder 2">
            <a:extLst>
              <a:ext uri="{FF2B5EF4-FFF2-40B4-BE49-F238E27FC236}">
                <a16:creationId xmlns:a16="http://schemas.microsoft.com/office/drawing/2014/main" id="{CD254D71-9826-6AEC-3628-7C52493BA814}"/>
              </a:ext>
            </a:extLst>
          </p:cNvPr>
          <p:cNvGraphicFramePr>
            <a:graphicFrameLocks noGrp="1"/>
          </p:cNvGraphicFramePr>
          <p:nvPr>
            <p:ph idx="1"/>
            <p:extLst>
              <p:ext uri="{D42A27DB-BD31-4B8C-83A1-F6EECF244321}">
                <p14:modId xmlns:p14="http://schemas.microsoft.com/office/powerpoint/2010/main" val="83594582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4172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B9A333E-EC1A-50C9-911E-42C02D5610AB}"/>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	Market trends over the next 3-5 years</a:t>
            </a:r>
          </a:p>
        </p:txBody>
      </p:sp>
      <p:sp>
        <p:nvSpPr>
          <p:cNvPr id="3" name="Content Placeholder 2">
            <a:extLst>
              <a:ext uri="{FF2B5EF4-FFF2-40B4-BE49-F238E27FC236}">
                <a16:creationId xmlns:a16="http://schemas.microsoft.com/office/drawing/2014/main" id="{CDFE2299-317E-BF68-4288-1B08D45CB195}"/>
              </a:ext>
            </a:extLst>
          </p:cNvPr>
          <p:cNvSpPr>
            <a:spLocks noGrp="1"/>
          </p:cNvSpPr>
          <p:nvPr>
            <p:ph idx="1"/>
          </p:nvPr>
        </p:nvSpPr>
        <p:spPr>
          <a:xfrm>
            <a:off x="6503158" y="649480"/>
            <a:ext cx="4862447" cy="5546047"/>
          </a:xfrm>
        </p:spPr>
        <p:txBody>
          <a:bodyPr anchor="ctr">
            <a:normAutofit/>
          </a:bodyPr>
          <a:lstStyle/>
          <a:p>
            <a:r>
              <a:rPr lang="en-US" sz="2000" dirty="0"/>
              <a:t>Mira Vos will be a part of the exercise supplement industry. The exercise supplement industry currently consists of 19.58b in revenue with a CAGR of 5.9 into 2030. 35.1% of that market is US-based with 88% in powder and 12% in ready-to-drink.  The growing market is associated with a growing understanding of the importance of exercise for men and women.  A trend towards simpler eating and increased focus on processed ingredients creates an opening for a pre-workout supplement drink with simple and natural ingredients.</a:t>
            </a:r>
          </a:p>
          <a:p>
            <a:endParaRPr lang="en-US" sz="2000" dirty="0"/>
          </a:p>
        </p:txBody>
      </p:sp>
    </p:spTree>
    <p:extLst>
      <p:ext uri="{BB962C8B-B14F-4D97-AF65-F5344CB8AC3E}">
        <p14:creationId xmlns:p14="http://schemas.microsoft.com/office/powerpoint/2010/main" val="2103983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9" name="Rectangle 1058">
            <a:extLst>
              <a:ext uri="{FF2B5EF4-FFF2-40B4-BE49-F238E27FC236}">
                <a16:creationId xmlns:a16="http://schemas.microsoft.com/office/drawing/2014/main" id="{114C78B5-EC6B-4A39-8860-705100867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9B371D9-6551-698A-E056-12CF6CD01055}"/>
              </a:ext>
            </a:extLst>
          </p:cNvPr>
          <p:cNvSpPr>
            <a:spLocks noGrp="1"/>
          </p:cNvSpPr>
          <p:nvPr>
            <p:ph type="title"/>
          </p:nvPr>
        </p:nvSpPr>
        <p:spPr>
          <a:xfrm>
            <a:off x="630572" y="4985230"/>
            <a:ext cx="4391024" cy="1173700"/>
          </a:xfrm>
        </p:spPr>
        <p:txBody>
          <a:bodyPr vert="horz" lIns="91440" tIns="45720" rIns="91440" bIns="45720" rtlCol="0" anchor="t">
            <a:normAutofit/>
          </a:bodyPr>
          <a:lstStyle/>
          <a:p>
            <a:r>
              <a:rPr lang="en-US" sz="1900">
                <a:solidFill>
                  <a:schemeClr val="bg1"/>
                </a:solidFill>
              </a:rPr>
              <a:t>Product positioning - comparison to existing (or potential) products/services and why existing solutions do not solve the pain you have identified</a:t>
            </a:r>
          </a:p>
        </p:txBody>
      </p:sp>
      <p:pic>
        <p:nvPicPr>
          <p:cNvPr id="1026" name="Picture 2" descr="CELSIUS Sparkling Original Variety Pack ...">
            <a:extLst>
              <a:ext uri="{FF2B5EF4-FFF2-40B4-BE49-F238E27FC236}">
                <a16:creationId xmlns:a16="http://schemas.microsoft.com/office/drawing/2014/main" id="{AFFFA852-DA74-6D32-95D0-0EF0A72FC6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390"/>
          <a:stretch>
            <a:fillRect/>
          </a:stretch>
        </p:blipFill>
        <p:spPr bwMode="auto">
          <a:xfrm>
            <a:off x="20" y="10"/>
            <a:ext cx="4000480" cy="3904882"/>
          </a:xfrm>
          <a:custGeom>
            <a:avLst/>
            <a:gdLst/>
            <a:ahLst/>
            <a:cxnLst/>
            <a:rect l="l" t="t" r="r" b="b"/>
            <a:pathLst>
              <a:path w="4000500" h="3413410">
                <a:moveTo>
                  <a:pt x="0" y="0"/>
                </a:moveTo>
                <a:lnTo>
                  <a:pt x="4000500" y="0"/>
                </a:lnTo>
                <a:lnTo>
                  <a:pt x="4000500" y="3330603"/>
                </a:lnTo>
                <a:lnTo>
                  <a:pt x="416174" y="3413410"/>
                </a:lnTo>
                <a:lnTo>
                  <a:pt x="0" y="3408169"/>
                </a:lnTo>
                <a:close/>
              </a:path>
            </a:pathLst>
          </a:custGeom>
          <a:noFill/>
          <a:extLst>
            <a:ext uri="{909E8E84-426E-40DD-AFC4-6F175D3DCCD1}">
              <a14:hiddenFill xmlns:a14="http://schemas.microsoft.com/office/drawing/2010/main">
                <a:solidFill>
                  <a:srgbClr val="FFFFFF"/>
                </a:solidFill>
              </a14:hiddenFill>
            </a:ext>
          </a:extLst>
        </p:spPr>
      </p:pic>
      <p:pic>
        <p:nvPicPr>
          <p:cNvPr id="1028" name="Picture 4" descr="Alani Nu Energy Drink – my99protein">
            <a:extLst>
              <a:ext uri="{FF2B5EF4-FFF2-40B4-BE49-F238E27FC236}">
                <a16:creationId xmlns:a16="http://schemas.microsoft.com/office/drawing/2014/main" id="{627CFC4D-E319-53DB-16A2-3A9F42E45E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7169" r="7902" b="-1"/>
          <a:stretch>
            <a:fillRect/>
          </a:stretch>
        </p:blipFill>
        <p:spPr bwMode="auto">
          <a:xfrm>
            <a:off x="4191002" y="10"/>
            <a:ext cx="3809998" cy="3904881"/>
          </a:xfrm>
          <a:custGeom>
            <a:avLst/>
            <a:gdLst/>
            <a:ahLst/>
            <a:cxnLst/>
            <a:rect l="l" t="t" r="r" b="b"/>
            <a:pathLst>
              <a:path w="3809998" h="3361533">
                <a:moveTo>
                  <a:pt x="0" y="0"/>
                </a:moveTo>
                <a:lnTo>
                  <a:pt x="3809998" y="0"/>
                </a:lnTo>
                <a:lnTo>
                  <a:pt x="3809998" y="3353206"/>
                </a:lnTo>
                <a:lnTo>
                  <a:pt x="1781628" y="3181423"/>
                </a:lnTo>
                <a:lnTo>
                  <a:pt x="0" y="3361533"/>
                </a:lnTo>
                <a:close/>
              </a:path>
            </a:pathLst>
          </a:custGeom>
          <a:noFill/>
          <a:extLst>
            <a:ext uri="{909E8E84-426E-40DD-AFC4-6F175D3DCCD1}">
              <a14:hiddenFill xmlns:a14="http://schemas.microsoft.com/office/drawing/2010/main">
                <a:solidFill>
                  <a:srgbClr val="FFFFFF"/>
                </a:solidFill>
              </a14:hiddenFill>
            </a:ext>
          </a:extLst>
        </p:spPr>
      </p:pic>
      <p:pic>
        <p:nvPicPr>
          <p:cNvPr id="1034" name="Picture 10" descr="Amazon.com: NAKED Energy - Pure Pre Workout Powder for Men and Women,  Vegan, Unflavored, Healthy Pre Workout - No Added Sweeteners, Colors Or  Flavors - 50 Servings : Health &amp; Household">
            <a:extLst>
              <a:ext uri="{FF2B5EF4-FFF2-40B4-BE49-F238E27FC236}">
                <a16:creationId xmlns:a16="http://schemas.microsoft.com/office/drawing/2014/main" id="{B9601818-028C-E989-29C0-B5E7C7EFC2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2093" r="-3" b="-3"/>
          <a:stretch>
            <a:fillRect/>
          </a:stretch>
        </p:blipFill>
        <p:spPr bwMode="auto">
          <a:xfrm>
            <a:off x="8191500" y="-1"/>
            <a:ext cx="4000500" cy="4008409"/>
          </a:xfrm>
          <a:custGeom>
            <a:avLst/>
            <a:gdLst/>
            <a:ahLst/>
            <a:cxnLst/>
            <a:rect l="l" t="t" r="r" b="b"/>
            <a:pathLst>
              <a:path w="4000500" h="3403026">
                <a:moveTo>
                  <a:pt x="0" y="0"/>
                </a:moveTo>
                <a:lnTo>
                  <a:pt x="4000500" y="0"/>
                </a:lnTo>
                <a:lnTo>
                  <a:pt x="4000500" y="3403026"/>
                </a:lnTo>
                <a:lnTo>
                  <a:pt x="9072" y="3370108"/>
                </a:lnTo>
                <a:lnTo>
                  <a:pt x="0" y="3369340"/>
                </a:lnTo>
                <a:close/>
              </a:path>
            </a:pathLst>
          </a:custGeom>
          <a:noFill/>
          <a:extLst>
            <a:ext uri="{909E8E84-426E-40DD-AFC4-6F175D3DCCD1}">
              <a14:hiddenFill xmlns:a14="http://schemas.microsoft.com/office/drawing/2010/main">
                <a:solidFill>
                  <a:srgbClr val="FFFFFF"/>
                </a:solidFill>
              </a14:hiddenFill>
            </a:ext>
          </a:extLst>
        </p:spPr>
      </p:pic>
      <p:grpSp>
        <p:nvGrpSpPr>
          <p:cNvPr id="1061" name="Group 1060">
            <a:extLst>
              <a:ext uri="{FF2B5EF4-FFF2-40B4-BE49-F238E27FC236}">
                <a16:creationId xmlns:a16="http://schemas.microsoft.com/office/drawing/2014/main" id="{A50943B0-FDF7-4C2C-B784-9208C945A8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1062" name="Freeform: Shape 1061">
              <a:extLst>
                <a:ext uri="{FF2B5EF4-FFF2-40B4-BE49-F238E27FC236}">
                  <a16:creationId xmlns:a16="http://schemas.microsoft.com/office/drawing/2014/main" id="{64021FAB-FA86-49DE-8FC9-585A1729B7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63" name="Freeform: Shape 1062">
              <a:extLst>
                <a:ext uri="{FF2B5EF4-FFF2-40B4-BE49-F238E27FC236}">
                  <a16:creationId xmlns:a16="http://schemas.microsoft.com/office/drawing/2014/main" id="{7B58B526-A432-4EB5-AA70-2BB897257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6">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54" name="Content Placeholder 1045">
            <a:extLst>
              <a:ext uri="{FF2B5EF4-FFF2-40B4-BE49-F238E27FC236}">
                <a16:creationId xmlns:a16="http://schemas.microsoft.com/office/drawing/2014/main" id="{384F6745-0002-8921-2FEE-B8AB89F877B0}"/>
              </a:ext>
            </a:extLst>
          </p:cNvPr>
          <p:cNvSpPr>
            <a:spLocks noGrp="1"/>
          </p:cNvSpPr>
          <p:nvPr>
            <p:ph idx="1"/>
          </p:nvPr>
        </p:nvSpPr>
        <p:spPr>
          <a:xfrm>
            <a:off x="5652168" y="4477573"/>
            <a:ext cx="6114715" cy="2091723"/>
          </a:xfrm>
        </p:spPr>
        <p:txBody>
          <a:bodyPr>
            <a:normAutofit fontScale="92500"/>
          </a:bodyPr>
          <a:lstStyle/>
          <a:p>
            <a:r>
              <a:rPr lang="en-US" sz="1600" dirty="0">
                <a:solidFill>
                  <a:schemeClr val="bg1">
                    <a:alpha val="80000"/>
                  </a:schemeClr>
                </a:solidFill>
              </a:rPr>
              <a:t>Alani – Targets the same consumer segment with high end marketing</a:t>
            </a:r>
          </a:p>
          <a:p>
            <a:r>
              <a:rPr lang="en-US" sz="1600" dirty="0">
                <a:solidFill>
                  <a:schemeClr val="bg1">
                    <a:alpha val="80000"/>
                  </a:schemeClr>
                </a:solidFill>
              </a:rPr>
              <a:t>Celsius – competes for the shelf space </a:t>
            </a:r>
            <a:r>
              <a:rPr lang="en-US" sz="1600" dirty="0" err="1">
                <a:solidFill>
                  <a:schemeClr val="bg1">
                    <a:alpha val="80000"/>
                  </a:schemeClr>
                </a:solidFill>
              </a:rPr>
              <a:t>MiraVos</a:t>
            </a:r>
            <a:r>
              <a:rPr lang="en-US" sz="1600" dirty="0">
                <a:solidFill>
                  <a:schemeClr val="bg1">
                    <a:alpha val="80000"/>
                  </a:schemeClr>
                </a:solidFill>
              </a:rPr>
              <a:t> would like to occupy with Pepsi backing.</a:t>
            </a:r>
          </a:p>
          <a:p>
            <a:r>
              <a:rPr lang="en-US" sz="1600" dirty="0">
                <a:solidFill>
                  <a:schemeClr val="bg1">
                    <a:alpha val="80000"/>
                  </a:schemeClr>
                </a:solidFill>
              </a:rPr>
              <a:t>Naked Energy – focuses on defeating the low trust reputation of this sector and competes for a similar customer segment.</a:t>
            </a:r>
          </a:p>
          <a:p>
            <a:endParaRPr lang="en-US" sz="1600" dirty="0">
              <a:solidFill>
                <a:schemeClr val="bg1">
                  <a:alpha val="80000"/>
                </a:schemeClr>
              </a:solidFill>
            </a:endParaRPr>
          </a:p>
          <a:p>
            <a:r>
              <a:rPr lang="en-US" sz="1600" dirty="0">
                <a:solidFill>
                  <a:schemeClr val="bg1">
                    <a:alpha val="80000"/>
                  </a:schemeClr>
                </a:solidFill>
              </a:rPr>
              <a:t>None of these solves the pain point in the same way </a:t>
            </a:r>
            <a:r>
              <a:rPr lang="en-US" sz="1600" dirty="0" err="1">
                <a:solidFill>
                  <a:schemeClr val="bg1">
                    <a:alpha val="80000"/>
                  </a:schemeClr>
                </a:solidFill>
              </a:rPr>
              <a:t>MiraVos</a:t>
            </a:r>
            <a:r>
              <a:rPr lang="en-US" sz="1600" dirty="0">
                <a:solidFill>
                  <a:schemeClr val="bg1">
                    <a:alpha val="80000"/>
                  </a:schemeClr>
                </a:solidFill>
              </a:rPr>
              <a:t> can.</a:t>
            </a:r>
          </a:p>
        </p:txBody>
      </p:sp>
      <p:sp>
        <p:nvSpPr>
          <p:cNvPr id="7" name="TextBox 6">
            <a:extLst>
              <a:ext uri="{FF2B5EF4-FFF2-40B4-BE49-F238E27FC236}">
                <a16:creationId xmlns:a16="http://schemas.microsoft.com/office/drawing/2014/main" id="{846326F3-E48B-B1DB-8974-DDAB74AE498A}"/>
              </a:ext>
            </a:extLst>
          </p:cNvPr>
          <p:cNvSpPr txBox="1"/>
          <p:nvPr/>
        </p:nvSpPr>
        <p:spPr>
          <a:xfrm>
            <a:off x="1407695" y="4403558"/>
            <a:ext cx="1913021"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225455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B4368-8530-8FEA-BE2F-DC69E7965345}"/>
              </a:ext>
            </a:extLst>
          </p:cNvPr>
          <p:cNvSpPr>
            <a:spLocks noGrp="1"/>
          </p:cNvSpPr>
          <p:nvPr>
            <p:ph type="title"/>
          </p:nvPr>
        </p:nvSpPr>
        <p:spPr/>
        <p:txBody>
          <a:bodyPr/>
          <a:lstStyle/>
          <a:p>
            <a:r>
              <a:rPr lang="en-US" dirty="0"/>
              <a:t>•	Annual revenue projects for the next 3 years</a:t>
            </a:r>
          </a:p>
        </p:txBody>
      </p:sp>
      <p:sp>
        <p:nvSpPr>
          <p:cNvPr id="3" name="Content Placeholder 2">
            <a:extLst>
              <a:ext uri="{FF2B5EF4-FFF2-40B4-BE49-F238E27FC236}">
                <a16:creationId xmlns:a16="http://schemas.microsoft.com/office/drawing/2014/main" id="{4A4FF846-D140-6636-1F89-A7845E6772DB}"/>
              </a:ext>
            </a:extLst>
          </p:cNvPr>
          <p:cNvSpPr>
            <a:spLocks noGrp="1"/>
          </p:cNvSpPr>
          <p:nvPr>
            <p:ph idx="1"/>
          </p:nvPr>
        </p:nvSpPr>
        <p:spPr/>
        <p:txBody>
          <a:bodyPr/>
          <a:lstStyle/>
          <a:p>
            <a:r>
              <a:rPr lang="en-US" dirty="0"/>
              <a:t>I have a projected COGS. </a:t>
            </a:r>
          </a:p>
          <a:p>
            <a:r>
              <a:rPr lang="en-US" dirty="0"/>
              <a:t>Need to determine projected sales.  (Might be a guess?)  This one is a little tricky I think! </a:t>
            </a:r>
          </a:p>
          <a:p>
            <a:endParaRPr lang="en-US" dirty="0"/>
          </a:p>
        </p:txBody>
      </p:sp>
    </p:spTree>
    <p:extLst>
      <p:ext uri="{BB962C8B-B14F-4D97-AF65-F5344CB8AC3E}">
        <p14:creationId xmlns:p14="http://schemas.microsoft.com/office/powerpoint/2010/main" val="827214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76313-4838-02AA-28FE-810B4DD51668}"/>
              </a:ext>
            </a:extLst>
          </p:cNvPr>
          <p:cNvSpPr>
            <a:spLocks noGrp="1"/>
          </p:cNvSpPr>
          <p:nvPr>
            <p:ph type="title"/>
          </p:nvPr>
        </p:nvSpPr>
        <p:spPr/>
        <p:txBody>
          <a:bodyPr/>
          <a:lstStyle/>
          <a:p>
            <a:r>
              <a:rPr lang="en-US" dirty="0"/>
              <a:t>•	Key success factors (up to 3)</a:t>
            </a:r>
          </a:p>
        </p:txBody>
      </p:sp>
      <p:sp>
        <p:nvSpPr>
          <p:cNvPr id="3" name="Content Placeholder 2">
            <a:extLst>
              <a:ext uri="{FF2B5EF4-FFF2-40B4-BE49-F238E27FC236}">
                <a16:creationId xmlns:a16="http://schemas.microsoft.com/office/drawing/2014/main" id="{CB07B0C2-A576-FDFC-2BFB-4A6C0354F446}"/>
              </a:ext>
            </a:extLst>
          </p:cNvPr>
          <p:cNvSpPr>
            <a:spLocks noGrp="1"/>
          </p:cNvSpPr>
          <p:nvPr>
            <p:ph idx="1"/>
          </p:nvPr>
        </p:nvSpPr>
        <p:spPr/>
        <p:txBody>
          <a:bodyPr/>
          <a:lstStyle/>
          <a:p>
            <a:r>
              <a:rPr lang="en-US" dirty="0"/>
              <a:t>Strong initial product launch to grab loyal market share is key to avoid being crushed by a big business.</a:t>
            </a:r>
          </a:p>
          <a:p>
            <a:r>
              <a:rPr lang="en-US" dirty="0"/>
              <a:t>Consumer ed and marketing are key and could be expensive.  Most buyers don’t know why Yerba makes this product such a good fit.</a:t>
            </a:r>
          </a:p>
          <a:p>
            <a:r>
              <a:rPr lang="en-US" dirty="0"/>
              <a:t>Repeat buy and product flavor?  If marketing is expensive profits begin at second purchase.  This makes it crucial to understand why customers buy again.</a:t>
            </a:r>
          </a:p>
        </p:txBody>
      </p:sp>
    </p:spTree>
    <p:extLst>
      <p:ext uri="{BB962C8B-B14F-4D97-AF65-F5344CB8AC3E}">
        <p14:creationId xmlns:p14="http://schemas.microsoft.com/office/powerpoint/2010/main" val="3414466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582</Words>
  <Application>Microsoft Office PowerPoint</Application>
  <PresentationFormat>Widescreen</PresentationFormat>
  <Paragraphs>24</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PowerPoint Presentation</vt:lpstr>
      <vt:lpstr>• A description of your product/service</vt:lpstr>
      <vt:lpstr>• The pain it solves</vt:lpstr>
      <vt:lpstr>• Market trends over the next 3-5 years</vt:lpstr>
      <vt:lpstr>Product positioning - comparison to existing (or potential) products/services and why existing solutions do not solve the pain you have identified</vt:lpstr>
      <vt:lpstr>• Annual revenue projects for the next 3 years</vt:lpstr>
      <vt:lpstr>• Key success factors (up to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Morman (US), Brian J</dc:creator>
  <cp:lastModifiedBy>Morman (US), Brian J</cp:lastModifiedBy>
  <cp:revision>1</cp:revision>
  <dcterms:created xsi:type="dcterms:W3CDTF">2026-02-24T02:15:32Z</dcterms:created>
  <dcterms:modified xsi:type="dcterms:W3CDTF">2026-02-24T02:43:28Z</dcterms:modified>
</cp:coreProperties>
</file>